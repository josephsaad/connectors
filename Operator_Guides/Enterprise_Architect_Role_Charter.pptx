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31720"/>
            <a:ext cx="2011680" cy="82296"/>
          </a:xfrm>
          <a:prstGeom prst="rect">
            <a:avLst/>
          </a:prstGeom>
          <a:solidFill>
            <a:srgbClr val="8F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118585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Enterprise Architect</a:t>
            </a:r>
          </a:p>
          <a:p>
            <a:r>
              <a:rPr sz="1800" b="0" i="0">
                <a:solidFill>
                  <a:srgbClr val="C7D3EA"/>
                </a:solidFill>
                <a:latin typeface="Calibri"/>
              </a:rPr>
              <a:t>Role charter &amp; responsibilities — in the context of the enterprise
AI-grounding initiative (Microsoft 365 Copilot Connector Platform)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FB0CC"/>
                </a:solidFill>
                <a:latin typeface="Calibri"/>
              </a:rPr>
              <a:t>Enterprise Architecture · Role Charter · Confidential —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The role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Purpose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Set direction —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Own the enterprise technology strategy and target-state architecture for a significant, complex initiative — spanning every architecture domain, not a single stack.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Scope — all five architecture domains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Business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outcomes, capabilities, stakeholder intent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Data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models, lineage, classification, residency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Application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solution &amp; integration patterns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Technology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platforms, runtime, availability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Security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identity, access, controls, assurance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Seniority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Authority —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Bachelor's degree or equivalent experience; 10+ years relevant experience. Operates as the senior technical authority and consensus-builder across the enterprise.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Enterprise Architect · Role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8F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82009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2E5496"/>
                </a:solidFill>
                <a:latin typeface="Calibri"/>
              </a:rPr>
              <a:t>CONTEXT</a:t>
            </a:r>
          </a:p>
          <a:p>
            <a:r>
              <a:rPr sz="3000" b="1" i="0">
                <a:solidFill>
                  <a:srgbClr val="1F3864"/>
                </a:solidFill>
                <a:latin typeface="Calibri"/>
              </a:rPr>
              <a:t>The initiative this role owns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The overall initiative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2E5496"/>
                </a:solidFill>
                <a:latin typeface="Calibri"/>
              </a:rPr>
              <a:t>▍Note: 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Ground the enterprise's line-of-business systems into Microsoft 365 Copilot — so answers are drawn from real enterprise data, security-trimmed to each user — under a bank-grade governance bar.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Why it needs an Enterprise Architect, not a project lead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Breadth —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It crosses every domain at once — CRM, PPM, enablement content, personal/wealth data and a 150M-row data mart, each with different access models, freshness and risk.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Permanence —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The decisions are enterprise-binding: identity/ACL model, classification, data residency, availability tier, build-vs-buy — they outlive any one project.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Leverage —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Five connectors, one reusable chassis; get the architecture right once and the estate inherits it — get it wrong once and the blast radius is enterprise-wide.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Enterprise Architect · Role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8F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82009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2E5496"/>
                </a:solidFill>
                <a:latin typeface="Calibri"/>
              </a:rPr>
              <a:t>WHAT THE ROLE IS ACCOUNTABLE FOR</a:t>
            </a:r>
          </a:p>
          <a:p>
            <a:r>
              <a:rPr sz="3000" b="1" i="0">
                <a:solidFill>
                  <a:srgbClr val="1F3864"/>
                </a:solidFill>
                <a:latin typeface="Calibri"/>
              </a:rPr>
              <a:t>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WHAT THE ROLE IS ACCOUNTABLE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1 · Plan &amp; lead enterprise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2E5496"/>
                </a:solidFill>
                <a:latin typeface="Calibri"/>
              </a:rPr>
              <a:t>▍Note: 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JD: Plans and leads major enterprise strategies for significant and complex technology solutions, applying SME in enterprise architecture across business, technology, data, application and security.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What the architect does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Sets the platform strategy and reference architecture spanning all five domains.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Defines the principles and patterns every solution must conform to.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Makes the binding cross-estate calls (patterns, build-vs-buy, standards).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In this initiative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Security/Data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access never widened; ACL-trimmed at query time; classification &amp; DSAR first-class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Application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self-contained per-connector chassis — no shared blast radius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Technology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.NET 10 on Windows Server · SQL/HA · sovereign-cloud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Enterprise Architect · Role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2 · Drive stakeholders &amp; consensus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2E5496"/>
                </a:solidFill>
                <a:latin typeface="Calibri"/>
              </a:rPr>
              <a:t>▍Note: 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JD: Maintains stakeholder relationships and provides consultation; leads and drives consensus on strategic requirements, their tradeoffs, and the enterprise impact of the recommended target state.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What the architect does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Translates business intent into architecture requirements — and back.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Makes tradeoffs explicit (cost, freshness, ACL fidelity, risk) and drives a decision.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Secures enterprise sign-off on the target state and its impacts.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In this initiative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ARB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availability-tier decision paper; the data-mart cheap-path tradeoff made explicit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External gates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dependency requests to Microsoft (Purview) and the platform team (Knox) raised &amp; chased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Posture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consensus on redacted-by-default, fail-closed defaults across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Enterprise Architect · Role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3 · Lead the creation of complex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2E5496"/>
                </a:solidFill>
                <a:latin typeface="Calibri"/>
              </a:rPr>
              <a:t>▍Note: 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JD: Consults, leads and facilitates the creation of major, complex technology solutions in support of business strategies.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What the architect does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Leads the design of the hardest components and sets the patterns others follow.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Facilitates design across teams — unblocks, adjudicates, keeps solutions on-strategy.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Ensures the built solution actually implements the strategy rather than drifting from it.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In this initiative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Patterns set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field-level security · tamper-evident decision ledger · purpose-of-use authorization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Standard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adversarial verification — refute, don't confirm — as a design discipline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Evidence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4,824 automated tests, 0 warnings — the strategy is demonstrated, not asserted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Enterprise Architect · Role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4 · Own the strategic &amp; interim roadmaps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2E5496"/>
                </a:solidFill>
                <a:latin typeface="Calibri"/>
              </a:rPr>
              <a:t>▍Note: 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JD: Creates the strategic roadmaps for implementing recommended target architectures, and drives the interim architecture states, roadmaps and recommendations.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What the architect does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Defines current → interim → target and the migration path between them.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Sequences work so each interim state is deployable and de-risks the next.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Keeps the roadmap honest — known-open items disclosed, never buried.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In this initiative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Interim states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hardening rounds delivered as sequenced, independently-verified increments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Dependencies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externally-gated items (Purview enforcement, Kerberos/Knox) held as roadmap items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Honesty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a documented known-open ledger carried in every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Enterprise Architect · Role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5 · Grow the architecture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2E5496"/>
                </a:solidFill>
                <a:latin typeface="Calibri"/>
              </a:rPr>
              <a:t>▍Note: 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JD: Supports the growth and provides guidance to architects, engineers and other technology professionals on the architecture practice, strategic analysis and solution design.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What the architect does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Sets the practice: standards, review gates, patterns, definition of done.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Mentors architects and engineers; raises the bar on how designs are validated.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Institutionalizes what works so it outlives any individual.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In this initiative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Verification standard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independent hostile review · claim audits · mutation-tested fixes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Teaching assets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reusable chassis · operator guides · quick-refs · architecture diagrams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Principle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“subtraction beats addition” embedded as a design lesson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Enterprise Architect · Role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8F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82009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2E5496"/>
                </a:solidFill>
                <a:latin typeface="Calibri"/>
              </a:rPr>
              <a:t>HOW THE ROLE OPERATES</a:t>
            </a:r>
          </a:p>
          <a:p>
            <a:r>
              <a:rPr sz="3000" b="1" i="0">
                <a:solidFill>
                  <a:srgbClr val="1F3864"/>
                </a:solidFill>
                <a:latin typeface="Calibri"/>
              </a:rPr>
              <a:t>Core competencies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HOW THE ROLE OPERATES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Customer focused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2E5496"/>
                </a:solidFill>
                <a:latin typeface="Calibri"/>
              </a:rPr>
              <a:t>▍Note: 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JD: Knowledgeable of the values and practices that put customer needs and satisfaction first in all business decisions, and able to leverage that in creating customized customer solutions.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What it means for this role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Every architecture decision is judged by what the end user and the business actually get.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Solutions are tailored to the source system and audience — not one-size-fits-all.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In this initiative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Trust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Copilot answers are grounded in real data and security-trimmed per user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Fit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financial-field governance · seat-only personal data · filter-first at 150M rows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Choice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freshness vs cost vs ACL fidelity chosen per use case, not imposed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Enterprise Architect · Role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Managing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C77700"/>
                </a:solidFill>
                <a:latin typeface="Calibri"/>
              </a:rPr>
              <a:t>▍Important: 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JD: Assesses and effectively manages the risks associated with business objectives and activities, adhering to and supporting the Enterprise Risk Management (ERM) Framework.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What it means for this role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Default to fail-closed; make risk visible and owned rather than hidden.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Every control is evidenced and mapped to the ERM framework — no control claimed that isn't held.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In this initiative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Privacy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DSAR / right-to-be-forgotten · redacted dead-letters · owner-only state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Enforcement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classification-enforced ACLs · tamper-evident decision ledger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Assurance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adversarial rounds found real defects in 10/10 controls while all tests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Enterprise Architect · Role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Skills the role applies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18585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190"/>
                <a:gridCol w="738266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T="25400" marB="25400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What it means here, and how the architect applies it</a:t>
                      </a:r>
                    </a:p>
                  </a:txBody>
                  <a:tcPr marT="25400" marB="25400">
                    <a:solidFill>
                      <a:srgbClr val="2E549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Enterprise Architecture Framework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Governs all five domains; a reference architecture with conformance gates (TOGAF-style).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Risk Assessments</a:t>
                      </a:r>
                    </a:p>
                  </a:txBody>
                  <a:tcPr marT="12700" marB="127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Threat-models each control; drives adversarial verification; keeps the estate inside the ERM framework.</a:t>
                      </a:r>
                    </a:p>
                  </a:txBody>
                  <a:tcPr marT="12700" marB="12700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Technical Knowledge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Deep across identity/Graph, .NET, SQL/HA and cloud — the credibility to lead engineers, not just diagram.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Customer Solutions</a:t>
                      </a:r>
                    </a:p>
                  </a:txBody>
                  <a:tcPr marT="12700" marB="127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Tailors each connector to its source and audience; security-trimmed, use-case-appropriate grounding.</a:t>
                      </a:r>
                    </a:p>
                  </a:txBody>
                  <a:tcPr marT="12700" marB="12700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Competitive Advantages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Faster, safer AI grounding than hand-built integration; a reusable chassis that compounds.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Machine Learning</a:t>
                      </a:r>
                    </a:p>
                  </a:txBody>
                  <a:tcPr marT="12700" marB="127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Understands Copilot / LLM grounding, the semantic index and classification — knows what the platform feeds the model.</a:t>
                      </a:r>
                    </a:p>
                  </a:txBody>
                  <a:tcPr marT="12700" marB="12700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Patterns, explicit tradeoffs, and the discipline to prove a design actually holds.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1996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1">
                <a:solidFill>
                  <a:srgbClr val="595959"/>
                </a:solidFill>
                <a:latin typeface="Calibri"/>
              </a:rPr>
              <a:t>The seven JD skills, mapped to concrete application in the initiative.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Enterprise Architect · Role Charter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Target-state roadmap the role owns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185854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190"/>
                <a:gridCol w="738266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 marT="25400" marB="25400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Focus  →  architecture outcome</a:t>
                      </a:r>
                    </a:p>
                  </a:txBody>
                  <a:tcPr marT="25400" marB="25400">
                    <a:solidFill>
                      <a:srgbClr val="2E549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Now  (0–3 mo)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Harden &amp; certify the five connectors; close known-open items; ship governance defaults.  →  production-ready, evidenced.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Next  (3–9 mo)</a:t>
                      </a:r>
                    </a:p>
                  </a:txBody>
                  <a:tcPr marT="12700" marB="127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Resolve external gates (Purview enforcement, Kerberos/Knox); real classification labelling; extend patterns to new sources.  →  enforced classification, broader coverage.</a:t>
                      </a:r>
                    </a:p>
                  </a:txBody>
                  <a:tcPr marT="12700" marB="12700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Later  (9–18 mo)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Platform-ize onboarding; self-service chassis; enterprise-wide EA standards.  →  repeatable, governed expansion.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1996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1">
                <a:solidFill>
                  <a:srgbClr val="595959"/>
                </a:solidFill>
                <a:latin typeface="Calibri"/>
              </a:rPr>
              <a:t>Current → interim → target: each horizon is deployable and de-risks the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Enterprise Architect · Role Charter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What good looks like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185854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190"/>
                <a:gridCol w="738266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Outcome the architect is accountable for</a:t>
                      </a:r>
                    </a:p>
                  </a:txBody>
                  <a:tcPr marT="25400" marB="25400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How it is measured</a:t>
                      </a:r>
                    </a:p>
                  </a:txBody>
                  <a:tcPr marT="25400" marB="25400">
                    <a:solidFill>
                      <a:srgbClr val="2E549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Grounded, trusted Copilot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Answers cite real data, security-trimmed per user — zero over-share findings in review.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Risk owned, not hidden</a:t>
                      </a:r>
                    </a:p>
                  </a:txBody>
                  <a:tcPr marT="12700" marB="127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Every control evidenced; known-open disclosed — ERM sign-off obtained.</a:t>
                      </a:r>
                    </a:p>
                  </a:txBody>
                  <a:tcPr marT="12700" marB="12700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Deployable interim states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Each increment independently verifiable — green suites, 0 warnings per release.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Enterprise consensus</a:t>
                      </a:r>
                    </a:p>
                  </a:txBody>
                  <a:tcPr marT="12700" marB="127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Target state signed off with tradeoffs understood — ARB decisions on record.</a:t>
                      </a:r>
                    </a:p>
                  </a:txBody>
                  <a:tcPr marT="12700" marB="12700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Practice raised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02020"/>
                          </a:solidFill>
                          <a:latin typeface="Calibri"/>
                        </a:rPr>
                        <a:t>Standards adopted by architects &amp; engineers — chassis reused, review gates honoured.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Enterprise Architect · Role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Education, experience &amp;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Education / experience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Required —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Bachelor's degree or equivalent work experience; 10+ years of relevant experience.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1" i="0">
                <a:solidFill>
                  <a:srgbClr val="2E5496"/>
                </a:solidFill>
                <a:latin typeface="Calibri"/>
              </a:rPr>
              <a:t>Where the role sits (accountability model)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Accountable for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target-state architecture · the strategic roadmap · enterprise consensus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Consulted on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major solution designs · build-vs-buy · risk acceptance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Drives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cross-stakeholder consensus · the architecture-practice standards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2E5496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Supports </a:t>
            </a:r>
            <a:r>
              <a:rPr sz="1250" b="0" i="0">
                <a:solidFill>
                  <a:srgbClr val="202020"/>
                </a:solidFill>
                <a:latin typeface="Calibri"/>
              </a:rPr>
              <a:t>— architects, engineers &amp; technology professionals — growth and guidance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▍Tip: 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The through-line: the architect converts business strategy into a target-state architecture, gets the enterprise to agree to it and its tradeoffs, sequences a safe path to it, and grows the practice that sustains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>
                <a:solidFill>
                  <a:srgbClr val="595959"/>
                </a:solidFill>
                <a:latin typeface="Calibri"/>
              </a:rPr>
              <a:t>Enterprise Architecture · Role Charter · Confidential — internal   ·   Enterprise Architect · Role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