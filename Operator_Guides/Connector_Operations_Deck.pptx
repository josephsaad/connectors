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00.xml" ContentType="application/vnd.openxmlformats-officedocument.presentationml.slide+xml"/>
  <Override PartName="/ppt/slides/slide601.xml" ContentType="application/vnd.openxmlformats-officedocument.presentationml.slide+xml"/>
  <Override PartName="/ppt/slides/slide602.xml" ContentType="application/vnd.openxmlformats-officedocument.presentationml.slide+xml"/>
  <Override PartName="/ppt/slides/slide603.xml" ContentType="application/vnd.openxmlformats-officedocument.presentationml.slide+xml"/>
  <Override PartName="/ppt/slides/slide604.xml" ContentType="application/vnd.openxmlformats-officedocument.presentationml.slide+xml"/>
  <Override PartName="/ppt/slides/slide605.xml" ContentType="application/vnd.openxmlformats-officedocument.presentationml.slide+xml"/>
  <Override PartName="/ppt/slides/slide606.xml" ContentType="application/vnd.openxmlformats-officedocument.presentationml.slide+xml"/>
  <Override PartName="/ppt/slides/slide607.xml" ContentType="application/vnd.openxmlformats-officedocument.presentationml.slide+xml"/>
  <Override PartName="/ppt/slides/slide608.xml" ContentType="application/vnd.openxmlformats-officedocument.presentationml.slide+xml"/>
  <Override PartName="/ppt/slides/slide609.xml" ContentType="application/vnd.openxmlformats-officedocument.presentationml.slide+xml"/>
  <Override PartName="/ppt/slides/slide61.xml" ContentType="application/vnd.openxmlformats-officedocument.presentationml.slide+xml"/>
  <Override PartName="/ppt/slides/slide610.xml" ContentType="application/vnd.openxmlformats-officedocument.presentationml.slide+xml"/>
  <Override PartName="/ppt/slides/slide611.xml" ContentType="application/vnd.openxmlformats-officedocument.presentationml.slide+xml"/>
  <Override PartName="/ppt/slides/slide612.xml" ContentType="application/vnd.openxmlformats-officedocument.presentationml.slide+xml"/>
  <Override PartName="/ppt/slides/slide613.xml" ContentType="application/vnd.openxmlformats-officedocument.presentationml.slide+xml"/>
  <Override PartName="/ppt/slides/slide614.xml" ContentType="application/vnd.openxmlformats-officedocument.presentationml.slide+xml"/>
  <Override PartName="/ppt/slides/slide615.xml" ContentType="application/vnd.openxmlformats-officedocument.presentationml.slide+xml"/>
  <Override PartName="/ppt/slides/slide616.xml" ContentType="application/vnd.openxmlformats-officedocument.presentationml.slide+xml"/>
  <Override PartName="/ppt/slides/slide617.xml" ContentType="application/vnd.openxmlformats-officedocument.presentationml.slide+xml"/>
  <Override PartName="/ppt/slides/slide618.xml" ContentType="application/vnd.openxmlformats-officedocument.presentationml.slide+xml"/>
  <Override PartName="/ppt/slides/slide619.xml" ContentType="application/vnd.openxmlformats-officedocument.presentationml.slide+xml"/>
  <Override PartName="/ppt/slides/slide62.xml" ContentType="application/vnd.openxmlformats-officedocument.presentationml.slide+xml"/>
  <Override PartName="/ppt/slides/slide620.xml" ContentType="application/vnd.openxmlformats-officedocument.presentationml.slide+xml"/>
  <Override PartName="/ppt/slides/slide621.xml" ContentType="application/vnd.openxmlformats-officedocument.presentationml.slide+xml"/>
  <Override PartName="/ppt/slides/slide622.xml" ContentType="application/vnd.openxmlformats-officedocument.presentationml.slide+xml"/>
  <Override PartName="/ppt/slides/slide623.xml" ContentType="application/vnd.openxmlformats-officedocument.presentationml.slide+xml"/>
  <Override PartName="/ppt/slides/slide624.xml" ContentType="application/vnd.openxmlformats-officedocument.presentationml.slide+xml"/>
  <Override PartName="/ppt/slides/slide625.xml" ContentType="application/vnd.openxmlformats-officedocument.presentationml.slide+xml"/>
  <Override PartName="/ppt/slides/slide626.xml" ContentType="application/vnd.openxmlformats-officedocument.presentationml.slide+xml"/>
  <Override PartName="/ppt/slides/slide627.xml" ContentType="application/vnd.openxmlformats-officedocument.presentationml.slide+xml"/>
  <Override PartName="/ppt/slides/slide628.xml" ContentType="application/vnd.openxmlformats-officedocument.presentationml.slide+xml"/>
  <Override PartName="/ppt/slides/slide629.xml" ContentType="application/vnd.openxmlformats-officedocument.presentationml.slide+xml"/>
  <Override PartName="/ppt/slides/slide63.xml" ContentType="application/vnd.openxmlformats-officedocument.presentationml.slide+xml"/>
  <Override PartName="/ppt/slides/slide630.xml" ContentType="application/vnd.openxmlformats-officedocument.presentationml.slide+xml"/>
  <Override PartName="/ppt/slides/slide631.xml" ContentType="application/vnd.openxmlformats-officedocument.presentationml.slide+xml"/>
  <Override PartName="/ppt/slides/slide632.xml" ContentType="application/vnd.openxmlformats-officedocument.presentationml.slide+xml"/>
  <Override PartName="/ppt/slides/slide633.xml" ContentType="application/vnd.openxmlformats-officedocument.presentationml.slide+xml"/>
  <Override PartName="/ppt/slides/slide634.xml" ContentType="application/vnd.openxmlformats-officedocument.presentationml.slide+xml"/>
  <Override PartName="/ppt/slides/slide635.xml" ContentType="application/vnd.openxmlformats-officedocument.presentationml.slide+xml"/>
  <Override PartName="/ppt/slides/slide636.xml" ContentType="application/vnd.openxmlformats-officedocument.presentationml.slide+xml"/>
  <Override PartName="/ppt/slides/slide637.xml" ContentType="application/vnd.openxmlformats-officedocument.presentationml.slide+xml"/>
  <Override PartName="/ppt/slides/slide638.xml" ContentType="application/vnd.openxmlformats-officedocument.presentationml.slide+xml"/>
  <Override PartName="/ppt/slides/slide639.xml" ContentType="application/vnd.openxmlformats-officedocument.presentationml.slide+xml"/>
  <Override PartName="/ppt/slides/slide64.xml" ContentType="application/vnd.openxmlformats-officedocument.presentationml.slide+xml"/>
  <Override PartName="/ppt/slides/slide640.xml" ContentType="application/vnd.openxmlformats-officedocument.presentationml.slide+xml"/>
  <Override PartName="/ppt/slides/slide641.xml" ContentType="application/vnd.openxmlformats-officedocument.presentationml.slide+xml"/>
  <Override PartName="/ppt/slides/slide642.xml" ContentType="application/vnd.openxmlformats-officedocument.presentationml.slide+xml"/>
  <Override PartName="/ppt/slides/slide643.xml" ContentType="application/vnd.openxmlformats-officedocument.presentationml.slide+xml"/>
  <Override PartName="/ppt/slides/slide644.xml" ContentType="application/vnd.openxmlformats-officedocument.presentationml.slide+xml"/>
  <Override PartName="/ppt/slides/slide645.xml" ContentType="application/vnd.openxmlformats-officedocument.presentationml.slide+xml"/>
  <Override PartName="/ppt/slides/slide646.xml" ContentType="application/vnd.openxmlformats-officedocument.presentationml.slide+xml"/>
  <Override PartName="/ppt/slides/slide647.xml" ContentType="application/vnd.openxmlformats-officedocument.presentationml.slide+xml"/>
  <Override PartName="/ppt/slides/slide648.xml" ContentType="application/vnd.openxmlformats-officedocument.presentationml.slide+xml"/>
  <Override PartName="/ppt/slides/slide649.xml" ContentType="application/vnd.openxmlformats-officedocument.presentationml.slide+xml"/>
  <Override PartName="/ppt/slides/slide65.xml" ContentType="application/vnd.openxmlformats-officedocument.presentationml.slide+xml"/>
  <Override PartName="/ppt/slides/slide650.xml" ContentType="application/vnd.openxmlformats-officedocument.presentationml.slide+xml"/>
  <Override PartName="/ppt/slides/slide651.xml" ContentType="application/vnd.openxmlformats-officedocument.presentationml.slide+xml"/>
  <Override PartName="/ppt/slides/slide652.xml" ContentType="application/vnd.openxmlformats-officedocument.presentationml.slide+xml"/>
  <Override PartName="/ppt/slides/slide653.xml" ContentType="application/vnd.openxmlformats-officedocument.presentationml.slide+xml"/>
  <Override PartName="/ppt/slides/slide654.xml" ContentType="application/vnd.openxmlformats-officedocument.presentationml.slide+xml"/>
  <Override PartName="/ppt/slides/slide655.xml" ContentType="application/vnd.openxmlformats-officedocument.presentationml.slide+xml"/>
  <Override PartName="/ppt/slides/slide656.xml" ContentType="application/vnd.openxmlformats-officedocument.presentationml.slide+xml"/>
  <Override PartName="/ppt/slides/slide657.xml" ContentType="application/vnd.openxmlformats-officedocument.presentationml.slide+xml"/>
  <Override PartName="/ppt/slides/slide658.xml" ContentType="application/vnd.openxmlformats-officedocument.presentationml.slide+xml"/>
  <Override PartName="/ppt/slides/slide659.xml" ContentType="application/vnd.openxmlformats-officedocument.presentationml.slide+xml"/>
  <Override PartName="/ppt/slides/slide66.xml" ContentType="application/vnd.openxmlformats-officedocument.presentationml.slide+xml"/>
  <Override PartName="/ppt/slides/slide660.xml" ContentType="application/vnd.openxmlformats-officedocument.presentationml.slide+xml"/>
  <Override PartName="/ppt/slides/slide661.xml" ContentType="application/vnd.openxmlformats-officedocument.presentationml.slide+xml"/>
  <Override PartName="/ppt/slides/slide662.xml" ContentType="application/vnd.openxmlformats-officedocument.presentationml.slide+xml"/>
  <Override PartName="/ppt/slides/slide663.xml" ContentType="application/vnd.openxmlformats-officedocument.presentationml.slide+xml"/>
  <Override PartName="/ppt/slides/slide664.xml" ContentType="application/vnd.openxmlformats-officedocument.presentationml.slide+xml"/>
  <Override PartName="/ppt/slides/slide665.xml" ContentType="application/vnd.openxmlformats-officedocument.presentationml.slide+xml"/>
  <Override PartName="/ppt/slides/slide666.xml" ContentType="application/vnd.openxmlformats-officedocument.presentationml.slide+xml"/>
  <Override PartName="/ppt/slides/slide667.xml" ContentType="application/vnd.openxmlformats-officedocument.presentationml.slide+xml"/>
  <Override PartName="/ppt/slides/slide668.xml" ContentType="application/vnd.openxmlformats-officedocument.presentationml.slide+xml"/>
  <Override PartName="/ppt/slides/slide669.xml" ContentType="application/vnd.openxmlformats-officedocument.presentationml.slide+xml"/>
  <Override PartName="/ppt/slides/slide67.xml" ContentType="application/vnd.openxmlformats-officedocument.presentationml.slide+xml"/>
  <Override PartName="/ppt/slides/slide670.xml" ContentType="application/vnd.openxmlformats-officedocument.presentationml.slide+xml"/>
  <Override PartName="/ppt/slides/slide671.xml" ContentType="application/vnd.openxmlformats-officedocument.presentationml.slide+xml"/>
  <Override PartName="/ppt/slides/slide672.xml" ContentType="application/vnd.openxmlformats-officedocument.presentationml.slide+xml"/>
  <Override PartName="/ppt/slides/slide673.xml" ContentType="application/vnd.openxmlformats-officedocument.presentationml.slide+xml"/>
  <Override PartName="/ppt/slides/slide674.xml" ContentType="application/vnd.openxmlformats-officedocument.presentationml.slide+xml"/>
  <Override PartName="/ppt/slides/slide675.xml" ContentType="application/vnd.openxmlformats-officedocument.presentationml.slide+xml"/>
  <Override PartName="/ppt/slides/slide676.xml" ContentType="application/vnd.openxmlformats-officedocument.presentationml.slide+xml"/>
  <Override PartName="/ppt/slides/slide677.xml" ContentType="application/vnd.openxmlformats-officedocument.presentationml.slide+xml"/>
  <Override PartName="/ppt/slides/slide678.xml" ContentType="application/vnd.openxmlformats-officedocument.presentationml.slide+xml"/>
  <Override PartName="/ppt/slides/slide679.xml" ContentType="application/vnd.openxmlformats-officedocument.presentationml.slide+xml"/>
  <Override PartName="/ppt/slides/slide68.xml" ContentType="application/vnd.openxmlformats-officedocument.presentationml.slide+xml"/>
  <Override PartName="/ppt/slides/slide680.xml" ContentType="application/vnd.openxmlformats-officedocument.presentationml.slide+xml"/>
  <Override PartName="/ppt/slides/slide681.xml" ContentType="application/vnd.openxmlformats-officedocument.presentationml.slide+xml"/>
  <Override PartName="/ppt/slides/slide682.xml" ContentType="application/vnd.openxmlformats-officedocument.presentationml.slide+xml"/>
  <Override PartName="/ppt/slides/slide683.xml" ContentType="application/vnd.openxmlformats-officedocument.presentationml.slide+xml"/>
  <Override PartName="/ppt/slides/slide684.xml" ContentType="application/vnd.openxmlformats-officedocument.presentationml.slide+xml"/>
  <Override PartName="/ppt/slides/slide685.xml" ContentType="application/vnd.openxmlformats-officedocument.presentationml.slide+xml"/>
  <Override PartName="/ppt/slides/slide686.xml" ContentType="application/vnd.openxmlformats-officedocument.presentationml.slide+xml"/>
  <Override PartName="/ppt/slides/slide687.xml" ContentType="application/vnd.openxmlformats-officedocument.presentationml.slide+xml"/>
  <Override PartName="/ppt/slides/slide688.xml" ContentType="application/vnd.openxmlformats-officedocument.presentationml.slide+xml"/>
  <Override PartName="/ppt/slides/slide689.xml" ContentType="application/vnd.openxmlformats-officedocument.presentationml.slide+xml"/>
  <Override PartName="/ppt/slides/slide69.xml" ContentType="application/vnd.openxmlformats-officedocument.presentationml.slide+xml"/>
  <Override PartName="/ppt/slides/slide690.xml" ContentType="application/vnd.openxmlformats-officedocument.presentationml.slide+xml"/>
  <Override PartName="/ppt/slides/slide691.xml" ContentType="application/vnd.openxmlformats-officedocument.presentationml.slide+xml"/>
  <Override PartName="/ppt/slides/slide692.xml" ContentType="application/vnd.openxmlformats-officedocument.presentationml.slide+xml"/>
  <Override PartName="/ppt/slides/slide693.xml" ContentType="application/vnd.openxmlformats-officedocument.presentationml.slide+xml"/>
  <Override PartName="/ppt/slides/slide694.xml" ContentType="application/vnd.openxmlformats-officedocument.presentationml.slide+xml"/>
  <Override PartName="/ppt/slides/slide695.xml" ContentType="application/vnd.openxmlformats-officedocument.presentationml.slide+xml"/>
  <Override PartName="/ppt/slides/slide696.xml" ContentType="application/vnd.openxmlformats-officedocument.presentationml.slide+xml"/>
  <Override PartName="/ppt/slides/slide697.xml" ContentType="application/vnd.openxmlformats-officedocument.presentationml.slide+xml"/>
  <Override PartName="/ppt/slides/slide698.xml" ContentType="application/vnd.openxmlformats-officedocument.presentationml.slide+xml"/>
  <Override PartName="/ppt/slides/slide69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00.xml" ContentType="application/vnd.openxmlformats-officedocument.presentationml.slide+xml"/>
  <Override PartName="/ppt/slides/slide701.xml" ContentType="application/vnd.openxmlformats-officedocument.presentationml.slide+xml"/>
  <Override PartName="/ppt/slides/slide702.xml" ContentType="application/vnd.openxmlformats-officedocument.presentationml.slide+xml"/>
  <Override PartName="/ppt/slides/slide703.xml" ContentType="application/vnd.openxmlformats-officedocument.presentationml.slide+xml"/>
  <Override PartName="/ppt/slides/slide704.xml" ContentType="application/vnd.openxmlformats-officedocument.presentationml.slide+xml"/>
  <Override PartName="/ppt/slides/slide705.xml" ContentType="application/vnd.openxmlformats-officedocument.presentationml.slide+xml"/>
  <Override PartName="/ppt/slides/slide706.xml" ContentType="application/vnd.openxmlformats-officedocument.presentationml.slide+xml"/>
  <Override PartName="/ppt/slides/slide707.xml" ContentType="application/vnd.openxmlformats-officedocument.presentationml.slide+xml"/>
  <Override PartName="/ppt/slides/slide708.xml" ContentType="application/vnd.openxmlformats-officedocument.presentationml.slide+xml"/>
  <Override PartName="/ppt/slides/slide709.xml" ContentType="application/vnd.openxmlformats-officedocument.presentationml.slide+xml"/>
  <Override PartName="/ppt/slides/slide71.xml" ContentType="application/vnd.openxmlformats-officedocument.presentationml.slide+xml"/>
  <Override PartName="/ppt/slides/slide710.xml" ContentType="application/vnd.openxmlformats-officedocument.presentationml.slide+xml"/>
  <Override PartName="/ppt/slides/slide711.xml" ContentType="application/vnd.openxmlformats-officedocument.presentationml.slide+xml"/>
  <Override PartName="/ppt/slides/slide712.xml" ContentType="application/vnd.openxmlformats-officedocument.presentationml.slide+xml"/>
  <Override PartName="/ppt/slides/slide713.xml" ContentType="application/vnd.openxmlformats-officedocument.presentationml.slide+xml"/>
  <Override PartName="/ppt/slides/slide714.xml" ContentType="application/vnd.openxmlformats-officedocument.presentationml.slide+xml"/>
  <Override PartName="/ppt/slides/slide715.xml" ContentType="application/vnd.openxmlformats-officedocument.presentationml.slide+xml"/>
  <Override PartName="/ppt/slides/slide716.xml" ContentType="application/vnd.openxmlformats-officedocument.presentationml.slide+xml"/>
  <Override PartName="/ppt/slides/slide717.xml" ContentType="application/vnd.openxmlformats-officedocument.presentationml.slide+xml"/>
  <Override PartName="/ppt/slides/slide718.xml" ContentType="application/vnd.openxmlformats-officedocument.presentationml.slide+xml"/>
  <Override PartName="/ppt/slides/slide719.xml" ContentType="application/vnd.openxmlformats-officedocument.presentationml.slide+xml"/>
  <Override PartName="/ppt/slides/slide72.xml" ContentType="application/vnd.openxmlformats-officedocument.presentationml.slide+xml"/>
  <Override PartName="/ppt/slides/slide720.xml" ContentType="application/vnd.openxmlformats-officedocument.presentationml.slide+xml"/>
  <Override PartName="/ppt/slides/slide721.xml" ContentType="application/vnd.openxmlformats-officedocument.presentationml.slide+xml"/>
  <Override PartName="/ppt/slides/slide722.xml" ContentType="application/vnd.openxmlformats-officedocument.presentationml.slide+xml"/>
  <Override PartName="/ppt/slides/slide723.xml" ContentType="application/vnd.openxmlformats-officedocument.presentationml.slide+xml"/>
  <Override PartName="/ppt/slides/slide724.xml" ContentType="application/vnd.openxmlformats-officedocument.presentationml.slide+xml"/>
  <Override PartName="/ppt/slides/slide725.xml" ContentType="application/vnd.openxmlformats-officedocument.presentationml.slide+xml"/>
  <Override PartName="/ppt/slides/slide726.xml" ContentType="application/vnd.openxmlformats-officedocument.presentationml.slide+xml"/>
  <Override PartName="/ppt/slides/slide727.xml" ContentType="application/vnd.openxmlformats-officedocument.presentationml.slide+xml"/>
  <Override PartName="/ppt/slides/slide728.xml" ContentType="application/vnd.openxmlformats-officedocument.presentationml.slide+xml"/>
  <Override PartName="/ppt/slides/slide729.xml" ContentType="application/vnd.openxmlformats-officedocument.presentationml.slide+xml"/>
  <Override PartName="/ppt/slides/slide73.xml" ContentType="application/vnd.openxmlformats-officedocument.presentationml.slide+xml"/>
  <Override PartName="/ppt/slides/slide730.xml" ContentType="application/vnd.openxmlformats-officedocument.presentationml.slide+xml"/>
  <Override PartName="/ppt/slides/slide731.xml" ContentType="application/vnd.openxmlformats-officedocument.presentationml.slide+xml"/>
  <Override PartName="/ppt/slides/slide732.xml" ContentType="application/vnd.openxmlformats-officedocument.presentationml.slide+xml"/>
  <Override PartName="/ppt/slides/slide733.xml" ContentType="application/vnd.openxmlformats-officedocument.presentationml.slide+xml"/>
  <Override PartName="/ppt/slides/slide734.xml" ContentType="application/vnd.openxmlformats-officedocument.presentationml.slide+xml"/>
  <Override PartName="/ppt/slides/slide735.xml" ContentType="application/vnd.openxmlformats-officedocument.presentationml.slide+xml"/>
  <Override PartName="/ppt/slides/slide736.xml" ContentType="application/vnd.openxmlformats-officedocument.presentationml.slide+xml"/>
  <Override PartName="/ppt/slides/slide737.xml" ContentType="application/vnd.openxmlformats-officedocument.presentationml.slide+xml"/>
  <Override PartName="/ppt/slides/slide738.xml" ContentType="application/vnd.openxmlformats-officedocument.presentationml.slide+xml"/>
  <Override PartName="/ppt/slides/slide739.xml" ContentType="application/vnd.openxmlformats-officedocument.presentationml.slide+xml"/>
  <Override PartName="/ppt/slides/slide74.xml" ContentType="application/vnd.openxmlformats-officedocument.presentationml.slide+xml"/>
  <Override PartName="/ppt/slides/slide740.xml" ContentType="application/vnd.openxmlformats-officedocument.presentationml.slide+xml"/>
  <Override PartName="/ppt/slides/slide741.xml" ContentType="application/vnd.openxmlformats-officedocument.presentationml.slide+xml"/>
  <Override PartName="/ppt/slides/slide742.xml" ContentType="application/vnd.openxmlformats-officedocument.presentationml.slide+xml"/>
  <Override PartName="/ppt/slides/slide743.xml" ContentType="application/vnd.openxmlformats-officedocument.presentationml.slide+xml"/>
  <Override PartName="/ppt/slides/slide744.xml" ContentType="application/vnd.openxmlformats-officedocument.presentationml.slide+xml"/>
  <Override PartName="/ppt/slides/slide745.xml" ContentType="application/vnd.openxmlformats-officedocument.presentationml.slide+xml"/>
  <Override PartName="/ppt/slides/slide746.xml" ContentType="application/vnd.openxmlformats-officedocument.presentationml.slide+xml"/>
  <Override PartName="/ppt/slides/slide747.xml" ContentType="application/vnd.openxmlformats-officedocument.presentationml.slide+xml"/>
  <Override PartName="/ppt/slides/slide748.xml" ContentType="application/vnd.openxmlformats-officedocument.presentationml.slide+xml"/>
  <Override PartName="/ppt/slides/slide749.xml" ContentType="application/vnd.openxmlformats-officedocument.presentationml.slide+xml"/>
  <Override PartName="/ppt/slides/slide75.xml" ContentType="application/vnd.openxmlformats-officedocument.presentationml.slide+xml"/>
  <Override PartName="/ppt/slides/slide750.xml" ContentType="application/vnd.openxmlformats-officedocument.presentationml.slide+xml"/>
  <Override PartName="/ppt/slides/slide751.xml" ContentType="application/vnd.openxmlformats-officedocument.presentationml.slide+xml"/>
  <Override PartName="/ppt/slides/slide752.xml" ContentType="application/vnd.openxmlformats-officedocument.presentationml.slide+xml"/>
  <Override PartName="/ppt/slides/slide753.xml" ContentType="application/vnd.openxmlformats-officedocument.presentationml.slide+xml"/>
  <Override PartName="/ppt/slides/slide754.xml" ContentType="application/vnd.openxmlformats-officedocument.presentationml.slide+xml"/>
  <Override PartName="/ppt/slides/slide755.xml" ContentType="application/vnd.openxmlformats-officedocument.presentationml.slide+xml"/>
  <Override PartName="/ppt/slides/slide756.xml" ContentType="application/vnd.openxmlformats-officedocument.presentationml.slide+xml"/>
  <Override PartName="/ppt/slides/slide757.xml" ContentType="application/vnd.openxmlformats-officedocument.presentationml.slide+xml"/>
  <Override PartName="/ppt/slides/slide758.xml" ContentType="application/vnd.openxmlformats-officedocument.presentationml.slide+xml"/>
  <Override PartName="/ppt/slides/slide759.xml" ContentType="application/vnd.openxmlformats-officedocument.presentationml.slide+xml"/>
  <Override PartName="/ppt/slides/slide76.xml" ContentType="application/vnd.openxmlformats-officedocument.presentationml.slide+xml"/>
  <Override PartName="/ppt/slides/slide760.xml" ContentType="application/vnd.openxmlformats-officedocument.presentationml.slide+xml"/>
  <Override PartName="/ppt/slides/slide761.xml" ContentType="application/vnd.openxmlformats-officedocument.presentationml.slide+xml"/>
  <Override PartName="/ppt/slides/slide762.xml" ContentType="application/vnd.openxmlformats-officedocument.presentationml.slide+xml"/>
  <Override PartName="/ppt/slides/slide763.xml" ContentType="application/vnd.openxmlformats-officedocument.presentationml.slide+xml"/>
  <Override PartName="/ppt/slides/slide764.xml" ContentType="application/vnd.openxmlformats-officedocument.presentationml.slide+xml"/>
  <Override PartName="/ppt/slides/slide765.xml" ContentType="application/vnd.openxmlformats-officedocument.presentationml.slide+xml"/>
  <Override PartName="/ppt/slides/slide766.xml" ContentType="application/vnd.openxmlformats-officedocument.presentationml.slide+xml"/>
  <Override PartName="/ppt/slides/slide767.xml" ContentType="application/vnd.openxmlformats-officedocument.presentationml.slide+xml"/>
  <Override PartName="/ppt/slides/slide768.xml" ContentType="application/vnd.openxmlformats-officedocument.presentationml.slide+xml"/>
  <Override PartName="/ppt/slides/slide769.xml" ContentType="application/vnd.openxmlformats-officedocument.presentationml.slide+xml"/>
  <Override PartName="/ppt/slides/slide77.xml" ContentType="application/vnd.openxmlformats-officedocument.presentationml.slide+xml"/>
  <Override PartName="/ppt/slides/slide770.xml" ContentType="application/vnd.openxmlformats-officedocument.presentationml.slide+xml"/>
  <Override PartName="/ppt/slides/slide771.xml" ContentType="application/vnd.openxmlformats-officedocument.presentationml.slide+xml"/>
  <Override PartName="/ppt/slides/slide772.xml" ContentType="application/vnd.openxmlformats-officedocument.presentationml.slide+xml"/>
  <Override PartName="/ppt/slides/slide773.xml" ContentType="application/vnd.openxmlformats-officedocument.presentationml.slide+xml"/>
  <Override PartName="/ppt/slides/slide774.xml" ContentType="application/vnd.openxmlformats-officedocument.presentationml.slide+xml"/>
  <Override PartName="/ppt/slides/slide775.xml" ContentType="application/vnd.openxmlformats-officedocument.presentationml.slide+xml"/>
  <Override PartName="/ppt/slides/slide776.xml" ContentType="application/vnd.openxmlformats-officedocument.presentationml.slide+xml"/>
  <Override PartName="/ppt/slides/slide777.xml" ContentType="application/vnd.openxmlformats-officedocument.presentationml.slide+xml"/>
  <Override PartName="/ppt/slides/slide778.xml" ContentType="application/vnd.openxmlformats-officedocument.presentationml.slide+xml"/>
  <Override PartName="/ppt/slides/slide779.xml" ContentType="application/vnd.openxmlformats-officedocument.presentationml.slide+xml"/>
  <Override PartName="/ppt/slides/slide78.xml" ContentType="application/vnd.openxmlformats-officedocument.presentationml.slide+xml"/>
  <Override PartName="/ppt/slides/slide780.xml" ContentType="application/vnd.openxmlformats-officedocument.presentationml.slide+xml"/>
  <Override PartName="/ppt/slides/slide781.xml" ContentType="application/vnd.openxmlformats-officedocument.presentationml.slide+xml"/>
  <Override PartName="/ppt/slides/slide782.xml" ContentType="application/vnd.openxmlformats-officedocument.presentationml.slide+xml"/>
  <Override PartName="/ppt/slides/slide783.xml" ContentType="application/vnd.openxmlformats-officedocument.presentationml.slide+xml"/>
  <Override PartName="/ppt/slides/slide784.xml" ContentType="application/vnd.openxmlformats-officedocument.presentationml.slide+xml"/>
  <Override PartName="/ppt/slides/slide785.xml" ContentType="application/vnd.openxmlformats-officedocument.presentationml.slide+xml"/>
  <Override PartName="/ppt/slides/slide786.xml" ContentType="application/vnd.openxmlformats-officedocument.presentationml.slide+xml"/>
  <Override PartName="/ppt/slides/slide787.xml" ContentType="application/vnd.openxmlformats-officedocument.presentationml.slide+xml"/>
  <Override PartName="/ppt/slides/slide788.xml" ContentType="application/vnd.openxmlformats-officedocument.presentationml.slide+xml"/>
  <Override PartName="/ppt/slides/slide789.xml" ContentType="application/vnd.openxmlformats-officedocument.presentationml.slide+xml"/>
  <Override PartName="/ppt/slides/slide79.xml" ContentType="application/vnd.openxmlformats-officedocument.presentationml.slide+xml"/>
  <Override PartName="/ppt/slides/slide790.xml" ContentType="application/vnd.openxmlformats-officedocument.presentationml.slide+xml"/>
  <Override PartName="/ppt/slides/slide791.xml" ContentType="application/vnd.openxmlformats-officedocument.presentationml.slide+xml"/>
  <Override PartName="/ppt/slides/slide792.xml" ContentType="application/vnd.openxmlformats-officedocument.presentationml.slide+xml"/>
  <Override PartName="/ppt/slides/slide793.xml" ContentType="application/vnd.openxmlformats-officedocument.presentationml.slide+xml"/>
  <Override PartName="/ppt/slides/slide794.xml" ContentType="application/vnd.openxmlformats-officedocument.presentationml.slide+xml"/>
  <Override PartName="/ppt/slides/slide795.xml" ContentType="application/vnd.openxmlformats-officedocument.presentationml.slide+xml"/>
  <Override PartName="/ppt/slides/slide796.xml" ContentType="application/vnd.openxmlformats-officedocument.presentationml.slide+xml"/>
  <Override PartName="/ppt/slides/slide797.xml" ContentType="application/vnd.openxmlformats-officedocument.presentationml.slide+xml"/>
  <Override PartName="/ppt/slides/slide798.xml" ContentType="application/vnd.openxmlformats-officedocument.presentationml.slide+xml"/>
  <Override PartName="/ppt/slides/slide79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00.xml" ContentType="application/vnd.openxmlformats-officedocument.presentationml.slide+xml"/>
  <Override PartName="/ppt/slides/slide801.xml" ContentType="application/vnd.openxmlformats-officedocument.presentationml.slide+xml"/>
  <Override PartName="/ppt/slides/slide802.xml" ContentType="application/vnd.openxmlformats-officedocument.presentationml.slide+xml"/>
  <Override PartName="/ppt/slides/slide803.xml" ContentType="application/vnd.openxmlformats-officedocument.presentationml.slide+xml"/>
  <Override PartName="/ppt/slides/slide804.xml" ContentType="application/vnd.openxmlformats-officedocument.presentationml.slide+xml"/>
  <Override PartName="/ppt/slides/slide805.xml" ContentType="application/vnd.openxmlformats-officedocument.presentationml.slide+xml"/>
  <Override PartName="/ppt/slides/slide806.xml" ContentType="application/vnd.openxmlformats-officedocument.presentationml.slide+xml"/>
  <Override PartName="/ppt/slides/slide807.xml" ContentType="application/vnd.openxmlformats-officedocument.presentationml.slide+xml"/>
  <Override PartName="/ppt/slides/slide808.xml" ContentType="application/vnd.openxmlformats-officedocument.presentationml.slide+xml"/>
  <Override PartName="/ppt/slides/slide809.xml" ContentType="application/vnd.openxmlformats-officedocument.presentationml.slide+xml"/>
  <Override PartName="/ppt/slides/slide81.xml" ContentType="application/vnd.openxmlformats-officedocument.presentationml.slide+xml"/>
  <Override PartName="/ppt/slides/slide810.xml" ContentType="application/vnd.openxmlformats-officedocument.presentationml.slide+xml"/>
  <Override PartName="/ppt/slides/slide811.xml" ContentType="application/vnd.openxmlformats-officedocument.presentationml.slide+xml"/>
  <Override PartName="/ppt/slides/slide812.xml" ContentType="application/vnd.openxmlformats-officedocument.presentationml.slide+xml"/>
  <Override PartName="/ppt/slides/slide813.xml" ContentType="application/vnd.openxmlformats-officedocument.presentationml.slide+xml"/>
  <Override PartName="/ppt/slides/slide814.xml" ContentType="application/vnd.openxmlformats-officedocument.presentationml.slide+xml"/>
  <Override PartName="/ppt/slides/slide815.xml" ContentType="application/vnd.openxmlformats-officedocument.presentationml.slide+xml"/>
  <Override PartName="/ppt/slides/slide816.xml" ContentType="application/vnd.openxmlformats-officedocument.presentationml.slide+xml"/>
  <Override PartName="/ppt/slides/slide817.xml" ContentType="application/vnd.openxmlformats-officedocument.presentationml.slide+xml"/>
  <Override PartName="/ppt/slides/slide818.xml" ContentType="application/vnd.openxmlformats-officedocument.presentationml.slide+xml"/>
  <Override PartName="/ppt/slides/slide819.xml" ContentType="application/vnd.openxmlformats-officedocument.presentationml.slide+xml"/>
  <Override PartName="/ppt/slides/slide82.xml" ContentType="application/vnd.openxmlformats-officedocument.presentationml.slide+xml"/>
  <Override PartName="/ppt/slides/slide820.xml" ContentType="application/vnd.openxmlformats-officedocument.presentationml.slide+xml"/>
  <Override PartName="/ppt/slides/slide821.xml" ContentType="application/vnd.openxmlformats-officedocument.presentationml.slide+xml"/>
  <Override PartName="/ppt/slides/slide822.xml" ContentType="application/vnd.openxmlformats-officedocument.presentationml.slide+xml"/>
  <Override PartName="/ppt/slides/slide823.xml" ContentType="application/vnd.openxmlformats-officedocument.presentationml.slide+xml"/>
  <Override PartName="/ppt/slides/slide824.xml" ContentType="application/vnd.openxmlformats-officedocument.presentationml.slide+xml"/>
  <Override PartName="/ppt/slides/slide825.xml" ContentType="application/vnd.openxmlformats-officedocument.presentationml.slide+xml"/>
  <Override PartName="/ppt/slides/slide826.xml" ContentType="application/vnd.openxmlformats-officedocument.presentationml.slide+xml"/>
  <Override PartName="/ppt/slides/slide827.xml" ContentType="application/vnd.openxmlformats-officedocument.presentationml.slide+xml"/>
  <Override PartName="/ppt/slides/slide828.xml" ContentType="application/vnd.openxmlformats-officedocument.presentationml.slide+xml"/>
  <Override PartName="/ppt/slides/slide829.xml" ContentType="application/vnd.openxmlformats-officedocument.presentationml.slide+xml"/>
  <Override PartName="/ppt/slides/slide83.xml" ContentType="application/vnd.openxmlformats-officedocument.presentationml.slide+xml"/>
  <Override PartName="/ppt/slides/slide830.xml" ContentType="application/vnd.openxmlformats-officedocument.presentationml.slide+xml"/>
  <Override PartName="/ppt/slides/slide831.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 id="737" r:id="rId488"/>
    <p:sldId id="738" r:id="rId489"/>
    <p:sldId id="739" r:id="rId490"/>
    <p:sldId id="740" r:id="rId491"/>
    <p:sldId id="741" r:id="rId492"/>
    <p:sldId id="742" r:id="rId493"/>
    <p:sldId id="743" r:id="rId494"/>
    <p:sldId id="744" r:id="rId495"/>
    <p:sldId id="745" r:id="rId496"/>
    <p:sldId id="746" r:id="rId497"/>
    <p:sldId id="747" r:id="rId498"/>
    <p:sldId id="748" r:id="rId499"/>
    <p:sldId id="749" r:id="rId500"/>
    <p:sldId id="750" r:id="rId501"/>
    <p:sldId id="751" r:id="rId502"/>
    <p:sldId id="752" r:id="rId503"/>
    <p:sldId id="753" r:id="rId504"/>
    <p:sldId id="754" r:id="rId505"/>
    <p:sldId id="755" r:id="rId506"/>
    <p:sldId id="756" r:id="rId507"/>
    <p:sldId id="757" r:id="rId508"/>
    <p:sldId id="758" r:id="rId509"/>
    <p:sldId id="759" r:id="rId510"/>
    <p:sldId id="760" r:id="rId511"/>
    <p:sldId id="761" r:id="rId512"/>
    <p:sldId id="762" r:id="rId513"/>
    <p:sldId id="763" r:id="rId514"/>
    <p:sldId id="764" r:id="rId515"/>
    <p:sldId id="765" r:id="rId516"/>
    <p:sldId id="766" r:id="rId517"/>
    <p:sldId id="767" r:id="rId518"/>
    <p:sldId id="768" r:id="rId519"/>
    <p:sldId id="769" r:id="rId520"/>
    <p:sldId id="770" r:id="rId521"/>
    <p:sldId id="771" r:id="rId522"/>
    <p:sldId id="772" r:id="rId523"/>
    <p:sldId id="773" r:id="rId524"/>
    <p:sldId id="774" r:id="rId525"/>
    <p:sldId id="775" r:id="rId526"/>
    <p:sldId id="776" r:id="rId527"/>
    <p:sldId id="777" r:id="rId528"/>
    <p:sldId id="778" r:id="rId529"/>
    <p:sldId id="779" r:id="rId530"/>
    <p:sldId id="780" r:id="rId531"/>
    <p:sldId id="781" r:id="rId532"/>
    <p:sldId id="782" r:id="rId533"/>
    <p:sldId id="783" r:id="rId534"/>
    <p:sldId id="784" r:id="rId535"/>
    <p:sldId id="785" r:id="rId536"/>
    <p:sldId id="786" r:id="rId537"/>
    <p:sldId id="787" r:id="rId538"/>
    <p:sldId id="788" r:id="rId539"/>
    <p:sldId id="789" r:id="rId540"/>
    <p:sldId id="790" r:id="rId541"/>
    <p:sldId id="791" r:id="rId542"/>
    <p:sldId id="792" r:id="rId543"/>
    <p:sldId id="793" r:id="rId544"/>
    <p:sldId id="794" r:id="rId545"/>
    <p:sldId id="795" r:id="rId546"/>
    <p:sldId id="796" r:id="rId547"/>
    <p:sldId id="797" r:id="rId548"/>
    <p:sldId id="798" r:id="rId549"/>
    <p:sldId id="799" r:id="rId550"/>
    <p:sldId id="800" r:id="rId551"/>
    <p:sldId id="801" r:id="rId552"/>
    <p:sldId id="802" r:id="rId553"/>
    <p:sldId id="803" r:id="rId554"/>
    <p:sldId id="804" r:id="rId555"/>
    <p:sldId id="805" r:id="rId556"/>
    <p:sldId id="806" r:id="rId557"/>
    <p:sldId id="807" r:id="rId558"/>
    <p:sldId id="808" r:id="rId559"/>
    <p:sldId id="809" r:id="rId560"/>
    <p:sldId id="810" r:id="rId561"/>
    <p:sldId id="811" r:id="rId562"/>
    <p:sldId id="812" r:id="rId563"/>
    <p:sldId id="813" r:id="rId564"/>
    <p:sldId id="814" r:id="rId565"/>
    <p:sldId id="815" r:id="rId566"/>
    <p:sldId id="816" r:id="rId567"/>
    <p:sldId id="817" r:id="rId568"/>
    <p:sldId id="818" r:id="rId569"/>
    <p:sldId id="819" r:id="rId570"/>
    <p:sldId id="820" r:id="rId571"/>
    <p:sldId id="821" r:id="rId572"/>
    <p:sldId id="822" r:id="rId573"/>
    <p:sldId id="823" r:id="rId574"/>
    <p:sldId id="824" r:id="rId575"/>
    <p:sldId id="825" r:id="rId576"/>
    <p:sldId id="826" r:id="rId577"/>
    <p:sldId id="827" r:id="rId578"/>
    <p:sldId id="828" r:id="rId579"/>
    <p:sldId id="829" r:id="rId580"/>
    <p:sldId id="830" r:id="rId581"/>
    <p:sldId id="831" r:id="rId582"/>
    <p:sldId id="832" r:id="rId583"/>
    <p:sldId id="833" r:id="rId584"/>
    <p:sldId id="834" r:id="rId585"/>
    <p:sldId id="835" r:id="rId586"/>
    <p:sldId id="836" r:id="rId587"/>
    <p:sldId id="837" r:id="rId588"/>
    <p:sldId id="838" r:id="rId589"/>
    <p:sldId id="839" r:id="rId590"/>
    <p:sldId id="840" r:id="rId591"/>
    <p:sldId id="841" r:id="rId592"/>
    <p:sldId id="842" r:id="rId593"/>
    <p:sldId id="843" r:id="rId594"/>
    <p:sldId id="844" r:id="rId595"/>
    <p:sldId id="845" r:id="rId596"/>
    <p:sldId id="846" r:id="rId597"/>
    <p:sldId id="847" r:id="rId598"/>
    <p:sldId id="848" r:id="rId599"/>
    <p:sldId id="849" r:id="rId600"/>
    <p:sldId id="850" r:id="rId601"/>
    <p:sldId id="851" r:id="rId602"/>
    <p:sldId id="852" r:id="rId603"/>
    <p:sldId id="853" r:id="rId604"/>
    <p:sldId id="854" r:id="rId605"/>
    <p:sldId id="855" r:id="rId606"/>
    <p:sldId id="856" r:id="rId607"/>
    <p:sldId id="857" r:id="rId608"/>
    <p:sldId id="858" r:id="rId609"/>
    <p:sldId id="859" r:id="rId610"/>
    <p:sldId id="860" r:id="rId611"/>
    <p:sldId id="861" r:id="rId612"/>
    <p:sldId id="862" r:id="rId613"/>
    <p:sldId id="863" r:id="rId614"/>
    <p:sldId id="864" r:id="rId615"/>
    <p:sldId id="865" r:id="rId616"/>
    <p:sldId id="866" r:id="rId617"/>
    <p:sldId id="867" r:id="rId618"/>
    <p:sldId id="868" r:id="rId619"/>
    <p:sldId id="869" r:id="rId620"/>
    <p:sldId id="870" r:id="rId621"/>
    <p:sldId id="871" r:id="rId622"/>
    <p:sldId id="872" r:id="rId623"/>
    <p:sldId id="873" r:id="rId624"/>
    <p:sldId id="874" r:id="rId625"/>
    <p:sldId id="875" r:id="rId626"/>
    <p:sldId id="876" r:id="rId627"/>
    <p:sldId id="877" r:id="rId628"/>
    <p:sldId id="878" r:id="rId629"/>
    <p:sldId id="879" r:id="rId630"/>
    <p:sldId id="880" r:id="rId631"/>
    <p:sldId id="881" r:id="rId632"/>
    <p:sldId id="882" r:id="rId633"/>
    <p:sldId id="883" r:id="rId634"/>
    <p:sldId id="884" r:id="rId635"/>
    <p:sldId id="885" r:id="rId636"/>
    <p:sldId id="886" r:id="rId637"/>
    <p:sldId id="887" r:id="rId638"/>
    <p:sldId id="888" r:id="rId639"/>
    <p:sldId id="889" r:id="rId640"/>
    <p:sldId id="890" r:id="rId641"/>
    <p:sldId id="891" r:id="rId642"/>
    <p:sldId id="892" r:id="rId643"/>
    <p:sldId id="893" r:id="rId644"/>
    <p:sldId id="894" r:id="rId645"/>
    <p:sldId id="895" r:id="rId646"/>
    <p:sldId id="896" r:id="rId647"/>
    <p:sldId id="897" r:id="rId648"/>
    <p:sldId id="898" r:id="rId649"/>
    <p:sldId id="899" r:id="rId650"/>
    <p:sldId id="900" r:id="rId651"/>
    <p:sldId id="901" r:id="rId652"/>
    <p:sldId id="902" r:id="rId653"/>
    <p:sldId id="903" r:id="rId654"/>
    <p:sldId id="904" r:id="rId655"/>
    <p:sldId id="905" r:id="rId656"/>
    <p:sldId id="906" r:id="rId657"/>
    <p:sldId id="907" r:id="rId658"/>
    <p:sldId id="908" r:id="rId659"/>
    <p:sldId id="909" r:id="rId660"/>
    <p:sldId id="910" r:id="rId661"/>
    <p:sldId id="911" r:id="rId662"/>
    <p:sldId id="912" r:id="rId663"/>
    <p:sldId id="913" r:id="rId664"/>
    <p:sldId id="914" r:id="rId665"/>
    <p:sldId id="915" r:id="rId666"/>
    <p:sldId id="916" r:id="rId667"/>
    <p:sldId id="917" r:id="rId668"/>
    <p:sldId id="918" r:id="rId669"/>
    <p:sldId id="919" r:id="rId670"/>
    <p:sldId id="920" r:id="rId671"/>
    <p:sldId id="921" r:id="rId672"/>
    <p:sldId id="922" r:id="rId673"/>
    <p:sldId id="923" r:id="rId674"/>
    <p:sldId id="924" r:id="rId675"/>
    <p:sldId id="925" r:id="rId676"/>
    <p:sldId id="926" r:id="rId677"/>
    <p:sldId id="927" r:id="rId678"/>
    <p:sldId id="928" r:id="rId679"/>
    <p:sldId id="929" r:id="rId680"/>
    <p:sldId id="930" r:id="rId681"/>
    <p:sldId id="931" r:id="rId682"/>
    <p:sldId id="932" r:id="rId683"/>
    <p:sldId id="933" r:id="rId684"/>
    <p:sldId id="934" r:id="rId685"/>
    <p:sldId id="935" r:id="rId686"/>
    <p:sldId id="936" r:id="rId687"/>
    <p:sldId id="937" r:id="rId688"/>
    <p:sldId id="938" r:id="rId689"/>
    <p:sldId id="939" r:id="rId690"/>
    <p:sldId id="940" r:id="rId691"/>
    <p:sldId id="941" r:id="rId692"/>
    <p:sldId id="942" r:id="rId693"/>
    <p:sldId id="943" r:id="rId694"/>
    <p:sldId id="944" r:id="rId695"/>
    <p:sldId id="945" r:id="rId696"/>
    <p:sldId id="946" r:id="rId697"/>
    <p:sldId id="947" r:id="rId698"/>
    <p:sldId id="948" r:id="rId699"/>
    <p:sldId id="949" r:id="rId700"/>
    <p:sldId id="950" r:id="rId701"/>
    <p:sldId id="951" r:id="rId702"/>
    <p:sldId id="952" r:id="rId703"/>
    <p:sldId id="953" r:id="rId704"/>
    <p:sldId id="954" r:id="rId705"/>
    <p:sldId id="955" r:id="rId706"/>
    <p:sldId id="956" r:id="rId707"/>
    <p:sldId id="957" r:id="rId708"/>
    <p:sldId id="958" r:id="rId709"/>
    <p:sldId id="959" r:id="rId710"/>
    <p:sldId id="960" r:id="rId711"/>
    <p:sldId id="961" r:id="rId712"/>
    <p:sldId id="962" r:id="rId713"/>
    <p:sldId id="963" r:id="rId714"/>
    <p:sldId id="964" r:id="rId715"/>
    <p:sldId id="965" r:id="rId716"/>
    <p:sldId id="966" r:id="rId717"/>
    <p:sldId id="967" r:id="rId718"/>
    <p:sldId id="968" r:id="rId719"/>
    <p:sldId id="969" r:id="rId720"/>
    <p:sldId id="970" r:id="rId721"/>
    <p:sldId id="971" r:id="rId722"/>
    <p:sldId id="972" r:id="rId723"/>
    <p:sldId id="973" r:id="rId724"/>
    <p:sldId id="974" r:id="rId725"/>
    <p:sldId id="975" r:id="rId726"/>
    <p:sldId id="976" r:id="rId727"/>
    <p:sldId id="977" r:id="rId728"/>
    <p:sldId id="978" r:id="rId729"/>
    <p:sldId id="979" r:id="rId730"/>
    <p:sldId id="980" r:id="rId731"/>
    <p:sldId id="981" r:id="rId732"/>
    <p:sldId id="982" r:id="rId733"/>
    <p:sldId id="983" r:id="rId734"/>
    <p:sldId id="984" r:id="rId735"/>
    <p:sldId id="985" r:id="rId736"/>
    <p:sldId id="986" r:id="rId737"/>
    <p:sldId id="987" r:id="rId738"/>
    <p:sldId id="988" r:id="rId739"/>
    <p:sldId id="989" r:id="rId740"/>
    <p:sldId id="990" r:id="rId741"/>
    <p:sldId id="991" r:id="rId742"/>
    <p:sldId id="992" r:id="rId743"/>
    <p:sldId id="993" r:id="rId744"/>
    <p:sldId id="994" r:id="rId745"/>
    <p:sldId id="995" r:id="rId746"/>
    <p:sldId id="996" r:id="rId747"/>
    <p:sldId id="997" r:id="rId748"/>
    <p:sldId id="998" r:id="rId749"/>
    <p:sldId id="999" r:id="rId750"/>
    <p:sldId id="1000" r:id="rId751"/>
    <p:sldId id="1001" r:id="rId752"/>
    <p:sldId id="1002" r:id="rId753"/>
    <p:sldId id="1003" r:id="rId754"/>
    <p:sldId id="1004" r:id="rId755"/>
    <p:sldId id="1005" r:id="rId756"/>
    <p:sldId id="1006" r:id="rId757"/>
    <p:sldId id="1007" r:id="rId758"/>
    <p:sldId id="1008" r:id="rId759"/>
    <p:sldId id="1009" r:id="rId760"/>
    <p:sldId id="1010" r:id="rId761"/>
    <p:sldId id="1011" r:id="rId762"/>
    <p:sldId id="1012" r:id="rId763"/>
    <p:sldId id="1013" r:id="rId764"/>
    <p:sldId id="1014" r:id="rId765"/>
    <p:sldId id="1015" r:id="rId766"/>
    <p:sldId id="1016" r:id="rId767"/>
    <p:sldId id="1017" r:id="rId768"/>
    <p:sldId id="1018" r:id="rId769"/>
    <p:sldId id="1019" r:id="rId770"/>
    <p:sldId id="1020" r:id="rId771"/>
    <p:sldId id="1021" r:id="rId772"/>
    <p:sldId id="1022" r:id="rId773"/>
    <p:sldId id="1023" r:id="rId774"/>
    <p:sldId id="1024" r:id="rId775"/>
    <p:sldId id="1025" r:id="rId776"/>
    <p:sldId id="1026" r:id="rId777"/>
    <p:sldId id="1027" r:id="rId778"/>
    <p:sldId id="1028" r:id="rId779"/>
    <p:sldId id="1029" r:id="rId780"/>
    <p:sldId id="1030" r:id="rId781"/>
    <p:sldId id="1031" r:id="rId782"/>
    <p:sldId id="1032" r:id="rId783"/>
    <p:sldId id="1033" r:id="rId784"/>
    <p:sldId id="1034" r:id="rId785"/>
    <p:sldId id="1035" r:id="rId786"/>
    <p:sldId id="1036" r:id="rId787"/>
    <p:sldId id="1037" r:id="rId788"/>
    <p:sldId id="1038" r:id="rId789"/>
    <p:sldId id="1039" r:id="rId790"/>
    <p:sldId id="1040" r:id="rId791"/>
    <p:sldId id="1041" r:id="rId792"/>
    <p:sldId id="1042" r:id="rId793"/>
    <p:sldId id="1043" r:id="rId794"/>
    <p:sldId id="1044" r:id="rId795"/>
    <p:sldId id="1045" r:id="rId796"/>
    <p:sldId id="1046" r:id="rId797"/>
    <p:sldId id="1047" r:id="rId798"/>
    <p:sldId id="1048" r:id="rId799"/>
    <p:sldId id="1049" r:id="rId800"/>
    <p:sldId id="1050" r:id="rId801"/>
    <p:sldId id="1051" r:id="rId802"/>
    <p:sldId id="1052" r:id="rId803"/>
    <p:sldId id="1053" r:id="rId804"/>
    <p:sldId id="1054" r:id="rId805"/>
    <p:sldId id="1055" r:id="rId806"/>
    <p:sldId id="1056" r:id="rId807"/>
    <p:sldId id="1057" r:id="rId808"/>
    <p:sldId id="1058" r:id="rId809"/>
    <p:sldId id="1059" r:id="rId810"/>
    <p:sldId id="1060" r:id="rId811"/>
    <p:sldId id="1061" r:id="rId812"/>
    <p:sldId id="1062" r:id="rId813"/>
    <p:sldId id="1063" r:id="rId814"/>
    <p:sldId id="1064" r:id="rId815"/>
    <p:sldId id="1065" r:id="rId816"/>
    <p:sldId id="1066" r:id="rId817"/>
    <p:sldId id="1067" r:id="rId818"/>
    <p:sldId id="1068" r:id="rId819"/>
    <p:sldId id="1069" r:id="rId820"/>
    <p:sldId id="1070" r:id="rId821"/>
    <p:sldId id="1071" r:id="rId822"/>
    <p:sldId id="1072" r:id="rId823"/>
    <p:sldId id="1073" r:id="rId824"/>
    <p:sldId id="1074" r:id="rId825"/>
    <p:sldId id="1075" r:id="rId826"/>
    <p:sldId id="1076" r:id="rId827"/>
    <p:sldId id="1077" r:id="rId828"/>
    <p:sldId id="1078" r:id="rId829"/>
    <p:sldId id="1079" r:id="rId830"/>
    <p:sldId id="1080" r:id="rId831"/>
    <p:sldId id="1081" r:id="rId832"/>
    <p:sldId id="1082" r:id="rId833"/>
    <p:sldId id="1083" r:id="rId834"/>
    <p:sldId id="1084" r:id="rId835"/>
    <p:sldId id="1085" r:id="rId836"/>
    <p:sldId id="1086" r:id="rId8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 Id="rId419" Type="http://schemas.openxmlformats.org/officeDocument/2006/relationships/slide" Target="slides/slide413.xml"/><Relationship Id="rId420" Type="http://schemas.openxmlformats.org/officeDocument/2006/relationships/slide" Target="slides/slide414.xml"/><Relationship Id="rId421" Type="http://schemas.openxmlformats.org/officeDocument/2006/relationships/slide" Target="slides/slide415.xml"/><Relationship Id="rId422" Type="http://schemas.openxmlformats.org/officeDocument/2006/relationships/slide" Target="slides/slide416.xml"/><Relationship Id="rId423" Type="http://schemas.openxmlformats.org/officeDocument/2006/relationships/slide" Target="slides/slide417.xml"/><Relationship Id="rId424" Type="http://schemas.openxmlformats.org/officeDocument/2006/relationships/slide" Target="slides/slide418.xml"/><Relationship Id="rId425" Type="http://schemas.openxmlformats.org/officeDocument/2006/relationships/slide" Target="slides/slide419.xml"/><Relationship Id="rId426" Type="http://schemas.openxmlformats.org/officeDocument/2006/relationships/slide" Target="slides/slide420.xml"/><Relationship Id="rId427" Type="http://schemas.openxmlformats.org/officeDocument/2006/relationships/slide" Target="slides/slide421.xml"/><Relationship Id="rId428" Type="http://schemas.openxmlformats.org/officeDocument/2006/relationships/slide" Target="slides/slide422.xml"/><Relationship Id="rId429" Type="http://schemas.openxmlformats.org/officeDocument/2006/relationships/slide" Target="slides/slide423.xml"/><Relationship Id="rId430" Type="http://schemas.openxmlformats.org/officeDocument/2006/relationships/slide" Target="slides/slide424.xml"/><Relationship Id="rId431" Type="http://schemas.openxmlformats.org/officeDocument/2006/relationships/slide" Target="slides/slide425.xml"/><Relationship Id="rId432" Type="http://schemas.openxmlformats.org/officeDocument/2006/relationships/slide" Target="slides/slide426.xml"/><Relationship Id="rId433" Type="http://schemas.openxmlformats.org/officeDocument/2006/relationships/slide" Target="slides/slide427.xml"/><Relationship Id="rId434" Type="http://schemas.openxmlformats.org/officeDocument/2006/relationships/slide" Target="slides/slide428.xml"/><Relationship Id="rId435" Type="http://schemas.openxmlformats.org/officeDocument/2006/relationships/slide" Target="slides/slide429.xml"/><Relationship Id="rId436" Type="http://schemas.openxmlformats.org/officeDocument/2006/relationships/slide" Target="slides/slide430.xml"/><Relationship Id="rId437" Type="http://schemas.openxmlformats.org/officeDocument/2006/relationships/slide" Target="slides/slide431.xml"/><Relationship Id="rId438" Type="http://schemas.openxmlformats.org/officeDocument/2006/relationships/slide" Target="slides/slide432.xml"/><Relationship Id="rId439" Type="http://schemas.openxmlformats.org/officeDocument/2006/relationships/slide" Target="slides/slide433.xml"/><Relationship Id="rId440" Type="http://schemas.openxmlformats.org/officeDocument/2006/relationships/slide" Target="slides/slide434.xml"/><Relationship Id="rId441" Type="http://schemas.openxmlformats.org/officeDocument/2006/relationships/slide" Target="slides/slide435.xml"/><Relationship Id="rId442" Type="http://schemas.openxmlformats.org/officeDocument/2006/relationships/slide" Target="slides/slide436.xml"/><Relationship Id="rId443" Type="http://schemas.openxmlformats.org/officeDocument/2006/relationships/slide" Target="slides/slide437.xml"/><Relationship Id="rId444" Type="http://schemas.openxmlformats.org/officeDocument/2006/relationships/slide" Target="slides/slide438.xml"/><Relationship Id="rId445" Type="http://schemas.openxmlformats.org/officeDocument/2006/relationships/slide" Target="slides/slide439.xml"/><Relationship Id="rId446" Type="http://schemas.openxmlformats.org/officeDocument/2006/relationships/slide" Target="slides/slide440.xml"/><Relationship Id="rId447" Type="http://schemas.openxmlformats.org/officeDocument/2006/relationships/slide" Target="slides/slide441.xml"/><Relationship Id="rId448" Type="http://schemas.openxmlformats.org/officeDocument/2006/relationships/slide" Target="slides/slide442.xml"/><Relationship Id="rId449" Type="http://schemas.openxmlformats.org/officeDocument/2006/relationships/slide" Target="slides/slide443.xml"/><Relationship Id="rId450" Type="http://schemas.openxmlformats.org/officeDocument/2006/relationships/slide" Target="slides/slide444.xml"/><Relationship Id="rId451" Type="http://schemas.openxmlformats.org/officeDocument/2006/relationships/slide" Target="slides/slide445.xml"/><Relationship Id="rId452" Type="http://schemas.openxmlformats.org/officeDocument/2006/relationships/slide" Target="slides/slide446.xml"/><Relationship Id="rId453" Type="http://schemas.openxmlformats.org/officeDocument/2006/relationships/slide" Target="slides/slide447.xml"/><Relationship Id="rId454" Type="http://schemas.openxmlformats.org/officeDocument/2006/relationships/slide" Target="slides/slide448.xml"/><Relationship Id="rId455" Type="http://schemas.openxmlformats.org/officeDocument/2006/relationships/slide" Target="slides/slide449.xml"/><Relationship Id="rId456" Type="http://schemas.openxmlformats.org/officeDocument/2006/relationships/slide" Target="slides/slide450.xml"/><Relationship Id="rId457" Type="http://schemas.openxmlformats.org/officeDocument/2006/relationships/slide" Target="slides/slide451.xml"/><Relationship Id="rId458" Type="http://schemas.openxmlformats.org/officeDocument/2006/relationships/slide" Target="slides/slide452.xml"/><Relationship Id="rId459" Type="http://schemas.openxmlformats.org/officeDocument/2006/relationships/slide" Target="slides/slide453.xml"/><Relationship Id="rId460" Type="http://schemas.openxmlformats.org/officeDocument/2006/relationships/slide" Target="slides/slide454.xml"/><Relationship Id="rId461" Type="http://schemas.openxmlformats.org/officeDocument/2006/relationships/slide" Target="slides/slide455.xml"/><Relationship Id="rId462" Type="http://schemas.openxmlformats.org/officeDocument/2006/relationships/slide" Target="slides/slide456.xml"/><Relationship Id="rId463" Type="http://schemas.openxmlformats.org/officeDocument/2006/relationships/slide" Target="slides/slide457.xml"/><Relationship Id="rId464" Type="http://schemas.openxmlformats.org/officeDocument/2006/relationships/slide" Target="slides/slide458.xml"/><Relationship Id="rId465" Type="http://schemas.openxmlformats.org/officeDocument/2006/relationships/slide" Target="slides/slide459.xml"/><Relationship Id="rId466" Type="http://schemas.openxmlformats.org/officeDocument/2006/relationships/slide" Target="slides/slide460.xml"/><Relationship Id="rId467" Type="http://schemas.openxmlformats.org/officeDocument/2006/relationships/slide" Target="slides/slide461.xml"/><Relationship Id="rId468" Type="http://schemas.openxmlformats.org/officeDocument/2006/relationships/slide" Target="slides/slide462.xml"/><Relationship Id="rId469" Type="http://schemas.openxmlformats.org/officeDocument/2006/relationships/slide" Target="slides/slide463.xml"/><Relationship Id="rId470" Type="http://schemas.openxmlformats.org/officeDocument/2006/relationships/slide" Target="slides/slide464.xml"/><Relationship Id="rId471" Type="http://schemas.openxmlformats.org/officeDocument/2006/relationships/slide" Target="slides/slide465.xml"/><Relationship Id="rId472" Type="http://schemas.openxmlformats.org/officeDocument/2006/relationships/slide" Target="slides/slide466.xml"/><Relationship Id="rId473" Type="http://schemas.openxmlformats.org/officeDocument/2006/relationships/slide" Target="slides/slide467.xml"/><Relationship Id="rId474" Type="http://schemas.openxmlformats.org/officeDocument/2006/relationships/slide" Target="slides/slide468.xml"/><Relationship Id="rId475" Type="http://schemas.openxmlformats.org/officeDocument/2006/relationships/slide" Target="slides/slide469.xml"/><Relationship Id="rId476" Type="http://schemas.openxmlformats.org/officeDocument/2006/relationships/slide" Target="slides/slide470.xml"/><Relationship Id="rId477" Type="http://schemas.openxmlformats.org/officeDocument/2006/relationships/slide" Target="slides/slide471.xml"/><Relationship Id="rId478" Type="http://schemas.openxmlformats.org/officeDocument/2006/relationships/slide" Target="slides/slide472.xml"/><Relationship Id="rId479" Type="http://schemas.openxmlformats.org/officeDocument/2006/relationships/slide" Target="slides/slide473.xml"/><Relationship Id="rId480" Type="http://schemas.openxmlformats.org/officeDocument/2006/relationships/slide" Target="slides/slide474.xml"/><Relationship Id="rId481" Type="http://schemas.openxmlformats.org/officeDocument/2006/relationships/slide" Target="slides/slide475.xml"/><Relationship Id="rId482" Type="http://schemas.openxmlformats.org/officeDocument/2006/relationships/slide" Target="slides/slide476.xml"/><Relationship Id="rId483" Type="http://schemas.openxmlformats.org/officeDocument/2006/relationships/slide" Target="slides/slide477.xml"/><Relationship Id="rId484" Type="http://schemas.openxmlformats.org/officeDocument/2006/relationships/slide" Target="slides/slide478.xml"/><Relationship Id="rId485" Type="http://schemas.openxmlformats.org/officeDocument/2006/relationships/slide" Target="slides/slide479.xml"/><Relationship Id="rId486" Type="http://schemas.openxmlformats.org/officeDocument/2006/relationships/slide" Target="slides/slide480.xml"/><Relationship Id="rId487" Type="http://schemas.openxmlformats.org/officeDocument/2006/relationships/slide" Target="slides/slide481.xml"/><Relationship Id="rId488" Type="http://schemas.openxmlformats.org/officeDocument/2006/relationships/slide" Target="slides/slide482.xml"/><Relationship Id="rId489" Type="http://schemas.openxmlformats.org/officeDocument/2006/relationships/slide" Target="slides/slide483.xml"/><Relationship Id="rId490" Type="http://schemas.openxmlformats.org/officeDocument/2006/relationships/slide" Target="slides/slide484.xml"/><Relationship Id="rId491" Type="http://schemas.openxmlformats.org/officeDocument/2006/relationships/slide" Target="slides/slide485.xml"/><Relationship Id="rId492" Type="http://schemas.openxmlformats.org/officeDocument/2006/relationships/slide" Target="slides/slide486.xml"/><Relationship Id="rId493" Type="http://schemas.openxmlformats.org/officeDocument/2006/relationships/slide" Target="slides/slide487.xml"/><Relationship Id="rId494" Type="http://schemas.openxmlformats.org/officeDocument/2006/relationships/slide" Target="slides/slide488.xml"/><Relationship Id="rId495" Type="http://schemas.openxmlformats.org/officeDocument/2006/relationships/slide" Target="slides/slide489.xml"/><Relationship Id="rId496" Type="http://schemas.openxmlformats.org/officeDocument/2006/relationships/slide" Target="slides/slide490.xml"/><Relationship Id="rId497" Type="http://schemas.openxmlformats.org/officeDocument/2006/relationships/slide" Target="slides/slide491.xml"/><Relationship Id="rId498" Type="http://schemas.openxmlformats.org/officeDocument/2006/relationships/slide" Target="slides/slide492.xml"/><Relationship Id="rId499" Type="http://schemas.openxmlformats.org/officeDocument/2006/relationships/slide" Target="slides/slide493.xml"/><Relationship Id="rId500" Type="http://schemas.openxmlformats.org/officeDocument/2006/relationships/slide" Target="slides/slide494.xml"/><Relationship Id="rId501" Type="http://schemas.openxmlformats.org/officeDocument/2006/relationships/slide" Target="slides/slide495.xml"/><Relationship Id="rId502" Type="http://schemas.openxmlformats.org/officeDocument/2006/relationships/slide" Target="slides/slide496.xml"/><Relationship Id="rId503" Type="http://schemas.openxmlformats.org/officeDocument/2006/relationships/slide" Target="slides/slide497.xml"/><Relationship Id="rId504" Type="http://schemas.openxmlformats.org/officeDocument/2006/relationships/slide" Target="slides/slide498.xml"/><Relationship Id="rId505" Type="http://schemas.openxmlformats.org/officeDocument/2006/relationships/slide" Target="slides/slide499.xml"/><Relationship Id="rId506" Type="http://schemas.openxmlformats.org/officeDocument/2006/relationships/slide" Target="slides/slide500.xml"/><Relationship Id="rId507" Type="http://schemas.openxmlformats.org/officeDocument/2006/relationships/slide" Target="slides/slide501.xml"/><Relationship Id="rId508" Type="http://schemas.openxmlformats.org/officeDocument/2006/relationships/slide" Target="slides/slide502.xml"/><Relationship Id="rId509" Type="http://schemas.openxmlformats.org/officeDocument/2006/relationships/slide" Target="slides/slide503.xml"/><Relationship Id="rId510" Type="http://schemas.openxmlformats.org/officeDocument/2006/relationships/slide" Target="slides/slide504.xml"/><Relationship Id="rId511" Type="http://schemas.openxmlformats.org/officeDocument/2006/relationships/slide" Target="slides/slide505.xml"/><Relationship Id="rId512" Type="http://schemas.openxmlformats.org/officeDocument/2006/relationships/slide" Target="slides/slide506.xml"/><Relationship Id="rId513" Type="http://schemas.openxmlformats.org/officeDocument/2006/relationships/slide" Target="slides/slide507.xml"/><Relationship Id="rId514" Type="http://schemas.openxmlformats.org/officeDocument/2006/relationships/slide" Target="slides/slide508.xml"/><Relationship Id="rId515" Type="http://schemas.openxmlformats.org/officeDocument/2006/relationships/slide" Target="slides/slide509.xml"/><Relationship Id="rId516" Type="http://schemas.openxmlformats.org/officeDocument/2006/relationships/slide" Target="slides/slide510.xml"/><Relationship Id="rId517" Type="http://schemas.openxmlformats.org/officeDocument/2006/relationships/slide" Target="slides/slide511.xml"/><Relationship Id="rId518" Type="http://schemas.openxmlformats.org/officeDocument/2006/relationships/slide" Target="slides/slide512.xml"/><Relationship Id="rId519" Type="http://schemas.openxmlformats.org/officeDocument/2006/relationships/slide" Target="slides/slide513.xml"/><Relationship Id="rId520" Type="http://schemas.openxmlformats.org/officeDocument/2006/relationships/slide" Target="slides/slide514.xml"/><Relationship Id="rId521" Type="http://schemas.openxmlformats.org/officeDocument/2006/relationships/slide" Target="slides/slide515.xml"/><Relationship Id="rId522" Type="http://schemas.openxmlformats.org/officeDocument/2006/relationships/slide" Target="slides/slide516.xml"/><Relationship Id="rId523" Type="http://schemas.openxmlformats.org/officeDocument/2006/relationships/slide" Target="slides/slide517.xml"/><Relationship Id="rId524" Type="http://schemas.openxmlformats.org/officeDocument/2006/relationships/slide" Target="slides/slide518.xml"/><Relationship Id="rId525" Type="http://schemas.openxmlformats.org/officeDocument/2006/relationships/slide" Target="slides/slide519.xml"/><Relationship Id="rId526" Type="http://schemas.openxmlformats.org/officeDocument/2006/relationships/slide" Target="slides/slide520.xml"/><Relationship Id="rId527" Type="http://schemas.openxmlformats.org/officeDocument/2006/relationships/slide" Target="slides/slide521.xml"/><Relationship Id="rId528" Type="http://schemas.openxmlformats.org/officeDocument/2006/relationships/slide" Target="slides/slide522.xml"/><Relationship Id="rId529" Type="http://schemas.openxmlformats.org/officeDocument/2006/relationships/slide" Target="slides/slide523.xml"/><Relationship Id="rId530" Type="http://schemas.openxmlformats.org/officeDocument/2006/relationships/slide" Target="slides/slide524.xml"/><Relationship Id="rId531" Type="http://schemas.openxmlformats.org/officeDocument/2006/relationships/slide" Target="slides/slide525.xml"/><Relationship Id="rId532" Type="http://schemas.openxmlformats.org/officeDocument/2006/relationships/slide" Target="slides/slide526.xml"/><Relationship Id="rId533" Type="http://schemas.openxmlformats.org/officeDocument/2006/relationships/slide" Target="slides/slide527.xml"/><Relationship Id="rId534" Type="http://schemas.openxmlformats.org/officeDocument/2006/relationships/slide" Target="slides/slide528.xml"/><Relationship Id="rId535" Type="http://schemas.openxmlformats.org/officeDocument/2006/relationships/slide" Target="slides/slide529.xml"/><Relationship Id="rId536" Type="http://schemas.openxmlformats.org/officeDocument/2006/relationships/slide" Target="slides/slide530.xml"/><Relationship Id="rId537" Type="http://schemas.openxmlformats.org/officeDocument/2006/relationships/slide" Target="slides/slide531.xml"/><Relationship Id="rId538" Type="http://schemas.openxmlformats.org/officeDocument/2006/relationships/slide" Target="slides/slide532.xml"/><Relationship Id="rId539" Type="http://schemas.openxmlformats.org/officeDocument/2006/relationships/slide" Target="slides/slide533.xml"/><Relationship Id="rId540" Type="http://schemas.openxmlformats.org/officeDocument/2006/relationships/slide" Target="slides/slide534.xml"/><Relationship Id="rId541" Type="http://schemas.openxmlformats.org/officeDocument/2006/relationships/slide" Target="slides/slide535.xml"/><Relationship Id="rId542" Type="http://schemas.openxmlformats.org/officeDocument/2006/relationships/slide" Target="slides/slide536.xml"/><Relationship Id="rId543" Type="http://schemas.openxmlformats.org/officeDocument/2006/relationships/slide" Target="slides/slide537.xml"/><Relationship Id="rId544" Type="http://schemas.openxmlformats.org/officeDocument/2006/relationships/slide" Target="slides/slide538.xml"/><Relationship Id="rId545" Type="http://schemas.openxmlformats.org/officeDocument/2006/relationships/slide" Target="slides/slide539.xml"/><Relationship Id="rId546" Type="http://schemas.openxmlformats.org/officeDocument/2006/relationships/slide" Target="slides/slide540.xml"/><Relationship Id="rId547" Type="http://schemas.openxmlformats.org/officeDocument/2006/relationships/slide" Target="slides/slide541.xml"/><Relationship Id="rId548" Type="http://schemas.openxmlformats.org/officeDocument/2006/relationships/slide" Target="slides/slide542.xml"/><Relationship Id="rId549" Type="http://schemas.openxmlformats.org/officeDocument/2006/relationships/slide" Target="slides/slide543.xml"/><Relationship Id="rId550" Type="http://schemas.openxmlformats.org/officeDocument/2006/relationships/slide" Target="slides/slide544.xml"/><Relationship Id="rId551" Type="http://schemas.openxmlformats.org/officeDocument/2006/relationships/slide" Target="slides/slide545.xml"/><Relationship Id="rId552" Type="http://schemas.openxmlformats.org/officeDocument/2006/relationships/slide" Target="slides/slide546.xml"/><Relationship Id="rId553" Type="http://schemas.openxmlformats.org/officeDocument/2006/relationships/slide" Target="slides/slide547.xml"/><Relationship Id="rId554" Type="http://schemas.openxmlformats.org/officeDocument/2006/relationships/slide" Target="slides/slide548.xml"/><Relationship Id="rId555" Type="http://schemas.openxmlformats.org/officeDocument/2006/relationships/slide" Target="slides/slide549.xml"/><Relationship Id="rId556" Type="http://schemas.openxmlformats.org/officeDocument/2006/relationships/slide" Target="slides/slide550.xml"/><Relationship Id="rId557" Type="http://schemas.openxmlformats.org/officeDocument/2006/relationships/slide" Target="slides/slide551.xml"/><Relationship Id="rId558" Type="http://schemas.openxmlformats.org/officeDocument/2006/relationships/slide" Target="slides/slide552.xml"/><Relationship Id="rId559" Type="http://schemas.openxmlformats.org/officeDocument/2006/relationships/slide" Target="slides/slide553.xml"/><Relationship Id="rId560" Type="http://schemas.openxmlformats.org/officeDocument/2006/relationships/slide" Target="slides/slide554.xml"/><Relationship Id="rId561" Type="http://schemas.openxmlformats.org/officeDocument/2006/relationships/slide" Target="slides/slide555.xml"/><Relationship Id="rId562" Type="http://schemas.openxmlformats.org/officeDocument/2006/relationships/slide" Target="slides/slide556.xml"/><Relationship Id="rId563" Type="http://schemas.openxmlformats.org/officeDocument/2006/relationships/slide" Target="slides/slide557.xml"/><Relationship Id="rId564" Type="http://schemas.openxmlformats.org/officeDocument/2006/relationships/slide" Target="slides/slide558.xml"/><Relationship Id="rId565" Type="http://schemas.openxmlformats.org/officeDocument/2006/relationships/slide" Target="slides/slide559.xml"/><Relationship Id="rId566" Type="http://schemas.openxmlformats.org/officeDocument/2006/relationships/slide" Target="slides/slide560.xml"/><Relationship Id="rId567" Type="http://schemas.openxmlformats.org/officeDocument/2006/relationships/slide" Target="slides/slide561.xml"/><Relationship Id="rId568" Type="http://schemas.openxmlformats.org/officeDocument/2006/relationships/slide" Target="slides/slide562.xml"/><Relationship Id="rId569" Type="http://schemas.openxmlformats.org/officeDocument/2006/relationships/slide" Target="slides/slide563.xml"/><Relationship Id="rId570" Type="http://schemas.openxmlformats.org/officeDocument/2006/relationships/slide" Target="slides/slide564.xml"/><Relationship Id="rId571" Type="http://schemas.openxmlformats.org/officeDocument/2006/relationships/slide" Target="slides/slide565.xml"/><Relationship Id="rId572" Type="http://schemas.openxmlformats.org/officeDocument/2006/relationships/slide" Target="slides/slide566.xml"/><Relationship Id="rId573" Type="http://schemas.openxmlformats.org/officeDocument/2006/relationships/slide" Target="slides/slide567.xml"/><Relationship Id="rId574" Type="http://schemas.openxmlformats.org/officeDocument/2006/relationships/slide" Target="slides/slide568.xml"/><Relationship Id="rId575" Type="http://schemas.openxmlformats.org/officeDocument/2006/relationships/slide" Target="slides/slide569.xml"/><Relationship Id="rId576" Type="http://schemas.openxmlformats.org/officeDocument/2006/relationships/slide" Target="slides/slide570.xml"/><Relationship Id="rId577" Type="http://schemas.openxmlformats.org/officeDocument/2006/relationships/slide" Target="slides/slide571.xml"/><Relationship Id="rId578" Type="http://schemas.openxmlformats.org/officeDocument/2006/relationships/slide" Target="slides/slide572.xml"/><Relationship Id="rId579" Type="http://schemas.openxmlformats.org/officeDocument/2006/relationships/slide" Target="slides/slide573.xml"/><Relationship Id="rId580" Type="http://schemas.openxmlformats.org/officeDocument/2006/relationships/slide" Target="slides/slide574.xml"/><Relationship Id="rId581" Type="http://schemas.openxmlformats.org/officeDocument/2006/relationships/slide" Target="slides/slide575.xml"/><Relationship Id="rId582" Type="http://schemas.openxmlformats.org/officeDocument/2006/relationships/slide" Target="slides/slide576.xml"/><Relationship Id="rId583" Type="http://schemas.openxmlformats.org/officeDocument/2006/relationships/slide" Target="slides/slide577.xml"/><Relationship Id="rId584" Type="http://schemas.openxmlformats.org/officeDocument/2006/relationships/slide" Target="slides/slide578.xml"/><Relationship Id="rId585" Type="http://schemas.openxmlformats.org/officeDocument/2006/relationships/slide" Target="slides/slide579.xml"/><Relationship Id="rId586" Type="http://schemas.openxmlformats.org/officeDocument/2006/relationships/slide" Target="slides/slide580.xml"/><Relationship Id="rId587" Type="http://schemas.openxmlformats.org/officeDocument/2006/relationships/slide" Target="slides/slide581.xml"/><Relationship Id="rId588" Type="http://schemas.openxmlformats.org/officeDocument/2006/relationships/slide" Target="slides/slide582.xml"/><Relationship Id="rId589" Type="http://schemas.openxmlformats.org/officeDocument/2006/relationships/slide" Target="slides/slide583.xml"/><Relationship Id="rId590" Type="http://schemas.openxmlformats.org/officeDocument/2006/relationships/slide" Target="slides/slide584.xml"/><Relationship Id="rId591" Type="http://schemas.openxmlformats.org/officeDocument/2006/relationships/slide" Target="slides/slide585.xml"/><Relationship Id="rId592" Type="http://schemas.openxmlformats.org/officeDocument/2006/relationships/slide" Target="slides/slide586.xml"/><Relationship Id="rId593" Type="http://schemas.openxmlformats.org/officeDocument/2006/relationships/slide" Target="slides/slide587.xml"/><Relationship Id="rId594" Type="http://schemas.openxmlformats.org/officeDocument/2006/relationships/slide" Target="slides/slide588.xml"/><Relationship Id="rId595" Type="http://schemas.openxmlformats.org/officeDocument/2006/relationships/slide" Target="slides/slide589.xml"/><Relationship Id="rId596" Type="http://schemas.openxmlformats.org/officeDocument/2006/relationships/slide" Target="slides/slide590.xml"/><Relationship Id="rId597" Type="http://schemas.openxmlformats.org/officeDocument/2006/relationships/slide" Target="slides/slide591.xml"/><Relationship Id="rId598" Type="http://schemas.openxmlformats.org/officeDocument/2006/relationships/slide" Target="slides/slide592.xml"/><Relationship Id="rId599" Type="http://schemas.openxmlformats.org/officeDocument/2006/relationships/slide" Target="slides/slide593.xml"/><Relationship Id="rId600" Type="http://schemas.openxmlformats.org/officeDocument/2006/relationships/slide" Target="slides/slide594.xml"/><Relationship Id="rId601" Type="http://schemas.openxmlformats.org/officeDocument/2006/relationships/slide" Target="slides/slide595.xml"/><Relationship Id="rId602" Type="http://schemas.openxmlformats.org/officeDocument/2006/relationships/slide" Target="slides/slide596.xml"/><Relationship Id="rId603" Type="http://schemas.openxmlformats.org/officeDocument/2006/relationships/slide" Target="slides/slide597.xml"/><Relationship Id="rId604" Type="http://schemas.openxmlformats.org/officeDocument/2006/relationships/slide" Target="slides/slide598.xml"/><Relationship Id="rId605" Type="http://schemas.openxmlformats.org/officeDocument/2006/relationships/slide" Target="slides/slide599.xml"/><Relationship Id="rId606" Type="http://schemas.openxmlformats.org/officeDocument/2006/relationships/slide" Target="slides/slide600.xml"/><Relationship Id="rId607" Type="http://schemas.openxmlformats.org/officeDocument/2006/relationships/slide" Target="slides/slide601.xml"/><Relationship Id="rId608" Type="http://schemas.openxmlformats.org/officeDocument/2006/relationships/slide" Target="slides/slide602.xml"/><Relationship Id="rId609" Type="http://schemas.openxmlformats.org/officeDocument/2006/relationships/slide" Target="slides/slide603.xml"/><Relationship Id="rId610" Type="http://schemas.openxmlformats.org/officeDocument/2006/relationships/slide" Target="slides/slide604.xml"/><Relationship Id="rId611" Type="http://schemas.openxmlformats.org/officeDocument/2006/relationships/slide" Target="slides/slide605.xml"/><Relationship Id="rId612" Type="http://schemas.openxmlformats.org/officeDocument/2006/relationships/slide" Target="slides/slide606.xml"/><Relationship Id="rId613" Type="http://schemas.openxmlformats.org/officeDocument/2006/relationships/slide" Target="slides/slide607.xml"/><Relationship Id="rId614" Type="http://schemas.openxmlformats.org/officeDocument/2006/relationships/slide" Target="slides/slide608.xml"/><Relationship Id="rId615" Type="http://schemas.openxmlformats.org/officeDocument/2006/relationships/slide" Target="slides/slide609.xml"/><Relationship Id="rId616" Type="http://schemas.openxmlformats.org/officeDocument/2006/relationships/slide" Target="slides/slide610.xml"/><Relationship Id="rId617" Type="http://schemas.openxmlformats.org/officeDocument/2006/relationships/slide" Target="slides/slide611.xml"/><Relationship Id="rId618" Type="http://schemas.openxmlformats.org/officeDocument/2006/relationships/slide" Target="slides/slide612.xml"/><Relationship Id="rId619" Type="http://schemas.openxmlformats.org/officeDocument/2006/relationships/slide" Target="slides/slide613.xml"/><Relationship Id="rId620" Type="http://schemas.openxmlformats.org/officeDocument/2006/relationships/slide" Target="slides/slide614.xml"/><Relationship Id="rId621" Type="http://schemas.openxmlformats.org/officeDocument/2006/relationships/slide" Target="slides/slide615.xml"/><Relationship Id="rId622" Type="http://schemas.openxmlformats.org/officeDocument/2006/relationships/slide" Target="slides/slide616.xml"/><Relationship Id="rId623" Type="http://schemas.openxmlformats.org/officeDocument/2006/relationships/slide" Target="slides/slide617.xml"/><Relationship Id="rId624" Type="http://schemas.openxmlformats.org/officeDocument/2006/relationships/slide" Target="slides/slide618.xml"/><Relationship Id="rId625" Type="http://schemas.openxmlformats.org/officeDocument/2006/relationships/slide" Target="slides/slide619.xml"/><Relationship Id="rId626" Type="http://schemas.openxmlformats.org/officeDocument/2006/relationships/slide" Target="slides/slide620.xml"/><Relationship Id="rId627" Type="http://schemas.openxmlformats.org/officeDocument/2006/relationships/slide" Target="slides/slide621.xml"/><Relationship Id="rId628" Type="http://schemas.openxmlformats.org/officeDocument/2006/relationships/slide" Target="slides/slide622.xml"/><Relationship Id="rId629" Type="http://schemas.openxmlformats.org/officeDocument/2006/relationships/slide" Target="slides/slide623.xml"/><Relationship Id="rId630" Type="http://schemas.openxmlformats.org/officeDocument/2006/relationships/slide" Target="slides/slide624.xml"/><Relationship Id="rId631" Type="http://schemas.openxmlformats.org/officeDocument/2006/relationships/slide" Target="slides/slide625.xml"/><Relationship Id="rId632" Type="http://schemas.openxmlformats.org/officeDocument/2006/relationships/slide" Target="slides/slide626.xml"/><Relationship Id="rId633" Type="http://schemas.openxmlformats.org/officeDocument/2006/relationships/slide" Target="slides/slide627.xml"/><Relationship Id="rId634" Type="http://schemas.openxmlformats.org/officeDocument/2006/relationships/slide" Target="slides/slide628.xml"/><Relationship Id="rId635" Type="http://schemas.openxmlformats.org/officeDocument/2006/relationships/slide" Target="slides/slide629.xml"/><Relationship Id="rId636" Type="http://schemas.openxmlformats.org/officeDocument/2006/relationships/slide" Target="slides/slide630.xml"/><Relationship Id="rId637" Type="http://schemas.openxmlformats.org/officeDocument/2006/relationships/slide" Target="slides/slide631.xml"/><Relationship Id="rId638" Type="http://schemas.openxmlformats.org/officeDocument/2006/relationships/slide" Target="slides/slide632.xml"/><Relationship Id="rId639" Type="http://schemas.openxmlformats.org/officeDocument/2006/relationships/slide" Target="slides/slide633.xml"/><Relationship Id="rId640" Type="http://schemas.openxmlformats.org/officeDocument/2006/relationships/slide" Target="slides/slide634.xml"/><Relationship Id="rId641" Type="http://schemas.openxmlformats.org/officeDocument/2006/relationships/slide" Target="slides/slide635.xml"/><Relationship Id="rId642" Type="http://schemas.openxmlformats.org/officeDocument/2006/relationships/slide" Target="slides/slide636.xml"/><Relationship Id="rId643" Type="http://schemas.openxmlformats.org/officeDocument/2006/relationships/slide" Target="slides/slide637.xml"/><Relationship Id="rId644" Type="http://schemas.openxmlformats.org/officeDocument/2006/relationships/slide" Target="slides/slide638.xml"/><Relationship Id="rId645" Type="http://schemas.openxmlformats.org/officeDocument/2006/relationships/slide" Target="slides/slide639.xml"/><Relationship Id="rId646" Type="http://schemas.openxmlformats.org/officeDocument/2006/relationships/slide" Target="slides/slide640.xml"/><Relationship Id="rId647" Type="http://schemas.openxmlformats.org/officeDocument/2006/relationships/slide" Target="slides/slide641.xml"/><Relationship Id="rId648" Type="http://schemas.openxmlformats.org/officeDocument/2006/relationships/slide" Target="slides/slide642.xml"/><Relationship Id="rId649" Type="http://schemas.openxmlformats.org/officeDocument/2006/relationships/slide" Target="slides/slide643.xml"/><Relationship Id="rId650" Type="http://schemas.openxmlformats.org/officeDocument/2006/relationships/slide" Target="slides/slide644.xml"/><Relationship Id="rId651" Type="http://schemas.openxmlformats.org/officeDocument/2006/relationships/slide" Target="slides/slide645.xml"/><Relationship Id="rId652" Type="http://schemas.openxmlformats.org/officeDocument/2006/relationships/slide" Target="slides/slide646.xml"/><Relationship Id="rId653" Type="http://schemas.openxmlformats.org/officeDocument/2006/relationships/slide" Target="slides/slide647.xml"/><Relationship Id="rId654" Type="http://schemas.openxmlformats.org/officeDocument/2006/relationships/slide" Target="slides/slide648.xml"/><Relationship Id="rId655" Type="http://schemas.openxmlformats.org/officeDocument/2006/relationships/slide" Target="slides/slide649.xml"/><Relationship Id="rId656" Type="http://schemas.openxmlformats.org/officeDocument/2006/relationships/slide" Target="slides/slide650.xml"/><Relationship Id="rId657" Type="http://schemas.openxmlformats.org/officeDocument/2006/relationships/slide" Target="slides/slide651.xml"/><Relationship Id="rId658" Type="http://schemas.openxmlformats.org/officeDocument/2006/relationships/slide" Target="slides/slide652.xml"/><Relationship Id="rId659" Type="http://schemas.openxmlformats.org/officeDocument/2006/relationships/slide" Target="slides/slide653.xml"/><Relationship Id="rId660" Type="http://schemas.openxmlformats.org/officeDocument/2006/relationships/slide" Target="slides/slide654.xml"/><Relationship Id="rId661" Type="http://schemas.openxmlformats.org/officeDocument/2006/relationships/slide" Target="slides/slide655.xml"/><Relationship Id="rId662" Type="http://schemas.openxmlformats.org/officeDocument/2006/relationships/slide" Target="slides/slide656.xml"/><Relationship Id="rId663" Type="http://schemas.openxmlformats.org/officeDocument/2006/relationships/slide" Target="slides/slide657.xml"/><Relationship Id="rId664" Type="http://schemas.openxmlformats.org/officeDocument/2006/relationships/slide" Target="slides/slide658.xml"/><Relationship Id="rId665" Type="http://schemas.openxmlformats.org/officeDocument/2006/relationships/slide" Target="slides/slide659.xml"/><Relationship Id="rId666" Type="http://schemas.openxmlformats.org/officeDocument/2006/relationships/slide" Target="slides/slide660.xml"/><Relationship Id="rId667" Type="http://schemas.openxmlformats.org/officeDocument/2006/relationships/slide" Target="slides/slide661.xml"/><Relationship Id="rId668" Type="http://schemas.openxmlformats.org/officeDocument/2006/relationships/slide" Target="slides/slide662.xml"/><Relationship Id="rId669" Type="http://schemas.openxmlformats.org/officeDocument/2006/relationships/slide" Target="slides/slide663.xml"/><Relationship Id="rId670" Type="http://schemas.openxmlformats.org/officeDocument/2006/relationships/slide" Target="slides/slide664.xml"/><Relationship Id="rId671" Type="http://schemas.openxmlformats.org/officeDocument/2006/relationships/slide" Target="slides/slide665.xml"/><Relationship Id="rId672" Type="http://schemas.openxmlformats.org/officeDocument/2006/relationships/slide" Target="slides/slide666.xml"/><Relationship Id="rId673" Type="http://schemas.openxmlformats.org/officeDocument/2006/relationships/slide" Target="slides/slide667.xml"/><Relationship Id="rId674" Type="http://schemas.openxmlformats.org/officeDocument/2006/relationships/slide" Target="slides/slide668.xml"/><Relationship Id="rId675" Type="http://schemas.openxmlformats.org/officeDocument/2006/relationships/slide" Target="slides/slide669.xml"/><Relationship Id="rId676" Type="http://schemas.openxmlformats.org/officeDocument/2006/relationships/slide" Target="slides/slide670.xml"/><Relationship Id="rId677" Type="http://schemas.openxmlformats.org/officeDocument/2006/relationships/slide" Target="slides/slide671.xml"/><Relationship Id="rId678" Type="http://schemas.openxmlformats.org/officeDocument/2006/relationships/slide" Target="slides/slide672.xml"/><Relationship Id="rId679" Type="http://schemas.openxmlformats.org/officeDocument/2006/relationships/slide" Target="slides/slide673.xml"/><Relationship Id="rId680" Type="http://schemas.openxmlformats.org/officeDocument/2006/relationships/slide" Target="slides/slide674.xml"/><Relationship Id="rId681" Type="http://schemas.openxmlformats.org/officeDocument/2006/relationships/slide" Target="slides/slide675.xml"/><Relationship Id="rId682" Type="http://schemas.openxmlformats.org/officeDocument/2006/relationships/slide" Target="slides/slide676.xml"/><Relationship Id="rId683" Type="http://schemas.openxmlformats.org/officeDocument/2006/relationships/slide" Target="slides/slide677.xml"/><Relationship Id="rId684" Type="http://schemas.openxmlformats.org/officeDocument/2006/relationships/slide" Target="slides/slide678.xml"/><Relationship Id="rId685" Type="http://schemas.openxmlformats.org/officeDocument/2006/relationships/slide" Target="slides/slide679.xml"/><Relationship Id="rId686" Type="http://schemas.openxmlformats.org/officeDocument/2006/relationships/slide" Target="slides/slide680.xml"/><Relationship Id="rId687" Type="http://schemas.openxmlformats.org/officeDocument/2006/relationships/slide" Target="slides/slide681.xml"/><Relationship Id="rId688" Type="http://schemas.openxmlformats.org/officeDocument/2006/relationships/slide" Target="slides/slide682.xml"/><Relationship Id="rId689" Type="http://schemas.openxmlformats.org/officeDocument/2006/relationships/slide" Target="slides/slide683.xml"/><Relationship Id="rId690" Type="http://schemas.openxmlformats.org/officeDocument/2006/relationships/slide" Target="slides/slide684.xml"/><Relationship Id="rId691" Type="http://schemas.openxmlformats.org/officeDocument/2006/relationships/slide" Target="slides/slide685.xml"/><Relationship Id="rId692" Type="http://schemas.openxmlformats.org/officeDocument/2006/relationships/slide" Target="slides/slide686.xml"/><Relationship Id="rId693" Type="http://schemas.openxmlformats.org/officeDocument/2006/relationships/slide" Target="slides/slide687.xml"/><Relationship Id="rId694" Type="http://schemas.openxmlformats.org/officeDocument/2006/relationships/slide" Target="slides/slide688.xml"/><Relationship Id="rId695" Type="http://schemas.openxmlformats.org/officeDocument/2006/relationships/slide" Target="slides/slide689.xml"/><Relationship Id="rId696" Type="http://schemas.openxmlformats.org/officeDocument/2006/relationships/slide" Target="slides/slide690.xml"/><Relationship Id="rId697" Type="http://schemas.openxmlformats.org/officeDocument/2006/relationships/slide" Target="slides/slide691.xml"/><Relationship Id="rId698" Type="http://schemas.openxmlformats.org/officeDocument/2006/relationships/slide" Target="slides/slide692.xml"/><Relationship Id="rId699" Type="http://schemas.openxmlformats.org/officeDocument/2006/relationships/slide" Target="slides/slide693.xml"/><Relationship Id="rId700" Type="http://schemas.openxmlformats.org/officeDocument/2006/relationships/slide" Target="slides/slide694.xml"/><Relationship Id="rId701" Type="http://schemas.openxmlformats.org/officeDocument/2006/relationships/slide" Target="slides/slide695.xml"/><Relationship Id="rId702" Type="http://schemas.openxmlformats.org/officeDocument/2006/relationships/slide" Target="slides/slide696.xml"/><Relationship Id="rId703" Type="http://schemas.openxmlformats.org/officeDocument/2006/relationships/slide" Target="slides/slide697.xml"/><Relationship Id="rId704" Type="http://schemas.openxmlformats.org/officeDocument/2006/relationships/slide" Target="slides/slide698.xml"/><Relationship Id="rId705" Type="http://schemas.openxmlformats.org/officeDocument/2006/relationships/slide" Target="slides/slide699.xml"/><Relationship Id="rId706" Type="http://schemas.openxmlformats.org/officeDocument/2006/relationships/slide" Target="slides/slide700.xml"/><Relationship Id="rId707" Type="http://schemas.openxmlformats.org/officeDocument/2006/relationships/slide" Target="slides/slide701.xml"/><Relationship Id="rId708" Type="http://schemas.openxmlformats.org/officeDocument/2006/relationships/slide" Target="slides/slide702.xml"/><Relationship Id="rId709" Type="http://schemas.openxmlformats.org/officeDocument/2006/relationships/slide" Target="slides/slide703.xml"/><Relationship Id="rId710" Type="http://schemas.openxmlformats.org/officeDocument/2006/relationships/slide" Target="slides/slide704.xml"/><Relationship Id="rId711" Type="http://schemas.openxmlformats.org/officeDocument/2006/relationships/slide" Target="slides/slide705.xml"/><Relationship Id="rId712" Type="http://schemas.openxmlformats.org/officeDocument/2006/relationships/slide" Target="slides/slide706.xml"/><Relationship Id="rId713" Type="http://schemas.openxmlformats.org/officeDocument/2006/relationships/slide" Target="slides/slide707.xml"/><Relationship Id="rId714" Type="http://schemas.openxmlformats.org/officeDocument/2006/relationships/slide" Target="slides/slide708.xml"/><Relationship Id="rId715" Type="http://schemas.openxmlformats.org/officeDocument/2006/relationships/slide" Target="slides/slide709.xml"/><Relationship Id="rId716" Type="http://schemas.openxmlformats.org/officeDocument/2006/relationships/slide" Target="slides/slide710.xml"/><Relationship Id="rId717" Type="http://schemas.openxmlformats.org/officeDocument/2006/relationships/slide" Target="slides/slide711.xml"/><Relationship Id="rId718" Type="http://schemas.openxmlformats.org/officeDocument/2006/relationships/slide" Target="slides/slide712.xml"/><Relationship Id="rId719" Type="http://schemas.openxmlformats.org/officeDocument/2006/relationships/slide" Target="slides/slide713.xml"/><Relationship Id="rId720" Type="http://schemas.openxmlformats.org/officeDocument/2006/relationships/slide" Target="slides/slide714.xml"/><Relationship Id="rId721" Type="http://schemas.openxmlformats.org/officeDocument/2006/relationships/slide" Target="slides/slide715.xml"/><Relationship Id="rId722" Type="http://schemas.openxmlformats.org/officeDocument/2006/relationships/slide" Target="slides/slide716.xml"/><Relationship Id="rId723" Type="http://schemas.openxmlformats.org/officeDocument/2006/relationships/slide" Target="slides/slide717.xml"/><Relationship Id="rId724" Type="http://schemas.openxmlformats.org/officeDocument/2006/relationships/slide" Target="slides/slide718.xml"/><Relationship Id="rId725" Type="http://schemas.openxmlformats.org/officeDocument/2006/relationships/slide" Target="slides/slide719.xml"/><Relationship Id="rId726" Type="http://schemas.openxmlformats.org/officeDocument/2006/relationships/slide" Target="slides/slide720.xml"/><Relationship Id="rId727" Type="http://schemas.openxmlformats.org/officeDocument/2006/relationships/slide" Target="slides/slide721.xml"/><Relationship Id="rId728" Type="http://schemas.openxmlformats.org/officeDocument/2006/relationships/slide" Target="slides/slide722.xml"/><Relationship Id="rId729" Type="http://schemas.openxmlformats.org/officeDocument/2006/relationships/slide" Target="slides/slide723.xml"/><Relationship Id="rId730" Type="http://schemas.openxmlformats.org/officeDocument/2006/relationships/slide" Target="slides/slide724.xml"/><Relationship Id="rId731" Type="http://schemas.openxmlformats.org/officeDocument/2006/relationships/slide" Target="slides/slide725.xml"/><Relationship Id="rId732" Type="http://schemas.openxmlformats.org/officeDocument/2006/relationships/slide" Target="slides/slide726.xml"/><Relationship Id="rId733" Type="http://schemas.openxmlformats.org/officeDocument/2006/relationships/slide" Target="slides/slide727.xml"/><Relationship Id="rId734" Type="http://schemas.openxmlformats.org/officeDocument/2006/relationships/slide" Target="slides/slide728.xml"/><Relationship Id="rId735" Type="http://schemas.openxmlformats.org/officeDocument/2006/relationships/slide" Target="slides/slide729.xml"/><Relationship Id="rId736" Type="http://schemas.openxmlformats.org/officeDocument/2006/relationships/slide" Target="slides/slide730.xml"/><Relationship Id="rId737" Type="http://schemas.openxmlformats.org/officeDocument/2006/relationships/slide" Target="slides/slide731.xml"/><Relationship Id="rId738" Type="http://schemas.openxmlformats.org/officeDocument/2006/relationships/slide" Target="slides/slide732.xml"/><Relationship Id="rId739" Type="http://schemas.openxmlformats.org/officeDocument/2006/relationships/slide" Target="slides/slide733.xml"/><Relationship Id="rId740" Type="http://schemas.openxmlformats.org/officeDocument/2006/relationships/slide" Target="slides/slide734.xml"/><Relationship Id="rId741" Type="http://schemas.openxmlformats.org/officeDocument/2006/relationships/slide" Target="slides/slide735.xml"/><Relationship Id="rId742" Type="http://schemas.openxmlformats.org/officeDocument/2006/relationships/slide" Target="slides/slide736.xml"/><Relationship Id="rId743" Type="http://schemas.openxmlformats.org/officeDocument/2006/relationships/slide" Target="slides/slide737.xml"/><Relationship Id="rId744" Type="http://schemas.openxmlformats.org/officeDocument/2006/relationships/slide" Target="slides/slide738.xml"/><Relationship Id="rId745" Type="http://schemas.openxmlformats.org/officeDocument/2006/relationships/slide" Target="slides/slide739.xml"/><Relationship Id="rId746" Type="http://schemas.openxmlformats.org/officeDocument/2006/relationships/slide" Target="slides/slide740.xml"/><Relationship Id="rId747" Type="http://schemas.openxmlformats.org/officeDocument/2006/relationships/slide" Target="slides/slide741.xml"/><Relationship Id="rId748" Type="http://schemas.openxmlformats.org/officeDocument/2006/relationships/slide" Target="slides/slide742.xml"/><Relationship Id="rId749" Type="http://schemas.openxmlformats.org/officeDocument/2006/relationships/slide" Target="slides/slide743.xml"/><Relationship Id="rId750" Type="http://schemas.openxmlformats.org/officeDocument/2006/relationships/slide" Target="slides/slide744.xml"/><Relationship Id="rId751" Type="http://schemas.openxmlformats.org/officeDocument/2006/relationships/slide" Target="slides/slide745.xml"/><Relationship Id="rId752" Type="http://schemas.openxmlformats.org/officeDocument/2006/relationships/slide" Target="slides/slide746.xml"/><Relationship Id="rId753" Type="http://schemas.openxmlformats.org/officeDocument/2006/relationships/slide" Target="slides/slide747.xml"/><Relationship Id="rId754" Type="http://schemas.openxmlformats.org/officeDocument/2006/relationships/slide" Target="slides/slide748.xml"/><Relationship Id="rId755" Type="http://schemas.openxmlformats.org/officeDocument/2006/relationships/slide" Target="slides/slide749.xml"/><Relationship Id="rId756" Type="http://schemas.openxmlformats.org/officeDocument/2006/relationships/slide" Target="slides/slide750.xml"/><Relationship Id="rId757" Type="http://schemas.openxmlformats.org/officeDocument/2006/relationships/slide" Target="slides/slide751.xml"/><Relationship Id="rId758" Type="http://schemas.openxmlformats.org/officeDocument/2006/relationships/slide" Target="slides/slide752.xml"/><Relationship Id="rId759" Type="http://schemas.openxmlformats.org/officeDocument/2006/relationships/slide" Target="slides/slide753.xml"/><Relationship Id="rId760" Type="http://schemas.openxmlformats.org/officeDocument/2006/relationships/slide" Target="slides/slide754.xml"/><Relationship Id="rId761" Type="http://schemas.openxmlformats.org/officeDocument/2006/relationships/slide" Target="slides/slide755.xml"/><Relationship Id="rId762" Type="http://schemas.openxmlformats.org/officeDocument/2006/relationships/slide" Target="slides/slide756.xml"/><Relationship Id="rId763" Type="http://schemas.openxmlformats.org/officeDocument/2006/relationships/slide" Target="slides/slide757.xml"/><Relationship Id="rId764" Type="http://schemas.openxmlformats.org/officeDocument/2006/relationships/slide" Target="slides/slide758.xml"/><Relationship Id="rId765" Type="http://schemas.openxmlformats.org/officeDocument/2006/relationships/slide" Target="slides/slide759.xml"/><Relationship Id="rId766" Type="http://schemas.openxmlformats.org/officeDocument/2006/relationships/slide" Target="slides/slide760.xml"/><Relationship Id="rId767" Type="http://schemas.openxmlformats.org/officeDocument/2006/relationships/slide" Target="slides/slide761.xml"/><Relationship Id="rId768" Type="http://schemas.openxmlformats.org/officeDocument/2006/relationships/slide" Target="slides/slide762.xml"/><Relationship Id="rId769" Type="http://schemas.openxmlformats.org/officeDocument/2006/relationships/slide" Target="slides/slide763.xml"/><Relationship Id="rId770" Type="http://schemas.openxmlformats.org/officeDocument/2006/relationships/slide" Target="slides/slide764.xml"/><Relationship Id="rId771" Type="http://schemas.openxmlformats.org/officeDocument/2006/relationships/slide" Target="slides/slide765.xml"/><Relationship Id="rId772" Type="http://schemas.openxmlformats.org/officeDocument/2006/relationships/slide" Target="slides/slide766.xml"/><Relationship Id="rId773" Type="http://schemas.openxmlformats.org/officeDocument/2006/relationships/slide" Target="slides/slide767.xml"/><Relationship Id="rId774" Type="http://schemas.openxmlformats.org/officeDocument/2006/relationships/slide" Target="slides/slide768.xml"/><Relationship Id="rId775" Type="http://schemas.openxmlformats.org/officeDocument/2006/relationships/slide" Target="slides/slide769.xml"/><Relationship Id="rId776" Type="http://schemas.openxmlformats.org/officeDocument/2006/relationships/slide" Target="slides/slide770.xml"/><Relationship Id="rId777" Type="http://schemas.openxmlformats.org/officeDocument/2006/relationships/slide" Target="slides/slide771.xml"/><Relationship Id="rId778" Type="http://schemas.openxmlformats.org/officeDocument/2006/relationships/slide" Target="slides/slide772.xml"/><Relationship Id="rId779" Type="http://schemas.openxmlformats.org/officeDocument/2006/relationships/slide" Target="slides/slide773.xml"/><Relationship Id="rId780" Type="http://schemas.openxmlformats.org/officeDocument/2006/relationships/slide" Target="slides/slide774.xml"/><Relationship Id="rId781" Type="http://schemas.openxmlformats.org/officeDocument/2006/relationships/slide" Target="slides/slide775.xml"/><Relationship Id="rId782" Type="http://schemas.openxmlformats.org/officeDocument/2006/relationships/slide" Target="slides/slide776.xml"/><Relationship Id="rId783" Type="http://schemas.openxmlformats.org/officeDocument/2006/relationships/slide" Target="slides/slide777.xml"/><Relationship Id="rId784" Type="http://schemas.openxmlformats.org/officeDocument/2006/relationships/slide" Target="slides/slide778.xml"/><Relationship Id="rId785" Type="http://schemas.openxmlformats.org/officeDocument/2006/relationships/slide" Target="slides/slide779.xml"/><Relationship Id="rId786" Type="http://schemas.openxmlformats.org/officeDocument/2006/relationships/slide" Target="slides/slide780.xml"/><Relationship Id="rId787" Type="http://schemas.openxmlformats.org/officeDocument/2006/relationships/slide" Target="slides/slide781.xml"/><Relationship Id="rId788" Type="http://schemas.openxmlformats.org/officeDocument/2006/relationships/slide" Target="slides/slide782.xml"/><Relationship Id="rId789" Type="http://schemas.openxmlformats.org/officeDocument/2006/relationships/slide" Target="slides/slide783.xml"/><Relationship Id="rId790" Type="http://schemas.openxmlformats.org/officeDocument/2006/relationships/slide" Target="slides/slide784.xml"/><Relationship Id="rId791" Type="http://schemas.openxmlformats.org/officeDocument/2006/relationships/slide" Target="slides/slide785.xml"/><Relationship Id="rId792" Type="http://schemas.openxmlformats.org/officeDocument/2006/relationships/slide" Target="slides/slide786.xml"/><Relationship Id="rId793" Type="http://schemas.openxmlformats.org/officeDocument/2006/relationships/slide" Target="slides/slide787.xml"/><Relationship Id="rId794" Type="http://schemas.openxmlformats.org/officeDocument/2006/relationships/slide" Target="slides/slide788.xml"/><Relationship Id="rId795" Type="http://schemas.openxmlformats.org/officeDocument/2006/relationships/slide" Target="slides/slide789.xml"/><Relationship Id="rId796" Type="http://schemas.openxmlformats.org/officeDocument/2006/relationships/slide" Target="slides/slide790.xml"/><Relationship Id="rId797" Type="http://schemas.openxmlformats.org/officeDocument/2006/relationships/slide" Target="slides/slide791.xml"/><Relationship Id="rId798" Type="http://schemas.openxmlformats.org/officeDocument/2006/relationships/slide" Target="slides/slide792.xml"/><Relationship Id="rId799" Type="http://schemas.openxmlformats.org/officeDocument/2006/relationships/slide" Target="slides/slide793.xml"/><Relationship Id="rId800" Type="http://schemas.openxmlformats.org/officeDocument/2006/relationships/slide" Target="slides/slide794.xml"/><Relationship Id="rId801" Type="http://schemas.openxmlformats.org/officeDocument/2006/relationships/slide" Target="slides/slide795.xml"/><Relationship Id="rId802" Type="http://schemas.openxmlformats.org/officeDocument/2006/relationships/slide" Target="slides/slide796.xml"/><Relationship Id="rId803" Type="http://schemas.openxmlformats.org/officeDocument/2006/relationships/slide" Target="slides/slide797.xml"/><Relationship Id="rId804" Type="http://schemas.openxmlformats.org/officeDocument/2006/relationships/slide" Target="slides/slide798.xml"/><Relationship Id="rId805" Type="http://schemas.openxmlformats.org/officeDocument/2006/relationships/slide" Target="slides/slide799.xml"/><Relationship Id="rId806" Type="http://schemas.openxmlformats.org/officeDocument/2006/relationships/slide" Target="slides/slide800.xml"/><Relationship Id="rId807" Type="http://schemas.openxmlformats.org/officeDocument/2006/relationships/slide" Target="slides/slide801.xml"/><Relationship Id="rId808" Type="http://schemas.openxmlformats.org/officeDocument/2006/relationships/slide" Target="slides/slide802.xml"/><Relationship Id="rId809" Type="http://schemas.openxmlformats.org/officeDocument/2006/relationships/slide" Target="slides/slide803.xml"/><Relationship Id="rId810" Type="http://schemas.openxmlformats.org/officeDocument/2006/relationships/slide" Target="slides/slide804.xml"/><Relationship Id="rId811" Type="http://schemas.openxmlformats.org/officeDocument/2006/relationships/slide" Target="slides/slide805.xml"/><Relationship Id="rId812" Type="http://schemas.openxmlformats.org/officeDocument/2006/relationships/slide" Target="slides/slide806.xml"/><Relationship Id="rId813" Type="http://schemas.openxmlformats.org/officeDocument/2006/relationships/slide" Target="slides/slide807.xml"/><Relationship Id="rId814" Type="http://schemas.openxmlformats.org/officeDocument/2006/relationships/slide" Target="slides/slide808.xml"/><Relationship Id="rId815" Type="http://schemas.openxmlformats.org/officeDocument/2006/relationships/slide" Target="slides/slide809.xml"/><Relationship Id="rId816" Type="http://schemas.openxmlformats.org/officeDocument/2006/relationships/slide" Target="slides/slide810.xml"/><Relationship Id="rId817" Type="http://schemas.openxmlformats.org/officeDocument/2006/relationships/slide" Target="slides/slide811.xml"/><Relationship Id="rId818" Type="http://schemas.openxmlformats.org/officeDocument/2006/relationships/slide" Target="slides/slide812.xml"/><Relationship Id="rId819" Type="http://schemas.openxmlformats.org/officeDocument/2006/relationships/slide" Target="slides/slide813.xml"/><Relationship Id="rId820" Type="http://schemas.openxmlformats.org/officeDocument/2006/relationships/slide" Target="slides/slide814.xml"/><Relationship Id="rId821" Type="http://schemas.openxmlformats.org/officeDocument/2006/relationships/slide" Target="slides/slide815.xml"/><Relationship Id="rId822" Type="http://schemas.openxmlformats.org/officeDocument/2006/relationships/slide" Target="slides/slide816.xml"/><Relationship Id="rId823" Type="http://schemas.openxmlformats.org/officeDocument/2006/relationships/slide" Target="slides/slide817.xml"/><Relationship Id="rId824" Type="http://schemas.openxmlformats.org/officeDocument/2006/relationships/slide" Target="slides/slide818.xml"/><Relationship Id="rId825" Type="http://schemas.openxmlformats.org/officeDocument/2006/relationships/slide" Target="slides/slide819.xml"/><Relationship Id="rId826" Type="http://schemas.openxmlformats.org/officeDocument/2006/relationships/slide" Target="slides/slide820.xml"/><Relationship Id="rId827" Type="http://schemas.openxmlformats.org/officeDocument/2006/relationships/slide" Target="slides/slide821.xml"/><Relationship Id="rId828" Type="http://schemas.openxmlformats.org/officeDocument/2006/relationships/slide" Target="slides/slide822.xml"/><Relationship Id="rId829" Type="http://schemas.openxmlformats.org/officeDocument/2006/relationships/slide" Target="slides/slide823.xml"/><Relationship Id="rId830" Type="http://schemas.openxmlformats.org/officeDocument/2006/relationships/slide" Target="slides/slide824.xml"/><Relationship Id="rId831" Type="http://schemas.openxmlformats.org/officeDocument/2006/relationships/slide" Target="slides/slide825.xml"/><Relationship Id="rId832" Type="http://schemas.openxmlformats.org/officeDocument/2006/relationships/slide" Target="slides/slide826.xml"/><Relationship Id="rId833" Type="http://schemas.openxmlformats.org/officeDocument/2006/relationships/slide" Target="slides/slide827.xml"/><Relationship Id="rId834" Type="http://schemas.openxmlformats.org/officeDocument/2006/relationships/slide" Target="slides/slide828.xml"/><Relationship Id="rId835" Type="http://schemas.openxmlformats.org/officeDocument/2006/relationships/slide" Target="slides/slide829.xml"/><Relationship Id="rId836" Type="http://schemas.openxmlformats.org/officeDocument/2006/relationships/slide" Target="slides/slide830.xml"/><Relationship Id="rId837" Type="http://schemas.openxmlformats.org/officeDocument/2006/relationships/slide" Target="slides/slide8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331720"/>
            <a:ext cx="2011680" cy="82296"/>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14600"/>
            <a:ext cx="11185855" cy="2011680"/>
          </a:xfrm>
          <a:prstGeom prst="rect">
            <a:avLst/>
          </a:prstGeom>
          <a:noFill/>
        </p:spPr>
        <p:txBody>
          <a:bodyPr wrap="square" anchor="t" lIns="0" rIns="0" tIns="0" bIns="0">
            <a:spAutoFit/>
          </a:bodyPr>
          <a:lstStyle/>
          <a:p>
            <a:r>
              <a:rPr sz="4000" b="1" i="0">
                <a:solidFill>
                  <a:srgbClr val="FFFFFF"/>
                </a:solidFill>
                <a:latin typeface="Calibri"/>
              </a:rPr>
              <a:t>Microsoft 365 Copilot Connectors</a:t>
            </a:r>
          </a:p>
          <a:p>
            <a:r>
              <a:rPr sz="1800" b="0" i="0">
                <a:solidFill>
                  <a:srgbClr val="C7D3EA"/>
                </a:solidFill>
                <a:latin typeface="Calibri"/>
              </a:rPr>
              <a:t>Operations deck — deploy · monitor · troubleshoot · support (bank-grade hardening release)</a:t>
            </a:r>
          </a:p>
        </p:txBody>
      </p:sp>
      <p:sp>
        <p:nvSpPr>
          <p:cNvPr id="5" name="TextBox 4"/>
          <p:cNvSpPr txBox="1"/>
          <p:nvPr/>
        </p:nvSpPr>
        <p:spPr>
          <a:xfrm>
            <a:off x="502920" y="6217920"/>
            <a:ext cx="11185855" cy="365760"/>
          </a:xfrm>
          <a:prstGeom prst="rect">
            <a:avLst/>
          </a:prstGeom>
          <a:noFill/>
        </p:spPr>
        <p:txBody>
          <a:bodyPr wrap="square" anchor="t" lIns="0" rIns="0" tIns="0" bIns="0">
            <a:spAutoFit/>
          </a:bodyPr>
          <a:lstStyle/>
          <a:p>
            <a:r>
              <a:rPr sz="1000" b="0" i="0">
                <a:solidFill>
                  <a:srgbClr val="9FB0CC"/>
                </a:solidFill>
                <a:latin typeface="Calibri"/>
              </a:rPr>
              <a:t>Copilot Connector Programme · Confidential — internal use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182880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331720"/>
            <a:ext cx="11185855" cy="1737360"/>
          </a:xfrm>
          <a:prstGeom prst="rect">
            <a:avLst/>
          </a:prstGeom>
          <a:noFill/>
        </p:spPr>
        <p:txBody>
          <a:bodyPr wrap="square" anchor="ctr" lIns="0" rIns="0" tIns="0" bIns="0">
            <a:spAutoFit/>
          </a:bodyPr>
          <a:lstStyle/>
          <a:p>
            <a:r>
              <a:rPr sz="2000" b="1" i="0">
                <a:solidFill>
                  <a:srgbClr val="C7D3EA"/>
                </a:solidFill>
                <a:latin typeface="Calibri"/>
              </a:rPr>
              <a:t>Part 0</a:t>
            </a:r>
          </a:p>
          <a:p>
            <a:r>
              <a:rPr sz="3400" b="1" i="0">
                <a:solidFill>
                  <a:srgbClr val="FFFFFF"/>
                </a:solidFill>
                <a:latin typeface="Calibri"/>
              </a:rPr>
              <a:t>Tenant &amp; Common Concepts</a:t>
            </a:r>
          </a:p>
          <a:p>
            <a:r>
              <a:rPr sz="1600" b="0" i="0">
                <a:solidFill>
                  <a:srgbClr val="E0E8F5"/>
                </a:solidFill>
                <a:latin typeface="Calibri"/>
              </a:rPr>
              <a:t>Shared theory for every connector — read first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Tenant &amp; Common Concepts</a:t>
            </a:r>
          </a:p>
          <a:p>
            <a:r>
              <a:rPr sz="3000" b="1" i="0">
                <a:solidFill>
                  <a:srgbClr val="1F3864"/>
                </a:solidFill>
                <a:latin typeface="Calibri"/>
              </a:rPr>
              <a:t>1. About this guide</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 About this guide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This is the shared reference for a suite of five Microsoft 365 Copilot connectors. It explains — once, in plain language — every concept the five connectors have in common, so the per-connector guides can stay short and point back here.</a:t>
            </a:r>
          </a:p>
          <a:p>
            <a:pPr>
              <a:spcBef>
                <a:spcPts val="100"/>
              </a:spcBef>
              <a:spcAft>
                <a:spcPts val="400"/>
              </a:spcAft>
            </a:pPr>
            <a:r>
              <a:rPr sz="1250" b="0" i="0">
                <a:solidFill>
                  <a:srgbClr val="202020"/>
                </a:solidFill>
                <a:latin typeface="Calibri"/>
              </a:rPr>
              <a:t>You are reading this because you will </a:t>
            </a:r>
            <a:r>
              <a:rPr sz="1250" b="1" i="0">
                <a:solidFill>
                  <a:srgbClr val="202020"/>
                </a:solidFill>
                <a:latin typeface="Calibri"/>
              </a:rPr>
              <a:t>set up, monitor, troubleshoot or support</a:t>
            </a:r>
            <a:r>
              <a:rPr sz="1250" b="0" i="0">
                <a:solidFill>
                  <a:srgbClr val="202020"/>
                </a:solidFill>
                <a:latin typeface="Calibri"/>
              </a:rPr>
              <a:t> one or more of these connectors. The guide assumes you are comfortable with Windows Server, services and general IT operations, but it does </a:t>
            </a:r>
            <a:r>
              <a:rPr sz="1250" b="1" i="0">
                <a:solidFill>
                  <a:srgbClr val="202020"/>
                </a:solidFill>
                <a:latin typeface="Calibri"/>
              </a:rPr>
              <a:t>not</a:t>
            </a:r>
            <a:r>
              <a:rPr sz="1250" b="0" i="0">
                <a:solidFill>
                  <a:srgbClr val="202020"/>
                </a:solidFill>
                <a:latin typeface="Calibri"/>
              </a:rPr>
              <a:t> assume you already know Microsoft Graph, OAuth, Entra ID or Copilot. Every such term is explained the first time it appears, and again in more depth in the master glossary (section 13).</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 What this guide is (and is not)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0" i="0">
                <a:solidFill>
                  <a:srgbClr val="202020"/>
                </a:solidFill>
                <a:latin typeface="Calibri"/>
              </a:rPr>
              <a:t>It </a:t>
            </a:r>
            <a:r>
              <a:rPr sz="1250" b="1" i="0">
                <a:solidFill>
                  <a:srgbClr val="202020"/>
                </a:solidFill>
                <a:latin typeface="Calibri"/>
              </a:rPr>
              <a:t>is</a:t>
            </a:r>
            <a:r>
              <a:rPr sz="1250" b="0" i="0">
                <a:solidFill>
                  <a:srgbClr val="202020"/>
                </a:solidFill>
                <a:latin typeface="Calibri"/>
              </a:rPr>
              <a:t> the shared spine for the whole connector fleet. It covers:</a:t>
            </a:r>
          </a:p>
          <a:p>
            <a:pPr lvl="1">
              <a:spcBef>
                <a:spcPts val="100"/>
              </a:spcBef>
              <a:spcAft>
                <a:spcPts val="200"/>
              </a:spcAft>
            </a:pPr>
            <a:r>
              <a:rPr sz="1250" b="1" i="0">
                <a:solidFill>
                  <a:srgbClr val="2E5496"/>
                </a:solidFill>
                <a:latin typeface="Calibri"/>
              </a:rPr>
              <a:t>•  </a:t>
            </a:r>
            <a:r>
              <a:rPr sz="1250" b="0" i="0">
                <a:solidFill>
                  <a:srgbClr val="202020"/>
                </a:solidFill>
                <a:latin typeface="Calibri"/>
              </a:rPr>
              <a:t>the concepts (what Copilot, Graph, external connections, ACLs and identity are);</a:t>
            </a:r>
          </a:p>
          <a:p>
            <a:pPr lvl="1">
              <a:spcBef>
                <a:spcPts val="100"/>
              </a:spcBef>
              <a:spcAft>
                <a:spcPts val="200"/>
              </a:spcAft>
            </a:pPr>
            <a:r>
              <a:rPr sz="1250" b="1" i="0">
                <a:solidFill>
                  <a:srgbClr val="2E5496"/>
                </a:solidFill>
                <a:latin typeface="Calibri"/>
              </a:rPr>
              <a:t>•  </a:t>
            </a:r>
            <a:r>
              <a:rPr sz="1250" b="0" i="0">
                <a:solidFill>
                  <a:srgbClr val="202020"/>
                </a:solidFill>
                <a:latin typeface="Calibri"/>
              </a:rPr>
              <a:t>the shared engine every connector runs (the chassis — crawls, retries, sharding, HA, health/metrics);</a:t>
            </a:r>
          </a:p>
          <a:p>
            <a:pPr lvl="1">
              <a:spcBef>
                <a:spcPts val="100"/>
              </a:spcBef>
              <a:spcAft>
                <a:spcPts val="200"/>
              </a:spcAft>
            </a:pPr>
            <a:r>
              <a:rPr sz="1250" b="1" i="0">
                <a:solidFill>
                  <a:srgbClr val="2E5496"/>
                </a:solidFill>
                <a:latin typeface="Calibri"/>
              </a:rPr>
              <a:t>•  </a:t>
            </a:r>
            <a:r>
              <a:rPr sz="1250" b="0" i="0">
                <a:solidFill>
                  <a:srgbClr val="202020"/>
                </a:solidFill>
                <a:latin typeface="Calibri"/>
              </a:rPr>
              <a:t>the things that are shared across all five because they live in one Microsoft 365 tenant (quotas, capacity, app registrations, crawl scheduling);</a:t>
            </a:r>
          </a:p>
          <a:p>
            <a:pPr lvl="1">
              <a:spcBef>
                <a:spcPts val="100"/>
              </a:spcBef>
              <a:spcAft>
                <a:spcPts val="200"/>
              </a:spcAft>
            </a:pPr>
            <a:r>
              <a:rPr sz="1250" b="1" i="0">
                <a:solidFill>
                  <a:srgbClr val="2E5496"/>
                </a:solidFill>
                <a:latin typeface="Calibri"/>
              </a:rPr>
              <a:t>•  </a:t>
            </a:r>
            <a:r>
              <a:rPr sz="1250" b="0" i="0">
                <a:solidFill>
                  <a:srgbClr val="202020"/>
                </a:solidFill>
                <a:latin typeface="Calibri"/>
              </a:rPr>
              <a:t>the cross-cutting operational topics (security, deployment, monitoring, disaster recovery, roles).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 What this guide is (and is not)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0" i="0">
                <a:solidFill>
                  <a:srgbClr val="202020"/>
                </a:solidFill>
                <a:latin typeface="Calibri"/>
              </a:rPr>
              <a:t>It is </a:t>
            </a:r>
            <a:r>
              <a:rPr sz="1250" b="1" i="0">
                <a:solidFill>
                  <a:srgbClr val="202020"/>
                </a:solidFill>
                <a:latin typeface="Calibri"/>
              </a:rPr>
              <a:t>not</a:t>
            </a:r>
            <a:r>
              <a:rPr sz="1250" b="0" i="0">
                <a:solidFill>
                  <a:srgbClr val="202020"/>
                </a:solidFill>
                <a:latin typeface="Calibri"/>
              </a:rPr>
              <a:t> a substitute for the per-connector guide. Anything source-specific — which objects are indexed, the source-system credentials, source-specific filters, the exact metric prefix and item budget — lives in that connector's own guide.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 What this guide is (and is not)</a:t>
            </a:r>
          </a:p>
        </p:txBody>
      </p:sp>
      <p:sp>
        <p:nvSpPr>
          <p:cNvPr id="5" name="Rectangle 4"/>
          <p:cNvSpPr/>
          <p:nvPr/>
        </p:nvSpPr>
        <p:spPr>
          <a:xfrm>
            <a:off x="502920" y="1463040"/>
            <a:ext cx="11185855" cy="329184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5496"/>
                </a:solidFill>
                <a:latin typeface="Calibri"/>
              </a:rPr>
              <a:t>Note:  </a:t>
            </a:r>
            <a:r>
              <a:rPr sz="1400" b="1" i="0">
                <a:solidFill>
                  <a:srgbClr val="202020"/>
                </a:solidFill>
                <a:latin typeface="Calibri"/>
              </a:rPr>
              <a:t>Note: </a:t>
            </a:r>
            <a:r>
              <a:rPr sz="1400" b="0" i="0">
                <a:solidFill>
                  <a:srgbClr val="202020"/>
                </a:solidFill>
                <a:latin typeface="Calibri"/>
              </a:rPr>
              <a:t>Numbers, environment-variable names, endpoints and metric names in this guide are read from the connectors' own files and are correct as of the version on the title page. Where a value differs per connector (for example the metric name prefix, or the item budget), this guide shows the shared pattern and the per-connector guide gives your exact value.</a:t>
            </a:r>
          </a:p>
        </p:txBody>
      </p:sp>
      <p:sp>
        <p:nvSpPr>
          <p:cNvPr id="6" name="Rectangle 5"/>
          <p:cNvSpPr/>
          <p:nvPr/>
        </p:nvSpPr>
        <p:spPr>
          <a:xfrm>
            <a:off x="502920" y="1463040"/>
            <a:ext cx="128016" cy="329184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 The five connectors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All five are built on the </a:t>
            </a:r>
            <a:r>
              <a:rPr sz="1250" b="1" i="0">
                <a:solidFill>
                  <a:srgbClr val="202020"/>
                </a:solidFill>
                <a:latin typeface="Calibri"/>
              </a:rPr>
              <a:t>same</a:t>
            </a:r>
            <a:r>
              <a:rPr sz="1250" b="0" i="0">
                <a:solidFill>
                  <a:srgbClr val="202020"/>
                </a:solidFill>
                <a:latin typeface="Calibri"/>
              </a:rPr>
              <a:t> C#/.NET 10 engine — and, since 12 August 2026, on one shared copy of it: a single Connector.Chassis project (version 1.18.0) that all five reference directly, with that reference re-checked on every change. Each connector is still self-contained where it runs: it has its own solution, its own configuration, its own Windows service and its own Microsoft Graph connection(s). Sharing the chassis does not make the five identical: </a:t>
            </a:r>
            <a:r>
              <a:rPr sz="1250" b="1" i="0">
                <a:solidFill>
                  <a:srgbClr val="202020"/>
                </a:solidFill>
                <a:latin typeface="Calibri"/>
              </a:rPr>
              <a:t>67 per-connector divergences remain, declared and enforced</a:t>
            </a:r>
            <a:r>
              <a:rPr sz="1250" b="0" i="0">
                <a:solidFill>
                  <a:srgbClr val="202020"/>
                </a:solidFill>
                <a:latin typeface="Calibri"/>
              </a:rPr>
              <a:t>, and the number is coming down. The running services stay separate — they share only this tenant's Graph quotas (section 8), the chassis code they are all built from, and the design described in this guide.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 The five connectors</a:t>
            </a:r>
          </a:p>
        </p:txBody>
      </p:sp>
      <p:graphicFrame>
        <p:nvGraphicFramePr>
          <p:cNvPr id="5" name="Table 4"/>
          <p:cNvGraphicFramePr>
            <a:graphicFrameLocks noGrp="1"/>
          </p:cNvGraphicFramePr>
          <p:nvPr/>
        </p:nvGraphicFramePr>
        <p:xfrm>
          <a:off x="502920" y="1188720"/>
          <a:ext cx="11185855" cy="230428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Connector</a:t>
                      </a:r>
                    </a:p>
                  </a:txBody>
                  <a:tcPr marT="25400" marB="25400">
                    <a:solidFill>
                      <a:srgbClr val="2E5496"/>
                    </a:solidFill>
                  </a:tcPr>
                </a:tc>
                <a:tc>
                  <a:txBody>
                    <a:bodyPr wrap="square"/>
                    <a:lstStyle/>
                    <a:p>
                      <a:r>
                        <a:rPr sz="1050" b="1" i="0">
                          <a:solidFill>
                            <a:srgbClr val="FFFFFF"/>
                          </a:solidFill>
                          <a:latin typeface="Calibri"/>
                        </a:rPr>
                        <a:t>Source system</a:t>
                      </a:r>
                    </a:p>
                  </a:txBody>
                  <a:tcPr marT="25400" marB="25400">
                    <a:solidFill>
                      <a:srgbClr val="2E5496"/>
                    </a:solidFill>
                  </a:tcPr>
                </a:tc>
                <a:tc>
                  <a:txBody>
                    <a:bodyPr wrap="square"/>
                    <a:lstStyle/>
                    <a:p>
                      <a:r>
                        <a:rPr sz="1050" b="1" i="0">
                          <a:solidFill>
                            <a:srgbClr val="FFFFFF"/>
                          </a:solidFill>
                          <a:latin typeface="Calibri"/>
                        </a:rPr>
                        <a:t>What it brings into Copilot</a:t>
                      </a:r>
                    </a:p>
                  </a:txBody>
                  <a:tcPr marT="25400" marB="25400">
                    <a:solidFill>
                      <a:srgbClr val="2E5496"/>
                    </a:solidFill>
                  </a:tcPr>
                </a:tc>
              </a:tr>
              <a:tr h="384048">
                <a:tc>
                  <a:txBody>
                    <a:bodyPr wrap="square"/>
                    <a:lstStyle/>
                    <a:p>
                      <a:r>
                        <a:rPr sz="950" b="0" i="0">
                          <a:solidFill>
                            <a:srgbClr val="202020"/>
                          </a:solidFill>
                          <a:latin typeface="Calibri"/>
                        </a:rPr>
                        <a:t>Salesforce</a:t>
                      </a:r>
                    </a:p>
                  </a:txBody>
                  <a:tcPr marT="12700" marB="12700">
                    <a:solidFill>
                      <a:srgbClr val="FFFFFF"/>
                    </a:solidFill>
                  </a:tcPr>
                </a:tc>
                <a:tc>
                  <a:txBody>
                    <a:bodyPr wrap="square"/>
                    <a:lstStyle/>
                    <a:p>
                      <a:r>
                        <a:rPr sz="950" b="0" i="0">
                          <a:solidFill>
                            <a:srgbClr val="202020"/>
                          </a:solidFill>
                          <a:latin typeface="Calibri"/>
                        </a:rPr>
                        <a:t>Salesforce CRM</a:t>
                      </a:r>
                    </a:p>
                  </a:txBody>
                  <a:tcPr marT="12700" marB="12700">
                    <a:solidFill>
                      <a:srgbClr val="FFFFFF"/>
                    </a:solidFill>
                  </a:tcPr>
                </a:tc>
                <a:tc>
                  <a:txBody>
                    <a:bodyPr wrap="square"/>
                    <a:lstStyle/>
                    <a:p>
                      <a:r>
                        <a:rPr sz="950" b="0" i="0">
                          <a:solidFill>
                            <a:srgbClr val="202020"/>
                          </a:solidFill>
                          <a:latin typeface="Calibri"/>
                        </a:rPr>
                        <a:t>Accounts, contacts, opportunities, cases and related records, with the Salesforce sharing model translated into item permissions</a:t>
                      </a:r>
                    </a:p>
                  </a:txBody>
                  <a:tcPr marT="12700" marB="12700">
                    <a:solidFill>
                      <a:srgbClr val="FFFFFF"/>
                    </a:solidFill>
                  </a:tcPr>
                </a:tc>
              </a:tr>
              <a:tr h="384048">
                <a:tc>
                  <a:txBody>
                    <a:bodyPr wrap="square"/>
                    <a:lstStyle/>
                    <a:p>
                      <a:r>
                        <a:rPr sz="950" b="0" i="0">
                          <a:solidFill>
                            <a:srgbClr val="202020"/>
                          </a:solidFill>
                          <a:latin typeface="Calibri"/>
                        </a:rPr>
                        <a:t>Clarizen</a:t>
                      </a:r>
                    </a:p>
                  </a:txBody>
                  <a:tcPr marT="12700" marB="12700">
                    <a:solidFill>
                      <a:srgbClr val="F7F9FC"/>
                    </a:solidFill>
                  </a:tcPr>
                </a:tc>
                <a:tc>
                  <a:txBody>
                    <a:bodyPr wrap="square"/>
                    <a:lstStyle/>
                    <a:p>
                      <a:r>
                        <a:rPr sz="950" b="0" i="0">
                          <a:solidFill>
                            <a:srgbClr val="202020"/>
                          </a:solidFill>
                          <a:latin typeface="Calibri"/>
                        </a:rPr>
                        <a:t>Planview AdaptiveWork (Clarizen)</a:t>
                      </a:r>
                    </a:p>
                  </a:txBody>
                  <a:tcPr marT="12700" marB="12700">
                    <a:solidFill>
                      <a:srgbClr val="F7F9FC"/>
                    </a:solidFill>
                  </a:tcPr>
                </a:tc>
                <a:tc>
                  <a:txBody>
                    <a:bodyPr wrap="square"/>
                    <a:lstStyle/>
                    <a:p>
                      <a:r>
                        <a:rPr sz="950" b="0" i="0">
                          <a:solidFill>
                            <a:srgbClr val="202020"/>
                          </a:solidFill>
                          <a:latin typeface="Calibri"/>
                        </a:rPr>
                        <a:t>Projects, tasks and other work items; financial-field governance; optional change webhooks</a:t>
                      </a:r>
                    </a:p>
                  </a:txBody>
                  <a:tcPr marT="12700" marB="12700">
                    <a:solidFill>
                      <a:srgbClr val="F7F9FC"/>
                    </a:solidFill>
                  </a:tcPr>
                </a:tc>
              </a:tr>
              <a:tr h="384048">
                <a:tc>
                  <a:txBody>
                    <a:bodyPr wrap="square"/>
                    <a:lstStyle/>
                    <a:p>
                      <a:r>
                        <a:rPr sz="950" b="0" i="0">
                          <a:solidFill>
                            <a:srgbClr val="202020"/>
                          </a:solidFill>
                          <a:latin typeface="Calibri"/>
                        </a:rPr>
                        <a:t>Seismic</a:t>
                      </a:r>
                    </a:p>
                  </a:txBody>
                  <a:tcPr marT="12700" marB="12700">
                    <a:solidFill>
                      <a:srgbClr val="FFFFFF"/>
                    </a:solidFill>
                  </a:tcPr>
                </a:tc>
                <a:tc>
                  <a:txBody>
                    <a:bodyPr wrap="square"/>
                    <a:lstStyle/>
                    <a:p>
                      <a:r>
                        <a:rPr sz="950" b="0" i="0">
                          <a:solidFill>
                            <a:srgbClr val="202020"/>
                          </a:solidFill>
                          <a:latin typeface="Calibri"/>
                        </a:rPr>
                        <a:t>Seismic (sales enablement)</a:t>
                      </a:r>
                    </a:p>
                  </a:txBody>
                  <a:tcPr marT="12700" marB="12700">
                    <a:solidFill>
                      <a:srgbClr val="FFFFFF"/>
                    </a:solidFill>
                  </a:tcPr>
                </a:tc>
                <a:tc>
                  <a:txBody>
                    <a:bodyPr wrap="square"/>
                    <a:lstStyle/>
                    <a:p>
                      <a:r>
                        <a:rPr sz="950" b="0" i="0">
                          <a:solidFill>
                            <a:srgbClr val="202020"/>
                          </a:solidFill>
                          <a:latin typeface="Calibri"/>
                        </a:rPr>
                        <a:t>Content library items, version-aware, with a usage-based ranking signal</a:t>
                      </a:r>
                    </a:p>
                  </a:txBody>
                  <a:tcPr marT="12700" marB="12700">
                    <a:solidFill>
                      <a:srgbClr val="FFFFFF"/>
                    </a:solidFill>
                  </a:tcPr>
                </a:tc>
              </a:tr>
              <a:tr h="384048">
                <a:tc>
                  <a:txBody>
                    <a:bodyPr wrap="square"/>
                    <a:lstStyle/>
                    <a:p>
                      <a:r>
                        <a:rPr sz="950" b="0" i="0">
                          <a:solidFill>
                            <a:srgbClr val="202020"/>
                          </a:solidFill>
                          <a:latin typeface="Calibri"/>
                        </a:rPr>
                        <a:t>Altrata</a:t>
                      </a:r>
                    </a:p>
                  </a:txBody>
                  <a:tcPr marT="12700" marB="12700">
                    <a:solidFill>
                      <a:srgbClr val="F7F9FC"/>
                    </a:solidFill>
                  </a:tcPr>
                </a:tc>
                <a:tc>
                  <a:txBody>
                    <a:bodyPr wrap="square"/>
                    <a:lstStyle/>
                    <a:p>
                      <a:r>
                        <a:rPr sz="950" b="0" i="0">
                          <a:solidFill>
                            <a:srgbClr val="202020"/>
                          </a:solidFill>
                          <a:latin typeface="Calibri"/>
                        </a:rPr>
                        <a:t>Altrata (relationship &amp; wealth intelligence)</a:t>
                      </a:r>
                    </a:p>
                  </a:txBody>
                  <a:tcPr marT="12700" marB="12700">
                    <a:solidFill>
                      <a:srgbClr val="F7F9FC"/>
                    </a:solidFill>
                  </a:tcPr>
                </a:tc>
                <a:tc>
                  <a:txBody>
                    <a:bodyPr wrap="square"/>
                    <a:lstStyle/>
                    <a:p>
                      <a:r>
                        <a:rPr sz="950" b="0" i="0">
                          <a:solidFill>
                            <a:srgbClr val="202020"/>
                          </a:solidFill>
                          <a:latin typeface="Calibri"/>
                        </a:rPr>
                        <a:t>Licensed relationship/wealth profiles, restricted to licensed seats</a:t>
                      </a:r>
                    </a:p>
                  </a:txBody>
                  <a:tcPr marT="12700" marB="12700">
                    <a:solidFill>
                      <a:srgbClr val="F7F9FC"/>
                    </a:solidFill>
                  </a:tcPr>
                </a:tc>
              </a:tr>
              <a:tr h="384048">
                <a:tc>
                  <a:txBody>
                    <a:bodyPr wrap="square"/>
                    <a:lstStyle/>
                    <a:p>
                      <a:r>
                        <a:rPr sz="950" b="0" i="0">
                          <a:solidFill>
                            <a:srgbClr val="202020"/>
                          </a:solidFill>
                          <a:latin typeface="Calibri"/>
                        </a:rPr>
                        <a:t>Hadoop BDH</a:t>
                      </a:r>
                    </a:p>
                  </a:txBody>
                  <a:tcPr marT="12700" marB="12700">
                    <a:solidFill>
                      <a:srgbClr val="FFFFFF"/>
                    </a:solidFill>
                  </a:tcPr>
                </a:tc>
                <a:tc>
                  <a:txBody>
                    <a:bodyPr wrap="square"/>
                    <a:lstStyle/>
                    <a:p>
                      <a:r>
                        <a:rPr sz="950" b="0" i="0">
                          <a:solidFill>
                            <a:srgbClr val="202020"/>
                          </a:solidFill>
                          <a:latin typeface="Calibri"/>
                        </a:rPr>
                        <a:t>BDH Hadoop data mart (nightly Salesforce mirror)</a:t>
                      </a:r>
                    </a:p>
                  </a:txBody>
                  <a:tcPr marT="12700" marB="12700">
                    <a:solidFill>
                      <a:srgbClr val="FFFFFF"/>
                    </a:solidFill>
                  </a:tcPr>
                </a:tc>
                <a:tc>
                  <a:txBody>
                    <a:bodyPr wrap="square"/>
                    <a:lstStyle/>
                    <a:p>
                      <a:r>
                        <a:rPr sz="950" b="0" i="0">
                          <a:solidFill>
                            <a:srgbClr val="202020"/>
                          </a:solidFill>
                          <a:latin typeface="Calibri"/>
                        </a:rPr>
                        <a:t>Very-large-scale records that must be filter-reduced before indexing; runs after the nightly mirror lands</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1.3 How to read it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1.  </a:t>
            </a:r>
            <a:r>
              <a:rPr sz="1250" b="0" i="0">
                <a:solidFill>
                  <a:srgbClr val="202020"/>
                </a:solidFill>
                <a:latin typeface="Calibri"/>
              </a:rPr>
              <a:t>Read sections 2–5 once to understand the concepts. Skip them later; they do not change.</a:t>
            </a:r>
          </a:p>
          <a:p>
            <a:pPr>
              <a:spcBef>
                <a:spcPts val="100"/>
              </a:spcBef>
              <a:spcAft>
                <a:spcPts val="200"/>
              </a:spcAft>
            </a:pPr>
            <a:r>
              <a:rPr sz="1250" b="1" i="0">
                <a:solidFill>
                  <a:srgbClr val="2E5496"/>
                </a:solidFill>
                <a:latin typeface="Calibri"/>
              </a:rPr>
              <a:t>2.  </a:t>
            </a:r>
            <a:r>
              <a:rPr sz="1250" b="0" i="0">
                <a:solidFill>
                  <a:srgbClr val="202020"/>
                </a:solidFill>
                <a:latin typeface="Calibri"/>
              </a:rPr>
              <a:t>Read section 6 (the chassis) and section 7 (security) before your first deployment — they explain the moving parts and the credentials you must obtain.</a:t>
            </a:r>
          </a:p>
          <a:p>
            <a:pPr>
              <a:spcBef>
                <a:spcPts val="100"/>
              </a:spcBef>
              <a:spcAft>
                <a:spcPts val="200"/>
              </a:spcAft>
            </a:pPr>
            <a:r>
              <a:rPr sz="1250" b="1" i="0">
                <a:solidFill>
                  <a:srgbClr val="2E5496"/>
                </a:solidFill>
                <a:latin typeface="Calibri"/>
              </a:rPr>
              <a:t>3.  </a:t>
            </a:r>
            <a:r>
              <a:rPr sz="1250" b="0" i="0">
                <a:solidFill>
                  <a:srgbClr val="202020"/>
                </a:solidFill>
                <a:latin typeface="Calibri"/>
              </a:rPr>
              <a:t>Keep sections 8–12 open while you deploy, monitor and support. They are working reference: quota plan, deployment steps, monitoring signals, day-to-day operations and the intake checklist.</a:t>
            </a:r>
          </a:p>
          <a:p>
            <a:pPr>
              <a:spcBef>
                <a:spcPts val="100"/>
              </a:spcBef>
              <a:spcAft>
                <a:spcPts val="200"/>
              </a:spcAft>
            </a:pPr>
            <a:r>
              <a:rPr sz="1250" b="1" i="0">
                <a:solidFill>
                  <a:srgbClr val="2E5496"/>
                </a:solidFill>
                <a:latin typeface="Calibri"/>
              </a:rPr>
              <a:t>4.  </a:t>
            </a:r>
            <a:r>
              <a:rPr sz="1250" b="0" i="0">
                <a:solidFill>
                  <a:srgbClr val="202020"/>
                </a:solidFill>
                <a:latin typeface="Calibri"/>
              </a:rPr>
              <a:t>Use section 13 (glossary) whenever a term is unfamiliar. Then open your specific connector's guide for the source-specific detail.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1.3 How to read it</a:t>
            </a:r>
          </a:p>
        </p:txBody>
      </p:sp>
      <p:sp>
        <p:nvSpPr>
          <p:cNvPr id="5" name="Rectangle 4"/>
          <p:cNvSpPr/>
          <p:nvPr/>
        </p:nvSpPr>
        <p:spPr>
          <a:xfrm>
            <a:off x="502920" y="1463040"/>
            <a:ext cx="11185855" cy="3291840"/>
          </a:xfrm>
          <a:prstGeom prst="rect">
            <a:avLst/>
          </a:prstGeom>
          <a:solidFill>
            <a:srgbClr val="F0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6A3D9A"/>
                </a:solidFill>
                <a:latin typeface="Calibri"/>
              </a:rPr>
              <a:t>Information to request:  </a:t>
            </a:r>
            <a:r>
              <a:rPr sz="1400" b="1" i="0">
                <a:solidFill>
                  <a:srgbClr val="202020"/>
                </a:solidFill>
                <a:latin typeface="Calibri"/>
              </a:rPr>
              <a:t>Information to request: </a:t>
            </a:r>
            <a:r>
              <a:rPr sz="1400" b="0" i="0">
                <a:solidFill>
                  <a:srgbClr val="202020"/>
                </a:solidFill>
                <a:latin typeface="Calibri"/>
              </a:rPr>
              <a:t>Throughout the guide, a purple callout titled </a:t>
            </a:r>
            <a:r>
              <a:rPr sz="1400" b="1" i="0">
                <a:solidFill>
                  <a:srgbClr val="202020"/>
                </a:solidFill>
                <a:latin typeface="Calibri"/>
              </a:rPr>
              <a:t>Information to request</a:t>
            </a:r>
            <a:r>
              <a:rPr sz="1400" b="0" i="0">
                <a:solidFill>
                  <a:srgbClr val="202020"/>
                </a:solidFill>
                <a:latin typeface="Calibri"/>
              </a:rPr>
              <a:t> names a value you cannot invent — it must come from another team — and says exactly who owns it. Collect these as you go; section 12 gathers them all into one intake checklist.</a:t>
            </a:r>
          </a:p>
        </p:txBody>
      </p:sp>
      <p:sp>
        <p:nvSpPr>
          <p:cNvPr id="6" name="Rectangle 5"/>
          <p:cNvSpPr/>
          <p:nvPr/>
        </p:nvSpPr>
        <p:spPr>
          <a:xfrm>
            <a:off x="502920" y="1463040"/>
            <a:ext cx="128016" cy="3291840"/>
          </a:xfrm>
          <a:prstGeom prst="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Tenant &amp; Common Concepts</a:t>
            </a:r>
          </a:p>
          <a:p>
            <a:r>
              <a:rPr sz="3000" b="1" i="0">
                <a:solidFill>
                  <a:srgbClr val="1F3864"/>
                </a:solidFill>
                <a:latin typeface="Calibri"/>
              </a:rPr>
              <a:t>2. Why Copilot connectors exist</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2. Why Copilot connectors exist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Microsoft 365 Copilot can only answer from data it can see. By default that is your Microsoft 365 data — email, Teams, SharePoint, OneDrive. It cannot see Salesforce, Clarizen, Seismic, Altrata or the Hadoop data mart. A connector is what makes that external data answerable — safely.</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2.1 The business problem</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In a large bank, the information a person needs to do their job is spread across many systems. A relationship manager's notes are in Salesforce; the project plan is in Clarizen; the approved pitch deck is in Seismic; the wealth profile is in Altrata. Copilot cannot reason over any of that unless it is brought into the index Copilot searches. Without connectors, staff copy-paste between systems, answers are incomplete, and Copilot looks like it "doesn't know" things the bank clearly knows.</a:t>
            </a:r>
          </a:p>
          <a:p>
            <a:pPr>
              <a:spcBef>
                <a:spcPts val="100"/>
              </a:spcBef>
              <a:spcAft>
                <a:spcPts val="400"/>
              </a:spcAft>
            </a:pPr>
            <a:r>
              <a:rPr sz="1250" b="0" i="0">
                <a:solidFill>
                  <a:srgbClr val="202020"/>
                </a:solidFill>
                <a:latin typeface="Calibri"/>
              </a:rPr>
              <a:t>A </a:t>
            </a:r>
            <a:r>
              <a:rPr sz="1250" b="1" i="0">
                <a:solidFill>
                  <a:srgbClr val="202020"/>
                </a:solidFill>
                <a:latin typeface="Calibri"/>
              </a:rPr>
              <a:t>Graph connector</a:t>
            </a:r>
            <a:r>
              <a:rPr sz="1250" b="0" i="0">
                <a:solidFill>
                  <a:srgbClr val="202020"/>
                </a:solidFill>
                <a:latin typeface="Calibri"/>
              </a:rPr>
              <a:t> solves this by copying a searchable representation of each external record into Microsoft's search index, so Copilot can find it and cite it alongside Microsoft 365 content — as if it had always been there.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2.2 Why not just give Copilot a login to each system?</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Two reasons. First, Copilot answers by searching an </a:t>
            </a:r>
            <a:r>
              <a:rPr sz="1250" b="1" i="0">
                <a:solidFill>
                  <a:srgbClr val="202020"/>
                </a:solidFill>
                <a:latin typeface="Calibri"/>
              </a:rPr>
              <a:t>index</a:t>
            </a:r>
            <a:r>
              <a:rPr sz="1250" b="0" i="0">
                <a:solidFill>
                  <a:srgbClr val="202020"/>
                </a:solidFill>
                <a:latin typeface="Calibri"/>
              </a:rPr>
              <a:t>, not by logging into live systems per question — indexing is what makes answers fast and rankable. Second, and more important for a bank: </a:t>
            </a:r>
            <a:r>
              <a:rPr sz="1250" b="1" i="0">
                <a:solidFill>
                  <a:srgbClr val="202020"/>
                </a:solidFill>
                <a:latin typeface="Calibri"/>
              </a:rPr>
              <a:t>security trimming</a:t>
            </a:r>
            <a:r>
              <a:rPr sz="1250" b="0" i="0">
                <a:solidFill>
                  <a:srgbClr val="202020"/>
                </a:solidFill>
                <a:latin typeface="Calibri"/>
              </a:rPr>
              <a:t>. Each record must be shown only to the people allowed to see it in the source system. A connector carries each record's permissions with it, so Copilot never reveals a record to someone who could not already open it in Salesforce, Clarizen, and so on. This is the single most important property of the whole design, and section 5 is devoted to it.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2.3 What a connector does, in one paragraph</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 connector </a:t>
            </a:r>
            <a:r>
              <a:rPr sz="1250" b="1" i="0">
                <a:solidFill>
                  <a:srgbClr val="202020"/>
                </a:solidFill>
                <a:latin typeface="Calibri"/>
              </a:rPr>
              <a:t>reads</a:t>
            </a:r>
            <a:r>
              <a:rPr sz="1250" b="0" i="0">
                <a:solidFill>
                  <a:srgbClr val="202020"/>
                </a:solidFill>
                <a:latin typeface="Calibri"/>
              </a:rPr>
              <a:t> records from a source system, </a:t>
            </a:r>
            <a:r>
              <a:rPr sz="1250" b="1" i="0">
                <a:solidFill>
                  <a:srgbClr val="202020"/>
                </a:solidFill>
                <a:latin typeface="Calibri"/>
              </a:rPr>
              <a:t>works out who is allowed to see each one</a:t>
            </a:r>
            <a:r>
              <a:rPr sz="1250" b="0" i="0">
                <a:solidFill>
                  <a:srgbClr val="202020"/>
                </a:solidFill>
                <a:latin typeface="Calibri"/>
              </a:rPr>
              <a:t>, </a:t>
            </a:r>
            <a:r>
              <a:rPr sz="1250" b="1" i="0">
                <a:solidFill>
                  <a:srgbClr val="202020"/>
                </a:solidFill>
                <a:latin typeface="Calibri"/>
              </a:rPr>
              <a:t>transforms</a:t>
            </a:r>
            <a:r>
              <a:rPr sz="1250" b="0" i="0">
                <a:solidFill>
                  <a:srgbClr val="202020"/>
                </a:solidFill>
                <a:latin typeface="Calibri"/>
              </a:rPr>
              <a:t> each record into a small searchable item (a title, some typed fields, a text body and a permission list), and </a:t>
            </a:r>
            <a:r>
              <a:rPr sz="1250" b="1" i="0">
                <a:solidFill>
                  <a:srgbClr val="202020"/>
                </a:solidFill>
                <a:latin typeface="Calibri"/>
              </a:rPr>
              <a:t>pushes</a:t>
            </a:r>
            <a:r>
              <a:rPr sz="1250" b="0" i="0">
                <a:solidFill>
                  <a:srgbClr val="202020"/>
                </a:solidFill>
                <a:latin typeface="Calibri"/>
              </a:rPr>
              <a:t> those items into a Microsoft Graph external connection — the container Copilot searches. It then keeps that container up to date on a schedule, removing items that were deleted at the source. Everything else in this guide is detail on how it does that reliably, securely and at a bank's scale.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2.3 What a connector does, in one paragraph</a:t>
            </a:r>
          </a:p>
        </p:txBody>
      </p:sp>
      <p:sp>
        <p:nvSpPr>
          <p:cNvPr id="5" name="Rectangle 4"/>
          <p:cNvSpPr/>
          <p:nvPr/>
        </p:nvSpPr>
        <p:spPr>
          <a:xfrm>
            <a:off x="502920" y="1463040"/>
            <a:ext cx="11185855" cy="3291840"/>
          </a:xfrm>
          <a:prstGeom prst="rect">
            <a:avLst/>
          </a:prstGeom>
          <a:solidFill>
            <a:srgbClr val="E7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7D32"/>
                </a:solidFill>
                <a:latin typeface="Calibri"/>
              </a:rPr>
              <a:t>Tip:  </a:t>
            </a:r>
            <a:r>
              <a:rPr sz="1400" b="1" i="0">
                <a:solidFill>
                  <a:srgbClr val="202020"/>
                </a:solidFill>
                <a:latin typeface="Calibri"/>
              </a:rPr>
              <a:t>Tip: </a:t>
            </a:r>
            <a:r>
              <a:rPr sz="1400" b="0" i="0">
                <a:solidFill>
                  <a:srgbClr val="202020"/>
                </a:solidFill>
                <a:latin typeface="Calibri"/>
              </a:rPr>
              <a:t>A connector is </a:t>
            </a:r>
            <a:r>
              <a:rPr sz="1400" b="1" i="0">
                <a:solidFill>
                  <a:srgbClr val="202020"/>
                </a:solidFill>
                <a:latin typeface="Calibri"/>
              </a:rPr>
              <a:t>read-only</a:t>
            </a:r>
            <a:r>
              <a:rPr sz="1400" b="0" i="0">
                <a:solidFill>
                  <a:srgbClr val="202020"/>
                </a:solidFill>
                <a:latin typeface="Calibri"/>
              </a:rPr>
              <a:t> toward Copilot's benefit: it never changes your source data. It reads from the source and writes only into its own Graph connection. It also only ever makes </a:t>
            </a:r>
            <a:r>
              <a:rPr sz="1400" b="1" i="0">
                <a:solidFill>
                  <a:srgbClr val="202020"/>
                </a:solidFill>
                <a:latin typeface="Calibri"/>
              </a:rPr>
              <a:t>outbound</a:t>
            </a:r>
            <a:r>
              <a:rPr sz="1400" b="0" i="0">
                <a:solidFill>
                  <a:srgbClr val="202020"/>
                </a:solidFill>
                <a:latin typeface="Calibri"/>
              </a:rPr>
              <a:t> calls — it does not open any inbound network port except an optional, firewalled health/metrics endpoint (section 10).</a:t>
            </a:r>
          </a:p>
        </p:txBody>
      </p:sp>
      <p:sp>
        <p:nvSpPr>
          <p:cNvPr id="6" name="Rectangle 5"/>
          <p:cNvSpPr/>
          <p:nvPr/>
        </p:nvSpPr>
        <p:spPr>
          <a:xfrm>
            <a:off x="502920" y="1463040"/>
            <a:ext cx="128016" cy="32918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Tenant &amp; Common Concepts</a:t>
            </a:r>
          </a:p>
          <a:p>
            <a:r>
              <a:rPr sz="3000" b="1" i="0">
                <a:solidFill>
                  <a:srgbClr val="1F3864"/>
                </a:solidFill>
                <a:latin typeface="Calibri"/>
              </a:rPr>
              <a:t>3. Microsoft 365 Copilot and the Copilot index</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3. Microsoft 365 Copilot and the Copilot index</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To support a connector you need a working mental model of what Copilot is doing when it answers, and where your connector's data sits in that picture.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3.1 What Microsoft 365 Copilot is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1" i="0">
                <a:solidFill>
                  <a:srgbClr val="202020"/>
                </a:solidFill>
                <a:latin typeface="Calibri"/>
              </a:rPr>
              <a:t>Microsoft 365 Copilot</a:t>
            </a:r>
            <a:r>
              <a:rPr sz="1250" b="0" i="0">
                <a:solidFill>
                  <a:srgbClr val="202020"/>
                </a:solidFill>
                <a:latin typeface="Calibri"/>
              </a:rPr>
              <a:t> is the AI assistant built into Microsoft 365. When a user asks a question, Copilot does not answer purely from the language model's memory. It first </a:t>
            </a:r>
            <a:r>
              <a:rPr sz="1250" b="1" i="0">
                <a:solidFill>
                  <a:srgbClr val="202020"/>
                </a:solidFill>
                <a:latin typeface="Calibri"/>
              </a:rPr>
              <a:t>searches</a:t>
            </a:r>
            <a:r>
              <a:rPr sz="1250" b="0" i="0">
                <a:solidFill>
                  <a:srgbClr val="202020"/>
                </a:solidFill>
                <a:latin typeface="Calibri"/>
              </a:rPr>
              <a:t> the organisation's index for relevant content the user is allowed to see, then feeds that content to the model as evidence. This step — retrieving real, permitted content and answering from it — is called </a:t>
            </a:r>
            <a:r>
              <a:rPr sz="1250" b="1" i="0">
                <a:solidFill>
                  <a:srgbClr val="202020"/>
                </a:solidFill>
                <a:latin typeface="Calibri"/>
              </a:rPr>
              <a:t>grounding</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3.2 Grounding and why connectors matter</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Grounding is why Copilot's answers can cite specific documents and records instead of making things up. But Copilot can only ground on content that is </a:t>
            </a:r>
            <a:r>
              <a:rPr sz="1250" b="1" i="0">
                <a:solidFill>
                  <a:srgbClr val="202020"/>
                </a:solidFill>
                <a:latin typeface="Calibri"/>
              </a:rPr>
              <a:t>in the index</a:t>
            </a:r>
            <a:r>
              <a:rPr sz="1250" b="0" i="0">
                <a:solidFill>
                  <a:srgbClr val="202020"/>
                </a:solidFill>
                <a:latin typeface="Calibri"/>
              </a:rPr>
              <a:t>. Your connector's whole job is to put external records into that index so Copilot can ground on them. A record that is not indexed simply does not exist as far as Copilot is concerned.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3.3 The semantic index and the search index</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Microsoft maintains two related things. The </a:t>
            </a:r>
            <a:r>
              <a:rPr sz="1250" b="1" i="0">
                <a:solidFill>
                  <a:srgbClr val="202020"/>
                </a:solidFill>
                <a:latin typeface="Calibri"/>
              </a:rPr>
              <a:t>search index</a:t>
            </a:r>
            <a:r>
              <a:rPr sz="1250" b="0" i="0">
                <a:solidFill>
                  <a:srgbClr val="202020"/>
                </a:solidFill>
                <a:latin typeface="Calibri"/>
              </a:rPr>
              <a:t> is the classic keyword/metadata index behind Microsoft Search. The </a:t>
            </a:r>
            <a:r>
              <a:rPr sz="1250" b="1" i="0">
                <a:solidFill>
                  <a:srgbClr val="202020"/>
                </a:solidFill>
                <a:latin typeface="Calibri"/>
              </a:rPr>
              <a:t>semantic index</a:t>
            </a:r>
            <a:r>
              <a:rPr sz="1250" b="0" i="0">
                <a:solidFill>
                  <a:srgbClr val="202020"/>
                </a:solidFill>
                <a:latin typeface="Calibri"/>
              </a:rPr>
              <a:t> additionally understands meaning, so a question phrased differently from the source text can still match. External items your connector ingests become part of this index and are eligible for both keyword and semantic matching, and for Copilot grounding, exactly like native Microsoft 365 content.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3.3 The semantic index and the search index</a:t>
            </a:r>
          </a:p>
        </p:txBody>
      </p:sp>
      <p:graphicFrame>
        <p:nvGraphicFramePr>
          <p:cNvPr id="5" name="Table 4"/>
          <p:cNvGraphicFramePr>
            <a:graphicFrameLocks noGrp="1"/>
          </p:cNvGraphicFramePr>
          <p:nvPr/>
        </p:nvGraphicFramePr>
        <p:xfrm>
          <a:off x="502920" y="1188720"/>
          <a:ext cx="11185855" cy="1920240"/>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Term</a:t>
                      </a:r>
                    </a:p>
                  </a:txBody>
                  <a:tcPr marT="25400" marB="25400">
                    <a:solidFill>
                      <a:srgbClr val="2E5496"/>
                    </a:solidFill>
                  </a:tcPr>
                </a:tc>
                <a:tc>
                  <a:txBody>
                    <a:bodyPr wrap="square"/>
                    <a:lstStyle/>
                    <a:p>
                      <a:r>
                        <a:rPr sz="1050" b="1" i="0">
                          <a:solidFill>
                            <a:srgbClr val="FFFFFF"/>
                          </a:solidFill>
                          <a:latin typeface="Calibri"/>
                        </a:rPr>
                        <a:t>Plain meaning</a:t>
                      </a:r>
                    </a:p>
                  </a:txBody>
                  <a:tcPr marT="25400" marB="25400">
                    <a:solidFill>
                      <a:srgbClr val="2E5496"/>
                    </a:solidFill>
                  </a:tcPr>
                </a:tc>
                <a:tc>
                  <a:txBody>
                    <a:bodyPr wrap="square"/>
                    <a:lstStyle/>
                    <a:p>
                      <a:r>
                        <a:rPr sz="1050" b="1" i="0">
                          <a:solidFill>
                            <a:srgbClr val="FFFFFF"/>
                          </a:solidFill>
                          <a:latin typeface="Calibri"/>
                        </a:rPr>
                        <a:t>Where your connector fits</a:t>
                      </a:r>
                    </a:p>
                  </a:txBody>
                  <a:tcPr marT="25400" marB="25400">
                    <a:solidFill>
                      <a:srgbClr val="2E5496"/>
                    </a:solidFill>
                  </a:tcPr>
                </a:tc>
              </a:tr>
              <a:tr h="384048">
                <a:tc>
                  <a:txBody>
                    <a:bodyPr wrap="square"/>
                    <a:lstStyle/>
                    <a:p>
                      <a:r>
                        <a:rPr sz="950" b="0" i="0">
                          <a:solidFill>
                            <a:srgbClr val="202020"/>
                          </a:solidFill>
                          <a:latin typeface="Calibri"/>
                        </a:rPr>
                        <a:t>Index vs. live system</a:t>
                      </a:r>
                    </a:p>
                  </a:txBody>
                  <a:tcPr marT="12700" marB="12700">
                    <a:solidFill>
                      <a:srgbClr val="FFFFFF"/>
                    </a:solidFill>
                  </a:tcPr>
                </a:tc>
                <a:tc>
                  <a:txBody>
                    <a:bodyPr wrap="square"/>
                    <a:lstStyle/>
                    <a:p>
                      <a:r>
                        <a:rPr sz="950" b="0" i="0">
                          <a:solidFill>
                            <a:srgbClr val="202020"/>
                          </a:solidFill>
                          <a:latin typeface="Calibri"/>
                        </a:rPr>
                        <a:t>Copilot searches a stored, pre-processed copy — not the source system live</a:t>
                      </a:r>
                    </a:p>
                  </a:txBody>
                  <a:tcPr marT="12700" marB="12700">
                    <a:solidFill>
                      <a:srgbClr val="FFFFFF"/>
                    </a:solidFill>
                  </a:tcPr>
                </a:tc>
                <a:tc>
                  <a:txBody>
                    <a:bodyPr wrap="square"/>
                    <a:lstStyle/>
                    <a:p>
                      <a:r>
                        <a:rPr sz="950" b="0" i="0">
                          <a:solidFill>
                            <a:srgbClr val="202020"/>
                          </a:solidFill>
                          <a:latin typeface="Calibri"/>
                        </a:rPr>
                        <a:t>Your connector is what keeps that stored copy current</a:t>
                      </a:r>
                    </a:p>
                  </a:txBody>
                  <a:tcPr marT="12700" marB="12700">
                    <a:solidFill>
                      <a:srgbClr val="FFFFFF"/>
                    </a:solidFill>
                  </a:tcPr>
                </a:tc>
              </a:tr>
              <a:tr h="384048">
                <a:tc>
                  <a:txBody>
                    <a:bodyPr wrap="square"/>
                    <a:lstStyle/>
                    <a:p>
                      <a:r>
                        <a:rPr sz="950" b="0" i="0">
                          <a:solidFill>
                            <a:srgbClr val="202020"/>
                          </a:solidFill>
                          <a:latin typeface="Calibri"/>
                        </a:rPr>
                        <a:t>Search index</a:t>
                      </a:r>
                    </a:p>
                  </a:txBody>
                  <a:tcPr marT="12700" marB="12700">
                    <a:solidFill>
                      <a:srgbClr val="F7F9FC"/>
                    </a:solidFill>
                  </a:tcPr>
                </a:tc>
                <a:tc>
                  <a:txBody>
                    <a:bodyPr wrap="square"/>
                    <a:lstStyle/>
                    <a:p>
                      <a:r>
                        <a:rPr sz="950" b="0" i="0">
                          <a:solidFill>
                            <a:srgbClr val="202020"/>
                          </a:solidFill>
                          <a:latin typeface="Calibri"/>
                        </a:rPr>
                        <a:t>Keyword/metadata matching (Microsoft Search)</a:t>
                      </a:r>
                    </a:p>
                  </a:txBody>
                  <a:tcPr marT="12700" marB="12700">
                    <a:solidFill>
                      <a:srgbClr val="F7F9FC"/>
                    </a:solidFill>
                  </a:tcPr>
                </a:tc>
                <a:tc>
                  <a:txBody>
                    <a:bodyPr wrap="square"/>
                    <a:lstStyle/>
                    <a:p>
                      <a:r>
                        <a:rPr sz="950" b="0" i="0">
                          <a:solidFill>
                            <a:srgbClr val="202020"/>
                          </a:solidFill>
                          <a:latin typeface="Calibri"/>
                        </a:rPr>
                        <a:t>External items are searchable here immediately after ingest + provisioning</a:t>
                      </a:r>
                    </a:p>
                  </a:txBody>
                  <a:tcPr marT="12700" marB="12700">
                    <a:solidFill>
                      <a:srgbClr val="F7F9FC"/>
                    </a:solidFill>
                  </a:tcPr>
                </a:tc>
              </a:tr>
              <a:tr h="384048">
                <a:tc>
                  <a:txBody>
                    <a:bodyPr wrap="square"/>
                    <a:lstStyle/>
                    <a:p>
                      <a:r>
                        <a:rPr sz="950" b="0" i="0">
                          <a:solidFill>
                            <a:srgbClr val="202020"/>
                          </a:solidFill>
                          <a:latin typeface="Calibri"/>
                        </a:rPr>
                        <a:t>Semantic index</a:t>
                      </a:r>
                    </a:p>
                  </a:txBody>
                  <a:tcPr marT="12700" marB="12700">
                    <a:solidFill>
                      <a:srgbClr val="FFFFFF"/>
                    </a:solidFill>
                  </a:tcPr>
                </a:tc>
                <a:tc>
                  <a:txBody>
                    <a:bodyPr wrap="square"/>
                    <a:lstStyle/>
                    <a:p>
                      <a:r>
                        <a:rPr sz="950" b="0" i="0">
                          <a:solidFill>
                            <a:srgbClr val="202020"/>
                          </a:solidFill>
                          <a:latin typeface="Calibri"/>
                        </a:rPr>
                        <a:t>Meaning-based matching for Copilot grounding</a:t>
                      </a:r>
                    </a:p>
                  </a:txBody>
                  <a:tcPr marT="12700" marB="12700">
                    <a:solidFill>
                      <a:srgbClr val="FFFFFF"/>
                    </a:solidFill>
                  </a:tcPr>
                </a:tc>
                <a:tc>
                  <a:txBody>
                    <a:bodyPr wrap="square"/>
                    <a:lstStyle/>
                    <a:p>
                      <a:r>
                        <a:rPr sz="950" b="0" i="0">
                          <a:solidFill>
                            <a:srgbClr val="202020"/>
                          </a:solidFill>
                          <a:latin typeface="Calibri"/>
                        </a:rPr>
                        <a:t>The same external items become grounding evidence</a:t>
                      </a:r>
                    </a:p>
                  </a:txBody>
                  <a:tcPr marT="12700" marB="12700">
                    <a:solidFill>
                      <a:srgbClr val="FFFFFF"/>
                    </a:solidFill>
                  </a:tcPr>
                </a:tc>
              </a:tr>
              <a:tr h="384048">
                <a:tc>
                  <a:txBody>
                    <a:bodyPr wrap="square"/>
                    <a:lstStyle/>
                    <a:p>
                      <a:r>
                        <a:rPr sz="950" b="0" i="0">
                          <a:solidFill>
                            <a:srgbClr val="202020"/>
                          </a:solidFill>
                          <a:latin typeface="Calibri"/>
                        </a:rPr>
                        <a:t>Grounding</a:t>
                      </a:r>
                    </a:p>
                  </a:txBody>
                  <a:tcPr marT="12700" marB="12700">
                    <a:solidFill>
                      <a:srgbClr val="F7F9FC"/>
                    </a:solidFill>
                  </a:tcPr>
                </a:tc>
                <a:tc>
                  <a:txBody>
                    <a:bodyPr wrap="square"/>
                    <a:lstStyle/>
                    <a:p>
                      <a:r>
                        <a:rPr sz="950" b="0" i="0">
                          <a:solidFill>
                            <a:srgbClr val="202020"/>
                          </a:solidFill>
                          <a:latin typeface="Calibri"/>
                        </a:rPr>
                        <a:t>Answering from retrieved, permitted content</a:t>
                      </a:r>
                    </a:p>
                  </a:txBody>
                  <a:tcPr marT="12700" marB="12700">
                    <a:solidFill>
                      <a:srgbClr val="F7F9FC"/>
                    </a:solidFill>
                  </a:tcPr>
                </a:tc>
                <a:tc>
                  <a:txBody>
                    <a:bodyPr wrap="square"/>
                    <a:lstStyle/>
                    <a:p>
                      <a:r>
                        <a:rPr sz="950" b="0" i="0">
                          <a:solidFill>
                            <a:srgbClr val="202020"/>
                          </a:solidFill>
                          <a:latin typeface="Calibri"/>
                        </a:rPr>
                        <a:t>Trimmed by each item's permission list (section 5)</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3.4 How an external record becomes answerable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1.  </a:t>
            </a:r>
            <a:r>
              <a:rPr sz="1250" b="0" i="0">
                <a:solidFill>
                  <a:srgbClr val="202020"/>
                </a:solidFill>
                <a:latin typeface="Calibri"/>
              </a:rPr>
              <a:t>Your connector creates an </a:t>
            </a:r>
            <a:r>
              <a:rPr sz="1250" b="1" i="0">
                <a:solidFill>
                  <a:srgbClr val="202020"/>
                </a:solidFill>
                <a:latin typeface="Calibri"/>
              </a:rPr>
              <a:t>external connection</a:t>
            </a:r>
            <a:r>
              <a:rPr sz="1250" b="0" i="0">
                <a:solidFill>
                  <a:srgbClr val="202020"/>
                </a:solidFill>
                <a:latin typeface="Calibri"/>
              </a:rPr>
              <a:t> (a labelled container) in the tenant and registers its </a:t>
            </a:r>
            <a:r>
              <a:rPr sz="1250" b="1" i="0">
                <a:solidFill>
                  <a:srgbClr val="202020"/>
                </a:solidFill>
                <a:latin typeface="Calibri"/>
              </a:rPr>
              <a:t>schema</a:t>
            </a:r>
            <a:r>
              <a:rPr sz="1250" b="0" i="0">
                <a:solidFill>
                  <a:srgbClr val="202020"/>
                </a:solidFill>
                <a:latin typeface="Calibri"/>
              </a:rPr>
              <a:t> (the shape of the data). Done once.</a:t>
            </a:r>
          </a:p>
          <a:p>
            <a:pPr>
              <a:spcBef>
                <a:spcPts val="100"/>
              </a:spcBef>
              <a:spcAft>
                <a:spcPts val="200"/>
              </a:spcAft>
            </a:pPr>
            <a:r>
              <a:rPr sz="1250" b="1" i="0">
                <a:solidFill>
                  <a:srgbClr val="2E5496"/>
                </a:solidFill>
                <a:latin typeface="Calibri"/>
              </a:rPr>
              <a:t>2.  </a:t>
            </a:r>
            <a:r>
              <a:rPr sz="1250" b="0" i="0">
                <a:solidFill>
                  <a:srgbClr val="202020"/>
                </a:solidFill>
                <a:latin typeface="Calibri"/>
              </a:rPr>
              <a:t>It reads records from the source, resolves each record's permissions, and pushes each one as an </a:t>
            </a:r>
            <a:r>
              <a:rPr sz="1250" b="1" i="0">
                <a:solidFill>
                  <a:srgbClr val="202020"/>
                </a:solidFill>
                <a:latin typeface="Calibri"/>
              </a:rPr>
              <a:t>external item</a:t>
            </a:r>
            <a:r>
              <a:rPr sz="1250" b="0" i="0">
                <a:solidFill>
                  <a:srgbClr val="202020"/>
                </a:solidFill>
                <a:latin typeface="Calibri"/>
              </a:rPr>
              <a:t> into that connection.</a:t>
            </a:r>
          </a:p>
          <a:p>
            <a:pPr>
              <a:spcBef>
                <a:spcPts val="100"/>
              </a:spcBef>
              <a:spcAft>
                <a:spcPts val="200"/>
              </a:spcAft>
            </a:pPr>
            <a:r>
              <a:rPr sz="1250" b="1" i="0">
                <a:solidFill>
                  <a:srgbClr val="2E5496"/>
                </a:solidFill>
                <a:latin typeface="Calibri"/>
              </a:rPr>
              <a:t>3.  </a:t>
            </a:r>
            <a:r>
              <a:rPr sz="1250" b="0" i="0">
                <a:solidFill>
                  <a:srgbClr val="202020"/>
                </a:solidFill>
                <a:latin typeface="Calibri"/>
              </a:rPr>
              <a:t>Microsoft indexes the items (this is asynchronous — a freshly-pushed item is searchable within a short time, not the same millisecond).</a:t>
            </a:r>
          </a:p>
          <a:p>
            <a:pPr>
              <a:spcBef>
                <a:spcPts val="100"/>
              </a:spcBef>
              <a:spcAft>
                <a:spcPts val="200"/>
              </a:spcAft>
            </a:pPr>
            <a:r>
              <a:rPr sz="1250" b="1" i="0">
                <a:solidFill>
                  <a:srgbClr val="2E5496"/>
                </a:solidFill>
                <a:latin typeface="Calibri"/>
              </a:rPr>
              <a:t>4.  </a:t>
            </a:r>
            <a:r>
              <a:rPr sz="1250" b="0" i="0">
                <a:solidFill>
                  <a:srgbClr val="202020"/>
                </a:solidFill>
                <a:latin typeface="Calibri"/>
              </a:rPr>
              <a:t>A user asks Copilot a question; Copilot searches the index, keeps only items the user is permitted to see, and grounds its answer on them — citing your external items where relevant.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3.4 How an external record becomes answerable</a:t>
            </a:r>
          </a:p>
        </p:txBody>
      </p:sp>
      <p:sp>
        <p:nvSpPr>
          <p:cNvPr id="5" name="Rectangle 4"/>
          <p:cNvSpPr/>
          <p:nvPr/>
        </p:nvSpPr>
        <p:spPr>
          <a:xfrm>
            <a:off x="502920" y="1463040"/>
            <a:ext cx="11185855" cy="329184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5496"/>
                </a:solidFill>
                <a:latin typeface="Calibri"/>
              </a:rPr>
              <a:t>Note:  </a:t>
            </a:r>
            <a:r>
              <a:rPr sz="1400" b="1" i="0">
                <a:solidFill>
                  <a:srgbClr val="202020"/>
                </a:solidFill>
                <a:latin typeface="Calibri"/>
              </a:rPr>
              <a:t>Note: </a:t>
            </a:r>
            <a:r>
              <a:rPr sz="1400" b="0" i="0">
                <a:solidFill>
                  <a:srgbClr val="202020"/>
                </a:solidFill>
                <a:latin typeface="Calibri"/>
              </a:rPr>
              <a:t>Indexing is </a:t>
            </a:r>
            <a:r>
              <a:rPr sz="1400" b="1" i="0">
                <a:solidFill>
                  <a:srgbClr val="202020"/>
                </a:solidFill>
                <a:latin typeface="Calibri"/>
              </a:rPr>
              <a:t>eventually consistent</a:t>
            </a:r>
            <a:r>
              <a:rPr sz="1400" b="0" i="0">
                <a:solidFill>
                  <a:srgbClr val="202020"/>
                </a:solidFill>
                <a:latin typeface="Calibri"/>
              </a:rPr>
              <a:t>: after your connector reports an item ingested, there is a short, Microsoft-side delay before it appears in search results. "Ingested" (your connector's job is done) and "searchable" (Microsoft has finished indexing) are not the same instant. This matters when you verify a deployment — allow time before concluding an item is missing.</a:t>
            </a:r>
          </a:p>
        </p:txBody>
      </p:sp>
      <p:sp>
        <p:nvSpPr>
          <p:cNvPr id="6" name="Rectangle 5"/>
          <p:cNvSpPr/>
          <p:nvPr/>
        </p:nvSpPr>
        <p:spPr>
          <a:xfrm>
            <a:off x="502920" y="1463040"/>
            <a:ext cx="128016" cy="329184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Tenant &amp; Common Concepts</a:t>
            </a:r>
          </a:p>
          <a:p>
            <a:r>
              <a:rPr sz="3000" b="1" i="0">
                <a:solidFill>
                  <a:srgbClr val="1F3864"/>
                </a:solidFill>
                <a:latin typeface="Calibri"/>
              </a:rPr>
              <a:t>4. Microsoft Graph, external connections and external items</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 Microsoft Graph, external connections and external items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This section defines the four objects every connector works with on the Microsoft side: the Graph API, the external connection, its schema, and the external item. Get these four straight and the rest of the guide reads easily.</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4.1 Microsoft Graph — the API</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1" i="0">
                <a:solidFill>
                  <a:srgbClr val="202020"/>
                </a:solidFill>
                <a:latin typeface="Calibri"/>
              </a:rPr>
              <a:t>Microsoft Graph</a:t>
            </a:r>
            <a:r>
              <a:rPr sz="1250" b="0" i="0">
                <a:solidFill>
                  <a:srgbClr val="202020"/>
                </a:solidFill>
                <a:latin typeface="Calibri"/>
              </a:rPr>
              <a:t> is the single web API (HTTPS REST) through which programs talk to Microsoft 365. Your connector uses the Graph </a:t>
            </a:r>
            <a:r>
              <a:rPr sz="1250" b="1" i="0">
                <a:solidFill>
                  <a:srgbClr val="202020"/>
                </a:solidFill>
                <a:latin typeface="Calibri"/>
              </a:rPr>
              <a:t>connectors</a:t>
            </a:r>
            <a:r>
              <a:rPr sz="1250" b="0" i="0">
                <a:solidFill>
                  <a:srgbClr val="202020"/>
                </a:solidFill>
                <a:latin typeface="Calibri"/>
              </a:rPr>
              <a:t> endpoints to create its connection, register its schema, and push items. The base address is </a:t>
            </a:r>
            <a:r>
              <a:rPr sz="1200" b="0" i="0">
                <a:solidFill>
                  <a:srgbClr val="202020"/>
                </a:solidFill>
                <a:latin typeface="Consolas"/>
              </a:rPr>
              <a:t>https://graph.microsoft.com</a:t>
            </a:r>
            <a:r>
              <a:rPr sz="1250" b="0" i="0">
                <a:solidFill>
                  <a:srgbClr val="202020"/>
                </a:solidFill>
                <a:latin typeface="Calibri"/>
              </a:rPr>
              <a:t> for the commercial cloud; sovereign clouds use a different base URL, set with </a:t>
            </a:r>
            <a:r>
              <a:rPr sz="1200" b="0" i="0">
                <a:solidFill>
                  <a:srgbClr val="202020"/>
                </a:solidFill>
                <a:latin typeface="Consolas"/>
              </a:rPr>
              <a:t>GRAPH_BASE_URL</a:t>
            </a:r>
            <a:r>
              <a:rPr sz="1250" b="0" i="0">
                <a:solidFill>
                  <a:srgbClr val="202020"/>
                </a:solidFill>
                <a:latin typeface="Calibri"/>
              </a:rPr>
              <a:t> (for example </a:t>
            </a:r>
            <a:r>
              <a:rPr sz="1200" b="0" i="0">
                <a:solidFill>
                  <a:srgbClr val="202020"/>
                </a:solidFill>
                <a:latin typeface="Consolas"/>
              </a:rPr>
              <a:t>https://graph.microsoft.us</a:t>
            </a:r>
            <a:r>
              <a:rPr sz="1250" b="0" i="0">
                <a:solidFill>
                  <a:srgbClr val="202020"/>
                </a:solidFill>
                <a:latin typeface="Calibri"/>
              </a:rPr>
              <a:t> for US Government). Every call is authenticated with an access token (section 7) and every call is subject to throttling (section 8).</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4.2 The external connection — the container</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An </a:t>
            </a:r>
            <a:r>
              <a:rPr sz="1250" b="1" i="0">
                <a:solidFill>
                  <a:srgbClr val="202020"/>
                </a:solidFill>
                <a:latin typeface="Calibri"/>
              </a:rPr>
              <a:t>external connection</a:t>
            </a:r>
            <a:r>
              <a:rPr sz="1250" b="0" i="0">
                <a:solidFill>
                  <a:srgbClr val="202020"/>
                </a:solidFill>
                <a:latin typeface="Calibri"/>
              </a:rPr>
              <a:t> is the named container that holds your connector's items in the tenant. It appears in the Microsoft 365 admin center as a connection you can see and manage. Each connection has a stable id set by </a:t>
            </a:r>
            <a:r>
              <a:rPr sz="1200" b="0" i="0">
                <a:solidFill>
                  <a:srgbClr val="202020"/>
                </a:solidFill>
                <a:latin typeface="Consolas"/>
              </a:rPr>
              <a:t>CONNECTOR_ID</a:t>
            </a:r>
            <a:r>
              <a:rPr sz="1250" b="0" i="0">
                <a:solidFill>
                  <a:srgbClr val="202020"/>
                </a:solidFill>
                <a:latin typeface="Calibri"/>
              </a:rPr>
              <a:t> (3–32 characters, alphanumeric only, and it must not start with a reserved Microsoft prefix such as </a:t>
            </a:r>
            <a:r>
              <a:rPr sz="1200" b="0" i="0">
                <a:solidFill>
                  <a:srgbClr val="202020"/>
                </a:solidFill>
                <a:latin typeface="Consolas"/>
              </a:rPr>
              <a:t>SharePoint</a:t>
            </a:r>
            <a:r>
              <a:rPr sz="1250" b="0" i="0">
                <a:solidFill>
                  <a:srgbClr val="202020"/>
                </a:solidFill>
                <a:latin typeface="Calibri"/>
              </a:rPr>
              <a:t>, </a:t>
            </a:r>
            <a:r>
              <a:rPr sz="1200" b="0" i="0">
                <a:solidFill>
                  <a:srgbClr val="202020"/>
                </a:solidFill>
                <a:latin typeface="Consolas"/>
              </a:rPr>
              <a:t>Teams</a:t>
            </a:r>
            <a:r>
              <a:rPr sz="1250" b="0" i="0">
                <a:solidFill>
                  <a:srgbClr val="202020"/>
                </a:solidFill>
                <a:latin typeface="Calibri"/>
              </a:rPr>
              <a:t> or </a:t>
            </a:r>
            <a:r>
              <a:rPr sz="1200" b="0" i="0">
                <a:solidFill>
                  <a:srgbClr val="202020"/>
                </a:solidFill>
                <a:latin typeface="Consolas"/>
              </a:rPr>
              <a:t>Exchange</a:t>
            </a:r>
            <a:r>
              <a:rPr sz="1250" b="0" i="0">
                <a:solidFill>
                  <a:srgbClr val="202020"/>
                </a:solidFill>
                <a:latin typeface="Calibri"/>
              </a:rPr>
              <a:t>). A connector may run </a:t>
            </a:r>
            <a:r>
              <a:rPr sz="1250" b="1" i="0">
                <a:solidFill>
                  <a:srgbClr val="202020"/>
                </a:solidFill>
                <a:latin typeface="Calibri"/>
              </a:rPr>
              <a:t>more than one</a:t>
            </a:r>
            <a:r>
              <a:rPr sz="1250" b="0" i="0">
                <a:solidFill>
                  <a:srgbClr val="202020"/>
                </a:solidFill>
                <a:latin typeface="Calibri"/>
              </a:rPr>
              <a:t> connection when it is sharded for throughput (section 6.9) — each shard is a separate connection in the admin center.</a:t>
            </a:r>
          </a:p>
          <a:p>
            <a:pPr>
              <a:spcBef>
                <a:spcPts val="100"/>
              </a:spcBef>
              <a:spcAft>
                <a:spcPts val="400"/>
              </a:spcAft>
            </a:pPr>
            <a:r>
              <a:rPr sz="1250" b="0" i="0">
                <a:solidFill>
                  <a:srgbClr val="202020"/>
                </a:solidFill>
                <a:latin typeface="Calibri"/>
              </a:rPr>
              <a:t>Creating the connection is a one-time setup step (</a:t>
            </a:r>
            <a:r>
              <a:rPr sz="1200" b="0" i="0">
                <a:solidFill>
                  <a:srgbClr val="202020"/>
                </a:solidFill>
                <a:latin typeface="Consolas"/>
              </a:rPr>
              <a:t>setup-connection</a:t>
            </a:r>
            <a:r>
              <a:rPr sz="1250" b="0" i="0">
                <a:solidFill>
                  <a:srgbClr val="202020"/>
                </a:solidFill>
                <a:latin typeface="Calibri"/>
              </a:rPr>
              <a:t>, or the first </a:t>
            </a:r>
            <a:r>
              <a:rPr sz="1200" b="0" i="0">
                <a:solidFill>
                  <a:srgbClr val="202020"/>
                </a:solidFill>
                <a:latin typeface="Consolas"/>
              </a:rPr>
              <a:t>full-deployment</a:t>
            </a:r>
            <a:r>
              <a:rPr sz="1250" b="0" i="0">
                <a:solidFill>
                  <a:srgbClr val="202020"/>
                </a:solidFill>
                <a:latin typeface="Calibri"/>
              </a:rPr>
              <a:t>). The connector creates the connection, waits until Microsoft reports it </a:t>
            </a:r>
            <a:r>
              <a:rPr sz="1250" b="1" i="0">
                <a:solidFill>
                  <a:srgbClr val="202020"/>
                </a:solidFill>
                <a:latin typeface="Calibri"/>
              </a:rPr>
              <a:t>Ready</a:t>
            </a:r>
            <a:r>
              <a:rPr sz="1250" b="0" i="0">
                <a:solidFill>
                  <a:srgbClr val="202020"/>
                </a:solidFill>
                <a:latin typeface="Calibri"/>
              </a:rPr>
              <a:t>, registers the schema, and only then begins ingesting.</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4.3 The schema — typed properties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a:t>
            </a:r>
            <a:r>
              <a:rPr sz="1250" b="1" i="0">
                <a:solidFill>
                  <a:srgbClr val="202020"/>
                </a:solidFill>
                <a:latin typeface="Calibri"/>
              </a:rPr>
              <a:t>schema</a:t>
            </a:r>
            <a:r>
              <a:rPr sz="1250" b="0" i="0">
                <a:solidFill>
                  <a:srgbClr val="202020"/>
                </a:solidFill>
                <a:latin typeface="Calibri"/>
              </a:rPr>
              <a:t> declares the shape of every item in a connection: the list of </a:t>
            </a:r>
            <a:r>
              <a:rPr sz="1250" b="1" i="0">
                <a:solidFill>
                  <a:srgbClr val="202020"/>
                </a:solidFill>
                <a:latin typeface="Calibri"/>
              </a:rPr>
              <a:t>properties</a:t>
            </a:r>
            <a:r>
              <a:rPr sz="1250" b="0" i="0">
                <a:solidFill>
                  <a:srgbClr val="202020"/>
                </a:solidFill>
                <a:latin typeface="Calibri"/>
              </a:rPr>
              <a:t> (fields), each with a type (string, number, date, and so on) and behaviour flags that tell Microsoft what to do with it:</a:t>
            </a:r>
          </a:p>
          <a:p>
            <a:pPr>
              <a:spcBef>
                <a:spcPts val="100"/>
              </a:spcBef>
              <a:spcAft>
                <a:spcPts val="200"/>
              </a:spcAft>
            </a:pPr>
            <a:r>
              <a:rPr sz="1250" b="1" i="0">
                <a:solidFill>
                  <a:srgbClr val="2E5496"/>
                </a:solidFill>
                <a:latin typeface="Calibri"/>
              </a:rPr>
              <a:t>•  </a:t>
            </a:r>
            <a:r>
              <a:rPr sz="1250" b="1" i="0">
                <a:solidFill>
                  <a:srgbClr val="202020"/>
                </a:solidFill>
                <a:latin typeface="Calibri"/>
              </a:rPr>
              <a:t>Searchable</a:t>
            </a:r>
            <a:r>
              <a:rPr sz="1250" b="0" i="0">
                <a:solidFill>
                  <a:srgbClr val="202020"/>
                </a:solidFill>
                <a:latin typeface="Calibri"/>
              </a:rPr>
              <a:t> — the property's text is matched by full-text search.</a:t>
            </a:r>
          </a:p>
          <a:p>
            <a:pPr>
              <a:spcBef>
                <a:spcPts val="100"/>
              </a:spcBef>
              <a:spcAft>
                <a:spcPts val="200"/>
              </a:spcAft>
            </a:pPr>
            <a:r>
              <a:rPr sz="1250" b="1" i="0">
                <a:solidFill>
                  <a:srgbClr val="2E5496"/>
                </a:solidFill>
                <a:latin typeface="Calibri"/>
              </a:rPr>
              <a:t>•  </a:t>
            </a:r>
            <a:r>
              <a:rPr sz="1250" b="1" i="0">
                <a:solidFill>
                  <a:srgbClr val="202020"/>
                </a:solidFill>
                <a:latin typeface="Calibri"/>
              </a:rPr>
              <a:t>Queryable</a:t>
            </a:r>
            <a:r>
              <a:rPr sz="1250" b="0" i="0">
                <a:solidFill>
                  <a:srgbClr val="202020"/>
                </a:solidFill>
                <a:latin typeface="Calibri"/>
              </a:rPr>
              <a:t> — the property can be filtered on in a query (for example, by status or date).</a:t>
            </a:r>
          </a:p>
          <a:p>
            <a:pPr>
              <a:spcBef>
                <a:spcPts val="100"/>
              </a:spcBef>
              <a:spcAft>
                <a:spcPts val="200"/>
              </a:spcAft>
            </a:pPr>
            <a:r>
              <a:rPr sz="1250" b="1" i="0">
                <a:solidFill>
                  <a:srgbClr val="2E5496"/>
                </a:solidFill>
                <a:latin typeface="Calibri"/>
              </a:rPr>
              <a:t>•  </a:t>
            </a:r>
            <a:r>
              <a:rPr sz="1250" b="1" i="0">
                <a:solidFill>
                  <a:srgbClr val="202020"/>
                </a:solidFill>
                <a:latin typeface="Calibri"/>
              </a:rPr>
              <a:t>Retrievable</a:t>
            </a:r>
            <a:r>
              <a:rPr sz="1250" b="0" i="0">
                <a:solidFill>
                  <a:srgbClr val="202020"/>
                </a:solidFill>
                <a:latin typeface="Calibri"/>
              </a:rPr>
              <a:t> — the property's value can be returned and displayed in results.</a:t>
            </a:r>
          </a:p>
          <a:p>
            <a:pPr>
              <a:spcBef>
                <a:spcPts val="100"/>
              </a:spcBef>
              <a:spcAft>
                <a:spcPts val="200"/>
              </a:spcAft>
            </a:pPr>
            <a:r>
              <a:rPr sz="1250" b="1" i="0">
                <a:solidFill>
                  <a:srgbClr val="2E5496"/>
                </a:solidFill>
                <a:latin typeface="Calibri"/>
              </a:rPr>
              <a:t>•  </a:t>
            </a:r>
            <a:r>
              <a:rPr sz="1250" b="1" i="0">
                <a:solidFill>
                  <a:srgbClr val="202020"/>
                </a:solidFill>
                <a:latin typeface="Calibri"/>
              </a:rPr>
              <a:t>Refinable</a:t>
            </a:r>
            <a:r>
              <a:rPr sz="1250" b="0" i="0">
                <a:solidFill>
                  <a:srgbClr val="202020"/>
                </a:solidFill>
                <a:latin typeface="Calibri"/>
              </a:rPr>
              <a:t> — the property can drive filters/facets in the results experience.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4.3 The schema — typed properties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 connection may declare at most </a:t>
            </a:r>
            <a:r>
              <a:rPr sz="1250" b="1" i="0">
                <a:solidFill>
                  <a:srgbClr val="202020"/>
                </a:solidFill>
                <a:latin typeface="Calibri"/>
              </a:rPr>
              <a:t>128 properties</a:t>
            </a:r>
            <a:r>
              <a:rPr sz="1250" b="0" i="0">
                <a:solidFill>
                  <a:srgbClr val="202020"/>
                </a:solidFill>
                <a:latin typeface="Calibri"/>
              </a:rPr>
              <a:t> (a hard Microsoft limit, section 8). Schema is provisioned </a:t>
            </a:r>
            <a:r>
              <a:rPr sz="1250" b="1" i="0">
                <a:solidFill>
                  <a:srgbClr val="202020"/>
                </a:solidFill>
                <a:latin typeface="Calibri"/>
              </a:rPr>
              <a:t>asynchronously</a:t>
            </a:r>
            <a:r>
              <a:rPr sz="1250" b="0" i="0">
                <a:solidFill>
                  <a:srgbClr val="202020"/>
                </a:solidFill>
                <a:latin typeface="Calibri"/>
              </a:rPr>
              <a:t> and has important one-way constraints: refinable attributes cannot be added by a later update, and a schema </a:t>
            </a:r>
            <a:r>
              <a:rPr sz="1250" b="1" i="0">
                <a:solidFill>
                  <a:srgbClr val="202020"/>
                </a:solidFill>
                <a:latin typeface="Calibri"/>
              </a:rPr>
              <a:t>cannot be deleted</a:t>
            </a:r>
            <a:r>
              <a:rPr sz="1250" b="0" i="0">
                <a:solidFill>
                  <a:srgbClr val="202020"/>
                </a:solidFill>
                <a:latin typeface="Calibri"/>
              </a:rPr>
              <a:t>. Because of this, changing the schema is a deliberate, planned act — not a routine tweak.</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4.4 The external item — one record, indexed</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An </a:t>
            </a:r>
            <a:r>
              <a:rPr sz="1250" b="1" i="0">
                <a:solidFill>
                  <a:srgbClr val="202020"/>
                </a:solidFill>
                <a:latin typeface="Calibri"/>
              </a:rPr>
              <a:t>external item</a:t>
            </a:r>
            <a:r>
              <a:rPr sz="1250" b="0" i="0">
                <a:solidFill>
                  <a:srgbClr val="202020"/>
                </a:solidFill>
                <a:latin typeface="Calibri"/>
              </a:rPr>
              <a:t> is one source record turned into the form Microsoft indexes. It has four parts:</a:t>
            </a:r>
          </a:p>
          <a:p>
            <a:pPr>
              <a:spcBef>
                <a:spcPts val="100"/>
              </a:spcBef>
              <a:spcAft>
                <a:spcPts val="200"/>
              </a:spcAft>
            </a:pPr>
            <a:r>
              <a:rPr sz="1250" b="1" i="0">
                <a:solidFill>
                  <a:srgbClr val="2E5496"/>
                </a:solidFill>
                <a:latin typeface="Calibri"/>
              </a:rPr>
              <a:t>•  </a:t>
            </a:r>
            <a:r>
              <a:rPr sz="1250" b="1" i="0">
                <a:solidFill>
                  <a:srgbClr val="202020"/>
                </a:solidFill>
                <a:latin typeface="Calibri"/>
              </a:rPr>
              <a:t>id</a:t>
            </a:r>
            <a:r>
              <a:rPr sz="1250" b="0" i="0">
                <a:solidFill>
                  <a:srgbClr val="202020"/>
                </a:solidFill>
                <a:latin typeface="Calibri"/>
              </a:rPr>
              <a:t> — a stable, unique identifier within the connection (the connector derives it from the source record's id, so updates and deletes target the same item every time).</a:t>
            </a:r>
          </a:p>
          <a:p>
            <a:pPr>
              <a:spcBef>
                <a:spcPts val="100"/>
              </a:spcBef>
              <a:spcAft>
                <a:spcPts val="200"/>
              </a:spcAft>
            </a:pPr>
            <a:r>
              <a:rPr sz="1250" b="1" i="0">
                <a:solidFill>
                  <a:srgbClr val="2E5496"/>
                </a:solidFill>
                <a:latin typeface="Calibri"/>
              </a:rPr>
              <a:t>•  </a:t>
            </a:r>
            <a:r>
              <a:rPr sz="1250" b="1" i="0">
                <a:solidFill>
                  <a:srgbClr val="202020"/>
                </a:solidFill>
                <a:latin typeface="Calibri"/>
              </a:rPr>
              <a:t>properties</a:t>
            </a:r>
            <a:r>
              <a:rPr sz="1250" b="0" i="0">
                <a:solidFill>
                  <a:srgbClr val="202020"/>
                </a:solidFill>
                <a:latin typeface="Calibri"/>
              </a:rPr>
              <a:t> — the typed fields declared by the schema (title, owner, status, dates, …).</a:t>
            </a:r>
          </a:p>
          <a:p>
            <a:pPr>
              <a:spcBef>
                <a:spcPts val="100"/>
              </a:spcBef>
              <a:spcAft>
                <a:spcPts val="200"/>
              </a:spcAft>
            </a:pPr>
            <a:r>
              <a:rPr sz="1250" b="1" i="0">
                <a:solidFill>
                  <a:srgbClr val="2E5496"/>
                </a:solidFill>
                <a:latin typeface="Calibri"/>
              </a:rPr>
              <a:t>•  </a:t>
            </a:r>
            <a:r>
              <a:rPr sz="1250" b="1" i="0">
                <a:solidFill>
                  <a:srgbClr val="202020"/>
                </a:solidFill>
                <a:latin typeface="Calibri"/>
              </a:rPr>
              <a:t>content</a:t>
            </a:r>
            <a:r>
              <a:rPr sz="1250" b="0" i="0">
                <a:solidFill>
                  <a:srgbClr val="202020"/>
                </a:solidFill>
                <a:latin typeface="Calibri"/>
              </a:rPr>
              <a:t> — the free-text body that full-text and semantic search read.</a:t>
            </a:r>
          </a:p>
          <a:p>
            <a:pPr>
              <a:spcBef>
                <a:spcPts val="100"/>
              </a:spcBef>
              <a:spcAft>
                <a:spcPts val="200"/>
              </a:spcAft>
            </a:pPr>
            <a:r>
              <a:rPr sz="1250" b="1" i="0">
                <a:solidFill>
                  <a:srgbClr val="2E5496"/>
                </a:solidFill>
                <a:latin typeface="Calibri"/>
              </a:rPr>
              <a:t>•  </a:t>
            </a:r>
            <a:r>
              <a:rPr sz="1250" b="1" i="0">
                <a:solidFill>
                  <a:srgbClr val="202020"/>
                </a:solidFill>
                <a:latin typeface="Calibri"/>
              </a:rPr>
              <a:t>ACL</a:t>
            </a:r>
            <a:r>
              <a:rPr sz="1250" b="0" i="0">
                <a:solidFill>
                  <a:srgbClr val="202020"/>
                </a:solidFill>
                <a:latin typeface="Calibri"/>
              </a:rPr>
              <a:t> — the access-control list: who may and may not see this item (section 5). This is what makes search results security-trimmed.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4.5 One source record becomes one external item</a:t>
            </a:r>
          </a:p>
        </p:txBody>
      </p:sp>
      <p:graphicFrame>
        <p:nvGraphicFramePr>
          <p:cNvPr id="5" name="Table 4"/>
          <p:cNvGraphicFramePr>
            <a:graphicFrameLocks noGrp="1"/>
          </p:cNvGraphicFramePr>
          <p:nvPr/>
        </p:nvGraphicFramePr>
        <p:xfrm>
          <a:off x="502920" y="1188720"/>
          <a:ext cx="11185855" cy="1920240"/>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Part of the external item</a:t>
                      </a:r>
                    </a:p>
                  </a:txBody>
                  <a:tcPr marT="25400" marB="25400">
                    <a:solidFill>
                      <a:srgbClr val="2E5496"/>
                    </a:solidFill>
                  </a:tcPr>
                </a:tc>
                <a:tc>
                  <a:txBody>
                    <a:bodyPr wrap="square"/>
                    <a:lstStyle/>
                    <a:p>
                      <a:r>
                        <a:rPr sz="1050" b="1" i="0">
                          <a:solidFill>
                            <a:srgbClr val="FFFFFF"/>
                          </a:solidFill>
                          <a:latin typeface="Calibri"/>
                        </a:rPr>
                        <a:t>Comes from</a:t>
                      </a:r>
                    </a:p>
                  </a:txBody>
                  <a:tcPr marT="25400" marB="25400">
                    <a:solidFill>
                      <a:srgbClr val="2E5496"/>
                    </a:solidFill>
                  </a:tcPr>
                </a:tc>
                <a:tc>
                  <a:txBody>
                    <a:bodyPr wrap="square"/>
                    <a:lstStyle/>
                    <a:p>
                      <a:r>
                        <a:rPr sz="1050" b="1" i="0">
                          <a:solidFill>
                            <a:srgbClr val="FFFFFF"/>
                          </a:solidFill>
                          <a:latin typeface="Calibri"/>
                        </a:rPr>
                        <a:t>Example (a Salesforce Account record)</a:t>
                      </a:r>
                    </a:p>
                  </a:txBody>
                  <a:tcPr marT="25400" marB="25400">
                    <a:solidFill>
                      <a:srgbClr val="2E5496"/>
                    </a:solidFill>
                  </a:tcPr>
                </a:tc>
              </a:tr>
              <a:tr h="384048">
                <a:tc>
                  <a:txBody>
                    <a:bodyPr wrap="square"/>
                    <a:lstStyle/>
                    <a:p>
                      <a:r>
                        <a:rPr sz="950" b="0" i="0">
                          <a:solidFill>
                            <a:srgbClr val="202020"/>
                          </a:solidFill>
                          <a:latin typeface="Calibri"/>
                        </a:rPr>
                        <a:t>id</a:t>
                      </a:r>
                    </a:p>
                  </a:txBody>
                  <a:tcPr marT="12700" marB="12700">
                    <a:solidFill>
                      <a:srgbClr val="FFFFFF"/>
                    </a:solidFill>
                  </a:tcPr>
                </a:tc>
                <a:tc>
                  <a:txBody>
                    <a:bodyPr wrap="square"/>
                    <a:lstStyle/>
                    <a:p>
                      <a:r>
                        <a:rPr sz="950" b="0" i="0">
                          <a:solidFill>
                            <a:srgbClr val="202020"/>
                          </a:solidFill>
                          <a:latin typeface="Calibri"/>
                        </a:rPr>
                        <a:t>The source record's stable id</a:t>
                      </a:r>
                    </a:p>
                  </a:txBody>
                  <a:tcPr marT="12700" marB="12700">
                    <a:solidFill>
                      <a:srgbClr val="FFFFFF"/>
                    </a:solidFill>
                  </a:tcPr>
                </a:tc>
                <a:tc>
                  <a:txBody>
                    <a:bodyPr wrap="square"/>
                    <a:lstStyle/>
                    <a:p>
                      <a:r>
                        <a:rPr sz="950" b="0" i="0">
                          <a:solidFill>
                            <a:srgbClr val="202020"/>
                          </a:solidFill>
                          <a:latin typeface="Calibri"/>
                        </a:rPr>
                        <a:t>The Salesforce record Id (15/18-char forms map to one item)</a:t>
                      </a:r>
                    </a:p>
                  </a:txBody>
                  <a:tcPr marT="12700" marB="12700">
                    <a:solidFill>
                      <a:srgbClr val="FFFFFF"/>
                    </a:solidFill>
                  </a:tcPr>
                </a:tc>
              </a:tr>
              <a:tr h="384048">
                <a:tc>
                  <a:txBody>
                    <a:bodyPr wrap="square"/>
                    <a:lstStyle/>
                    <a:p>
                      <a:r>
                        <a:rPr sz="950" b="0" i="0">
                          <a:solidFill>
                            <a:srgbClr val="202020"/>
                          </a:solidFill>
                          <a:latin typeface="Calibri"/>
                        </a:rPr>
                        <a:t>properties</a:t>
                      </a:r>
                    </a:p>
                  </a:txBody>
                  <a:tcPr marT="12700" marB="12700">
                    <a:solidFill>
                      <a:srgbClr val="F7F9FC"/>
                    </a:solidFill>
                  </a:tcPr>
                </a:tc>
                <a:tc>
                  <a:txBody>
                    <a:bodyPr wrap="square"/>
                    <a:lstStyle/>
                    <a:p>
                      <a:r>
                        <a:rPr sz="950" b="0" i="0">
                          <a:solidFill>
                            <a:srgbClr val="202020"/>
                          </a:solidFill>
                          <a:latin typeface="Calibri"/>
                        </a:rPr>
                        <a:t>Selected source fields, mapped to schema properties</a:t>
                      </a:r>
                    </a:p>
                  </a:txBody>
                  <a:tcPr marT="12700" marB="12700">
                    <a:solidFill>
                      <a:srgbClr val="F7F9FC"/>
                    </a:solidFill>
                  </a:tcPr>
                </a:tc>
                <a:tc>
                  <a:txBody>
                    <a:bodyPr wrap="square"/>
                    <a:lstStyle/>
                    <a:p>
                      <a:r>
                        <a:rPr sz="950" b="0" i="0">
                          <a:solidFill>
                            <a:srgbClr val="202020"/>
                          </a:solidFill>
                          <a:latin typeface="Calibri"/>
                        </a:rPr>
                        <a:t>Name, Industry, Owner, LastModified, Type</a:t>
                      </a:r>
                    </a:p>
                  </a:txBody>
                  <a:tcPr marT="12700" marB="12700">
                    <a:solidFill>
                      <a:srgbClr val="F7F9FC"/>
                    </a:solidFill>
                  </a:tcPr>
                </a:tc>
              </a:tr>
              <a:tr h="384048">
                <a:tc>
                  <a:txBody>
                    <a:bodyPr wrap="square"/>
                    <a:lstStyle/>
                    <a:p>
                      <a:r>
                        <a:rPr sz="950" b="0" i="0">
                          <a:solidFill>
                            <a:srgbClr val="202020"/>
                          </a:solidFill>
                          <a:latin typeface="Calibri"/>
                        </a:rPr>
                        <a:t>content</a:t>
                      </a:r>
                    </a:p>
                  </a:txBody>
                  <a:tcPr marT="12700" marB="12700">
                    <a:solidFill>
                      <a:srgbClr val="FFFFFF"/>
                    </a:solidFill>
                  </a:tcPr>
                </a:tc>
                <a:tc>
                  <a:txBody>
                    <a:bodyPr wrap="square"/>
                    <a:lstStyle/>
                    <a:p>
                      <a:r>
                        <a:rPr sz="950" b="0" i="0">
                          <a:solidFill>
                            <a:srgbClr val="202020"/>
                          </a:solidFill>
                          <a:latin typeface="Calibri"/>
                        </a:rPr>
                        <a:t>A text rendering of the record for full-text/semantic search</a:t>
                      </a:r>
                    </a:p>
                  </a:txBody>
                  <a:tcPr marT="12700" marB="12700">
                    <a:solidFill>
                      <a:srgbClr val="FFFFFF"/>
                    </a:solidFill>
                  </a:tcPr>
                </a:tc>
                <a:tc>
                  <a:txBody>
                    <a:bodyPr wrap="square"/>
                    <a:lstStyle/>
                    <a:p>
                      <a:r>
                        <a:rPr sz="950" b="0" i="0">
                          <a:solidFill>
                            <a:srgbClr val="202020"/>
                          </a:solidFill>
                          <a:latin typeface="Calibri"/>
                        </a:rPr>
                        <a:t>The account name, description and key fields as searchable text</a:t>
                      </a:r>
                    </a:p>
                  </a:txBody>
                  <a:tcPr marT="12700" marB="12700">
                    <a:solidFill>
                      <a:srgbClr val="FFFFFF"/>
                    </a:solidFill>
                  </a:tcPr>
                </a:tc>
              </a:tr>
              <a:tr h="384048">
                <a:tc>
                  <a:txBody>
                    <a:bodyPr wrap="square"/>
                    <a:lstStyle/>
                    <a:p>
                      <a:r>
                        <a:rPr sz="950" b="0" i="0">
                          <a:solidFill>
                            <a:srgbClr val="202020"/>
                          </a:solidFill>
                          <a:latin typeface="Calibri"/>
                        </a:rPr>
                        <a:t>ACL</a:t>
                      </a:r>
                    </a:p>
                  </a:txBody>
                  <a:tcPr marT="12700" marB="12700">
                    <a:solidFill>
                      <a:srgbClr val="F7F9FC"/>
                    </a:solidFill>
                  </a:tcPr>
                </a:tc>
                <a:tc>
                  <a:txBody>
                    <a:bodyPr wrap="square"/>
                    <a:lstStyle/>
                    <a:p>
                      <a:r>
                        <a:rPr sz="950" b="0" i="0">
                          <a:solidFill>
                            <a:srgbClr val="202020"/>
                          </a:solidFill>
                          <a:latin typeface="Calibri"/>
                        </a:rPr>
                        <a:t>The source permission model, translated to Entra principals</a:t>
                      </a:r>
                    </a:p>
                  </a:txBody>
                  <a:tcPr marT="12700" marB="12700">
                    <a:solidFill>
                      <a:srgbClr val="F7F9FC"/>
                    </a:solidFill>
                  </a:tcPr>
                </a:tc>
                <a:tc>
                  <a:txBody>
                    <a:bodyPr wrap="square"/>
                    <a:lstStyle/>
                    <a:p>
                      <a:r>
                        <a:rPr sz="950" b="0" i="0">
                          <a:solidFill>
                            <a:srgbClr val="202020"/>
                          </a:solidFill>
                          <a:latin typeface="Calibri"/>
                        </a:rPr>
                        <a:t>Grant: the owner, their role hierarchy, sharing rules, relevant groups</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4.6 Pushing items efficiently — $batch</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Pushing items one HTTP call at a time would be slow, so the connector uses Graph's </a:t>
            </a:r>
            <a:r>
              <a:rPr sz="1250" b="1" i="0">
                <a:solidFill>
                  <a:srgbClr val="202020"/>
                </a:solidFill>
                <a:latin typeface="Calibri"/>
              </a:rPr>
              <a:t>$batch</a:t>
            </a:r>
            <a:r>
              <a:rPr sz="1250" b="0" i="0">
                <a:solidFill>
                  <a:srgbClr val="202020"/>
                </a:solidFill>
                <a:latin typeface="Calibri"/>
              </a:rPr>
              <a:t> endpoint, which carries several sub-requests in one call. Graph caps a </a:t>
            </a:r>
            <a:r>
              <a:rPr sz="1200" b="0" i="0">
                <a:solidFill>
                  <a:srgbClr val="202020"/>
                </a:solidFill>
                <a:latin typeface="Consolas"/>
              </a:rPr>
              <a:t>$batch</a:t>
            </a:r>
            <a:r>
              <a:rPr sz="1250" b="0" i="0">
                <a:solidFill>
                  <a:srgbClr val="202020"/>
                </a:solidFill>
                <a:latin typeface="Calibri"/>
              </a:rPr>
              <a:t> at </a:t>
            </a:r>
            <a:r>
              <a:rPr sz="1250" b="1" i="0">
                <a:solidFill>
                  <a:srgbClr val="202020"/>
                </a:solidFill>
                <a:latin typeface="Calibri"/>
              </a:rPr>
              <a:t>20 sub-requests</a:t>
            </a:r>
            <a:r>
              <a:rPr sz="1250" b="0" i="0">
                <a:solidFill>
                  <a:srgbClr val="202020"/>
                </a:solidFill>
                <a:latin typeface="Calibri"/>
              </a:rPr>
              <a:t>, and — importantly — each sub-request still counts individually against throttling limits. So </a:t>
            </a:r>
            <a:r>
              <a:rPr sz="1200" b="0" i="0">
                <a:solidFill>
                  <a:srgbClr val="202020"/>
                </a:solidFill>
                <a:latin typeface="Consolas"/>
              </a:rPr>
              <a:t>$batch</a:t>
            </a:r>
            <a:r>
              <a:rPr sz="1250" b="0" i="0">
                <a:solidFill>
                  <a:srgbClr val="202020"/>
                </a:solidFill>
                <a:latin typeface="Calibri"/>
              </a:rPr>
              <a:t> reduces round-trips but does </a:t>
            </a:r>
            <a:r>
              <a:rPr sz="1250" b="1" i="0">
                <a:solidFill>
                  <a:srgbClr val="202020"/>
                </a:solidFill>
                <a:latin typeface="Calibri"/>
              </a:rPr>
              <a:t>not</a:t>
            </a:r>
            <a:r>
              <a:rPr sz="1250" b="0" i="0">
                <a:solidFill>
                  <a:srgbClr val="202020"/>
                </a:solidFill>
                <a:latin typeface="Calibri"/>
              </a:rPr>
              <a:t> raise how many items per second you may push. The connector sets </a:t>
            </a:r>
            <a:r>
              <a:rPr sz="1200" b="0" i="0">
                <a:solidFill>
                  <a:srgbClr val="202020"/>
                </a:solidFill>
                <a:latin typeface="Consolas"/>
              </a:rPr>
              <a:t>INGEST_GRAPH_BATCH_SIZE</a:t>
            </a:r>
            <a:r>
              <a:rPr sz="1250" b="0" i="0">
                <a:solidFill>
                  <a:srgbClr val="202020"/>
                </a:solidFill>
                <a:latin typeface="Calibri"/>
              </a:rPr>
              <a:t> (default 20, clamped to 20) and pushes many batches concurrently via adaptive concurrency (section 6.7).</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4.6 Pushing items efficiently — $batch</a:t>
            </a:r>
          </a:p>
        </p:txBody>
      </p:sp>
      <p:sp>
        <p:nvSpPr>
          <p:cNvPr id="5" name="Rectangle 4"/>
          <p:cNvSpPr/>
          <p:nvPr/>
        </p:nvSpPr>
        <p:spPr>
          <a:xfrm>
            <a:off x="502920" y="1463040"/>
            <a:ext cx="11185855" cy="3291840"/>
          </a:xfrm>
          <a:prstGeom prst="rect">
            <a:avLst/>
          </a:prstGeom>
          <a:solidFill>
            <a:srgbClr val="F0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6A3D9A"/>
                </a:solidFill>
                <a:latin typeface="Calibri"/>
              </a:rPr>
              <a:t>Information to request:  </a:t>
            </a:r>
            <a:r>
              <a:rPr sz="1400" b="1" i="0">
                <a:solidFill>
                  <a:srgbClr val="202020"/>
                </a:solidFill>
                <a:latin typeface="Calibri"/>
              </a:rPr>
              <a:t>Information to request: </a:t>
            </a:r>
            <a:r>
              <a:rPr sz="1400" b="0" i="0">
                <a:solidFill>
                  <a:srgbClr val="202020"/>
                </a:solidFill>
                <a:latin typeface="Calibri"/>
              </a:rPr>
              <a:t>You will need the </a:t>
            </a:r>
            <a:r>
              <a:rPr sz="1400" b="1" i="0">
                <a:solidFill>
                  <a:srgbClr val="202020"/>
                </a:solidFill>
                <a:latin typeface="Calibri"/>
              </a:rPr>
              <a:t>tenant ID</a:t>
            </a:r>
            <a:r>
              <a:rPr sz="1400" b="0" i="0">
                <a:solidFill>
                  <a:srgbClr val="202020"/>
                </a:solidFill>
                <a:latin typeface="Calibri"/>
              </a:rPr>
              <a:t> and an </a:t>
            </a:r>
            <a:r>
              <a:rPr sz="1400" b="1" i="0">
                <a:solidFill>
                  <a:srgbClr val="202020"/>
                </a:solidFill>
                <a:latin typeface="Calibri"/>
              </a:rPr>
              <a:t>app registration</a:t>
            </a:r>
            <a:r>
              <a:rPr sz="1400" b="0" i="0">
                <a:solidFill>
                  <a:srgbClr val="202020"/>
                </a:solidFill>
                <a:latin typeface="Calibri"/>
              </a:rPr>
              <a:t> with admin-consented Graph permissions before any of the above works. Request the Entra </a:t>
            </a:r>
            <a:r>
              <a:rPr sz="1400" b="1" i="0">
                <a:solidFill>
                  <a:srgbClr val="202020"/>
                </a:solidFill>
                <a:latin typeface="Calibri"/>
              </a:rPr>
              <a:t>tenant ID</a:t>
            </a:r>
            <a:r>
              <a:rPr sz="1400" b="0" i="0">
                <a:solidFill>
                  <a:srgbClr val="202020"/>
                </a:solidFill>
                <a:latin typeface="Calibri"/>
              </a:rPr>
              <a:t> and confirmation that an </a:t>
            </a:r>
            <a:r>
              <a:rPr sz="1400" b="1" i="0">
                <a:solidFill>
                  <a:srgbClr val="202020"/>
                </a:solidFill>
                <a:latin typeface="Calibri"/>
              </a:rPr>
              <a:t>app registration</a:t>
            </a:r>
            <a:r>
              <a:rPr sz="1400" b="0" i="0">
                <a:solidFill>
                  <a:srgbClr val="202020"/>
                </a:solidFill>
                <a:latin typeface="Calibri"/>
              </a:rPr>
              <a:t> exists (or ask for one to be created) from your </a:t>
            </a:r>
            <a:r>
              <a:rPr sz="1400" b="1" i="0">
                <a:solidFill>
                  <a:srgbClr val="202020"/>
                </a:solidFill>
                <a:latin typeface="Calibri"/>
              </a:rPr>
              <a:t>Entra ID / tenant administrator</a:t>
            </a:r>
            <a:r>
              <a:rPr sz="1400" b="0" i="0">
                <a:solidFill>
                  <a:srgbClr val="202020"/>
                </a:solidFill>
                <a:latin typeface="Calibri"/>
              </a:rPr>
              <a:t>. The exact permissions to request are listed in section 7.2.</a:t>
            </a:r>
          </a:p>
        </p:txBody>
      </p:sp>
      <p:sp>
        <p:nvSpPr>
          <p:cNvPr id="6" name="Rectangle 5"/>
          <p:cNvSpPr/>
          <p:nvPr/>
        </p:nvSpPr>
        <p:spPr>
          <a:xfrm>
            <a:off x="502920" y="1463040"/>
            <a:ext cx="128016" cy="3291840"/>
          </a:xfrm>
          <a:prstGeom prst="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Tenant &amp; Common Concepts</a:t>
            </a:r>
          </a:p>
          <a:p>
            <a:r>
              <a:rPr sz="3000" b="1" i="0">
                <a:solidFill>
                  <a:srgbClr val="1F3864"/>
                </a:solidFill>
                <a:latin typeface="Calibri"/>
              </a:rPr>
              <a:t>5. Identity and access</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 Identity and access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This is the security heart of the whole design. Every external item carries a permission list, and Copilot enforces it at query time. If this is wrong, the bank either leaks data (over-sharing) or hides data people need (under-sharing). Read this section carefully.</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5.1 Entra ID, tenants and principals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1" i="0">
                <a:solidFill>
                  <a:srgbClr val="202020"/>
                </a:solidFill>
                <a:latin typeface="Calibri"/>
              </a:rPr>
              <a:t>Microsoft Entra ID</a:t>
            </a:r>
            <a:r>
              <a:rPr sz="1250" b="0" i="0">
                <a:solidFill>
                  <a:srgbClr val="202020"/>
                </a:solidFill>
                <a:latin typeface="Calibri"/>
              </a:rPr>
              <a:t> (formerly Azure AD) is Microsoft 365's identity system — the directory of who's who. A </a:t>
            </a:r>
            <a:r>
              <a:rPr sz="1250" b="1" i="0">
                <a:solidFill>
                  <a:srgbClr val="202020"/>
                </a:solidFill>
                <a:latin typeface="Calibri"/>
              </a:rPr>
              <a:t>tenant</a:t>
            </a:r>
            <a:r>
              <a:rPr sz="1250" b="0" i="0">
                <a:solidFill>
                  <a:srgbClr val="202020"/>
                </a:solidFill>
                <a:latin typeface="Calibri"/>
              </a:rPr>
              <a:t> is your organisation's single instance of Microsoft 365 and its Entra directory; everything in this guide happens inside one tenant. A </a:t>
            </a:r>
            <a:r>
              <a:rPr sz="1250" b="1" i="0">
                <a:solidFill>
                  <a:srgbClr val="202020"/>
                </a:solidFill>
                <a:latin typeface="Calibri"/>
              </a:rPr>
              <a:t>principal</a:t>
            </a:r>
            <a:r>
              <a:rPr sz="1250" b="0" i="0">
                <a:solidFill>
                  <a:srgbClr val="202020"/>
                </a:solidFill>
                <a:latin typeface="Calibri"/>
              </a:rPr>
              <a:t> is any identity that can be granted access: a </a:t>
            </a:r>
            <a:r>
              <a:rPr sz="1250" b="1" i="0">
                <a:solidFill>
                  <a:srgbClr val="202020"/>
                </a:solidFill>
                <a:latin typeface="Calibri"/>
              </a:rPr>
              <a:t>user</a:t>
            </a:r>
            <a:r>
              <a:rPr sz="1250" b="0" i="0">
                <a:solidFill>
                  <a:srgbClr val="202020"/>
                </a:solidFill>
                <a:latin typeface="Calibri"/>
              </a:rPr>
              <a:t> or a </a:t>
            </a:r>
            <a:r>
              <a:rPr sz="1250" b="1" i="0">
                <a:solidFill>
                  <a:srgbClr val="202020"/>
                </a:solidFill>
                <a:latin typeface="Calibri"/>
              </a:rPr>
              <a:t>group</a:t>
            </a:r>
            <a:r>
              <a:rPr sz="1250" b="0" i="0">
                <a:solidFill>
                  <a:srgbClr val="202020"/>
                </a:solidFill>
                <a:latin typeface="Calibri"/>
              </a:rPr>
              <a:t>. Every principal has a stable </a:t>
            </a:r>
            <a:r>
              <a:rPr sz="1250" b="1" i="0">
                <a:solidFill>
                  <a:srgbClr val="202020"/>
                </a:solidFill>
                <a:latin typeface="Calibri"/>
              </a:rPr>
              <a:t>object id</a:t>
            </a:r>
            <a:r>
              <a:rPr sz="1250" b="0" i="0">
                <a:solidFill>
                  <a:srgbClr val="202020"/>
                </a:solidFill>
                <a:latin typeface="Calibri"/>
              </a:rPr>
              <a:t> (a GUID) in Entra.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5.2 The per-item ACL — grant and deny</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Every external item carries an </a:t>
            </a:r>
            <a:r>
              <a:rPr sz="1250" b="1" i="0">
                <a:solidFill>
                  <a:srgbClr val="202020"/>
                </a:solidFill>
                <a:latin typeface="Calibri"/>
              </a:rPr>
              <a:t>ACL</a:t>
            </a:r>
            <a:r>
              <a:rPr sz="1250" b="0" i="0">
                <a:solidFill>
                  <a:srgbClr val="202020"/>
                </a:solidFill>
                <a:latin typeface="Calibri"/>
              </a:rPr>
              <a:t> (access-control list): a set of entries, each of which </a:t>
            </a:r>
            <a:r>
              <a:rPr sz="1250" b="1" i="0">
                <a:solidFill>
                  <a:srgbClr val="202020"/>
                </a:solidFill>
                <a:latin typeface="Calibri"/>
              </a:rPr>
              <a:t>grants</a:t>
            </a:r>
            <a:r>
              <a:rPr sz="1250" b="0" i="0">
                <a:solidFill>
                  <a:srgbClr val="202020"/>
                </a:solidFill>
                <a:latin typeface="Calibri"/>
              </a:rPr>
              <a:t> or </a:t>
            </a:r>
            <a:r>
              <a:rPr sz="1250" b="1" i="0">
                <a:solidFill>
                  <a:srgbClr val="202020"/>
                </a:solidFill>
                <a:latin typeface="Calibri"/>
              </a:rPr>
              <a:t>denies</a:t>
            </a:r>
            <a:r>
              <a:rPr sz="1250" b="0" i="0">
                <a:solidFill>
                  <a:srgbClr val="202020"/>
                </a:solidFill>
                <a:latin typeface="Calibri"/>
              </a:rPr>
              <a:t> access to a principal (a user or a group). When Copilot considers an item for a given user, it evaluates the ACL: the user must be granted (directly or via a group they belong to) and must not be denied. This evaluation is </a:t>
            </a:r>
            <a:r>
              <a:rPr sz="1250" b="1" i="0">
                <a:solidFill>
                  <a:srgbClr val="202020"/>
                </a:solidFill>
                <a:latin typeface="Calibri"/>
              </a:rPr>
              <a:t>access trimming</a:t>
            </a:r>
            <a:r>
              <a:rPr sz="1250" b="0" i="0">
                <a:solidFill>
                  <a:srgbClr val="202020"/>
                </a:solidFill>
                <a:latin typeface="Calibri"/>
              </a:rPr>
              <a:t> — it happens at query time, on every result, for every user, automatically.</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5.2 The per-item ACL — grant and deny</a:t>
            </a:r>
          </a:p>
        </p:txBody>
      </p:sp>
      <p:graphicFrame>
        <p:nvGraphicFramePr>
          <p:cNvPr id="5" name="Table 4"/>
          <p:cNvGraphicFramePr>
            <a:graphicFrameLocks noGrp="1"/>
          </p:cNvGraphicFramePr>
          <p:nvPr/>
        </p:nvGraphicFramePr>
        <p:xfrm>
          <a:off x="502920" y="1188720"/>
          <a:ext cx="11185855" cy="1920240"/>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ACL concept</a:t>
                      </a:r>
                    </a:p>
                  </a:txBody>
                  <a:tcPr marT="25400" marB="25400">
                    <a:solidFill>
                      <a:srgbClr val="2E5496"/>
                    </a:solidFill>
                  </a:tcPr>
                </a:tc>
                <a:tc>
                  <a:txBody>
                    <a:bodyPr wrap="square"/>
                    <a:lstStyle/>
                    <a:p>
                      <a:r>
                        <a:rPr sz="1050" b="1" i="0">
                          <a:solidFill>
                            <a:srgbClr val="FFFFFF"/>
                          </a:solidFill>
                          <a:latin typeface="Calibri"/>
                        </a:rPr>
                        <a:t>Plain meaning</a:t>
                      </a:r>
                    </a:p>
                  </a:txBody>
                  <a:tcPr marT="25400" marB="25400">
                    <a:solidFill>
                      <a:srgbClr val="2E5496"/>
                    </a:solidFill>
                  </a:tcPr>
                </a:tc>
                <a:tc>
                  <a:txBody>
                    <a:bodyPr wrap="square"/>
                    <a:lstStyle/>
                    <a:p>
                      <a:r>
                        <a:rPr sz="1050" b="1" i="0">
                          <a:solidFill>
                            <a:srgbClr val="FFFFFF"/>
                          </a:solidFill>
                          <a:latin typeface="Calibri"/>
                        </a:rPr>
                        <a:t>Why it matters to you</a:t>
                      </a:r>
                    </a:p>
                  </a:txBody>
                  <a:tcPr marT="25400" marB="25400">
                    <a:solidFill>
                      <a:srgbClr val="2E5496"/>
                    </a:solidFill>
                  </a:tcPr>
                </a:tc>
              </a:tr>
              <a:tr h="384048">
                <a:tc>
                  <a:txBody>
                    <a:bodyPr wrap="square"/>
                    <a:lstStyle/>
                    <a:p>
                      <a:r>
                        <a:rPr sz="950" b="0" i="0">
                          <a:solidFill>
                            <a:srgbClr val="202020"/>
                          </a:solidFill>
                          <a:latin typeface="Calibri"/>
                        </a:rPr>
                        <a:t>Grant</a:t>
                      </a:r>
                    </a:p>
                  </a:txBody>
                  <a:tcPr marT="12700" marB="12700">
                    <a:solidFill>
                      <a:srgbClr val="FFFFFF"/>
                    </a:solidFill>
                  </a:tcPr>
                </a:tc>
                <a:tc>
                  <a:txBody>
                    <a:bodyPr wrap="square"/>
                    <a:lstStyle/>
                    <a:p>
                      <a:r>
                        <a:rPr sz="950" b="0" i="0">
                          <a:solidFill>
                            <a:srgbClr val="202020"/>
                          </a:solidFill>
                          <a:latin typeface="Calibri"/>
                        </a:rPr>
                        <a:t>This principal may see the item</a:t>
                      </a:r>
                    </a:p>
                  </a:txBody>
                  <a:tcPr marT="12700" marB="12700">
                    <a:solidFill>
                      <a:srgbClr val="FFFFFF"/>
                    </a:solidFill>
                  </a:tcPr>
                </a:tc>
                <a:tc>
                  <a:txBody>
                    <a:bodyPr wrap="square"/>
                    <a:lstStyle/>
                    <a:p>
                      <a:r>
                        <a:rPr sz="950" b="0" i="0">
                          <a:solidFill>
                            <a:srgbClr val="202020"/>
                          </a:solidFill>
                          <a:latin typeface="Calibri"/>
                        </a:rPr>
                        <a:t>The positive permission; most ACL entries are grants</a:t>
                      </a:r>
                    </a:p>
                  </a:txBody>
                  <a:tcPr marT="12700" marB="12700">
                    <a:solidFill>
                      <a:srgbClr val="FFFFFF"/>
                    </a:solidFill>
                  </a:tcPr>
                </a:tc>
              </a:tr>
              <a:tr h="384048">
                <a:tc>
                  <a:txBody>
                    <a:bodyPr wrap="square"/>
                    <a:lstStyle/>
                    <a:p>
                      <a:r>
                        <a:rPr sz="950" b="0" i="0">
                          <a:solidFill>
                            <a:srgbClr val="202020"/>
                          </a:solidFill>
                          <a:latin typeface="Calibri"/>
                        </a:rPr>
                        <a:t>Deny</a:t>
                      </a:r>
                    </a:p>
                  </a:txBody>
                  <a:tcPr marT="12700" marB="12700">
                    <a:solidFill>
                      <a:srgbClr val="F7F9FC"/>
                    </a:solidFill>
                  </a:tcPr>
                </a:tc>
                <a:tc>
                  <a:txBody>
                    <a:bodyPr wrap="square"/>
                    <a:lstStyle/>
                    <a:p>
                      <a:r>
                        <a:rPr sz="950" b="0" i="0">
                          <a:solidFill>
                            <a:srgbClr val="202020"/>
                          </a:solidFill>
                          <a:latin typeface="Calibri"/>
                        </a:rPr>
                        <a:t>This principal may not see the item, even if otherwise granted</a:t>
                      </a:r>
                    </a:p>
                  </a:txBody>
                  <a:tcPr marT="12700" marB="12700">
                    <a:solidFill>
                      <a:srgbClr val="F7F9FC"/>
                    </a:solidFill>
                  </a:tcPr>
                </a:tc>
                <a:tc>
                  <a:txBody>
                    <a:bodyPr wrap="square"/>
                    <a:lstStyle/>
                    <a:p>
                      <a:r>
                        <a:rPr sz="950" b="0" i="0">
                          <a:solidFill>
                            <a:srgbClr val="202020"/>
                          </a:solidFill>
                          <a:latin typeface="Calibri"/>
                        </a:rPr>
                        <a:t>Deny wins over grant — used to carve exceptions out of a broad grant</a:t>
                      </a:r>
                    </a:p>
                  </a:txBody>
                  <a:tcPr marT="12700" marB="12700">
                    <a:solidFill>
                      <a:srgbClr val="F7F9FC"/>
                    </a:solidFill>
                  </a:tcPr>
                </a:tc>
              </a:tr>
              <a:tr h="384048">
                <a:tc>
                  <a:txBody>
                    <a:bodyPr wrap="square"/>
                    <a:lstStyle/>
                    <a:p>
                      <a:r>
                        <a:rPr sz="950" b="0" i="0">
                          <a:solidFill>
                            <a:srgbClr val="202020"/>
                          </a:solidFill>
                          <a:latin typeface="Calibri"/>
                        </a:rPr>
                        <a:t>Access trimming</a:t>
                      </a:r>
                    </a:p>
                  </a:txBody>
                  <a:tcPr marT="12700" marB="12700">
                    <a:solidFill>
                      <a:srgbClr val="FFFFFF"/>
                    </a:solidFill>
                  </a:tcPr>
                </a:tc>
                <a:tc>
                  <a:txBody>
                    <a:bodyPr wrap="square"/>
                    <a:lstStyle/>
                    <a:p>
                      <a:r>
                        <a:rPr sz="950" b="0" i="0">
                          <a:solidFill>
                            <a:srgbClr val="202020"/>
                          </a:solidFill>
                          <a:latin typeface="Calibri"/>
                        </a:rPr>
                        <a:t>Results filtered per user at query time</a:t>
                      </a:r>
                    </a:p>
                  </a:txBody>
                  <a:tcPr marT="12700" marB="12700">
                    <a:solidFill>
                      <a:srgbClr val="FFFFFF"/>
                    </a:solidFill>
                  </a:tcPr>
                </a:tc>
                <a:tc>
                  <a:txBody>
                    <a:bodyPr wrap="square"/>
                    <a:lstStyle/>
                    <a:p>
                      <a:r>
                        <a:rPr sz="950" b="0" i="0">
                          <a:solidFill>
                            <a:srgbClr val="202020"/>
                          </a:solidFill>
                          <a:latin typeface="Calibri"/>
                        </a:rPr>
                        <a:t>You never filter results yourself; Copilot does it from the ACL</a:t>
                      </a:r>
                    </a:p>
                  </a:txBody>
                  <a:tcPr marT="12700" marB="12700">
                    <a:solidFill>
                      <a:srgbClr val="FFFFFF"/>
                    </a:solidFill>
                  </a:tcPr>
                </a:tc>
              </a:tr>
              <a:tr h="384048">
                <a:tc>
                  <a:txBody>
                    <a:bodyPr wrap="square"/>
                    <a:lstStyle/>
                    <a:p>
                      <a:r>
                        <a:rPr sz="950" b="0" i="0">
                          <a:solidFill>
                            <a:srgbClr val="202020"/>
                          </a:solidFill>
                          <a:latin typeface="Calibri"/>
                        </a:rPr>
                        <a:t>Principal</a:t>
                      </a:r>
                    </a:p>
                  </a:txBody>
                  <a:tcPr marT="12700" marB="12700">
                    <a:solidFill>
                      <a:srgbClr val="F7F9FC"/>
                    </a:solidFill>
                  </a:tcPr>
                </a:tc>
                <a:tc>
                  <a:txBody>
                    <a:bodyPr wrap="square"/>
                    <a:lstStyle/>
                    <a:p>
                      <a:r>
                        <a:rPr sz="950" b="0" i="0">
                          <a:solidFill>
                            <a:srgbClr val="202020"/>
                          </a:solidFill>
                          <a:latin typeface="Calibri"/>
                        </a:rPr>
                        <a:t>A user or group the ACL refers to (by Entra object id)</a:t>
                      </a:r>
                    </a:p>
                  </a:txBody>
                  <a:tcPr marT="12700" marB="12700">
                    <a:solidFill>
                      <a:srgbClr val="F7F9FC"/>
                    </a:solidFill>
                  </a:tcPr>
                </a:tc>
                <a:tc>
                  <a:txBody>
                    <a:bodyPr wrap="square"/>
                    <a:lstStyle/>
                    <a:p>
                      <a:r>
                        <a:rPr sz="950" b="0" i="0">
                          <a:solidFill>
                            <a:srgbClr val="202020"/>
                          </a:solidFill>
                          <a:latin typeface="Calibri"/>
                        </a:rPr>
                        <a:t>Source permissions must be expressed as Entra principals to work</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5.3 Why source permissions must be translated to Entra principals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source systems have their own idea of "who": a Salesforce user, a Salesforce role or public group; a Clarizen group; a Seismic user; an Altrata seat. Copilot does not know any of those. It only understands </a:t>
            </a:r>
            <a:r>
              <a:rPr sz="1250" b="1" i="0">
                <a:solidFill>
                  <a:srgbClr val="202020"/>
                </a:solidFill>
                <a:latin typeface="Calibri"/>
              </a:rPr>
              <a:t>Entra</a:t>
            </a:r>
            <a:r>
              <a:rPr sz="1250" b="0" i="0">
                <a:solidFill>
                  <a:srgbClr val="202020"/>
                </a:solidFill>
                <a:latin typeface="Calibri"/>
              </a:rPr>
              <a:t> users and groups. So every connector runs an </a:t>
            </a:r>
            <a:r>
              <a:rPr sz="1250" b="1" i="0">
                <a:solidFill>
                  <a:srgbClr val="202020"/>
                </a:solidFill>
                <a:latin typeface="Calibri"/>
              </a:rPr>
              <a:t>identity step</a:t>
            </a:r>
            <a:r>
              <a:rPr sz="1250" b="0" i="0">
                <a:solidFill>
                  <a:srgbClr val="202020"/>
                </a:solidFill>
                <a:latin typeface="Calibri"/>
              </a:rPr>
              <a:t> that maps source principals to Entra principals:</a:t>
            </a:r>
          </a:p>
          <a:p>
            <a:pPr>
              <a:spcBef>
                <a:spcPts val="100"/>
              </a:spcBef>
              <a:spcAft>
                <a:spcPts val="200"/>
              </a:spcAft>
            </a:pPr>
            <a:r>
              <a:rPr sz="1250" b="1" i="0">
                <a:solidFill>
                  <a:srgbClr val="2E5496"/>
                </a:solidFill>
                <a:latin typeface="Calibri"/>
              </a:rPr>
              <a:t>•  </a:t>
            </a:r>
            <a:r>
              <a:rPr sz="1250" b="0" i="0">
                <a:solidFill>
                  <a:srgbClr val="202020"/>
                </a:solidFill>
                <a:latin typeface="Calibri"/>
              </a:rPr>
              <a:t>A source </a:t>
            </a:r>
            <a:r>
              <a:rPr sz="1250" b="1" i="0">
                <a:solidFill>
                  <a:srgbClr val="202020"/>
                </a:solidFill>
                <a:latin typeface="Calibri"/>
              </a:rPr>
              <a:t>user</a:t>
            </a:r>
            <a:r>
              <a:rPr sz="1250" b="0" i="0">
                <a:solidFill>
                  <a:srgbClr val="202020"/>
                </a:solidFill>
                <a:latin typeface="Calibri"/>
              </a:rPr>
              <a:t> is matched to an Entra </a:t>
            </a:r>
            <a:r>
              <a:rPr sz="1250" b="1" i="0">
                <a:solidFill>
                  <a:srgbClr val="202020"/>
                </a:solidFill>
                <a:latin typeface="Calibri"/>
              </a:rPr>
              <a:t>user</a:t>
            </a:r>
            <a:r>
              <a:rPr sz="1250" b="0" i="0">
                <a:solidFill>
                  <a:srgbClr val="202020"/>
                </a:solidFill>
                <a:latin typeface="Calibri"/>
              </a:rPr>
              <a:t> — usually by email address or user principal name (UPN), resolved to the Entra object id.</a:t>
            </a:r>
          </a:p>
          <a:p>
            <a:pPr>
              <a:spcBef>
                <a:spcPts val="100"/>
              </a:spcBef>
              <a:spcAft>
                <a:spcPts val="200"/>
              </a:spcAft>
            </a:pPr>
            <a:r>
              <a:rPr sz="1250" b="1" i="0">
                <a:solidFill>
                  <a:srgbClr val="2E5496"/>
                </a:solidFill>
                <a:latin typeface="Calibri"/>
              </a:rPr>
              <a:t>•  </a:t>
            </a:r>
            <a:r>
              <a:rPr sz="1250" b="0" i="0">
                <a:solidFill>
                  <a:srgbClr val="202020"/>
                </a:solidFill>
                <a:latin typeface="Calibri"/>
              </a:rPr>
              <a:t>A source </a:t>
            </a:r>
            <a:r>
              <a:rPr sz="1250" b="1" i="0">
                <a:solidFill>
                  <a:srgbClr val="202020"/>
                </a:solidFill>
                <a:latin typeface="Calibri"/>
              </a:rPr>
              <a:t>group / role / team / queue / territory</a:t>
            </a:r>
            <a:r>
              <a:rPr sz="1250" b="0" i="0">
                <a:solidFill>
                  <a:srgbClr val="202020"/>
                </a:solidFill>
                <a:latin typeface="Calibri"/>
              </a:rPr>
              <a:t> is published as an </a:t>
            </a:r>
            <a:r>
              <a:rPr sz="1250" b="1" i="0">
                <a:solidFill>
                  <a:srgbClr val="202020"/>
                </a:solidFill>
                <a:latin typeface="Calibri"/>
              </a:rPr>
              <a:t>external group</a:t>
            </a:r>
            <a:r>
              <a:rPr sz="1250" b="0" i="0">
                <a:solidFill>
                  <a:srgbClr val="202020"/>
                </a:solidFill>
                <a:latin typeface="Calibri"/>
              </a:rPr>
              <a:t> (a group the connector maintains inside its own connection) whose members are the mapped Entra users. The item's ACL then grants that external group.</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5.3 Why source permissions must be translated to Entra principals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This is why the connectors need the Graph permission </a:t>
            </a:r>
            <a:r>
              <a:rPr sz="1200" b="0" i="0">
                <a:solidFill>
                  <a:srgbClr val="202020"/>
                </a:solidFill>
                <a:latin typeface="Consolas"/>
              </a:rPr>
              <a:t>User.Read.All</a:t>
            </a:r>
            <a:r>
              <a:rPr sz="1250" b="0" i="0">
                <a:solidFill>
                  <a:srgbClr val="202020"/>
                </a:solidFill>
                <a:latin typeface="Calibri"/>
              </a:rPr>
              <a:t> (to look users up in the directory) in addition to the connection/item permissions. It is also why an identity crawl runs before content on a full deployment: the groups an item's ACL references must exist before the item is pushed.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5.3 Why source permissions must be translated to Entra principals</a:t>
            </a:r>
          </a:p>
        </p:txBody>
      </p:sp>
      <p:sp>
        <p:nvSpPr>
          <p:cNvPr id="5" name="Rectangle 4"/>
          <p:cNvSpPr/>
          <p:nvPr/>
        </p:nvSpPr>
        <p:spPr>
          <a:xfrm>
            <a:off x="502920" y="1463040"/>
            <a:ext cx="11185855" cy="3291840"/>
          </a:xfrm>
          <a:prstGeom prst="rect">
            <a:avLst/>
          </a:prstGeom>
          <a:solidFill>
            <a:srgbClr val="F0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6A3D9A"/>
                </a:solidFill>
                <a:latin typeface="Calibri"/>
              </a:rPr>
              <a:t>Information to request:  </a:t>
            </a:r>
            <a:r>
              <a:rPr sz="1400" b="1" i="0">
                <a:solidFill>
                  <a:srgbClr val="202020"/>
                </a:solidFill>
                <a:latin typeface="Calibri"/>
              </a:rPr>
              <a:t>Information to request: </a:t>
            </a:r>
            <a:r>
              <a:rPr sz="1400" b="0" i="0">
                <a:solidFill>
                  <a:srgbClr val="202020"/>
                </a:solidFill>
                <a:latin typeface="Calibri"/>
              </a:rPr>
              <a:t>You must know, per connector, </a:t>
            </a:r>
            <a:r>
              <a:rPr sz="1400" b="1" i="0">
                <a:solidFill>
                  <a:srgbClr val="202020"/>
                </a:solidFill>
                <a:latin typeface="Calibri"/>
              </a:rPr>
              <a:t>how source users correspond to Entra users</a:t>
            </a:r>
            <a:r>
              <a:rPr sz="1400" b="0" i="0">
                <a:solidFill>
                  <a:srgbClr val="202020"/>
                </a:solidFill>
                <a:latin typeface="Calibri"/>
              </a:rPr>
              <a:t> (is it email? UPN? a lookup table?) and </a:t>
            </a:r>
            <a:r>
              <a:rPr sz="1400" b="1" i="0">
                <a:solidFill>
                  <a:srgbClr val="202020"/>
                </a:solidFill>
                <a:latin typeface="Calibri"/>
              </a:rPr>
              <a:t>which Entra group object ids</a:t>
            </a:r>
            <a:r>
              <a:rPr sz="1400" b="0" i="0">
                <a:solidFill>
                  <a:srgbClr val="202020"/>
                </a:solidFill>
                <a:latin typeface="Calibri"/>
              </a:rPr>
              <a:t> stand in for which source groups. Request the mapping rule and the Entra </a:t>
            </a:r>
            <a:r>
              <a:rPr sz="1400" b="1" i="0">
                <a:solidFill>
                  <a:srgbClr val="202020"/>
                </a:solidFill>
                <a:latin typeface="Calibri"/>
              </a:rPr>
              <a:t>group object ids</a:t>
            </a:r>
            <a:r>
              <a:rPr sz="1400" b="0" i="0">
                <a:solidFill>
                  <a:srgbClr val="202020"/>
                </a:solidFill>
                <a:latin typeface="Calibri"/>
              </a:rPr>
              <a:t> from the </a:t>
            </a:r>
            <a:r>
              <a:rPr sz="1400" b="1" i="0">
                <a:solidFill>
                  <a:srgbClr val="202020"/>
                </a:solidFill>
                <a:latin typeface="Calibri"/>
              </a:rPr>
              <a:t>source-system administrator</a:t>
            </a:r>
            <a:r>
              <a:rPr sz="1400" b="0" i="0">
                <a:solidFill>
                  <a:srgbClr val="202020"/>
                </a:solidFill>
                <a:latin typeface="Calibri"/>
              </a:rPr>
              <a:t> (who knows the source principals) together with your </a:t>
            </a:r>
            <a:r>
              <a:rPr sz="1400" b="1" i="0">
                <a:solidFill>
                  <a:srgbClr val="202020"/>
                </a:solidFill>
                <a:latin typeface="Calibri"/>
              </a:rPr>
              <a:t>Entra ID administrator</a:t>
            </a:r>
            <a:r>
              <a:rPr sz="1400" b="0" i="0">
                <a:solidFill>
                  <a:srgbClr val="202020"/>
                </a:solidFill>
                <a:latin typeface="Calibri"/>
              </a:rPr>
              <a:t> (who owns the directory objects). The per-connector guide lists the exact mapping settings for that source.</a:t>
            </a:r>
          </a:p>
        </p:txBody>
      </p:sp>
      <p:sp>
        <p:nvSpPr>
          <p:cNvPr id="6" name="Rectangle 5"/>
          <p:cNvSpPr/>
          <p:nvPr/>
        </p:nvSpPr>
        <p:spPr>
          <a:xfrm>
            <a:off x="502920" y="1463040"/>
            <a:ext cx="128016" cy="3291840"/>
          </a:xfrm>
          <a:prstGeom prst="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5.4 Over-sharing versus under-sharing</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Two failure directions, both serious in a bank:</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5.4 Over-sharing versus under-sharing</a:t>
            </a:r>
          </a:p>
        </p:txBody>
      </p:sp>
      <p:graphicFrame>
        <p:nvGraphicFramePr>
          <p:cNvPr id="5" name="Table 4"/>
          <p:cNvGraphicFramePr>
            <a:graphicFrameLocks noGrp="1"/>
          </p:cNvGraphicFramePr>
          <p:nvPr/>
        </p:nvGraphicFramePr>
        <p:xfrm>
          <a:off x="502920" y="1188720"/>
          <a:ext cx="11185855" cy="1152144"/>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Failure</a:t>
                      </a:r>
                    </a:p>
                  </a:txBody>
                  <a:tcPr marT="25400" marB="25400">
                    <a:solidFill>
                      <a:srgbClr val="2E5496"/>
                    </a:solidFill>
                  </a:tcPr>
                </a:tc>
                <a:tc>
                  <a:txBody>
                    <a:bodyPr wrap="square"/>
                    <a:lstStyle/>
                    <a:p>
                      <a:r>
                        <a:rPr sz="1050" b="1" i="0">
                          <a:solidFill>
                            <a:srgbClr val="FFFFFF"/>
                          </a:solidFill>
                          <a:latin typeface="Calibri"/>
                        </a:rPr>
                        <a:t>What it means</a:t>
                      </a:r>
                    </a:p>
                  </a:txBody>
                  <a:tcPr marT="25400" marB="25400">
                    <a:solidFill>
                      <a:srgbClr val="2E5496"/>
                    </a:solidFill>
                  </a:tcPr>
                </a:tc>
                <a:tc>
                  <a:txBody>
                    <a:bodyPr wrap="square"/>
                    <a:lstStyle/>
                    <a:p>
                      <a:r>
                        <a:rPr sz="1050" b="1" i="0">
                          <a:solidFill>
                            <a:srgbClr val="FFFFFF"/>
                          </a:solidFill>
                          <a:latin typeface="Calibri"/>
                        </a:rPr>
                        <a:t>How the design guards against it</a:t>
                      </a:r>
                    </a:p>
                  </a:txBody>
                  <a:tcPr marT="25400" marB="25400">
                    <a:solidFill>
                      <a:srgbClr val="2E5496"/>
                    </a:solidFill>
                  </a:tcPr>
                </a:tc>
              </a:tr>
              <a:tr h="384048">
                <a:tc>
                  <a:txBody>
                    <a:bodyPr wrap="square"/>
                    <a:lstStyle/>
                    <a:p>
                      <a:r>
                        <a:rPr sz="950" b="0" i="0">
                          <a:solidFill>
                            <a:srgbClr val="202020"/>
                          </a:solidFill>
                          <a:latin typeface="Calibri"/>
                        </a:rPr>
                        <a:t>Over-sharing</a:t>
                      </a:r>
                    </a:p>
                  </a:txBody>
                  <a:tcPr marT="12700" marB="12700">
                    <a:solidFill>
                      <a:srgbClr val="FFFFFF"/>
                    </a:solidFill>
                  </a:tcPr>
                </a:tc>
                <a:tc>
                  <a:txBody>
                    <a:bodyPr wrap="square"/>
                    <a:lstStyle/>
                    <a:p>
                      <a:r>
                        <a:rPr sz="950" b="0" i="0">
                          <a:solidFill>
                            <a:srgbClr val="202020"/>
                          </a:solidFill>
                          <a:latin typeface="Calibri"/>
                        </a:rPr>
                        <a:t>An item is visible to people who should not see it (a leak)</a:t>
                      </a:r>
                    </a:p>
                  </a:txBody>
                  <a:tcPr marT="12700" marB="12700">
                    <a:solidFill>
                      <a:srgbClr val="FFFFFF"/>
                    </a:solidFill>
                  </a:tcPr>
                </a:tc>
                <a:tc>
                  <a:txBody>
                    <a:bodyPr wrap="square"/>
                    <a:lstStyle/>
                    <a:p>
                      <a:r>
                        <a:rPr sz="950" b="0" i="0">
                          <a:solidFill>
                            <a:srgbClr val="202020"/>
                          </a:solidFill>
                          <a:latin typeface="Calibri"/>
                        </a:rPr>
                        <a:t>ACLs mirror the source model exactly; a record that resolves to zero principals is skipped, never made world-readable by accident; some connectors add a deny-by-default fallback group setting</a:t>
                      </a:r>
                    </a:p>
                  </a:txBody>
                  <a:tcPr marT="12700" marB="12700">
                    <a:solidFill>
                      <a:srgbClr val="FFFFFF"/>
                    </a:solidFill>
                  </a:tcPr>
                </a:tc>
              </a:tr>
              <a:tr h="384048">
                <a:tc>
                  <a:txBody>
                    <a:bodyPr wrap="square"/>
                    <a:lstStyle/>
                    <a:p>
                      <a:r>
                        <a:rPr sz="950" b="0" i="0">
                          <a:solidFill>
                            <a:srgbClr val="202020"/>
                          </a:solidFill>
                          <a:latin typeface="Calibri"/>
                        </a:rPr>
                        <a:t>Under-sharing</a:t>
                      </a:r>
                    </a:p>
                  </a:txBody>
                  <a:tcPr marT="12700" marB="12700">
                    <a:solidFill>
                      <a:srgbClr val="F7F9FC"/>
                    </a:solidFill>
                  </a:tcPr>
                </a:tc>
                <a:tc>
                  <a:txBody>
                    <a:bodyPr wrap="square"/>
                    <a:lstStyle/>
                    <a:p>
                      <a:r>
                        <a:rPr sz="950" b="0" i="0">
                          <a:solidFill>
                            <a:srgbClr val="202020"/>
                          </a:solidFill>
                          <a:latin typeface="Calibri"/>
                        </a:rPr>
                        <a:t>An item is hidden from people who should see it (a support ticket, not a leak)</a:t>
                      </a:r>
                    </a:p>
                  </a:txBody>
                  <a:tcPr marT="12700" marB="12700">
                    <a:solidFill>
                      <a:srgbClr val="F7F9FC"/>
                    </a:solidFill>
                  </a:tcPr>
                </a:tc>
                <a:tc>
                  <a:txBody>
                    <a:bodyPr wrap="square"/>
                    <a:lstStyle/>
                    <a:p>
                      <a:r>
                        <a:rPr sz="950" b="0" i="0">
                          <a:solidFill>
                            <a:srgbClr val="202020"/>
                          </a:solidFill>
                          <a:latin typeface="Calibri"/>
                        </a:rPr>
                        <a:t>Group expansion, role hierarchy and parent-inheritance are followed so grants are complete; unmapped groups are expanded to their member users rather than dropped</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5.4 Over-sharing versus under-sharing</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guiding rule the connectors follow is </a:t>
            </a:r>
            <a:r>
              <a:rPr sz="1250" b="1" i="0">
                <a:solidFill>
                  <a:srgbClr val="202020"/>
                </a:solidFill>
                <a:latin typeface="Calibri"/>
              </a:rPr>
              <a:t>fail closed</a:t>
            </a:r>
            <a:r>
              <a:rPr sz="1250" b="0" i="0">
                <a:solidFill>
                  <a:srgbClr val="202020"/>
                </a:solidFill>
                <a:latin typeface="Calibri"/>
              </a:rPr>
              <a:t>: when access cannot be resolved, the safe outcome is to withhold the item, not to expose it. As an operator, treat any change that would broaden access as a security change, and any report of "I can't find a record I own" as a possible under-sharing (identity mapping) issue — start from the identity step.</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5.5 The identity step in practice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0" i="0">
                <a:solidFill>
                  <a:srgbClr val="202020"/>
                </a:solidFill>
                <a:latin typeface="Calibri"/>
              </a:rPr>
              <a:t>It runs as a </a:t>
            </a:r>
            <a:r>
              <a:rPr sz="1250" b="1" i="0">
                <a:solidFill>
                  <a:srgbClr val="202020"/>
                </a:solidFill>
                <a:latin typeface="Calibri"/>
              </a:rPr>
              <a:t>full</a:t>
            </a:r>
            <a:r>
              <a:rPr sz="1250" b="0" i="0">
                <a:solidFill>
                  <a:srgbClr val="202020"/>
                </a:solidFill>
                <a:latin typeface="Calibri"/>
              </a:rPr>
              <a:t> crawl on full cycles; by default it is skipped on incremental cycles unless </a:t>
            </a:r>
            <a:r>
              <a:rPr sz="1200" b="0" i="0">
                <a:solidFill>
                  <a:srgbClr val="202020"/>
                </a:solidFill>
                <a:latin typeface="Consolas"/>
              </a:rPr>
              <a:t>IDENTITY_SYNC_ON_INCREMENTAL=true</a:t>
            </a:r>
            <a:r>
              <a:rPr sz="1250" b="0" i="0">
                <a:solidFill>
                  <a:srgbClr val="202020"/>
                </a:solidFill>
                <a:latin typeface="Calibri"/>
              </a:rPr>
              <a:t>.</a:t>
            </a:r>
          </a:p>
          <a:p>
            <a:pPr>
              <a:spcBef>
                <a:spcPts val="100"/>
              </a:spcBef>
              <a:spcAft>
                <a:spcPts val="200"/>
              </a:spcAft>
            </a:pPr>
            <a:r>
              <a:rPr sz="1250" b="1" i="0">
                <a:solidFill>
                  <a:srgbClr val="2E5496"/>
                </a:solidFill>
                <a:latin typeface="Calibri"/>
              </a:rPr>
              <a:t>•  </a:t>
            </a:r>
            <a:r>
              <a:rPr sz="1200" b="0" i="0">
                <a:solidFill>
                  <a:srgbClr val="202020"/>
                </a:solidFill>
                <a:latin typeface="Consolas"/>
              </a:rPr>
              <a:t>identity-dry-run</a:t>
            </a:r>
            <a:r>
              <a:rPr sz="1250" b="0" i="0">
                <a:solidFill>
                  <a:srgbClr val="202020"/>
                </a:solidFill>
                <a:latin typeface="Calibri"/>
              </a:rPr>
              <a:t> previews the mapping without calling Graph — use it to sanity-check the source-to-Entra mapping before a first deployment.</a:t>
            </a:r>
          </a:p>
          <a:p>
            <a:pPr>
              <a:spcBef>
                <a:spcPts val="100"/>
              </a:spcBef>
              <a:spcAft>
                <a:spcPts val="200"/>
              </a:spcAft>
            </a:pPr>
            <a:r>
              <a:rPr sz="1250" b="1" i="0">
                <a:solidFill>
                  <a:srgbClr val="2E5496"/>
                </a:solidFill>
                <a:latin typeface="Calibri"/>
              </a:rPr>
              <a:t>•  </a:t>
            </a:r>
            <a:r>
              <a:rPr sz="1250" b="0" i="0">
                <a:solidFill>
                  <a:srgbClr val="202020"/>
                </a:solidFill>
                <a:latin typeface="Calibri"/>
              </a:rPr>
              <a:t>Group memberships are followed safely: cyclic group memberships (A in B in A) terminate rather than loop, and nested groups are expanded fully so grants are complete.</a:t>
            </a:r>
          </a:p>
          <a:p>
            <a:pPr>
              <a:spcBef>
                <a:spcPts val="100"/>
              </a:spcBef>
              <a:spcAft>
                <a:spcPts val="200"/>
              </a:spcAft>
            </a:pPr>
            <a:r>
              <a:rPr sz="1250" b="1" i="0">
                <a:solidFill>
                  <a:srgbClr val="2E5496"/>
                </a:solidFill>
                <a:latin typeface="Calibri"/>
              </a:rPr>
              <a:t>•  </a:t>
            </a:r>
            <a:r>
              <a:rPr sz="1250" b="0" i="0">
                <a:solidFill>
                  <a:srgbClr val="202020"/>
                </a:solidFill>
                <a:latin typeface="Calibri"/>
              </a:rPr>
              <a:t>The identity store (the connector's record of these mappings) contains directory data (emails, UPNs, object ids) but </a:t>
            </a:r>
            <a:r>
              <a:rPr sz="1250" b="1" i="0">
                <a:solidFill>
                  <a:srgbClr val="202020"/>
                </a:solidFill>
                <a:latin typeface="Calibri"/>
              </a:rPr>
              <a:t>no source record content</a:t>
            </a:r>
            <a:r>
              <a:rPr sz="1250" b="0" i="0">
                <a:solidFill>
                  <a:srgbClr val="202020"/>
                </a:solidFill>
                <a:latin typeface="Calibri"/>
              </a:rPr>
              <a:t> — see the data-at-rest inventory in section 7.7.</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Tenant &amp; Common Concepts</a:t>
            </a:r>
          </a:p>
          <a:p>
            <a:r>
              <a:rPr sz="3000" b="1" i="0">
                <a:solidFill>
                  <a:srgbClr val="1F3864"/>
                </a:solidFill>
                <a:latin typeface="Calibri"/>
              </a:rPr>
              <a:t>6. The shared connector architecture (the chassis)</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 The shared connector architecture (the chassis)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Every connector is built from one shared engine — the "chassis": a single Connector.Chassis project (version 1.18.0) that all five reference directly, with that reference asserted on every change. It is genuinely shared code, not five copies — though sharing is not yet total: 67 per-connector divergences are still declared in a register the build enforces, and they are being retired. The running services stay separate. This section explains each shared part in plain language and why it matters to you. Section 6.13 is a one-look summary table.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6.1 The unified command-line interface (CLI)</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Each connector is a single executable driven by verbs. You will use these directly when deploying and supporting, and the Windows service runs one of them (</a:t>
            </a:r>
            <a:r>
              <a:rPr sz="1200" b="0" i="0">
                <a:solidFill>
                  <a:srgbClr val="202020"/>
                </a:solidFill>
                <a:latin typeface="Consolas"/>
              </a:rPr>
              <a:t>ingest --continuous</a:t>
            </a:r>
            <a:r>
              <a:rPr sz="1250" b="0" i="0">
                <a:solidFill>
                  <a:srgbClr val="202020"/>
                </a:solidFill>
                <a:latin typeface="Calibri"/>
              </a:rPr>
              <a:t>) as its long-running job.</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6.1 The unified command-line interface (CLI)</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Command</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c>
                  <a:txBody>
                    <a:bodyPr wrap="square"/>
                    <a:lstStyle/>
                    <a:p>
                      <a:r>
                        <a:rPr sz="1050" b="1" i="0">
                          <a:solidFill>
                            <a:srgbClr val="FFFFFF"/>
                          </a:solidFill>
                          <a:latin typeface="Calibri"/>
                        </a:rPr>
                        <a:t>When you use it</a:t>
                      </a:r>
                    </a:p>
                  </a:txBody>
                  <a:tcPr marT="25400" marB="25400">
                    <a:solidFill>
                      <a:srgbClr val="2E5496"/>
                    </a:solidFill>
                  </a:tcPr>
                </a:tc>
              </a:tr>
              <a:tr h="384048">
                <a:tc>
                  <a:txBody>
                    <a:bodyPr wrap="square"/>
                    <a:lstStyle/>
                    <a:p>
                      <a:r>
                        <a:rPr sz="950" b="0" i="0">
                          <a:solidFill>
                            <a:srgbClr val="202020"/>
                          </a:solidFill>
                          <a:latin typeface="Calibri"/>
                        </a:rPr>
                        <a:t>guide</a:t>
                      </a:r>
                    </a:p>
                  </a:txBody>
                  <a:tcPr marT="12700" marB="12700">
                    <a:solidFill>
                      <a:srgbClr val="FFFFFF"/>
                    </a:solidFill>
                  </a:tcPr>
                </a:tc>
                <a:tc>
                  <a:txBody>
                    <a:bodyPr wrap="square"/>
                    <a:lstStyle/>
                    <a:p>
                      <a:r>
                        <a:rPr sz="950" b="0" i="0">
                          <a:solidFill>
                            <a:srgbClr val="202020"/>
                          </a:solidFill>
                          <a:latin typeface="Calibri"/>
                        </a:rPr>
                        <a:t>Prints a built-in reference of settings and commands</a:t>
                      </a:r>
                    </a:p>
                  </a:txBody>
                  <a:tcPr marT="12700" marB="12700">
                    <a:solidFill>
                      <a:srgbClr val="FFFFFF"/>
                    </a:solidFill>
                  </a:tcPr>
                </a:tc>
                <a:tc>
                  <a:txBody>
                    <a:bodyPr wrap="square"/>
                    <a:lstStyle/>
                    <a:p>
                      <a:r>
                        <a:rPr sz="950" b="0" i="0">
                          <a:solidFill>
                            <a:srgbClr val="202020"/>
                          </a:solidFill>
                          <a:latin typeface="Calibri"/>
                        </a:rPr>
                        <a:t>First run on a new box; quick lookup</a:t>
                      </a:r>
                    </a:p>
                  </a:txBody>
                  <a:tcPr marT="12700" marB="12700">
                    <a:solidFill>
                      <a:srgbClr val="FFFFFF"/>
                    </a:solidFill>
                  </a:tcPr>
                </a:tc>
              </a:tr>
              <a:tr h="384048">
                <a:tc>
                  <a:txBody>
                    <a:bodyPr wrap="square"/>
                    <a:lstStyle/>
                    <a:p>
                      <a:r>
                        <a:rPr sz="950" b="0" i="0">
                          <a:solidFill>
                            <a:srgbClr val="202020"/>
                          </a:solidFill>
                          <a:latin typeface="Calibri"/>
                        </a:rPr>
                        <a:t>validate-config [--strict]</a:t>
                      </a:r>
                    </a:p>
                  </a:txBody>
                  <a:tcPr marT="12700" marB="12700">
                    <a:solidFill>
                      <a:srgbClr val="F7F9FC"/>
                    </a:solidFill>
                  </a:tcPr>
                </a:tc>
                <a:tc>
                  <a:txBody>
                    <a:bodyPr wrap="square"/>
                    <a:lstStyle/>
                    <a:p>
                      <a:r>
                        <a:rPr sz="950" b="0" i="0">
                          <a:solidFill>
                            <a:srgbClr val="202020"/>
                          </a:solidFill>
                          <a:latin typeface="Calibri"/>
                        </a:rPr>
                        <a:t>Checks configuration and connectivity without ingesting</a:t>
                      </a:r>
                    </a:p>
                  </a:txBody>
                  <a:tcPr marT="12700" marB="12700">
                    <a:solidFill>
                      <a:srgbClr val="F7F9FC"/>
                    </a:solidFill>
                  </a:tcPr>
                </a:tc>
                <a:tc>
                  <a:txBody>
                    <a:bodyPr wrap="square"/>
                    <a:lstStyle/>
                    <a:p>
                      <a:r>
                        <a:rPr sz="950" b="0" i="0">
                          <a:solidFill>
                            <a:srgbClr val="202020"/>
                          </a:solidFill>
                          <a:latin typeface="Calibri"/>
                        </a:rPr>
                        <a:t>Before every deploy; after any config change (exit code 0 = good)</a:t>
                      </a:r>
                    </a:p>
                  </a:txBody>
                  <a:tcPr marT="12700" marB="12700">
                    <a:solidFill>
                      <a:srgbClr val="F7F9FC"/>
                    </a:solidFill>
                  </a:tcPr>
                </a:tc>
              </a:tr>
              <a:tr h="384048">
                <a:tc>
                  <a:txBody>
                    <a:bodyPr wrap="square"/>
                    <a:lstStyle/>
                    <a:p>
                      <a:r>
                        <a:rPr sz="950" b="0" i="0">
                          <a:solidFill>
                            <a:srgbClr val="202020"/>
                          </a:solidFill>
                          <a:latin typeface="Calibri"/>
                        </a:rPr>
                        <a:t>setup-connection</a:t>
                      </a:r>
                    </a:p>
                  </a:txBody>
                  <a:tcPr marT="12700" marB="12700">
                    <a:solidFill>
                      <a:srgbClr val="FFFFFF"/>
                    </a:solidFill>
                  </a:tcPr>
                </a:tc>
                <a:tc>
                  <a:txBody>
                    <a:bodyPr wrap="square"/>
                    <a:lstStyle/>
                    <a:p>
                      <a:r>
                        <a:rPr sz="950" b="0" i="0">
                          <a:solidFill>
                            <a:srgbClr val="202020"/>
                          </a:solidFill>
                          <a:latin typeface="Calibri"/>
                        </a:rPr>
                        <a:t>Creates the external connection + registers the schema (idempotent)</a:t>
                      </a:r>
                    </a:p>
                  </a:txBody>
                  <a:tcPr marT="12700" marB="12700">
                    <a:solidFill>
                      <a:srgbClr val="FFFFFF"/>
                    </a:solidFill>
                  </a:tcPr>
                </a:tc>
                <a:tc>
                  <a:txBody>
                    <a:bodyPr wrap="square"/>
                    <a:lstStyle/>
                    <a:p>
                      <a:r>
                        <a:rPr sz="950" b="0" i="0">
                          <a:solidFill>
                            <a:srgbClr val="202020"/>
                          </a:solidFill>
                          <a:latin typeface="Calibri"/>
                        </a:rPr>
                        <a:t>Once, before first ingest</a:t>
                      </a:r>
                    </a:p>
                  </a:txBody>
                  <a:tcPr marT="12700" marB="12700">
                    <a:solidFill>
                      <a:srgbClr val="FFFFFF"/>
                    </a:solidFill>
                  </a:tcPr>
                </a:tc>
              </a:tr>
              <a:tr h="384048">
                <a:tc>
                  <a:txBody>
                    <a:bodyPr wrap="square"/>
                    <a:lstStyle/>
                    <a:p>
                      <a:r>
                        <a:rPr sz="950" b="0" i="0">
                          <a:solidFill>
                            <a:srgbClr val="202020"/>
                          </a:solidFill>
                          <a:latin typeface="Calibri"/>
                        </a:rPr>
                        <a:t>full-deployment [--continuous]</a:t>
                      </a:r>
                    </a:p>
                  </a:txBody>
                  <a:tcPr marT="12700" marB="12700">
                    <a:solidFill>
                      <a:srgbClr val="F7F9FC"/>
                    </a:solidFill>
                  </a:tcPr>
                </a:tc>
                <a:tc>
                  <a:txBody>
                    <a:bodyPr wrap="square"/>
                    <a:lstStyle/>
                    <a:p>
                      <a:r>
                        <a:rPr sz="950" b="0" i="0">
                          <a:solidFill>
                            <a:srgbClr val="202020"/>
                          </a:solidFill>
                          <a:latin typeface="Calibri"/>
                        </a:rPr>
                        <a:t>setup-connection, then identity crawl, then a full content ingest</a:t>
                      </a:r>
                    </a:p>
                  </a:txBody>
                  <a:tcPr marT="12700" marB="12700">
                    <a:solidFill>
                      <a:srgbClr val="F7F9FC"/>
                    </a:solidFill>
                  </a:tcPr>
                </a:tc>
                <a:tc>
                  <a:txBody>
                    <a:bodyPr wrap="square"/>
                    <a:lstStyle/>
                    <a:p>
                      <a:r>
                        <a:rPr sz="950" b="0" i="0">
                          <a:solidFill>
                            <a:srgbClr val="202020"/>
                          </a:solidFill>
                          <a:latin typeface="Calibri"/>
                        </a:rPr>
                        <a:t>First deployment of a connector</a:t>
                      </a:r>
                    </a:p>
                  </a:txBody>
                  <a:tcPr marT="12700" marB="12700">
                    <a:solidFill>
                      <a:srgbClr val="F7F9FC"/>
                    </a:solidFill>
                  </a:tcPr>
                </a:tc>
              </a:tr>
              <a:tr h="384048">
                <a:tc>
                  <a:txBody>
                    <a:bodyPr wrap="square"/>
                    <a:lstStyle/>
                    <a:p>
                      <a:r>
                        <a:rPr sz="950" b="0" i="0">
                          <a:solidFill>
                            <a:srgbClr val="202020"/>
                          </a:solidFill>
                          <a:latin typeface="Calibri"/>
                        </a:rPr>
                        <a:t>ingest [--continuous]</a:t>
                      </a:r>
                    </a:p>
                  </a:txBody>
                  <a:tcPr marT="12700" marB="12700">
                    <a:solidFill>
                      <a:srgbClr val="FFFFFF"/>
                    </a:solidFill>
                  </a:tcPr>
                </a:tc>
                <a:tc>
                  <a:txBody>
                    <a:bodyPr wrap="square"/>
                    <a:lstStyle/>
                    <a:p>
                      <a:r>
                        <a:rPr sz="950" b="0" i="0">
                          <a:solidFill>
                            <a:srgbClr val="202020"/>
                          </a:solidFill>
                          <a:latin typeface="Calibri"/>
                        </a:rPr>
                        <a:t>Re-ingests content (connection must already exist)</a:t>
                      </a:r>
                    </a:p>
                  </a:txBody>
                  <a:tcPr marT="12700" marB="12700">
                    <a:solidFill>
                      <a:srgbClr val="FFFFFF"/>
                    </a:solidFill>
                  </a:tcPr>
                </a:tc>
                <a:tc>
                  <a:txBody>
                    <a:bodyPr wrap="square"/>
                    <a:lstStyle/>
                    <a:p>
                      <a:r>
                        <a:rPr sz="950" b="0" i="0">
                          <a:solidFill>
                            <a:srgbClr val="202020"/>
                          </a:solidFill>
                          <a:latin typeface="Calibri"/>
                        </a:rPr>
                        <a:t>The service runs this with --continuous</a:t>
                      </a:r>
                    </a:p>
                  </a:txBody>
                  <a:tcPr marT="12700" marB="12700">
                    <a:solidFill>
                      <a:srgbClr val="FFFFFF"/>
                    </a:solidFill>
                  </a:tcPr>
                </a:tc>
              </a:tr>
              <a:tr h="384048">
                <a:tc>
                  <a:txBody>
                    <a:bodyPr wrap="square"/>
                    <a:lstStyle/>
                    <a:p>
                      <a:r>
                        <a:rPr sz="950" b="0" i="0">
                          <a:solidFill>
                            <a:srgbClr val="202020"/>
                          </a:solidFill>
                          <a:latin typeface="Calibri"/>
                        </a:rPr>
                        <a:t>ingest-object --type &lt;T&gt;</a:t>
                      </a:r>
                    </a:p>
                  </a:txBody>
                  <a:tcPr marT="12700" marB="12700">
                    <a:solidFill>
                      <a:srgbClr val="F7F9FC"/>
                    </a:solidFill>
                  </a:tcPr>
                </a:tc>
                <a:tc>
                  <a:txBody>
                    <a:bodyPr wrap="square"/>
                    <a:lstStyle/>
                    <a:p>
                      <a:r>
                        <a:rPr sz="950" b="0" i="0">
                          <a:solidFill>
                            <a:srgbClr val="202020"/>
                          </a:solidFill>
                          <a:latin typeface="Calibri"/>
                        </a:rPr>
                        <a:t>Ingests a single object type only</a:t>
                      </a:r>
                    </a:p>
                  </a:txBody>
                  <a:tcPr marT="12700" marB="12700">
                    <a:solidFill>
                      <a:srgbClr val="F7F9FC"/>
                    </a:solidFill>
                  </a:tcPr>
                </a:tc>
                <a:tc>
                  <a:txBody>
                    <a:bodyPr wrap="square"/>
                    <a:lstStyle/>
                    <a:p>
                      <a:r>
                        <a:rPr sz="950" b="0" i="0">
                          <a:solidFill>
                            <a:srgbClr val="202020"/>
                          </a:solidFill>
                          <a:latin typeface="Calibri"/>
                        </a:rPr>
                        <a:t>Targeted debugging</a:t>
                      </a:r>
                    </a:p>
                  </a:txBody>
                  <a:tcPr marT="12700" marB="12700">
                    <a:solidFill>
                      <a:srgbClr val="F7F9FC"/>
                    </a:solidFill>
                  </a:tcPr>
                </a:tc>
              </a:tr>
              <a:tr h="384048">
                <a:tc>
                  <a:txBody>
                    <a:bodyPr wrap="square"/>
                    <a:lstStyle/>
                    <a:p>
                      <a:r>
                        <a:rPr sz="950" b="0" i="0">
                          <a:solidFill>
                            <a:srgbClr val="202020"/>
                          </a:solidFill>
                          <a:latin typeface="Calibri"/>
                        </a:rPr>
                        <a:t>ingest-item --id &lt;ID&gt;</a:t>
                      </a:r>
                    </a:p>
                  </a:txBody>
                  <a:tcPr marT="12700" marB="12700">
                    <a:solidFill>
                      <a:srgbClr val="FFFFFF"/>
                    </a:solidFill>
                  </a:tcPr>
                </a:tc>
                <a:tc>
                  <a:txBody>
                    <a:bodyPr wrap="square"/>
                    <a:lstStyle/>
                    <a:p>
                      <a:r>
                        <a:rPr sz="950" b="0" i="0">
                          <a:solidFill>
                            <a:srgbClr val="202020"/>
                          </a:solidFill>
                          <a:latin typeface="Calibri"/>
                        </a:rPr>
                        <a:t>Ingests a single record</a:t>
                      </a:r>
                    </a:p>
                  </a:txBody>
                  <a:tcPr marT="12700" marB="12700">
                    <a:solidFill>
                      <a:srgbClr val="FFFFFF"/>
                    </a:solidFill>
                  </a:tcPr>
                </a:tc>
                <a:tc>
                  <a:txBody>
                    <a:bodyPr wrap="square"/>
                    <a:lstStyle/>
                    <a:p>
                      <a:r>
                        <a:rPr sz="950" b="0" i="0">
                          <a:solidFill>
                            <a:srgbClr val="202020"/>
                          </a:solidFill>
                          <a:latin typeface="Calibri"/>
                        </a:rPr>
                        <a:t>Targeted debugging</a:t>
                      </a:r>
                    </a:p>
                  </a:txBody>
                  <a:tcPr marT="12700" marB="12700">
                    <a:solidFill>
                      <a:srgbClr val="FFFFFF"/>
                    </a:solidFill>
                  </a:tcPr>
                </a:tc>
              </a:tr>
              <a:tr h="384048">
                <a:tc>
                  <a:txBody>
                    <a:bodyPr wrap="square"/>
                    <a:lstStyle/>
                    <a:p>
                      <a:r>
                        <a:rPr sz="950" b="0" i="0">
                          <a:solidFill>
                            <a:srgbClr val="202020"/>
                          </a:solidFill>
                          <a:latin typeface="Calibri"/>
                        </a:rPr>
                        <a:t>identity-dry-run [--save]</a:t>
                      </a:r>
                    </a:p>
                  </a:txBody>
                  <a:tcPr marT="12700" marB="12700">
                    <a:solidFill>
                      <a:srgbClr val="F7F9FC"/>
                    </a:solidFill>
                  </a:tcPr>
                </a:tc>
                <a:tc>
                  <a:txBody>
                    <a:bodyPr wrap="square"/>
                    <a:lstStyle/>
                    <a:p>
                      <a:r>
                        <a:rPr sz="950" b="0" i="0">
                          <a:solidFill>
                            <a:srgbClr val="202020"/>
                          </a:solidFill>
                          <a:latin typeface="Calibri"/>
                        </a:rPr>
                        <a:t>Previews identity mapping without calling Graph</a:t>
                      </a:r>
                    </a:p>
                  </a:txBody>
                  <a:tcPr marT="12700" marB="12700">
                    <a:solidFill>
                      <a:srgbClr val="F7F9FC"/>
                    </a:solidFill>
                  </a:tcPr>
                </a:tc>
                <a:tc>
                  <a:txBody>
                    <a:bodyPr wrap="square"/>
                    <a:lstStyle/>
                    <a:p>
                      <a:r>
                        <a:rPr sz="950" b="0" i="0">
                          <a:solidFill>
                            <a:srgbClr val="202020"/>
                          </a:solidFill>
                          <a:latin typeface="Calibri"/>
                        </a:rPr>
                        <a:t>Validate source-to-Entra mapping</a:t>
                      </a:r>
                    </a:p>
                  </a:txBody>
                  <a:tcPr marT="12700" marB="12700">
                    <a:solidFill>
                      <a:srgbClr val="F7F9FC"/>
                    </a:solidFill>
                  </a:tcPr>
                </a:tc>
              </a:tr>
              <a:tr h="384048">
                <a:tc>
                  <a:txBody>
                    <a:bodyPr wrap="square"/>
                    <a:lstStyle/>
                    <a:p>
                      <a:r>
                        <a:rPr sz="950" b="0" i="0">
                          <a:solidFill>
                            <a:srgbClr val="202020"/>
                          </a:solidFill>
                          <a:latin typeface="Calibri"/>
                        </a:rPr>
                        <a:t>reconcile [--fix]</a:t>
                      </a:r>
                    </a:p>
                  </a:txBody>
                  <a:tcPr marT="12700" marB="12700">
                    <a:solidFill>
                      <a:srgbClr val="FFFFFF"/>
                    </a:solidFill>
                  </a:tcPr>
                </a:tc>
                <a:tc>
                  <a:txBody>
                    <a:bodyPr wrap="square"/>
                    <a:lstStyle/>
                    <a:p>
                      <a:r>
                        <a:rPr sz="950" b="0" i="0">
                          <a:solidFill>
                            <a:srgbClr val="202020"/>
                          </a:solidFill>
                          <a:latin typeface="Calibri"/>
                        </a:rPr>
                        <a:t>Reports (and with --fix repairs) index-vs-source drift</a:t>
                      </a:r>
                    </a:p>
                  </a:txBody>
                  <a:tcPr marT="12700" marB="12700">
                    <a:solidFill>
                      <a:srgbClr val="FFFFFF"/>
                    </a:solidFill>
                  </a:tcPr>
                </a:tc>
                <a:tc>
                  <a:txBody>
                    <a:bodyPr wrap="square"/>
                    <a:lstStyle/>
                    <a:p>
                      <a:r>
                        <a:rPr sz="950" b="0" i="0">
                          <a:solidFill>
                            <a:srgbClr val="202020"/>
                          </a:solidFill>
                          <a:latin typeface="Calibri"/>
                        </a:rPr>
                        <a:t>Routine assurance; after a restore</a:t>
                      </a:r>
                    </a:p>
                  </a:txBody>
                  <a:tcPr marT="12700" marB="12700">
                    <a:solidFill>
                      <a:srgbClr val="FFFFFF"/>
                    </a:solidFill>
                  </a:tcPr>
                </a:tc>
              </a:tr>
              <a:tr h="384048">
                <a:tc>
                  <a:txBody>
                    <a:bodyPr wrap="square"/>
                    <a:lstStyle/>
                    <a:p>
                      <a:r>
                        <a:rPr sz="950" b="0" i="0">
                          <a:solidFill>
                            <a:srgbClr val="202020"/>
                          </a:solidFill>
                          <a:latin typeface="Calibri"/>
                        </a:rPr>
                        <a:t>retry-failed [--clear-on-success]</a:t>
                      </a:r>
                    </a:p>
                  </a:txBody>
                  <a:tcPr marT="12700" marB="12700">
                    <a:solidFill>
                      <a:srgbClr val="F7F9FC"/>
                    </a:solidFill>
                  </a:tcPr>
                </a:tc>
                <a:tc>
                  <a:txBody>
                    <a:bodyPr wrap="square"/>
                    <a:lstStyle/>
                    <a:p>
                      <a:r>
                        <a:rPr sz="950" b="0" i="0">
                          <a:solidFill>
                            <a:srgbClr val="202020"/>
                          </a:solidFill>
                          <a:latin typeface="Calibri"/>
                        </a:rPr>
                        <a:t>Re-pushes dead-lettered items</a:t>
                      </a:r>
                    </a:p>
                  </a:txBody>
                  <a:tcPr marT="12700" marB="12700">
                    <a:solidFill>
                      <a:srgbClr val="F7F9FC"/>
                    </a:solidFill>
                  </a:tcPr>
                </a:tc>
                <a:tc>
                  <a:txBody>
                    <a:bodyPr wrap="square"/>
                    <a:lstStyle/>
                    <a:p>
                      <a:r>
                        <a:rPr sz="950" b="0" i="0">
                          <a:solidFill>
                            <a:srgbClr val="202020"/>
                          </a:solidFill>
                          <a:latin typeface="Calibri"/>
                        </a:rPr>
                        <a:t>Drain the dead-letter queue after fixing a cause</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6.1 The unified command-line interface (CLI)</a:t>
            </a:r>
          </a:p>
        </p:txBody>
      </p:sp>
      <p:sp>
        <p:nvSpPr>
          <p:cNvPr id="5" name="Rectangle 4"/>
          <p:cNvSpPr/>
          <p:nvPr/>
        </p:nvSpPr>
        <p:spPr>
          <a:xfrm>
            <a:off x="502920" y="1463040"/>
            <a:ext cx="11185855" cy="3291840"/>
          </a:xfrm>
          <a:prstGeom prst="rect">
            <a:avLst/>
          </a:prstGeom>
          <a:solidFill>
            <a:srgbClr val="E7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7D32"/>
                </a:solidFill>
                <a:latin typeface="Calibri"/>
              </a:rPr>
              <a:t>Tip:  </a:t>
            </a:r>
            <a:r>
              <a:rPr sz="1400" b="1" i="0">
                <a:solidFill>
                  <a:srgbClr val="202020"/>
                </a:solidFill>
                <a:latin typeface="Calibri"/>
              </a:rPr>
              <a:t>Tip: </a:t>
            </a:r>
            <a:r>
              <a:rPr sz="1400" b="0" i="0">
                <a:solidFill>
                  <a:srgbClr val="202020"/>
                </a:solidFill>
                <a:latin typeface="Calibri"/>
              </a:rPr>
              <a:t>Command availability is uniform across connectors, with minor per-connector naming (for example some expose ingest via a </a:t>
            </a:r>
            <a:r>
              <a:rPr sz="1350" b="0" i="0">
                <a:solidFill>
                  <a:srgbClr val="202020"/>
                </a:solidFill>
                <a:latin typeface="Consolas"/>
              </a:rPr>
              <a:t>runtime</a:t>
            </a:r>
            <a:r>
              <a:rPr sz="1400" b="0" i="0">
                <a:solidFill>
                  <a:srgbClr val="202020"/>
                </a:solidFill>
                <a:latin typeface="Calibri"/>
              </a:rPr>
              <a:t>/</a:t>
            </a:r>
            <a:r>
              <a:rPr sz="1350" b="0" i="0">
                <a:solidFill>
                  <a:srgbClr val="202020"/>
                </a:solidFill>
                <a:latin typeface="Consolas"/>
              </a:rPr>
              <a:t>ingest</a:t>
            </a:r>
            <a:r>
              <a:rPr sz="1400" b="0" i="0">
                <a:solidFill>
                  <a:srgbClr val="202020"/>
                </a:solidFill>
                <a:latin typeface="Calibri"/>
              </a:rPr>
              <a:t> verb). The two you will type most often are </a:t>
            </a:r>
            <a:r>
              <a:rPr sz="1350" b="0" i="0">
                <a:solidFill>
                  <a:srgbClr val="202020"/>
                </a:solidFill>
                <a:latin typeface="Consolas"/>
              </a:rPr>
              <a:t>validate-config --strict</a:t>
            </a:r>
            <a:r>
              <a:rPr sz="1400" b="0" i="0">
                <a:solidFill>
                  <a:srgbClr val="202020"/>
                </a:solidFill>
                <a:latin typeface="Calibri"/>
              </a:rPr>
              <a:t> (is it healthy?) and </a:t>
            </a:r>
            <a:r>
              <a:rPr sz="1350" b="0" i="0">
                <a:solidFill>
                  <a:srgbClr val="202020"/>
                </a:solidFill>
                <a:latin typeface="Consolas"/>
              </a:rPr>
              <a:t>retry-failed</a:t>
            </a:r>
            <a:r>
              <a:rPr sz="1400" b="0" i="0">
                <a:solidFill>
                  <a:srgbClr val="202020"/>
                </a:solidFill>
                <a:latin typeface="Calibri"/>
              </a:rPr>
              <a:t> (drain failures). Your connector's guide lists its exact verbs.</a:t>
            </a:r>
          </a:p>
        </p:txBody>
      </p:sp>
      <p:sp>
        <p:nvSpPr>
          <p:cNvPr id="6" name="Rectangle 5"/>
          <p:cNvSpPr/>
          <p:nvPr/>
        </p:nvSpPr>
        <p:spPr>
          <a:xfrm>
            <a:off x="502920" y="1463040"/>
            <a:ext cx="128016" cy="32918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6.2 Full vs. incremental crawls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 </a:t>
            </a:r>
            <a:r>
              <a:rPr sz="1250" b="1" i="0">
                <a:solidFill>
                  <a:srgbClr val="202020"/>
                </a:solidFill>
                <a:latin typeface="Calibri"/>
              </a:rPr>
              <a:t>crawl</a:t>
            </a:r>
            <a:r>
              <a:rPr sz="1250" b="0" i="0">
                <a:solidFill>
                  <a:srgbClr val="202020"/>
                </a:solidFill>
                <a:latin typeface="Calibri"/>
              </a:rPr>
              <a:t> is one pass of reading the source and pushing items. A </a:t>
            </a:r>
            <a:r>
              <a:rPr sz="1250" b="1" i="0">
                <a:solidFill>
                  <a:srgbClr val="202020"/>
                </a:solidFill>
                <a:latin typeface="Calibri"/>
              </a:rPr>
              <a:t>full crawl</a:t>
            </a:r>
            <a:r>
              <a:rPr sz="1250" b="0" i="0">
                <a:solidFill>
                  <a:srgbClr val="202020"/>
                </a:solidFill>
                <a:latin typeface="Calibri"/>
              </a:rPr>
              <a:t> walks every in-scope record from scratch; an </a:t>
            </a:r>
            <a:r>
              <a:rPr sz="1250" b="1" i="0">
                <a:solidFill>
                  <a:srgbClr val="202020"/>
                </a:solidFill>
                <a:latin typeface="Calibri"/>
              </a:rPr>
              <a:t>incremental crawl</a:t>
            </a:r>
            <a:r>
              <a:rPr sz="1250" b="0" i="0">
                <a:solidFill>
                  <a:srgbClr val="202020"/>
                </a:solidFill>
                <a:latin typeface="Calibri"/>
              </a:rPr>
              <a:t> only processes records changed since the last successful sync (tracked by a </a:t>
            </a:r>
            <a:r>
              <a:rPr sz="1250" b="1" i="0">
                <a:solidFill>
                  <a:srgbClr val="202020"/>
                </a:solidFill>
                <a:latin typeface="Calibri"/>
              </a:rPr>
              <a:t>watermark</a:t>
            </a:r>
            <a:r>
              <a:rPr sz="1250" b="0" i="0">
                <a:solidFill>
                  <a:srgbClr val="202020"/>
                </a:solidFill>
                <a:latin typeface="Calibri"/>
              </a:rPr>
              <a:t> — a last-modified boundary such as Salesforce's </a:t>
            </a:r>
            <a:r>
              <a:rPr sz="1200" b="0" i="0">
                <a:solidFill>
                  <a:srgbClr val="202020"/>
                </a:solidFill>
                <a:latin typeface="Consolas"/>
              </a:rPr>
              <a:t>SystemModstamp</a:t>
            </a:r>
            <a:r>
              <a:rPr sz="1250" b="0" i="0">
                <a:solidFill>
                  <a:srgbClr val="202020"/>
                </a:solidFill>
                <a:latin typeface="Calibri"/>
              </a:rPr>
              <a:t>). Full crawls are the expensive events; incrementals are cheap and frequent. In continuous mode each node runs a full crawl every </a:t>
            </a:r>
            <a:r>
              <a:rPr sz="1200" b="0" i="0">
                <a:solidFill>
                  <a:srgbClr val="202020"/>
                </a:solidFill>
                <a:latin typeface="Consolas"/>
              </a:rPr>
              <a:t>--full-crawl-hours</a:t>
            </a:r>
            <a:r>
              <a:rPr sz="1250" b="0" i="0">
                <a:solidFill>
                  <a:srgbClr val="202020"/>
                </a:solidFill>
                <a:latin typeface="Calibri"/>
              </a:rPr>
              <a:t> (default 24, minimum 12) and an incremental every </a:t>
            </a:r>
            <a:r>
              <a:rPr sz="1200" b="0" i="0">
                <a:solidFill>
                  <a:srgbClr val="202020"/>
                </a:solidFill>
                <a:latin typeface="Consolas"/>
              </a:rPr>
              <a:t>--incremental-hours</a:t>
            </a:r>
            <a:r>
              <a:rPr sz="1250" b="0" i="0">
                <a:solidFill>
                  <a:srgbClr val="202020"/>
                </a:solidFill>
                <a:latin typeface="Calibri"/>
              </a:rPr>
              <a:t> (default 4, minimum 1).</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6.3 Checkpoints and crash/stop resume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Each object type is ingested in chunks of </a:t>
            </a:r>
            <a:r>
              <a:rPr sz="1200" b="0" i="0">
                <a:solidFill>
                  <a:srgbClr val="202020"/>
                </a:solidFill>
                <a:latin typeface="Consolas"/>
              </a:rPr>
              <a:t>INGEST_CHUNK_SIZE</a:t>
            </a:r>
            <a:r>
              <a:rPr sz="1250" b="0" i="0">
                <a:solidFill>
                  <a:srgbClr val="202020"/>
                </a:solidFill>
                <a:latin typeface="Calibri"/>
              </a:rPr>
              <a:t>. After every chunk the connector writes a </a:t>
            </a:r>
            <a:r>
              <a:rPr sz="1250" b="1" i="0">
                <a:solidFill>
                  <a:srgbClr val="202020"/>
                </a:solidFill>
                <a:latin typeface="Calibri"/>
              </a:rPr>
              <a:t>checkpoint</a:t>
            </a:r>
            <a:r>
              <a:rPr sz="1250" b="0" i="0">
                <a:solidFill>
                  <a:srgbClr val="202020"/>
                </a:solidFill>
                <a:latin typeface="Calibri"/>
              </a:rPr>
              <a:t> — the object type, the last completed chunk, and the </a:t>
            </a:r>
            <a:r>
              <a:rPr sz="1200" b="0" i="0">
                <a:solidFill>
                  <a:srgbClr val="202020"/>
                </a:solidFill>
                <a:latin typeface="Consolas"/>
              </a:rPr>
              <a:t>since</a:t>
            </a:r>
            <a:r>
              <a:rPr sz="1250" b="0" i="0">
                <a:solidFill>
                  <a:srgbClr val="202020"/>
                </a:solidFill>
                <a:latin typeface="Calibri"/>
              </a:rPr>
              <a:t> boundary. If the process stops for any reason (crash, service stop, SQL failover), the next start </a:t>
            </a:r>
            <a:r>
              <a:rPr sz="1250" b="1" i="0">
                <a:solidFill>
                  <a:srgbClr val="202020"/>
                </a:solidFill>
                <a:latin typeface="Calibri"/>
              </a:rPr>
              <a:t>resumes from the last checkpoint</a:t>
            </a:r>
            <a:r>
              <a:rPr sz="1250" b="0" i="0">
                <a:solidFill>
                  <a:srgbClr val="202020"/>
                </a:solidFill>
                <a:latin typeface="Calibri"/>
              </a:rPr>
              <a:t>: completed chunks are skipped and nothing is re-sent unnecessarily. A graceful stop (Windows-service stop) finishes the in-flight chunk, flushes the pending batch, and checkpoints before exiting. On a clean full-crawl completion the checkpoint is cleared and the watermark advances.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6.4 The dead-letter queue and retry-failed</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An item whose push ultimately fails after all retries is written to the </a:t>
            </a:r>
            <a:r>
              <a:rPr sz="1250" b="1" i="0">
                <a:solidFill>
                  <a:srgbClr val="202020"/>
                </a:solidFill>
                <a:latin typeface="Calibri"/>
              </a:rPr>
              <a:t>dead-letter queue</a:t>
            </a:r>
            <a:r>
              <a:rPr sz="1250" b="0" i="0">
                <a:solidFill>
                  <a:srgbClr val="202020"/>
                </a:solidFill>
                <a:latin typeface="Calibri"/>
              </a:rPr>
              <a:t> (a </a:t>
            </a:r>
            <a:r>
              <a:rPr sz="1200" b="0" i="0">
                <a:solidFill>
                  <a:srgbClr val="202020"/>
                </a:solidFill>
                <a:latin typeface="Consolas"/>
              </a:rPr>
              <a:t>logs\failed_records_{CONNECTOR_ID}.jsonl</a:t>
            </a:r>
            <a:r>
              <a:rPr sz="1250" b="0" i="0">
                <a:solidFill>
                  <a:srgbClr val="202020"/>
                </a:solidFill>
                <a:latin typeface="Calibri"/>
              </a:rPr>
              <a:t> file, or the </a:t>
            </a:r>
            <a:r>
              <a:rPr sz="1200" b="0" i="0">
                <a:solidFill>
                  <a:srgbClr val="202020"/>
                </a:solidFill>
                <a:latin typeface="Consolas"/>
              </a:rPr>
              <a:t>dbo.DeadLetter</a:t>
            </a:r>
            <a:r>
              <a:rPr sz="1250" b="0" i="0">
                <a:solidFill>
                  <a:srgbClr val="202020"/>
                </a:solidFill>
                <a:latin typeface="Calibri"/>
              </a:rPr>
              <a:t> table on the SQL backend) rather than blocking the crawl. The crawl continues; failures are set aside for later. You drain them with </a:t>
            </a:r>
            <a:r>
              <a:rPr sz="1200" b="0" i="0">
                <a:solidFill>
                  <a:srgbClr val="202020"/>
                </a:solidFill>
                <a:latin typeface="Consolas"/>
              </a:rPr>
              <a:t>retry-failed</a:t>
            </a:r>
            <a:r>
              <a:rPr sz="1250" b="0" i="0">
                <a:solidFill>
                  <a:srgbClr val="202020"/>
                </a:solidFill>
                <a:latin typeface="Calibri"/>
              </a:rPr>
              <a:t> once the cause is fixed. Dead-letter records are treated as </a:t>
            </a:r>
            <a:r>
              <a:rPr sz="1250" b="1" i="0">
                <a:solidFill>
                  <a:srgbClr val="202020"/>
                </a:solidFill>
                <a:latin typeface="Calibri"/>
              </a:rPr>
              <a:t>pointers</a:t>
            </a:r>
            <a:r>
              <a:rPr sz="1250" b="0" i="0">
                <a:solidFill>
                  <a:srgbClr val="202020"/>
                </a:solidFill>
                <a:latin typeface="Calibri"/>
              </a:rPr>
              <a:t> — </a:t>
            </a:r>
            <a:r>
              <a:rPr sz="1200" b="0" i="0">
                <a:solidFill>
                  <a:srgbClr val="202020"/>
                </a:solidFill>
                <a:latin typeface="Consolas"/>
              </a:rPr>
              <a:t>retry-failed</a:t>
            </a:r>
            <a:r>
              <a:rPr sz="1250" b="0" i="0">
                <a:solidFill>
                  <a:srgbClr val="202020"/>
                </a:solidFill>
                <a:latin typeface="Calibri"/>
              </a:rPr>
              <a:t> re-reads the record from the source, so a stale or tampered payload cannot inject bad content. Depth is a monitored signal (section 10).</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6.5 Retry, backoff and the 60-second clamp</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Microsoft Graph </a:t>
            </a:r>
            <a:r>
              <a:rPr sz="1250" b="1" i="0">
                <a:solidFill>
                  <a:srgbClr val="202020"/>
                </a:solidFill>
                <a:latin typeface="Calibri"/>
              </a:rPr>
              <a:t>throttles</a:t>
            </a:r>
            <a:r>
              <a:rPr sz="1250" b="0" i="0">
                <a:solidFill>
                  <a:srgbClr val="202020"/>
                </a:solidFill>
                <a:latin typeface="Calibri"/>
              </a:rPr>
              <a:t> — under load it returns HTTP </a:t>
            </a:r>
            <a:r>
              <a:rPr sz="1250" b="1" i="0">
                <a:solidFill>
                  <a:srgbClr val="202020"/>
                </a:solidFill>
                <a:latin typeface="Calibri"/>
              </a:rPr>
              <a:t>429</a:t>
            </a:r>
            <a:r>
              <a:rPr sz="1250" b="0" i="0">
                <a:solidFill>
                  <a:srgbClr val="202020"/>
                </a:solidFill>
                <a:latin typeface="Calibri"/>
              </a:rPr>
              <a:t> and a </a:t>
            </a:r>
            <a:r>
              <a:rPr sz="1200" b="0" i="0">
                <a:solidFill>
                  <a:srgbClr val="202020"/>
                </a:solidFill>
                <a:latin typeface="Consolas"/>
              </a:rPr>
              <a:t>Retry-After</a:t>
            </a:r>
            <a:r>
              <a:rPr sz="1250" b="0" i="0">
                <a:solidFill>
                  <a:srgbClr val="202020"/>
                </a:solidFill>
                <a:latin typeface="Calibri"/>
              </a:rPr>
              <a:t> header telling you how long to wait. The connector honours </a:t>
            </a:r>
            <a:r>
              <a:rPr sz="1200" b="0" i="0">
                <a:solidFill>
                  <a:srgbClr val="202020"/>
                </a:solidFill>
                <a:latin typeface="Consolas"/>
              </a:rPr>
              <a:t>Retry-After</a:t>
            </a:r>
            <a:r>
              <a:rPr sz="1250" b="0" i="0">
                <a:solidFill>
                  <a:srgbClr val="202020"/>
                </a:solidFill>
                <a:latin typeface="Calibri"/>
              </a:rPr>
              <a:t> </a:t>
            </a:r>
            <a:r>
              <a:rPr sz="1250" b="1" i="0">
                <a:solidFill>
                  <a:srgbClr val="202020"/>
                </a:solidFill>
                <a:latin typeface="Calibri"/>
              </a:rPr>
              <a:t>exactly</a:t>
            </a:r>
            <a:r>
              <a:rPr sz="1250" b="0" i="0">
                <a:solidFill>
                  <a:srgbClr val="202020"/>
                </a:solidFill>
                <a:latin typeface="Calibri"/>
              </a:rPr>
              <a:t> when present, and otherwise backs off exponentially (</a:t>
            </a:r>
            <a:r>
              <a:rPr sz="1200" b="0" i="0">
                <a:solidFill>
                  <a:srgbClr val="202020"/>
                </a:solidFill>
                <a:latin typeface="Consolas"/>
              </a:rPr>
              <a:t>base × 2^attempt</a:t>
            </a:r>
            <a:r>
              <a:rPr sz="1250" b="0" i="0">
                <a:solidFill>
                  <a:srgbClr val="202020"/>
                </a:solidFill>
                <a:latin typeface="Calibri"/>
              </a:rPr>
              <a:t>, base = </a:t>
            </a:r>
            <a:r>
              <a:rPr sz="1200" b="0" i="0">
                <a:solidFill>
                  <a:srgbClr val="202020"/>
                </a:solidFill>
                <a:latin typeface="Consolas"/>
              </a:rPr>
              <a:t>GRAPH_RETRY_BACKOFF_BASE</a:t>
            </a:r>
            <a:r>
              <a:rPr sz="1250" b="0" i="0">
                <a:solidFill>
                  <a:srgbClr val="202020"/>
                </a:solidFill>
                <a:latin typeface="Calibri"/>
              </a:rPr>
              <a:t>, default 2 seconds), for up to </a:t>
            </a:r>
            <a:r>
              <a:rPr sz="1200" b="0" i="0">
                <a:solidFill>
                  <a:srgbClr val="202020"/>
                </a:solidFill>
                <a:latin typeface="Consolas"/>
              </a:rPr>
              <a:t>GRAPH_MAX_RETRIES</a:t>
            </a:r>
            <a:r>
              <a:rPr sz="1250" b="0" i="0">
                <a:solidFill>
                  <a:srgbClr val="202020"/>
                </a:solidFill>
                <a:latin typeface="Calibri"/>
              </a:rPr>
              <a:t> attempts (default 4). Every wait — computed </a:t>
            </a:r>
            <a:r>
              <a:rPr sz="1250" b="1" i="0">
                <a:solidFill>
                  <a:srgbClr val="202020"/>
                </a:solidFill>
                <a:latin typeface="Calibri"/>
              </a:rPr>
              <a:t>or</a:t>
            </a:r>
            <a:r>
              <a:rPr sz="1250" b="0" i="0">
                <a:solidFill>
                  <a:srgbClr val="202020"/>
                </a:solidFill>
                <a:latin typeface="Calibri"/>
              </a:rPr>
              <a:t> server-provided — is clamped to a maximum of </a:t>
            </a:r>
            <a:r>
              <a:rPr sz="1250" b="1" i="0">
                <a:solidFill>
                  <a:srgbClr val="202020"/>
                </a:solidFill>
                <a:latin typeface="Calibri"/>
              </a:rPr>
              <a:t>60 seconds</a:t>
            </a:r>
            <a:r>
              <a:rPr sz="1250" b="0" i="0">
                <a:solidFill>
                  <a:srgbClr val="202020"/>
                </a:solidFill>
                <a:latin typeface="Calibri"/>
              </a:rPr>
              <a:t>, so a hostile or misconfigured </a:t>
            </a:r>
            <a:r>
              <a:rPr sz="1200" b="0" i="0">
                <a:solidFill>
                  <a:srgbClr val="202020"/>
                </a:solidFill>
                <a:latin typeface="Consolas"/>
              </a:rPr>
              <a:t>Retry-After: 3600</a:t>
            </a:r>
            <a:r>
              <a:rPr sz="1250" b="0" i="0">
                <a:solidFill>
                  <a:srgbClr val="202020"/>
                </a:solidFill>
                <a:latin typeface="Calibri"/>
              </a:rPr>
              <a:t> cannot stall a run for an hour. In HA, set </a:t>
            </a:r>
            <a:r>
              <a:rPr sz="1200" b="0" i="0">
                <a:solidFill>
                  <a:srgbClr val="202020"/>
                </a:solidFill>
                <a:latin typeface="Consolas"/>
              </a:rPr>
              <a:t>GRAPH_RETRY_JITTER=true</a:t>
            </a:r>
            <a:r>
              <a:rPr sz="1250" b="0" i="0">
                <a:solidFill>
                  <a:srgbClr val="202020"/>
                </a:solidFill>
                <a:latin typeface="Calibri"/>
              </a:rPr>
              <a:t> so nodes throttled by the same event don't retry in lockstep.</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6.6 Adaptive concurrency</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connector pushes several batches in parallel — </a:t>
            </a:r>
            <a:r>
              <a:rPr sz="1200" b="0" i="0">
                <a:solidFill>
                  <a:srgbClr val="202020"/>
                </a:solidFill>
                <a:latin typeface="Consolas"/>
              </a:rPr>
              <a:t>GRAPH_BATCH_WORKERS</a:t>
            </a:r>
            <a:r>
              <a:rPr sz="1250" b="0" i="0">
                <a:solidFill>
                  <a:srgbClr val="202020"/>
                </a:solidFill>
                <a:latin typeface="Calibri"/>
              </a:rPr>
              <a:t> (alias </a:t>
            </a:r>
            <a:r>
              <a:rPr sz="1200" b="0" i="0">
                <a:solidFill>
                  <a:srgbClr val="202020"/>
                </a:solidFill>
                <a:latin typeface="Consolas"/>
              </a:rPr>
              <a:t>GRAPH_CONCURRENT_BATCHES</a:t>
            </a:r>
            <a:r>
              <a:rPr sz="1250" b="0" i="0">
                <a:solidFill>
                  <a:srgbClr val="202020"/>
                </a:solidFill>
                <a:latin typeface="Calibri"/>
              </a:rPr>
              <a:t>, default 8). </a:t>
            </a:r>
            <a:r>
              <a:rPr sz="1250" b="1" i="0">
                <a:solidFill>
                  <a:srgbClr val="202020"/>
                </a:solidFill>
                <a:latin typeface="Calibri"/>
              </a:rPr>
              <a:t>Adaptive concurrency</a:t>
            </a:r>
            <a:r>
              <a:rPr sz="1250" b="0" i="0">
                <a:solidFill>
                  <a:srgbClr val="202020"/>
                </a:solidFill>
                <a:latin typeface="Calibri"/>
              </a:rPr>
              <a:t> tunes this live: any 429 in a sub-batch drops the worker count by one (minimum 1); three clean sub-batches in a row raise it by one (up to the configured maximum). This means the connector self-corrects to the throughput the tenant will currently tolerate, without you touching config.</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6.7 Connection sharding</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Graph's push-rate limit is </a:t>
            </a:r>
            <a:r>
              <a:rPr sz="1250" b="1" i="0">
                <a:solidFill>
                  <a:srgbClr val="202020"/>
                </a:solidFill>
                <a:latin typeface="Calibri"/>
              </a:rPr>
              <a:t>per connection</a:t>
            </a:r>
            <a:r>
              <a:rPr sz="1250" b="0" i="0">
                <a:solidFill>
                  <a:srgbClr val="202020"/>
                </a:solidFill>
                <a:latin typeface="Calibri"/>
              </a:rPr>
              <a:t>. To go faster, a connector can spread its object types across several connections — </a:t>
            </a:r>
            <a:r>
              <a:rPr sz="1250" b="1" i="0">
                <a:solidFill>
                  <a:srgbClr val="202020"/>
                </a:solidFill>
                <a:latin typeface="Calibri"/>
              </a:rPr>
              <a:t>shards</a:t>
            </a:r>
            <a:r>
              <a:rPr sz="1250" b="0" i="0">
                <a:solidFill>
                  <a:srgbClr val="202020"/>
                </a:solidFill>
                <a:latin typeface="Calibri"/>
              </a:rPr>
              <a:t> — set with </a:t>
            </a:r>
            <a:r>
              <a:rPr sz="1200" b="0" i="0">
                <a:solidFill>
                  <a:srgbClr val="202020"/>
                </a:solidFill>
                <a:latin typeface="Consolas"/>
              </a:rPr>
              <a:t>GRAPH_CONNECTION_SHARDS</a:t>
            </a:r>
            <a:r>
              <a:rPr sz="1250" b="0" i="0">
                <a:solidFill>
                  <a:srgbClr val="202020"/>
                </a:solidFill>
                <a:latin typeface="Calibri"/>
              </a:rPr>
              <a:t> (a JSON map of connection id to the object types it owns). N shards give roughly N times the aggregate throughput because each is rate-limited independently. Every schema object must belong to exactly one shard. A single object type too large for one connection's item cap can be split further with intra-object hash buckets (</a:t>
            </a:r>
            <a:r>
              <a:rPr sz="1200" b="0" i="0">
                <a:solidFill>
                  <a:srgbClr val="202020"/>
                </a:solidFill>
                <a:latin typeface="Consolas"/>
              </a:rPr>
              <a:t>Object#bucket/of</a:t>
            </a:r>
            <a:r>
              <a:rPr sz="1250" b="0" i="0">
                <a:solidFill>
                  <a:srgbClr val="202020"/>
                </a:solidFill>
                <a:latin typeface="Calibri"/>
              </a:rPr>
              <a:t>), which route each record to a fixed shard by a stable hash of its id. Each shard is a real, separately-managed connection in the admin center and counts against the 30-connection tenant limit (section 8).</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6.8 State store — SQLite to SQL Server</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connector keeps </a:t>
            </a:r>
            <a:r>
              <a:rPr sz="1250" b="1" i="0">
                <a:solidFill>
                  <a:srgbClr val="202020"/>
                </a:solidFill>
                <a:latin typeface="Calibri"/>
              </a:rPr>
              <a:t>state</a:t>
            </a:r>
            <a:r>
              <a:rPr sz="1250" b="0" i="0">
                <a:solidFill>
                  <a:srgbClr val="202020"/>
                </a:solidFill>
                <a:latin typeface="Calibri"/>
              </a:rPr>
              <a:t> — the bookkeeping that makes the next crawl incremental: identity mappings, checkpoints, sync timestamps, the item inventory (used for deletion detection) and the dead-letter queue. By default this lives in local files and </a:t>
            </a:r>
            <a:r>
              <a:rPr sz="1250" b="1" i="0">
                <a:solidFill>
                  <a:srgbClr val="202020"/>
                </a:solidFill>
                <a:latin typeface="Calibri"/>
              </a:rPr>
              <a:t>SQLite</a:t>
            </a:r>
            <a:r>
              <a:rPr sz="1250" b="0" i="0">
                <a:solidFill>
                  <a:srgbClr val="202020"/>
                </a:solidFill>
                <a:latin typeface="Calibri"/>
              </a:rPr>
              <a:t> databases under the install directory. Setting </a:t>
            </a:r>
            <a:r>
              <a:rPr sz="1200" b="0" i="0">
                <a:solidFill>
                  <a:srgbClr val="202020"/>
                </a:solidFill>
                <a:latin typeface="Consolas"/>
              </a:rPr>
              <a:t>USE_SQL_SERVER=true</a:t>
            </a:r>
            <a:r>
              <a:rPr sz="1250" b="0" i="0">
                <a:solidFill>
                  <a:srgbClr val="202020"/>
                </a:solidFill>
                <a:latin typeface="Calibri"/>
              </a:rPr>
              <a:t> (with </a:t>
            </a:r>
            <a:r>
              <a:rPr sz="1200" b="0" i="0">
                <a:solidFill>
                  <a:srgbClr val="202020"/>
                </a:solidFill>
                <a:latin typeface="Consolas"/>
              </a:rPr>
              <a:t>SQL_CONNECTION_STRING</a:t>
            </a:r>
            <a:r>
              <a:rPr sz="1250" b="0" i="0">
                <a:solidFill>
                  <a:srgbClr val="202020"/>
                </a:solidFill>
                <a:latin typeface="Calibri"/>
              </a:rPr>
              <a:t>) moves the coordinating state into a shared </a:t>
            </a:r>
            <a:r>
              <a:rPr sz="1250" b="1" i="0">
                <a:solidFill>
                  <a:srgbClr val="202020"/>
                </a:solidFill>
                <a:latin typeface="Calibri"/>
              </a:rPr>
              <a:t>SQL Server</a:t>
            </a:r>
            <a:r>
              <a:rPr sz="1250" b="0" i="0">
                <a:solidFill>
                  <a:srgbClr val="202020"/>
                </a:solidFill>
                <a:latin typeface="Calibri"/>
              </a:rPr>
              <a:t> database instead. SQL mode is required for high availability. Run logs always stay local on each node even in SQL mode.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6.9 Active-active high availability (HA) leases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With </a:t>
            </a:r>
            <a:r>
              <a:rPr sz="1200" b="0" i="0">
                <a:solidFill>
                  <a:srgbClr val="202020"/>
                </a:solidFill>
                <a:latin typeface="Consolas"/>
              </a:rPr>
              <a:t>HA_MODE=true</a:t>
            </a:r>
            <a:r>
              <a:rPr sz="1250" b="0" i="0">
                <a:solidFill>
                  <a:srgbClr val="202020"/>
                </a:solidFill>
                <a:latin typeface="Calibri"/>
              </a:rPr>
              <a:t> (which requires SQL Server), two or more nodes run the </a:t>
            </a:r>
            <a:r>
              <a:rPr sz="1250" b="1" i="0">
                <a:solidFill>
                  <a:srgbClr val="202020"/>
                </a:solidFill>
                <a:latin typeface="Calibri"/>
              </a:rPr>
              <a:t>same</a:t>
            </a:r>
            <a:r>
              <a:rPr sz="1250" b="0" i="0">
                <a:solidFill>
                  <a:srgbClr val="202020"/>
                </a:solidFill>
                <a:latin typeface="Calibri"/>
              </a:rPr>
              <a:t> continuous command against </a:t>
            </a:r>
            <a:r>
              <a:rPr sz="1250" b="1" i="0">
                <a:solidFill>
                  <a:srgbClr val="202020"/>
                </a:solidFill>
                <a:latin typeface="Calibri"/>
              </a:rPr>
              <a:t>one</a:t>
            </a:r>
            <a:r>
              <a:rPr sz="1250" b="0" i="0">
                <a:solidFill>
                  <a:srgbClr val="202020"/>
                </a:solidFill>
                <a:latin typeface="Calibri"/>
              </a:rPr>
              <a:t> database and coordinate entirely in SQL. When a cycle is due, exactly one node opens the crawl and the others join; each node then </a:t>
            </a:r>
            <a:r>
              <a:rPr sz="1250" b="1" i="0">
                <a:solidFill>
                  <a:srgbClr val="202020"/>
                </a:solidFill>
                <a:latin typeface="Calibri"/>
              </a:rPr>
              <a:t>claims</a:t>
            </a:r>
            <a:r>
              <a:rPr sz="1250" b="0" i="0">
                <a:solidFill>
                  <a:srgbClr val="202020"/>
                </a:solidFill>
                <a:latin typeface="Calibri"/>
              </a:rPr>
              <a:t> an object type, works it, and heartbeats the claim every </a:t>
            </a:r>
            <a:r>
              <a:rPr sz="1200" b="0" i="0">
                <a:solidFill>
                  <a:srgbClr val="202020"/>
                </a:solidFill>
                <a:latin typeface="Consolas"/>
              </a:rPr>
              <a:t>HA_HEARTBEAT_SECONDS</a:t>
            </a:r>
            <a:r>
              <a:rPr sz="1250" b="0" i="0">
                <a:solidFill>
                  <a:srgbClr val="202020"/>
                </a:solidFill>
                <a:latin typeface="Calibri"/>
              </a:rPr>
              <a:t> (default 60). If a node dies, its heartbeat goes stale and after </a:t>
            </a:r>
            <a:r>
              <a:rPr sz="1200" b="0" i="0">
                <a:solidFill>
                  <a:srgbClr val="202020"/>
                </a:solidFill>
                <a:latin typeface="Consolas"/>
              </a:rPr>
              <a:t>HA_CLAIM_TIMEOUT_SECONDS</a:t>
            </a:r>
            <a:r>
              <a:rPr sz="1250" b="0" i="0">
                <a:solidFill>
                  <a:srgbClr val="202020"/>
                </a:solidFill>
                <a:latin typeface="Calibri"/>
              </a:rPr>
              <a:t> (default 300) another node reclaims the object and resumes it from its checkpoint. This is a </a:t>
            </a:r>
            <a:r>
              <a:rPr sz="1250" b="1" i="0">
                <a:solidFill>
                  <a:srgbClr val="202020"/>
                </a:solidFill>
                <a:latin typeface="Calibri"/>
              </a:rPr>
              <a:t>lease</a:t>
            </a:r>
            <a:r>
              <a:rPr sz="1250" b="0" i="0">
                <a:solidFill>
                  <a:srgbClr val="202020"/>
                </a:solidFill>
                <a:latin typeface="Calibri"/>
              </a:rPr>
              <a:t>: hold it by heartbeating, lose it by going silent. HA buys </a:t>
            </a:r>
            <a:r>
              <a:rPr sz="1250" b="1" i="0">
                <a:solidFill>
                  <a:srgbClr val="202020"/>
                </a:solidFill>
                <a:latin typeface="Calibri"/>
              </a:rPr>
              <a:t>availability and crawl-window resilience — not throughput</a:t>
            </a:r>
            <a:r>
              <a:rPr sz="1250" b="0" i="0">
                <a:solidFill>
                  <a:srgbClr val="202020"/>
                </a:solidFill>
                <a:latin typeface="Calibri"/>
              </a:rPr>
              <a:t> (the 429 quota is per connection and shared, so size </a:t>
            </a:r>
            <a:r>
              <a:rPr sz="1200" b="0" i="0">
                <a:solidFill>
                  <a:srgbClr val="202020"/>
                </a:solidFill>
                <a:latin typeface="Consolas"/>
              </a:rPr>
              <a:t>GRAPH_BATCH_WORKERS</a:t>
            </a:r>
            <a:r>
              <a:rPr sz="1250" b="0" i="0">
                <a:solidFill>
                  <a:srgbClr val="202020"/>
                </a:solidFill>
                <a:latin typeface="Calibri"/>
              </a:rPr>
              <a:t> as single-node value divided by node count).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6.10 Circuit breakers and degraded mode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 </a:t>
            </a:r>
            <a:r>
              <a:rPr sz="1250" b="1" i="0">
                <a:solidFill>
                  <a:srgbClr val="202020"/>
                </a:solidFill>
                <a:latin typeface="Calibri"/>
              </a:rPr>
              <a:t>circuit breaker</a:t>
            </a:r>
            <a:r>
              <a:rPr sz="1250" b="0" i="0">
                <a:solidFill>
                  <a:srgbClr val="202020"/>
                </a:solidFill>
                <a:latin typeface="Calibri"/>
              </a:rPr>
              <a:t> protects the source and the tenant during a </a:t>
            </a:r>
            <a:r>
              <a:rPr sz="1250" b="1" i="0">
                <a:solidFill>
                  <a:srgbClr val="202020"/>
                </a:solidFill>
                <a:latin typeface="Calibri"/>
              </a:rPr>
              <a:t>sustained</a:t>
            </a:r>
            <a:r>
              <a:rPr sz="1250" b="0" i="0">
                <a:solidFill>
                  <a:srgbClr val="202020"/>
                </a:solidFill>
                <a:latin typeface="Calibri"/>
              </a:rPr>
              <a:t> outage. Each external dependency (the source system, Graph) has a breaker (</a:t>
            </a:r>
            <a:r>
              <a:rPr sz="1200" b="0" i="0">
                <a:solidFill>
                  <a:srgbClr val="202020"/>
                </a:solidFill>
                <a:latin typeface="Consolas"/>
              </a:rPr>
              <a:t>CIRCUIT_BREAKER</a:t>
            </a:r>
            <a:r>
              <a:rPr sz="1250" b="0" i="0">
                <a:solidFill>
                  <a:srgbClr val="202020"/>
                </a:solidFill>
                <a:latin typeface="Calibri"/>
              </a:rPr>
              <a:t>, default on) that trips </a:t>
            </a:r>
            <a:r>
              <a:rPr sz="1250" b="1" i="0">
                <a:solidFill>
                  <a:srgbClr val="202020"/>
                </a:solidFill>
                <a:latin typeface="Calibri"/>
              </a:rPr>
              <a:t>open</a:t>
            </a:r>
            <a:r>
              <a:rPr sz="1250" b="0" i="0">
                <a:solidFill>
                  <a:srgbClr val="202020"/>
                </a:solidFill>
                <a:latin typeface="Calibri"/>
              </a:rPr>
              <a:t> after </a:t>
            </a:r>
            <a:r>
              <a:rPr sz="1200" b="0" i="0">
                <a:solidFill>
                  <a:srgbClr val="202020"/>
                </a:solidFill>
                <a:latin typeface="Consolas"/>
              </a:rPr>
              <a:t>CIRCUIT_BREAKER_FAILURE_THRESHOLD</a:t>
            </a:r>
            <a:r>
              <a:rPr sz="1250" b="0" i="0">
                <a:solidFill>
                  <a:srgbClr val="202020"/>
                </a:solidFill>
                <a:latin typeface="Calibri"/>
              </a:rPr>
              <a:t> real failures (default 5) within a rolling window, pausing work at a safe checkpoint boundary rather than hammering a failing service. After </a:t>
            </a:r>
            <a:r>
              <a:rPr sz="1200" b="0" i="0">
                <a:solidFill>
                  <a:srgbClr val="202020"/>
                </a:solidFill>
                <a:latin typeface="Consolas"/>
              </a:rPr>
              <a:t>CIRCUIT_BREAKER_OPEN_SECONDS</a:t>
            </a:r>
            <a:r>
              <a:rPr sz="1250" b="0" i="0">
                <a:solidFill>
                  <a:srgbClr val="202020"/>
                </a:solidFill>
                <a:latin typeface="Calibri"/>
              </a:rPr>
              <a:t> (default 30) it admits a </a:t>
            </a:r>
            <a:r>
              <a:rPr sz="1250" b="1" i="0">
                <a:solidFill>
                  <a:srgbClr val="202020"/>
                </a:solidFill>
                <a:latin typeface="Calibri"/>
              </a:rPr>
              <a:t>half-open</a:t>
            </a:r>
            <a:r>
              <a:rPr sz="1250" b="0" i="0">
                <a:solidFill>
                  <a:srgbClr val="202020"/>
                </a:solidFill>
                <a:latin typeface="Calibri"/>
              </a:rPr>
              <a:t> probe; a couple of successes close it again. Only genuine failures (5xx, timeouts, connection errors) count — ordinary 4xx and an honoured 429 do not trip it. This is </a:t>
            </a:r>
            <a:r>
              <a:rPr sz="1250" b="1" i="0">
                <a:solidFill>
                  <a:srgbClr val="202020"/>
                </a:solidFill>
                <a:latin typeface="Calibri"/>
              </a:rPr>
              <a:t>degraded mode</a:t>
            </a:r>
            <a:r>
              <a:rPr sz="1250" b="0" i="0">
                <a:solidFill>
                  <a:srgbClr val="202020"/>
                </a:solidFill>
                <a:latin typeface="Calibri"/>
              </a:rPr>
              <a:t>: the connector keeps its state safe and waits, instead of failing hard or losing work.</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6.11 Health, readiness and metrics endpoints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Set </a:t>
            </a:r>
            <a:r>
              <a:rPr sz="1200" b="0" i="0">
                <a:solidFill>
                  <a:srgbClr val="202020"/>
                </a:solidFill>
                <a:latin typeface="Consolas"/>
              </a:rPr>
              <a:t>HEALTH_PORT</a:t>
            </a:r>
            <a:r>
              <a:rPr sz="1250" b="0" i="0">
                <a:solidFill>
                  <a:srgbClr val="202020"/>
                </a:solidFill>
                <a:latin typeface="Calibri"/>
              </a:rPr>
              <a:t> to a port number to expose three HTTP routes: </a:t>
            </a:r>
            <a:r>
              <a:rPr sz="1200" b="0" i="0">
                <a:solidFill>
                  <a:srgbClr val="202020"/>
                </a:solidFill>
                <a:latin typeface="Consolas"/>
              </a:rPr>
              <a:t>GET /health</a:t>
            </a:r>
            <a:r>
              <a:rPr sz="1250" b="0" i="0">
                <a:solidFill>
                  <a:srgbClr val="202020"/>
                </a:solidFill>
                <a:latin typeface="Calibri"/>
              </a:rPr>
              <a:t> (liveness — the process is up), </a:t>
            </a:r>
            <a:r>
              <a:rPr sz="1200" b="0" i="0">
                <a:solidFill>
                  <a:srgbClr val="202020"/>
                </a:solidFill>
                <a:latin typeface="Consolas"/>
              </a:rPr>
              <a:t>GET /ready</a:t>
            </a:r>
            <a:r>
              <a:rPr sz="1250" b="0" i="0">
                <a:solidFill>
                  <a:srgbClr val="202020"/>
                </a:solidFill>
                <a:latin typeface="Calibri"/>
              </a:rPr>
              <a:t> (readiness — configuration loaded) and </a:t>
            </a:r>
            <a:r>
              <a:rPr sz="1200" b="0" i="0">
                <a:solidFill>
                  <a:srgbClr val="202020"/>
                </a:solidFill>
                <a:latin typeface="Consolas"/>
              </a:rPr>
              <a:t>GET /metrics</a:t>
            </a:r>
            <a:r>
              <a:rPr sz="1250" b="0" i="0">
                <a:solidFill>
                  <a:srgbClr val="202020"/>
                </a:solidFill>
                <a:latin typeface="Calibri"/>
              </a:rPr>
              <a:t> (Prometheus-format metrics). Left at 0 the endpoint is off. This is how monitoring watches the connector (section 10). It is outbound-safe: firewall </a:t>
            </a:r>
            <a:r>
              <a:rPr sz="1200" b="0" i="0">
                <a:solidFill>
                  <a:srgbClr val="202020"/>
                </a:solidFill>
                <a:latin typeface="Consolas"/>
              </a:rPr>
              <a:t>/metrics</a:t>
            </a:r>
            <a:r>
              <a:rPr sz="1250" b="0" i="0">
                <a:solidFill>
                  <a:srgbClr val="202020"/>
                </a:solidFill>
                <a:latin typeface="Calibri"/>
              </a:rPr>
              <a:t> to your monitoring subnet.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6.12 Structured logs, tracing and data classification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Structured JSON logs</a:t>
            </a:r>
            <a:r>
              <a:rPr sz="1250" b="0" i="0">
                <a:solidFill>
                  <a:srgbClr val="202020"/>
                </a:solidFill>
                <a:latin typeface="Calibri"/>
              </a:rPr>
              <a:t> — set </a:t>
            </a:r>
            <a:r>
              <a:rPr sz="1200" b="0" i="0">
                <a:solidFill>
                  <a:srgbClr val="202020"/>
                </a:solidFill>
                <a:latin typeface="Consolas"/>
              </a:rPr>
              <a:t>LOG_FORMAT=json</a:t>
            </a:r>
            <a:r>
              <a:rPr sz="1250" b="0" i="0">
                <a:solidFill>
                  <a:srgbClr val="202020"/>
                </a:solidFill>
                <a:latin typeface="Calibri"/>
              </a:rPr>
              <a:t> to emit one JSON object per log line (timestamp, level, logger, message, optional exception) for clean ingestion into a SIEM. The default is human-readable text.</a:t>
            </a:r>
          </a:p>
          <a:p>
            <a:pPr>
              <a:spcBef>
                <a:spcPts val="100"/>
              </a:spcBef>
              <a:spcAft>
                <a:spcPts val="200"/>
              </a:spcAft>
            </a:pPr>
            <a:r>
              <a:rPr sz="1250" b="1" i="0">
                <a:solidFill>
                  <a:srgbClr val="2E5496"/>
                </a:solidFill>
                <a:latin typeface="Calibri"/>
              </a:rPr>
              <a:t>•  </a:t>
            </a:r>
            <a:r>
              <a:rPr sz="1250" b="1" i="0">
                <a:solidFill>
                  <a:srgbClr val="202020"/>
                </a:solidFill>
                <a:latin typeface="Calibri"/>
              </a:rPr>
              <a:t>OpenTelemetry tracing</a:t>
            </a:r>
            <a:r>
              <a:rPr sz="1250" b="0" i="0">
                <a:solidFill>
                  <a:srgbClr val="202020"/>
                </a:solidFill>
                <a:latin typeface="Calibri"/>
              </a:rPr>
              <a:t> — set </a:t>
            </a:r>
            <a:r>
              <a:rPr sz="1200" b="0" i="0">
                <a:solidFill>
                  <a:srgbClr val="202020"/>
                </a:solidFill>
                <a:latin typeface="Consolas"/>
              </a:rPr>
              <a:t>OTEL_EXPORTER_OTLP_ENDPOINT</a:t>
            </a:r>
            <a:r>
              <a:rPr sz="1250" b="0" i="0">
                <a:solidFill>
                  <a:srgbClr val="202020"/>
                </a:solidFill>
                <a:latin typeface="Calibri"/>
              </a:rPr>
              <a:t> to export spans around each crawl, per-object crawl, fetch, transform, ingest and deletion sweep, with a correlation id stamped on every log line and dead-letter record so one run is followable end to end. Unset = no tracing overhead.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6.12 Structured logs, tracing and data classification</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Data classification / sensitivity labelling</a:t>
            </a:r>
            <a:r>
              <a:rPr sz="1250" b="0" i="0">
                <a:solidFill>
                  <a:srgbClr val="202020"/>
                </a:solidFill>
                <a:latin typeface="Calibri"/>
              </a:rPr>
              <a:t> — set </a:t>
            </a:r>
            <a:r>
              <a:rPr sz="1200" b="0" i="0">
                <a:solidFill>
                  <a:srgbClr val="202020"/>
                </a:solidFill>
                <a:latin typeface="Consolas"/>
              </a:rPr>
              <a:t>CLASSIFICATION=true</a:t>
            </a:r>
            <a:r>
              <a:rPr sz="1250" b="0" i="0">
                <a:solidFill>
                  <a:srgbClr val="202020"/>
                </a:solidFill>
                <a:latin typeface="Calibri"/>
              </a:rPr>
              <a:t> to stamp every item with a </a:t>
            </a:r>
            <a:r>
              <a:rPr sz="1200" b="0" i="0">
                <a:solidFill>
                  <a:srgbClr val="202020"/>
                </a:solidFill>
                <a:latin typeface="Consolas"/>
              </a:rPr>
              <a:t>SensitivityLabel</a:t>
            </a:r>
            <a:r>
              <a:rPr sz="1250" b="0" i="0">
                <a:solidFill>
                  <a:srgbClr val="202020"/>
                </a:solidFill>
                <a:latin typeface="Calibri"/>
              </a:rPr>
              <a:t> on the scale </a:t>
            </a:r>
            <a:r>
              <a:rPr sz="1200" b="0" i="0">
                <a:solidFill>
                  <a:srgbClr val="202020"/>
                </a:solidFill>
                <a:latin typeface="Consolas"/>
              </a:rPr>
              <a:t>Public (0) &lt; Internal (1) &lt; Confidential (2) &lt; Restricted (3)</a:t>
            </a:r>
            <a:r>
              <a:rPr sz="1250" b="0" i="0">
                <a:solidFill>
                  <a:srgbClr val="202020"/>
                </a:solidFill>
                <a:latin typeface="Calibri"/>
              </a:rPr>
              <a:t> plus a </a:t>
            </a:r>
            <a:r>
              <a:rPr sz="1200" b="0" i="0">
                <a:solidFill>
                  <a:srgbClr val="202020"/>
                </a:solidFill>
                <a:latin typeface="Consolas"/>
              </a:rPr>
              <a:t>DetectedCategories</a:t>
            </a:r>
            <a:r>
              <a:rPr sz="1250" b="0" i="0">
                <a:solidFill>
                  <a:srgbClr val="202020"/>
                </a:solidFill>
                <a:latin typeface="Calibri"/>
              </a:rPr>
              <a:t> set (out of the box PII, PCI, Secret). The per-object baseline is a floor; a detection (for example a card number passing the Luhn check) can only raise the label. </a:t>
            </a:r>
            <a:r>
              <a:rPr sz="1200" b="0" i="0">
                <a:solidFill>
                  <a:srgbClr val="202020"/>
                </a:solidFill>
                <a:latin typeface="Consolas"/>
              </a:rPr>
              <a:t>CLASSIFICATION_MANIFEST=true</a:t>
            </a:r>
            <a:r>
              <a:rPr sz="1250" b="0" i="0">
                <a:solidFill>
                  <a:srgbClr val="202020"/>
                </a:solidFill>
                <a:latin typeface="Calibri"/>
              </a:rPr>
              <a:t> additionally writes a per-crawl classification file for catalog/DLP tooling. Off by default.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6.13 Chassis at a glance</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Chassis part</a:t>
                      </a:r>
                    </a:p>
                  </a:txBody>
                  <a:tcPr marT="25400" marB="25400">
                    <a:solidFill>
                      <a:srgbClr val="2E5496"/>
                    </a:solidFill>
                  </a:tcPr>
                </a:tc>
                <a:tc>
                  <a:txBody>
                    <a:bodyPr wrap="square"/>
                    <a:lstStyle/>
                    <a:p>
                      <a:r>
                        <a:rPr sz="1050" b="1" i="0">
                          <a:solidFill>
                            <a:srgbClr val="FFFFFF"/>
                          </a:solidFill>
                          <a:latin typeface="Calibri"/>
                        </a:rPr>
                        <a:t>Key setting(s)</a:t>
                      </a:r>
                    </a:p>
                  </a:txBody>
                  <a:tcPr marT="25400" marB="25400">
                    <a:solidFill>
                      <a:srgbClr val="2E5496"/>
                    </a:solidFill>
                  </a:tcPr>
                </a:tc>
                <a:tc>
                  <a:txBody>
                    <a:bodyPr wrap="square"/>
                    <a:lstStyle/>
                    <a:p>
                      <a:r>
                        <a:rPr sz="1050" b="1" i="0">
                          <a:solidFill>
                            <a:srgbClr val="FFFFFF"/>
                          </a:solidFill>
                          <a:latin typeface="Calibri"/>
                        </a:rPr>
                        <a:t>Why it matters</a:t>
                      </a:r>
                    </a:p>
                  </a:txBody>
                  <a:tcPr marT="25400" marB="25400">
                    <a:solidFill>
                      <a:srgbClr val="2E5496"/>
                    </a:solidFill>
                  </a:tcPr>
                </a:tc>
              </a:tr>
              <a:tr h="384048">
                <a:tc>
                  <a:txBody>
                    <a:bodyPr wrap="square"/>
                    <a:lstStyle/>
                    <a:p>
                      <a:r>
                        <a:rPr sz="950" b="0" i="0">
                          <a:solidFill>
                            <a:srgbClr val="202020"/>
                          </a:solidFill>
                          <a:latin typeface="Calibri"/>
                        </a:rPr>
                        <a:t>Unified CLI</a:t>
                      </a:r>
                    </a:p>
                  </a:txBody>
                  <a:tcPr marT="12700" marB="12700">
                    <a:solidFill>
                      <a:srgbClr val="FFFFFF"/>
                    </a:solidFill>
                  </a:tcPr>
                </a:tc>
                <a:tc>
                  <a:txBody>
                    <a:bodyPr wrap="square"/>
                    <a:lstStyle/>
                    <a:p>
                      <a:r>
                        <a:rPr sz="950" b="0" i="0">
                          <a:solidFill>
                            <a:srgbClr val="202020"/>
                          </a:solidFill>
                          <a:latin typeface="Calibri"/>
                        </a:rPr>
                        <a:t>the verbs in 6.1</a:t>
                      </a:r>
                    </a:p>
                  </a:txBody>
                  <a:tcPr marT="12700" marB="12700">
                    <a:solidFill>
                      <a:srgbClr val="FFFFFF"/>
                    </a:solidFill>
                  </a:tcPr>
                </a:tc>
                <a:tc>
                  <a:txBody>
                    <a:bodyPr wrap="square"/>
                    <a:lstStyle/>
                    <a:p>
                      <a:r>
                        <a:rPr sz="950" b="0" i="0">
                          <a:solidFill>
                            <a:srgbClr val="202020"/>
                          </a:solidFill>
                          <a:latin typeface="Calibri"/>
                        </a:rPr>
                        <a:t>One consistent command set across all five connectors</a:t>
                      </a:r>
                    </a:p>
                  </a:txBody>
                  <a:tcPr marT="12700" marB="12700">
                    <a:solidFill>
                      <a:srgbClr val="FFFFFF"/>
                    </a:solidFill>
                  </a:tcPr>
                </a:tc>
              </a:tr>
              <a:tr h="384048">
                <a:tc>
                  <a:txBody>
                    <a:bodyPr wrap="square"/>
                    <a:lstStyle/>
                    <a:p>
                      <a:r>
                        <a:rPr sz="950" b="0" i="0">
                          <a:solidFill>
                            <a:srgbClr val="202020"/>
                          </a:solidFill>
                          <a:latin typeface="Calibri"/>
                        </a:rPr>
                        <a:t>Full/incremental crawl</a:t>
                      </a:r>
                    </a:p>
                  </a:txBody>
                  <a:tcPr marT="12700" marB="12700">
                    <a:solidFill>
                      <a:srgbClr val="F7F9FC"/>
                    </a:solidFill>
                  </a:tcPr>
                </a:tc>
                <a:tc>
                  <a:txBody>
                    <a:bodyPr wrap="square"/>
                    <a:lstStyle/>
                    <a:p>
                      <a:r>
                        <a:rPr sz="950" b="0" i="0">
                          <a:solidFill>
                            <a:srgbClr val="202020"/>
                          </a:solidFill>
                          <a:latin typeface="Calibri"/>
                        </a:rPr>
                        <a:t>--full-crawl-hours (24), --incremental-hours (4)</a:t>
                      </a:r>
                    </a:p>
                  </a:txBody>
                  <a:tcPr marT="12700" marB="12700">
                    <a:solidFill>
                      <a:srgbClr val="F7F9FC"/>
                    </a:solidFill>
                  </a:tcPr>
                </a:tc>
                <a:tc>
                  <a:txBody>
                    <a:bodyPr wrap="square"/>
                    <a:lstStyle/>
                    <a:p>
                      <a:r>
                        <a:rPr sz="950" b="0" i="0">
                          <a:solidFill>
                            <a:srgbClr val="202020"/>
                          </a:solidFill>
                          <a:latin typeface="Calibri"/>
                        </a:rPr>
                        <a:t>Full = complete; incremental = cheap deltas via a watermark</a:t>
                      </a:r>
                    </a:p>
                  </a:txBody>
                  <a:tcPr marT="12700" marB="12700">
                    <a:solidFill>
                      <a:srgbClr val="F7F9FC"/>
                    </a:solidFill>
                  </a:tcPr>
                </a:tc>
              </a:tr>
              <a:tr h="384048">
                <a:tc>
                  <a:txBody>
                    <a:bodyPr wrap="square"/>
                    <a:lstStyle/>
                    <a:p>
                      <a:r>
                        <a:rPr sz="950" b="0" i="0">
                          <a:solidFill>
                            <a:srgbClr val="202020"/>
                          </a:solidFill>
                          <a:latin typeface="Calibri"/>
                        </a:rPr>
                        <a:t>Checkpoints + resume</a:t>
                      </a:r>
                    </a:p>
                  </a:txBody>
                  <a:tcPr marT="12700" marB="12700">
                    <a:solidFill>
                      <a:srgbClr val="FFFFFF"/>
                    </a:solidFill>
                  </a:tcPr>
                </a:tc>
                <a:tc>
                  <a:txBody>
                    <a:bodyPr wrap="square"/>
                    <a:lstStyle/>
                    <a:p>
                      <a:r>
                        <a:rPr sz="950" b="0" i="0">
                          <a:solidFill>
                            <a:srgbClr val="202020"/>
                          </a:solidFill>
                          <a:latin typeface="Consolas"/>
                        </a:rPr>
                        <a:t>INGEST_CHUNK_SIZE</a:t>
                      </a:r>
                    </a:p>
                  </a:txBody>
                  <a:tcPr marT="12700" marB="12700">
                    <a:solidFill>
                      <a:srgbClr val="FFFFFF"/>
                    </a:solidFill>
                  </a:tcPr>
                </a:tc>
                <a:tc>
                  <a:txBody>
                    <a:bodyPr wrap="square"/>
                    <a:lstStyle/>
                    <a:p>
                      <a:r>
                        <a:rPr sz="950" b="0" i="0">
                          <a:solidFill>
                            <a:srgbClr val="202020"/>
                          </a:solidFill>
                          <a:latin typeface="Calibri"/>
                        </a:rPr>
                        <a:t>A stop never loses progress; the next start resumes</a:t>
                      </a:r>
                    </a:p>
                  </a:txBody>
                  <a:tcPr marT="12700" marB="12700">
                    <a:solidFill>
                      <a:srgbClr val="FFFFFF"/>
                    </a:solidFill>
                  </a:tcPr>
                </a:tc>
              </a:tr>
              <a:tr h="384048">
                <a:tc>
                  <a:txBody>
                    <a:bodyPr wrap="square"/>
                    <a:lstStyle/>
                    <a:p>
                      <a:r>
                        <a:rPr sz="950" b="0" i="0">
                          <a:solidFill>
                            <a:srgbClr val="202020"/>
                          </a:solidFill>
                          <a:latin typeface="Calibri"/>
                        </a:rPr>
                        <a:t>Dead-letter queue</a:t>
                      </a:r>
                    </a:p>
                  </a:txBody>
                  <a:tcPr marT="12700" marB="12700">
                    <a:solidFill>
                      <a:srgbClr val="F7F9FC"/>
                    </a:solidFill>
                  </a:tcPr>
                </a:tc>
                <a:tc>
                  <a:txBody>
                    <a:bodyPr wrap="square"/>
                    <a:lstStyle/>
                    <a:p>
                      <a:r>
                        <a:rPr sz="950" b="0" i="0">
                          <a:solidFill>
                            <a:srgbClr val="202020"/>
                          </a:solidFill>
                          <a:latin typeface="Calibri"/>
                        </a:rPr>
                        <a:t>retry-failed, ALERT_DEADLETTER_THRESHOLD</a:t>
                      </a:r>
                    </a:p>
                  </a:txBody>
                  <a:tcPr marT="12700" marB="12700">
                    <a:solidFill>
                      <a:srgbClr val="F7F9FC"/>
                    </a:solidFill>
                  </a:tcPr>
                </a:tc>
                <a:tc>
                  <a:txBody>
                    <a:bodyPr wrap="square"/>
                    <a:lstStyle/>
                    <a:p>
                      <a:r>
                        <a:rPr sz="950" b="0" i="0">
                          <a:solidFill>
                            <a:srgbClr val="202020"/>
                          </a:solidFill>
                          <a:latin typeface="Calibri"/>
                        </a:rPr>
                        <a:t>Failures set aside, never block a crawl; drain on demand</a:t>
                      </a:r>
                    </a:p>
                  </a:txBody>
                  <a:tcPr marT="12700" marB="12700">
                    <a:solidFill>
                      <a:srgbClr val="F7F9FC"/>
                    </a:solidFill>
                  </a:tcPr>
                </a:tc>
              </a:tr>
              <a:tr h="384048">
                <a:tc>
                  <a:txBody>
                    <a:bodyPr wrap="square"/>
                    <a:lstStyle/>
                    <a:p>
                      <a:r>
                        <a:rPr sz="950" b="0" i="0">
                          <a:solidFill>
                            <a:srgbClr val="202020"/>
                          </a:solidFill>
                          <a:latin typeface="Calibri"/>
                        </a:rPr>
                        <a:t>Retry / backoff</a:t>
                      </a:r>
                    </a:p>
                  </a:txBody>
                  <a:tcPr marT="12700" marB="12700">
                    <a:solidFill>
                      <a:srgbClr val="FFFFFF"/>
                    </a:solidFill>
                  </a:tcPr>
                </a:tc>
                <a:tc>
                  <a:txBody>
                    <a:bodyPr wrap="square"/>
                    <a:lstStyle/>
                    <a:p>
                      <a:r>
                        <a:rPr sz="950" b="0" i="0">
                          <a:solidFill>
                            <a:srgbClr val="202020"/>
                          </a:solidFill>
                          <a:latin typeface="Consolas"/>
                        </a:rPr>
                        <a:t>GRAPH_MAX_RETRIES (4), GRAPH_RETRY_BACKOFF_BASE (2)</a:t>
                      </a:r>
                    </a:p>
                  </a:txBody>
                  <a:tcPr marT="12700" marB="12700">
                    <a:solidFill>
                      <a:srgbClr val="FFFFFF"/>
                    </a:solidFill>
                  </a:tcPr>
                </a:tc>
                <a:tc>
                  <a:txBody>
                    <a:bodyPr wrap="square"/>
                    <a:lstStyle/>
                    <a:p>
                      <a:r>
                        <a:rPr sz="950" b="0" i="0">
                          <a:solidFill>
                            <a:srgbClr val="202020"/>
                          </a:solidFill>
                          <a:latin typeface="Calibri"/>
                        </a:rPr>
                        <a:t>Rides out throttling; 60s clamp caps any single wait</a:t>
                      </a:r>
                    </a:p>
                  </a:txBody>
                  <a:tcPr marT="12700" marB="12700">
                    <a:solidFill>
                      <a:srgbClr val="FFFFFF"/>
                    </a:solidFill>
                  </a:tcPr>
                </a:tc>
              </a:tr>
              <a:tr h="384048">
                <a:tc>
                  <a:txBody>
                    <a:bodyPr wrap="square"/>
                    <a:lstStyle/>
                    <a:p>
                      <a:r>
                        <a:rPr sz="950" b="0" i="0">
                          <a:solidFill>
                            <a:srgbClr val="202020"/>
                          </a:solidFill>
                          <a:latin typeface="Calibri"/>
                        </a:rPr>
                        <a:t>Adaptive concurrency</a:t>
                      </a:r>
                    </a:p>
                  </a:txBody>
                  <a:tcPr marT="12700" marB="12700">
                    <a:solidFill>
                      <a:srgbClr val="F7F9FC"/>
                    </a:solidFill>
                  </a:tcPr>
                </a:tc>
                <a:tc>
                  <a:txBody>
                    <a:bodyPr wrap="square"/>
                    <a:lstStyle/>
                    <a:p>
                      <a:r>
                        <a:rPr sz="950" b="0" i="0">
                          <a:solidFill>
                            <a:srgbClr val="202020"/>
                          </a:solidFill>
                          <a:latin typeface="Consolas"/>
                        </a:rPr>
                        <a:t>GRAPH_BATCH_WORKERS (8)</a:t>
                      </a:r>
                    </a:p>
                  </a:txBody>
                  <a:tcPr marT="12700" marB="12700">
                    <a:solidFill>
                      <a:srgbClr val="F7F9FC"/>
                    </a:solidFill>
                  </a:tcPr>
                </a:tc>
                <a:tc>
                  <a:txBody>
                    <a:bodyPr wrap="square"/>
                    <a:lstStyle/>
                    <a:p>
                      <a:r>
                        <a:rPr sz="950" b="0" i="0">
                          <a:solidFill>
                            <a:srgbClr val="202020"/>
                          </a:solidFill>
                          <a:latin typeface="Calibri"/>
                        </a:rPr>
                        <a:t>Self-tunes push rate to what the tenant tolerates</a:t>
                      </a:r>
                    </a:p>
                  </a:txBody>
                  <a:tcPr marT="12700" marB="12700">
                    <a:solidFill>
                      <a:srgbClr val="F7F9FC"/>
                    </a:solidFill>
                  </a:tcPr>
                </a:tc>
              </a:tr>
              <a:tr h="384048">
                <a:tc>
                  <a:txBody>
                    <a:bodyPr wrap="square"/>
                    <a:lstStyle/>
                    <a:p>
                      <a:r>
                        <a:rPr sz="950" b="0" i="0">
                          <a:solidFill>
                            <a:srgbClr val="202020"/>
                          </a:solidFill>
                          <a:latin typeface="Calibri"/>
                        </a:rPr>
                        <a:t>Connection sharding</a:t>
                      </a:r>
                    </a:p>
                  </a:txBody>
                  <a:tcPr marT="12700" marB="12700">
                    <a:solidFill>
                      <a:srgbClr val="FFFFFF"/>
                    </a:solidFill>
                  </a:tcPr>
                </a:tc>
                <a:tc>
                  <a:txBody>
                    <a:bodyPr wrap="square"/>
                    <a:lstStyle/>
                    <a:p>
                      <a:r>
                        <a:rPr sz="950" b="0" i="0">
                          <a:solidFill>
                            <a:srgbClr val="202020"/>
                          </a:solidFill>
                          <a:latin typeface="Consolas"/>
                        </a:rPr>
                        <a:t>GRAPH_CONNECTION_SHARDS</a:t>
                      </a:r>
                    </a:p>
                  </a:txBody>
                  <a:tcPr marT="12700" marB="12700">
                    <a:solidFill>
                      <a:srgbClr val="FFFFFF"/>
                    </a:solidFill>
                  </a:tcPr>
                </a:tc>
                <a:tc>
                  <a:txBody>
                    <a:bodyPr wrap="square"/>
                    <a:lstStyle/>
                    <a:p>
                      <a:r>
                        <a:rPr sz="950" b="0" i="0">
                          <a:solidFill>
                            <a:srgbClr val="202020"/>
                          </a:solidFill>
                          <a:latin typeface="Calibri"/>
                        </a:rPr>
                        <a:t>N connections ~ N x throughput; each counts to the 30 cap</a:t>
                      </a:r>
                    </a:p>
                  </a:txBody>
                  <a:tcPr marT="12700" marB="12700">
                    <a:solidFill>
                      <a:srgbClr val="FFFFFF"/>
                    </a:solidFill>
                  </a:tcPr>
                </a:tc>
              </a:tr>
              <a:tr h="384048">
                <a:tc>
                  <a:txBody>
                    <a:bodyPr wrap="square"/>
                    <a:lstStyle/>
                    <a:p>
                      <a:r>
                        <a:rPr sz="950" b="0" i="0">
                          <a:solidFill>
                            <a:srgbClr val="202020"/>
                          </a:solidFill>
                          <a:latin typeface="Calibri"/>
                        </a:rPr>
                        <a:t>State store</a:t>
                      </a:r>
                    </a:p>
                  </a:txBody>
                  <a:tcPr marT="12700" marB="12700">
                    <a:solidFill>
                      <a:srgbClr val="F7F9FC"/>
                    </a:solidFill>
                  </a:tcPr>
                </a:tc>
                <a:tc>
                  <a:txBody>
                    <a:bodyPr wrap="square"/>
                    <a:lstStyle/>
                    <a:p>
                      <a:r>
                        <a:rPr sz="950" b="0" i="0">
                          <a:solidFill>
                            <a:srgbClr val="202020"/>
                          </a:solidFill>
                          <a:latin typeface="Consolas"/>
                        </a:rPr>
                        <a:t>USE_SQL_SERVER, SQL_CONNECTION_STRING</a:t>
                      </a:r>
                    </a:p>
                  </a:txBody>
                  <a:tcPr marT="12700" marB="12700">
                    <a:solidFill>
                      <a:srgbClr val="F7F9FC"/>
                    </a:solidFill>
                  </a:tcPr>
                </a:tc>
                <a:tc>
                  <a:txBody>
                    <a:bodyPr wrap="square"/>
                    <a:lstStyle/>
                    <a:p>
                      <a:r>
                        <a:rPr sz="950" b="0" i="0">
                          <a:solidFill>
                            <a:srgbClr val="202020"/>
                          </a:solidFill>
                          <a:latin typeface="Calibri"/>
                        </a:rPr>
                        <a:t>Files/SQLite by default; SQL Server for shared state + HA</a:t>
                      </a:r>
                    </a:p>
                  </a:txBody>
                  <a:tcPr marT="12700" marB="12700">
                    <a:solidFill>
                      <a:srgbClr val="F7F9FC"/>
                    </a:solidFill>
                  </a:tcPr>
                </a:tc>
              </a:tr>
              <a:tr h="384048">
                <a:tc>
                  <a:txBody>
                    <a:bodyPr wrap="square"/>
                    <a:lstStyle/>
                    <a:p>
                      <a:r>
                        <a:rPr sz="950" b="0" i="0">
                          <a:solidFill>
                            <a:srgbClr val="202020"/>
                          </a:solidFill>
                          <a:latin typeface="Calibri"/>
                        </a:rPr>
                        <a:t>Active-active HA</a:t>
                      </a:r>
                    </a:p>
                  </a:txBody>
                  <a:tcPr marT="12700" marB="12700">
                    <a:solidFill>
                      <a:srgbClr val="FFFFFF"/>
                    </a:solidFill>
                  </a:tcPr>
                </a:tc>
                <a:tc>
                  <a:txBody>
                    <a:bodyPr wrap="square"/>
                    <a:lstStyle/>
                    <a:p>
                      <a:r>
                        <a:rPr sz="950" b="0" i="0">
                          <a:solidFill>
                            <a:srgbClr val="202020"/>
                          </a:solidFill>
                          <a:latin typeface="Consolas"/>
                        </a:rPr>
                        <a:t>HA_MODE, NODE_ID, HA_*_SECONDS</a:t>
                      </a:r>
                    </a:p>
                  </a:txBody>
                  <a:tcPr marT="12700" marB="12700">
                    <a:solidFill>
                      <a:srgbClr val="FFFFFF"/>
                    </a:solidFill>
                  </a:tcPr>
                </a:tc>
                <a:tc>
                  <a:txBody>
                    <a:bodyPr wrap="square"/>
                    <a:lstStyle/>
                    <a:p>
                      <a:r>
                        <a:rPr sz="950" b="0" i="0">
                          <a:solidFill>
                            <a:srgbClr val="202020"/>
                          </a:solidFill>
                          <a:latin typeface="Calibri"/>
                        </a:rPr>
                        <a:t>Availability + crawl resilience (not more throughput)</a:t>
                      </a:r>
                    </a:p>
                  </a:txBody>
                  <a:tcPr marT="12700" marB="12700">
                    <a:solidFill>
                      <a:srgbClr val="FFFFFF"/>
                    </a:solidFill>
                  </a:tcPr>
                </a:tc>
              </a:tr>
              <a:tr h="384048">
                <a:tc>
                  <a:txBody>
                    <a:bodyPr wrap="square"/>
                    <a:lstStyle/>
                    <a:p>
                      <a:r>
                        <a:rPr sz="950" b="0" i="0">
                          <a:solidFill>
                            <a:srgbClr val="202020"/>
                          </a:solidFill>
                          <a:latin typeface="Calibri"/>
                        </a:rPr>
                        <a:t>Circuit breaker / degraded</a:t>
                      </a:r>
                    </a:p>
                  </a:txBody>
                  <a:tcPr marT="12700" marB="12700">
                    <a:solidFill>
                      <a:srgbClr val="F7F9FC"/>
                    </a:solidFill>
                  </a:tcPr>
                </a:tc>
                <a:tc>
                  <a:txBody>
                    <a:bodyPr wrap="square"/>
                    <a:lstStyle/>
                    <a:p>
                      <a:r>
                        <a:rPr sz="950" b="0" i="0">
                          <a:solidFill>
                            <a:srgbClr val="202020"/>
                          </a:solidFill>
                          <a:latin typeface="Consolas"/>
                        </a:rPr>
                        <a:t>CIRCUIT_BREAKER, CIRCUIT_BREAKER_*</a:t>
                      </a:r>
                    </a:p>
                  </a:txBody>
                  <a:tcPr marT="12700" marB="12700">
                    <a:solidFill>
                      <a:srgbClr val="F7F9FC"/>
                    </a:solidFill>
                  </a:tcPr>
                </a:tc>
                <a:tc>
                  <a:txBody>
                    <a:bodyPr wrap="square"/>
                    <a:lstStyle/>
                    <a:p>
                      <a:r>
                        <a:rPr sz="950" b="0" i="0">
                          <a:solidFill>
                            <a:srgbClr val="202020"/>
                          </a:solidFill>
                          <a:latin typeface="Calibri"/>
                        </a:rPr>
                        <a:t>Backs off cleanly in a sustained outage; no state loss</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6.13 Chassis at a glance (cont.)</a:t>
            </a:r>
          </a:p>
        </p:txBody>
      </p:sp>
      <p:graphicFrame>
        <p:nvGraphicFramePr>
          <p:cNvPr id="5" name="Table 4"/>
          <p:cNvGraphicFramePr>
            <a:graphicFrameLocks noGrp="1"/>
          </p:cNvGraphicFramePr>
          <p:nvPr/>
        </p:nvGraphicFramePr>
        <p:xfrm>
          <a:off x="502920" y="1188720"/>
          <a:ext cx="11185855" cy="1920240"/>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Chassis part</a:t>
                      </a:r>
                    </a:p>
                  </a:txBody>
                  <a:tcPr marT="25400" marB="25400">
                    <a:solidFill>
                      <a:srgbClr val="2E5496"/>
                    </a:solidFill>
                  </a:tcPr>
                </a:tc>
                <a:tc>
                  <a:txBody>
                    <a:bodyPr wrap="square"/>
                    <a:lstStyle/>
                    <a:p>
                      <a:r>
                        <a:rPr sz="1050" b="1" i="0">
                          <a:solidFill>
                            <a:srgbClr val="FFFFFF"/>
                          </a:solidFill>
                          <a:latin typeface="Calibri"/>
                        </a:rPr>
                        <a:t>Key setting(s)</a:t>
                      </a:r>
                    </a:p>
                  </a:txBody>
                  <a:tcPr marT="25400" marB="25400">
                    <a:solidFill>
                      <a:srgbClr val="2E5496"/>
                    </a:solidFill>
                  </a:tcPr>
                </a:tc>
                <a:tc>
                  <a:txBody>
                    <a:bodyPr wrap="square"/>
                    <a:lstStyle/>
                    <a:p>
                      <a:r>
                        <a:rPr sz="1050" b="1" i="0">
                          <a:solidFill>
                            <a:srgbClr val="FFFFFF"/>
                          </a:solidFill>
                          <a:latin typeface="Calibri"/>
                        </a:rPr>
                        <a:t>Why it matters</a:t>
                      </a:r>
                    </a:p>
                  </a:txBody>
                  <a:tcPr marT="25400" marB="25400">
                    <a:solidFill>
                      <a:srgbClr val="2E5496"/>
                    </a:solidFill>
                  </a:tcPr>
                </a:tc>
              </a:tr>
              <a:tr h="384048">
                <a:tc>
                  <a:txBody>
                    <a:bodyPr wrap="square"/>
                    <a:lstStyle/>
                    <a:p>
                      <a:r>
                        <a:rPr sz="950" b="0" i="0">
                          <a:solidFill>
                            <a:srgbClr val="202020"/>
                          </a:solidFill>
                          <a:latin typeface="Calibri"/>
                        </a:rPr>
                        <a:t>Health / metrics</a:t>
                      </a:r>
                    </a:p>
                  </a:txBody>
                  <a:tcPr marT="12700" marB="12700">
                    <a:solidFill>
                      <a:srgbClr val="FFFFFF"/>
                    </a:solidFill>
                  </a:tcPr>
                </a:tc>
                <a:tc>
                  <a:txBody>
                    <a:bodyPr wrap="square"/>
                    <a:lstStyle/>
                    <a:p>
                      <a:r>
                        <a:rPr sz="950" b="0" i="0">
                          <a:solidFill>
                            <a:srgbClr val="202020"/>
                          </a:solidFill>
                          <a:latin typeface="Consolas"/>
                        </a:rPr>
                        <a:t>HEALTH_PORT</a:t>
                      </a:r>
                    </a:p>
                  </a:txBody>
                  <a:tcPr marT="12700" marB="12700">
                    <a:solidFill>
                      <a:srgbClr val="FFFFFF"/>
                    </a:solidFill>
                  </a:tcPr>
                </a:tc>
                <a:tc>
                  <a:txBody>
                    <a:bodyPr wrap="square"/>
                    <a:lstStyle/>
                    <a:p>
                      <a:r>
                        <a:rPr sz="950" b="0" i="0">
                          <a:solidFill>
                            <a:srgbClr val="202020"/>
                          </a:solidFill>
                          <a:latin typeface="Consolas"/>
                        </a:rPr>
                        <a:t>/health /ready /metrics for monitoring</a:t>
                      </a:r>
                    </a:p>
                  </a:txBody>
                  <a:tcPr marT="12700" marB="12700">
                    <a:solidFill>
                      <a:srgbClr val="FFFFFF"/>
                    </a:solidFill>
                  </a:tcPr>
                </a:tc>
              </a:tr>
              <a:tr h="384048">
                <a:tc>
                  <a:txBody>
                    <a:bodyPr wrap="square"/>
                    <a:lstStyle/>
                    <a:p>
                      <a:r>
                        <a:rPr sz="950" b="0" i="0">
                          <a:solidFill>
                            <a:srgbClr val="202020"/>
                          </a:solidFill>
                          <a:latin typeface="Calibri"/>
                        </a:rPr>
                        <a:t>Structured logs</a:t>
                      </a:r>
                    </a:p>
                  </a:txBody>
                  <a:tcPr marT="12700" marB="12700">
                    <a:solidFill>
                      <a:srgbClr val="F7F9FC"/>
                    </a:solidFill>
                  </a:tcPr>
                </a:tc>
                <a:tc>
                  <a:txBody>
                    <a:bodyPr wrap="square"/>
                    <a:lstStyle/>
                    <a:p>
                      <a:r>
                        <a:rPr sz="950" b="0" i="0">
                          <a:solidFill>
                            <a:srgbClr val="202020"/>
                          </a:solidFill>
                          <a:latin typeface="Calibri"/>
                        </a:rPr>
                        <a:t>LOG_FORMAT=json</a:t>
                      </a:r>
                    </a:p>
                  </a:txBody>
                  <a:tcPr marT="12700" marB="12700">
                    <a:solidFill>
                      <a:srgbClr val="F7F9FC"/>
                    </a:solidFill>
                  </a:tcPr>
                </a:tc>
                <a:tc>
                  <a:txBody>
                    <a:bodyPr wrap="square"/>
                    <a:lstStyle/>
                    <a:p>
                      <a:r>
                        <a:rPr sz="950" b="0" i="0">
                          <a:solidFill>
                            <a:srgbClr val="202020"/>
                          </a:solidFill>
                          <a:latin typeface="Calibri"/>
                        </a:rPr>
                        <a:t>SIEM-friendly one-object-per-line logs</a:t>
                      </a:r>
                    </a:p>
                  </a:txBody>
                  <a:tcPr marT="12700" marB="12700">
                    <a:solidFill>
                      <a:srgbClr val="F7F9FC"/>
                    </a:solidFill>
                  </a:tcPr>
                </a:tc>
              </a:tr>
              <a:tr h="384048">
                <a:tc>
                  <a:txBody>
                    <a:bodyPr wrap="square"/>
                    <a:lstStyle/>
                    <a:p>
                      <a:r>
                        <a:rPr sz="950" b="0" i="0">
                          <a:solidFill>
                            <a:srgbClr val="202020"/>
                          </a:solidFill>
                          <a:latin typeface="Calibri"/>
                        </a:rPr>
                        <a:t>Tracing</a:t>
                      </a:r>
                    </a:p>
                  </a:txBody>
                  <a:tcPr marT="12700" marB="12700">
                    <a:solidFill>
                      <a:srgbClr val="FFFFFF"/>
                    </a:solidFill>
                  </a:tcPr>
                </a:tc>
                <a:tc>
                  <a:txBody>
                    <a:bodyPr wrap="square"/>
                    <a:lstStyle/>
                    <a:p>
                      <a:r>
                        <a:rPr sz="950" b="0" i="0">
                          <a:solidFill>
                            <a:srgbClr val="202020"/>
                          </a:solidFill>
                          <a:latin typeface="Consolas"/>
                        </a:rPr>
                        <a:t>OTEL_EXPORTER_OTLP_ENDPOINT</a:t>
                      </a:r>
                    </a:p>
                  </a:txBody>
                  <a:tcPr marT="12700" marB="12700">
                    <a:solidFill>
                      <a:srgbClr val="FFFFFF"/>
                    </a:solidFill>
                  </a:tcPr>
                </a:tc>
                <a:tc>
                  <a:txBody>
                    <a:bodyPr wrap="square"/>
                    <a:lstStyle/>
                    <a:p>
                      <a:r>
                        <a:rPr sz="950" b="0" i="0">
                          <a:solidFill>
                            <a:srgbClr val="202020"/>
                          </a:solidFill>
                          <a:latin typeface="Calibri"/>
                        </a:rPr>
                        <a:t>End-to-end spans + correlation id per run</a:t>
                      </a:r>
                    </a:p>
                  </a:txBody>
                  <a:tcPr marT="12700" marB="12700">
                    <a:solidFill>
                      <a:srgbClr val="FFFFFF"/>
                    </a:solidFill>
                  </a:tcPr>
                </a:tc>
              </a:tr>
              <a:tr h="384048">
                <a:tc>
                  <a:txBody>
                    <a:bodyPr wrap="square"/>
                    <a:lstStyle/>
                    <a:p>
                      <a:r>
                        <a:rPr sz="950" b="0" i="0">
                          <a:solidFill>
                            <a:srgbClr val="202020"/>
                          </a:solidFill>
                          <a:latin typeface="Calibri"/>
                        </a:rPr>
                        <a:t>Classification</a:t>
                      </a:r>
                    </a:p>
                  </a:txBody>
                  <a:tcPr marT="12700" marB="12700">
                    <a:solidFill>
                      <a:srgbClr val="F7F9FC"/>
                    </a:solidFill>
                  </a:tcPr>
                </a:tc>
                <a:tc>
                  <a:txBody>
                    <a:bodyPr wrap="square"/>
                    <a:lstStyle/>
                    <a:p>
                      <a:r>
                        <a:rPr sz="950" b="0" i="0">
                          <a:solidFill>
                            <a:srgbClr val="202020"/>
                          </a:solidFill>
                          <a:latin typeface="Consolas"/>
                        </a:rPr>
                        <a:t>CLASSIFICATION, CLASSIFICATION_MANIFEST</a:t>
                      </a:r>
                    </a:p>
                  </a:txBody>
                  <a:tcPr marT="12700" marB="12700">
                    <a:solidFill>
                      <a:srgbClr val="F7F9FC"/>
                    </a:solidFill>
                  </a:tcPr>
                </a:tc>
                <a:tc>
                  <a:txBody>
                    <a:bodyPr wrap="square"/>
                    <a:lstStyle/>
                    <a:p>
                      <a:r>
                        <a:rPr sz="950" b="0" i="0">
                          <a:solidFill>
                            <a:srgbClr val="202020"/>
                          </a:solidFill>
                          <a:latin typeface="Calibri"/>
                        </a:rPr>
                        <a:t>Sensitivity label + detected categories per item</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Tenant &amp; Common Concepts</a:t>
            </a:r>
          </a:p>
          <a:p>
            <a:r>
              <a:rPr sz="3000" b="1" i="0">
                <a:solidFill>
                  <a:srgbClr val="1F3864"/>
                </a:solidFill>
                <a:latin typeface="Calibri"/>
              </a:rPr>
              <a:t>7. Security and authentication</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 Security and authentication</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How a connector proves who it is to Microsoft Graph, where its secrets live, how it behaves behind a corporate proxy, and how its data at rest is protected. Collect the values in the purple callouts before you deploy.</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7.1 The Entra app registration</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 connector authenticates as an </a:t>
            </a:r>
            <a:r>
              <a:rPr sz="1250" b="1" i="0">
                <a:solidFill>
                  <a:srgbClr val="202020"/>
                </a:solidFill>
                <a:latin typeface="Calibri"/>
              </a:rPr>
              <a:t>application</a:t>
            </a:r>
            <a:r>
              <a:rPr sz="1250" b="0" i="0">
                <a:solidFill>
                  <a:srgbClr val="202020"/>
                </a:solidFill>
                <a:latin typeface="Calibri"/>
              </a:rPr>
              <a:t>, not a person — it is a daemon with no user signing in. That application identity is an </a:t>
            </a:r>
            <a:r>
              <a:rPr sz="1250" b="1" i="0">
                <a:solidFill>
                  <a:srgbClr val="202020"/>
                </a:solidFill>
                <a:latin typeface="Calibri"/>
              </a:rPr>
              <a:t>app registration</a:t>
            </a:r>
            <a:r>
              <a:rPr sz="1250" b="0" i="0">
                <a:solidFill>
                  <a:srgbClr val="202020"/>
                </a:solidFill>
                <a:latin typeface="Calibri"/>
              </a:rPr>
              <a:t> in Entra ID. It has a client id, an object id, a tenant id, and one or more credentials (a secret or a certificate). It is granted a small set of </a:t>
            </a:r>
            <a:r>
              <a:rPr sz="1250" b="1" i="0">
                <a:solidFill>
                  <a:srgbClr val="202020"/>
                </a:solidFill>
                <a:latin typeface="Calibri"/>
              </a:rPr>
              <a:t>application</a:t>
            </a:r>
            <a:r>
              <a:rPr sz="1250" b="0" i="0">
                <a:solidFill>
                  <a:srgbClr val="202020"/>
                </a:solidFill>
                <a:latin typeface="Calibri"/>
              </a:rPr>
              <a:t> Graph permissions, which a directory admin must </a:t>
            </a:r>
            <a:r>
              <a:rPr sz="1250" b="1" i="0">
                <a:solidFill>
                  <a:srgbClr val="202020"/>
                </a:solidFill>
                <a:latin typeface="Calibri"/>
              </a:rPr>
              <a:t>consent</a:t>
            </a:r>
            <a:r>
              <a:rPr sz="1250" b="0" i="0">
                <a:solidFill>
                  <a:srgbClr val="202020"/>
                </a:solidFill>
                <a:latin typeface="Calibri"/>
              </a:rPr>
              <a:t> to once. There is </a:t>
            </a:r>
            <a:r>
              <a:rPr sz="1250" b="1" i="0">
                <a:solidFill>
                  <a:srgbClr val="202020"/>
                </a:solidFill>
                <a:latin typeface="Calibri"/>
              </a:rPr>
              <a:t>one app registration per connector</a:t>
            </a:r>
            <a:r>
              <a:rPr sz="1250" b="0" i="0">
                <a:solidFill>
                  <a:srgbClr val="202020"/>
                </a:solidFill>
                <a:latin typeface="Calibri"/>
              </a:rPr>
              <a:t> (five total) so that Graph's per-app throttling isolates each connector — one connector's burst cannot starve the others (section 8.3).</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7.2 Least-privilege Graph permissions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Grant exactly these </a:t>
            </a:r>
            <a:r>
              <a:rPr sz="1250" b="1" i="0">
                <a:solidFill>
                  <a:srgbClr val="202020"/>
                </a:solidFill>
                <a:latin typeface="Calibri"/>
              </a:rPr>
              <a:t>application</a:t>
            </a:r>
            <a:r>
              <a:rPr sz="1250" b="0" i="0">
                <a:solidFill>
                  <a:srgbClr val="202020"/>
                </a:solidFill>
                <a:latin typeface="Calibri"/>
              </a:rPr>
              <a:t> permissions — nothing broader: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7.2 Least-privilege Graph permissions</a:t>
            </a:r>
          </a:p>
        </p:txBody>
      </p:sp>
      <p:graphicFrame>
        <p:nvGraphicFramePr>
          <p:cNvPr id="5" name="Table 4"/>
          <p:cNvGraphicFramePr>
            <a:graphicFrameLocks noGrp="1"/>
          </p:cNvGraphicFramePr>
          <p:nvPr/>
        </p:nvGraphicFramePr>
        <p:xfrm>
          <a:off x="502920" y="1188720"/>
          <a:ext cx="11185855" cy="1536192"/>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Permission</a:t>
                      </a:r>
                    </a:p>
                  </a:txBody>
                  <a:tcPr marT="25400" marB="25400">
                    <a:solidFill>
                      <a:srgbClr val="2E5496"/>
                    </a:solidFill>
                  </a:tcPr>
                </a:tc>
                <a:tc>
                  <a:txBody>
                    <a:bodyPr wrap="square"/>
                    <a:lstStyle/>
                    <a:p>
                      <a:r>
                        <a:rPr sz="1050" b="1" i="0">
                          <a:solidFill>
                            <a:srgbClr val="FFFFFF"/>
                          </a:solidFill>
                          <a:latin typeface="Calibri"/>
                        </a:rPr>
                        <a:t>Why it is needed</a:t>
                      </a:r>
                    </a:p>
                  </a:txBody>
                  <a:tcPr marT="25400" marB="25400">
                    <a:solidFill>
                      <a:srgbClr val="2E5496"/>
                    </a:solidFill>
                  </a:tcPr>
                </a:tc>
                <a:tc>
                  <a:txBody>
                    <a:bodyPr wrap="square"/>
                    <a:lstStyle/>
                    <a:p>
                      <a:r>
                        <a:rPr sz="1050" b="1" i="0">
                          <a:solidFill>
                            <a:srgbClr val="FFFFFF"/>
                          </a:solidFill>
                          <a:latin typeface="Calibri"/>
                        </a:rPr>
                        <a:t>Notes</a:t>
                      </a:r>
                    </a:p>
                  </a:txBody>
                  <a:tcPr marT="25400" marB="25400">
                    <a:solidFill>
                      <a:srgbClr val="2E5496"/>
                    </a:solidFill>
                  </a:tcPr>
                </a:tc>
              </a:tr>
              <a:tr h="384048">
                <a:tc>
                  <a:txBody>
                    <a:bodyPr wrap="square"/>
                    <a:lstStyle/>
                    <a:p>
                      <a:r>
                        <a:rPr sz="950" b="0" i="0">
                          <a:solidFill>
                            <a:srgbClr val="202020"/>
                          </a:solidFill>
                          <a:latin typeface="Calibri"/>
                        </a:rPr>
                        <a:t>ExternalConnection.ReadWrite.OwnedBy</a:t>
                      </a:r>
                    </a:p>
                  </a:txBody>
                  <a:tcPr marT="12700" marB="12700">
                    <a:solidFill>
                      <a:srgbClr val="FFFFFF"/>
                    </a:solidFill>
                  </a:tcPr>
                </a:tc>
                <a:tc>
                  <a:txBody>
                    <a:bodyPr wrap="square"/>
                    <a:lstStyle/>
                    <a:p>
                      <a:r>
                        <a:rPr sz="950" b="0" i="0">
                          <a:solidFill>
                            <a:srgbClr val="202020"/>
                          </a:solidFill>
                          <a:latin typeface="Calibri"/>
                        </a:rPr>
                        <a:t>Create/manage only connections this app owns (connection, schema, external groups)</a:t>
                      </a:r>
                    </a:p>
                  </a:txBody>
                  <a:tcPr marT="12700" marB="12700">
                    <a:solidFill>
                      <a:srgbClr val="FFFFFF"/>
                    </a:solidFill>
                  </a:tcPr>
                </a:tc>
                <a:tc>
                  <a:txBody>
                    <a:bodyPr wrap="square"/>
                    <a:lstStyle/>
                    <a:p>
                      <a:r>
                        <a:rPr sz="950" b="0" i="0">
                          <a:solidFill>
                            <a:srgbClr val="202020"/>
                          </a:solidFill>
                          <a:latin typeface="Calibri"/>
                        </a:rPr>
                        <a:t>Do NOT grant the .All variant</a:t>
                      </a:r>
                    </a:p>
                  </a:txBody>
                  <a:tcPr marT="12700" marB="12700">
                    <a:solidFill>
                      <a:srgbClr val="FFFFFF"/>
                    </a:solidFill>
                  </a:tcPr>
                </a:tc>
              </a:tr>
              <a:tr h="384048">
                <a:tc>
                  <a:txBody>
                    <a:bodyPr wrap="square"/>
                    <a:lstStyle/>
                    <a:p>
                      <a:r>
                        <a:rPr sz="950" b="0" i="0">
                          <a:solidFill>
                            <a:srgbClr val="202020"/>
                          </a:solidFill>
                          <a:latin typeface="Calibri"/>
                        </a:rPr>
                        <a:t>ExternalItem.ReadWrite.OwnedBy</a:t>
                      </a:r>
                    </a:p>
                  </a:txBody>
                  <a:tcPr marT="12700" marB="12700">
                    <a:solidFill>
                      <a:srgbClr val="F7F9FC"/>
                    </a:solidFill>
                  </a:tcPr>
                </a:tc>
                <a:tc>
                  <a:txBody>
                    <a:bodyPr wrap="square"/>
                    <a:lstStyle/>
                    <a:p>
                      <a:r>
                        <a:rPr sz="950" b="0" i="0">
                          <a:solidFill>
                            <a:srgbClr val="202020"/>
                          </a:solidFill>
                          <a:latin typeface="Calibri"/>
                        </a:rPr>
                        <a:t>Write/delete items only in owned connections</a:t>
                      </a:r>
                    </a:p>
                  </a:txBody>
                  <a:tcPr marT="12700" marB="12700">
                    <a:solidFill>
                      <a:srgbClr val="F7F9FC"/>
                    </a:solidFill>
                  </a:tcPr>
                </a:tc>
                <a:tc>
                  <a:txBody>
                    <a:bodyPr wrap="square"/>
                    <a:lstStyle/>
                    <a:p>
                      <a:r>
                        <a:rPr sz="950" b="0" i="0">
                          <a:solidFill>
                            <a:srgbClr val="202020"/>
                          </a:solidFill>
                          <a:latin typeface="Calibri"/>
                        </a:rPr>
                        <a:t>Do NOT grant the .All variant</a:t>
                      </a:r>
                    </a:p>
                  </a:txBody>
                  <a:tcPr marT="12700" marB="12700">
                    <a:solidFill>
                      <a:srgbClr val="F7F9FC"/>
                    </a:solidFill>
                  </a:tcPr>
                </a:tc>
              </a:tr>
              <a:tr h="384048">
                <a:tc>
                  <a:txBody>
                    <a:bodyPr wrap="square"/>
                    <a:lstStyle/>
                    <a:p>
                      <a:r>
                        <a:rPr sz="950" b="0" i="0">
                          <a:solidFill>
                            <a:srgbClr val="202020"/>
                          </a:solidFill>
                          <a:latin typeface="Calibri"/>
                        </a:rPr>
                        <a:t>User.Read.All</a:t>
                      </a:r>
                    </a:p>
                  </a:txBody>
                  <a:tcPr marT="12700" marB="12700">
                    <a:solidFill>
                      <a:srgbClr val="FFFFFF"/>
                    </a:solidFill>
                  </a:tcPr>
                </a:tc>
                <a:tc>
                  <a:txBody>
                    <a:bodyPr wrap="square"/>
                    <a:lstStyle/>
                    <a:p>
                      <a:r>
                        <a:rPr sz="950" b="0" i="0">
                          <a:solidFill>
                            <a:srgbClr val="202020"/>
                          </a:solidFill>
                          <a:latin typeface="Calibri"/>
                        </a:rPr>
                        <a:t>Resolve source users to Entra object ids for ACLs</a:t>
                      </a:r>
                    </a:p>
                  </a:txBody>
                  <a:tcPr marT="12700" marB="12700">
                    <a:solidFill>
                      <a:srgbClr val="FFFFFF"/>
                    </a:solidFill>
                  </a:tcPr>
                </a:tc>
                <a:tc>
                  <a:txBody>
                    <a:bodyPr wrap="square"/>
                    <a:lstStyle/>
                    <a:p>
                      <a:r>
                        <a:rPr sz="950" b="0" i="0">
                          <a:solidFill>
                            <a:srgbClr val="202020"/>
                          </a:solidFill>
                          <a:latin typeface="Calibri"/>
                        </a:rPr>
                        <a:t>The directory-read floor; droppable only if you run public ACLs with no user grants</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7.2 Least-privilege Graph permissions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Do </a:t>
            </a:r>
            <a:r>
              <a:rPr sz="1250" b="1" i="0">
                <a:solidFill>
                  <a:srgbClr val="202020"/>
                </a:solidFill>
                <a:latin typeface="Calibri"/>
              </a:rPr>
              <a:t>not</a:t>
            </a:r>
            <a:r>
              <a:rPr sz="1250" b="0" i="0">
                <a:solidFill>
                  <a:srgbClr val="202020"/>
                </a:solidFill>
                <a:latin typeface="Calibri"/>
              </a:rPr>
              <a:t> grant </a:t>
            </a:r>
            <a:r>
              <a:rPr sz="1200" b="0" i="0">
                <a:solidFill>
                  <a:srgbClr val="202020"/>
                </a:solidFill>
                <a:latin typeface="Consolas"/>
              </a:rPr>
              <a:t>Directory.Read.All</a:t>
            </a:r>
            <a:r>
              <a:rPr sz="1250" b="0" i="0">
                <a:solidFill>
                  <a:srgbClr val="202020"/>
                </a:solidFill>
                <a:latin typeface="Calibri"/>
              </a:rPr>
              <a:t> (a superset of the user lookup) or any </a:t>
            </a:r>
            <a:r>
              <a:rPr sz="1250" b="1" i="0">
                <a:solidFill>
                  <a:srgbClr val="202020"/>
                </a:solidFill>
                <a:latin typeface="Calibri"/>
              </a:rPr>
              <a:t>delegated</a:t>
            </a:r>
            <a:r>
              <a:rPr sz="1250" b="0" i="0">
                <a:solidFill>
                  <a:srgbClr val="202020"/>
                </a:solidFill>
                <a:latin typeface="Calibri"/>
              </a:rPr>
              <a:t> permission (the connector is a daemon, not a signed-in user).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7.2 Least-privilege Graph permissions</a:t>
            </a:r>
          </a:p>
        </p:txBody>
      </p:sp>
      <p:sp>
        <p:nvSpPr>
          <p:cNvPr id="5" name="Rectangle 4"/>
          <p:cNvSpPr/>
          <p:nvPr/>
        </p:nvSpPr>
        <p:spPr>
          <a:xfrm>
            <a:off x="502920" y="1463040"/>
            <a:ext cx="11185855" cy="3291840"/>
          </a:xfrm>
          <a:prstGeom prst="rect">
            <a:avLst/>
          </a:prstGeom>
          <a:solidFill>
            <a:srgbClr val="F0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6A3D9A"/>
                </a:solidFill>
                <a:latin typeface="Calibri"/>
              </a:rPr>
              <a:t>Information to request:  </a:t>
            </a:r>
            <a:r>
              <a:rPr sz="1400" b="1" i="0">
                <a:solidFill>
                  <a:srgbClr val="202020"/>
                </a:solidFill>
                <a:latin typeface="Calibri"/>
              </a:rPr>
              <a:t>Information to request: </a:t>
            </a:r>
            <a:r>
              <a:rPr sz="1400" b="0" i="0">
                <a:solidFill>
                  <a:srgbClr val="202020"/>
                </a:solidFill>
                <a:latin typeface="Calibri"/>
              </a:rPr>
              <a:t>Request from your </a:t>
            </a:r>
            <a:r>
              <a:rPr sz="1400" b="1" i="0">
                <a:solidFill>
                  <a:srgbClr val="202020"/>
                </a:solidFill>
                <a:latin typeface="Calibri"/>
              </a:rPr>
              <a:t>Entra ID administrator</a:t>
            </a:r>
            <a:r>
              <a:rPr sz="1400" b="0" i="0">
                <a:solidFill>
                  <a:srgbClr val="202020"/>
                </a:solidFill>
                <a:latin typeface="Calibri"/>
              </a:rPr>
              <a:t>: the app registration's </a:t>
            </a:r>
            <a:r>
              <a:rPr sz="1400" b="1" i="0">
                <a:solidFill>
                  <a:srgbClr val="202020"/>
                </a:solidFill>
                <a:latin typeface="Calibri"/>
              </a:rPr>
              <a:t>client id</a:t>
            </a:r>
            <a:r>
              <a:rPr sz="1400" b="0" i="0">
                <a:solidFill>
                  <a:srgbClr val="202020"/>
                </a:solidFill>
                <a:latin typeface="Calibri"/>
              </a:rPr>
              <a:t>, </a:t>
            </a:r>
            <a:r>
              <a:rPr sz="1400" b="1" i="0">
                <a:solidFill>
                  <a:srgbClr val="202020"/>
                </a:solidFill>
                <a:latin typeface="Calibri"/>
              </a:rPr>
              <a:t>object id</a:t>
            </a:r>
            <a:r>
              <a:rPr sz="1400" b="0" i="0">
                <a:solidFill>
                  <a:srgbClr val="202020"/>
                </a:solidFill>
                <a:latin typeface="Calibri"/>
              </a:rPr>
              <a:t> and </a:t>
            </a:r>
            <a:r>
              <a:rPr sz="1400" b="1" i="0">
                <a:solidFill>
                  <a:srgbClr val="202020"/>
                </a:solidFill>
                <a:latin typeface="Calibri"/>
              </a:rPr>
              <a:t>tenant id</a:t>
            </a:r>
            <a:r>
              <a:rPr sz="1400" b="0" i="0">
                <a:solidFill>
                  <a:srgbClr val="202020"/>
                </a:solidFill>
                <a:latin typeface="Calibri"/>
              </a:rPr>
              <a:t>; </a:t>
            </a:r>
            <a:r>
              <a:rPr sz="1400" b="1" i="0">
                <a:solidFill>
                  <a:srgbClr val="202020"/>
                </a:solidFill>
                <a:latin typeface="Calibri"/>
              </a:rPr>
              <a:t>admin consent</a:t>
            </a:r>
            <a:r>
              <a:rPr sz="1400" b="0" i="0">
                <a:solidFill>
                  <a:srgbClr val="202020"/>
                </a:solidFill>
                <a:latin typeface="Calibri"/>
              </a:rPr>
              <a:t> for the three application permissions above; and the OAuth authority host if you are on a sovereign cloud. Without admin consent the connector cannot call Graph at all.</a:t>
            </a:r>
          </a:p>
        </p:txBody>
      </p:sp>
      <p:sp>
        <p:nvSpPr>
          <p:cNvPr id="6" name="Rectangle 5"/>
          <p:cNvSpPr/>
          <p:nvPr/>
        </p:nvSpPr>
        <p:spPr>
          <a:xfrm>
            <a:off x="502920" y="1463040"/>
            <a:ext cx="128016" cy="3291840"/>
          </a:xfrm>
          <a:prstGeom prst="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7.3 Two ways to authenticate — secret vs. certificate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connector obtains an </a:t>
            </a:r>
            <a:r>
              <a:rPr sz="1250" b="1" i="0">
                <a:solidFill>
                  <a:srgbClr val="202020"/>
                </a:solidFill>
                <a:latin typeface="Calibri"/>
              </a:rPr>
              <a:t>access token</a:t>
            </a:r>
            <a:r>
              <a:rPr sz="1250" b="0" i="0">
                <a:solidFill>
                  <a:srgbClr val="202020"/>
                </a:solidFill>
                <a:latin typeface="Calibri"/>
              </a:rPr>
              <a:t> from Entra using the OAuth 2.0 </a:t>
            </a:r>
            <a:r>
              <a:rPr sz="1250" b="1" i="0">
                <a:solidFill>
                  <a:srgbClr val="202020"/>
                </a:solidFill>
                <a:latin typeface="Calibri"/>
              </a:rPr>
              <a:t>client-credentials</a:t>
            </a:r>
            <a:r>
              <a:rPr sz="1250" b="0" i="0">
                <a:solidFill>
                  <a:srgbClr val="202020"/>
                </a:solidFill>
                <a:latin typeface="Calibri"/>
              </a:rPr>
              <a:t> flow, proving its identity in one of two ways: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7.3 Two ways to authenticate — secret vs. certificate</a:t>
            </a:r>
          </a:p>
        </p:txBody>
      </p:sp>
      <p:graphicFrame>
        <p:nvGraphicFramePr>
          <p:cNvPr id="5" name="Table 4"/>
          <p:cNvGraphicFramePr>
            <a:graphicFrameLocks noGrp="1"/>
          </p:cNvGraphicFramePr>
          <p:nvPr/>
        </p:nvGraphicFramePr>
        <p:xfrm>
          <a:off x="502920" y="1188720"/>
          <a:ext cx="11185855" cy="1152144"/>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Method</a:t>
                      </a:r>
                    </a:p>
                  </a:txBody>
                  <a:tcPr marT="25400" marB="25400">
                    <a:solidFill>
                      <a:srgbClr val="2E5496"/>
                    </a:solidFill>
                  </a:tcPr>
                </a:tc>
                <a:tc>
                  <a:txBody>
                    <a:bodyPr wrap="square"/>
                    <a:lstStyle/>
                    <a:p>
                      <a:r>
                        <a:rPr sz="1050" b="1" i="0">
                          <a:solidFill>
                            <a:srgbClr val="FFFFFF"/>
                          </a:solidFill>
                          <a:latin typeface="Calibri"/>
                        </a:rPr>
                        <a:t>How it works</a:t>
                      </a:r>
                    </a:p>
                  </a:txBody>
                  <a:tcPr marT="25400" marB="25400">
                    <a:solidFill>
                      <a:srgbClr val="2E5496"/>
                    </a:solidFill>
                  </a:tcPr>
                </a:tc>
                <a:tc>
                  <a:txBody>
                    <a:bodyPr wrap="square"/>
                    <a:lstStyle/>
                    <a:p>
                      <a:r>
                        <a:rPr sz="1050" b="1" i="0">
                          <a:solidFill>
                            <a:srgbClr val="FFFFFF"/>
                          </a:solidFill>
                          <a:latin typeface="Calibri"/>
                        </a:rPr>
                        <a:t>When to use it</a:t>
                      </a:r>
                    </a:p>
                  </a:txBody>
                  <a:tcPr marT="25400" marB="25400">
                    <a:solidFill>
                      <a:srgbClr val="2E5496"/>
                    </a:solidFill>
                  </a:tcPr>
                </a:tc>
              </a:tr>
              <a:tr h="384048">
                <a:tc>
                  <a:txBody>
                    <a:bodyPr wrap="square"/>
                    <a:lstStyle/>
                    <a:p>
                      <a:r>
                        <a:rPr sz="950" b="0" i="0">
                          <a:solidFill>
                            <a:srgbClr val="202020"/>
                          </a:solidFill>
                          <a:latin typeface="Calibri"/>
                        </a:rPr>
                        <a:t>Client secret</a:t>
                      </a:r>
                    </a:p>
                  </a:txBody>
                  <a:tcPr marT="12700" marB="12700">
                    <a:solidFill>
                      <a:srgbClr val="FFFFFF"/>
                    </a:solidFill>
                  </a:tcPr>
                </a:tc>
                <a:tc>
                  <a:txBody>
                    <a:bodyPr wrap="square"/>
                    <a:lstStyle/>
                    <a:p>
                      <a:r>
                        <a:rPr sz="950" b="0" i="0">
                          <a:solidFill>
                            <a:srgbClr val="202020"/>
                          </a:solidFill>
                          <a:latin typeface="Calibri"/>
                        </a:rPr>
                        <a:t>A shared secret string (SECRET_AAD_APP_CLIENT_SECRET) sent to Entra for a token</a:t>
                      </a:r>
                    </a:p>
                  </a:txBody>
                  <a:tcPr marT="12700" marB="12700">
                    <a:solidFill>
                      <a:srgbClr val="FFFFFF"/>
                    </a:solidFill>
                  </a:tcPr>
                </a:tc>
                <a:tc>
                  <a:txBody>
                    <a:bodyPr wrap="square"/>
                    <a:lstStyle/>
                    <a:p>
                      <a:r>
                        <a:rPr sz="950" b="0" i="0">
                          <a:solidFill>
                            <a:srgbClr val="202020"/>
                          </a:solidFill>
                          <a:latin typeface="Calibri"/>
                        </a:rPr>
                        <a:t>Simplest; fine for dev/test; acceptable in prod if stored in Key Vault and rotated</a:t>
                      </a:r>
                    </a:p>
                  </a:txBody>
                  <a:tcPr marT="12700" marB="12700">
                    <a:solidFill>
                      <a:srgbClr val="FFFFFF"/>
                    </a:solidFill>
                  </a:tcPr>
                </a:tc>
              </a:tr>
              <a:tr h="384048">
                <a:tc>
                  <a:txBody>
                    <a:bodyPr wrap="square"/>
                    <a:lstStyle/>
                    <a:p>
                      <a:r>
                        <a:rPr sz="950" b="0" i="0">
                          <a:solidFill>
                            <a:srgbClr val="202020"/>
                          </a:solidFill>
                          <a:latin typeface="Calibri"/>
                        </a:rPr>
                        <a:t>Certificate credential</a:t>
                      </a:r>
                    </a:p>
                  </a:txBody>
                  <a:tcPr marT="12700" marB="12700">
                    <a:solidFill>
                      <a:srgbClr val="F7F9FC"/>
                    </a:solidFill>
                  </a:tcPr>
                </a:tc>
                <a:tc>
                  <a:txBody>
                    <a:bodyPr wrap="square"/>
                    <a:lstStyle/>
                    <a:p>
                      <a:r>
                        <a:rPr sz="950" b="0" i="0">
                          <a:solidFill>
                            <a:srgbClr val="202020"/>
                          </a:solidFill>
                          <a:latin typeface="Calibri"/>
                        </a:rPr>
                        <a:t>An RS256 signed assertion (client_assertion, x5t#S256) proves possession of a private key that never leaves the host/store</a:t>
                      </a:r>
                    </a:p>
                  </a:txBody>
                  <a:tcPr marT="12700" marB="12700">
                    <a:solidFill>
                      <a:srgbClr val="F7F9FC"/>
                    </a:solidFill>
                  </a:tcPr>
                </a:tc>
                <a:tc>
                  <a:txBody>
                    <a:bodyPr wrap="square"/>
                    <a:lstStyle/>
                    <a:p>
                      <a:r>
                        <a:rPr sz="950" b="0" i="0">
                          <a:solidFill>
                            <a:srgbClr val="202020"/>
                          </a:solidFill>
                          <a:latin typeface="Calibri"/>
                        </a:rPr>
                        <a:t>Preferred in production and required-in-spirit for FIPS estates; the key can be non-exportable in the machine store</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7.3 Two ways to authenticate — secret vs. certificate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certificate is configured with </a:t>
            </a:r>
            <a:r>
              <a:rPr sz="1200" b="0" i="0">
                <a:solidFill>
                  <a:srgbClr val="202020"/>
                </a:solidFill>
                <a:latin typeface="Consolas"/>
              </a:rPr>
              <a:t>GRAPH_CLIENT_CERT_THUMBPRINT</a:t>
            </a:r>
            <a:r>
              <a:rPr sz="1250" b="0" i="0">
                <a:solidFill>
                  <a:srgbClr val="202020"/>
                </a:solidFill>
                <a:latin typeface="Calibri"/>
              </a:rPr>
              <a:t> (load from the Windows store — preferred, key can stay non-exportable) or </a:t>
            </a:r>
            <a:r>
              <a:rPr sz="1200" b="0" i="0">
                <a:solidFill>
                  <a:srgbClr val="202020"/>
                </a:solidFill>
                <a:latin typeface="Consolas"/>
              </a:rPr>
              <a:t>GRAPH_CLIENT_CERT_PATH</a:t>
            </a:r>
            <a:r>
              <a:rPr sz="1250" b="0" i="0">
                <a:solidFill>
                  <a:srgbClr val="202020"/>
                </a:solidFill>
                <a:latin typeface="Calibri"/>
              </a:rPr>
              <a:t> (+</a:t>
            </a:r>
            <a:r>
              <a:rPr sz="1200" b="0" i="0">
                <a:solidFill>
                  <a:srgbClr val="202020"/>
                </a:solidFill>
                <a:latin typeface="Consolas"/>
              </a:rPr>
              <a:t>GRAPH_CLIENT_CERT_PASSWORD</a:t>
            </a:r>
            <a:r>
              <a:rPr sz="1250" b="0" i="0">
                <a:solidFill>
                  <a:srgbClr val="202020"/>
                </a:solidFill>
                <a:latin typeface="Calibri"/>
              </a:rPr>
              <a:t>) for a PFX file. </a:t>
            </a:r>
            <a:r>
              <a:rPr sz="1250" b="1" i="0">
                <a:solidFill>
                  <a:srgbClr val="202020"/>
                </a:solidFill>
                <a:latin typeface="Calibri"/>
              </a:rPr>
              <a:t>The certificate wins when both a certificate and a secret are configured</a:t>
            </a:r>
            <a:r>
              <a:rPr sz="1250" b="0" i="0">
                <a:solidFill>
                  <a:srgbClr val="202020"/>
                </a:solidFill>
                <a:latin typeface="Calibri"/>
              </a:rPr>
              <a:t>, which gives a safe rotation escape hatch: a still-valid secret keeps working if a cert rotation goes wrong. The chosen mode is logged at startup; key material is never logged. Assertions are short-lived (10 minutes) with a unique id.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7.3 Two ways to authenticate — secret vs. certificate</a:t>
            </a:r>
          </a:p>
        </p:txBody>
      </p:sp>
      <p:sp>
        <p:nvSpPr>
          <p:cNvPr id="5" name="Rectangle 4"/>
          <p:cNvSpPr/>
          <p:nvPr/>
        </p:nvSpPr>
        <p:spPr>
          <a:xfrm>
            <a:off x="502920" y="1463040"/>
            <a:ext cx="11185855" cy="3291840"/>
          </a:xfrm>
          <a:prstGeom prst="rect">
            <a:avLst/>
          </a:prstGeom>
          <a:solidFill>
            <a:srgbClr val="F0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6A3D9A"/>
                </a:solidFill>
                <a:latin typeface="Calibri"/>
              </a:rPr>
              <a:t>Information to request:  </a:t>
            </a:r>
            <a:r>
              <a:rPr sz="1400" b="1" i="0">
                <a:solidFill>
                  <a:srgbClr val="202020"/>
                </a:solidFill>
                <a:latin typeface="Calibri"/>
              </a:rPr>
              <a:t>Information to request: </a:t>
            </a:r>
            <a:r>
              <a:rPr sz="1400" b="0" i="0">
                <a:solidFill>
                  <a:srgbClr val="202020"/>
                </a:solidFill>
                <a:latin typeface="Calibri"/>
              </a:rPr>
              <a:t>Decide with your </a:t>
            </a:r>
            <a:r>
              <a:rPr sz="1400" b="1" i="0">
                <a:solidFill>
                  <a:srgbClr val="202020"/>
                </a:solidFill>
                <a:latin typeface="Calibri"/>
              </a:rPr>
              <a:t>security team</a:t>
            </a:r>
            <a:r>
              <a:rPr sz="1400" b="0" i="0">
                <a:solidFill>
                  <a:srgbClr val="202020"/>
                </a:solidFill>
                <a:latin typeface="Calibri"/>
              </a:rPr>
              <a:t> whether this connector uses a </a:t>
            </a:r>
            <a:r>
              <a:rPr sz="1400" b="1" i="0">
                <a:solidFill>
                  <a:srgbClr val="202020"/>
                </a:solidFill>
                <a:latin typeface="Calibri"/>
              </a:rPr>
              <a:t>client secret</a:t>
            </a:r>
            <a:r>
              <a:rPr sz="1400" b="0" i="0">
                <a:solidFill>
                  <a:srgbClr val="202020"/>
                </a:solidFill>
                <a:latin typeface="Calibri"/>
              </a:rPr>
              <a:t> or a </a:t>
            </a:r>
            <a:r>
              <a:rPr sz="1400" b="1" i="0">
                <a:solidFill>
                  <a:srgbClr val="202020"/>
                </a:solidFill>
                <a:latin typeface="Calibri"/>
              </a:rPr>
              <a:t>certificate</a:t>
            </a:r>
            <a:r>
              <a:rPr sz="1400" b="0" i="0">
                <a:solidFill>
                  <a:srgbClr val="202020"/>
                </a:solidFill>
                <a:latin typeface="Calibri"/>
              </a:rPr>
              <a:t>. For a certificate, request the cert (and its thumbprint, or the PFX + password) from your </a:t>
            </a:r>
            <a:r>
              <a:rPr sz="1400" b="1" i="0">
                <a:solidFill>
                  <a:srgbClr val="202020"/>
                </a:solidFill>
                <a:latin typeface="Calibri"/>
              </a:rPr>
              <a:t>PKI / certificate team</a:t>
            </a:r>
            <a:r>
              <a:rPr sz="1400" b="0" i="0">
                <a:solidFill>
                  <a:srgbClr val="202020"/>
                </a:solidFill>
                <a:latin typeface="Calibri"/>
              </a:rPr>
              <a:t> and have its </a:t>
            </a:r>
            <a:r>
              <a:rPr sz="1400" b="1" i="0">
                <a:solidFill>
                  <a:srgbClr val="202020"/>
                </a:solidFill>
                <a:latin typeface="Calibri"/>
              </a:rPr>
              <a:t>public key uploaded to the app registration</a:t>
            </a:r>
            <a:r>
              <a:rPr sz="1400" b="0" i="0">
                <a:solidFill>
                  <a:srgbClr val="202020"/>
                </a:solidFill>
                <a:latin typeface="Calibri"/>
              </a:rPr>
              <a:t> by the </a:t>
            </a:r>
            <a:r>
              <a:rPr sz="1400" b="1" i="0">
                <a:solidFill>
                  <a:srgbClr val="202020"/>
                </a:solidFill>
                <a:latin typeface="Calibri"/>
              </a:rPr>
              <a:t>Entra administrator</a:t>
            </a:r>
            <a:r>
              <a:rPr sz="1400" b="0" i="0">
                <a:solidFill>
                  <a:srgbClr val="202020"/>
                </a:solidFill>
                <a:latin typeface="Calibri"/>
              </a:rPr>
              <a:t>. For a secret, request the </a:t>
            </a:r>
            <a:r>
              <a:rPr sz="1400" b="1" i="0">
                <a:solidFill>
                  <a:srgbClr val="202020"/>
                </a:solidFill>
                <a:latin typeface="Calibri"/>
              </a:rPr>
              <a:t>secret value</a:t>
            </a:r>
            <a:r>
              <a:rPr sz="1400" b="0" i="0">
                <a:solidFill>
                  <a:srgbClr val="202020"/>
                </a:solidFill>
                <a:latin typeface="Calibri"/>
              </a:rPr>
              <a:t> (not the secret id) from the </a:t>
            </a:r>
            <a:r>
              <a:rPr sz="1400" b="1" i="0">
                <a:solidFill>
                  <a:srgbClr val="202020"/>
                </a:solidFill>
                <a:latin typeface="Calibri"/>
              </a:rPr>
              <a:t>Entra administrator</a:t>
            </a:r>
            <a:r>
              <a:rPr sz="1400" b="0" i="0">
                <a:solidFill>
                  <a:srgbClr val="202020"/>
                </a:solidFill>
                <a:latin typeface="Calibri"/>
              </a:rPr>
              <a:t> — and never paste it into a document or ticket; put it straight into Key Vault or the secret file.</a:t>
            </a:r>
          </a:p>
        </p:txBody>
      </p:sp>
      <p:sp>
        <p:nvSpPr>
          <p:cNvPr id="6" name="Rectangle 5"/>
          <p:cNvSpPr/>
          <p:nvPr/>
        </p:nvSpPr>
        <p:spPr>
          <a:xfrm>
            <a:off x="502920" y="1463040"/>
            <a:ext cx="128016" cy="3291840"/>
          </a:xfrm>
          <a:prstGeom prst="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7.4 Azure Key Vault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Set </a:t>
            </a:r>
            <a:r>
              <a:rPr sz="1200" b="0" i="0">
                <a:solidFill>
                  <a:srgbClr val="202020"/>
                </a:solidFill>
                <a:latin typeface="Consolas"/>
              </a:rPr>
              <a:t>USE_KEY_VAULT=true</a:t>
            </a:r>
            <a:r>
              <a:rPr sz="1250" b="0" i="0">
                <a:solidFill>
                  <a:srgbClr val="202020"/>
                </a:solidFill>
                <a:latin typeface="Calibri"/>
              </a:rPr>
              <a:t> and </a:t>
            </a:r>
            <a:r>
              <a:rPr sz="1200" b="0" i="0">
                <a:solidFill>
                  <a:srgbClr val="202020"/>
                </a:solidFill>
                <a:latin typeface="Consolas"/>
              </a:rPr>
              <a:t>KEY_VAULT_URI</a:t>
            </a:r>
            <a:r>
              <a:rPr sz="1250" b="0" i="0">
                <a:solidFill>
                  <a:srgbClr val="202020"/>
                </a:solidFill>
                <a:latin typeface="Calibri"/>
              </a:rPr>
              <a:t> to read every </a:t>
            </a:r>
            <a:r>
              <a:rPr sz="1200" b="0" i="0">
                <a:solidFill>
                  <a:srgbClr val="202020"/>
                </a:solidFill>
                <a:latin typeface="Consolas"/>
              </a:rPr>
              <a:t>SECRET_*</a:t>
            </a:r>
            <a:r>
              <a:rPr sz="1250" b="0" i="0">
                <a:solidFill>
                  <a:srgbClr val="202020"/>
                </a:solidFill>
                <a:latin typeface="Calibri"/>
              </a:rPr>
              <a:t> value from </a:t>
            </a:r>
            <a:r>
              <a:rPr sz="1250" b="1" i="0">
                <a:solidFill>
                  <a:srgbClr val="202020"/>
                </a:solidFill>
                <a:latin typeface="Calibri"/>
              </a:rPr>
              <a:t>Azure Key Vault</a:t>
            </a:r>
            <a:r>
              <a:rPr sz="1250" b="0" i="0">
                <a:solidFill>
                  <a:srgbClr val="202020"/>
                </a:solidFill>
                <a:latin typeface="Calibri"/>
              </a:rPr>
              <a:t> instead of a file on disk. The vault secret name is the environment-variable name lowercased with underscores turned into hyphens (for example </a:t>
            </a:r>
            <a:r>
              <a:rPr sz="1200" b="0" i="0">
                <a:solidFill>
                  <a:srgbClr val="202020"/>
                </a:solidFill>
                <a:latin typeface="Consolas"/>
              </a:rPr>
              <a:t>SECRET_AAD_APP_CLIENT_SECRET</a:t>
            </a:r>
            <a:r>
              <a:rPr sz="1250" b="0" i="0">
                <a:solidFill>
                  <a:srgbClr val="202020"/>
                </a:solidFill>
                <a:latin typeface="Calibri"/>
              </a:rPr>
              <a:t> becomes </a:t>
            </a:r>
            <a:r>
              <a:rPr sz="1200" b="0" i="0">
                <a:solidFill>
                  <a:srgbClr val="202020"/>
                </a:solidFill>
                <a:latin typeface="Consolas"/>
              </a:rPr>
              <a:t>secret-aad-app-client-secret</a:t>
            </a:r>
            <a:r>
              <a:rPr sz="1250" b="0" i="0">
                <a:solidFill>
                  <a:srgbClr val="202020"/>
                </a:solidFill>
                <a:latin typeface="Calibri"/>
              </a:rPr>
              <a:t>). This is the recommended production pattern: no secret file exists on the box at all, and rotating a secret is a single vault write rather than a change on every node. The connector's identity needs only the </a:t>
            </a:r>
            <a:r>
              <a:rPr sz="1200" b="0" i="0">
                <a:solidFill>
                  <a:srgbClr val="202020"/>
                </a:solidFill>
                <a:latin typeface="Consolas"/>
              </a:rPr>
              <a:t>get</a:t>
            </a:r>
            <a:r>
              <a:rPr sz="1250" b="0" i="0">
                <a:solidFill>
                  <a:srgbClr val="202020"/>
                </a:solidFill>
                <a:latin typeface="Calibri"/>
              </a:rPr>
              <a:t> permission on secrets.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7.4 Azure Key Vault</a:t>
            </a:r>
          </a:p>
        </p:txBody>
      </p:sp>
      <p:sp>
        <p:nvSpPr>
          <p:cNvPr id="5" name="Rectangle 4"/>
          <p:cNvSpPr/>
          <p:nvPr/>
        </p:nvSpPr>
        <p:spPr>
          <a:xfrm>
            <a:off x="502920" y="1463040"/>
            <a:ext cx="11185855" cy="3291840"/>
          </a:xfrm>
          <a:prstGeom prst="rect">
            <a:avLst/>
          </a:prstGeom>
          <a:solidFill>
            <a:srgbClr val="F0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6A3D9A"/>
                </a:solidFill>
                <a:latin typeface="Calibri"/>
              </a:rPr>
              <a:t>Information to request:  </a:t>
            </a:r>
            <a:r>
              <a:rPr sz="1400" b="1" i="0">
                <a:solidFill>
                  <a:srgbClr val="202020"/>
                </a:solidFill>
                <a:latin typeface="Calibri"/>
              </a:rPr>
              <a:t>Information to request: </a:t>
            </a:r>
            <a:r>
              <a:rPr sz="1400" b="0" i="0">
                <a:solidFill>
                  <a:srgbClr val="202020"/>
                </a:solidFill>
                <a:latin typeface="Calibri"/>
              </a:rPr>
              <a:t>Request from your </a:t>
            </a:r>
            <a:r>
              <a:rPr sz="1400" b="1" i="0">
                <a:solidFill>
                  <a:srgbClr val="202020"/>
                </a:solidFill>
                <a:latin typeface="Calibri"/>
              </a:rPr>
              <a:t>Azure platform / Key Vault team</a:t>
            </a:r>
            <a:r>
              <a:rPr sz="1400" b="0" i="0">
                <a:solidFill>
                  <a:srgbClr val="202020"/>
                </a:solidFill>
                <a:latin typeface="Calibri"/>
              </a:rPr>
              <a:t>: the </a:t>
            </a:r>
            <a:r>
              <a:rPr sz="1400" b="1" i="0">
                <a:solidFill>
                  <a:srgbClr val="202020"/>
                </a:solidFill>
                <a:latin typeface="Calibri"/>
              </a:rPr>
              <a:t>Key Vault URI</a:t>
            </a:r>
            <a:r>
              <a:rPr sz="1400" b="0" i="0">
                <a:solidFill>
                  <a:srgbClr val="202020"/>
                </a:solidFill>
                <a:latin typeface="Calibri"/>
              </a:rPr>
              <a:t>, and </a:t>
            </a:r>
            <a:r>
              <a:rPr sz="1350" b="1" i="0">
                <a:solidFill>
                  <a:srgbClr val="202020"/>
                </a:solidFill>
                <a:latin typeface="Consolas"/>
              </a:rPr>
              <a:t>get</a:t>
            </a:r>
            <a:r>
              <a:rPr sz="1400" b="1" i="0">
                <a:solidFill>
                  <a:srgbClr val="202020"/>
                </a:solidFill>
                <a:latin typeface="Calibri"/>
              </a:rPr>
              <a:t> access on secrets</a:t>
            </a:r>
            <a:r>
              <a:rPr sz="1400" b="0" i="0">
                <a:solidFill>
                  <a:srgbClr val="202020"/>
                </a:solidFill>
                <a:latin typeface="Calibri"/>
              </a:rPr>
              <a:t> for the connector's service account or managed identity. Ask the rotation automation owner for </a:t>
            </a:r>
            <a:r>
              <a:rPr sz="1350" b="1" i="0">
                <a:solidFill>
                  <a:srgbClr val="202020"/>
                </a:solidFill>
                <a:latin typeface="Consolas"/>
              </a:rPr>
              <a:t>set</a:t>
            </a:r>
            <a:r>
              <a:rPr sz="1400" b="0" i="0">
                <a:solidFill>
                  <a:srgbClr val="202020"/>
                </a:solidFill>
                <a:latin typeface="Calibri"/>
              </a:rPr>
              <a:t> access — the connector itself never needs it.</a:t>
            </a:r>
          </a:p>
        </p:txBody>
      </p:sp>
      <p:sp>
        <p:nvSpPr>
          <p:cNvPr id="6" name="Rectangle 5"/>
          <p:cNvSpPr/>
          <p:nvPr/>
        </p:nvSpPr>
        <p:spPr>
          <a:xfrm>
            <a:off x="502920" y="1463040"/>
            <a:ext cx="128016" cy="3291840"/>
          </a:xfrm>
          <a:prstGeom prst="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7.5 Corporate proxy and TLS inspection</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Behind a locked-down egress, point outbound traffic through your proxy and trust your inspection certificate authority (CA):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7.5 Corporate proxy and TLS inspection</a:t>
            </a:r>
          </a:p>
        </p:txBody>
      </p:sp>
      <p:graphicFrame>
        <p:nvGraphicFramePr>
          <p:cNvPr id="5" name="Table 4"/>
          <p:cNvGraphicFramePr>
            <a:graphicFrameLocks noGrp="1"/>
          </p:cNvGraphicFramePr>
          <p:nvPr/>
        </p:nvGraphicFramePr>
        <p:xfrm>
          <a:off x="502920" y="1188720"/>
          <a:ext cx="11185854" cy="1536192"/>
        </p:xfrm>
        <a:graphic>
          <a:graphicData uri="http://schemas.openxmlformats.org/drawingml/2006/table">
            <a:tbl>
              <a:tblPr firstRow="1" bandRow="1">
                <a:tableStyleId>{5C22544A-7EE6-4342-B048-85BDC9FD1C3A}</a:tableStyleId>
              </a:tblPr>
              <a:tblGrid>
                <a:gridCol w="3803190"/>
                <a:gridCol w="7382664"/>
              </a:tblGrid>
              <a:tr h="384048">
                <a:tc>
                  <a:txBody>
                    <a:bodyPr wrap="square"/>
                    <a:lstStyle/>
                    <a:p>
                      <a:r>
                        <a:rPr sz="1050" b="1" i="0">
                          <a:solidFill>
                            <a:srgbClr val="FFFFFF"/>
                          </a:solidFill>
                          <a:latin typeface="Calibri"/>
                        </a:rPr>
                        <a:t>Setting</a:t>
                      </a:r>
                    </a:p>
                  </a:txBody>
                  <a:tcPr marT="25400" marB="25400">
                    <a:solidFill>
                      <a:srgbClr val="2E5496"/>
                    </a:solidFill>
                  </a:tcPr>
                </a:tc>
                <a:tc>
                  <a:txBody>
                    <a:bodyPr wrap="square"/>
                    <a:lstStyle/>
                    <a:p>
                      <a:r>
                        <a:rPr sz="1050" b="1" i="0">
                          <a:solidFill>
                            <a:srgbClr val="FFFFFF"/>
                          </a:solidFill>
                          <a:latin typeface="Calibri"/>
                        </a:rPr>
                        <a:t>Purpose</a:t>
                      </a:r>
                    </a:p>
                  </a:txBody>
                  <a:tcPr marT="25400" marB="25400">
                    <a:solidFill>
                      <a:srgbClr val="2E5496"/>
                    </a:solidFill>
                  </a:tcPr>
                </a:tc>
              </a:tr>
              <a:tr h="384048">
                <a:tc>
                  <a:txBody>
                    <a:bodyPr wrap="square"/>
                    <a:lstStyle/>
                    <a:p>
                      <a:r>
                        <a:rPr sz="950" b="0" i="0">
                          <a:solidFill>
                            <a:srgbClr val="202020"/>
                          </a:solidFill>
                          <a:latin typeface="Consolas"/>
                        </a:rPr>
                        <a:t>PROXY_URL</a:t>
                      </a:r>
                    </a:p>
                  </a:txBody>
                  <a:tcPr marT="12700" marB="12700">
                    <a:solidFill>
                      <a:srgbClr val="FFFFFF"/>
                    </a:solidFill>
                  </a:tcPr>
                </a:tc>
                <a:tc>
                  <a:txBody>
                    <a:bodyPr wrap="square"/>
                    <a:lstStyle/>
                    <a:p>
                      <a:r>
                        <a:rPr sz="950" b="0" i="0">
                          <a:solidFill>
                            <a:srgbClr val="202020"/>
                          </a:solidFill>
                          <a:latin typeface="Calibri"/>
                        </a:rPr>
                        <a:t>Explicit outbound proxy for all connector HTTP (source, Graph, webhook). Unset = .NET default, which already honours HTTPS_PROXY / HTTP_PROXY / NO_PROXY and OS proxy settings</a:t>
                      </a:r>
                    </a:p>
                  </a:txBody>
                  <a:tcPr marT="12700" marB="12700">
                    <a:solidFill>
                      <a:srgbClr val="FFFFFF"/>
                    </a:solidFill>
                  </a:tcPr>
                </a:tc>
              </a:tr>
              <a:tr h="384048">
                <a:tc>
                  <a:txBody>
                    <a:bodyPr wrap="square"/>
                    <a:lstStyle/>
                    <a:p>
                      <a:r>
                        <a:rPr sz="950" b="0" i="0">
                          <a:solidFill>
                            <a:srgbClr val="202020"/>
                          </a:solidFill>
                          <a:latin typeface="Consolas"/>
                        </a:rPr>
                        <a:t>PROXY_BYPASS</a:t>
                      </a:r>
                    </a:p>
                  </a:txBody>
                  <a:tcPr marT="12700" marB="12700">
                    <a:solidFill>
                      <a:srgbClr val="F7F9FC"/>
                    </a:solidFill>
                  </a:tcPr>
                </a:tc>
                <a:tc>
                  <a:txBody>
                    <a:bodyPr wrap="square"/>
                    <a:lstStyle/>
                    <a:p>
                      <a:r>
                        <a:rPr sz="950" b="0" i="0">
                          <a:solidFill>
                            <a:srgbClr val="202020"/>
                          </a:solidFill>
                          <a:latin typeface="Calibri"/>
                        </a:rPr>
                        <a:t>Host suffixes that skip the proxy (internal endpoints); only meaningful with PROXY_URL</a:t>
                      </a:r>
                    </a:p>
                  </a:txBody>
                  <a:tcPr marT="12700" marB="12700">
                    <a:solidFill>
                      <a:srgbClr val="F7F9FC"/>
                    </a:solidFill>
                  </a:tcPr>
                </a:tc>
              </a:tr>
              <a:tr h="384048">
                <a:tc>
                  <a:txBody>
                    <a:bodyPr wrap="square"/>
                    <a:lstStyle/>
                    <a:p>
                      <a:r>
                        <a:rPr sz="950" b="0" i="0">
                          <a:solidFill>
                            <a:srgbClr val="202020"/>
                          </a:solidFill>
                          <a:latin typeface="Consolas"/>
                        </a:rPr>
                        <a:t>CA_BUNDLE_PATH</a:t>
                      </a:r>
                    </a:p>
                  </a:txBody>
                  <a:tcPr marT="12700" marB="12700">
                    <a:solidFill>
                      <a:srgbClr val="FFFFFF"/>
                    </a:solidFill>
                  </a:tcPr>
                </a:tc>
                <a:tc>
                  <a:txBody>
                    <a:bodyPr wrap="square"/>
                    <a:lstStyle/>
                    <a:p>
                      <a:r>
                        <a:rPr sz="950" b="0" i="0">
                          <a:solidFill>
                            <a:srgbClr val="202020"/>
                          </a:solidFill>
                          <a:latin typeface="Calibri"/>
                        </a:rPr>
                        <a:t>PEM file of additional trusted root CAs for a TLS-inspecting proxy. Additive — the system store still works and hostname checks stay enforced; nothing is ever set to trust-all. A missing/unparseable file fails startup, naming the setting (fail-closed)</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7.5 Corporate proxy and TLS inspection</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Outbound destinations to allow (public cloud): your source system's endpoint, </a:t>
            </a:r>
            <a:r>
              <a:rPr sz="1200" b="0" i="0">
                <a:solidFill>
                  <a:srgbClr val="202020"/>
                </a:solidFill>
                <a:latin typeface="Consolas"/>
              </a:rPr>
              <a:t>graph.microsoft.com</a:t>
            </a:r>
            <a:r>
              <a:rPr sz="1250" b="0" i="0">
                <a:solidFill>
                  <a:srgbClr val="202020"/>
                </a:solidFill>
                <a:latin typeface="Calibri"/>
              </a:rPr>
              <a:t>, </a:t>
            </a:r>
            <a:r>
              <a:rPr sz="1200" b="0" i="0">
                <a:solidFill>
                  <a:srgbClr val="202020"/>
                </a:solidFill>
                <a:latin typeface="Consolas"/>
              </a:rPr>
              <a:t>login.microsoftonline.com</a:t>
            </a:r>
            <a:r>
              <a:rPr sz="1250" b="0" i="0">
                <a:solidFill>
                  <a:srgbClr val="202020"/>
                </a:solidFill>
                <a:latin typeface="Calibri"/>
              </a:rPr>
              <a:t>, and </a:t>
            </a:r>
            <a:r>
              <a:rPr sz="1200" b="0" i="0">
                <a:solidFill>
                  <a:srgbClr val="202020"/>
                </a:solidFill>
                <a:latin typeface="Consolas"/>
              </a:rPr>
              <a:t>*.vault.azure.net</a:t>
            </a:r>
            <a:r>
              <a:rPr sz="1250" b="0" i="0">
                <a:solidFill>
                  <a:srgbClr val="202020"/>
                </a:solidFill>
                <a:latin typeface="Calibri"/>
              </a:rPr>
              <a:t> when Key Vault is used. Both proxy and CA settings are logged at startup, so </a:t>
            </a:r>
            <a:r>
              <a:rPr sz="1200" b="0" i="0">
                <a:solidFill>
                  <a:srgbClr val="202020"/>
                </a:solidFill>
                <a:latin typeface="Consolas"/>
              </a:rPr>
              <a:t>validate-config --strict</a:t>
            </a:r>
            <a:r>
              <a:rPr sz="1250" b="0" i="0">
                <a:solidFill>
                  <a:srgbClr val="202020"/>
                </a:solidFill>
                <a:latin typeface="Calibri"/>
              </a:rPr>
              <a:t> doubles as an egress smoke test.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7.5 Corporate proxy and TLS inspection</a:t>
            </a:r>
          </a:p>
        </p:txBody>
      </p:sp>
      <p:sp>
        <p:nvSpPr>
          <p:cNvPr id="5" name="Rectangle 4"/>
          <p:cNvSpPr/>
          <p:nvPr/>
        </p:nvSpPr>
        <p:spPr>
          <a:xfrm>
            <a:off x="502920" y="1463040"/>
            <a:ext cx="11185855" cy="3291840"/>
          </a:xfrm>
          <a:prstGeom prst="rect">
            <a:avLst/>
          </a:prstGeom>
          <a:solidFill>
            <a:srgbClr val="F0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6A3D9A"/>
                </a:solidFill>
                <a:latin typeface="Calibri"/>
              </a:rPr>
              <a:t>Information to request:  </a:t>
            </a:r>
            <a:r>
              <a:rPr sz="1400" b="1" i="0">
                <a:solidFill>
                  <a:srgbClr val="202020"/>
                </a:solidFill>
                <a:latin typeface="Calibri"/>
              </a:rPr>
              <a:t>Information to request: </a:t>
            </a:r>
            <a:r>
              <a:rPr sz="1400" b="0" i="0">
                <a:solidFill>
                  <a:srgbClr val="202020"/>
                </a:solidFill>
                <a:latin typeface="Calibri"/>
              </a:rPr>
              <a:t>Request from your </a:t>
            </a:r>
            <a:r>
              <a:rPr sz="1400" b="1" i="0">
                <a:solidFill>
                  <a:srgbClr val="202020"/>
                </a:solidFill>
                <a:latin typeface="Calibri"/>
              </a:rPr>
              <a:t>network / firewall team</a:t>
            </a:r>
            <a:r>
              <a:rPr sz="1400" b="0" i="0">
                <a:solidFill>
                  <a:srgbClr val="202020"/>
                </a:solidFill>
                <a:latin typeface="Calibri"/>
              </a:rPr>
              <a:t>: the </a:t>
            </a:r>
            <a:r>
              <a:rPr sz="1400" b="1" i="0">
                <a:solidFill>
                  <a:srgbClr val="202020"/>
                </a:solidFill>
                <a:latin typeface="Calibri"/>
              </a:rPr>
              <a:t>proxy URL</a:t>
            </a:r>
            <a:r>
              <a:rPr sz="1400" b="0" i="0">
                <a:solidFill>
                  <a:srgbClr val="202020"/>
                </a:solidFill>
                <a:latin typeface="Calibri"/>
              </a:rPr>
              <a:t> (and any credentials, treated as a secret) and </a:t>
            </a:r>
            <a:r>
              <a:rPr sz="1400" b="1" i="0">
                <a:solidFill>
                  <a:srgbClr val="202020"/>
                </a:solidFill>
                <a:latin typeface="Calibri"/>
              </a:rPr>
              <a:t>bypass list</a:t>
            </a:r>
            <a:r>
              <a:rPr sz="1400" b="0" i="0">
                <a:solidFill>
                  <a:srgbClr val="202020"/>
                </a:solidFill>
                <a:latin typeface="Calibri"/>
              </a:rPr>
              <a:t>; confirmation that </a:t>
            </a:r>
            <a:r>
              <a:rPr sz="1400" b="1" i="0">
                <a:solidFill>
                  <a:srgbClr val="202020"/>
                </a:solidFill>
                <a:latin typeface="Calibri"/>
              </a:rPr>
              <a:t>outbound 443</a:t>
            </a:r>
            <a:r>
              <a:rPr sz="1400" b="0" i="0">
                <a:solidFill>
                  <a:srgbClr val="202020"/>
                </a:solidFill>
                <a:latin typeface="Calibri"/>
              </a:rPr>
              <a:t> to the destinations above is permitted; and, if TLS is inspected, the </a:t>
            </a:r>
            <a:r>
              <a:rPr sz="1400" b="1" i="0">
                <a:solidFill>
                  <a:srgbClr val="202020"/>
                </a:solidFill>
                <a:latin typeface="Calibri"/>
              </a:rPr>
              <a:t>inspection root CA bundle</a:t>
            </a:r>
            <a:r>
              <a:rPr sz="1400" b="0" i="0">
                <a:solidFill>
                  <a:srgbClr val="202020"/>
                </a:solidFill>
                <a:latin typeface="Calibri"/>
              </a:rPr>
              <a:t> (PEM) plus where it is deployed on the host.</a:t>
            </a:r>
          </a:p>
        </p:txBody>
      </p:sp>
      <p:sp>
        <p:nvSpPr>
          <p:cNvPr id="6" name="Rectangle 5"/>
          <p:cNvSpPr/>
          <p:nvPr/>
        </p:nvSpPr>
        <p:spPr>
          <a:xfrm>
            <a:off x="502920" y="1463040"/>
            <a:ext cx="128016" cy="3291840"/>
          </a:xfrm>
          <a:prstGeom prst="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7.6 FIPS mode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On a Windows host with the FIPS local-security policy enabled, .NET maps its cryptography to validated providers, and the connector's TLS, SHA-256 usage and RSA signing comply. The </a:t>
            </a:r>
            <a:r>
              <a:rPr sz="1250" b="1" i="0">
                <a:solidFill>
                  <a:srgbClr val="202020"/>
                </a:solidFill>
                <a:latin typeface="Calibri"/>
              </a:rPr>
              <a:t>certificate-thumbprint credential with a non-exportable key in the machine store</a:t>
            </a:r>
            <a:r>
              <a:rPr sz="1250" b="0" i="0">
                <a:solidFill>
                  <a:srgbClr val="202020"/>
                </a:solidFill>
                <a:latin typeface="Calibri"/>
              </a:rPr>
              <a:t> is the FIPS-friendly choice — prefer it over PFX files and client secrets in FIPS estates. (One legacy MD5 call exists as a non-security cache key inherited from the original; it is used for bucketing, not integrity or authentication, and the per-connector threat model documents it.)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7.7 Data at rest and dead-letter redaction</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Know what the connector stores on disk (or in SQL) and how sensitive it is: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7.7 Data at rest and dead-letter redaction</a:t>
            </a:r>
          </a:p>
        </p:txBody>
      </p:sp>
      <p:graphicFrame>
        <p:nvGraphicFramePr>
          <p:cNvPr id="5" name="Table 4"/>
          <p:cNvGraphicFramePr>
            <a:graphicFrameLocks noGrp="1"/>
          </p:cNvGraphicFramePr>
          <p:nvPr/>
        </p:nvGraphicFramePr>
        <p:xfrm>
          <a:off x="502920" y="1188720"/>
          <a:ext cx="11185855" cy="2688336"/>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Store</a:t>
                      </a:r>
                    </a:p>
                  </a:txBody>
                  <a:tcPr marT="25400" marB="25400">
                    <a:solidFill>
                      <a:srgbClr val="2E5496"/>
                    </a:solidFill>
                  </a:tcPr>
                </a:tc>
                <a:tc>
                  <a:txBody>
                    <a:bodyPr wrap="square"/>
                    <a:lstStyle/>
                    <a:p>
                      <a:r>
                        <a:rPr sz="1050" b="1" i="0">
                          <a:solidFill>
                            <a:srgbClr val="FFFFFF"/>
                          </a:solidFill>
                          <a:latin typeface="Calibri"/>
                        </a:rPr>
                        <a:t>Contents</a:t>
                      </a:r>
                    </a:p>
                  </a:txBody>
                  <a:tcPr marT="25400" marB="25400">
                    <a:solidFill>
                      <a:srgbClr val="2E5496"/>
                    </a:solidFill>
                  </a:tcPr>
                </a:tc>
                <a:tc>
                  <a:txBody>
                    <a:bodyPr wrap="square"/>
                    <a:lstStyle/>
                    <a:p>
                      <a:r>
                        <a:rPr sz="1050" b="1" i="0">
                          <a:solidFill>
                            <a:srgbClr val="FFFFFF"/>
                          </a:solidFill>
                          <a:latin typeface="Calibri"/>
                        </a:rPr>
                        <a:t>Sensitivity &amp; protection</a:t>
                      </a:r>
                    </a:p>
                  </a:txBody>
                  <a:tcPr marT="25400" marB="25400">
                    <a:solidFill>
                      <a:srgbClr val="2E5496"/>
                    </a:solidFill>
                  </a:tcPr>
                </a:tc>
              </a:tr>
              <a:tr h="384048">
                <a:tc>
                  <a:txBody>
                    <a:bodyPr wrap="square"/>
                    <a:lstStyle/>
                    <a:p>
                      <a:r>
                        <a:rPr sz="950" b="0" i="0">
                          <a:solidFill>
                            <a:srgbClr val="202020"/>
                          </a:solidFill>
                          <a:latin typeface="Calibri"/>
                        </a:rPr>
                        <a:t>Identity store (SQLite / SQL)</a:t>
                      </a:r>
                    </a:p>
                  </a:txBody>
                  <a:tcPr marT="12700" marB="12700">
                    <a:solidFill>
                      <a:srgbClr val="FFFFFF"/>
                    </a:solidFill>
                  </a:tcPr>
                </a:tc>
                <a:tc>
                  <a:txBody>
                    <a:bodyPr wrap="square"/>
                    <a:lstStyle/>
                    <a:p>
                      <a:r>
                        <a:rPr sz="950" b="0" i="0">
                          <a:solidFill>
                            <a:srgbClr val="202020"/>
                          </a:solidFill>
                          <a:latin typeface="Calibri"/>
                        </a:rPr>
                        <a:t>Source-to-Entra id mappings, emails/UPNs, group memberships. No source record content</a:t>
                      </a:r>
                    </a:p>
                  </a:txBody>
                  <a:tcPr marT="12700" marB="12700">
                    <a:solidFill>
                      <a:srgbClr val="FFFFFF"/>
                    </a:solidFill>
                  </a:tcPr>
                </a:tc>
                <a:tc>
                  <a:txBody>
                    <a:bodyPr wrap="square"/>
                    <a:lstStyle/>
                    <a:p>
                      <a:r>
                        <a:rPr sz="950" b="0" i="0">
                          <a:solidFill>
                            <a:srgbClr val="202020"/>
                          </a:solidFill>
                          <a:latin typeface="Calibri"/>
                        </a:rPr>
                        <a:t>PII (emails). File ACLs + volume encryption; SQL: TDE + least-privilege login</a:t>
                      </a:r>
                    </a:p>
                  </a:txBody>
                  <a:tcPr marT="12700" marB="12700">
                    <a:solidFill>
                      <a:srgbClr val="FFFFFF"/>
                    </a:solidFill>
                  </a:tcPr>
                </a:tc>
              </a:tr>
              <a:tr h="384048">
                <a:tc>
                  <a:txBody>
                    <a:bodyPr wrap="square"/>
                    <a:lstStyle/>
                    <a:p>
                      <a:r>
                        <a:rPr sz="950" b="0" i="0">
                          <a:solidFill>
                            <a:srgbClr val="202020"/>
                          </a:solidFill>
                          <a:latin typeface="Calibri"/>
                        </a:rPr>
                        <a:t>Item inventory (SQLite / SQL)</a:t>
                      </a:r>
                    </a:p>
                  </a:txBody>
                  <a:tcPr marT="12700" marB="12700">
                    <a:solidFill>
                      <a:srgbClr val="F7F9FC"/>
                    </a:solidFill>
                  </a:tcPr>
                </a:tc>
                <a:tc>
                  <a:txBody>
                    <a:bodyPr wrap="square"/>
                    <a:lstStyle/>
                    <a:p>
                      <a:r>
                        <a:rPr sz="950" b="0" i="0">
                          <a:solidFill>
                            <a:srgbClr val="202020"/>
                          </a:solidFill>
                          <a:latin typeface="Calibri"/>
                        </a:rPr>
                        <a:t>Ingested item ids per object type (for deletion detection)</a:t>
                      </a:r>
                    </a:p>
                  </a:txBody>
                  <a:tcPr marT="12700" marB="12700">
                    <a:solidFill>
                      <a:srgbClr val="F7F9FC"/>
                    </a:solidFill>
                  </a:tcPr>
                </a:tc>
                <a:tc>
                  <a:txBody>
                    <a:bodyPr wrap="square"/>
                    <a:lstStyle/>
                    <a:p>
                      <a:r>
                        <a:rPr sz="950" b="0" i="0">
                          <a:solidFill>
                            <a:srgbClr val="202020"/>
                          </a:solidFill>
                          <a:latin typeface="Calibri"/>
                        </a:rPr>
                        <a:t>Low (ids only)</a:t>
                      </a:r>
                    </a:p>
                  </a:txBody>
                  <a:tcPr marT="12700" marB="12700">
                    <a:solidFill>
                      <a:srgbClr val="F7F9FC"/>
                    </a:solidFill>
                  </a:tcPr>
                </a:tc>
              </a:tr>
              <a:tr h="384048">
                <a:tc>
                  <a:txBody>
                    <a:bodyPr wrap="square"/>
                    <a:lstStyle/>
                    <a:p>
                      <a:r>
                        <a:rPr sz="950" b="0" i="0">
                          <a:solidFill>
                            <a:srgbClr val="202020"/>
                          </a:solidFill>
                          <a:latin typeface="Calibri"/>
                        </a:rPr>
                        <a:t>Dead-letter queue</a:t>
                      </a:r>
                    </a:p>
                  </a:txBody>
                  <a:tcPr marT="12700" marB="12700">
                    <a:solidFill>
                      <a:srgbClr val="FFFFFF"/>
                    </a:solidFill>
                  </a:tcPr>
                </a:tc>
                <a:tc>
                  <a:txBody>
                    <a:bodyPr wrap="square"/>
                    <a:lstStyle/>
                    <a:p>
                      <a:r>
                        <a:rPr sz="950" b="0" i="0">
                          <a:solidFill>
                            <a:srgbClr val="202020"/>
                          </a:solidFill>
                          <a:latin typeface="Calibri"/>
                        </a:rPr>
                        <a:t>Failed item ids, object type, error, timestamps — plus full request/response payloads (source field values) in the default DEADLETTER_PAYLOAD_MODE=full</a:t>
                      </a:r>
                    </a:p>
                  </a:txBody>
                  <a:tcPr marT="12700" marB="12700">
                    <a:solidFill>
                      <a:srgbClr val="FFFFFF"/>
                    </a:solidFill>
                  </a:tcPr>
                </a:tc>
                <a:tc>
                  <a:txBody>
                    <a:bodyPr wrap="square"/>
                    <a:lstStyle/>
                    <a:p>
                      <a:r>
                        <a:rPr sz="950" b="0" i="0">
                          <a:solidFill>
                            <a:srgbClr val="202020"/>
                          </a:solidFill>
                          <a:latin typeface="Calibri"/>
                        </a:rPr>
                        <a:t>HIGH in full mode. Set DEADLETTER_PAYLOAD_MODE=redacted where source data is sensitive (keeps ids/errors/ACLs/field names + sha256 hashes); file ACLs; drain with retry-failed</a:t>
                      </a:r>
                    </a:p>
                  </a:txBody>
                  <a:tcPr marT="12700" marB="12700">
                    <a:solidFill>
                      <a:srgbClr val="FFFFFF"/>
                    </a:solidFill>
                  </a:tcPr>
                </a:tc>
              </a:tr>
              <a:tr h="384048">
                <a:tc>
                  <a:txBody>
                    <a:bodyPr wrap="square"/>
                    <a:lstStyle/>
                    <a:p>
                      <a:r>
                        <a:rPr sz="950" b="0" i="0">
                          <a:solidFill>
                            <a:srgbClr val="202020"/>
                          </a:solidFill>
                          <a:latin typeface="Calibri"/>
                        </a:rPr>
                        <a:t>Checkpoint / sync-state files</a:t>
                      </a:r>
                    </a:p>
                  </a:txBody>
                  <a:tcPr marT="12700" marB="12700">
                    <a:solidFill>
                      <a:srgbClr val="F7F9FC"/>
                    </a:solidFill>
                  </a:tcPr>
                </a:tc>
                <a:tc>
                  <a:txBody>
                    <a:bodyPr wrap="square"/>
                    <a:lstStyle/>
                    <a:p>
                      <a:r>
                        <a:rPr sz="950" b="0" i="0">
                          <a:solidFill>
                            <a:srgbClr val="202020"/>
                          </a:solidFill>
                          <a:latin typeface="Calibri"/>
                        </a:rPr>
                        <a:t>Chunk positions, sync timestamps</a:t>
                      </a:r>
                    </a:p>
                  </a:txBody>
                  <a:tcPr marT="12700" marB="12700">
                    <a:solidFill>
                      <a:srgbClr val="F7F9FC"/>
                    </a:solidFill>
                  </a:tcPr>
                </a:tc>
                <a:tc>
                  <a:txBody>
                    <a:bodyPr wrap="square"/>
                    <a:lstStyle/>
                    <a:p>
                      <a:r>
                        <a:rPr sz="950" b="0" i="0">
                          <a:solidFill>
                            <a:srgbClr val="202020"/>
                          </a:solidFill>
                          <a:latin typeface="Calibri"/>
                        </a:rPr>
                        <a:t>None. File ACLs</a:t>
                      </a:r>
                    </a:p>
                  </a:txBody>
                  <a:tcPr marT="12700" marB="12700">
                    <a:solidFill>
                      <a:srgbClr val="F7F9FC"/>
                    </a:solidFill>
                  </a:tcPr>
                </a:tc>
              </a:tr>
              <a:tr h="384048">
                <a:tc>
                  <a:txBody>
                    <a:bodyPr wrap="square"/>
                    <a:lstStyle/>
                    <a:p>
                      <a:r>
                        <a:rPr sz="950" b="0" i="0">
                          <a:solidFill>
                            <a:srgbClr val="202020"/>
                          </a:solidFill>
                          <a:latin typeface="Calibri"/>
                        </a:rPr>
                        <a:t>Run logs</a:t>
                      </a:r>
                    </a:p>
                  </a:txBody>
                  <a:tcPr marT="12700" marB="12700">
                    <a:solidFill>
                      <a:srgbClr val="FFFFFF"/>
                    </a:solidFill>
                  </a:tcPr>
                </a:tc>
                <a:tc>
                  <a:txBody>
                    <a:bodyPr wrap="square"/>
                    <a:lstStyle/>
                    <a:p>
                      <a:r>
                        <a:rPr sz="950" b="0" i="0">
                          <a:solidFill>
                            <a:srgbClr val="202020"/>
                          </a:solidFill>
                          <a:latin typeface="Calibri"/>
                        </a:rPr>
                        <a:t>Ids, counts, errors, URLs, field names (not values, except deliberate single-item debug)</a:t>
                      </a:r>
                    </a:p>
                  </a:txBody>
                  <a:tcPr marT="12700" marB="12700">
                    <a:solidFill>
                      <a:srgbClr val="FFFFFF"/>
                    </a:solidFill>
                  </a:tcPr>
                </a:tc>
                <a:tc>
                  <a:txBody>
                    <a:bodyPr wrap="square"/>
                    <a:lstStyle/>
                    <a:p>
                      <a:r>
                        <a:rPr sz="950" b="0" i="0">
                          <a:solidFill>
                            <a:srgbClr val="202020"/>
                          </a:solidFill>
                          <a:latin typeface="Calibri"/>
                        </a:rPr>
                        <a:t>Medium. File ACLs; LOG_RETENTION_DAYS pruning; ship-and-delete via your collector</a:t>
                      </a:r>
                    </a:p>
                  </a:txBody>
                  <a:tcPr marT="12700" marB="12700">
                    <a:solidFill>
                      <a:srgbClr val="FFFFFF"/>
                    </a:solidFill>
                  </a:tcPr>
                </a:tc>
              </a:tr>
              <a:tr h="384048">
                <a:tc>
                  <a:txBody>
                    <a:bodyPr wrap="square"/>
                    <a:lstStyle/>
                    <a:p>
                      <a:r>
                        <a:rPr sz="950" b="0" i="0">
                          <a:solidFill>
                            <a:srgbClr val="202020"/>
                          </a:solidFill>
                          <a:latin typeface="Calibri"/>
                        </a:rPr>
                        <a:t>Secret file (.env.local.user)</a:t>
                      </a:r>
                    </a:p>
                  </a:txBody>
                  <a:tcPr marT="12700" marB="12700">
                    <a:solidFill>
                      <a:srgbClr val="F7F9FC"/>
                    </a:solidFill>
                  </a:tcPr>
                </a:tc>
                <a:tc>
                  <a:txBody>
                    <a:bodyPr wrap="square"/>
                    <a:lstStyle/>
                    <a:p>
                      <a:r>
                        <a:rPr sz="950" b="0" i="0">
                          <a:solidFill>
                            <a:srgbClr val="202020"/>
                          </a:solidFill>
                          <a:latin typeface="Calibri"/>
                        </a:rPr>
                        <a:t>Client secrets, if not using Key Vault</a:t>
                      </a:r>
                    </a:p>
                  </a:txBody>
                  <a:tcPr marT="12700" marB="12700">
                    <a:solidFill>
                      <a:srgbClr val="F7F9FC"/>
                    </a:solidFill>
                  </a:tcPr>
                </a:tc>
                <a:tc>
                  <a:txBody>
                    <a:bodyPr wrap="square"/>
                    <a:lstStyle/>
                    <a:p>
                      <a:r>
                        <a:rPr sz="950" b="0" i="0">
                          <a:solidFill>
                            <a:srgbClr val="202020"/>
                          </a:solidFill>
                          <a:latin typeface="Calibri"/>
                        </a:rPr>
                        <a:t>CRITICAL. Prefer Key Vault so the file does not exist; else read-only ACL to the service account</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7.7 Data at rest and dead-letter redaction</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Access tokens, client-assertion JWTs, resolved Key Vault values and certificate private keys are </a:t>
            </a:r>
            <a:r>
              <a:rPr sz="1250" b="1" i="0">
                <a:solidFill>
                  <a:srgbClr val="202020"/>
                </a:solidFill>
                <a:latin typeface="Calibri"/>
              </a:rPr>
              <a:t>never persisted</a:t>
            </a:r>
            <a:r>
              <a:rPr sz="1250" b="0" i="0">
                <a:solidFill>
                  <a:srgbClr val="202020"/>
                </a:solidFill>
                <a:latin typeface="Calibri"/>
              </a:rPr>
              <a:t> — they live in process memory or the OS store only.</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7.7 Data at rest and dead-letter redaction</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In a bank, treat the </a:t>
            </a:r>
            <a:r>
              <a:rPr sz="1400" b="1" i="0">
                <a:solidFill>
                  <a:srgbClr val="202020"/>
                </a:solidFill>
                <a:latin typeface="Calibri"/>
              </a:rPr>
              <a:t>dead-letter payload mode</a:t>
            </a:r>
            <a:r>
              <a:rPr sz="1400" b="0" i="0">
                <a:solidFill>
                  <a:srgbClr val="202020"/>
                </a:solidFill>
                <a:latin typeface="Calibri"/>
              </a:rPr>
              <a:t> as a compliance decision: set </a:t>
            </a:r>
            <a:r>
              <a:rPr sz="1350" b="0" i="0">
                <a:solidFill>
                  <a:srgbClr val="202020"/>
                </a:solidFill>
                <a:latin typeface="Consolas"/>
              </a:rPr>
              <a:t>DEADLETTER_PAYLOAD_MODE=redacted</a:t>
            </a:r>
            <a:r>
              <a:rPr sz="1400" b="0" i="0">
                <a:solidFill>
                  <a:srgbClr val="202020"/>
                </a:solidFill>
                <a:latin typeface="Calibri"/>
              </a:rPr>
              <a:t> for any connector whose source records contain customer PII/financial data, unless a debugging window justifies </a:t>
            </a:r>
            <a:r>
              <a:rPr sz="1350" b="0" i="0">
                <a:solidFill>
                  <a:srgbClr val="202020"/>
                </a:solidFill>
                <a:latin typeface="Consolas"/>
              </a:rPr>
              <a:t>full</a:t>
            </a:r>
            <a:r>
              <a:rPr sz="1400" b="0" i="0">
                <a:solidFill>
                  <a:srgbClr val="202020"/>
                </a:solidFill>
                <a:latin typeface="Calibri"/>
              </a:rPr>
              <a:t>. Confirm the required mode with your </a:t>
            </a:r>
            <a:r>
              <a:rPr sz="1400" b="1" i="0">
                <a:solidFill>
                  <a:srgbClr val="202020"/>
                </a:solidFill>
                <a:latin typeface="Calibri"/>
              </a:rPr>
              <a:t>security / compliance team</a:t>
            </a:r>
            <a:r>
              <a:rPr sz="1400" b="0" i="0">
                <a:solidFill>
                  <a:srgbClr val="202020"/>
                </a:solidFill>
                <a:latin typeface="Calibri"/>
              </a:rPr>
              <a:t> per connector.</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7.8 Least privilege and secret/certificate rotation</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Service account</a:t>
            </a:r>
            <a:r>
              <a:rPr sz="1250" b="0" i="0">
                <a:solidFill>
                  <a:srgbClr val="202020"/>
                </a:solidFill>
                <a:latin typeface="Calibri"/>
              </a:rPr>
              <a:t> — run the service as a dedicated principal, ideally a group-managed service account (gMSA, no password to rotate); grant only logon-as-a-service, write to the state/log directories, read on the secret directory, and read+execute on the binaries. Never an admin, never interactive logon.</a:t>
            </a:r>
          </a:p>
          <a:p>
            <a:pPr>
              <a:spcBef>
                <a:spcPts val="100"/>
              </a:spcBef>
              <a:spcAft>
                <a:spcPts val="200"/>
              </a:spcAft>
            </a:pPr>
            <a:r>
              <a:rPr sz="1250" b="1" i="0">
                <a:solidFill>
                  <a:srgbClr val="2E5496"/>
                </a:solidFill>
                <a:latin typeface="Calibri"/>
              </a:rPr>
              <a:t>•  </a:t>
            </a:r>
            <a:r>
              <a:rPr sz="1250" b="1" i="0">
                <a:solidFill>
                  <a:srgbClr val="202020"/>
                </a:solidFill>
                <a:latin typeface="Calibri"/>
              </a:rPr>
              <a:t>SQL</a:t>
            </a:r>
            <a:r>
              <a:rPr sz="1250" b="0" i="0">
                <a:solidFill>
                  <a:srgbClr val="202020"/>
                </a:solidFill>
                <a:latin typeface="Calibri"/>
              </a:rPr>
              <a:t> — map the account to the least-privilege SQL login (never db_owner), or use </a:t>
            </a:r>
            <a:r>
              <a:rPr sz="1200" b="0" i="0">
                <a:solidFill>
                  <a:srgbClr val="202020"/>
                </a:solidFill>
                <a:latin typeface="Consolas"/>
              </a:rPr>
              <a:t>SQL_USE_MANAGED_IDENTITY=true</a:t>
            </a:r>
            <a:r>
              <a:rPr sz="1250" b="0" i="0">
                <a:solidFill>
                  <a:srgbClr val="202020"/>
                </a:solidFill>
                <a:latin typeface="Calibri"/>
              </a:rPr>
              <a:t> on Azure.</a:t>
            </a:r>
          </a:p>
          <a:p>
            <a:pPr>
              <a:spcBef>
                <a:spcPts val="100"/>
              </a:spcBef>
              <a:spcAft>
                <a:spcPts val="200"/>
              </a:spcAft>
            </a:pPr>
            <a:r>
              <a:rPr sz="1250" b="1" i="0">
                <a:solidFill>
                  <a:srgbClr val="2E5496"/>
                </a:solidFill>
                <a:latin typeface="Calibri"/>
              </a:rPr>
              <a:t>•  </a:t>
            </a:r>
            <a:r>
              <a:rPr sz="1250" b="1" i="0">
                <a:solidFill>
                  <a:srgbClr val="202020"/>
                </a:solidFill>
                <a:latin typeface="Calibri"/>
              </a:rPr>
              <a:t>Rotation is zero-downtime</a:t>
            </a:r>
            <a:r>
              <a:rPr sz="1250" b="0" i="0">
                <a:solidFill>
                  <a:srgbClr val="202020"/>
                </a:solidFill>
                <a:latin typeface="Calibri"/>
              </a:rPr>
              <a:t> — the pattern is always add new, point config at new, restart the service (it resumes from checkpoint), retire old. A client secret supports a dual-secret window; a certificate supports two registered certs; Key Vault collapses "update every node" into one vault write. Calendar every secret/cert expiry.</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7.8 Least privilege and secret/certificate rotation</a:t>
            </a:r>
          </a:p>
        </p:txBody>
      </p:sp>
      <p:sp>
        <p:nvSpPr>
          <p:cNvPr id="5" name="Rectangle 4"/>
          <p:cNvSpPr/>
          <p:nvPr/>
        </p:nvSpPr>
        <p:spPr>
          <a:xfrm>
            <a:off x="502920" y="1463040"/>
            <a:ext cx="11185855" cy="3291840"/>
          </a:xfrm>
          <a:prstGeom prst="rect">
            <a:avLst/>
          </a:prstGeom>
          <a:solidFill>
            <a:srgbClr val="F0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6A3D9A"/>
                </a:solidFill>
                <a:latin typeface="Calibri"/>
              </a:rPr>
              <a:t>Information to request:  </a:t>
            </a:r>
            <a:r>
              <a:rPr sz="1400" b="1" i="0">
                <a:solidFill>
                  <a:srgbClr val="202020"/>
                </a:solidFill>
                <a:latin typeface="Calibri"/>
              </a:rPr>
              <a:t>Information to request: </a:t>
            </a:r>
            <a:r>
              <a:rPr sz="1400" b="0" i="0">
                <a:solidFill>
                  <a:srgbClr val="202020"/>
                </a:solidFill>
                <a:latin typeface="Calibri"/>
              </a:rPr>
              <a:t>Request from your </a:t>
            </a:r>
            <a:r>
              <a:rPr sz="1400" b="1" i="0">
                <a:solidFill>
                  <a:srgbClr val="202020"/>
                </a:solidFill>
                <a:latin typeface="Calibri"/>
              </a:rPr>
              <a:t>Active Directory / server team</a:t>
            </a:r>
            <a:r>
              <a:rPr sz="1400" b="0" i="0">
                <a:solidFill>
                  <a:srgbClr val="202020"/>
                </a:solidFill>
                <a:latin typeface="Calibri"/>
              </a:rPr>
              <a:t> the </a:t>
            </a:r>
            <a:r>
              <a:rPr sz="1400" b="1" i="0">
                <a:solidFill>
                  <a:srgbClr val="202020"/>
                </a:solidFill>
                <a:latin typeface="Calibri"/>
              </a:rPr>
              <a:t>service account</a:t>
            </a:r>
            <a:r>
              <a:rPr sz="1400" b="0" i="0">
                <a:solidFill>
                  <a:srgbClr val="202020"/>
                </a:solidFill>
                <a:latin typeface="Calibri"/>
              </a:rPr>
              <a:t> (gMSA preferred) for each connector, with logon-as-a-service granted, and agree who calendars </a:t>
            </a:r>
            <a:r>
              <a:rPr sz="1400" b="1" i="0">
                <a:solidFill>
                  <a:srgbClr val="202020"/>
                </a:solidFill>
                <a:latin typeface="Calibri"/>
              </a:rPr>
              <a:t>credential expiry</a:t>
            </a:r>
            <a:r>
              <a:rPr sz="1400" b="0" i="0">
                <a:solidFill>
                  <a:srgbClr val="202020"/>
                </a:solidFill>
                <a:latin typeface="Calibri"/>
              </a:rPr>
              <a:t> and performs rotation.</a:t>
            </a:r>
          </a:p>
        </p:txBody>
      </p:sp>
      <p:sp>
        <p:nvSpPr>
          <p:cNvPr id="6" name="Rectangle 5"/>
          <p:cNvSpPr/>
          <p:nvPr/>
        </p:nvSpPr>
        <p:spPr>
          <a:xfrm>
            <a:off x="502920" y="1463040"/>
            <a:ext cx="128016" cy="3291840"/>
          </a:xfrm>
          <a:prstGeom prst="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Tenant &amp; Common Concepts</a:t>
            </a:r>
          </a:p>
          <a:p>
            <a:r>
              <a:rPr sz="3000" b="1" i="0">
                <a:solidFill>
                  <a:srgbClr val="1F3864"/>
                </a:solidFill>
                <a:latin typeface="Calibri"/>
              </a:rPr>
              <a:t>8. Tenant limits, quotas and capacity planning</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90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8. Tenant limits, quotas and capacity planning</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All five connectors live in one Microsoft 365 tenant and share that tenant's Graph quotas. Nothing in the code coordinates them — this plan is that coordination. Treat it as shared configuration under change control.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91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8.1 The hard limits that bind the fleet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These are Microsoft-published limits per tenant / per connection. They are the ceiling the whole fleet plans against.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92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8.1 The hard limits that bind the fleet</a:t>
            </a:r>
          </a:p>
        </p:txBody>
      </p:sp>
      <p:graphicFrame>
        <p:nvGraphicFramePr>
          <p:cNvPr id="5" name="Table 4"/>
          <p:cNvGraphicFramePr>
            <a:graphicFrameLocks noGrp="1"/>
          </p:cNvGraphicFramePr>
          <p:nvPr/>
        </p:nvGraphicFramePr>
        <p:xfrm>
          <a:off x="502920" y="1188720"/>
          <a:ext cx="11185855" cy="3072384"/>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Limit</a:t>
                      </a:r>
                    </a:p>
                  </a:txBody>
                  <a:tcPr marT="25400" marB="25400">
                    <a:solidFill>
                      <a:srgbClr val="2E5496"/>
                    </a:solidFill>
                  </a:tcPr>
                </a:tc>
                <a:tc>
                  <a:txBody>
                    <a:bodyPr wrap="square"/>
                    <a:lstStyle/>
                    <a:p>
                      <a:r>
                        <a:rPr sz="1050" b="1" i="0">
                          <a:solidFill>
                            <a:srgbClr val="FFFFFF"/>
                          </a:solidFill>
                          <a:latin typeface="Calibri"/>
                        </a:rPr>
                        <a:t>Value</a:t>
                      </a:r>
                    </a:p>
                  </a:txBody>
                  <a:tcPr marT="25400" marB="25400">
                    <a:solidFill>
                      <a:srgbClr val="2E5496"/>
                    </a:solidFill>
                  </a:tcPr>
                </a:tc>
                <a:tc>
                  <a:txBody>
                    <a:bodyPr wrap="square"/>
                    <a:lstStyle/>
                    <a:p>
                      <a:r>
                        <a:rPr sz="1050" b="1" i="0">
                          <a:solidFill>
                            <a:srgbClr val="FFFFFF"/>
                          </a:solidFill>
                          <a:latin typeface="Calibri"/>
                        </a:rPr>
                        <a:t>Scope</a:t>
                      </a:r>
                    </a:p>
                  </a:txBody>
                  <a:tcPr marT="25400" marB="25400">
                    <a:solidFill>
                      <a:srgbClr val="2E5496"/>
                    </a:solidFill>
                  </a:tcPr>
                </a:tc>
              </a:tr>
              <a:tr h="384048">
                <a:tc>
                  <a:txBody>
                    <a:bodyPr wrap="square"/>
                    <a:lstStyle/>
                    <a:p>
                      <a:r>
                        <a:rPr sz="950" b="0" i="0">
                          <a:solidFill>
                            <a:srgbClr val="202020"/>
                          </a:solidFill>
                          <a:latin typeface="Calibri"/>
                        </a:rPr>
                        <a:t>Connections</a:t>
                      </a:r>
                    </a:p>
                  </a:txBody>
                  <a:tcPr marT="12700" marB="12700">
                    <a:solidFill>
                      <a:srgbClr val="FFFFFF"/>
                    </a:solidFill>
                  </a:tcPr>
                </a:tc>
                <a:tc>
                  <a:txBody>
                    <a:bodyPr wrap="square"/>
                    <a:lstStyle/>
                    <a:p>
                      <a:r>
                        <a:rPr sz="950" b="0" i="0">
                          <a:solidFill>
                            <a:srgbClr val="202020"/>
                          </a:solidFill>
                          <a:latin typeface="Calibri"/>
                        </a:rPr>
                        <a:t>30</a:t>
                      </a:r>
                    </a:p>
                  </a:txBody>
                  <a:tcPr marT="12700" marB="12700">
                    <a:solidFill>
                      <a:srgbClr val="FFFFFF"/>
                    </a:solidFill>
                  </a:tcPr>
                </a:tc>
                <a:tc>
                  <a:txBody>
                    <a:bodyPr wrap="square"/>
                    <a:lstStyle/>
                    <a:p>
                      <a:r>
                        <a:rPr sz="950" b="0" i="0">
                          <a:solidFill>
                            <a:srgbClr val="202020"/>
                          </a:solidFill>
                          <a:latin typeface="Calibri"/>
                        </a:rPr>
                        <a:t>per tenant (all connectors combined)</a:t>
                      </a:r>
                    </a:p>
                  </a:txBody>
                  <a:tcPr marT="12700" marB="12700">
                    <a:solidFill>
                      <a:srgbClr val="FFFFFF"/>
                    </a:solidFill>
                  </a:tcPr>
                </a:tc>
              </a:tr>
              <a:tr h="384048">
                <a:tc>
                  <a:txBody>
                    <a:bodyPr wrap="square"/>
                    <a:lstStyle/>
                    <a:p>
                      <a:r>
                        <a:rPr sz="950" b="0" i="0">
                          <a:solidFill>
                            <a:srgbClr val="202020"/>
                          </a:solidFill>
                          <a:latin typeface="Calibri"/>
                        </a:rPr>
                        <a:t>Items per connection</a:t>
                      </a:r>
                    </a:p>
                  </a:txBody>
                  <a:tcPr marT="12700" marB="12700">
                    <a:solidFill>
                      <a:srgbClr val="F7F9FC"/>
                    </a:solidFill>
                  </a:tcPr>
                </a:tc>
                <a:tc>
                  <a:txBody>
                    <a:bodyPr wrap="square"/>
                    <a:lstStyle/>
                    <a:p>
                      <a:r>
                        <a:rPr sz="950" b="0" i="0">
                          <a:solidFill>
                            <a:srgbClr val="202020"/>
                          </a:solidFill>
                          <a:latin typeface="Calibri"/>
                        </a:rPr>
                        <a:t>5,000,000</a:t>
                      </a:r>
                    </a:p>
                  </a:txBody>
                  <a:tcPr marT="12700" marB="12700">
                    <a:solidFill>
                      <a:srgbClr val="F7F9FC"/>
                    </a:solidFill>
                  </a:tcPr>
                </a:tc>
                <a:tc>
                  <a:txBody>
                    <a:bodyPr wrap="square"/>
                    <a:lstStyle/>
                    <a:p>
                      <a:r>
                        <a:rPr sz="950" b="0" i="0">
                          <a:solidFill>
                            <a:srgbClr val="202020"/>
                          </a:solidFill>
                          <a:latin typeface="Calibri"/>
                        </a:rPr>
                        <a:t>per connection</a:t>
                      </a:r>
                    </a:p>
                  </a:txBody>
                  <a:tcPr marT="12700" marB="12700">
                    <a:solidFill>
                      <a:srgbClr val="F7F9FC"/>
                    </a:solidFill>
                  </a:tcPr>
                </a:tc>
              </a:tr>
              <a:tr h="384048">
                <a:tc>
                  <a:txBody>
                    <a:bodyPr wrap="square"/>
                    <a:lstStyle/>
                    <a:p>
                      <a:r>
                        <a:rPr sz="950" b="0" i="0">
                          <a:solidFill>
                            <a:srgbClr val="202020"/>
                          </a:solidFill>
                          <a:latin typeface="Calibri"/>
                        </a:rPr>
                        <a:t>Indexed items</a:t>
                      </a:r>
                    </a:p>
                  </a:txBody>
                  <a:tcPr marT="12700" marB="12700">
                    <a:solidFill>
                      <a:srgbClr val="FFFFFF"/>
                    </a:solidFill>
                  </a:tcPr>
                </a:tc>
                <a:tc>
                  <a:txBody>
                    <a:bodyPr wrap="square"/>
                    <a:lstStyle/>
                    <a:p>
                      <a:r>
                        <a:rPr sz="950" b="0" i="0">
                          <a:solidFill>
                            <a:srgbClr val="202020"/>
                          </a:solidFill>
                          <a:latin typeface="Calibri"/>
                        </a:rPr>
                        <a:t>50,000,000</a:t>
                      </a:r>
                    </a:p>
                  </a:txBody>
                  <a:tcPr marT="12700" marB="12700">
                    <a:solidFill>
                      <a:srgbClr val="FFFFFF"/>
                    </a:solidFill>
                  </a:tcPr>
                </a:tc>
                <a:tc>
                  <a:txBody>
                    <a:bodyPr wrap="square"/>
                    <a:lstStyle/>
                    <a:p>
                      <a:r>
                        <a:rPr sz="950" b="0" i="0">
                          <a:solidFill>
                            <a:srgbClr val="202020"/>
                          </a:solidFill>
                          <a:latin typeface="Calibri"/>
                        </a:rPr>
                        <a:t>per tenant (all connections)</a:t>
                      </a:r>
                    </a:p>
                  </a:txBody>
                  <a:tcPr marT="12700" marB="12700">
                    <a:solidFill>
                      <a:srgbClr val="FFFFFF"/>
                    </a:solidFill>
                  </a:tcPr>
                </a:tc>
              </a:tr>
              <a:tr h="384048">
                <a:tc>
                  <a:txBody>
                    <a:bodyPr wrap="square"/>
                    <a:lstStyle/>
                    <a:p>
                      <a:r>
                        <a:rPr sz="950" b="0" i="0">
                          <a:solidFill>
                            <a:srgbClr val="202020"/>
                          </a:solidFill>
                          <a:latin typeface="Calibri"/>
                        </a:rPr>
                        <a:t>Schema properties</a:t>
                      </a:r>
                    </a:p>
                  </a:txBody>
                  <a:tcPr marT="12700" marB="12700">
                    <a:solidFill>
                      <a:srgbClr val="F7F9FC"/>
                    </a:solidFill>
                  </a:tcPr>
                </a:tc>
                <a:tc>
                  <a:txBody>
                    <a:bodyPr wrap="square"/>
                    <a:lstStyle/>
                    <a:p>
                      <a:r>
                        <a:rPr sz="950" b="0" i="0">
                          <a:solidFill>
                            <a:srgbClr val="202020"/>
                          </a:solidFill>
                          <a:latin typeface="Calibri"/>
                        </a:rPr>
                        <a:t>128</a:t>
                      </a:r>
                    </a:p>
                  </a:txBody>
                  <a:tcPr marT="12700" marB="12700">
                    <a:solidFill>
                      <a:srgbClr val="F7F9FC"/>
                    </a:solidFill>
                  </a:tcPr>
                </a:tc>
                <a:tc>
                  <a:txBody>
                    <a:bodyPr wrap="square"/>
                    <a:lstStyle/>
                    <a:p>
                      <a:r>
                        <a:rPr sz="950" b="0" i="0">
                          <a:solidFill>
                            <a:srgbClr val="202020"/>
                          </a:solidFill>
                          <a:latin typeface="Calibri"/>
                        </a:rPr>
                        <a:t>per connection</a:t>
                      </a:r>
                    </a:p>
                  </a:txBody>
                  <a:tcPr marT="12700" marB="12700">
                    <a:solidFill>
                      <a:srgbClr val="F7F9FC"/>
                    </a:solidFill>
                  </a:tcPr>
                </a:tc>
              </a:tr>
              <a:tr h="384048">
                <a:tc>
                  <a:txBody>
                    <a:bodyPr wrap="square"/>
                    <a:lstStyle/>
                    <a:p>
                      <a:r>
                        <a:rPr sz="950" b="0" i="0">
                          <a:solidFill>
                            <a:srgbClr val="202020"/>
                          </a:solidFill>
                          <a:latin typeface="Calibri"/>
                        </a:rPr>
                        <a:t>Item payload size</a:t>
                      </a:r>
                    </a:p>
                  </a:txBody>
                  <a:tcPr marT="12700" marB="12700">
                    <a:solidFill>
                      <a:srgbClr val="FFFFFF"/>
                    </a:solidFill>
                  </a:tcPr>
                </a:tc>
                <a:tc>
                  <a:txBody>
                    <a:bodyPr wrap="square"/>
                    <a:lstStyle/>
                    <a:p>
                      <a:r>
                        <a:rPr sz="950" b="0" i="0">
                          <a:solidFill>
                            <a:srgbClr val="202020"/>
                          </a:solidFill>
                          <a:latin typeface="Calibri"/>
                        </a:rPr>
                        <a:t>4 MB</a:t>
                      </a:r>
                    </a:p>
                  </a:txBody>
                  <a:tcPr marT="12700" marB="12700">
                    <a:solidFill>
                      <a:srgbClr val="FFFFFF"/>
                    </a:solidFill>
                  </a:tcPr>
                </a:tc>
                <a:tc>
                  <a:txBody>
                    <a:bodyPr wrap="square"/>
                    <a:lstStyle/>
                    <a:p>
                      <a:r>
                        <a:rPr sz="950" b="0" i="0">
                          <a:solidFill>
                            <a:srgbClr val="202020"/>
                          </a:solidFill>
                          <a:latin typeface="Calibri"/>
                        </a:rPr>
                        <a:t>per item</a:t>
                      </a:r>
                    </a:p>
                  </a:txBody>
                  <a:tcPr marT="12700" marB="12700">
                    <a:solidFill>
                      <a:srgbClr val="FFFFFF"/>
                    </a:solidFill>
                  </a:tcPr>
                </a:tc>
              </a:tr>
              <a:tr h="384048">
                <a:tc>
                  <a:txBody>
                    <a:bodyPr wrap="square"/>
                    <a:lstStyle/>
                    <a:p>
                      <a:r>
                        <a:rPr sz="950" b="0" i="0">
                          <a:solidFill>
                            <a:srgbClr val="202020"/>
                          </a:solidFill>
                          <a:latin typeface="Calibri"/>
                        </a:rPr>
                        <a:t>$batch size</a:t>
                      </a:r>
                    </a:p>
                  </a:txBody>
                  <a:tcPr marT="12700" marB="12700">
                    <a:solidFill>
                      <a:srgbClr val="F7F9FC"/>
                    </a:solidFill>
                  </a:tcPr>
                </a:tc>
                <a:tc>
                  <a:txBody>
                    <a:bodyPr wrap="square"/>
                    <a:lstStyle/>
                    <a:p>
                      <a:r>
                        <a:rPr sz="950" b="0" i="0">
                          <a:solidFill>
                            <a:srgbClr val="202020"/>
                          </a:solidFill>
                          <a:latin typeface="Calibri"/>
                        </a:rPr>
                        <a:t>20 sub-requests</a:t>
                      </a:r>
                    </a:p>
                  </a:txBody>
                  <a:tcPr marT="12700" marB="12700">
                    <a:solidFill>
                      <a:srgbClr val="F7F9FC"/>
                    </a:solidFill>
                  </a:tcPr>
                </a:tc>
                <a:tc>
                  <a:txBody>
                    <a:bodyPr wrap="square"/>
                    <a:lstStyle/>
                    <a:p>
                      <a:r>
                        <a:rPr sz="950" b="0" i="0">
                          <a:solidFill>
                            <a:srgbClr val="202020"/>
                          </a:solidFill>
                          <a:latin typeface="Calibri"/>
                        </a:rPr>
                        <a:t>per call</a:t>
                      </a:r>
                    </a:p>
                  </a:txBody>
                  <a:tcPr marT="12700" marB="12700">
                    <a:solidFill>
                      <a:srgbClr val="F7F9FC"/>
                    </a:solidFill>
                  </a:tcPr>
                </a:tc>
              </a:tr>
              <a:tr h="384048">
                <a:tc>
                  <a:txBody>
                    <a:bodyPr wrap="square"/>
                    <a:lstStyle/>
                    <a:p>
                      <a:r>
                        <a:rPr sz="950" b="0" i="0">
                          <a:solidFill>
                            <a:srgbClr val="202020"/>
                          </a:solidFill>
                          <a:latin typeface="Calibri"/>
                        </a:rPr>
                        <a:t>Ingest throughput</a:t>
                      </a:r>
                    </a:p>
                  </a:txBody>
                  <a:tcPr marT="12700" marB="12700">
                    <a:solidFill>
                      <a:srgbClr val="FFFFFF"/>
                    </a:solidFill>
                  </a:tcPr>
                </a:tc>
                <a:tc>
                  <a:txBody>
                    <a:bodyPr wrap="square"/>
                    <a:lstStyle/>
                    <a:p>
                      <a:r>
                        <a:rPr sz="950" b="0" i="0">
                          <a:solidFill>
                            <a:srgbClr val="202020"/>
                          </a:solidFill>
                          <a:latin typeface="Calibri"/>
                        </a:rPr>
                        <a:t>throttled per app + per tenant (dynamic)</a:t>
                      </a:r>
                    </a:p>
                  </a:txBody>
                  <a:tcPr marT="12700" marB="12700">
                    <a:solidFill>
                      <a:srgbClr val="FFFFFF"/>
                    </a:solidFill>
                  </a:tcPr>
                </a:tc>
                <a:tc>
                  <a:txBody>
                    <a:bodyPr wrap="square"/>
                    <a:lstStyle/>
                    <a:p>
                      <a:r>
                        <a:rPr sz="950" b="0" i="0">
                          <a:solidFill>
                            <a:srgbClr val="202020"/>
                          </a:solidFill>
                          <a:latin typeface="Calibri"/>
                        </a:rPr>
                        <a:t>429 + Retry-After is the ground truth</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93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8.1 The hard limits that bind the fleet</a:t>
            </a:r>
          </a:p>
        </p:txBody>
      </p:sp>
      <p:sp>
        <p:nvSpPr>
          <p:cNvPr id="5" name="Rectangle 4"/>
          <p:cNvSpPr/>
          <p:nvPr/>
        </p:nvSpPr>
        <p:spPr>
          <a:xfrm>
            <a:off x="502920" y="1463040"/>
            <a:ext cx="11185855" cy="329184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5496"/>
                </a:solidFill>
                <a:latin typeface="Calibri"/>
              </a:rPr>
              <a:t>Note:  </a:t>
            </a:r>
            <a:r>
              <a:rPr sz="1400" b="1" i="0">
                <a:solidFill>
                  <a:srgbClr val="202020"/>
                </a:solidFill>
                <a:latin typeface="Calibri"/>
              </a:rPr>
              <a:t>Note: </a:t>
            </a:r>
            <a:r>
              <a:rPr sz="1400" b="0" i="0">
                <a:solidFill>
                  <a:srgbClr val="202020"/>
                </a:solidFill>
                <a:latin typeface="Calibri"/>
              </a:rPr>
              <a:t>Microsoft delisted the platform capacity/throughput table in May 2025, so treat the count and rate figures as </a:t>
            </a:r>
            <a:r>
              <a:rPr sz="1400" b="1" i="0">
                <a:solidFill>
                  <a:srgbClr val="202020"/>
                </a:solidFill>
                <a:latin typeface="Calibri"/>
              </a:rPr>
              <a:t>planning assumptions validated against real 429 behaviour</a:t>
            </a:r>
            <a:r>
              <a:rPr sz="1400" b="0" i="0">
                <a:solidFill>
                  <a:srgbClr val="202020"/>
                </a:solidFill>
                <a:latin typeface="Calibri"/>
              </a:rPr>
              <a:t>, not contractual guarantees. The per-connection push rate last documented (Nov 2024) was ~25 items/sec (~90,000/hour); a full crawl of a 1,000,000-item source therefore takes roughly 11–16 hours on one connection. The connector's own pipeline is ~500x faster than Graph — the connector node is never the bottleneck (section 9.6).</a:t>
            </a:r>
          </a:p>
        </p:txBody>
      </p:sp>
      <p:sp>
        <p:nvSpPr>
          <p:cNvPr id="6" name="Rectangle 5"/>
          <p:cNvSpPr/>
          <p:nvPr/>
        </p:nvSpPr>
        <p:spPr>
          <a:xfrm>
            <a:off x="502920" y="1463040"/>
            <a:ext cx="128016" cy="329184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94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8.2 Fleet allocation (from the tenant governance plan)</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Connections and item budgets are allocated per connector below. Shard counts are set with </a:t>
            </a:r>
            <a:r>
              <a:rPr sz="1200" b="0" i="0">
                <a:solidFill>
                  <a:srgbClr val="202020"/>
                </a:solidFill>
                <a:latin typeface="Consolas"/>
              </a:rPr>
              <a:t>GRAPH_CONNECTION_SHARDS</a:t>
            </a:r>
            <a:r>
              <a:rPr sz="1250" b="0" i="0">
                <a:solidFill>
                  <a:srgbClr val="202020"/>
                </a:solidFill>
                <a:latin typeface="Calibri"/>
              </a:rPr>
              <a:t>. This allocation is </a:t>
            </a:r>
            <a:r>
              <a:rPr sz="1250" b="1" i="0">
                <a:solidFill>
                  <a:srgbClr val="202020"/>
                </a:solidFill>
                <a:latin typeface="Calibri"/>
              </a:rPr>
              <a:t>shared across all five connectors</a:t>
            </a:r>
            <a:r>
              <a:rPr sz="1250" b="0" i="0">
                <a:solidFill>
                  <a:srgbClr val="202020"/>
                </a:solidFill>
                <a:latin typeface="Calibri"/>
              </a:rPr>
              <a:t> and is the authority — a connector never borrows another's shards, and adding shards means editing this plan first.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95</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8.2 Fleet allocation (from the tenant governance plan)</a:t>
            </a:r>
          </a:p>
        </p:txBody>
      </p:sp>
      <p:graphicFrame>
        <p:nvGraphicFramePr>
          <p:cNvPr id="5" name="Table 4"/>
          <p:cNvGraphicFramePr>
            <a:graphicFrameLocks noGrp="1"/>
          </p:cNvGraphicFramePr>
          <p:nvPr/>
        </p:nvGraphicFramePr>
        <p:xfrm>
          <a:off x="502920" y="1188720"/>
          <a:ext cx="11185855" cy="2688336"/>
        </p:xfrm>
        <a:graphic>
          <a:graphicData uri="http://schemas.openxmlformats.org/drawingml/2006/table">
            <a:tbl>
              <a:tblPr firstRow="1" bandRow="1">
                <a:tableStyleId>{5C22544A-7EE6-4342-B048-85BDC9FD1C3A}</a:tableStyleId>
              </a:tblPr>
              <a:tblGrid>
                <a:gridCol w="2796463"/>
                <a:gridCol w="2796463"/>
                <a:gridCol w="2796463"/>
                <a:gridCol w="2796466"/>
              </a:tblGrid>
              <a:tr h="384048">
                <a:tc>
                  <a:txBody>
                    <a:bodyPr wrap="square"/>
                    <a:lstStyle/>
                    <a:p>
                      <a:r>
                        <a:rPr sz="1050" b="1" i="0">
                          <a:solidFill>
                            <a:srgbClr val="FFFFFF"/>
                          </a:solidFill>
                          <a:latin typeface="Calibri"/>
                        </a:rPr>
                        <a:t>Connector</a:t>
                      </a:r>
                    </a:p>
                  </a:txBody>
                  <a:tcPr marT="25400" marB="25400">
                    <a:solidFill>
                      <a:srgbClr val="2E5496"/>
                    </a:solidFill>
                  </a:tcPr>
                </a:tc>
                <a:tc>
                  <a:txBody>
                    <a:bodyPr wrap="square"/>
                    <a:lstStyle/>
                    <a:p>
                      <a:r>
                        <a:rPr sz="1050" b="1" i="0">
                          <a:solidFill>
                            <a:srgbClr val="FFFFFF"/>
                          </a:solidFill>
                          <a:latin typeface="Calibri"/>
                        </a:rPr>
                        <a:t>Connections (shards)</a:t>
                      </a:r>
                    </a:p>
                  </a:txBody>
                  <a:tcPr marT="25400" marB="25400">
                    <a:solidFill>
                      <a:srgbClr val="2E5496"/>
                    </a:solidFill>
                  </a:tcPr>
                </a:tc>
                <a:tc>
                  <a:txBody>
                    <a:bodyPr wrap="square"/>
                    <a:lstStyle/>
                    <a:p>
                      <a:r>
                        <a:rPr sz="1050" b="1" i="0">
                          <a:solidFill>
                            <a:srgbClr val="FFFFFF"/>
                          </a:solidFill>
                          <a:latin typeface="Calibri"/>
                        </a:rPr>
                        <a:t>Item budget</a:t>
                      </a:r>
                    </a:p>
                  </a:txBody>
                  <a:tcPr marT="25400" marB="25400">
                    <a:solidFill>
                      <a:srgbClr val="2E5496"/>
                    </a:solidFill>
                  </a:tcPr>
                </a:tc>
                <a:tc>
                  <a:txBody>
                    <a:bodyPr wrap="square"/>
                    <a:lstStyle/>
                    <a:p>
                      <a:r>
                        <a:rPr sz="1050" b="1" i="0">
                          <a:solidFill>
                            <a:srgbClr val="FFFFFF"/>
                          </a:solidFill>
                          <a:latin typeface="Calibri"/>
                        </a:rPr>
                        <a:t>Rationale</a:t>
                      </a:r>
                    </a:p>
                  </a:txBody>
                  <a:tcPr marT="25400" marB="25400">
                    <a:solidFill>
                      <a:srgbClr val="2E5496"/>
                    </a:solidFill>
                  </a:tcPr>
                </a:tc>
              </a:tr>
              <a:tr h="384048">
                <a:tc>
                  <a:txBody>
                    <a:bodyPr wrap="square"/>
                    <a:lstStyle/>
                    <a:p>
                      <a:r>
                        <a:rPr sz="950" b="0" i="0">
                          <a:solidFill>
                            <a:srgbClr val="202020"/>
                          </a:solidFill>
                          <a:latin typeface="Calibri"/>
                        </a:rPr>
                        <a:t>Salesforce</a:t>
                      </a:r>
                    </a:p>
                  </a:txBody>
                  <a:tcPr marT="12700" marB="12700">
                    <a:solidFill>
                      <a:srgbClr val="FFFFFF"/>
                    </a:solidFill>
                  </a:tcPr>
                </a:tc>
                <a:tc>
                  <a:txBody>
                    <a:bodyPr wrap="square"/>
                    <a:lstStyle/>
                    <a:p>
                      <a:r>
                        <a:rPr sz="950" b="0" i="0">
                          <a:solidFill>
                            <a:srgbClr val="202020"/>
                          </a:solidFill>
                          <a:latin typeface="Calibri"/>
                        </a:rPr>
                        <a:t>4</a:t>
                      </a:r>
                    </a:p>
                  </a:txBody>
                  <a:tcPr marT="12700" marB="12700">
                    <a:solidFill>
                      <a:srgbClr val="FFFFFF"/>
                    </a:solidFill>
                  </a:tcPr>
                </a:tc>
                <a:tc>
                  <a:txBody>
                    <a:bodyPr wrap="square"/>
                    <a:lstStyle/>
                    <a:p>
                      <a:r>
                        <a:rPr sz="950" b="0" i="0">
                          <a:solidFill>
                            <a:srgbClr val="202020"/>
                          </a:solidFill>
                          <a:latin typeface="Calibri"/>
                        </a:rPr>
                        <a:t>12M</a:t>
                      </a:r>
                    </a:p>
                  </a:txBody>
                  <a:tcPr marT="12700" marB="12700">
                    <a:solidFill>
                      <a:srgbClr val="FFFFFF"/>
                    </a:solidFill>
                  </a:tcPr>
                </a:tc>
                <a:tc>
                  <a:txBody>
                    <a:bodyPr wrap="square"/>
                    <a:lstStyle/>
                    <a:p>
                      <a:r>
                        <a:rPr sz="950" b="0" i="0">
                          <a:solidFill>
                            <a:srgbClr val="202020"/>
                          </a:solidFill>
                          <a:latin typeface="Calibri"/>
                        </a:rPr>
                        <a:t>Largest live object scope; 4 shards keep each under the 5M/connection cap with headroom</a:t>
                      </a:r>
                    </a:p>
                  </a:txBody>
                  <a:tcPr marT="12700" marB="12700">
                    <a:solidFill>
                      <a:srgbClr val="FFFFFF"/>
                    </a:solidFill>
                  </a:tcPr>
                </a:tc>
              </a:tr>
              <a:tr h="384048">
                <a:tc>
                  <a:txBody>
                    <a:bodyPr wrap="square"/>
                    <a:lstStyle/>
                    <a:p>
                      <a:r>
                        <a:rPr sz="950" b="0" i="0">
                          <a:solidFill>
                            <a:srgbClr val="202020"/>
                          </a:solidFill>
                          <a:latin typeface="Calibri"/>
                        </a:rPr>
                        <a:t>Hadoop (BDH)</a:t>
                      </a:r>
                    </a:p>
                  </a:txBody>
                  <a:tcPr marT="12700" marB="12700">
                    <a:solidFill>
                      <a:srgbClr val="F7F9FC"/>
                    </a:solidFill>
                  </a:tcPr>
                </a:tc>
                <a:tc>
                  <a:txBody>
                    <a:bodyPr wrap="square"/>
                    <a:lstStyle/>
                    <a:p>
                      <a:r>
                        <a:rPr sz="950" b="0" i="0">
                          <a:solidFill>
                            <a:srgbClr val="202020"/>
                          </a:solidFill>
                          <a:latin typeface="Calibri"/>
                        </a:rPr>
                        <a:t>4</a:t>
                      </a:r>
                    </a:p>
                  </a:txBody>
                  <a:tcPr marT="12700" marB="12700">
                    <a:solidFill>
                      <a:srgbClr val="F7F9FC"/>
                    </a:solidFill>
                  </a:tcPr>
                </a:tc>
                <a:tc>
                  <a:txBody>
                    <a:bodyPr wrap="square"/>
                    <a:lstStyle/>
                    <a:p>
                      <a:r>
                        <a:rPr sz="950" b="0" i="0">
                          <a:solidFill>
                            <a:srgbClr val="202020"/>
                          </a:solidFill>
                          <a:latin typeface="Calibri"/>
                        </a:rPr>
                        <a:t>16M</a:t>
                      </a:r>
                    </a:p>
                  </a:txBody>
                  <a:tcPr marT="12700" marB="12700">
                    <a:solidFill>
                      <a:srgbClr val="F7F9FC"/>
                    </a:solidFill>
                  </a:tcPr>
                </a:tc>
                <a:tc>
                  <a:txBody>
                    <a:bodyPr wrap="square"/>
                    <a:lstStyle/>
                    <a:p>
                      <a:r>
                        <a:rPr sz="950" b="0" i="0">
                          <a:solidFill>
                            <a:srgbClr val="202020"/>
                          </a:solidFill>
                          <a:latin typeface="Calibri"/>
                        </a:rPr>
                        <a:t>150M+ source rows must be filter-reduced; the fail-closed scale guard enforces it — any full-scan override is a capacity-plan change</a:t>
                      </a:r>
                    </a:p>
                  </a:txBody>
                  <a:tcPr marT="12700" marB="12700">
                    <a:solidFill>
                      <a:srgbClr val="F7F9FC"/>
                    </a:solidFill>
                  </a:tcPr>
                </a:tc>
              </a:tr>
              <a:tr h="384048">
                <a:tc>
                  <a:txBody>
                    <a:bodyPr wrap="square"/>
                    <a:lstStyle/>
                    <a:p>
                      <a:r>
                        <a:rPr sz="950" b="0" i="0">
                          <a:solidFill>
                            <a:srgbClr val="202020"/>
                          </a:solidFill>
                          <a:latin typeface="Calibri"/>
                        </a:rPr>
                        <a:t>Clarizen</a:t>
                      </a:r>
                    </a:p>
                  </a:txBody>
                  <a:tcPr marT="12700" marB="12700">
                    <a:solidFill>
                      <a:srgbClr val="FFFFFF"/>
                    </a:solidFill>
                  </a:tcPr>
                </a:tc>
                <a:tc>
                  <a:txBody>
                    <a:bodyPr wrap="square"/>
                    <a:lstStyle/>
                    <a:p>
                      <a:r>
                        <a:rPr sz="950" b="0" i="0">
                          <a:solidFill>
                            <a:srgbClr val="202020"/>
                          </a:solidFill>
                          <a:latin typeface="Calibri"/>
                        </a:rPr>
                        <a:t>2</a:t>
                      </a:r>
                    </a:p>
                  </a:txBody>
                  <a:tcPr marT="12700" marB="12700">
                    <a:solidFill>
                      <a:srgbClr val="FFFFFF"/>
                    </a:solidFill>
                  </a:tcPr>
                </a:tc>
                <a:tc>
                  <a:txBody>
                    <a:bodyPr wrap="square"/>
                    <a:lstStyle/>
                    <a:p>
                      <a:r>
                        <a:rPr sz="950" b="0" i="0">
                          <a:solidFill>
                            <a:srgbClr val="202020"/>
                          </a:solidFill>
                          <a:latin typeface="Calibri"/>
                        </a:rPr>
                        <a:t>6M</a:t>
                      </a:r>
                    </a:p>
                  </a:txBody>
                  <a:tcPr marT="12700" marB="12700">
                    <a:solidFill>
                      <a:srgbClr val="FFFFFF"/>
                    </a:solidFill>
                  </a:tcPr>
                </a:tc>
                <a:tc>
                  <a:txBody>
                    <a:bodyPr wrap="square"/>
                    <a:lstStyle/>
                    <a:p>
                      <a:r>
                        <a:rPr sz="950" b="0" i="0">
                          <a:solidFill>
                            <a:srgbClr val="202020"/>
                          </a:solidFill>
                          <a:latin typeface="Calibri"/>
                        </a:rPr>
                        <a:t>Projects / tasks / financial objects</a:t>
                      </a:r>
                    </a:p>
                  </a:txBody>
                  <a:tcPr marT="12700" marB="12700">
                    <a:solidFill>
                      <a:srgbClr val="FFFFFF"/>
                    </a:solidFill>
                  </a:tcPr>
                </a:tc>
              </a:tr>
              <a:tr h="384048">
                <a:tc>
                  <a:txBody>
                    <a:bodyPr wrap="square"/>
                    <a:lstStyle/>
                    <a:p>
                      <a:r>
                        <a:rPr sz="950" b="0" i="0">
                          <a:solidFill>
                            <a:srgbClr val="202020"/>
                          </a:solidFill>
                          <a:latin typeface="Calibri"/>
                        </a:rPr>
                        <a:t>Seismic</a:t>
                      </a:r>
                    </a:p>
                  </a:txBody>
                  <a:tcPr marT="12700" marB="12700">
                    <a:solidFill>
                      <a:srgbClr val="F7F9FC"/>
                    </a:solidFill>
                  </a:tcPr>
                </a:tc>
                <a:tc>
                  <a:txBody>
                    <a:bodyPr wrap="square"/>
                    <a:lstStyle/>
                    <a:p>
                      <a:r>
                        <a:rPr sz="950" b="0" i="0">
                          <a:solidFill>
                            <a:srgbClr val="202020"/>
                          </a:solidFill>
                          <a:latin typeface="Calibri"/>
                        </a:rPr>
                        <a:t>1</a:t>
                      </a:r>
                    </a:p>
                  </a:txBody>
                  <a:tcPr marT="12700" marB="12700">
                    <a:solidFill>
                      <a:srgbClr val="F7F9FC"/>
                    </a:solidFill>
                  </a:tcPr>
                </a:tc>
                <a:tc>
                  <a:txBody>
                    <a:bodyPr wrap="square"/>
                    <a:lstStyle/>
                    <a:p>
                      <a:r>
                        <a:rPr sz="950" b="0" i="0">
                          <a:solidFill>
                            <a:srgbClr val="202020"/>
                          </a:solidFill>
                          <a:latin typeface="Calibri"/>
                        </a:rPr>
                        <a:t>3M</a:t>
                      </a:r>
                    </a:p>
                  </a:txBody>
                  <a:tcPr marT="12700" marB="12700">
                    <a:solidFill>
                      <a:srgbClr val="F7F9FC"/>
                    </a:solidFill>
                  </a:tcPr>
                </a:tc>
                <a:tc>
                  <a:txBody>
                    <a:bodyPr wrap="square"/>
                    <a:lstStyle/>
                    <a:p>
                      <a:r>
                        <a:rPr sz="950" b="0" i="0">
                          <a:solidFill>
                            <a:srgbClr val="202020"/>
                          </a:solidFill>
                          <a:latin typeface="Calibri"/>
                        </a:rPr>
                        <a:t>Content library scale</a:t>
                      </a:r>
                    </a:p>
                  </a:txBody>
                  <a:tcPr marT="12700" marB="12700">
                    <a:solidFill>
                      <a:srgbClr val="F7F9FC"/>
                    </a:solidFill>
                  </a:tcPr>
                </a:tc>
              </a:tr>
              <a:tr h="384048">
                <a:tc>
                  <a:txBody>
                    <a:bodyPr wrap="square"/>
                    <a:lstStyle/>
                    <a:p>
                      <a:r>
                        <a:rPr sz="950" b="0" i="0">
                          <a:solidFill>
                            <a:srgbClr val="202020"/>
                          </a:solidFill>
                          <a:latin typeface="Calibri"/>
                        </a:rPr>
                        <a:t>Altrata</a:t>
                      </a:r>
                    </a:p>
                  </a:txBody>
                  <a:tcPr marT="12700" marB="12700">
                    <a:solidFill>
                      <a:srgbClr val="FFFFFF"/>
                    </a:solidFill>
                  </a:tcPr>
                </a:tc>
                <a:tc>
                  <a:txBody>
                    <a:bodyPr wrap="square"/>
                    <a:lstStyle/>
                    <a:p>
                      <a:r>
                        <a:rPr sz="950" b="0" i="0">
                          <a:solidFill>
                            <a:srgbClr val="202020"/>
                          </a:solidFill>
                          <a:latin typeface="Calibri"/>
                        </a:rPr>
                        <a:t>1</a:t>
                      </a:r>
                    </a:p>
                  </a:txBody>
                  <a:tcPr marT="12700" marB="12700">
                    <a:solidFill>
                      <a:srgbClr val="FFFFFF"/>
                    </a:solidFill>
                  </a:tcPr>
                </a:tc>
                <a:tc>
                  <a:txBody>
                    <a:bodyPr wrap="square"/>
                    <a:lstStyle/>
                    <a:p>
                      <a:r>
                        <a:rPr sz="950" b="0" i="0">
                          <a:solidFill>
                            <a:srgbClr val="202020"/>
                          </a:solidFill>
                          <a:latin typeface="Calibri"/>
                        </a:rPr>
                        <a:t>2M</a:t>
                      </a:r>
                    </a:p>
                  </a:txBody>
                  <a:tcPr marT="12700" marB="12700">
                    <a:solidFill>
                      <a:srgbClr val="FFFFFF"/>
                    </a:solidFill>
                  </a:tcPr>
                </a:tc>
                <a:tc>
                  <a:txBody>
                    <a:bodyPr wrap="square"/>
                    <a:lstStyle/>
                    <a:p>
                      <a:r>
                        <a:rPr sz="950" b="0" i="0">
                          <a:solidFill>
                            <a:srgbClr val="202020"/>
                          </a:solidFill>
                          <a:latin typeface="Calibri"/>
                        </a:rPr>
                        <a:t>Licensed-seat-scoped profiles</a:t>
                      </a:r>
                    </a:p>
                  </a:txBody>
                  <a:tcPr marT="12700" marB="12700">
                    <a:solidFill>
                      <a:srgbClr val="FFFFFF"/>
                    </a:solidFill>
                  </a:tcPr>
                </a:tc>
              </a:tr>
              <a:tr h="384048">
                <a:tc>
                  <a:txBody>
                    <a:bodyPr wrap="square"/>
                    <a:lstStyle/>
                    <a:p>
                      <a:r>
                        <a:rPr sz="950" b="0" i="0">
                          <a:solidFill>
                            <a:srgbClr val="202020"/>
                          </a:solidFill>
                          <a:latin typeface="Calibri"/>
                        </a:rPr>
                        <a:t>Total</a:t>
                      </a:r>
                    </a:p>
                  </a:txBody>
                  <a:tcPr marT="12700" marB="12700">
                    <a:solidFill>
                      <a:srgbClr val="F7F9FC"/>
                    </a:solidFill>
                  </a:tcPr>
                </a:tc>
                <a:tc>
                  <a:txBody>
                    <a:bodyPr wrap="square"/>
                    <a:lstStyle/>
                    <a:p>
                      <a:r>
                        <a:rPr sz="950" b="0" i="0">
                          <a:solidFill>
                            <a:srgbClr val="202020"/>
                          </a:solidFill>
                          <a:latin typeface="Calibri"/>
                        </a:rPr>
                        <a:t>12 / 30</a:t>
                      </a:r>
                    </a:p>
                  </a:txBody>
                  <a:tcPr marT="12700" marB="12700">
                    <a:solidFill>
                      <a:srgbClr val="F7F9FC"/>
                    </a:solidFill>
                  </a:tcPr>
                </a:tc>
                <a:tc>
                  <a:txBody>
                    <a:bodyPr wrap="square"/>
                    <a:lstStyle/>
                    <a:p>
                      <a:r>
                        <a:rPr sz="950" b="0" i="0">
                          <a:solidFill>
                            <a:srgbClr val="202020"/>
                          </a:solidFill>
                          <a:latin typeface="Calibri"/>
                        </a:rPr>
                        <a:t>39M / 50M</a:t>
                      </a:r>
                    </a:p>
                  </a:txBody>
                  <a:tcPr marT="12700" marB="12700">
                    <a:solidFill>
                      <a:srgbClr val="F7F9FC"/>
                    </a:solidFill>
                  </a:tcPr>
                </a:tc>
                <a:tc>
                  <a:txBody>
                    <a:bodyPr wrap="square"/>
                    <a:lstStyle/>
                    <a:p>
                      <a:r>
                        <a:rPr sz="950" b="0" i="0">
                          <a:solidFill>
                            <a:srgbClr val="202020"/>
                          </a:solidFill>
                          <a:latin typeface="Calibri"/>
                        </a:rPr>
                        <a:t>18 connections and ~11M items of tenant headroom</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96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8.2 Fleet allocation (from the tenant governance plan)</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Hadoop and Salesforce index overlapping records (Hadoop mirrors Salesforce with ~24h lag). They deliberately use </a:t>
            </a:r>
            <a:r>
              <a:rPr sz="1250" b="1" i="0">
                <a:solidFill>
                  <a:srgbClr val="202020"/>
                </a:solidFill>
                <a:latin typeface="Calibri"/>
              </a:rPr>
              <a:t>separate connections</a:t>
            </a:r>
            <a:r>
              <a:rPr sz="1250" b="0" i="0">
                <a:solidFill>
                  <a:srgbClr val="202020"/>
                </a:solidFill>
                <a:latin typeface="Calibri"/>
              </a:rPr>
              <a:t> and distinct item-id namespaces; de-duplication is a Copilot-side ranking concern, so never point both at one connection.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97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8.3 One app registration per connector — throttling isolation</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Graph throttles </a:t>
            </a:r>
            <a:r>
              <a:rPr sz="1250" b="1" i="0">
                <a:solidFill>
                  <a:srgbClr val="202020"/>
                </a:solidFill>
                <a:latin typeface="Calibri"/>
              </a:rPr>
              <a:t>per app, per tenant</a:t>
            </a:r>
            <a:r>
              <a:rPr sz="1250" b="0" i="0">
                <a:solidFill>
                  <a:srgbClr val="202020"/>
                </a:solidFill>
                <a:latin typeface="Calibri"/>
              </a:rPr>
              <a:t>. Giving each connector its </a:t>
            </a:r>
            <a:r>
              <a:rPr sz="1250" b="1" i="0">
                <a:solidFill>
                  <a:srgbClr val="202020"/>
                </a:solidFill>
                <a:latin typeface="Calibri"/>
              </a:rPr>
              <a:t>own Entra app registration</a:t>
            </a:r>
            <a:r>
              <a:rPr sz="1250" b="0" i="0">
                <a:solidFill>
                  <a:srgbClr val="202020"/>
                </a:solidFill>
                <a:latin typeface="Calibri"/>
              </a:rPr>
              <a:t> (five total) means one connector's 429 storm is charged to its own app and cannot starve the others. It also gives least-privilege consent per connector and independent credential rotation. Under a tenant-wide throttling event all five back off independently (honouring </a:t>
            </a:r>
            <a:r>
              <a:rPr sz="1200" b="0" i="0">
                <a:solidFill>
                  <a:srgbClr val="202020"/>
                </a:solidFill>
                <a:latin typeface="Consolas"/>
              </a:rPr>
              <a:t>Retry-After</a:t>
            </a:r>
            <a:r>
              <a:rPr sz="1250" b="0" i="0">
                <a:solidFill>
                  <a:srgbClr val="202020"/>
                </a:solidFill>
                <a:latin typeface="Calibri"/>
              </a:rPr>
              <a:t>, with jitter in HA) and recover without coordination.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98</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8.4 Crawl scheduling (the stagger plan)</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Full crawls are the expensive events, so they are staggered across the night (server local time). Two full crawls must not overlap by schedule.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99</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8.4 Crawl scheduling (the stagger plan)</a:t>
            </a:r>
          </a:p>
        </p:txBody>
      </p:sp>
      <p:graphicFrame>
        <p:nvGraphicFramePr>
          <p:cNvPr id="5" name="Table 4"/>
          <p:cNvGraphicFramePr>
            <a:graphicFrameLocks noGrp="1"/>
          </p:cNvGraphicFramePr>
          <p:nvPr/>
        </p:nvGraphicFramePr>
        <p:xfrm>
          <a:off x="502920" y="1188720"/>
          <a:ext cx="11185855" cy="230428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Window</a:t>
                      </a:r>
                    </a:p>
                  </a:txBody>
                  <a:tcPr marT="25400" marB="25400">
                    <a:solidFill>
                      <a:srgbClr val="2E5496"/>
                    </a:solidFill>
                  </a:tcPr>
                </a:tc>
                <a:tc>
                  <a:txBody>
                    <a:bodyPr wrap="square"/>
                    <a:lstStyle/>
                    <a:p>
                      <a:r>
                        <a:rPr sz="1050" b="1" i="0">
                          <a:solidFill>
                            <a:srgbClr val="FFFFFF"/>
                          </a:solidFill>
                          <a:latin typeface="Calibri"/>
                        </a:rPr>
                        <a:t>Connector</a:t>
                      </a:r>
                    </a:p>
                  </a:txBody>
                  <a:tcPr marT="25400" marB="25400">
                    <a:solidFill>
                      <a:srgbClr val="2E5496"/>
                    </a:solidFill>
                  </a:tcPr>
                </a:tc>
                <a:tc>
                  <a:txBody>
                    <a:bodyPr wrap="square"/>
                    <a:lstStyle/>
                    <a:p>
                      <a:r>
                        <a:rPr sz="1050" b="1" i="0">
                          <a:solidFill>
                            <a:srgbClr val="FFFFFF"/>
                          </a:solidFill>
                          <a:latin typeface="Calibri"/>
                        </a:rPr>
                        <a:t>Mode</a:t>
                      </a:r>
                    </a:p>
                  </a:txBody>
                  <a:tcPr marT="25400" marB="25400">
                    <a:solidFill>
                      <a:srgbClr val="2E5496"/>
                    </a:solidFill>
                  </a:tcPr>
                </a:tc>
              </a:tr>
              <a:tr h="384048">
                <a:tc>
                  <a:txBody>
                    <a:bodyPr wrap="square"/>
                    <a:lstStyle/>
                    <a:p>
                      <a:r>
                        <a:rPr sz="950" b="0" i="0">
                          <a:solidFill>
                            <a:srgbClr val="202020"/>
                          </a:solidFill>
                          <a:latin typeface="Calibri"/>
                        </a:rPr>
                        <a:t>00:30</a:t>
                      </a:r>
                    </a:p>
                  </a:txBody>
                  <a:tcPr marT="12700" marB="12700">
                    <a:solidFill>
                      <a:srgbClr val="FFFFFF"/>
                    </a:solidFill>
                  </a:tcPr>
                </a:tc>
                <a:tc>
                  <a:txBody>
                    <a:bodyPr wrap="square"/>
                    <a:lstStyle/>
                    <a:p>
                      <a:r>
                        <a:rPr sz="950" b="0" i="0">
                          <a:solidFill>
                            <a:srgbClr val="202020"/>
                          </a:solidFill>
                          <a:latin typeface="Calibri"/>
                        </a:rPr>
                        <a:t>Hadoop</a:t>
                      </a:r>
                    </a:p>
                  </a:txBody>
                  <a:tcPr marT="12700" marB="12700">
                    <a:solidFill>
                      <a:srgbClr val="FFFFFF"/>
                    </a:solidFill>
                  </a:tcPr>
                </a:tc>
                <a:tc>
                  <a:txBody>
                    <a:bodyPr wrap="square"/>
                    <a:lstStyle/>
                    <a:p>
                      <a:r>
                        <a:rPr sz="950" b="0" i="0">
                          <a:solidFill>
                            <a:srgbClr val="202020"/>
                          </a:solidFill>
                          <a:latin typeface="Calibri"/>
                        </a:rPr>
                        <a:t>Full/incremental, after the nightly BDH mirror lands (earlier runs are pointless due to the 24h-lag watermark)</a:t>
                      </a:r>
                    </a:p>
                  </a:txBody>
                  <a:tcPr marT="12700" marB="12700">
                    <a:solidFill>
                      <a:srgbClr val="FFFFFF"/>
                    </a:solidFill>
                  </a:tcPr>
                </a:tc>
              </a:tr>
              <a:tr h="384048">
                <a:tc>
                  <a:txBody>
                    <a:bodyPr wrap="square"/>
                    <a:lstStyle/>
                    <a:p>
                      <a:r>
                        <a:rPr sz="950" b="0" i="0">
                          <a:solidFill>
                            <a:srgbClr val="202020"/>
                          </a:solidFill>
                          <a:latin typeface="Calibri"/>
                        </a:rPr>
                        <a:t>02:30</a:t>
                      </a:r>
                    </a:p>
                  </a:txBody>
                  <a:tcPr marT="12700" marB="12700">
                    <a:solidFill>
                      <a:srgbClr val="F7F9FC"/>
                    </a:solidFill>
                  </a:tcPr>
                </a:tc>
                <a:tc>
                  <a:txBody>
                    <a:bodyPr wrap="square"/>
                    <a:lstStyle/>
                    <a:p>
                      <a:r>
                        <a:rPr sz="950" b="0" i="0">
                          <a:solidFill>
                            <a:srgbClr val="202020"/>
                          </a:solidFill>
                          <a:latin typeface="Calibri"/>
                        </a:rPr>
                        <a:t>Salesforce</a:t>
                      </a:r>
                    </a:p>
                  </a:txBody>
                  <a:tcPr marT="12700" marB="12700">
                    <a:solidFill>
                      <a:srgbClr val="F7F9FC"/>
                    </a:solidFill>
                  </a:tcPr>
                </a:tc>
                <a:tc>
                  <a:txBody>
                    <a:bodyPr wrap="square"/>
                    <a:lstStyle/>
                    <a:p>
                      <a:r>
                        <a:rPr sz="950" b="0" i="0">
                          <a:solidFill>
                            <a:srgbClr val="202020"/>
                          </a:solidFill>
                          <a:latin typeface="Calibri"/>
                        </a:rPr>
                        <a:t>Incremental (full: monthly, first Saturday)</a:t>
                      </a:r>
                    </a:p>
                  </a:txBody>
                  <a:tcPr marT="12700" marB="12700">
                    <a:solidFill>
                      <a:srgbClr val="F7F9FC"/>
                    </a:solidFill>
                  </a:tcPr>
                </a:tc>
              </a:tr>
              <a:tr h="384048">
                <a:tc>
                  <a:txBody>
                    <a:bodyPr wrap="square"/>
                    <a:lstStyle/>
                    <a:p>
                      <a:r>
                        <a:rPr sz="950" b="0" i="0">
                          <a:solidFill>
                            <a:srgbClr val="202020"/>
                          </a:solidFill>
                          <a:latin typeface="Calibri"/>
                        </a:rPr>
                        <a:t>04:00</a:t>
                      </a:r>
                    </a:p>
                  </a:txBody>
                  <a:tcPr marT="12700" marB="12700">
                    <a:solidFill>
                      <a:srgbClr val="FFFFFF"/>
                    </a:solidFill>
                  </a:tcPr>
                </a:tc>
                <a:tc>
                  <a:txBody>
                    <a:bodyPr wrap="square"/>
                    <a:lstStyle/>
                    <a:p>
                      <a:r>
                        <a:rPr sz="950" b="0" i="0">
                          <a:solidFill>
                            <a:srgbClr val="202020"/>
                          </a:solidFill>
                          <a:latin typeface="Calibri"/>
                        </a:rPr>
                        <a:t>Clarizen</a:t>
                      </a:r>
                    </a:p>
                  </a:txBody>
                  <a:tcPr marT="12700" marB="12700">
                    <a:solidFill>
                      <a:srgbClr val="FFFFFF"/>
                    </a:solidFill>
                  </a:tcPr>
                </a:tc>
                <a:tc>
                  <a:txBody>
                    <a:bodyPr wrap="square"/>
                    <a:lstStyle/>
                    <a:p>
                      <a:r>
                        <a:rPr sz="950" b="0" i="0">
                          <a:solidFill>
                            <a:srgbClr val="202020"/>
                          </a:solidFill>
                          <a:latin typeface="Calibri"/>
                        </a:rPr>
                        <a:t>Incremental</a:t>
                      </a:r>
                    </a:p>
                  </a:txBody>
                  <a:tcPr marT="12700" marB="12700">
                    <a:solidFill>
                      <a:srgbClr val="FFFFFF"/>
                    </a:solidFill>
                  </a:tcPr>
                </a:tc>
              </a:tr>
              <a:tr h="384048">
                <a:tc>
                  <a:txBody>
                    <a:bodyPr wrap="square"/>
                    <a:lstStyle/>
                    <a:p>
                      <a:r>
                        <a:rPr sz="950" b="0" i="0">
                          <a:solidFill>
                            <a:srgbClr val="202020"/>
                          </a:solidFill>
                          <a:latin typeface="Calibri"/>
                        </a:rPr>
                        <a:t>05:00</a:t>
                      </a:r>
                    </a:p>
                  </a:txBody>
                  <a:tcPr marT="12700" marB="12700">
                    <a:solidFill>
                      <a:srgbClr val="F7F9FC"/>
                    </a:solidFill>
                  </a:tcPr>
                </a:tc>
                <a:tc>
                  <a:txBody>
                    <a:bodyPr wrap="square"/>
                    <a:lstStyle/>
                    <a:p>
                      <a:r>
                        <a:rPr sz="950" b="0" i="0">
                          <a:solidFill>
                            <a:srgbClr val="202020"/>
                          </a:solidFill>
                          <a:latin typeface="Calibri"/>
                        </a:rPr>
                        <a:t>Seismic</a:t>
                      </a:r>
                    </a:p>
                  </a:txBody>
                  <a:tcPr marT="12700" marB="12700">
                    <a:solidFill>
                      <a:srgbClr val="F7F9FC"/>
                    </a:solidFill>
                  </a:tcPr>
                </a:tc>
                <a:tc>
                  <a:txBody>
                    <a:bodyPr wrap="square"/>
                    <a:lstStyle/>
                    <a:p>
                      <a:r>
                        <a:rPr sz="950" b="0" i="0">
                          <a:solidFill>
                            <a:srgbClr val="202020"/>
                          </a:solidFill>
                          <a:latin typeface="Calibri"/>
                        </a:rPr>
                        <a:t>Incremental (webhooks carry the day)</a:t>
                      </a:r>
                    </a:p>
                  </a:txBody>
                  <a:tcPr marT="12700" marB="12700">
                    <a:solidFill>
                      <a:srgbClr val="F7F9FC"/>
                    </a:solidFill>
                  </a:tcPr>
                </a:tc>
              </a:tr>
              <a:tr h="384048">
                <a:tc>
                  <a:txBody>
                    <a:bodyPr wrap="square"/>
                    <a:lstStyle/>
                    <a:p>
                      <a:r>
                        <a:rPr sz="950" b="0" i="0">
                          <a:solidFill>
                            <a:srgbClr val="202020"/>
                          </a:solidFill>
                          <a:latin typeface="Calibri"/>
                        </a:rPr>
                        <a:t>05:30</a:t>
                      </a:r>
                    </a:p>
                  </a:txBody>
                  <a:tcPr marT="12700" marB="12700">
                    <a:solidFill>
                      <a:srgbClr val="FFFFFF"/>
                    </a:solidFill>
                  </a:tcPr>
                </a:tc>
                <a:tc>
                  <a:txBody>
                    <a:bodyPr wrap="square"/>
                    <a:lstStyle/>
                    <a:p>
                      <a:r>
                        <a:rPr sz="950" b="0" i="0">
                          <a:solidFill>
                            <a:srgbClr val="202020"/>
                          </a:solidFill>
                          <a:latin typeface="Calibri"/>
                        </a:rPr>
                        <a:t>Altrata</a:t>
                      </a:r>
                    </a:p>
                  </a:txBody>
                  <a:tcPr marT="12700" marB="12700">
                    <a:solidFill>
                      <a:srgbClr val="FFFFFF"/>
                    </a:solidFill>
                  </a:tcPr>
                </a:tc>
                <a:tc>
                  <a:txBody>
                    <a:bodyPr wrap="square"/>
                    <a:lstStyle/>
                    <a:p>
                      <a:r>
                        <a:rPr sz="950" b="0" i="0">
                          <a:solidFill>
                            <a:srgbClr val="202020"/>
                          </a:solidFill>
                          <a:latin typeface="Calibri"/>
                        </a:rPr>
                        <a:t>Feed-driven (runs when a delivery lands; nightly window is the norm)</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8.4 Crawl scheduling (the stagger plan)</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If a full crawl overruns into another's window, adaptive throttling keeps it </a:t>
            </a:r>
            <a:r>
              <a:rPr sz="1250" b="1" i="0">
                <a:solidFill>
                  <a:srgbClr val="202020"/>
                </a:solidFill>
                <a:latin typeface="Calibri"/>
              </a:rPr>
              <a:t>safe, just slower</a:t>
            </a:r>
            <a:r>
              <a:rPr sz="1250" b="0" i="0">
                <a:solidFill>
                  <a:srgbClr val="202020"/>
                </a:solidFill>
                <a:latin typeface="Calibri"/>
              </a:rPr>
              <a:t> — but recurring overlap means the stagger needs re-planning.</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101</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8.5 Monitoring the shared budget and change control</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0" i="0">
                <a:solidFill>
                  <a:srgbClr val="202020"/>
                </a:solidFill>
                <a:latin typeface="Calibri"/>
              </a:rPr>
              <a:t>Watch the </a:t>
            </a:r>
            <a:r>
              <a:rPr sz="1250" b="1" i="0">
                <a:solidFill>
                  <a:srgbClr val="202020"/>
                </a:solidFill>
                <a:latin typeface="Calibri"/>
              </a:rPr>
              <a:t>sum of per-connector item counts against the 50M tenant quota</a:t>
            </a:r>
            <a:r>
              <a:rPr sz="1250" b="0" i="0">
                <a:solidFill>
                  <a:srgbClr val="202020"/>
                </a:solidFill>
                <a:latin typeface="Calibri"/>
              </a:rPr>
              <a:t>. Approaching </a:t>
            </a:r>
            <a:r>
              <a:rPr sz="1250" b="1" i="0">
                <a:solidFill>
                  <a:srgbClr val="202020"/>
                </a:solidFill>
                <a:latin typeface="Calibri"/>
              </a:rPr>
              <a:t>40M (80%)</a:t>
            </a:r>
            <a:r>
              <a:rPr sz="1250" b="0" i="0">
                <a:solidFill>
                  <a:srgbClr val="202020"/>
                </a:solidFill>
                <a:latin typeface="Calibri"/>
              </a:rPr>
              <a:t> triggers a scope review — tighten the Hadoop filters first, as it has the most elastic scope.</a:t>
            </a:r>
          </a:p>
          <a:p>
            <a:pPr>
              <a:spcBef>
                <a:spcPts val="100"/>
              </a:spcBef>
              <a:spcAft>
                <a:spcPts val="200"/>
              </a:spcAft>
            </a:pPr>
            <a:r>
              <a:rPr sz="1250" b="1" i="0">
                <a:solidFill>
                  <a:srgbClr val="2E5496"/>
                </a:solidFill>
                <a:latin typeface="Calibri"/>
              </a:rPr>
              <a:t>•  </a:t>
            </a:r>
            <a:r>
              <a:rPr sz="1250" b="0" i="0">
                <a:solidFill>
                  <a:srgbClr val="202020"/>
                </a:solidFill>
                <a:latin typeface="Calibri"/>
              </a:rPr>
              <a:t>A </a:t>
            </a:r>
            <a:r>
              <a:rPr sz="1250" b="1" i="0">
                <a:solidFill>
                  <a:srgbClr val="202020"/>
                </a:solidFill>
                <a:latin typeface="Calibri"/>
              </a:rPr>
              <a:t>tenant-wide 429 spike hitting all five at once</a:t>
            </a:r>
            <a:r>
              <a:rPr sz="1250" b="0" i="0">
                <a:solidFill>
                  <a:srgbClr val="202020"/>
                </a:solidFill>
                <a:latin typeface="Calibri"/>
              </a:rPr>
              <a:t> is a tenant-level throttling event, not one connector's fault — check Microsoft 365 service health before touching any connector's config.</a:t>
            </a:r>
          </a:p>
          <a:p>
            <a:pPr>
              <a:spcBef>
                <a:spcPts val="100"/>
              </a:spcBef>
              <a:spcAft>
                <a:spcPts val="200"/>
              </a:spcAft>
            </a:pPr>
            <a:r>
              <a:rPr sz="1250" b="1" i="0">
                <a:solidFill>
                  <a:srgbClr val="2E5496"/>
                </a:solidFill>
                <a:latin typeface="Calibri"/>
              </a:rPr>
              <a:t>•  </a:t>
            </a:r>
            <a:r>
              <a:rPr sz="1250" b="0" i="0">
                <a:solidFill>
                  <a:srgbClr val="202020"/>
                </a:solidFill>
                <a:latin typeface="Calibri"/>
              </a:rPr>
              <a:t>Any use of a </a:t>
            </a:r>
            <a:r>
              <a:rPr sz="1250" b="1" i="0">
                <a:solidFill>
                  <a:srgbClr val="202020"/>
                </a:solidFill>
                <a:latin typeface="Calibri"/>
              </a:rPr>
              <a:t>full-scan override</a:t>
            </a:r>
            <a:r>
              <a:rPr sz="1250" b="0" i="0">
                <a:solidFill>
                  <a:srgbClr val="202020"/>
                </a:solidFill>
                <a:latin typeface="Calibri"/>
              </a:rPr>
              <a:t> (Hadoop) or a </a:t>
            </a:r>
            <a:r>
              <a:rPr sz="1250" b="1" i="0">
                <a:solidFill>
                  <a:srgbClr val="202020"/>
                </a:solidFill>
                <a:latin typeface="Calibri"/>
              </a:rPr>
              <a:t>deletion-guard override</a:t>
            </a:r>
            <a:r>
              <a:rPr sz="1250" b="0" i="0">
                <a:solidFill>
                  <a:srgbClr val="202020"/>
                </a:solidFill>
                <a:latin typeface="Calibri"/>
              </a:rPr>
              <a:t> is a capacity event, not routine ops — flag it.</a:t>
            </a:r>
          </a:p>
          <a:p>
            <a:pPr>
              <a:spcBef>
                <a:spcPts val="100"/>
              </a:spcBef>
              <a:spcAft>
                <a:spcPts val="200"/>
              </a:spcAft>
            </a:pPr>
            <a:r>
              <a:rPr sz="1250" b="1" i="0">
                <a:solidFill>
                  <a:srgbClr val="2E5496"/>
                </a:solidFill>
                <a:latin typeface="Calibri"/>
              </a:rPr>
              <a:t>•  </a:t>
            </a:r>
            <a:r>
              <a:rPr sz="1250" b="0" i="0">
                <a:solidFill>
                  <a:srgbClr val="202020"/>
                </a:solidFill>
                <a:latin typeface="Calibri"/>
              </a:rPr>
              <a:t>Treat this plan as configuration: changes to shard counts, item budgets, crawl windows or app registrations go through the </a:t>
            </a:r>
            <a:r>
              <a:rPr sz="1250" b="1" i="0">
                <a:solidFill>
                  <a:srgbClr val="202020"/>
                </a:solidFill>
                <a:latin typeface="Calibri"/>
              </a:rPr>
              <a:t>same review as code</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102</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8.5 Monitoring the shared budget and change control</a:t>
            </a:r>
          </a:p>
        </p:txBody>
      </p:sp>
      <p:sp>
        <p:nvSpPr>
          <p:cNvPr id="5" name="Rectangle 4"/>
          <p:cNvSpPr/>
          <p:nvPr/>
        </p:nvSpPr>
        <p:spPr>
          <a:xfrm>
            <a:off x="502920" y="1463040"/>
            <a:ext cx="11185855" cy="3291840"/>
          </a:xfrm>
          <a:prstGeom prst="rect">
            <a:avLst/>
          </a:prstGeom>
          <a:solidFill>
            <a:srgbClr val="F0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6A3D9A"/>
                </a:solidFill>
                <a:latin typeface="Calibri"/>
              </a:rPr>
              <a:t>Information to request:  </a:t>
            </a:r>
            <a:r>
              <a:rPr sz="1400" b="1" i="0">
                <a:solidFill>
                  <a:srgbClr val="202020"/>
                </a:solidFill>
                <a:latin typeface="Calibri"/>
              </a:rPr>
              <a:t>Information to request: </a:t>
            </a:r>
            <a:r>
              <a:rPr sz="1400" b="0" i="0">
                <a:solidFill>
                  <a:srgbClr val="202020"/>
                </a:solidFill>
                <a:latin typeface="Calibri"/>
              </a:rPr>
              <a:t>You do not set the shard counts, item budgets or app registrations yourself. Request the </a:t>
            </a:r>
            <a:r>
              <a:rPr sz="1400" b="1" i="0">
                <a:solidFill>
                  <a:srgbClr val="202020"/>
                </a:solidFill>
                <a:latin typeface="Calibri"/>
              </a:rPr>
              <a:t>per-connector allocation</a:t>
            </a:r>
            <a:r>
              <a:rPr sz="1400" b="0" i="0">
                <a:solidFill>
                  <a:srgbClr val="202020"/>
                </a:solidFill>
                <a:latin typeface="Calibri"/>
              </a:rPr>
              <a:t> (connections, item budget, app registration) and any change to it from the </a:t>
            </a:r>
            <a:r>
              <a:rPr sz="1400" b="1" i="0">
                <a:solidFill>
                  <a:srgbClr val="202020"/>
                </a:solidFill>
                <a:latin typeface="Calibri"/>
              </a:rPr>
              <a:t>connector platform team / tenant governance owner</a:t>
            </a:r>
            <a:r>
              <a:rPr sz="1400" b="0" i="0">
                <a:solidFill>
                  <a:srgbClr val="202020"/>
                </a:solidFill>
                <a:latin typeface="Calibri"/>
              </a:rPr>
              <a:t> who maintains this plan.</a:t>
            </a:r>
          </a:p>
        </p:txBody>
      </p:sp>
      <p:sp>
        <p:nvSpPr>
          <p:cNvPr id="6" name="Rectangle 5"/>
          <p:cNvSpPr/>
          <p:nvPr/>
        </p:nvSpPr>
        <p:spPr>
          <a:xfrm>
            <a:off x="502920" y="1463040"/>
            <a:ext cx="128016" cy="3291840"/>
          </a:xfrm>
          <a:prstGeom prst="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103</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Tenant &amp; Common Concepts</a:t>
            </a:r>
          </a:p>
          <a:p>
            <a:r>
              <a:rPr sz="3000" b="1" i="0">
                <a:solidFill>
                  <a:srgbClr val="1F3864"/>
                </a:solidFill>
                <a:latin typeface="Calibri"/>
              </a:rPr>
              <a:t>9. Deployment and environments</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104</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 Deployment and environments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Each connector runs as a Windows service on Windows Server, installed by MSI and configured by your management tooling. This section covers the target, the install, managed configuration, environments, prerequisites and sizing.</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105</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9.1 Target: a Windows service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deployment target is </a:t>
            </a:r>
            <a:r>
              <a:rPr sz="1250" b="1" i="0">
                <a:solidFill>
                  <a:srgbClr val="202020"/>
                </a:solidFill>
                <a:latin typeface="Calibri"/>
              </a:rPr>
              <a:t>Windows Server</a:t>
            </a:r>
            <a:r>
              <a:rPr sz="1250" b="0" i="0">
                <a:solidFill>
                  <a:srgbClr val="202020"/>
                </a:solidFill>
                <a:latin typeface="Calibri"/>
              </a:rPr>
              <a:t>, running the connector as a </a:t>
            </a:r>
            <a:r>
              <a:rPr sz="1250" b="1" i="0">
                <a:solidFill>
                  <a:srgbClr val="202020"/>
                </a:solidFill>
                <a:latin typeface="Calibri"/>
              </a:rPr>
              <a:t>Windows service</a:t>
            </a:r>
            <a:r>
              <a:rPr sz="1250" b="0" i="0">
                <a:solidFill>
                  <a:srgbClr val="202020"/>
                </a:solidFill>
                <a:latin typeface="Calibri"/>
              </a:rPr>
              <a:t> under the Service Control Manager (SCM). The service runs </a:t>
            </a:r>
            <a:r>
              <a:rPr sz="1200" b="0" i="0">
                <a:solidFill>
                  <a:srgbClr val="202020"/>
                </a:solidFill>
                <a:latin typeface="Consolas"/>
              </a:rPr>
              <a:t>ingest --continuous</a:t>
            </a:r>
            <a:r>
              <a:rPr sz="1250" b="0" i="0">
                <a:solidFill>
                  <a:srgbClr val="202020"/>
                </a:solidFill>
                <a:latin typeface="Calibri"/>
              </a:rPr>
              <a:t>, which loops the incremental/full schedule. The install sets the service to </a:t>
            </a:r>
            <a:r>
              <a:rPr sz="1250" b="1" i="0">
                <a:solidFill>
                  <a:srgbClr val="202020"/>
                </a:solidFill>
                <a:latin typeface="Calibri"/>
              </a:rPr>
              <a:t>Automatic (delayed start)</a:t>
            </a:r>
            <a:r>
              <a:rPr sz="1250" b="0" i="0">
                <a:solidFill>
                  <a:srgbClr val="202020"/>
                </a:solidFill>
                <a:latin typeface="Calibri"/>
              </a:rPr>
              <a:t> but does </a:t>
            </a:r>
            <a:r>
              <a:rPr sz="1250" b="1" i="0">
                <a:solidFill>
                  <a:srgbClr val="202020"/>
                </a:solidFill>
                <a:latin typeface="Calibri"/>
              </a:rPr>
              <a:t>not</a:t>
            </a:r>
            <a:r>
              <a:rPr sz="1250" b="0" i="0">
                <a:solidFill>
                  <a:srgbClr val="202020"/>
                </a:solidFill>
                <a:latin typeface="Calibri"/>
              </a:rPr>
              <a:t> start it — configuration is a separate managed step, so one package serves every environment. Add an SCM crash-restart policy so the service self-heals; because crawls checkpoint, a restart resumes rather than restarting the crawl.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106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9.2 MSI deployment via SCCM / Intune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MSI installs per-machine to </a:t>
            </a:r>
            <a:r>
              <a:rPr sz="1200" b="0" i="0">
                <a:solidFill>
                  <a:srgbClr val="202020"/>
                </a:solidFill>
                <a:latin typeface="Consolas"/>
              </a:rPr>
              <a:t>%ProgramFiles%\&lt;Connector&gt;</a:t>
            </a:r>
            <a:r>
              <a:rPr sz="1250" b="0" i="0">
                <a:solidFill>
                  <a:srgbClr val="202020"/>
                </a:solidFill>
                <a:latin typeface="Calibri"/>
              </a:rPr>
              <a:t>: the executable, config templates, the environment example file, the Windows service, and the Windows Event Log source. It ships </a:t>
            </a:r>
            <a:r>
              <a:rPr sz="1250" b="1" i="0">
                <a:solidFill>
                  <a:srgbClr val="202020"/>
                </a:solidFill>
                <a:latin typeface="Calibri"/>
              </a:rPr>
              <a:t>no credentials and no live configuration</a:t>
            </a:r>
            <a:r>
              <a:rPr sz="1250" b="0" i="0">
                <a:solidFill>
                  <a:srgbClr val="202020"/>
                </a:solidFill>
                <a:latin typeface="Calibri"/>
              </a:rPr>
              <a:t> by design.</a:t>
            </a:r>
          </a:p>
          <a:p>
            <a:pPr>
              <a:spcBef>
                <a:spcPts val="100"/>
              </a:spcBef>
              <a:spcAft>
                <a:spcPts val="200"/>
              </a:spcAft>
            </a:pPr>
            <a:r>
              <a:rPr sz="1250" b="1" i="0">
                <a:solidFill>
                  <a:srgbClr val="2E5496"/>
                </a:solidFill>
                <a:latin typeface="Calibri"/>
              </a:rPr>
              <a:t>•  </a:t>
            </a:r>
            <a:r>
              <a:rPr sz="1250" b="1" i="0">
                <a:solidFill>
                  <a:srgbClr val="202020"/>
                </a:solidFill>
                <a:latin typeface="Calibri"/>
              </a:rPr>
              <a:t>SCCM</a:t>
            </a:r>
            <a:r>
              <a:rPr sz="1250" b="0" i="0">
                <a:solidFill>
                  <a:srgbClr val="202020"/>
                </a:solidFill>
                <a:latin typeface="Calibri"/>
              </a:rPr>
              <a:t> — standard MSI application model; detect by MSI product code or the exe file version; upgrades are a major-upgrade in place (the service resumes from its checkpoint); uninstall leaves state behind by design.</a:t>
            </a:r>
          </a:p>
          <a:p>
            <a:pPr>
              <a:spcBef>
                <a:spcPts val="100"/>
              </a:spcBef>
              <a:spcAft>
                <a:spcPts val="200"/>
              </a:spcAft>
            </a:pPr>
            <a:r>
              <a:rPr sz="1250" b="1" i="0">
                <a:solidFill>
                  <a:srgbClr val="2E5496"/>
                </a:solidFill>
                <a:latin typeface="Calibri"/>
              </a:rPr>
              <a:t>•  </a:t>
            </a:r>
            <a:r>
              <a:rPr sz="1250" b="1" i="0">
                <a:solidFill>
                  <a:srgbClr val="202020"/>
                </a:solidFill>
                <a:latin typeface="Calibri"/>
              </a:rPr>
              <a:t>Intune</a:t>
            </a:r>
            <a:r>
              <a:rPr sz="1250" b="0" i="0">
                <a:solidFill>
                  <a:srgbClr val="202020"/>
                </a:solidFill>
                <a:latin typeface="Calibri"/>
              </a:rPr>
              <a:t> — wrap the MSI as a Win32 app so you get requirement rules and a configuration script in one package; assign to a device group in system context.</a:t>
            </a:r>
          </a:p>
          <a:p>
            <a:pPr>
              <a:spcBef>
                <a:spcPts val="100"/>
              </a:spcBef>
              <a:spcAft>
                <a:spcPts val="200"/>
              </a:spcAft>
            </a:pPr>
            <a:r>
              <a:rPr sz="1250" b="1" i="0">
                <a:solidFill>
                  <a:srgbClr val="2E5496"/>
                </a:solidFill>
                <a:latin typeface="Calibri"/>
              </a:rPr>
              <a:t>•  </a:t>
            </a:r>
            <a:r>
              <a:rPr sz="1250" b="1" i="0">
                <a:solidFill>
                  <a:srgbClr val="202020"/>
                </a:solidFill>
                <a:latin typeface="Calibri"/>
              </a:rPr>
              <a:t>Deploy order per node</a:t>
            </a:r>
            <a:r>
              <a:rPr sz="1250" b="0" i="0">
                <a:solidFill>
                  <a:srgbClr val="202020"/>
                </a:solidFill>
                <a:latin typeface="Calibri"/>
              </a:rPr>
              <a:t> — 1) MSI, 2) configuration (next section), 3) start the service, 4) verify </a:t>
            </a:r>
            <a:r>
              <a:rPr sz="1200" b="0" i="0">
                <a:solidFill>
                  <a:srgbClr val="202020"/>
                </a:solidFill>
                <a:latin typeface="Consolas"/>
              </a:rPr>
              <a:t>validate-config --strict</a:t>
            </a:r>
            <a:r>
              <a:rPr sz="1250" b="0" i="0">
                <a:solidFill>
                  <a:srgbClr val="202020"/>
                </a:solidFill>
                <a:latin typeface="Calibri"/>
              </a:rPr>
              <a:t> exits 0 in the install directory.</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107</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9.2 MSI deployment via SCCM / Intune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No-MSI fleets</a:t>
            </a:r>
            <a:r>
              <a:rPr sz="1250" b="0" i="0">
                <a:solidFill>
                  <a:srgbClr val="202020"/>
                </a:solidFill>
                <a:latin typeface="Calibri"/>
              </a:rPr>
              <a:t> — a zip bundle plus the </a:t>
            </a:r>
            <a:r>
              <a:rPr sz="1200" b="0" i="0">
                <a:solidFill>
                  <a:srgbClr val="202020"/>
                </a:solidFill>
                <a:latin typeface="Consolas"/>
              </a:rPr>
              <a:t>install-windows-service.ps1</a:t>
            </a:r>
            <a:r>
              <a:rPr sz="1250" b="0" i="0">
                <a:solidFill>
                  <a:srgbClr val="202020"/>
                </a:solidFill>
                <a:latin typeface="Calibri"/>
              </a:rPr>
              <a:t> script does the same things, including creating the event source.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108</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9.3 Managed configuration (GPO / DSC)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connector reads </a:t>
            </a:r>
            <a:r>
              <a:rPr sz="1250" b="1" i="0">
                <a:solidFill>
                  <a:srgbClr val="202020"/>
                </a:solidFill>
                <a:latin typeface="Calibri"/>
              </a:rPr>
              <a:t>process environment first, then the env files</a:t>
            </a:r>
            <a:r>
              <a:rPr sz="1250" b="0" i="0">
                <a:solidFill>
                  <a:srgbClr val="202020"/>
                </a:solidFill>
                <a:latin typeface="Calibri"/>
              </a:rPr>
              <a:t> (process env wins), giving two managed channels. The recommended split:</a:t>
            </a:r>
          </a:p>
          <a:p>
            <a:pPr>
              <a:spcBef>
                <a:spcPts val="100"/>
              </a:spcBef>
              <a:spcAft>
                <a:spcPts val="200"/>
              </a:spcAft>
            </a:pPr>
            <a:r>
              <a:rPr sz="1250" b="1" i="0">
                <a:solidFill>
                  <a:srgbClr val="2E5496"/>
                </a:solidFill>
                <a:latin typeface="Calibri"/>
              </a:rPr>
              <a:t>•  </a:t>
            </a:r>
            <a:r>
              <a:rPr sz="1250" b="1" i="0">
                <a:solidFill>
                  <a:srgbClr val="202020"/>
                </a:solidFill>
                <a:latin typeface="Calibri"/>
              </a:rPr>
              <a:t>Env file for the functional knobs</a:t>
            </a:r>
            <a:r>
              <a:rPr sz="1250" b="0" i="0">
                <a:solidFill>
                  <a:srgbClr val="202020"/>
                </a:solidFill>
                <a:latin typeface="Calibri"/>
              </a:rPr>
              <a:t> — drop </a:t>
            </a:r>
            <a:r>
              <a:rPr sz="1200" b="0" i="0">
                <a:solidFill>
                  <a:srgbClr val="202020"/>
                </a:solidFill>
                <a:latin typeface="Consolas"/>
              </a:rPr>
              <a:t>env\.env.local</a:t>
            </a:r>
            <a:r>
              <a:rPr sz="1250" b="0" i="0">
                <a:solidFill>
                  <a:srgbClr val="202020"/>
                </a:solidFill>
                <a:latin typeface="Calibri"/>
              </a:rPr>
              <a:t> (non-secret) via DSC File / an SCCM configuration item; it is diffable and identical across Windows, Linux and containers, and drift detection is a file hash.</a:t>
            </a:r>
          </a:p>
          <a:p>
            <a:pPr>
              <a:spcBef>
                <a:spcPts val="100"/>
              </a:spcBef>
              <a:spcAft>
                <a:spcPts val="200"/>
              </a:spcAft>
            </a:pPr>
            <a:r>
              <a:rPr sz="1250" b="1" i="0">
                <a:solidFill>
                  <a:srgbClr val="2E5496"/>
                </a:solidFill>
                <a:latin typeface="Calibri"/>
              </a:rPr>
              <a:t>•  </a:t>
            </a:r>
            <a:r>
              <a:rPr sz="1250" b="1" i="0">
                <a:solidFill>
                  <a:srgbClr val="202020"/>
                </a:solidFill>
                <a:latin typeface="Calibri"/>
              </a:rPr>
              <a:t>Key Vault for every secret</a:t>
            </a:r>
            <a:r>
              <a:rPr sz="1250" b="0" i="0">
                <a:solidFill>
                  <a:srgbClr val="202020"/>
                </a:solidFill>
                <a:latin typeface="Calibri"/>
              </a:rPr>
              <a:t> — with </a:t>
            </a:r>
            <a:r>
              <a:rPr sz="1200" b="0" i="0">
                <a:solidFill>
                  <a:srgbClr val="202020"/>
                </a:solidFill>
                <a:latin typeface="Consolas"/>
              </a:rPr>
              <a:t>USE_KEY_VAULT=true</a:t>
            </a:r>
            <a:r>
              <a:rPr sz="1250" b="0" i="0">
                <a:solidFill>
                  <a:srgbClr val="202020"/>
                </a:solidFill>
                <a:latin typeface="Calibri"/>
              </a:rPr>
              <a:t> the secret file does not exist on disk at all.</a:t>
            </a:r>
          </a:p>
          <a:p>
            <a:pPr>
              <a:spcBef>
                <a:spcPts val="100"/>
              </a:spcBef>
              <a:spcAft>
                <a:spcPts val="200"/>
              </a:spcAft>
            </a:pPr>
            <a:r>
              <a:rPr sz="1250" b="1" i="0">
                <a:solidFill>
                  <a:srgbClr val="2E5496"/>
                </a:solidFill>
                <a:latin typeface="Calibri"/>
              </a:rPr>
              <a:t>•  </a:t>
            </a:r>
            <a:r>
              <a:rPr sz="1250" b="1" i="0">
                <a:solidFill>
                  <a:srgbClr val="202020"/>
                </a:solidFill>
                <a:latin typeface="Calibri"/>
              </a:rPr>
              <a:t>Registry only for the two bootstrap values</a:t>
            </a:r>
            <a:r>
              <a:rPr sz="1250" b="0" i="0">
                <a:solidFill>
                  <a:srgbClr val="202020"/>
                </a:solidFill>
                <a:latin typeface="Calibri"/>
              </a:rPr>
              <a:t> — the install directory home and optionally the Key Vault toggle/URI, written to the service's environment via Group Policy Preferences.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109</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9.3 Managed configuration (GPO / DSC)</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Never machine-wide environment variables</a:t>
            </a:r>
            <a:r>
              <a:rPr sz="1250" b="0" i="0">
                <a:solidFill>
                  <a:srgbClr val="202020"/>
                </a:solidFill>
                <a:latin typeface="Calibri"/>
              </a:rPr>
              <a:t> (</a:t>
            </a:r>
            <a:r>
              <a:rPr sz="1200" b="0" i="0">
                <a:solidFill>
                  <a:srgbClr val="202020"/>
                </a:solidFill>
                <a:latin typeface="Consolas"/>
              </a:rPr>
              <a:t>setx /M</a:t>
            </a:r>
            <a:r>
              <a:rPr sz="1250" b="0" i="0">
                <a:solidFill>
                  <a:srgbClr val="202020"/>
                </a:solidFill>
                <a:latin typeface="Calibri"/>
              </a:rPr>
              <a:t>) — they leak into every process on the box.</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110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9.4 Environments: dev, test, prod</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Run separate dev, test and prod deployments — separate hosts, separate service accounts, separate app registrations and secrets, and ideally separate tenants (or at least separate connection ids). Never point a dev connector at a prod connection id: it would ingest into the production index. Use </a:t>
            </a:r>
            <a:r>
              <a:rPr sz="1200" b="0" i="0">
                <a:solidFill>
                  <a:srgbClr val="202020"/>
                </a:solidFill>
                <a:latin typeface="Consolas"/>
              </a:rPr>
              <a:t>SALESFORCE_QUERY_LIMIT</a:t>
            </a:r>
            <a:r>
              <a:rPr sz="1250" b="0" i="0">
                <a:solidFill>
                  <a:srgbClr val="202020"/>
                </a:solidFill>
                <a:latin typeface="Calibri"/>
              </a:rPr>
              <a:t>-style caps (per source) to keep dev/test crawls small, and always leave them at 0 (full) in production.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111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9.5 Prerequisites</a:t>
            </a:r>
          </a:p>
        </p:txBody>
      </p:sp>
      <p:graphicFrame>
        <p:nvGraphicFramePr>
          <p:cNvPr id="5" name="Table 4"/>
          <p:cNvGraphicFramePr>
            <a:graphicFrameLocks noGrp="1"/>
          </p:cNvGraphicFramePr>
          <p:nvPr/>
        </p:nvGraphicFramePr>
        <p:xfrm>
          <a:off x="502920" y="1188720"/>
          <a:ext cx="11185855" cy="3456432"/>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Prerequisite</a:t>
                      </a:r>
                    </a:p>
                  </a:txBody>
                  <a:tcPr marT="25400" marB="25400">
                    <a:solidFill>
                      <a:srgbClr val="2E5496"/>
                    </a:solidFill>
                  </a:tcPr>
                </a:tc>
                <a:tc>
                  <a:txBody>
                    <a:bodyPr wrap="square"/>
                    <a:lstStyle/>
                    <a:p>
                      <a:r>
                        <a:rPr sz="1050" b="1" i="0">
                          <a:solidFill>
                            <a:srgbClr val="FFFFFF"/>
                          </a:solidFill>
                          <a:latin typeface="Calibri"/>
                        </a:rPr>
                        <a:t>Requirement</a:t>
                      </a:r>
                    </a:p>
                  </a:txBody>
                  <a:tcPr marT="25400" marB="25400">
                    <a:solidFill>
                      <a:srgbClr val="2E5496"/>
                    </a:solidFill>
                  </a:tcPr>
                </a:tc>
                <a:tc>
                  <a:txBody>
                    <a:bodyPr wrap="square"/>
                    <a:lstStyle/>
                    <a:p>
                      <a:r>
                        <a:rPr sz="1050" b="1" i="0">
                          <a:solidFill>
                            <a:srgbClr val="FFFFFF"/>
                          </a:solidFill>
                          <a:latin typeface="Calibri"/>
                        </a:rPr>
                        <a:t>Who provides it</a:t>
                      </a:r>
                    </a:p>
                  </a:txBody>
                  <a:tcPr marT="25400" marB="25400">
                    <a:solidFill>
                      <a:srgbClr val="2E5496"/>
                    </a:solidFill>
                  </a:tcPr>
                </a:tc>
              </a:tr>
              <a:tr h="384048">
                <a:tc>
                  <a:txBody>
                    <a:bodyPr wrap="square"/>
                    <a:lstStyle/>
                    <a:p>
                      <a:r>
                        <a:rPr sz="950" b="0" i="0">
                          <a:solidFill>
                            <a:srgbClr val="202020"/>
                          </a:solidFill>
                          <a:latin typeface="Calibri"/>
                        </a:rPr>
                        <a:t>Operating system</a:t>
                      </a:r>
                    </a:p>
                  </a:txBody>
                  <a:tcPr marT="12700" marB="12700">
                    <a:solidFill>
                      <a:srgbClr val="FFFFFF"/>
                    </a:solidFill>
                  </a:tcPr>
                </a:tc>
                <a:tc>
                  <a:txBody>
                    <a:bodyPr wrap="square"/>
                    <a:lstStyle/>
                    <a:p>
                      <a:r>
                        <a:rPr sz="950" b="0" i="0">
                          <a:solidFill>
                            <a:srgbClr val="202020"/>
                          </a:solidFill>
                          <a:latin typeface="Calibri"/>
                        </a:rPr>
                        <a:t>Windows Server (supported, patched); the code is cross-platform for dev only</a:t>
                      </a:r>
                    </a:p>
                  </a:txBody>
                  <a:tcPr marT="12700" marB="12700">
                    <a:solidFill>
                      <a:srgbClr val="FFFFFF"/>
                    </a:solidFill>
                  </a:tcPr>
                </a:tc>
                <a:tc>
                  <a:txBody>
                    <a:bodyPr wrap="square"/>
                    <a:lstStyle/>
                    <a:p>
                      <a:r>
                        <a:rPr sz="950" b="0" i="0">
                          <a:solidFill>
                            <a:srgbClr val="202020"/>
                          </a:solidFill>
                          <a:latin typeface="Calibri"/>
                        </a:rPr>
                        <a:t>Server / platform team</a:t>
                      </a:r>
                    </a:p>
                  </a:txBody>
                  <a:tcPr marT="12700" marB="12700">
                    <a:solidFill>
                      <a:srgbClr val="FFFFFF"/>
                    </a:solidFill>
                  </a:tcPr>
                </a:tc>
              </a:tr>
              <a:tr h="384048">
                <a:tc>
                  <a:txBody>
                    <a:bodyPr wrap="square"/>
                    <a:lstStyle/>
                    <a:p>
                      <a:r>
                        <a:rPr sz="950" b="0" i="0">
                          <a:solidFill>
                            <a:srgbClr val="202020"/>
                          </a:solidFill>
                          <a:latin typeface="Calibri"/>
                        </a:rPr>
                        <a:t>.NET runtime</a:t>
                      </a:r>
                    </a:p>
                  </a:txBody>
                  <a:tcPr marT="12700" marB="12700">
                    <a:solidFill>
                      <a:srgbClr val="F7F9FC"/>
                    </a:solidFill>
                  </a:tcPr>
                </a:tc>
                <a:tc>
                  <a:txBody>
                    <a:bodyPr wrap="square"/>
                    <a:lstStyle/>
                    <a:p>
                      <a:r>
                        <a:rPr sz="950" b="0" i="0">
                          <a:solidFill>
                            <a:srgbClr val="202020"/>
                          </a:solidFill>
                          <a:latin typeface="Calibri"/>
                        </a:rPr>
                        <a:t>.NET 10 runtime installed on the host</a:t>
                      </a:r>
                    </a:p>
                  </a:txBody>
                  <a:tcPr marT="12700" marB="12700">
                    <a:solidFill>
                      <a:srgbClr val="F7F9FC"/>
                    </a:solidFill>
                  </a:tcPr>
                </a:tc>
                <a:tc>
                  <a:txBody>
                    <a:bodyPr wrap="square"/>
                    <a:lstStyle/>
                    <a:p>
                      <a:r>
                        <a:rPr sz="950" b="0" i="0">
                          <a:solidFill>
                            <a:srgbClr val="202020"/>
                          </a:solidFill>
                          <a:latin typeface="Calibri"/>
                        </a:rPr>
                        <a:t>Server / platform team</a:t>
                      </a:r>
                    </a:p>
                  </a:txBody>
                  <a:tcPr marT="12700" marB="12700">
                    <a:solidFill>
                      <a:srgbClr val="F7F9FC"/>
                    </a:solidFill>
                  </a:tcPr>
                </a:tc>
              </a:tr>
              <a:tr h="384048">
                <a:tc>
                  <a:txBody>
                    <a:bodyPr wrap="square"/>
                    <a:lstStyle/>
                    <a:p>
                      <a:r>
                        <a:rPr sz="950" b="0" i="0">
                          <a:solidFill>
                            <a:srgbClr val="202020"/>
                          </a:solidFill>
                          <a:latin typeface="Calibri"/>
                        </a:rPr>
                        <a:t>Service account</a:t>
                      </a:r>
                    </a:p>
                  </a:txBody>
                  <a:tcPr marT="12700" marB="12700">
                    <a:solidFill>
                      <a:srgbClr val="FFFFFF"/>
                    </a:solidFill>
                  </a:tcPr>
                </a:tc>
                <a:tc>
                  <a:txBody>
                    <a:bodyPr wrap="square"/>
                    <a:lstStyle/>
                    <a:p>
                      <a:r>
                        <a:rPr sz="950" b="0" i="0">
                          <a:solidFill>
                            <a:srgbClr val="202020"/>
                          </a:solidFill>
                          <a:latin typeface="Calibri"/>
                        </a:rPr>
                        <a:t>Dedicated gMSA (preferred) with logon-as-a-service</a:t>
                      </a:r>
                    </a:p>
                  </a:txBody>
                  <a:tcPr marT="12700" marB="12700">
                    <a:solidFill>
                      <a:srgbClr val="FFFFFF"/>
                    </a:solidFill>
                  </a:tcPr>
                </a:tc>
                <a:tc>
                  <a:txBody>
                    <a:bodyPr wrap="square"/>
                    <a:lstStyle/>
                    <a:p>
                      <a:r>
                        <a:rPr sz="950" b="0" i="0">
                          <a:solidFill>
                            <a:srgbClr val="202020"/>
                          </a:solidFill>
                          <a:latin typeface="Calibri"/>
                        </a:rPr>
                        <a:t>Active Directory team</a:t>
                      </a:r>
                    </a:p>
                  </a:txBody>
                  <a:tcPr marT="12700" marB="12700">
                    <a:solidFill>
                      <a:srgbClr val="FFFFFF"/>
                    </a:solidFill>
                  </a:tcPr>
                </a:tc>
              </a:tr>
              <a:tr h="384048">
                <a:tc>
                  <a:txBody>
                    <a:bodyPr wrap="square"/>
                    <a:lstStyle/>
                    <a:p>
                      <a:r>
                        <a:rPr sz="950" b="0" i="0">
                          <a:solidFill>
                            <a:srgbClr val="202020"/>
                          </a:solidFill>
                          <a:latin typeface="Calibri"/>
                        </a:rPr>
                        <a:t>Network egress</a:t>
                      </a:r>
                    </a:p>
                  </a:txBody>
                  <a:tcPr marT="12700" marB="12700">
                    <a:solidFill>
                      <a:srgbClr val="F7F9FC"/>
                    </a:solidFill>
                  </a:tcPr>
                </a:tc>
                <a:tc>
                  <a:txBody>
                    <a:bodyPr wrap="square"/>
                    <a:lstStyle/>
                    <a:p>
                      <a:r>
                        <a:rPr sz="950" b="0" i="0">
                          <a:solidFill>
                            <a:srgbClr val="202020"/>
                          </a:solidFill>
                          <a:latin typeface="Calibri"/>
                        </a:rPr>
                        <a:t>Outbound 443 to source, graph.microsoft.com, login.microsoftonline.com, *.vault.azure.net</a:t>
                      </a:r>
                    </a:p>
                  </a:txBody>
                  <a:tcPr marT="12700" marB="12700">
                    <a:solidFill>
                      <a:srgbClr val="F7F9FC"/>
                    </a:solidFill>
                  </a:tcPr>
                </a:tc>
                <a:tc>
                  <a:txBody>
                    <a:bodyPr wrap="square"/>
                    <a:lstStyle/>
                    <a:p>
                      <a:r>
                        <a:rPr sz="950" b="0" i="0">
                          <a:solidFill>
                            <a:srgbClr val="202020"/>
                          </a:solidFill>
                          <a:latin typeface="Calibri"/>
                        </a:rPr>
                        <a:t>Network / firewall team</a:t>
                      </a:r>
                    </a:p>
                  </a:txBody>
                  <a:tcPr marT="12700" marB="12700">
                    <a:solidFill>
                      <a:srgbClr val="F7F9FC"/>
                    </a:solidFill>
                  </a:tcPr>
                </a:tc>
              </a:tr>
              <a:tr h="384048">
                <a:tc>
                  <a:txBody>
                    <a:bodyPr wrap="square"/>
                    <a:lstStyle/>
                    <a:p>
                      <a:r>
                        <a:rPr sz="950" b="0" i="0">
                          <a:solidFill>
                            <a:srgbClr val="202020"/>
                          </a:solidFill>
                          <a:latin typeface="Calibri"/>
                        </a:rPr>
                        <a:t>App registration</a:t>
                      </a:r>
                    </a:p>
                  </a:txBody>
                  <a:tcPr marT="12700" marB="12700">
                    <a:solidFill>
                      <a:srgbClr val="FFFFFF"/>
                    </a:solidFill>
                  </a:tcPr>
                </a:tc>
                <a:tc>
                  <a:txBody>
                    <a:bodyPr wrap="square"/>
                    <a:lstStyle/>
                    <a:p>
                      <a:r>
                        <a:rPr sz="950" b="0" i="0">
                          <a:solidFill>
                            <a:srgbClr val="202020"/>
                          </a:solidFill>
                          <a:latin typeface="Calibri"/>
                        </a:rPr>
                        <a:t>One per connector, admin-consented (section 7.2)</a:t>
                      </a:r>
                    </a:p>
                  </a:txBody>
                  <a:tcPr marT="12700" marB="12700">
                    <a:solidFill>
                      <a:srgbClr val="FFFFFF"/>
                    </a:solidFill>
                  </a:tcPr>
                </a:tc>
                <a:tc>
                  <a:txBody>
                    <a:bodyPr wrap="square"/>
                    <a:lstStyle/>
                    <a:p>
                      <a:r>
                        <a:rPr sz="950" b="0" i="0">
                          <a:solidFill>
                            <a:srgbClr val="202020"/>
                          </a:solidFill>
                          <a:latin typeface="Calibri"/>
                        </a:rPr>
                        <a:t>Entra ID administrator</a:t>
                      </a:r>
                    </a:p>
                  </a:txBody>
                  <a:tcPr marT="12700" marB="12700">
                    <a:solidFill>
                      <a:srgbClr val="FFFFFF"/>
                    </a:solidFill>
                  </a:tcPr>
                </a:tc>
              </a:tr>
              <a:tr h="384048">
                <a:tc>
                  <a:txBody>
                    <a:bodyPr wrap="square"/>
                    <a:lstStyle/>
                    <a:p>
                      <a:r>
                        <a:rPr sz="950" b="0" i="0">
                          <a:solidFill>
                            <a:srgbClr val="202020"/>
                          </a:solidFill>
                          <a:latin typeface="Calibri"/>
                        </a:rPr>
                        <a:t>Credentials</a:t>
                      </a:r>
                    </a:p>
                  </a:txBody>
                  <a:tcPr marT="12700" marB="12700">
                    <a:solidFill>
                      <a:srgbClr val="F7F9FC"/>
                    </a:solidFill>
                  </a:tcPr>
                </a:tc>
                <a:tc>
                  <a:txBody>
                    <a:bodyPr wrap="square"/>
                    <a:lstStyle/>
                    <a:p>
                      <a:r>
                        <a:rPr sz="950" b="0" i="0">
                          <a:solidFill>
                            <a:srgbClr val="202020"/>
                          </a:solidFill>
                          <a:latin typeface="Calibri"/>
                        </a:rPr>
                        <a:t>Client secret or certificate; Key Vault access</a:t>
                      </a:r>
                    </a:p>
                  </a:txBody>
                  <a:tcPr marT="12700" marB="12700">
                    <a:solidFill>
                      <a:srgbClr val="F7F9FC"/>
                    </a:solidFill>
                  </a:tcPr>
                </a:tc>
                <a:tc>
                  <a:txBody>
                    <a:bodyPr wrap="square"/>
                    <a:lstStyle/>
                    <a:p>
                      <a:r>
                        <a:rPr sz="950" b="0" i="0">
                          <a:solidFill>
                            <a:srgbClr val="202020"/>
                          </a:solidFill>
                          <a:latin typeface="Calibri"/>
                        </a:rPr>
                        <a:t>Entra admin / PKI team / Key Vault team</a:t>
                      </a:r>
                    </a:p>
                  </a:txBody>
                  <a:tcPr marT="12700" marB="12700">
                    <a:solidFill>
                      <a:srgbClr val="F7F9FC"/>
                    </a:solidFill>
                  </a:tcPr>
                </a:tc>
              </a:tr>
              <a:tr h="384048">
                <a:tc>
                  <a:txBody>
                    <a:bodyPr wrap="square"/>
                    <a:lstStyle/>
                    <a:p>
                      <a:r>
                        <a:rPr sz="950" b="0" i="0">
                          <a:solidFill>
                            <a:srgbClr val="202020"/>
                          </a:solidFill>
                          <a:latin typeface="Calibri"/>
                        </a:rPr>
                        <a:t>Source access</a:t>
                      </a:r>
                    </a:p>
                  </a:txBody>
                  <a:tcPr marT="12700" marB="12700">
                    <a:solidFill>
                      <a:srgbClr val="FFFFFF"/>
                    </a:solidFill>
                  </a:tcPr>
                </a:tc>
                <a:tc>
                  <a:txBody>
                    <a:bodyPr wrap="square"/>
                    <a:lstStyle/>
                    <a:p>
                      <a:r>
                        <a:rPr sz="950" b="0" i="0">
                          <a:solidFill>
                            <a:srgbClr val="202020"/>
                          </a:solidFill>
                          <a:latin typeface="Calibri"/>
                        </a:rPr>
                        <a:t>Source endpoint + read-only integration credentials</a:t>
                      </a:r>
                    </a:p>
                  </a:txBody>
                  <a:tcPr marT="12700" marB="12700">
                    <a:solidFill>
                      <a:srgbClr val="FFFFFF"/>
                    </a:solidFill>
                  </a:tcPr>
                </a:tc>
                <a:tc>
                  <a:txBody>
                    <a:bodyPr wrap="square"/>
                    <a:lstStyle/>
                    <a:p>
                      <a:r>
                        <a:rPr sz="950" b="0" i="0">
                          <a:solidFill>
                            <a:srgbClr val="202020"/>
                          </a:solidFill>
                          <a:latin typeface="Calibri"/>
                        </a:rPr>
                        <a:t>Source-system administrator</a:t>
                      </a:r>
                    </a:p>
                  </a:txBody>
                  <a:tcPr marT="12700" marB="12700">
                    <a:solidFill>
                      <a:srgbClr val="FFFFFF"/>
                    </a:solidFill>
                  </a:tcPr>
                </a:tc>
              </a:tr>
              <a:tr h="384048">
                <a:tc>
                  <a:txBody>
                    <a:bodyPr wrap="square"/>
                    <a:lstStyle/>
                    <a:p>
                      <a:r>
                        <a:rPr sz="950" b="0" i="0">
                          <a:solidFill>
                            <a:srgbClr val="202020"/>
                          </a:solidFill>
                          <a:latin typeface="Calibri"/>
                        </a:rPr>
                        <a:t>SQL Server (if HA)</a:t>
                      </a:r>
                    </a:p>
                  </a:txBody>
                  <a:tcPr marT="12700" marB="12700">
                    <a:solidFill>
                      <a:srgbClr val="F7F9FC"/>
                    </a:solidFill>
                  </a:tcPr>
                </a:tc>
                <a:tc>
                  <a:txBody>
                    <a:bodyPr wrap="square"/>
                    <a:lstStyle/>
                    <a:p>
                      <a:r>
                        <a:rPr sz="950" b="0" i="0">
                          <a:solidFill>
                            <a:srgbClr val="202020"/>
                          </a:solidFill>
                          <a:latin typeface="Calibri"/>
                        </a:rPr>
                        <a:t>Database + least-privilege login; AG listener for HA</a:t>
                      </a:r>
                    </a:p>
                  </a:txBody>
                  <a:tcPr marT="12700" marB="12700">
                    <a:solidFill>
                      <a:srgbClr val="F7F9FC"/>
                    </a:solidFill>
                  </a:tcPr>
                </a:tc>
                <a:tc>
                  <a:txBody>
                    <a:bodyPr wrap="square"/>
                    <a:lstStyle/>
                    <a:p>
                      <a:r>
                        <a:rPr sz="950" b="0" i="0">
                          <a:solidFill>
                            <a:srgbClr val="202020"/>
                          </a:solidFill>
                          <a:latin typeface="Calibri"/>
                        </a:rPr>
                        <a:t>Database administrator</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112</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9.6 Hardware sizing</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workload is </a:t>
            </a:r>
            <a:r>
              <a:rPr sz="1250" b="1" i="0">
                <a:solidFill>
                  <a:srgbClr val="202020"/>
                </a:solidFill>
                <a:latin typeface="Calibri"/>
              </a:rPr>
              <a:t>Graph-bound, not CPU-bound</a:t>
            </a:r>
            <a:r>
              <a:rPr sz="1250" b="0" i="0">
                <a:solidFill>
                  <a:srgbClr val="202020"/>
                </a:solidFill>
                <a:latin typeface="Calibri"/>
              </a:rPr>
              <a:t> — the connector's pipeline outruns Graph's accept rate by roughly 500x, so a larger node buys nothing. Sensible starting points: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113</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9.6 Hardware sizing</a:t>
            </a:r>
          </a:p>
        </p:txBody>
      </p:sp>
      <p:graphicFrame>
        <p:nvGraphicFramePr>
          <p:cNvPr id="5" name="Table 4"/>
          <p:cNvGraphicFramePr>
            <a:graphicFrameLocks noGrp="1"/>
          </p:cNvGraphicFramePr>
          <p:nvPr/>
        </p:nvGraphicFramePr>
        <p:xfrm>
          <a:off x="502920" y="1188720"/>
          <a:ext cx="11185855" cy="1920240"/>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Resource</a:t>
                      </a:r>
                    </a:p>
                  </a:txBody>
                  <a:tcPr marT="25400" marB="25400">
                    <a:solidFill>
                      <a:srgbClr val="2E5496"/>
                    </a:solidFill>
                  </a:tcPr>
                </a:tc>
                <a:tc>
                  <a:txBody>
                    <a:bodyPr wrap="square"/>
                    <a:lstStyle/>
                    <a:p>
                      <a:r>
                        <a:rPr sz="1050" b="1" i="0">
                          <a:solidFill>
                            <a:srgbClr val="FFFFFF"/>
                          </a:solidFill>
                          <a:latin typeface="Calibri"/>
                        </a:rPr>
                        <a:t>Starting point</a:t>
                      </a:r>
                    </a:p>
                  </a:txBody>
                  <a:tcPr marT="25400" marB="25400">
                    <a:solidFill>
                      <a:srgbClr val="2E5496"/>
                    </a:solidFill>
                  </a:tcPr>
                </a:tc>
                <a:tc>
                  <a:txBody>
                    <a:bodyPr wrap="square"/>
                    <a:lstStyle/>
                    <a:p>
                      <a:r>
                        <a:rPr sz="1050" b="1" i="0">
                          <a:solidFill>
                            <a:srgbClr val="FFFFFF"/>
                          </a:solidFill>
                          <a:latin typeface="Calibri"/>
                        </a:rPr>
                        <a:t>What drives it</a:t>
                      </a:r>
                    </a:p>
                  </a:txBody>
                  <a:tcPr marT="25400" marB="25400">
                    <a:solidFill>
                      <a:srgbClr val="2E5496"/>
                    </a:solidFill>
                  </a:tcPr>
                </a:tc>
              </a:tr>
              <a:tr h="384048">
                <a:tc>
                  <a:txBody>
                    <a:bodyPr wrap="square"/>
                    <a:lstStyle/>
                    <a:p>
                      <a:r>
                        <a:rPr sz="950" b="0" i="0">
                          <a:solidFill>
                            <a:srgbClr val="202020"/>
                          </a:solidFill>
                          <a:latin typeface="Calibri"/>
                        </a:rPr>
                        <a:t>CPU</a:t>
                      </a:r>
                    </a:p>
                  </a:txBody>
                  <a:tcPr marT="12700" marB="12700">
                    <a:solidFill>
                      <a:srgbClr val="FFFFFF"/>
                    </a:solidFill>
                  </a:tcPr>
                </a:tc>
                <a:tc>
                  <a:txBody>
                    <a:bodyPr wrap="square"/>
                    <a:lstStyle/>
                    <a:p>
                      <a:r>
                        <a:rPr sz="950" b="0" i="0">
                          <a:solidFill>
                            <a:srgbClr val="202020"/>
                          </a:solidFill>
                          <a:latin typeface="Calibri"/>
                        </a:rPr>
                        <a:t>4 vCPU</a:t>
                      </a:r>
                    </a:p>
                  </a:txBody>
                  <a:tcPr marT="12700" marB="12700">
                    <a:solidFill>
                      <a:srgbClr val="FFFFFF"/>
                    </a:solidFill>
                  </a:tcPr>
                </a:tc>
                <a:tc>
                  <a:txBody>
                    <a:bodyPr wrap="square"/>
                    <a:lstStyle/>
                    <a:p>
                      <a:r>
                        <a:rPr sz="950" b="0" i="0">
                          <a:solidFill>
                            <a:srgbClr val="202020"/>
                          </a:solidFill>
                          <a:latin typeface="Calibri"/>
                        </a:rPr>
                        <a:t>Ample; the node is almost always waiting on Graph, not computing</a:t>
                      </a:r>
                    </a:p>
                  </a:txBody>
                  <a:tcPr marT="12700" marB="12700">
                    <a:solidFill>
                      <a:srgbClr val="FFFFFF"/>
                    </a:solidFill>
                  </a:tcPr>
                </a:tc>
              </a:tr>
              <a:tr h="384048">
                <a:tc>
                  <a:txBody>
                    <a:bodyPr wrap="square"/>
                    <a:lstStyle/>
                    <a:p>
                      <a:r>
                        <a:rPr sz="950" b="0" i="0">
                          <a:solidFill>
                            <a:srgbClr val="202020"/>
                          </a:solidFill>
                          <a:latin typeface="Calibri"/>
                        </a:rPr>
                        <a:t>RAM</a:t>
                      </a:r>
                    </a:p>
                  </a:txBody>
                  <a:tcPr marT="12700" marB="12700">
                    <a:solidFill>
                      <a:srgbClr val="F7F9FC"/>
                    </a:solidFill>
                  </a:tcPr>
                </a:tc>
                <a:tc>
                  <a:txBody>
                    <a:bodyPr wrap="square"/>
                    <a:lstStyle/>
                    <a:p>
                      <a:r>
                        <a:rPr sz="950" b="0" i="0">
                          <a:solidFill>
                            <a:srgbClr val="202020"/>
                          </a:solidFill>
                          <a:latin typeface="Calibri"/>
                        </a:rPr>
                        <a:t>8–16 GB</a:t>
                      </a:r>
                    </a:p>
                  </a:txBody>
                  <a:tcPr marT="12700" marB="12700">
                    <a:solidFill>
                      <a:srgbClr val="F7F9FC"/>
                    </a:solidFill>
                  </a:tcPr>
                </a:tc>
                <a:tc>
                  <a:txBody>
                    <a:bodyPr wrap="square"/>
                    <a:lstStyle/>
                    <a:p>
                      <a:r>
                        <a:rPr sz="950" b="0" i="0">
                          <a:solidFill>
                            <a:srgbClr val="202020"/>
                          </a:solidFill>
                          <a:latin typeface="Calibri"/>
                        </a:rPr>
                        <a:t>Working set is small (hundreds of MB under load); headroom for the OS and management agents</a:t>
                      </a:r>
                    </a:p>
                  </a:txBody>
                  <a:tcPr marT="12700" marB="12700">
                    <a:solidFill>
                      <a:srgbClr val="F7F9FC"/>
                    </a:solidFill>
                  </a:tcPr>
                </a:tc>
              </a:tr>
              <a:tr h="384048">
                <a:tc>
                  <a:txBody>
                    <a:bodyPr wrap="square"/>
                    <a:lstStyle/>
                    <a:p>
                      <a:r>
                        <a:rPr sz="950" b="0" i="0">
                          <a:solidFill>
                            <a:srgbClr val="202020"/>
                          </a:solidFill>
                          <a:latin typeface="Calibri"/>
                        </a:rPr>
                        <a:t>Disk</a:t>
                      </a:r>
                    </a:p>
                  </a:txBody>
                  <a:tcPr marT="12700" marB="12700">
                    <a:solidFill>
                      <a:srgbClr val="FFFFFF"/>
                    </a:solidFill>
                  </a:tcPr>
                </a:tc>
                <a:tc>
                  <a:txBody>
                    <a:bodyPr wrap="square"/>
                    <a:lstStyle/>
                    <a:p>
                      <a:r>
                        <a:rPr sz="950" b="0" i="0">
                          <a:solidFill>
                            <a:srgbClr val="202020"/>
                          </a:solidFill>
                          <a:latin typeface="Calibri"/>
                        </a:rPr>
                        <a:t>Modest SSD; size for logs + state + dead-letter</a:t>
                      </a:r>
                    </a:p>
                  </a:txBody>
                  <a:tcPr marT="12700" marB="12700">
                    <a:solidFill>
                      <a:srgbClr val="FFFFFF"/>
                    </a:solidFill>
                  </a:tcPr>
                </a:tc>
                <a:tc>
                  <a:txBody>
                    <a:bodyPr wrap="square"/>
                    <a:lstStyle/>
                    <a:p>
                      <a:r>
                        <a:rPr sz="950" b="0" i="0">
                          <a:solidFill>
                            <a:srgbClr val="202020"/>
                          </a:solidFill>
                          <a:latin typeface="Calibri"/>
                        </a:rPr>
                        <a:t>Log retention (LOG_RETENTION_DAYS) and dead-letter growth, not item volume</a:t>
                      </a:r>
                    </a:p>
                  </a:txBody>
                  <a:tcPr marT="12700" marB="12700">
                    <a:solidFill>
                      <a:srgbClr val="FFFFFF"/>
                    </a:solidFill>
                  </a:tcPr>
                </a:tc>
              </a:tr>
              <a:tr h="384048">
                <a:tc>
                  <a:txBody>
                    <a:bodyPr wrap="square"/>
                    <a:lstStyle/>
                    <a:p>
                      <a:r>
                        <a:rPr sz="950" b="0" i="0">
                          <a:solidFill>
                            <a:srgbClr val="202020"/>
                          </a:solidFill>
                          <a:latin typeface="Calibri"/>
                        </a:rPr>
                        <a:t>Network</a:t>
                      </a:r>
                    </a:p>
                  </a:txBody>
                  <a:tcPr marT="12700" marB="12700">
                    <a:solidFill>
                      <a:srgbClr val="F7F9FC"/>
                    </a:solidFill>
                  </a:tcPr>
                </a:tc>
                <a:tc>
                  <a:txBody>
                    <a:bodyPr wrap="square"/>
                    <a:lstStyle/>
                    <a:p>
                      <a:r>
                        <a:rPr sz="950" b="0" i="0">
                          <a:solidFill>
                            <a:srgbClr val="202020"/>
                          </a:solidFill>
                          <a:latin typeface="Calibri"/>
                        </a:rPr>
                        <a:t>Outbound 443; &lt; 1 MB/s typical</a:t>
                      </a:r>
                    </a:p>
                  </a:txBody>
                  <a:tcPr marT="12700" marB="12700">
                    <a:solidFill>
                      <a:srgbClr val="F7F9FC"/>
                    </a:solidFill>
                  </a:tcPr>
                </a:tc>
                <a:tc>
                  <a:txBody>
                    <a:bodyPr wrap="square"/>
                    <a:lstStyle/>
                    <a:p>
                      <a:r>
                        <a:rPr sz="950" b="0" i="0">
                          <a:solidFill>
                            <a:srgbClr val="202020"/>
                          </a:solidFill>
                          <a:latin typeface="Calibri"/>
                        </a:rPr>
                        <a:t>Item size; 25 items/sec at 4 MB worst-case is &lt;= ~100 MB/s, realistically far less</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114</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9.6 Hardware sizing</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For HA, run two such nodes (section 6.9) — the second is for availability, not speed. For throughput, add shards (section 6.7), not bigger boxes.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115</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9.6 Hardware sizing</a:t>
            </a:r>
          </a:p>
        </p:txBody>
      </p:sp>
      <p:sp>
        <p:nvSpPr>
          <p:cNvPr id="5" name="Rectangle 4"/>
          <p:cNvSpPr/>
          <p:nvPr/>
        </p:nvSpPr>
        <p:spPr>
          <a:xfrm>
            <a:off x="502920" y="1463040"/>
            <a:ext cx="11185855" cy="3291840"/>
          </a:xfrm>
          <a:prstGeom prst="rect">
            <a:avLst/>
          </a:prstGeom>
          <a:solidFill>
            <a:srgbClr val="F0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6A3D9A"/>
                </a:solidFill>
                <a:latin typeface="Calibri"/>
              </a:rPr>
              <a:t>Information to request:  </a:t>
            </a:r>
            <a:r>
              <a:rPr sz="1400" b="1" i="0">
                <a:solidFill>
                  <a:srgbClr val="202020"/>
                </a:solidFill>
                <a:latin typeface="Calibri"/>
              </a:rPr>
              <a:t>Information to request: </a:t>
            </a:r>
            <a:r>
              <a:rPr sz="1400" b="0" i="0">
                <a:solidFill>
                  <a:srgbClr val="202020"/>
                </a:solidFill>
                <a:latin typeface="Calibri"/>
              </a:rPr>
              <a:t>Request from your </a:t>
            </a:r>
            <a:r>
              <a:rPr sz="1400" b="1" i="0">
                <a:solidFill>
                  <a:srgbClr val="202020"/>
                </a:solidFill>
                <a:latin typeface="Calibri"/>
              </a:rPr>
              <a:t>server / platform team</a:t>
            </a:r>
            <a:r>
              <a:rPr sz="1400" b="0" i="0">
                <a:solidFill>
                  <a:srgbClr val="202020"/>
                </a:solidFill>
                <a:latin typeface="Calibri"/>
              </a:rPr>
              <a:t> a </a:t>
            </a:r>
            <a:r>
              <a:rPr sz="1400" b="1" i="0">
                <a:solidFill>
                  <a:srgbClr val="202020"/>
                </a:solidFill>
                <a:latin typeface="Calibri"/>
              </a:rPr>
              <a:t>Windows Server host</a:t>
            </a:r>
            <a:r>
              <a:rPr sz="1400" b="0" i="0">
                <a:solidFill>
                  <a:srgbClr val="202020"/>
                </a:solidFill>
                <a:latin typeface="Calibri"/>
              </a:rPr>
              <a:t> (per environment, per connector) meeting section 9.5, with the </a:t>
            </a:r>
            <a:r>
              <a:rPr sz="1400" b="1" i="0">
                <a:solidFill>
                  <a:srgbClr val="202020"/>
                </a:solidFill>
                <a:latin typeface="Calibri"/>
              </a:rPr>
              <a:t>.NET 10 runtime</a:t>
            </a:r>
            <a:r>
              <a:rPr sz="1400" b="0" i="0">
                <a:solidFill>
                  <a:srgbClr val="202020"/>
                </a:solidFill>
                <a:latin typeface="Calibri"/>
              </a:rPr>
              <a:t> installed and the agreed </a:t>
            </a:r>
            <a:r>
              <a:rPr sz="1400" b="1" i="0">
                <a:solidFill>
                  <a:srgbClr val="202020"/>
                </a:solidFill>
                <a:latin typeface="Calibri"/>
              </a:rPr>
              <a:t>CPU/RAM/disk</a:t>
            </a:r>
            <a:r>
              <a:rPr sz="1400" b="0" i="0">
                <a:solidFill>
                  <a:srgbClr val="202020"/>
                </a:solidFill>
                <a:latin typeface="Calibri"/>
              </a:rPr>
              <a:t>. For HA also request the second node and, from your </a:t>
            </a:r>
            <a:r>
              <a:rPr sz="1400" b="1" i="0">
                <a:solidFill>
                  <a:srgbClr val="202020"/>
                </a:solidFill>
                <a:latin typeface="Calibri"/>
              </a:rPr>
              <a:t>DBA</a:t>
            </a:r>
            <a:r>
              <a:rPr sz="1400" b="0" i="0">
                <a:solidFill>
                  <a:srgbClr val="202020"/>
                </a:solidFill>
                <a:latin typeface="Calibri"/>
              </a:rPr>
              <a:t>, the </a:t>
            </a:r>
            <a:r>
              <a:rPr sz="1400" b="1" i="0">
                <a:solidFill>
                  <a:srgbClr val="202020"/>
                </a:solidFill>
                <a:latin typeface="Calibri"/>
              </a:rPr>
              <a:t>SQL Server database, login and AG listener name</a:t>
            </a:r>
            <a:r>
              <a:rPr sz="1400" b="0" i="0">
                <a:solidFill>
                  <a:srgbClr val="202020"/>
                </a:solidFill>
                <a:latin typeface="Calibri"/>
              </a:rPr>
              <a:t>.</a:t>
            </a:r>
          </a:p>
        </p:txBody>
      </p:sp>
      <p:sp>
        <p:nvSpPr>
          <p:cNvPr id="6" name="Rectangle 5"/>
          <p:cNvSpPr/>
          <p:nvPr/>
        </p:nvSpPr>
        <p:spPr>
          <a:xfrm>
            <a:off x="502920" y="1463040"/>
            <a:ext cx="128016" cy="3291840"/>
          </a:xfrm>
          <a:prstGeom prst="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116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Tenant &amp; Common Concepts</a:t>
            </a:r>
          </a:p>
          <a:p>
            <a:r>
              <a:rPr sz="3000" b="1" i="0">
                <a:solidFill>
                  <a:srgbClr val="1F3864"/>
                </a:solidFill>
                <a:latin typeface="Calibri"/>
              </a:rPr>
              <a:t>10. Monitoring and observability</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117</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 Monitoring and observability</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How you know a connector is healthy, and how you find out fast when it is not. Everything here is off by default and switched on with the environment variables named below.</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118</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10.1 Health, readiness and metrics endpoints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With </a:t>
            </a:r>
            <a:r>
              <a:rPr sz="1200" b="0" i="0">
                <a:solidFill>
                  <a:srgbClr val="202020"/>
                </a:solidFill>
                <a:latin typeface="Consolas"/>
              </a:rPr>
              <a:t>HEALTH_PORT</a:t>
            </a:r>
            <a:r>
              <a:rPr sz="1250" b="0" i="0">
                <a:solidFill>
                  <a:srgbClr val="202020"/>
                </a:solidFill>
                <a:latin typeface="Calibri"/>
              </a:rPr>
              <a:t> set, the connector serves three routes. Point your monitoring at them and firewall the port to the monitoring subnet.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119</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10.1 Health, readiness and metrics endpoints</a:t>
            </a:r>
          </a:p>
        </p:txBody>
      </p:sp>
      <p:graphicFrame>
        <p:nvGraphicFramePr>
          <p:cNvPr id="5" name="Table 4"/>
          <p:cNvGraphicFramePr>
            <a:graphicFrameLocks noGrp="1"/>
          </p:cNvGraphicFramePr>
          <p:nvPr/>
        </p:nvGraphicFramePr>
        <p:xfrm>
          <a:off x="502920" y="1188720"/>
          <a:ext cx="11185855" cy="1536192"/>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Route</a:t>
                      </a:r>
                    </a:p>
                  </a:txBody>
                  <a:tcPr marT="25400" marB="25400">
                    <a:solidFill>
                      <a:srgbClr val="2E5496"/>
                    </a:solidFill>
                  </a:tcPr>
                </a:tc>
                <a:tc>
                  <a:txBody>
                    <a:bodyPr wrap="square"/>
                    <a:lstStyle/>
                    <a:p>
                      <a:r>
                        <a:rPr sz="1050" b="1" i="0">
                          <a:solidFill>
                            <a:srgbClr val="FFFFFF"/>
                          </a:solidFill>
                          <a:latin typeface="Calibri"/>
                        </a:rPr>
                        <a:t>Meaning</a:t>
                      </a:r>
                    </a:p>
                  </a:txBody>
                  <a:tcPr marT="25400" marB="25400">
                    <a:solidFill>
                      <a:srgbClr val="2E5496"/>
                    </a:solidFill>
                  </a:tcPr>
                </a:tc>
                <a:tc>
                  <a:txBody>
                    <a:bodyPr wrap="square"/>
                    <a:lstStyle/>
                    <a:p>
                      <a:r>
                        <a:rPr sz="1050" b="1" i="0">
                          <a:solidFill>
                            <a:srgbClr val="FFFFFF"/>
                          </a:solidFill>
                          <a:latin typeface="Calibri"/>
                        </a:rPr>
                        <a:t>Healthy response</a:t>
                      </a:r>
                    </a:p>
                  </a:txBody>
                  <a:tcPr marT="25400" marB="25400">
                    <a:solidFill>
                      <a:srgbClr val="2E5496"/>
                    </a:solidFill>
                  </a:tcPr>
                </a:tc>
              </a:tr>
              <a:tr h="384048">
                <a:tc>
                  <a:txBody>
                    <a:bodyPr wrap="square"/>
                    <a:lstStyle/>
                    <a:p>
                      <a:r>
                        <a:rPr sz="950" b="0" i="0">
                          <a:solidFill>
                            <a:srgbClr val="202020"/>
                          </a:solidFill>
                          <a:latin typeface="Calibri"/>
                        </a:rPr>
                        <a:t>GET /health</a:t>
                      </a:r>
                    </a:p>
                  </a:txBody>
                  <a:tcPr marT="12700" marB="12700">
                    <a:solidFill>
                      <a:srgbClr val="FFFFFF"/>
                    </a:solidFill>
                  </a:tcPr>
                </a:tc>
                <a:tc>
                  <a:txBody>
                    <a:bodyPr wrap="square"/>
                    <a:lstStyle/>
                    <a:p>
                      <a:r>
                        <a:rPr sz="950" b="0" i="0">
                          <a:solidFill>
                            <a:srgbClr val="202020"/>
                          </a:solidFill>
                          <a:latin typeface="Calibri"/>
                        </a:rPr>
                        <a:t>Liveness — the process is up</a:t>
                      </a:r>
                    </a:p>
                  </a:txBody>
                  <a:tcPr marT="12700" marB="12700">
                    <a:solidFill>
                      <a:srgbClr val="FFFFFF"/>
                    </a:solidFill>
                  </a:tcPr>
                </a:tc>
                <a:tc>
                  <a:txBody>
                    <a:bodyPr wrap="square"/>
                    <a:lstStyle/>
                    <a:p>
                      <a:r>
                        <a:rPr sz="950" b="0" i="0">
                          <a:solidFill>
                            <a:srgbClr val="202020"/>
                          </a:solidFill>
                          <a:latin typeface="Calibri"/>
                        </a:rPr>
                        <a:t>200 OK</a:t>
                      </a:r>
                    </a:p>
                  </a:txBody>
                  <a:tcPr marT="12700" marB="12700">
                    <a:solidFill>
                      <a:srgbClr val="FFFFFF"/>
                    </a:solidFill>
                  </a:tcPr>
                </a:tc>
              </a:tr>
              <a:tr h="384048">
                <a:tc>
                  <a:txBody>
                    <a:bodyPr wrap="square"/>
                    <a:lstStyle/>
                    <a:p>
                      <a:r>
                        <a:rPr sz="950" b="0" i="0">
                          <a:solidFill>
                            <a:srgbClr val="202020"/>
                          </a:solidFill>
                          <a:latin typeface="Calibri"/>
                        </a:rPr>
                        <a:t>GET /ready</a:t>
                      </a:r>
                    </a:p>
                  </a:txBody>
                  <a:tcPr marT="12700" marB="12700">
                    <a:solidFill>
                      <a:srgbClr val="F7F9FC"/>
                    </a:solidFill>
                  </a:tcPr>
                </a:tc>
                <a:tc>
                  <a:txBody>
                    <a:bodyPr wrap="square"/>
                    <a:lstStyle/>
                    <a:p>
                      <a:r>
                        <a:rPr sz="950" b="0" i="0">
                          <a:solidFill>
                            <a:srgbClr val="202020"/>
                          </a:solidFill>
                          <a:latin typeface="Calibri"/>
                        </a:rPr>
                        <a:t>Readiness — configuration is loaded</a:t>
                      </a:r>
                    </a:p>
                  </a:txBody>
                  <a:tcPr marT="12700" marB="12700">
                    <a:solidFill>
                      <a:srgbClr val="F7F9FC"/>
                    </a:solidFill>
                  </a:tcPr>
                </a:tc>
                <a:tc>
                  <a:txBody>
                    <a:bodyPr wrap="square"/>
                    <a:lstStyle/>
                    <a:p>
                      <a:r>
                        <a:rPr sz="950" b="0" i="0">
                          <a:solidFill>
                            <a:srgbClr val="202020"/>
                          </a:solidFill>
                          <a:latin typeface="Calibri"/>
                        </a:rPr>
                        <a:t>200 READY</a:t>
                      </a:r>
                    </a:p>
                  </a:txBody>
                  <a:tcPr marT="12700" marB="12700">
                    <a:solidFill>
                      <a:srgbClr val="F7F9FC"/>
                    </a:solidFill>
                  </a:tcPr>
                </a:tc>
              </a:tr>
              <a:tr h="384048">
                <a:tc>
                  <a:txBody>
                    <a:bodyPr wrap="square"/>
                    <a:lstStyle/>
                    <a:p>
                      <a:r>
                        <a:rPr sz="950" b="0" i="0">
                          <a:solidFill>
                            <a:srgbClr val="202020"/>
                          </a:solidFill>
                          <a:latin typeface="Calibri"/>
                        </a:rPr>
                        <a:t>GET /metrics</a:t>
                      </a:r>
                    </a:p>
                  </a:txBody>
                  <a:tcPr marT="12700" marB="12700">
                    <a:solidFill>
                      <a:srgbClr val="FFFFFF"/>
                    </a:solidFill>
                  </a:tcPr>
                </a:tc>
                <a:tc>
                  <a:txBody>
                    <a:bodyPr wrap="square"/>
                    <a:lstStyle/>
                    <a:p>
                      <a:r>
                        <a:rPr sz="950" b="0" i="0">
                          <a:solidFill>
                            <a:srgbClr val="202020"/>
                          </a:solidFill>
                          <a:latin typeface="Calibri"/>
                        </a:rPr>
                        <a:t>Prometheus-format metrics (refreshed each scrape)</a:t>
                      </a:r>
                    </a:p>
                  </a:txBody>
                  <a:tcPr marT="12700" marB="12700">
                    <a:solidFill>
                      <a:srgbClr val="FFFFFF"/>
                    </a:solidFill>
                  </a:tcPr>
                </a:tc>
                <a:tc>
                  <a:txBody>
                    <a:bodyPr wrap="square"/>
                    <a:lstStyle/>
                    <a:p>
                      <a:r>
                        <a:rPr sz="950" b="0" i="0">
                          <a:solidFill>
                            <a:srgbClr val="202020"/>
                          </a:solidFill>
                          <a:latin typeface="Calibri"/>
                        </a:rPr>
                        <a:t>200 with the metric text below</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120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10.2 The metric families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Metrics are standard Prometheus text (no exporter sidecar needed). Each connector prefixes its metrics with its own name — the Salesforce connector uses </a:t>
            </a:r>
            <a:r>
              <a:rPr sz="1200" b="0" i="0">
                <a:solidFill>
                  <a:srgbClr val="202020"/>
                </a:solidFill>
                <a:latin typeface="Consolas"/>
              </a:rPr>
              <a:t>salesforce_connector_</a:t>
            </a:r>
            <a:r>
              <a:rPr sz="1250" b="0" i="0">
                <a:solidFill>
                  <a:srgbClr val="202020"/>
                </a:solidFill>
                <a:latin typeface="Calibri"/>
              </a:rPr>
              <a:t>; substitute your connector's prefix (its guide names it). The families: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121</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10.2 The metric families</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Metric (suffix after the connector prefix)</a:t>
                      </a:r>
                    </a:p>
                  </a:txBody>
                  <a:tcPr marT="25400" marB="25400">
                    <a:solidFill>
                      <a:srgbClr val="2E5496"/>
                    </a:solidFill>
                  </a:tcPr>
                </a:tc>
                <a:tc>
                  <a:txBody>
                    <a:bodyPr wrap="square"/>
                    <a:lstStyle/>
                    <a:p>
                      <a:r>
                        <a:rPr sz="1050" b="1" i="0">
                          <a:solidFill>
                            <a:srgbClr val="FFFFFF"/>
                          </a:solidFill>
                          <a:latin typeface="Calibri"/>
                        </a:rPr>
                        <a:t>Type</a:t>
                      </a:r>
                    </a:p>
                  </a:txBody>
                  <a:tcPr marT="25400" marB="25400">
                    <a:solidFill>
                      <a:srgbClr val="2E5496"/>
                    </a:solidFill>
                  </a:tcPr>
                </a:tc>
                <a:tc>
                  <a:txBody>
                    <a:bodyPr wrap="square"/>
                    <a:lstStyle/>
                    <a:p>
                      <a:r>
                        <a:rPr sz="1050" b="1" i="0">
                          <a:solidFill>
                            <a:srgbClr val="FFFFFF"/>
                          </a:solidFill>
                          <a:latin typeface="Calibri"/>
                        </a:rPr>
                        <a:t>What it tells you</a:t>
                      </a:r>
                    </a:p>
                  </a:txBody>
                  <a:tcPr marT="25400" marB="25400">
                    <a:solidFill>
                      <a:srgbClr val="2E5496"/>
                    </a:solidFill>
                  </a:tcPr>
                </a:tc>
              </a:tr>
              <a:tr h="384048">
                <a:tc>
                  <a:txBody>
                    <a:bodyPr wrap="square"/>
                    <a:lstStyle/>
                    <a:p>
                      <a:r>
                        <a:rPr sz="950" b="0" i="0">
                          <a:solidFill>
                            <a:srgbClr val="202020"/>
                          </a:solidFill>
                          <a:latin typeface="Calibri"/>
                        </a:rPr>
                        <a:t>items_ingested_total</a:t>
                      </a:r>
                    </a:p>
                  </a:txBody>
                  <a:tcPr marT="12700" marB="12700">
                    <a:solidFill>
                      <a:srgbClr val="FFFFFF"/>
                    </a:solidFill>
                  </a:tcPr>
                </a:tc>
                <a:tc>
                  <a:txBody>
                    <a:bodyPr wrap="square"/>
                    <a:lstStyle/>
                    <a:p>
                      <a:r>
                        <a:rPr sz="950" b="0" i="0">
                          <a:solidFill>
                            <a:srgbClr val="202020"/>
                          </a:solidFill>
                          <a:latin typeface="Calibri"/>
                        </a:rPr>
                        <a:t>counter</a:t>
                      </a:r>
                    </a:p>
                  </a:txBody>
                  <a:tcPr marT="12700" marB="12700">
                    <a:solidFill>
                      <a:srgbClr val="FFFFFF"/>
                    </a:solidFill>
                  </a:tcPr>
                </a:tc>
                <a:tc>
                  <a:txBody>
                    <a:bodyPr wrap="square"/>
                    <a:lstStyle/>
                    <a:p>
                      <a:r>
                        <a:rPr sz="950" b="0" i="0">
                          <a:solidFill>
                            <a:srgbClr val="202020"/>
                          </a:solidFill>
                          <a:latin typeface="Calibri"/>
                        </a:rPr>
                        <a:t>Items successfully pushed</a:t>
                      </a:r>
                    </a:p>
                  </a:txBody>
                  <a:tcPr marT="12700" marB="12700">
                    <a:solidFill>
                      <a:srgbClr val="FFFFFF"/>
                    </a:solidFill>
                  </a:tcPr>
                </a:tc>
              </a:tr>
              <a:tr h="384048">
                <a:tc>
                  <a:txBody>
                    <a:bodyPr wrap="square"/>
                    <a:lstStyle/>
                    <a:p>
                      <a:r>
                        <a:rPr sz="950" b="0" i="0">
                          <a:solidFill>
                            <a:srgbClr val="202020"/>
                          </a:solidFill>
                          <a:latin typeface="Calibri"/>
                        </a:rPr>
                        <a:t>items_failed_total</a:t>
                      </a:r>
                    </a:p>
                  </a:txBody>
                  <a:tcPr marT="12700" marB="12700">
                    <a:solidFill>
                      <a:srgbClr val="F7F9FC"/>
                    </a:solidFill>
                  </a:tcPr>
                </a:tc>
                <a:tc>
                  <a:txBody>
                    <a:bodyPr wrap="square"/>
                    <a:lstStyle/>
                    <a:p>
                      <a:r>
                        <a:rPr sz="950" b="0" i="0">
                          <a:solidFill>
                            <a:srgbClr val="202020"/>
                          </a:solidFill>
                          <a:latin typeface="Calibri"/>
                        </a:rPr>
                        <a:t>counter</a:t>
                      </a:r>
                    </a:p>
                  </a:txBody>
                  <a:tcPr marT="12700" marB="12700">
                    <a:solidFill>
                      <a:srgbClr val="F7F9FC"/>
                    </a:solidFill>
                  </a:tcPr>
                </a:tc>
                <a:tc>
                  <a:txBody>
                    <a:bodyPr wrap="square"/>
                    <a:lstStyle/>
                    <a:p>
                      <a:r>
                        <a:rPr sz="950" b="0" i="0">
                          <a:solidFill>
                            <a:srgbClr val="202020"/>
                          </a:solidFill>
                          <a:latin typeface="Calibri"/>
                        </a:rPr>
                        <a:t>Items that failed to ingest (feed the dead-letter queue)</a:t>
                      </a:r>
                    </a:p>
                  </a:txBody>
                  <a:tcPr marT="12700" marB="12700">
                    <a:solidFill>
                      <a:srgbClr val="F7F9FC"/>
                    </a:solidFill>
                  </a:tcPr>
                </a:tc>
              </a:tr>
              <a:tr h="384048">
                <a:tc>
                  <a:txBody>
                    <a:bodyPr wrap="square"/>
                    <a:lstStyle/>
                    <a:p>
                      <a:r>
                        <a:rPr sz="950" b="0" i="0">
                          <a:solidFill>
                            <a:srgbClr val="202020"/>
                          </a:solidFill>
                          <a:latin typeface="Calibri"/>
                        </a:rPr>
                        <a:t>items_deleted_total</a:t>
                      </a:r>
                    </a:p>
                  </a:txBody>
                  <a:tcPr marT="12700" marB="12700">
                    <a:solidFill>
                      <a:srgbClr val="FFFFFF"/>
                    </a:solidFill>
                  </a:tcPr>
                </a:tc>
                <a:tc>
                  <a:txBody>
                    <a:bodyPr wrap="square"/>
                    <a:lstStyle/>
                    <a:p>
                      <a:r>
                        <a:rPr sz="950" b="0" i="0">
                          <a:solidFill>
                            <a:srgbClr val="202020"/>
                          </a:solidFill>
                          <a:latin typeface="Calibri"/>
                        </a:rPr>
                        <a:t>counter</a:t>
                      </a:r>
                    </a:p>
                  </a:txBody>
                  <a:tcPr marT="12700" marB="12700">
                    <a:solidFill>
                      <a:srgbClr val="FFFFFF"/>
                    </a:solidFill>
                  </a:tcPr>
                </a:tc>
                <a:tc>
                  <a:txBody>
                    <a:bodyPr wrap="square"/>
                    <a:lstStyle/>
                    <a:p>
                      <a:r>
                        <a:rPr sz="950" b="0" i="0">
                          <a:solidFill>
                            <a:srgbClr val="202020"/>
                          </a:solidFill>
                          <a:latin typeface="Calibri"/>
                        </a:rPr>
                        <a:t>Items removed by the deletion sweep</a:t>
                      </a:r>
                    </a:p>
                  </a:txBody>
                  <a:tcPr marT="12700" marB="12700">
                    <a:solidFill>
                      <a:srgbClr val="FFFFFF"/>
                    </a:solidFill>
                  </a:tcPr>
                </a:tc>
              </a:tr>
              <a:tr h="384048">
                <a:tc>
                  <a:txBody>
                    <a:bodyPr wrap="square"/>
                    <a:lstStyle/>
                    <a:p>
                      <a:r>
                        <a:rPr sz="950" b="0" i="0">
                          <a:solidFill>
                            <a:srgbClr val="202020"/>
                          </a:solidFill>
                          <a:latin typeface="Calibri"/>
                        </a:rPr>
                        <a:t>items_skipped_total</a:t>
                      </a:r>
                    </a:p>
                  </a:txBody>
                  <a:tcPr marT="12700" marB="12700">
                    <a:solidFill>
                      <a:srgbClr val="F7F9FC"/>
                    </a:solidFill>
                  </a:tcPr>
                </a:tc>
                <a:tc>
                  <a:txBody>
                    <a:bodyPr wrap="square"/>
                    <a:lstStyle/>
                    <a:p>
                      <a:r>
                        <a:rPr sz="950" b="0" i="0">
                          <a:solidFill>
                            <a:srgbClr val="202020"/>
                          </a:solidFill>
                          <a:latin typeface="Calibri"/>
                        </a:rPr>
                        <a:t>counter</a:t>
                      </a:r>
                    </a:p>
                  </a:txBody>
                  <a:tcPr marT="12700" marB="12700">
                    <a:solidFill>
                      <a:srgbClr val="F7F9FC"/>
                    </a:solidFill>
                  </a:tcPr>
                </a:tc>
                <a:tc>
                  <a:txBody>
                    <a:bodyPr wrap="square"/>
                    <a:lstStyle/>
                    <a:p>
                      <a:r>
                        <a:rPr sz="950" b="0" i="0">
                          <a:solidFill>
                            <a:srgbClr val="202020"/>
                          </a:solidFill>
                          <a:latin typeface="Calibri"/>
                        </a:rPr>
                        <a:t>Items skipped (e.g. already checkpointed)</a:t>
                      </a:r>
                    </a:p>
                  </a:txBody>
                  <a:tcPr marT="12700" marB="12700">
                    <a:solidFill>
                      <a:srgbClr val="F7F9FC"/>
                    </a:solidFill>
                  </a:tcPr>
                </a:tc>
              </a:tr>
              <a:tr h="384048">
                <a:tc>
                  <a:txBody>
                    <a:bodyPr wrap="square"/>
                    <a:lstStyle/>
                    <a:p>
                      <a:r>
                        <a:rPr sz="950" b="0" i="0">
                          <a:solidFill>
                            <a:srgbClr val="202020"/>
                          </a:solidFill>
                          <a:latin typeface="Calibri"/>
                        </a:rPr>
                        <a:t>crawls_started_total / crawls_completed_total</a:t>
                      </a:r>
                    </a:p>
                  </a:txBody>
                  <a:tcPr marT="12700" marB="12700">
                    <a:solidFill>
                      <a:srgbClr val="FFFFFF"/>
                    </a:solidFill>
                  </a:tcPr>
                </a:tc>
                <a:tc>
                  <a:txBody>
                    <a:bodyPr wrap="square"/>
                    <a:lstStyle/>
                    <a:p>
                      <a:r>
                        <a:rPr sz="950" b="0" i="0">
                          <a:solidFill>
                            <a:srgbClr val="202020"/>
                          </a:solidFill>
                          <a:latin typeface="Calibri"/>
                        </a:rPr>
                        <a:t>counters</a:t>
                      </a:r>
                    </a:p>
                  </a:txBody>
                  <a:tcPr marT="12700" marB="12700">
                    <a:solidFill>
                      <a:srgbClr val="FFFFFF"/>
                    </a:solidFill>
                  </a:tcPr>
                </a:tc>
                <a:tc>
                  <a:txBody>
                    <a:bodyPr wrap="square"/>
                    <a:lstStyle/>
                    <a:p>
                      <a:r>
                        <a:rPr sz="950" b="0" i="0">
                          <a:solidFill>
                            <a:srgbClr val="202020"/>
                          </a:solidFill>
                          <a:latin typeface="Calibri"/>
                        </a:rPr>
                        <a:t>Started vs completed — a persistent gap means a crawl is stuck</a:t>
                      </a:r>
                    </a:p>
                  </a:txBody>
                  <a:tcPr marT="12700" marB="12700">
                    <a:solidFill>
                      <a:srgbClr val="FFFFFF"/>
                    </a:solidFill>
                  </a:tcPr>
                </a:tc>
              </a:tr>
              <a:tr h="384048">
                <a:tc>
                  <a:txBody>
                    <a:bodyPr wrap="square"/>
                    <a:lstStyle/>
                    <a:p>
                      <a:r>
                        <a:rPr sz="950" b="0" i="0">
                          <a:solidFill>
                            <a:srgbClr val="202020"/>
                          </a:solidFill>
                          <a:latin typeface="Calibri"/>
                        </a:rPr>
                        <a:t>throttled_429_total</a:t>
                      </a:r>
                    </a:p>
                  </a:txBody>
                  <a:tcPr marT="12700" marB="12700">
                    <a:solidFill>
                      <a:srgbClr val="F7F9FC"/>
                    </a:solidFill>
                  </a:tcPr>
                </a:tc>
                <a:tc>
                  <a:txBody>
                    <a:bodyPr wrap="square"/>
                    <a:lstStyle/>
                    <a:p>
                      <a:r>
                        <a:rPr sz="950" b="0" i="0">
                          <a:solidFill>
                            <a:srgbClr val="202020"/>
                          </a:solidFill>
                          <a:latin typeface="Calibri"/>
                        </a:rPr>
                        <a:t>counter</a:t>
                      </a:r>
                    </a:p>
                  </a:txBody>
                  <a:tcPr marT="12700" marB="12700">
                    <a:solidFill>
                      <a:srgbClr val="F7F9FC"/>
                    </a:solidFill>
                  </a:tcPr>
                </a:tc>
                <a:tc>
                  <a:txBody>
                    <a:bodyPr wrap="square"/>
                    <a:lstStyle/>
                    <a:p>
                      <a:r>
                        <a:rPr sz="950" b="0" i="0">
                          <a:solidFill>
                            <a:srgbClr val="202020"/>
                          </a:solidFill>
                          <a:latin typeface="Calibri"/>
                        </a:rPr>
                        <a:t>429 responses seen — throttling pressure</a:t>
                      </a:r>
                    </a:p>
                  </a:txBody>
                  <a:tcPr marT="12700" marB="12700">
                    <a:solidFill>
                      <a:srgbClr val="F7F9FC"/>
                    </a:solidFill>
                  </a:tcPr>
                </a:tc>
              </a:tr>
              <a:tr h="384048">
                <a:tc>
                  <a:txBody>
                    <a:bodyPr wrap="square"/>
                    <a:lstStyle/>
                    <a:p>
                      <a:r>
                        <a:rPr sz="950" b="0" i="0">
                          <a:solidFill>
                            <a:srgbClr val="202020"/>
                          </a:solidFill>
                          <a:latin typeface="Calibri"/>
                        </a:rPr>
                        <a:t>dead_letter_depth</a:t>
                      </a:r>
                    </a:p>
                  </a:txBody>
                  <a:tcPr marT="12700" marB="12700">
                    <a:solidFill>
                      <a:srgbClr val="FFFFFF"/>
                    </a:solidFill>
                  </a:tcPr>
                </a:tc>
                <a:tc>
                  <a:txBody>
                    <a:bodyPr wrap="square"/>
                    <a:lstStyle/>
                    <a:p>
                      <a:r>
                        <a:rPr sz="950" b="0" i="0">
                          <a:solidFill>
                            <a:srgbClr val="202020"/>
                          </a:solidFill>
                          <a:latin typeface="Calibri"/>
                        </a:rPr>
                        <a:t>gauge</a:t>
                      </a:r>
                    </a:p>
                  </a:txBody>
                  <a:tcPr marT="12700" marB="12700">
                    <a:solidFill>
                      <a:srgbClr val="FFFFFF"/>
                    </a:solidFill>
                  </a:tcPr>
                </a:tc>
                <a:tc>
                  <a:txBody>
                    <a:bodyPr wrap="square"/>
                    <a:lstStyle/>
                    <a:p>
                      <a:r>
                        <a:rPr sz="950" b="0" i="0">
                          <a:solidFill>
                            <a:srgbClr val="202020"/>
                          </a:solidFill>
                          <a:latin typeface="Calibri"/>
                        </a:rPr>
                        <a:t>Current dead-letter backlog (should trend to 0)</a:t>
                      </a:r>
                    </a:p>
                  </a:txBody>
                  <a:tcPr marT="12700" marB="12700">
                    <a:solidFill>
                      <a:srgbClr val="FFFFFF"/>
                    </a:solidFill>
                  </a:tcPr>
                </a:tc>
              </a:tr>
              <a:tr h="384048">
                <a:tc>
                  <a:txBody>
                    <a:bodyPr wrap="square"/>
                    <a:lstStyle/>
                    <a:p>
                      <a:r>
                        <a:rPr sz="950" b="0" i="0">
                          <a:solidFill>
                            <a:srgbClr val="202020"/>
                          </a:solidFill>
                          <a:latin typeface="Calibri"/>
                        </a:rPr>
                        <a:t>adaptive_concurrency_level</a:t>
                      </a:r>
                    </a:p>
                  </a:txBody>
                  <a:tcPr marT="12700" marB="12700">
                    <a:solidFill>
                      <a:srgbClr val="F7F9FC"/>
                    </a:solidFill>
                  </a:tcPr>
                </a:tc>
                <a:tc>
                  <a:txBody>
                    <a:bodyPr wrap="square"/>
                    <a:lstStyle/>
                    <a:p>
                      <a:r>
                        <a:rPr sz="950" b="0" i="0">
                          <a:solidFill>
                            <a:srgbClr val="202020"/>
                          </a:solidFill>
                          <a:latin typeface="Calibri"/>
                        </a:rPr>
                        <a:t>gauge</a:t>
                      </a:r>
                    </a:p>
                  </a:txBody>
                  <a:tcPr marT="12700" marB="12700">
                    <a:solidFill>
                      <a:srgbClr val="F7F9FC"/>
                    </a:solidFill>
                  </a:tcPr>
                </a:tc>
                <a:tc>
                  <a:txBody>
                    <a:bodyPr wrap="square"/>
                    <a:lstStyle/>
                    <a:p>
                      <a:r>
                        <a:rPr sz="950" b="0" i="0">
                          <a:solidFill>
                            <a:srgbClr val="202020"/>
                          </a:solidFill>
                          <a:latin typeface="Calibri"/>
                        </a:rPr>
                        <a:t>Current worker count (pinned at 1 = sustained throttling)</a:t>
                      </a:r>
                    </a:p>
                  </a:txBody>
                  <a:tcPr marT="12700" marB="12700">
                    <a:solidFill>
                      <a:srgbClr val="F7F9FC"/>
                    </a:solidFill>
                  </a:tcPr>
                </a:tc>
              </a:tr>
              <a:tr h="384048">
                <a:tc>
                  <a:txBody>
                    <a:bodyPr wrap="square"/>
                    <a:lstStyle/>
                    <a:p>
                      <a:r>
                        <a:rPr sz="950" b="0" i="0">
                          <a:solidFill>
                            <a:srgbClr val="202020"/>
                          </a:solidFill>
                          <a:latin typeface="Calibri"/>
                        </a:rPr>
                        <a:t>ha_claims_held</a:t>
                      </a:r>
                    </a:p>
                  </a:txBody>
                  <a:tcPr marT="12700" marB="12700">
                    <a:solidFill>
                      <a:srgbClr val="FFFFFF"/>
                    </a:solidFill>
                  </a:tcPr>
                </a:tc>
                <a:tc>
                  <a:txBody>
                    <a:bodyPr wrap="square"/>
                    <a:lstStyle/>
                    <a:p>
                      <a:r>
                        <a:rPr sz="950" b="0" i="0">
                          <a:solidFill>
                            <a:srgbClr val="202020"/>
                          </a:solidFill>
                          <a:latin typeface="Calibri"/>
                        </a:rPr>
                        <a:t>gauge</a:t>
                      </a:r>
                    </a:p>
                  </a:txBody>
                  <a:tcPr marT="12700" marB="12700">
                    <a:solidFill>
                      <a:srgbClr val="FFFFFF"/>
                    </a:solidFill>
                  </a:tcPr>
                </a:tc>
                <a:tc>
                  <a:txBody>
                    <a:bodyPr wrap="square"/>
                    <a:lstStyle/>
                    <a:p>
                      <a:r>
                        <a:rPr sz="950" b="0" i="0">
                          <a:solidFill>
                            <a:srgbClr val="202020"/>
                          </a:solidFill>
                          <a:latin typeface="Calibri"/>
                        </a:rPr>
                        <a:t>Object claims this node holds (HA)</a:t>
                      </a:r>
                    </a:p>
                  </a:txBody>
                  <a:tcPr marT="12700" marB="12700">
                    <a:solidFill>
                      <a:srgbClr val="FFFFFF"/>
                    </a:solidFill>
                  </a:tcPr>
                </a:tc>
              </a:tr>
              <a:tr h="384048">
                <a:tc>
                  <a:txBody>
                    <a:bodyPr wrap="square"/>
                    <a:lstStyle/>
                    <a:p>
                      <a:r>
                        <a:rPr sz="950" b="0" i="0">
                          <a:solidFill>
                            <a:srgbClr val="202020"/>
                          </a:solidFill>
                          <a:latin typeface="Calibri"/>
                        </a:rPr>
                        <a:t>object_records_fetched / object_records_total</a:t>
                      </a:r>
                    </a:p>
                  </a:txBody>
                  <a:tcPr marT="12700" marB="12700">
                    <a:solidFill>
                      <a:srgbClr val="F7F9FC"/>
                    </a:solidFill>
                  </a:tcPr>
                </a:tc>
                <a:tc>
                  <a:txBody>
                    <a:bodyPr wrap="square"/>
                    <a:lstStyle/>
                    <a:p>
                      <a:r>
                        <a:rPr sz="950" b="0" i="0">
                          <a:solidFill>
                            <a:srgbClr val="202020"/>
                          </a:solidFill>
                          <a:latin typeface="Calibri"/>
                        </a:rPr>
                        <a:t>gauges</a:t>
                      </a:r>
                    </a:p>
                  </a:txBody>
                  <a:tcPr marT="12700" marB="12700">
                    <a:solidFill>
                      <a:srgbClr val="F7F9FC"/>
                    </a:solidFill>
                  </a:tcPr>
                </a:tc>
                <a:tc>
                  <a:txBody>
                    <a:bodyPr wrap="square"/>
                    <a:lstStyle/>
                    <a:p>
                      <a:r>
                        <a:rPr sz="950" b="0" i="0">
                          <a:solidFill>
                            <a:srgbClr val="202020"/>
                          </a:solidFill>
                          <a:latin typeface="Calibri"/>
                        </a:rPr>
                        <a:t>Per-object progress vs source count</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122</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10.2 The metric families (cont.)</a:t>
            </a:r>
          </a:p>
        </p:txBody>
      </p:sp>
      <p:graphicFrame>
        <p:nvGraphicFramePr>
          <p:cNvPr id="5" name="Table 4"/>
          <p:cNvGraphicFramePr>
            <a:graphicFrameLocks noGrp="1"/>
          </p:cNvGraphicFramePr>
          <p:nvPr/>
        </p:nvGraphicFramePr>
        <p:xfrm>
          <a:off x="502920" y="1188720"/>
          <a:ext cx="11185855" cy="1152144"/>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Metric (suffix after the connector prefix)</a:t>
                      </a:r>
                    </a:p>
                  </a:txBody>
                  <a:tcPr marT="25400" marB="25400">
                    <a:solidFill>
                      <a:srgbClr val="2E5496"/>
                    </a:solidFill>
                  </a:tcPr>
                </a:tc>
                <a:tc>
                  <a:txBody>
                    <a:bodyPr wrap="square"/>
                    <a:lstStyle/>
                    <a:p>
                      <a:r>
                        <a:rPr sz="1050" b="1" i="0">
                          <a:solidFill>
                            <a:srgbClr val="FFFFFF"/>
                          </a:solidFill>
                          <a:latin typeface="Calibri"/>
                        </a:rPr>
                        <a:t>Type</a:t>
                      </a:r>
                    </a:p>
                  </a:txBody>
                  <a:tcPr marT="25400" marB="25400">
                    <a:solidFill>
                      <a:srgbClr val="2E5496"/>
                    </a:solidFill>
                  </a:tcPr>
                </a:tc>
                <a:tc>
                  <a:txBody>
                    <a:bodyPr wrap="square"/>
                    <a:lstStyle/>
                    <a:p>
                      <a:r>
                        <a:rPr sz="1050" b="1" i="0">
                          <a:solidFill>
                            <a:srgbClr val="FFFFFF"/>
                          </a:solidFill>
                          <a:latin typeface="Calibri"/>
                        </a:rPr>
                        <a:t>What it tells you</a:t>
                      </a:r>
                    </a:p>
                  </a:txBody>
                  <a:tcPr marT="25400" marB="25400">
                    <a:solidFill>
                      <a:srgbClr val="2E5496"/>
                    </a:solidFill>
                  </a:tcPr>
                </a:tc>
              </a:tr>
              <a:tr h="384048">
                <a:tc>
                  <a:txBody>
                    <a:bodyPr wrap="square"/>
                    <a:lstStyle/>
                    <a:p>
                      <a:r>
                        <a:rPr sz="950" b="0" i="0">
                          <a:solidFill>
                            <a:srgbClr val="202020"/>
                          </a:solidFill>
                          <a:latin typeface="Calibri"/>
                        </a:rPr>
                        <a:t>last_crawl_completed_timestamp_seconds</a:t>
                      </a:r>
                    </a:p>
                  </a:txBody>
                  <a:tcPr marT="12700" marB="12700">
                    <a:solidFill>
                      <a:srgbClr val="FFFFFF"/>
                    </a:solidFill>
                  </a:tcPr>
                </a:tc>
                <a:tc>
                  <a:txBody>
                    <a:bodyPr wrap="square"/>
                    <a:lstStyle/>
                    <a:p>
                      <a:r>
                        <a:rPr sz="950" b="0" i="0">
                          <a:solidFill>
                            <a:srgbClr val="202020"/>
                          </a:solidFill>
                          <a:latin typeface="Calibri"/>
                        </a:rPr>
                        <a:t>gauge</a:t>
                      </a:r>
                    </a:p>
                  </a:txBody>
                  <a:tcPr marT="12700" marB="12700">
                    <a:solidFill>
                      <a:srgbClr val="FFFFFF"/>
                    </a:solidFill>
                  </a:tcPr>
                </a:tc>
                <a:tc>
                  <a:txBody>
                    <a:bodyPr wrap="square"/>
                    <a:lstStyle/>
                    <a:p>
                      <a:r>
                        <a:rPr sz="950" b="0" i="0">
                          <a:solidFill>
                            <a:srgbClr val="202020"/>
                          </a:solidFill>
                          <a:latin typeface="Calibri"/>
                        </a:rPr>
                        <a:t>When the last crawl finished (staleness alarm)</a:t>
                      </a:r>
                    </a:p>
                  </a:txBody>
                  <a:tcPr marT="12700" marB="12700">
                    <a:solidFill>
                      <a:srgbClr val="FFFFFF"/>
                    </a:solidFill>
                  </a:tcPr>
                </a:tc>
              </a:tr>
              <a:tr h="384048">
                <a:tc>
                  <a:txBody>
                    <a:bodyPr wrap="square"/>
                    <a:lstStyle/>
                    <a:p>
                      <a:r>
                        <a:rPr sz="950" b="0" i="0">
                          <a:solidFill>
                            <a:srgbClr val="202020"/>
                          </a:solidFill>
                          <a:latin typeface="Calibri"/>
                        </a:rPr>
                        <a:t>uptime_seconds</a:t>
                      </a:r>
                    </a:p>
                  </a:txBody>
                  <a:tcPr marT="12700" marB="12700">
                    <a:solidFill>
                      <a:srgbClr val="F7F9FC"/>
                    </a:solidFill>
                  </a:tcPr>
                </a:tc>
                <a:tc>
                  <a:txBody>
                    <a:bodyPr wrap="square"/>
                    <a:lstStyle/>
                    <a:p>
                      <a:r>
                        <a:rPr sz="950" b="0" i="0">
                          <a:solidFill>
                            <a:srgbClr val="202020"/>
                          </a:solidFill>
                          <a:latin typeface="Calibri"/>
                        </a:rPr>
                        <a:t>gauge</a:t>
                      </a:r>
                    </a:p>
                  </a:txBody>
                  <a:tcPr marT="12700" marB="12700">
                    <a:solidFill>
                      <a:srgbClr val="F7F9FC"/>
                    </a:solidFill>
                  </a:tcPr>
                </a:tc>
                <a:tc>
                  <a:txBody>
                    <a:bodyPr wrap="square"/>
                    <a:lstStyle/>
                    <a:p>
                      <a:r>
                        <a:rPr sz="950" b="0" i="0">
                          <a:solidFill>
                            <a:srgbClr val="202020"/>
                          </a:solidFill>
                          <a:latin typeface="Calibri"/>
                        </a:rPr>
                        <a:t>Seconds since process start (resets = restarts)</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123</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10.3 Dashboards and alert rules (the ops/ folder)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Each connector ships an </a:t>
            </a:r>
            <a:r>
              <a:rPr sz="1200" b="0" i="0">
                <a:solidFill>
                  <a:srgbClr val="202020"/>
                </a:solidFill>
                <a:latin typeface="Consolas"/>
              </a:rPr>
              <a:t>ops/</a:t>
            </a:r>
            <a:r>
              <a:rPr sz="1250" b="0" i="0">
                <a:solidFill>
                  <a:srgbClr val="202020"/>
                </a:solidFill>
                <a:latin typeface="Calibri"/>
              </a:rPr>
              <a:t> folder with ready-made monitoring assets:</a:t>
            </a:r>
          </a:p>
          <a:p>
            <a:pPr>
              <a:spcBef>
                <a:spcPts val="100"/>
              </a:spcBef>
              <a:spcAft>
                <a:spcPts val="200"/>
              </a:spcAft>
            </a:pPr>
            <a:r>
              <a:rPr sz="1250" b="1" i="0">
                <a:solidFill>
                  <a:srgbClr val="2E5496"/>
                </a:solidFill>
                <a:latin typeface="Calibri"/>
              </a:rPr>
              <a:t>•  </a:t>
            </a:r>
            <a:r>
              <a:rPr sz="1250" b="1" i="0">
                <a:solidFill>
                  <a:srgbClr val="202020"/>
                </a:solidFill>
                <a:latin typeface="Calibri"/>
              </a:rPr>
              <a:t>Grafana dashboard</a:t>
            </a:r>
            <a:r>
              <a:rPr sz="1250" b="0" i="0">
                <a:solidFill>
                  <a:srgbClr val="202020"/>
                </a:solidFill>
                <a:latin typeface="Calibri"/>
              </a:rPr>
              <a:t> (</a:t>
            </a:r>
            <a:r>
              <a:rPr sz="1200" b="0" i="0">
                <a:solidFill>
                  <a:srgbClr val="202020"/>
                </a:solidFill>
                <a:latin typeface="Consolas"/>
              </a:rPr>
              <a:t>ops/grafana-dashboard.json</a:t>
            </a:r>
            <a:r>
              <a:rPr sz="1250" b="0" i="0">
                <a:solidFill>
                  <a:srgbClr val="202020"/>
                </a:solidFill>
                <a:latin typeface="Calibri"/>
              </a:rPr>
              <a:t>) — a dozen panels: crawl throughput, dead-letter depth, 429 rate, adaptive concurrency, HA claims held, last-crawl-completed, per-object progress, crawls started vs completed, and node uptime (restart detection). Import it and point it at your Prometheus.</a:t>
            </a:r>
          </a:p>
          <a:p>
            <a:pPr>
              <a:spcBef>
                <a:spcPts val="100"/>
              </a:spcBef>
              <a:spcAft>
                <a:spcPts val="200"/>
              </a:spcAft>
            </a:pPr>
            <a:r>
              <a:rPr sz="1250" b="1" i="0">
                <a:solidFill>
                  <a:srgbClr val="2E5496"/>
                </a:solidFill>
                <a:latin typeface="Calibri"/>
              </a:rPr>
              <a:t>•  </a:t>
            </a:r>
            <a:r>
              <a:rPr sz="1250" b="1" i="0">
                <a:solidFill>
                  <a:srgbClr val="202020"/>
                </a:solidFill>
                <a:latin typeface="Calibri"/>
              </a:rPr>
              <a:t>Prometheus alert rules</a:t>
            </a:r>
            <a:r>
              <a:rPr sz="1250" b="0" i="0">
                <a:solidFill>
                  <a:srgbClr val="202020"/>
                </a:solidFill>
                <a:latin typeface="Calibri"/>
              </a:rPr>
              <a:t> (</a:t>
            </a:r>
            <a:r>
              <a:rPr sz="1200" b="0" i="0">
                <a:solidFill>
                  <a:srgbClr val="202020"/>
                </a:solidFill>
                <a:latin typeface="Consolas"/>
              </a:rPr>
              <a:t>ops/prometheus-alerts.yml</a:t>
            </a:r>
            <a:r>
              <a:rPr sz="1250" b="0" i="0">
                <a:solidFill>
                  <a:srgbClr val="202020"/>
                </a:solidFill>
                <a:latin typeface="Calibri"/>
              </a:rPr>
              <a:t>) — the metric-based alerts, each naming its runbook: connector down, restart loop, crawl stalled / never completed, stuck lease, 429 storm, adaptive concurrency pinned, dead-letter depth high / not draining, and high failure ratio.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124</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10.3 Dashboards and alert rules (the ops/ folder)</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Azure Monitor / Sentinel rules</a:t>
            </a:r>
            <a:r>
              <a:rPr sz="1250" b="0" i="0">
                <a:solidFill>
                  <a:srgbClr val="202020"/>
                </a:solidFill>
                <a:latin typeface="Calibri"/>
              </a:rPr>
              <a:t> (</a:t>
            </a:r>
            <a:r>
              <a:rPr sz="1200" b="0" i="0">
                <a:solidFill>
                  <a:srgbClr val="202020"/>
                </a:solidFill>
                <a:latin typeface="Consolas"/>
              </a:rPr>
              <a:t>ops/azure-monitor-alerts.kql</a:t>
            </a:r>
            <a:r>
              <a:rPr sz="1250" b="0" i="0">
                <a:solidFill>
                  <a:srgbClr val="202020"/>
                </a:solidFill>
                <a:latin typeface="Calibri"/>
              </a:rPr>
              <a:t>) — the log-based failure modes that have no metric: auth failures, deletion-sweep guard trips, dead-letter write failures, crashes and corrupt state.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125</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10.4 Logs, Event Log and SIEM</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Three telemetry feeds, use any combination (full detail in each connector's SIEM guide):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126</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10.4 Logs, Event Log and SIEM</a:t>
            </a:r>
          </a:p>
        </p:txBody>
      </p:sp>
      <p:graphicFrame>
        <p:nvGraphicFramePr>
          <p:cNvPr id="5" name="Table 4"/>
          <p:cNvGraphicFramePr>
            <a:graphicFrameLocks noGrp="1"/>
          </p:cNvGraphicFramePr>
          <p:nvPr/>
        </p:nvGraphicFramePr>
        <p:xfrm>
          <a:off x="502920" y="1188720"/>
          <a:ext cx="11185855" cy="1536192"/>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Feed</a:t>
                      </a:r>
                    </a:p>
                  </a:txBody>
                  <a:tcPr marT="25400" marB="25400">
                    <a:solidFill>
                      <a:srgbClr val="2E5496"/>
                    </a:solidFill>
                  </a:tcPr>
                </a:tc>
                <a:tc>
                  <a:txBody>
                    <a:bodyPr wrap="square"/>
                    <a:lstStyle/>
                    <a:p>
                      <a:r>
                        <a:rPr sz="1050" b="1" i="0">
                          <a:solidFill>
                            <a:srgbClr val="FFFFFF"/>
                          </a:solidFill>
                          <a:latin typeface="Calibri"/>
                        </a:rPr>
                        <a:t>Switch</a:t>
                      </a:r>
                    </a:p>
                  </a:txBody>
                  <a:tcPr marT="25400" marB="25400">
                    <a:solidFill>
                      <a:srgbClr val="2E5496"/>
                    </a:solidFill>
                  </a:tcPr>
                </a:tc>
                <a:tc>
                  <a:txBody>
                    <a:bodyPr wrap="square"/>
                    <a:lstStyle/>
                    <a:p>
                      <a:r>
                        <a:rPr sz="1050" b="1" i="0">
                          <a:solidFill>
                            <a:srgbClr val="FFFFFF"/>
                          </a:solidFill>
                          <a:latin typeface="Calibri"/>
                        </a:rPr>
                        <a:t>Best for</a:t>
                      </a:r>
                    </a:p>
                  </a:txBody>
                  <a:tcPr marT="25400" marB="25400">
                    <a:solidFill>
                      <a:srgbClr val="2E5496"/>
                    </a:solidFill>
                  </a:tcPr>
                </a:tc>
              </a:tr>
              <a:tr h="384048">
                <a:tc>
                  <a:txBody>
                    <a:bodyPr wrap="square"/>
                    <a:lstStyle/>
                    <a:p>
                      <a:r>
                        <a:rPr sz="950" b="0" i="0">
                          <a:solidFill>
                            <a:srgbClr val="202020"/>
                          </a:solidFill>
                          <a:latin typeface="Calibri"/>
                        </a:rPr>
                        <a:t>Windows Event Log</a:t>
                      </a:r>
                    </a:p>
                  </a:txBody>
                  <a:tcPr marT="12700" marB="12700">
                    <a:solidFill>
                      <a:srgbClr val="FFFFFF"/>
                    </a:solidFill>
                  </a:tcPr>
                </a:tc>
                <a:tc>
                  <a:txBody>
                    <a:bodyPr wrap="square"/>
                    <a:lstStyle/>
                    <a:p>
                      <a:r>
                        <a:rPr sz="950" b="0" i="0">
                          <a:solidFill>
                            <a:srgbClr val="202020"/>
                          </a:solidFill>
                          <a:latin typeface="Calibri"/>
                        </a:rPr>
                        <a:t>EVENTLOG_ENABLED=true</a:t>
                      </a:r>
                    </a:p>
                  </a:txBody>
                  <a:tcPr marT="12700" marB="12700">
                    <a:solidFill>
                      <a:srgbClr val="FFFFFF"/>
                    </a:solidFill>
                  </a:tcPr>
                </a:tc>
                <a:tc>
                  <a:txBody>
                    <a:bodyPr wrap="square"/>
                    <a:lstStyle/>
                    <a:p>
                      <a:r>
                        <a:rPr sz="950" b="0" i="0">
                          <a:solidFill>
                            <a:srgbClr val="202020"/>
                          </a:solidFill>
                          <a:latin typeface="Calibri"/>
                        </a:rPr>
                        <a:t>Agent-based Windows fleets; WARNING+/lifecycle only. Source = the connector name; stable ids 1000 (info/lifecycle), 2000 (warning), 3000 (error)</a:t>
                      </a:r>
                    </a:p>
                  </a:txBody>
                  <a:tcPr marT="12700" marB="12700">
                    <a:solidFill>
                      <a:srgbClr val="FFFFFF"/>
                    </a:solidFill>
                  </a:tcPr>
                </a:tc>
              </a:tr>
              <a:tr h="384048">
                <a:tc>
                  <a:txBody>
                    <a:bodyPr wrap="square"/>
                    <a:lstStyle/>
                    <a:p>
                      <a:r>
                        <a:rPr sz="950" b="0" i="0">
                          <a:solidFill>
                            <a:srgbClr val="202020"/>
                          </a:solidFill>
                          <a:latin typeface="Calibri"/>
                        </a:rPr>
                        <a:t>JSON log files</a:t>
                      </a:r>
                    </a:p>
                  </a:txBody>
                  <a:tcPr marT="12700" marB="12700">
                    <a:solidFill>
                      <a:srgbClr val="F7F9FC"/>
                    </a:solidFill>
                  </a:tcPr>
                </a:tc>
                <a:tc>
                  <a:txBody>
                    <a:bodyPr wrap="square"/>
                    <a:lstStyle/>
                    <a:p>
                      <a:r>
                        <a:rPr sz="950" b="0" i="0">
                          <a:solidFill>
                            <a:srgbClr val="202020"/>
                          </a:solidFill>
                          <a:latin typeface="Calibri"/>
                        </a:rPr>
                        <a:t>LOG_FORMAT=json</a:t>
                      </a:r>
                    </a:p>
                  </a:txBody>
                  <a:tcPr marT="12700" marB="12700">
                    <a:solidFill>
                      <a:srgbClr val="F7F9FC"/>
                    </a:solidFill>
                  </a:tcPr>
                </a:tc>
                <a:tc>
                  <a:txBody>
                    <a:bodyPr wrap="square"/>
                    <a:lstStyle/>
                    <a:p>
                      <a:r>
                        <a:rPr sz="950" b="0" i="0">
                          <a:solidFill>
                            <a:srgbClr val="202020"/>
                          </a:solidFill>
                          <a:latin typeface="Calibri"/>
                        </a:rPr>
                        <a:t>File-tail collectors (Sentinel AMA, Splunk UF); one JSON object per line, all levels. Index level/logger/timestamp; keep message searchable</a:t>
                      </a:r>
                    </a:p>
                  </a:txBody>
                  <a:tcPr marT="12700" marB="12700">
                    <a:solidFill>
                      <a:srgbClr val="F7F9FC"/>
                    </a:solidFill>
                  </a:tcPr>
                </a:tc>
              </a:tr>
              <a:tr h="384048">
                <a:tc>
                  <a:txBody>
                    <a:bodyPr wrap="square"/>
                    <a:lstStyle/>
                    <a:p>
                      <a:r>
                        <a:rPr sz="950" b="0" i="0">
                          <a:solidFill>
                            <a:srgbClr val="202020"/>
                          </a:solidFill>
                          <a:latin typeface="Calibri"/>
                        </a:rPr>
                        <a:t>Webhook alerts</a:t>
                      </a:r>
                    </a:p>
                  </a:txBody>
                  <a:tcPr marT="12700" marB="12700">
                    <a:solidFill>
                      <a:srgbClr val="FFFFFF"/>
                    </a:solidFill>
                  </a:tcPr>
                </a:tc>
                <a:tc>
                  <a:txBody>
                    <a:bodyPr wrap="square"/>
                    <a:lstStyle/>
                    <a:p>
                      <a:r>
                        <a:rPr sz="950" b="0" i="0">
                          <a:solidFill>
                            <a:srgbClr val="202020"/>
                          </a:solidFill>
                          <a:latin typeface="Consolas"/>
                        </a:rPr>
                        <a:t>ALERT_WEBHOOK_URL</a:t>
                      </a:r>
                    </a:p>
                  </a:txBody>
                  <a:tcPr marT="12700" marB="12700">
                    <a:solidFill>
                      <a:srgbClr val="FFFFFF"/>
                    </a:solidFill>
                  </a:tcPr>
                </a:tc>
                <a:tc>
                  <a:txBody>
                    <a:bodyPr wrap="square"/>
                    <a:lstStyle/>
                    <a:p>
                      <a:r>
                        <a:rPr sz="950" b="0" i="0">
                          <a:solidFill>
                            <a:srgbClr val="202020"/>
                          </a:solidFill>
                          <a:latin typeface="Calibri"/>
                        </a:rPr>
                        <a:t>Pre-digested alerts (kinds crawl_failed, dead_letter, deletion_sweep_skipped) into a Logic App / endpoint</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127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10.4 Logs, Event Log and SIEM</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Run logs live under </a:t>
            </a:r>
            <a:r>
              <a:rPr sz="1200" b="0" i="0">
                <a:solidFill>
                  <a:srgbClr val="202020"/>
                </a:solidFill>
                <a:latin typeface="Consolas"/>
              </a:rPr>
              <a:t>logs\{prefix}_{timestamp}\</a:t>
            </a:r>
            <a:r>
              <a:rPr sz="1250" b="0" i="0">
                <a:solidFill>
                  <a:srgbClr val="202020"/>
                </a:solidFill>
                <a:latin typeface="Calibri"/>
              </a:rPr>
              <a:t> on each node (local even in SQL mode). Prometheus metrics are for dashboards/alerting — do not ship metric scrapes into the SIEM.</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128</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10.5 Tracing</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Set </a:t>
            </a:r>
            <a:r>
              <a:rPr sz="1200" b="0" i="0">
                <a:solidFill>
                  <a:srgbClr val="202020"/>
                </a:solidFill>
                <a:latin typeface="Consolas"/>
              </a:rPr>
              <a:t>OTEL_EXPORTER_OTLP_ENDPOINT</a:t>
            </a:r>
            <a:r>
              <a:rPr sz="1250" b="0" i="0">
                <a:solidFill>
                  <a:srgbClr val="202020"/>
                </a:solidFill>
                <a:latin typeface="Calibri"/>
              </a:rPr>
              <a:t> (with optional </a:t>
            </a:r>
            <a:r>
              <a:rPr sz="1200" b="0" i="0">
                <a:solidFill>
                  <a:srgbClr val="202020"/>
                </a:solidFill>
                <a:latin typeface="Consolas"/>
              </a:rPr>
              <a:t>OTEL_EXPORTER_OTLP_PROTOCOL</a:t>
            </a:r>
            <a:r>
              <a:rPr sz="1250" b="0" i="0">
                <a:solidFill>
                  <a:srgbClr val="202020"/>
                </a:solidFill>
                <a:latin typeface="Calibri"/>
              </a:rPr>
              <a:t> and </a:t>
            </a:r>
            <a:r>
              <a:rPr sz="1200" b="0" i="0">
                <a:solidFill>
                  <a:srgbClr val="202020"/>
                </a:solidFill>
                <a:latin typeface="Consolas"/>
              </a:rPr>
              <a:t>OTEL_SERVICE_NAME</a:t>
            </a:r>
            <a:r>
              <a:rPr sz="1250" b="0" i="0">
                <a:solidFill>
                  <a:srgbClr val="202020"/>
                </a:solidFill>
                <a:latin typeface="Calibri"/>
              </a:rPr>
              <a:t>) to export OpenTelemetry spans for each crawl cycle and its stages, with a correlation id linking every log line, dead-letter record and span from one run. Export is batched and fire-and-forget, so an unreachable collector never stalls a crawl.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129</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10.6 What good looks like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00" b="0" i="0">
                <a:solidFill>
                  <a:srgbClr val="202020"/>
                </a:solidFill>
                <a:latin typeface="Consolas"/>
              </a:rPr>
              <a:t>/health</a:t>
            </a:r>
            <a:r>
              <a:rPr sz="1250" b="0" i="0">
                <a:solidFill>
                  <a:srgbClr val="202020"/>
                </a:solidFill>
                <a:latin typeface="Calibri"/>
              </a:rPr>
              <a:t> and </a:t>
            </a:r>
            <a:r>
              <a:rPr sz="1200" b="0" i="0">
                <a:solidFill>
                  <a:srgbClr val="202020"/>
                </a:solidFill>
                <a:latin typeface="Consolas"/>
              </a:rPr>
              <a:t>/ready</a:t>
            </a:r>
            <a:r>
              <a:rPr sz="1250" b="0" i="0">
                <a:solidFill>
                  <a:srgbClr val="202020"/>
                </a:solidFill>
                <a:latin typeface="Calibri"/>
              </a:rPr>
              <a:t> return 200; </a:t>
            </a:r>
            <a:r>
              <a:rPr sz="1200" b="0" i="0">
                <a:solidFill>
                  <a:srgbClr val="202020"/>
                </a:solidFill>
                <a:latin typeface="Consolas"/>
              </a:rPr>
              <a:t>uptime_seconds</a:t>
            </a:r>
            <a:r>
              <a:rPr sz="1250" b="0" i="0">
                <a:solidFill>
                  <a:srgbClr val="202020"/>
                </a:solidFill>
                <a:latin typeface="Calibri"/>
              </a:rPr>
              <a:t> climbs steadily (no unexpected resets).</a:t>
            </a:r>
          </a:p>
          <a:p>
            <a:pPr>
              <a:spcBef>
                <a:spcPts val="100"/>
              </a:spcBef>
              <a:spcAft>
                <a:spcPts val="200"/>
              </a:spcAft>
            </a:pPr>
            <a:r>
              <a:rPr sz="1250" b="1" i="0">
                <a:solidFill>
                  <a:srgbClr val="2E5496"/>
                </a:solidFill>
                <a:latin typeface="Calibri"/>
              </a:rPr>
              <a:t>•  </a:t>
            </a:r>
            <a:r>
              <a:rPr sz="1200" b="0" i="0">
                <a:solidFill>
                  <a:srgbClr val="202020"/>
                </a:solidFill>
                <a:latin typeface="Consolas"/>
              </a:rPr>
              <a:t>crawls_completed_total</a:t>
            </a:r>
            <a:r>
              <a:rPr sz="1250" b="0" i="0">
                <a:solidFill>
                  <a:srgbClr val="202020"/>
                </a:solidFill>
                <a:latin typeface="Calibri"/>
              </a:rPr>
              <a:t> advances on schedule and </a:t>
            </a:r>
            <a:r>
              <a:rPr sz="1200" b="0" i="0">
                <a:solidFill>
                  <a:srgbClr val="202020"/>
                </a:solidFill>
                <a:latin typeface="Consolas"/>
              </a:rPr>
              <a:t>last_crawl_completed_timestamp_seconds</a:t>
            </a:r>
            <a:r>
              <a:rPr sz="1250" b="0" i="0">
                <a:solidFill>
                  <a:srgbClr val="202020"/>
                </a:solidFill>
                <a:latin typeface="Calibri"/>
              </a:rPr>
              <a:t> stays fresh (within one schedule interval plus a crawl window).</a:t>
            </a:r>
          </a:p>
          <a:p>
            <a:pPr>
              <a:spcBef>
                <a:spcPts val="100"/>
              </a:spcBef>
              <a:spcAft>
                <a:spcPts val="200"/>
              </a:spcAft>
            </a:pPr>
            <a:r>
              <a:rPr sz="1250" b="1" i="0">
                <a:solidFill>
                  <a:srgbClr val="2E5496"/>
                </a:solidFill>
                <a:latin typeface="Calibri"/>
              </a:rPr>
              <a:t>•  </a:t>
            </a:r>
            <a:r>
              <a:rPr sz="1200" b="0" i="0">
                <a:solidFill>
                  <a:srgbClr val="202020"/>
                </a:solidFill>
                <a:latin typeface="Consolas"/>
              </a:rPr>
              <a:t>dead_letter_depth</a:t>
            </a:r>
            <a:r>
              <a:rPr sz="1250" b="0" i="0">
                <a:solidFill>
                  <a:srgbClr val="202020"/>
                </a:solidFill>
                <a:latin typeface="Calibri"/>
              </a:rPr>
              <a:t> is 0 or trending to 0; </a:t>
            </a:r>
            <a:r>
              <a:rPr sz="1200" b="0" i="0">
                <a:solidFill>
                  <a:srgbClr val="202020"/>
                </a:solidFill>
                <a:latin typeface="Consolas"/>
              </a:rPr>
              <a:t>items_failed_total</a:t>
            </a:r>
            <a:r>
              <a:rPr sz="1250" b="0" i="0">
                <a:solidFill>
                  <a:srgbClr val="202020"/>
                </a:solidFill>
                <a:latin typeface="Calibri"/>
              </a:rPr>
              <a:t> is a tiny fraction of </a:t>
            </a:r>
            <a:r>
              <a:rPr sz="1200" b="0" i="0">
                <a:solidFill>
                  <a:srgbClr val="202020"/>
                </a:solidFill>
                <a:latin typeface="Consolas"/>
              </a:rPr>
              <a:t>items_ingested_total</a:t>
            </a:r>
            <a:r>
              <a:rPr sz="1250" b="0" i="0">
                <a:solidFill>
                  <a:srgbClr val="202020"/>
                </a:solidFill>
                <a:latin typeface="Calibri"/>
              </a:rPr>
              <a:t>.</a:t>
            </a:r>
          </a:p>
          <a:p>
            <a:pPr>
              <a:spcBef>
                <a:spcPts val="100"/>
              </a:spcBef>
              <a:spcAft>
                <a:spcPts val="200"/>
              </a:spcAft>
            </a:pPr>
            <a:r>
              <a:rPr sz="1250" b="1" i="0">
                <a:solidFill>
                  <a:srgbClr val="2E5496"/>
                </a:solidFill>
                <a:latin typeface="Calibri"/>
              </a:rPr>
              <a:t>•  </a:t>
            </a:r>
            <a:r>
              <a:rPr sz="1200" b="0" i="0">
                <a:solidFill>
                  <a:srgbClr val="202020"/>
                </a:solidFill>
                <a:latin typeface="Consolas"/>
              </a:rPr>
              <a:t>throttled_429_total</a:t>
            </a:r>
            <a:r>
              <a:rPr sz="1250" b="0" i="0">
                <a:solidFill>
                  <a:srgbClr val="202020"/>
                </a:solidFill>
                <a:latin typeface="Calibri"/>
              </a:rPr>
              <a:t> may tick during full crawls (normal) but is not a sustained storm; </a:t>
            </a:r>
            <a:r>
              <a:rPr sz="1200" b="0" i="0">
                <a:solidFill>
                  <a:srgbClr val="202020"/>
                </a:solidFill>
                <a:latin typeface="Consolas"/>
              </a:rPr>
              <a:t>adaptive_concurrency_level</a:t>
            </a:r>
            <a:r>
              <a:rPr sz="1250" b="0" i="0">
                <a:solidFill>
                  <a:srgbClr val="202020"/>
                </a:solidFill>
                <a:latin typeface="Calibri"/>
              </a:rPr>
              <a:t> is not pinned at 1 while work is flowing.</a:t>
            </a:r>
          </a:p>
          <a:p>
            <a:pPr>
              <a:spcBef>
                <a:spcPts val="100"/>
              </a:spcBef>
              <a:spcAft>
                <a:spcPts val="200"/>
              </a:spcAft>
            </a:pPr>
            <a:r>
              <a:rPr sz="1250" b="1" i="0">
                <a:solidFill>
                  <a:srgbClr val="2E5496"/>
                </a:solidFill>
                <a:latin typeface="Calibri"/>
              </a:rPr>
              <a:t>•  </a:t>
            </a:r>
            <a:r>
              <a:rPr sz="1250" b="0" i="0">
                <a:solidFill>
                  <a:srgbClr val="202020"/>
                </a:solidFill>
                <a:latin typeface="Calibri"/>
              </a:rPr>
              <a:t>In HA, exactly one crawl is open at a time and </a:t>
            </a:r>
            <a:r>
              <a:rPr sz="1200" b="0" i="0">
                <a:solidFill>
                  <a:srgbClr val="202020"/>
                </a:solidFill>
                <a:latin typeface="Consolas"/>
              </a:rPr>
              <a:t>ha_claims_held</a:t>
            </a:r>
            <a:r>
              <a:rPr sz="1250" b="0" i="0">
                <a:solidFill>
                  <a:srgbClr val="202020"/>
                </a:solidFill>
                <a:latin typeface="Calibri"/>
              </a:rPr>
              <a:t> is shared across nodes.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130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10.6 What good looks like</a:t>
            </a:r>
          </a:p>
        </p:txBody>
      </p:sp>
      <p:sp>
        <p:nvSpPr>
          <p:cNvPr id="5" name="Rectangle 4"/>
          <p:cNvSpPr/>
          <p:nvPr/>
        </p:nvSpPr>
        <p:spPr>
          <a:xfrm>
            <a:off x="502920" y="1463040"/>
            <a:ext cx="11185855" cy="3291840"/>
          </a:xfrm>
          <a:prstGeom prst="rect">
            <a:avLst/>
          </a:prstGeom>
          <a:solidFill>
            <a:srgbClr val="F0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6A3D9A"/>
                </a:solidFill>
                <a:latin typeface="Calibri"/>
              </a:rPr>
              <a:t>Information to request:  </a:t>
            </a:r>
            <a:r>
              <a:rPr sz="1400" b="1" i="0">
                <a:solidFill>
                  <a:srgbClr val="202020"/>
                </a:solidFill>
                <a:latin typeface="Calibri"/>
              </a:rPr>
              <a:t>Information to request: </a:t>
            </a:r>
            <a:r>
              <a:rPr sz="1400" b="0" i="0">
                <a:solidFill>
                  <a:srgbClr val="202020"/>
                </a:solidFill>
                <a:latin typeface="Calibri"/>
              </a:rPr>
              <a:t>Request from your </a:t>
            </a:r>
            <a:r>
              <a:rPr sz="1400" b="1" i="0">
                <a:solidFill>
                  <a:srgbClr val="202020"/>
                </a:solidFill>
                <a:latin typeface="Calibri"/>
              </a:rPr>
              <a:t>monitoring team</a:t>
            </a:r>
            <a:r>
              <a:rPr sz="1400" b="0" i="0">
                <a:solidFill>
                  <a:srgbClr val="202020"/>
                </a:solidFill>
                <a:latin typeface="Calibri"/>
              </a:rPr>
              <a:t> where to send metrics and logs: the </a:t>
            </a:r>
            <a:r>
              <a:rPr sz="1400" b="1" i="0">
                <a:solidFill>
                  <a:srgbClr val="202020"/>
                </a:solidFill>
                <a:latin typeface="Calibri"/>
              </a:rPr>
              <a:t>Prometheus scrape configuration</a:t>
            </a:r>
            <a:r>
              <a:rPr sz="1400" b="0" i="0">
                <a:solidFill>
                  <a:srgbClr val="202020"/>
                </a:solidFill>
                <a:latin typeface="Calibri"/>
              </a:rPr>
              <a:t> (or Azure Monitor workspace) and the </a:t>
            </a:r>
            <a:r>
              <a:rPr sz="1400" b="1" i="0">
                <a:solidFill>
                  <a:srgbClr val="202020"/>
                </a:solidFill>
                <a:latin typeface="Calibri"/>
              </a:rPr>
              <a:t>SIEM ingestion path</a:t>
            </a:r>
            <a:r>
              <a:rPr sz="1400" b="0" i="0">
                <a:solidFill>
                  <a:srgbClr val="202020"/>
                </a:solidFill>
                <a:latin typeface="Calibri"/>
              </a:rPr>
              <a:t> (Sentinel table / Splunk index), plus the </a:t>
            </a:r>
            <a:r>
              <a:rPr sz="1400" b="1" i="0">
                <a:solidFill>
                  <a:srgbClr val="202020"/>
                </a:solidFill>
                <a:latin typeface="Calibri"/>
              </a:rPr>
              <a:t>on-call routing</a:t>
            </a:r>
            <a:r>
              <a:rPr sz="1400" b="0" i="0">
                <a:solidFill>
                  <a:srgbClr val="202020"/>
                </a:solidFill>
                <a:latin typeface="Calibri"/>
              </a:rPr>
              <a:t> for page-level alerts. Agree the </a:t>
            </a:r>
            <a:r>
              <a:rPr sz="1400" b="1" i="0">
                <a:solidFill>
                  <a:srgbClr val="202020"/>
                </a:solidFill>
                <a:latin typeface="Calibri"/>
              </a:rPr>
              <a:t>HEALTH_PORT</a:t>
            </a:r>
            <a:r>
              <a:rPr sz="1400" b="0" i="0">
                <a:solidFill>
                  <a:srgbClr val="202020"/>
                </a:solidFill>
                <a:latin typeface="Calibri"/>
              </a:rPr>
              <a:t> and confirm the </a:t>
            </a:r>
            <a:r>
              <a:rPr sz="1400" b="1" i="0">
                <a:solidFill>
                  <a:srgbClr val="202020"/>
                </a:solidFill>
                <a:latin typeface="Calibri"/>
              </a:rPr>
              <a:t>firewall</a:t>
            </a:r>
            <a:r>
              <a:rPr sz="1400" b="0" i="0">
                <a:solidFill>
                  <a:srgbClr val="202020"/>
                </a:solidFill>
                <a:latin typeface="Calibri"/>
              </a:rPr>
              <a:t> allows the monitoring subnet to reach it.</a:t>
            </a:r>
          </a:p>
        </p:txBody>
      </p:sp>
      <p:sp>
        <p:nvSpPr>
          <p:cNvPr id="6" name="Rectangle 5"/>
          <p:cNvSpPr/>
          <p:nvPr/>
        </p:nvSpPr>
        <p:spPr>
          <a:xfrm>
            <a:off x="502920" y="1463040"/>
            <a:ext cx="128016" cy="3291840"/>
          </a:xfrm>
          <a:prstGeom prst="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131</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Tenant &amp; Common Concepts</a:t>
            </a:r>
          </a:p>
          <a:p>
            <a:r>
              <a:rPr sz="3000" b="1" i="0">
                <a:solidFill>
                  <a:srgbClr val="1F3864"/>
                </a:solidFill>
                <a:latin typeface="Calibri"/>
              </a:rPr>
              <a:t>11. Operations, support and disaster recovery</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132</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 Operations, support and disaster recovery</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day-to-day of keeping a connector running, and what to do when something breaks. The reassuring headline: the connector's state is a cache of work already done, so most failures cost re-crawl time, not data.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133</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11.1 Routine tasks</a:t>
            </a:r>
          </a:p>
        </p:txBody>
      </p:sp>
      <p:graphicFrame>
        <p:nvGraphicFramePr>
          <p:cNvPr id="5" name="Table 4"/>
          <p:cNvGraphicFramePr>
            <a:graphicFrameLocks noGrp="1"/>
          </p:cNvGraphicFramePr>
          <p:nvPr/>
        </p:nvGraphicFramePr>
        <p:xfrm>
          <a:off x="502920" y="1188720"/>
          <a:ext cx="11185855" cy="2688336"/>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Task</a:t>
                      </a:r>
                    </a:p>
                  </a:txBody>
                  <a:tcPr marT="25400" marB="25400">
                    <a:solidFill>
                      <a:srgbClr val="2E5496"/>
                    </a:solidFill>
                  </a:tcPr>
                </a:tc>
                <a:tc>
                  <a:txBody>
                    <a:bodyPr wrap="square"/>
                    <a:lstStyle/>
                    <a:p>
                      <a:r>
                        <a:rPr sz="1050" b="1" i="0">
                          <a:solidFill>
                            <a:srgbClr val="FFFFFF"/>
                          </a:solidFill>
                          <a:latin typeface="Calibri"/>
                        </a:rPr>
                        <a:t>How</a:t>
                      </a:r>
                    </a:p>
                  </a:txBody>
                  <a:tcPr marT="25400" marB="25400">
                    <a:solidFill>
                      <a:srgbClr val="2E5496"/>
                    </a:solidFill>
                  </a:tcPr>
                </a:tc>
                <a:tc>
                  <a:txBody>
                    <a:bodyPr wrap="square"/>
                    <a:lstStyle/>
                    <a:p>
                      <a:r>
                        <a:rPr sz="1050" b="1" i="0">
                          <a:solidFill>
                            <a:srgbClr val="FFFFFF"/>
                          </a:solidFill>
                          <a:latin typeface="Calibri"/>
                        </a:rPr>
                        <a:t>Cadence</a:t>
                      </a:r>
                    </a:p>
                  </a:txBody>
                  <a:tcPr marT="25400" marB="25400">
                    <a:solidFill>
                      <a:srgbClr val="2E5496"/>
                    </a:solidFill>
                  </a:tcPr>
                </a:tc>
              </a:tr>
              <a:tr h="384048">
                <a:tc>
                  <a:txBody>
                    <a:bodyPr wrap="square"/>
                    <a:lstStyle/>
                    <a:p>
                      <a:r>
                        <a:rPr sz="950" b="0" i="0">
                          <a:solidFill>
                            <a:srgbClr val="202020"/>
                          </a:solidFill>
                          <a:latin typeface="Calibri"/>
                        </a:rPr>
                        <a:t>Let incrementals run</a:t>
                      </a:r>
                    </a:p>
                  </a:txBody>
                  <a:tcPr marT="12700" marB="12700">
                    <a:solidFill>
                      <a:srgbClr val="FFFFFF"/>
                    </a:solidFill>
                  </a:tcPr>
                </a:tc>
                <a:tc>
                  <a:txBody>
                    <a:bodyPr wrap="square"/>
                    <a:lstStyle/>
                    <a:p>
                      <a:r>
                        <a:rPr sz="950" b="0" i="0">
                          <a:solidFill>
                            <a:srgbClr val="202020"/>
                          </a:solidFill>
                          <a:latin typeface="Calibri"/>
                        </a:rPr>
                        <a:t>The service runs ingest --continuous; incrementals every ~4h, full per the stagger plan</a:t>
                      </a:r>
                    </a:p>
                  </a:txBody>
                  <a:tcPr marT="12700" marB="12700">
                    <a:solidFill>
                      <a:srgbClr val="FFFFFF"/>
                    </a:solidFill>
                  </a:tcPr>
                </a:tc>
                <a:tc>
                  <a:txBody>
                    <a:bodyPr wrap="square"/>
                    <a:lstStyle/>
                    <a:p>
                      <a:r>
                        <a:rPr sz="950" b="0" i="0">
                          <a:solidFill>
                            <a:srgbClr val="202020"/>
                          </a:solidFill>
                          <a:latin typeface="Calibri"/>
                        </a:rPr>
                        <a:t>Automatic</a:t>
                      </a:r>
                    </a:p>
                  </a:txBody>
                  <a:tcPr marT="12700" marB="12700">
                    <a:solidFill>
                      <a:srgbClr val="FFFFFF"/>
                    </a:solidFill>
                  </a:tcPr>
                </a:tc>
              </a:tr>
              <a:tr h="384048">
                <a:tc>
                  <a:txBody>
                    <a:bodyPr wrap="square"/>
                    <a:lstStyle/>
                    <a:p>
                      <a:r>
                        <a:rPr sz="950" b="0" i="0">
                          <a:solidFill>
                            <a:srgbClr val="202020"/>
                          </a:solidFill>
                          <a:latin typeface="Calibri"/>
                        </a:rPr>
                        <a:t>Drain the dead-letter queue</a:t>
                      </a:r>
                    </a:p>
                  </a:txBody>
                  <a:tcPr marT="12700" marB="12700">
                    <a:solidFill>
                      <a:srgbClr val="F7F9FC"/>
                    </a:solidFill>
                  </a:tcPr>
                </a:tc>
                <a:tc>
                  <a:txBody>
                    <a:bodyPr wrap="square"/>
                    <a:lstStyle/>
                    <a:p>
                      <a:r>
                        <a:rPr sz="950" b="0" i="0">
                          <a:solidFill>
                            <a:srgbClr val="202020"/>
                          </a:solidFill>
                          <a:latin typeface="Calibri"/>
                        </a:rPr>
                        <a:t>retry-failed --clear-on-success after fixing the cause</a:t>
                      </a:r>
                    </a:p>
                  </a:txBody>
                  <a:tcPr marT="12700" marB="12700">
                    <a:solidFill>
                      <a:srgbClr val="F7F9FC"/>
                    </a:solidFill>
                  </a:tcPr>
                </a:tc>
                <a:tc>
                  <a:txBody>
                    <a:bodyPr wrap="square"/>
                    <a:lstStyle/>
                    <a:p>
                      <a:r>
                        <a:rPr sz="950" b="0" i="0">
                          <a:solidFill>
                            <a:srgbClr val="202020"/>
                          </a:solidFill>
                          <a:latin typeface="Calibri"/>
                        </a:rPr>
                        <a:t>When dead_letter_depth is non-zero</a:t>
                      </a:r>
                    </a:p>
                  </a:txBody>
                  <a:tcPr marT="12700" marB="12700">
                    <a:solidFill>
                      <a:srgbClr val="F7F9FC"/>
                    </a:solidFill>
                  </a:tcPr>
                </a:tc>
              </a:tr>
              <a:tr h="384048">
                <a:tc>
                  <a:txBody>
                    <a:bodyPr wrap="square"/>
                    <a:lstStyle/>
                    <a:p>
                      <a:r>
                        <a:rPr sz="950" b="0" i="0">
                          <a:solidFill>
                            <a:srgbClr val="202020"/>
                          </a:solidFill>
                          <a:latin typeface="Calibri"/>
                        </a:rPr>
                        <a:t>Assurance / drift check</a:t>
                      </a:r>
                    </a:p>
                  </a:txBody>
                  <a:tcPr marT="12700" marB="12700">
                    <a:solidFill>
                      <a:srgbClr val="FFFFFF"/>
                    </a:solidFill>
                  </a:tcPr>
                </a:tc>
                <a:tc>
                  <a:txBody>
                    <a:bodyPr wrap="square"/>
                    <a:lstStyle/>
                    <a:p>
                      <a:r>
                        <a:rPr sz="950" b="0" i="0">
                          <a:solidFill>
                            <a:srgbClr val="202020"/>
                          </a:solidFill>
                          <a:latin typeface="Calibri"/>
                        </a:rPr>
                        <a:t>reconcile (report), reconcile --fix (repair index-vs-source drift)</a:t>
                      </a:r>
                    </a:p>
                  </a:txBody>
                  <a:tcPr marT="12700" marB="12700">
                    <a:solidFill>
                      <a:srgbClr val="FFFFFF"/>
                    </a:solidFill>
                  </a:tcPr>
                </a:tc>
                <a:tc>
                  <a:txBody>
                    <a:bodyPr wrap="square"/>
                    <a:lstStyle/>
                    <a:p>
                      <a:r>
                        <a:rPr sz="950" b="0" i="0">
                          <a:solidFill>
                            <a:srgbClr val="202020"/>
                          </a:solidFill>
                          <a:latin typeface="Calibri"/>
                        </a:rPr>
                        <a:t>Periodically and after any restore</a:t>
                      </a:r>
                    </a:p>
                  </a:txBody>
                  <a:tcPr marT="12700" marB="12700">
                    <a:solidFill>
                      <a:srgbClr val="FFFFFF"/>
                    </a:solidFill>
                  </a:tcPr>
                </a:tc>
              </a:tr>
              <a:tr h="384048">
                <a:tc>
                  <a:txBody>
                    <a:bodyPr wrap="square"/>
                    <a:lstStyle/>
                    <a:p>
                      <a:r>
                        <a:rPr sz="950" b="0" i="0">
                          <a:solidFill>
                            <a:srgbClr val="202020"/>
                          </a:solidFill>
                          <a:latin typeface="Calibri"/>
                        </a:rPr>
                        <a:t>Prune old logs/history</a:t>
                      </a:r>
                    </a:p>
                  </a:txBody>
                  <a:tcPr marT="12700" marB="12700">
                    <a:solidFill>
                      <a:srgbClr val="F7F9FC"/>
                    </a:solidFill>
                  </a:tcPr>
                </a:tc>
                <a:tc>
                  <a:txBody>
                    <a:bodyPr wrap="square"/>
                    <a:lstStyle/>
                    <a:p>
                      <a:r>
                        <a:rPr sz="950" b="0" i="0">
                          <a:solidFill>
                            <a:srgbClr val="202020"/>
                          </a:solidFill>
                          <a:latin typeface="Calibri"/>
                        </a:rPr>
                        <a:t>LOG_RETENTION_DAYS=N (prunes run dirs and, on SQL, history)</a:t>
                      </a:r>
                    </a:p>
                  </a:txBody>
                  <a:tcPr marT="12700" marB="12700">
                    <a:solidFill>
                      <a:srgbClr val="F7F9FC"/>
                    </a:solidFill>
                  </a:tcPr>
                </a:tc>
                <a:tc>
                  <a:txBody>
                    <a:bodyPr wrap="square"/>
                    <a:lstStyle/>
                    <a:p>
                      <a:r>
                        <a:rPr sz="950" b="0" i="0">
                          <a:solidFill>
                            <a:srgbClr val="202020"/>
                          </a:solidFill>
                          <a:latin typeface="Calibri"/>
                        </a:rPr>
                        <a:t>Set once</a:t>
                      </a:r>
                    </a:p>
                  </a:txBody>
                  <a:tcPr marT="12700" marB="12700">
                    <a:solidFill>
                      <a:srgbClr val="F7F9FC"/>
                    </a:solidFill>
                  </a:tcPr>
                </a:tc>
              </a:tr>
              <a:tr h="384048">
                <a:tc>
                  <a:txBody>
                    <a:bodyPr wrap="square"/>
                    <a:lstStyle/>
                    <a:p>
                      <a:r>
                        <a:rPr sz="950" b="0" i="0">
                          <a:solidFill>
                            <a:srgbClr val="202020"/>
                          </a:solidFill>
                          <a:latin typeface="Calibri"/>
                        </a:rPr>
                        <a:t>Rotate credentials</a:t>
                      </a:r>
                    </a:p>
                  </a:txBody>
                  <a:tcPr marT="12700" marB="12700">
                    <a:solidFill>
                      <a:srgbClr val="FFFFFF"/>
                    </a:solidFill>
                  </a:tcPr>
                </a:tc>
                <a:tc>
                  <a:txBody>
                    <a:bodyPr wrap="square"/>
                    <a:lstStyle/>
                    <a:p>
                      <a:r>
                        <a:rPr sz="950" b="0" i="0">
                          <a:solidFill>
                            <a:srgbClr val="202020"/>
                          </a:solidFill>
                          <a:latin typeface="Calibri"/>
                        </a:rPr>
                        <a:t>Zero-downtime add/point/restart/retire (section 7.8)</a:t>
                      </a:r>
                    </a:p>
                  </a:txBody>
                  <a:tcPr marT="12700" marB="12700">
                    <a:solidFill>
                      <a:srgbClr val="FFFFFF"/>
                    </a:solidFill>
                  </a:tcPr>
                </a:tc>
                <a:tc>
                  <a:txBody>
                    <a:bodyPr wrap="square"/>
                    <a:lstStyle/>
                    <a:p>
                      <a:r>
                        <a:rPr sz="950" b="0" i="0">
                          <a:solidFill>
                            <a:srgbClr val="202020"/>
                          </a:solidFill>
                          <a:latin typeface="Calibri"/>
                        </a:rPr>
                        <a:t>Before expiry; on staff departure or compromise</a:t>
                      </a:r>
                    </a:p>
                  </a:txBody>
                  <a:tcPr marT="12700" marB="12700">
                    <a:solidFill>
                      <a:srgbClr val="FFFFFF"/>
                    </a:solidFill>
                  </a:tcPr>
                </a:tc>
              </a:tr>
              <a:tr h="384048">
                <a:tc>
                  <a:txBody>
                    <a:bodyPr wrap="square"/>
                    <a:lstStyle/>
                    <a:p>
                      <a:r>
                        <a:rPr sz="950" b="0" i="0">
                          <a:solidFill>
                            <a:srgbClr val="202020"/>
                          </a:solidFill>
                          <a:latin typeface="Calibri"/>
                        </a:rPr>
                        <a:t>Validate after any change</a:t>
                      </a:r>
                    </a:p>
                  </a:txBody>
                  <a:tcPr marT="12700" marB="12700">
                    <a:solidFill>
                      <a:srgbClr val="F7F9FC"/>
                    </a:solidFill>
                  </a:tcPr>
                </a:tc>
                <a:tc>
                  <a:txBody>
                    <a:bodyPr wrap="square"/>
                    <a:lstStyle/>
                    <a:p>
                      <a:r>
                        <a:rPr sz="950" b="0" i="0">
                          <a:solidFill>
                            <a:srgbClr val="202020"/>
                          </a:solidFill>
                          <a:latin typeface="Calibri"/>
                        </a:rPr>
                        <a:t>validate-config --strict (exit 0)</a:t>
                      </a:r>
                    </a:p>
                  </a:txBody>
                  <a:tcPr marT="12700" marB="12700">
                    <a:solidFill>
                      <a:srgbClr val="F7F9FC"/>
                    </a:solidFill>
                  </a:tcPr>
                </a:tc>
                <a:tc>
                  <a:txBody>
                    <a:bodyPr wrap="square"/>
                    <a:lstStyle/>
                    <a:p>
                      <a:r>
                        <a:rPr sz="950" b="0" i="0">
                          <a:solidFill>
                            <a:srgbClr val="202020"/>
                          </a:solidFill>
                          <a:latin typeface="Calibri"/>
                        </a:rPr>
                        <a:t>Every config change / upgrade</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134</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11.2 Backup and restore of state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Back up the connector's </a:t>
            </a:r>
            <a:r>
              <a:rPr sz="1250" b="1" i="0">
                <a:solidFill>
                  <a:srgbClr val="202020"/>
                </a:solidFill>
                <a:latin typeface="Calibri"/>
              </a:rPr>
              <a:t>state</a:t>
            </a:r>
            <a:r>
              <a:rPr sz="1250" b="0" i="0">
                <a:solidFill>
                  <a:srgbClr val="202020"/>
                </a:solidFill>
                <a:latin typeface="Calibri"/>
              </a:rPr>
              <a:t> (identity store, item inventory, sync timestamps, checkpoints, dead-letter queue, plus non-secret config). On the file/SQLite backend, the safest backup is a </a:t>
            </a:r>
            <a:r>
              <a:rPr sz="1250" b="1" i="0">
                <a:solidFill>
                  <a:srgbClr val="202020"/>
                </a:solidFill>
                <a:latin typeface="Calibri"/>
              </a:rPr>
              <a:t>cold copy</a:t>
            </a:r>
            <a:r>
              <a:rPr sz="1250" b="0" i="0">
                <a:solidFill>
                  <a:srgbClr val="202020"/>
                </a:solidFill>
                <a:latin typeface="Calibri"/>
              </a:rPr>
              <a:t> (graceful stop, copy </a:t>
            </a:r>
            <a:r>
              <a:rPr sz="1200" b="0" i="0">
                <a:solidFill>
                  <a:srgbClr val="202020"/>
                </a:solidFill>
                <a:latin typeface="Consolas"/>
              </a:rPr>
              <a:t>data\</a:t>
            </a:r>
            <a:r>
              <a:rPr sz="1250" b="0" i="0">
                <a:solidFill>
                  <a:srgbClr val="202020"/>
                </a:solidFill>
                <a:latin typeface="Calibri"/>
              </a:rPr>
              <a:t> and the </a:t>
            </a:r>
            <a:r>
              <a:rPr sz="1200" b="0" i="0">
                <a:solidFill>
                  <a:srgbClr val="202020"/>
                </a:solidFill>
                <a:latin typeface="Consolas"/>
              </a:rPr>
              <a:t>logs\</a:t>
            </a:r>
            <a:r>
              <a:rPr sz="1250" b="0" i="0">
                <a:solidFill>
                  <a:srgbClr val="202020"/>
                </a:solidFill>
                <a:latin typeface="Calibri"/>
              </a:rPr>
              <a:t> state files, start — seconds of downtime), or a hot copy using SQLite's online backup API. On the SQL backend, use native </a:t>
            </a:r>
            <a:r>
              <a:rPr sz="1200" b="0" i="0">
                <a:solidFill>
                  <a:srgbClr val="202020"/>
                </a:solidFill>
                <a:latin typeface="Consolas"/>
              </a:rPr>
              <a:t>BACKUP DATABASE</a:t>
            </a:r>
            <a:r>
              <a:rPr sz="1250" b="0" i="0">
                <a:solidFill>
                  <a:srgbClr val="202020"/>
                </a:solidFill>
                <a:latin typeface="Calibri"/>
              </a:rPr>
              <a:t> (simple recovery + daily fulls is proportionate for re-crawlable state; an Availability Group failover is not a DR event). Restore is: stop, put the state back, start — the connector resumes from the restored checkpoint and the next incremental covers the gap.</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135</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11.3 RPO and RTO in plain language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source system is the system of record; the Graph connection holds the searchable index; the connector's state is only bookkeeping that makes the next crawl incremental instead of full. Therefore:</a:t>
            </a:r>
          </a:p>
          <a:p>
            <a:pPr>
              <a:spcBef>
                <a:spcPts val="100"/>
              </a:spcBef>
              <a:spcAft>
                <a:spcPts val="200"/>
              </a:spcAft>
            </a:pPr>
            <a:r>
              <a:rPr sz="1250" b="1" i="0">
                <a:solidFill>
                  <a:srgbClr val="2E5496"/>
                </a:solidFill>
                <a:latin typeface="Calibri"/>
              </a:rPr>
              <a:t>•  </a:t>
            </a:r>
            <a:r>
              <a:rPr sz="1250" b="1" i="0">
                <a:solidFill>
                  <a:srgbClr val="202020"/>
                </a:solidFill>
                <a:latin typeface="Calibri"/>
              </a:rPr>
              <a:t>RPO (how much you can lose)</a:t>
            </a:r>
            <a:r>
              <a:rPr sz="1250" b="0" i="0">
                <a:solidFill>
                  <a:srgbClr val="202020"/>
                </a:solidFill>
                <a:latin typeface="Calibri"/>
              </a:rPr>
              <a:t> — losing all state means the next run is a </a:t>
            </a:r>
            <a:r>
              <a:rPr sz="1250" b="1" i="0">
                <a:solidFill>
                  <a:srgbClr val="202020"/>
                </a:solidFill>
                <a:latin typeface="Calibri"/>
              </a:rPr>
              <a:t>full crawl</a:t>
            </a:r>
            <a:r>
              <a:rPr sz="1250" b="0" i="0">
                <a:solidFill>
                  <a:srgbClr val="202020"/>
                </a:solidFill>
                <a:latin typeface="Calibri"/>
              </a:rPr>
              <a:t> (hours, per section 8), and the current dead-letter backlog is simply re-attempted by that full crawl. </a:t>
            </a:r>
            <a:r>
              <a:rPr sz="1250" b="1" i="0">
                <a:solidFill>
                  <a:srgbClr val="202020"/>
                </a:solidFill>
                <a:latin typeface="Calibri"/>
              </a:rPr>
              <a:t>Nothing customer-visible is lost permanently.</a:t>
            </a:r>
          </a:p>
          <a:p>
            <a:pPr>
              <a:spcBef>
                <a:spcPts val="100"/>
              </a:spcBef>
              <a:spcAft>
                <a:spcPts val="200"/>
              </a:spcAft>
            </a:pPr>
            <a:r>
              <a:rPr sz="1250" b="1" i="0">
                <a:solidFill>
                  <a:srgbClr val="2E5496"/>
                </a:solidFill>
                <a:latin typeface="Calibri"/>
              </a:rPr>
              <a:t>•  </a:t>
            </a:r>
            <a:r>
              <a:rPr sz="1250" b="1" i="0">
                <a:solidFill>
                  <a:srgbClr val="202020"/>
                </a:solidFill>
                <a:latin typeface="Calibri"/>
              </a:rPr>
              <a:t>RTO (how fast you recover)</a:t>
            </a:r>
            <a:r>
              <a:rPr sz="1250" b="0" i="0">
                <a:solidFill>
                  <a:srgbClr val="202020"/>
                </a:solidFill>
                <a:latin typeface="Calibri"/>
              </a:rPr>
              <a:t> — reinstall is minutes; then either restore state (minutes) or accept the full re-crawl window. Crucially, </a:t>
            </a:r>
            <a:r>
              <a:rPr sz="1250" b="1" i="0">
                <a:solidFill>
                  <a:srgbClr val="202020"/>
                </a:solidFill>
                <a:latin typeface="Calibri"/>
              </a:rPr>
              <a:t>the index itself survives in the Graph connection regardless of connector state</a:t>
            </a:r>
            <a:r>
              <a:rPr sz="1250" b="0" i="0">
                <a:solidFill>
                  <a:srgbClr val="202020"/>
                </a:solidFill>
                <a:latin typeface="Calibri"/>
              </a:rPr>
              <a:t> — a dead connector means a *stale* index, not an empty one.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136</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11.3 RPO and RTO in plain language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Practical target</a:t>
            </a:r>
            <a:r>
              <a:rPr sz="1250" b="0" i="0">
                <a:solidFill>
                  <a:srgbClr val="202020"/>
                </a:solidFill>
                <a:latin typeface="Calibri"/>
              </a:rPr>
              <a:t> — back up state daily, accept up to ~24h of bookkeeping loss, and treat anything worse as "just run a full crawl".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137</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11.3 RPO and RTO in plain language</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The one exception to "state loss = re-crawl cost, not data loss" is any connector that documents an authoritative local step (for example an audit or erasure record). Check the per-connector guide's DR section — where a connector says its state is more than a cache, follow that guide.</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138</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11.4 Upgrade and rollback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1.  </a:t>
            </a:r>
            <a:r>
              <a:rPr sz="1250" b="0" i="0">
                <a:solidFill>
                  <a:srgbClr val="202020"/>
                </a:solidFill>
                <a:latin typeface="Calibri"/>
              </a:rPr>
              <a:t>Read the connector's changelog for the target version (migration notes live there).</a:t>
            </a:r>
          </a:p>
          <a:p>
            <a:pPr>
              <a:spcBef>
                <a:spcPts val="100"/>
              </a:spcBef>
              <a:spcAft>
                <a:spcPts val="200"/>
              </a:spcAft>
            </a:pPr>
            <a:r>
              <a:rPr sz="1250" b="1" i="0">
                <a:solidFill>
                  <a:srgbClr val="2E5496"/>
                </a:solidFill>
                <a:latin typeface="Calibri"/>
              </a:rPr>
              <a:t>2.  </a:t>
            </a:r>
            <a:r>
              <a:rPr sz="1250" b="0" i="0">
                <a:solidFill>
                  <a:srgbClr val="202020"/>
                </a:solidFill>
                <a:latin typeface="Calibri"/>
              </a:rPr>
              <a:t>Stop the service gracefully (current chunk finishes, checkpoint saved).</a:t>
            </a:r>
          </a:p>
          <a:p>
            <a:pPr>
              <a:spcBef>
                <a:spcPts val="100"/>
              </a:spcBef>
              <a:spcAft>
                <a:spcPts val="200"/>
              </a:spcAft>
            </a:pPr>
            <a:r>
              <a:rPr sz="1250" b="1" i="0">
                <a:solidFill>
                  <a:srgbClr val="2E5496"/>
                </a:solidFill>
                <a:latin typeface="Calibri"/>
              </a:rPr>
              <a:t>3.  </a:t>
            </a:r>
            <a:r>
              <a:rPr sz="1250" b="0" i="0">
                <a:solidFill>
                  <a:srgbClr val="202020"/>
                </a:solidFill>
                <a:latin typeface="Calibri"/>
              </a:rPr>
              <a:t>Back up state (cheap insurance; upgrades do not normally touch it).</a:t>
            </a:r>
          </a:p>
          <a:p>
            <a:pPr>
              <a:spcBef>
                <a:spcPts val="100"/>
              </a:spcBef>
              <a:spcAft>
                <a:spcPts val="200"/>
              </a:spcAft>
            </a:pPr>
            <a:r>
              <a:rPr sz="1250" b="1" i="0">
                <a:solidFill>
                  <a:srgbClr val="2E5496"/>
                </a:solidFill>
                <a:latin typeface="Calibri"/>
              </a:rPr>
              <a:t>4.  </a:t>
            </a:r>
            <a:r>
              <a:rPr sz="1250" b="0" i="0">
                <a:solidFill>
                  <a:srgbClr val="202020"/>
                </a:solidFill>
                <a:latin typeface="Calibri"/>
              </a:rPr>
              <a:t>Binary swap — install the new MSI (major-upgrade replaces in place) or unzip over the install dir; config and env files are preserved. Diff the env example for new knobs.</a:t>
            </a:r>
          </a:p>
          <a:p>
            <a:pPr>
              <a:spcBef>
                <a:spcPts val="100"/>
              </a:spcBef>
              <a:spcAft>
                <a:spcPts val="200"/>
              </a:spcAft>
            </a:pPr>
            <a:r>
              <a:rPr sz="1250" b="1" i="0">
                <a:solidFill>
                  <a:srgbClr val="2E5496"/>
                </a:solidFill>
                <a:latin typeface="Calibri"/>
              </a:rPr>
              <a:t>5.  </a:t>
            </a:r>
            <a:r>
              <a:rPr sz="1250" b="0" i="0">
                <a:solidFill>
                  <a:srgbClr val="202020"/>
                </a:solidFill>
                <a:latin typeface="Calibri"/>
              </a:rPr>
              <a:t>State migrates automatically and additively: SQLite adds missing columns on open; on SQL, re-run the idempotent create script. Nothing is ever dropped.</a:t>
            </a:r>
          </a:p>
          <a:p>
            <a:pPr>
              <a:spcBef>
                <a:spcPts val="100"/>
              </a:spcBef>
              <a:spcAft>
                <a:spcPts val="200"/>
              </a:spcAft>
            </a:pPr>
            <a:r>
              <a:rPr sz="1250" b="1" i="0">
                <a:solidFill>
                  <a:srgbClr val="2E5496"/>
                </a:solidFill>
                <a:latin typeface="Calibri"/>
              </a:rPr>
              <a:t>6.  </a:t>
            </a:r>
            <a:r>
              <a:rPr sz="1250" b="0" i="0">
                <a:solidFill>
                  <a:srgbClr val="202020"/>
                </a:solidFill>
                <a:latin typeface="Calibri"/>
              </a:rPr>
              <a:t>Start the service — it resumes from the existing checkpoint; an upgrade does not force a full crawl unless the changelog says so.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139</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11.4 Upgrade and rollback</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7.  </a:t>
            </a:r>
            <a:r>
              <a:rPr sz="1250" b="0" i="0">
                <a:solidFill>
                  <a:srgbClr val="202020"/>
                </a:solidFill>
                <a:latin typeface="Calibri"/>
              </a:rPr>
              <a:t>Verify: validate-config --strict, then watch metrics (crawls_completed advancing, dead_letter_depth flat).</a:t>
            </a:r>
          </a:p>
          <a:p>
            <a:pPr>
              <a:spcBef>
                <a:spcPts val="100"/>
              </a:spcBef>
              <a:spcAft>
                <a:spcPts val="400"/>
              </a:spcAft>
            </a:pPr>
            <a:r>
              <a:rPr sz="1250" b="1" i="0">
                <a:solidFill>
                  <a:srgbClr val="202020"/>
                </a:solidFill>
                <a:latin typeface="Calibri"/>
              </a:rPr>
              <a:t>Rollback</a:t>
            </a:r>
            <a:r>
              <a:rPr sz="1250" b="0" i="0">
                <a:solidFill>
                  <a:srgbClr val="202020"/>
                </a:solidFill>
                <a:latin typeface="Calibri"/>
              </a:rPr>
              <a:t>: stop, reinstall the previous version, start. Because the state schema is additive, a newer-schema state DB opens fine under the older binary in almost all cases; if a skipped version flagged a breaking state change, restore the pre-upgrade backup instead.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140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11.5 Incident triage flow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1.  </a:t>
            </a:r>
            <a:r>
              <a:rPr sz="1250" b="0" i="0">
                <a:solidFill>
                  <a:srgbClr val="202020"/>
                </a:solidFill>
                <a:latin typeface="Calibri"/>
              </a:rPr>
              <a:t>Is the service up? Check /health and uptime_seconds (or Event Log id 1000/3000). Down or restart-looping -&gt; read the run-dir log or Event Log id 3000 for the crash cause (usually config or auth); fix and let SCM restart it.</a:t>
            </a:r>
          </a:p>
          <a:p>
            <a:pPr>
              <a:spcBef>
                <a:spcPts val="100"/>
              </a:spcBef>
              <a:spcAft>
                <a:spcPts val="200"/>
              </a:spcAft>
            </a:pPr>
            <a:r>
              <a:rPr sz="1250" b="1" i="0">
                <a:solidFill>
                  <a:srgbClr val="2E5496"/>
                </a:solidFill>
                <a:latin typeface="Calibri"/>
              </a:rPr>
              <a:t>2.  </a:t>
            </a:r>
            <a:r>
              <a:rPr sz="1250" b="0" i="0">
                <a:solidFill>
                  <a:srgbClr val="202020"/>
                </a:solidFill>
                <a:latin typeface="Calibri"/>
              </a:rPr>
              <a:t>Is it authenticating? Auth errors in the log (invalid_client, token failures) -&gt; check the secret/cert and that admin consent is still in place; rotate if the credential expired.</a:t>
            </a:r>
          </a:p>
          <a:p>
            <a:pPr>
              <a:spcBef>
                <a:spcPts val="100"/>
              </a:spcBef>
              <a:spcAft>
                <a:spcPts val="200"/>
              </a:spcAft>
            </a:pPr>
            <a:r>
              <a:rPr sz="1250" b="1" i="0">
                <a:solidFill>
                  <a:srgbClr val="2E5496"/>
                </a:solidFill>
                <a:latin typeface="Calibri"/>
              </a:rPr>
              <a:t>3.  </a:t>
            </a:r>
            <a:r>
              <a:rPr sz="1250" b="0" i="0">
                <a:solidFill>
                  <a:srgbClr val="202020"/>
                </a:solidFill>
                <a:latin typeface="Calibri"/>
              </a:rPr>
              <a:t>Is it throttled? A sustained 429 storm across all five connectors is a tenant event — check Microsoft 365 service health before touching config. One connector alone -&gt; let adaptive concurrency settle; enable jitter in HA.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141</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11.5 Incident triage flow</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4.  </a:t>
            </a:r>
            <a:r>
              <a:rPr sz="1250" b="0" i="0">
                <a:solidFill>
                  <a:srgbClr val="202020"/>
                </a:solidFill>
                <a:latin typeface="Calibri"/>
              </a:rPr>
              <a:t>Is a crawl stuck? crawls_started ahead of crawls_completed with no per-object progress -&gt; in HA check the object claims; a stale lease is reclaimed automatically after the timeout.</a:t>
            </a:r>
          </a:p>
          <a:p>
            <a:pPr>
              <a:spcBef>
                <a:spcPts val="100"/>
              </a:spcBef>
              <a:spcAft>
                <a:spcPts val="200"/>
              </a:spcAft>
            </a:pPr>
            <a:r>
              <a:rPr sz="1250" b="1" i="0">
                <a:solidFill>
                  <a:srgbClr val="2E5496"/>
                </a:solidFill>
                <a:latin typeface="Calibri"/>
              </a:rPr>
              <a:t>5.  </a:t>
            </a:r>
            <a:r>
              <a:rPr sz="1250" b="0" i="0">
                <a:solidFill>
                  <a:srgbClr val="202020"/>
                </a:solidFill>
                <a:latin typeface="Calibri"/>
              </a:rPr>
              <a:t>Are items failing? Rising items_failed_total / dead_letter_depth -&gt; inspect the dominant error signature (one signature = systematic, fix then retry-failed; a long tail = throttling remnants, retry later).</a:t>
            </a:r>
          </a:p>
          <a:p>
            <a:pPr>
              <a:spcBef>
                <a:spcPts val="100"/>
              </a:spcBef>
              <a:spcAft>
                <a:spcPts val="200"/>
              </a:spcAft>
            </a:pPr>
            <a:r>
              <a:rPr sz="1250" b="1" i="0">
                <a:solidFill>
                  <a:srgbClr val="2E5496"/>
                </a:solidFill>
                <a:latin typeface="Calibri"/>
              </a:rPr>
              <a:t>6.  </a:t>
            </a:r>
            <a:r>
              <a:rPr sz="1250" b="0" i="0">
                <a:solidFill>
                  <a:srgbClr val="202020"/>
                </a:solidFill>
                <a:latin typeface="Calibri"/>
              </a:rPr>
              <a:t>Missing records a user expects? Suspect identity/ACL mapping (section 5) or a filter — start from identity-dry-run and the per-connector scope, not from Graph.</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142</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11.6 Escalation</a:t>
            </a:r>
          </a:p>
        </p:txBody>
      </p:sp>
      <p:graphicFrame>
        <p:nvGraphicFramePr>
          <p:cNvPr id="5" name="Table 4"/>
          <p:cNvGraphicFramePr>
            <a:graphicFrameLocks noGrp="1"/>
          </p:cNvGraphicFramePr>
          <p:nvPr/>
        </p:nvGraphicFramePr>
        <p:xfrm>
          <a:off x="502920" y="1188720"/>
          <a:ext cx="11185855" cy="2688336"/>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Symptom</a:t>
                      </a:r>
                    </a:p>
                  </a:txBody>
                  <a:tcPr marT="25400" marB="25400">
                    <a:solidFill>
                      <a:srgbClr val="2E5496"/>
                    </a:solidFill>
                  </a:tcPr>
                </a:tc>
                <a:tc>
                  <a:txBody>
                    <a:bodyPr wrap="square"/>
                    <a:lstStyle/>
                    <a:p>
                      <a:r>
                        <a:rPr sz="1050" b="1" i="0">
                          <a:solidFill>
                            <a:srgbClr val="FFFFFF"/>
                          </a:solidFill>
                          <a:latin typeface="Calibri"/>
                        </a:rPr>
                        <a:t>First owner</a:t>
                      </a:r>
                    </a:p>
                  </a:txBody>
                  <a:tcPr marT="25400" marB="25400">
                    <a:solidFill>
                      <a:srgbClr val="2E5496"/>
                    </a:solidFill>
                  </a:tcPr>
                </a:tc>
                <a:tc>
                  <a:txBody>
                    <a:bodyPr wrap="square"/>
                    <a:lstStyle/>
                    <a:p>
                      <a:r>
                        <a:rPr sz="1050" b="1" i="0">
                          <a:solidFill>
                            <a:srgbClr val="FFFFFF"/>
                          </a:solidFill>
                          <a:latin typeface="Calibri"/>
                        </a:rPr>
                        <a:t>Escalate to</a:t>
                      </a:r>
                    </a:p>
                  </a:txBody>
                  <a:tcPr marT="25400" marB="25400">
                    <a:solidFill>
                      <a:srgbClr val="2E5496"/>
                    </a:solidFill>
                  </a:tcPr>
                </a:tc>
              </a:tr>
              <a:tr h="384048">
                <a:tc>
                  <a:txBody>
                    <a:bodyPr wrap="square"/>
                    <a:lstStyle/>
                    <a:p>
                      <a:r>
                        <a:rPr sz="950" b="0" i="0">
                          <a:solidFill>
                            <a:srgbClr val="202020"/>
                          </a:solidFill>
                          <a:latin typeface="Calibri"/>
                        </a:rPr>
                        <a:t>Service down / crash loop / config</a:t>
                      </a:r>
                    </a:p>
                  </a:txBody>
                  <a:tcPr marT="12700" marB="12700">
                    <a:solidFill>
                      <a:srgbClr val="FFFFFF"/>
                    </a:solidFill>
                  </a:tcPr>
                </a:tc>
                <a:tc>
                  <a:txBody>
                    <a:bodyPr wrap="square"/>
                    <a:lstStyle/>
                    <a:p>
                      <a:r>
                        <a:rPr sz="950" b="0" i="0">
                          <a:solidFill>
                            <a:srgbClr val="202020"/>
                          </a:solidFill>
                          <a:latin typeface="Calibri"/>
                        </a:rPr>
                        <a:t>Connector operator (you)</a:t>
                      </a:r>
                    </a:p>
                  </a:txBody>
                  <a:tcPr marT="12700" marB="12700">
                    <a:solidFill>
                      <a:srgbClr val="FFFFFF"/>
                    </a:solidFill>
                  </a:tcPr>
                </a:tc>
                <a:tc>
                  <a:txBody>
                    <a:bodyPr wrap="square"/>
                    <a:lstStyle/>
                    <a:p>
                      <a:r>
                        <a:rPr sz="950" b="0" i="0">
                          <a:solidFill>
                            <a:srgbClr val="202020"/>
                          </a:solidFill>
                          <a:latin typeface="Calibri"/>
                        </a:rPr>
                        <a:t>Connector platform team</a:t>
                      </a:r>
                    </a:p>
                  </a:txBody>
                  <a:tcPr marT="12700" marB="12700">
                    <a:solidFill>
                      <a:srgbClr val="FFFFFF"/>
                    </a:solidFill>
                  </a:tcPr>
                </a:tc>
              </a:tr>
              <a:tr h="384048">
                <a:tc>
                  <a:txBody>
                    <a:bodyPr wrap="square"/>
                    <a:lstStyle/>
                    <a:p>
                      <a:r>
                        <a:rPr sz="950" b="0" i="0">
                          <a:solidFill>
                            <a:srgbClr val="202020"/>
                          </a:solidFill>
                          <a:latin typeface="Calibri"/>
                        </a:rPr>
                        <a:t>Auth / consent / credential expiry</a:t>
                      </a:r>
                    </a:p>
                  </a:txBody>
                  <a:tcPr marT="12700" marB="12700">
                    <a:solidFill>
                      <a:srgbClr val="F7F9FC"/>
                    </a:solidFill>
                  </a:tcPr>
                </a:tc>
                <a:tc>
                  <a:txBody>
                    <a:bodyPr wrap="square"/>
                    <a:lstStyle/>
                    <a:p>
                      <a:r>
                        <a:rPr sz="950" b="0" i="0">
                          <a:solidFill>
                            <a:srgbClr val="202020"/>
                          </a:solidFill>
                          <a:latin typeface="Calibri"/>
                        </a:rPr>
                        <a:t>Connector operator</a:t>
                      </a:r>
                    </a:p>
                  </a:txBody>
                  <a:tcPr marT="12700" marB="12700">
                    <a:solidFill>
                      <a:srgbClr val="F7F9FC"/>
                    </a:solidFill>
                  </a:tcPr>
                </a:tc>
                <a:tc>
                  <a:txBody>
                    <a:bodyPr wrap="square"/>
                    <a:lstStyle/>
                    <a:p>
                      <a:r>
                        <a:rPr sz="950" b="0" i="0">
                          <a:solidFill>
                            <a:srgbClr val="202020"/>
                          </a:solidFill>
                          <a:latin typeface="Calibri"/>
                        </a:rPr>
                        <a:t>Entra ID administrator / security</a:t>
                      </a:r>
                    </a:p>
                  </a:txBody>
                  <a:tcPr marT="12700" marB="12700">
                    <a:solidFill>
                      <a:srgbClr val="F7F9FC"/>
                    </a:solidFill>
                  </a:tcPr>
                </a:tc>
              </a:tr>
              <a:tr h="384048">
                <a:tc>
                  <a:txBody>
                    <a:bodyPr wrap="square"/>
                    <a:lstStyle/>
                    <a:p>
                      <a:r>
                        <a:rPr sz="950" b="0" i="0">
                          <a:solidFill>
                            <a:srgbClr val="202020"/>
                          </a:solidFill>
                          <a:latin typeface="Calibri"/>
                        </a:rPr>
                        <a:t>Tenant-wide 429 across all connectors</a:t>
                      </a:r>
                    </a:p>
                  </a:txBody>
                  <a:tcPr marT="12700" marB="12700">
                    <a:solidFill>
                      <a:srgbClr val="FFFFFF"/>
                    </a:solidFill>
                  </a:tcPr>
                </a:tc>
                <a:tc>
                  <a:txBody>
                    <a:bodyPr wrap="square"/>
                    <a:lstStyle/>
                    <a:p>
                      <a:r>
                        <a:rPr sz="950" b="0" i="0">
                          <a:solidFill>
                            <a:srgbClr val="202020"/>
                          </a:solidFill>
                          <a:latin typeface="Calibri"/>
                        </a:rPr>
                        <a:t>Connector operator</a:t>
                      </a:r>
                    </a:p>
                  </a:txBody>
                  <a:tcPr marT="12700" marB="12700">
                    <a:solidFill>
                      <a:srgbClr val="FFFFFF"/>
                    </a:solidFill>
                  </a:tcPr>
                </a:tc>
                <a:tc>
                  <a:txBody>
                    <a:bodyPr wrap="square"/>
                    <a:lstStyle/>
                    <a:p>
                      <a:r>
                        <a:rPr sz="950" b="0" i="0">
                          <a:solidFill>
                            <a:srgbClr val="202020"/>
                          </a:solidFill>
                          <a:latin typeface="Calibri"/>
                        </a:rPr>
                        <a:t>Microsoft 365 service health / Microsoft support</a:t>
                      </a:r>
                    </a:p>
                  </a:txBody>
                  <a:tcPr marT="12700" marB="12700">
                    <a:solidFill>
                      <a:srgbClr val="FFFFFF"/>
                    </a:solidFill>
                  </a:tcPr>
                </a:tc>
              </a:tr>
              <a:tr h="384048">
                <a:tc>
                  <a:txBody>
                    <a:bodyPr wrap="square"/>
                    <a:lstStyle/>
                    <a:p>
                      <a:r>
                        <a:rPr sz="950" b="0" i="0">
                          <a:solidFill>
                            <a:srgbClr val="202020"/>
                          </a:solidFill>
                          <a:latin typeface="Calibri"/>
                        </a:rPr>
                        <a:t>Source data / permissions wrong at source</a:t>
                      </a:r>
                    </a:p>
                  </a:txBody>
                  <a:tcPr marT="12700" marB="12700">
                    <a:solidFill>
                      <a:srgbClr val="F7F9FC"/>
                    </a:solidFill>
                  </a:tcPr>
                </a:tc>
                <a:tc>
                  <a:txBody>
                    <a:bodyPr wrap="square"/>
                    <a:lstStyle/>
                    <a:p>
                      <a:r>
                        <a:rPr sz="950" b="0" i="0">
                          <a:solidFill>
                            <a:srgbClr val="202020"/>
                          </a:solidFill>
                          <a:latin typeface="Calibri"/>
                        </a:rPr>
                        <a:t>Connector operator</a:t>
                      </a:r>
                    </a:p>
                  </a:txBody>
                  <a:tcPr marT="12700" marB="12700">
                    <a:solidFill>
                      <a:srgbClr val="F7F9FC"/>
                    </a:solidFill>
                  </a:tcPr>
                </a:tc>
                <a:tc>
                  <a:txBody>
                    <a:bodyPr wrap="square"/>
                    <a:lstStyle/>
                    <a:p>
                      <a:r>
                        <a:rPr sz="950" b="0" i="0">
                          <a:solidFill>
                            <a:srgbClr val="202020"/>
                          </a:solidFill>
                          <a:latin typeface="Calibri"/>
                        </a:rPr>
                        <a:t>Source-system administrator</a:t>
                      </a:r>
                    </a:p>
                  </a:txBody>
                  <a:tcPr marT="12700" marB="12700">
                    <a:solidFill>
                      <a:srgbClr val="F7F9FC"/>
                    </a:solidFill>
                  </a:tcPr>
                </a:tc>
              </a:tr>
              <a:tr h="384048">
                <a:tc>
                  <a:txBody>
                    <a:bodyPr wrap="square"/>
                    <a:lstStyle/>
                    <a:p>
                      <a:r>
                        <a:rPr sz="950" b="0" i="0">
                          <a:solidFill>
                            <a:srgbClr val="202020"/>
                          </a:solidFill>
                          <a:latin typeface="Calibri"/>
                        </a:rPr>
                        <a:t>Approaching the 40M tenant item trigger</a:t>
                      </a:r>
                    </a:p>
                  </a:txBody>
                  <a:tcPr marT="12700" marB="12700">
                    <a:solidFill>
                      <a:srgbClr val="FFFFFF"/>
                    </a:solidFill>
                  </a:tcPr>
                </a:tc>
                <a:tc>
                  <a:txBody>
                    <a:bodyPr wrap="square"/>
                    <a:lstStyle/>
                    <a:p>
                      <a:r>
                        <a:rPr sz="950" b="0" i="0">
                          <a:solidFill>
                            <a:srgbClr val="202020"/>
                          </a:solidFill>
                          <a:latin typeface="Calibri"/>
                        </a:rPr>
                        <a:t>Connector operator</a:t>
                      </a:r>
                    </a:p>
                  </a:txBody>
                  <a:tcPr marT="12700" marB="12700">
                    <a:solidFill>
                      <a:srgbClr val="FFFFFF"/>
                    </a:solidFill>
                  </a:tcPr>
                </a:tc>
                <a:tc>
                  <a:txBody>
                    <a:bodyPr wrap="square"/>
                    <a:lstStyle/>
                    <a:p>
                      <a:r>
                        <a:rPr sz="950" b="0" i="0">
                          <a:solidFill>
                            <a:srgbClr val="202020"/>
                          </a:solidFill>
                          <a:latin typeface="Calibri"/>
                        </a:rPr>
                        <a:t>Connector platform team / tenant governance owner</a:t>
                      </a:r>
                    </a:p>
                  </a:txBody>
                  <a:tcPr marT="12700" marB="12700">
                    <a:solidFill>
                      <a:srgbClr val="FFFFFF"/>
                    </a:solidFill>
                  </a:tcPr>
                </a:tc>
              </a:tr>
              <a:tr h="384048">
                <a:tc>
                  <a:txBody>
                    <a:bodyPr wrap="square"/>
                    <a:lstStyle/>
                    <a:p>
                      <a:r>
                        <a:rPr sz="950" b="0" i="0">
                          <a:solidFill>
                            <a:srgbClr val="202020"/>
                          </a:solidFill>
                          <a:latin typeface="Calibri"/>
                        </a:rPr>
                        <a:t>Suspected data exposure (over-sharing)</a:t>
                      </a:r>
                    </a:p>
                  </a:txBody>
                  <a:tcPr marT="12700" marB="12700">
                    <a:solidFill>
                      <a:srgbClr val="F7F9FC"/>
                    </a:solidFill>
                  </a:tcPr>
                </a:tc>
                <a:tc>
                  <a:txBody>
                    <a:bodyPr wrap="square"/>
                    <a:lstStyle/>
                    <a:p>
                      <a:r>
                        <a:rPr sz="950" b="0" i="0">
                          <a:solidFill>
                            <a:srgbClr val="202020"/>
                          </a:solidFill>
                          <a:latin typeface="Calibri"/>
                        </a:rPr>
                        <a:t>Connector operator</a:t>
                      </a:r>
                    </a:p>
                  </a:txBody>
                  <a:tcPr marT="12700" marB="12700">
                    <a:solidFill>
                      <a:srgbClr val="F7F9FC"/>
                    </a:solidFill>
                  </a:tcPr>
                </a:tc>
                <a:tc>
                  <a:txBody>
                    <a:bodyPr wrap="square"/>
                    <a:lstStyle/>
                    <a:p>
                      <a:r>
                        <a:rPr sz="950" b="0" i="0">
                          <a:solidFill>
                            <a:srgbClr val="202020"/>
                          </a:solidFill>
                          <a:latin typeface="Calibri"/>
                        </a:rPr>
                        <a:t>Security / compliance immediately</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143</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Tenant &amp; Common Concepts</a:t>
            </a:r>
          </a:p>
          <a:p>
            <a:r>
              <a:rPr sz="3000" b="1" i="0">
                <a:solidFill>
                  <a:srgbClr val="1F3864"/>
                </a:solidFill>
                <a:latin typeface="Calibri"/>
              </a:rPr>
              <a:t>12. Roles, responsibilities and pre-deployment intake</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144</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 Roles, responsibilities and pre-deployment intake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 connector deployment touches several teams. This section names who provides what, then gives a single fill-in checklist to collect every value before you start. Nothing here is invented — each value is referenced in the section shown.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145</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12.1 Who provides what (RACI-style)</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Area / deliverable</a:t>
                      </a:r>
                    </a:p>
                  </a:txBody>
                  <a:tcPr marT="25400" marB="25400">
                    <a:solidFill>
                      <a:srgbClr val="2E5496"/>
                    </a:solidFill>
                  </a:tcPr>
                </a:tc>
                <a:tc>
                  <a:txBody>
                    <a:bodyPr wrap="square"/>
                    <a:lstStyle/>
                    <a:p>
                      <a:r>
                        <a:rPr sz="1050" b="1" i="0">
                          <a:solidFill>
                            <a:srgbClr val="FFFFFF"/>
                          </a:solidFill>
                          <a:latin typeface="Calibri"/>
                        </a:rPr>
                        <a:t>Owner (provides)</a:t>
                      </a:r>
                    </a:p>
                  </a:txBody>
                  <a:tcPr marT="25400" marB="25400">
                    <a:solidFill>
                      <a:srgbClr val="2E5496"/>
                    </a:solidFill>
                  </a:tcPr>
                </a:tc>
                <a:tc>
                  <a:txBody>
                    <a:bodyPr wrap="square"/>
                    <a:lstStyle/>
                    <a:p>
                      <a:r>
                        <a:rPr sz="1050" b="1" i="0">
                          <a:solidFill>
                            <a:srgbClr val="FFFFFF"/>
                          </a:solidFill>
                          <a:latin typeface="Calibri"/>
                        </a:rPr>
                        <a:t>Connector operator (you)</a:t>
                      </a:r>
                    </a:p>
                  </a:txBody>
                  <a:tcPr marT="25400" marB="25400">
                    <a:solidFill>
                      <a:srgbClr val="2E5496"/>
                    </a:solidFill>
                  </a:tcPr>
                </a:tc>
              </a:tr>
              <a:tr h="384048">
                <a:tc>
                  <a:txBody>
                    <a:bodyPr wrap="square"/>
                    <a:lstStyle/>
                    <a:p>
                      <a:r>
                        <a:rPr sz="950" b="0" i="0">
                          <a:solidFill>
                            <a:srgbClr val="202020"/>
                          </a:solidFill>
                          <a:latin typeface="Calibri"/>
                        </a:rPr>
                        <a:t>Tenant ID, app registration, admin consent, secret/cert upload</a:t>
                      </a:r>
                    </a:p>
                  </a:txBody>
                  <a:tcPr marT="12700" marB="12700">
                    <a:solidFill>
                      <a:srgbClr val="FFFFFF"/>
                    </a:solidFill>
                  </a:tcPr>
                </a:tc>
                <a:tc>
                  <a:txBody>
                    <a:bodyPr wrap="square"/>
                    <a:lstStyle/>
                    <a:p>
                      <a:r>
                        <a:rPr sz="950" b="0" i="0">
                          <a:solidFill>
                            <a:srgbClr val="202020"/>
                          </a:solidFill>
                          <a:latin typeface="Calibri"/>
                        </a:rPr>
                        <a:t>Entra ID / tenant administrator</a:t>
                      </a:r>
                    </a:p>
                  </a:txBody>
                  <a:tcPr marT="12700" marB="12700">
                    <a:solidFill>
                      <a:srgbClr val="FFFFFF"/>
                    </a:solidFill>
                  </a:tcPr>
                </a:tc>
                <a:tc>
                  <a:txBody>
                    <a:bodyPr wrap="square"/>
                    <a:lstStyle/>
                    <a:p>
                      <a:r>
                        <a:rPr sz="950" b="0" i="0">
                          <a:solidFill>
                            <a:srgbClr val="202020"/>
                          </a:solidFill>
                          <a:latin typeface="Calibri"/>
                        </a:rPr>
                        <a:t>Consume; configure; validate</a:t>
                      </a:r>
                    </a:p>
                  </a:txBody>
                  <a:tcPr marT="12700" marB="12700">
                    <a:solidFill>
                      <a:srgbClr val="FFFFFF"/>
                    </a:solidFill>
                  </a:tcPr>
                </a:tc>
              </a:tr>
              <a:tr h="384048">
                <a:tc>
                  <a:txBody>
                    <a:bodyPr wrap="square"/>
                    <a:lstStyle/>
                    <a:p>
                      <a:r>
                        <a:rPr sz="950" b="0" i="0">
                          <a:solidFill>
                            <a:srgbClr val="202020"/>
                          </a:solidFill>
                          <a:latin typeface="Calibri"/>
                        </a:rPr>
                        <a:t>Source endpoint + read-only integration credentials + principal model</a:t>
                      </a:r>
                    </a:p>
                  </a:txBody>
                  <a:tcPr marT="12700" marB="12700">
                    <a:solidFill>
                      <a:srgbClr val="F7F9FC"/>
                    </a:solidFill>
                  </a:tcPr>
                </a:tc>
                <a:tc>
                  <a:txBody>
                    <a:bodyPr wrap="square"/>
                    <a:lstStyle/>
                    <a:p>
                      <a:r>
                        <a:rPr sz="950" b="0" i="0">
                          <a:solidFill>
                            <a:srgbClr val="202020"/>
                          </a:solidFill>
                          <a:latin typeface="Calibri"/>
                        </a:rPr>
                        <a:t>Source-system administrator</a:t>
                      </a:r>
                    </a:p>
                  </a:txBody>
                  <a:tcPr marT="12700" marB="12700">
                    <a:solidFill>
                      <a:srgbClr val="F7F9FC"/>
                    </a:solidFill>
                  </a:tcPr>
                </a:tc>
                <a:tc>
                  <a:txBody>
                    <a:bodyPr wrap="square"/>
                    <a:lstStyle/>
                    <a:p>
                      <a:r>
                        <a:rPr sz="950" b="0" i="0">
                          <a:solidFill>
                            <a:srgbClr val="202020"/>
                          </a:solidFill>
                          <a:latin typeface="Calibri"/>
                        </a:rPr>
                        <a:t>Configure; run identity-dry-run</a:t>
                      </a:r>
                    </a:p>
                  </a:txBody>
                  <a:tcPr marT="12700" marB="12700">
                    <a:solidFill>
                      <a:srgbClr val="F7F9FC"/>
                    </a:solidFill>
                  </a:tcPr>
                </a:tc>
              </a:tr>
              <a:tr h="384048">
                <a:tc>
                  <a:txBody>
                    <a:bodyPr wrap="square"/>
                    <a:lstStyle/>
                    <a:p>
                      <a:r>
                        <a:rPr sz="950" b="0" i="0">
                          <a:solidFill>
                            <a:srgbClr val="202020"/>
                          </a:solidFill>
                          <a:latin typeface="Calibri"/>
                        </a:rPr>
                        <a:t>Entra group object ids for source-group mapping</a:t>
                      </a:r>
                    </a:p>
                  </a:txBody>
                  <a:tcPr marT="12700" marB="12700">
                    <a:solidFill>
                      <a:srgbClr val="FFFFFF"/>
                    </a:solidFill>
                  </a:tcPr>
                </a:tc>
                <a:tc>
                  <a:txBody>
                    <a:bodyPr wrap="square"/>
                    <a:lstStyle/>
                    <a:p>
                      <a:r>
                        <a:rPr sz="950" b="0" i="0">
                          <a:solidFill>
                            <a:srgbClr val="202020"/>
                          </a:solidFill>
                          <a:latin typeface="Calibri"/>
                        </a:rPr>
                        <a:t>Source admin + Entra administrator</a:t>
                      </a:r>
                    </a:p>
                  </a:txBody>
                  <a:tcPr marT="12700" marB="12700">
                    <a:solidFill>
                      <a:srgbClr val="FFFFFF"/>
                    </a:solidFill>
                  </a:tcPr>
                </a:tc>
                <a:tc>
                  <a:txBody>
                    <a:bodyPr wrap="square"/>
                    <a:lstStyle/>
                    <a:p>
                      <a:r>
                        <a:rPr sz="950" b="0" i="0">
                          <a:solidFill>
                            <a:srgbClr val="202020"/>
                          </a:solidFill>
                          <a:latin typeface="Calibri"/>
                        </a:rPr>
                        <a:t>Configure the mapping</a:t>
                      </a:r>
                    </a:p>
                  </a:txBody>
                  <a:tcPr marT="12700" marB="12700">
                    <a:solidFill>
                      <a:srgbClr val="FFFFFF"/>
                    </a:solidFill>
                  </a:tcPr>
                </a:tc>
              </a:tr>
              <a:tr h="384048">
                <a:tc>
                  <a:txBody>
                    <a:bodyPr wrap="square"/>
                    <a:lstStyle/>
                    <a:p>
                      <a:r>
                        <a:rPr sz="950" b="0" i="0">
                          <a:solidFill>
                            <a:srgbClr val="202020"/>
                          </a:solidFill>
                          <a:latin typeface="Calibri"/>
                        </a:rPr>
                        <a:t>Proxy URL/bypass, CA bundle, outbound 443 firewall rules</a:t>
                      </a:r>
                    </a:p>
                  </a:txBody>
                  <a:tcPr marT="12700" marB="12700">
                    <a:solidFill>
                      <a:srgbClr val="F7F9FC"/>
                    </a:solidFill>
                  </a:tcPr>
                </a:tc>
                <a:tc>
                  <a:txBody>
                    <a:bodyPr wrap="square"/>
                    <a:lstStyle/>
                    <a:p>
                      <a:r>
                        <a:rPr sz="950" b="0" i="0">
                          <a:solidFill>
                            <a:srgbClr val="202020"/>
                          </a:solidFill>
                          <a:latin typeface="Calibri"/>
                        </a:rPr>
                        <a:t>Network / firewall team</a:t>
                      </a:r>
                    </a:p>
                  </a:txBody>
                  <a:tcPr marT="12700" marB="12700">
                    <a:solidFill>
                      <a:srgbClr val="F7F9FC"/>
                    </a:solidFill>
                  </a:tcPr>
                </a:tc>
                <a:tc>
                  <a:txBody>
                    <a:bodyPr wrap="square"/>
                    <a:lstStyle/>
                    <a:p>
                      <a:r>
                        <a:rPr sz="950" b="0" i="0">
                          <a:solidFill>
                            <a:srgbClr val="202020"/>
                          </a:solidFill>
                          <a:latin typeface="Calibri"/>
                        </a:rPr>
                        <a:t>Configure PROXY_URL / CA_BUNDLE_PATH; smoke-test</a:t>
                      </a:r>
                    </a:p>
                  </a:txBody>
                  <a:tcPr marT="12700" marB="12700">
                    <a:solidFill>
                      <a:srgbClr val="F7F9FC"/>
                    </a:solidFill>
                  </a:tcPr>
                </a:tc>
              </a:tr>
              <a:tr h="384048">
                <a:tc>
                  <a:txBody>
                    <a:bodyPr wrap="square"/>
                    <a:lstStyle/>
                    <a:p>
                      <a:r>
                        <a:rPr sz="950" b="0" i="0">
                          <a:solidFill>
                            <a:srgbClr val="202020"/>
                          </a:solidFill>
                          <a:latin typeface="Calibri"/>
                        </a:rPr>
                        <a:t>Key Vault URI + get access</a:t>
                      </a:r>
                    </a:p>
                  </a:txBody>
                  <a:tcPr marT="12700" marB="12700">
                    <a:solidFill>
                      <a:srgbClr val="FFFFFF"/>
                    </a:solidFill>
                  </a:tcPr>
                </a:tc>
                <a:tc>
                  <a:txBody>
                    <a:bodyPr wrap="square"/>
                    <a:lstStyle/>
                    <a:p>
                      <a:r>
                        <a:rPr sz="950" b="0" i="0">
                          <a:solidFill>
                            <a:srgbClr val="202020"/>
                          </a:solidFill>
                          <a:latin typeface="Calibri"/>
                        </a:rPr>
                        <a:t>Azure platform / Key Vault team</a:t>
                      </a:r>
                    </a:p>
                  </a:txBody>
                  <a:tcPr marT="12700" marB="12700">
                    <a:solidFill>
                      <a:srgbClr val="FFFFFF"/>
                    </a:solidFill>
                  </a:tcPr>
                </a:tc>
                <a:tc>
                  <a:txBody>
                    <a:bodyPr wrap="square"/>
                    <a:lstStyle/>
                    <a:p>
                      <a:r>
                        <a:rPr sz="950" b="0" i="0">
                          <a:solidFill>
                            <a:srgbClr val="202020"/>
                          </a:solidFill>
                          <a:latin typeface="Calibri"/>
                        </a:rPr>
                        <a:t>Set USE_KEY_VAULT / KEY_VAULT_URI</a:t>
                      </a:r>
                    </a:p>
                  </a:txBody>
                  <a:tcPr marT="12700" marB="12700">
                    <a:solidFill>
                      <a:srgbClr val="FFFFFF"/>
                    </a:solidFill>
                  </a:tcPr>
                </a:tc>
              </a:tr>
              <a:tr h="384048">
                <a:tc>
                  <a:txBody>
                    <a:bodyPr wrap="square"/>
                    <a:lstStyle/>
                    <a:p>
                      <a:r>
                        <a:rPr sz="950" b="0" i="0">
                          <a:solidFill>
                            <a:srgbClr val="202020"/>
                          </a:solidFill>
                          <a:latin typeface="Calibri"/>
                        </a:rPr>
                        <a:t>Windows Server host, .NET 10, service account (gMSA)</a:t>
                      </a:r>
                    </a:p>
                  </a:txBody>
                  <a:tcPr marT="12700" marB="12700">
                    <a:solidFill>
                      <a:srgbClr val="F7F9FC"/>
                    </a:solidFill>
                  </a:tcPr>
                </a:tc>
                <a:tc>
                  <a:txBody>
                    <a:bodyPr wrap="square"/>
                    <a:lstStyle/>
                    <a:p>
                      <a:r>
                        <a:rPr sz="950" b="0" i="0">
                          <a:solidFill>
                            <a:srgbClr val="202020"/>
                          </a:solidFill>
                          <a:latin typeface="Calibri"/>
                        </a:rPr>
                        <a:t>Server / platform + AD teams</a:t>
                      </a:r>
                    </a:p>
                  </a:txBody>
                  <a:tcPr marT="12700" marB="12700">
                    <a:solidFill>
                      <a:srgbClr val="F7F9FC"/>
                    </a:solidFill>
                  </a:tcPr>
                </a:tc>
                <a:tc>
                  <a:txBody>
                    <a:bodyPr wrap="square"/>
                    <a:lstStyle/>
                    <a:p>
                      <a:r>
                        <a:rPr sz="950" b="0" i="0">
                          <a:solidFill>
                            <a:srgbClr val="202020"/>
                          </a:solidFill>
                          <a:latin typeface="Calibri"/>
                        </a:rPr>
                        <a:t>Install MSI; configure service</a:t>
                      </a:r>
                    </a:p>
                  </a:txBody>
                  <a:tcPr marT="12700" marB="12700">
                    <a:solidFill>
                      <a:srgbClr val="F7F9FC"/>
                    </a:solidFill>
                  </a:tcPr>
                </a:tc>
              </a:tr>
              <a:tr h="384048">
                <a:tc>
                  <a:txBody>
                    <a:bodyPr wrap="square"/>
                    <a:lstStyle/>
                    <a:p>
                      <a:r>
                        <a:rPr sz="950" b="0" i="0">
                          <a:solidFill>
                            <a:srgbClr val="202020"/>
                          </a:solidFill>
                          <a:latin typeface="Calibri"/>
                        </a:rPr>
                        <a:t>SQL database, login, AG listener (if HA/SQL)</a:t>
                      </a:r>
                    </a:p>
                  </a:txBody>
                  <a:tcPr marT="12700" marB="12700">
                    <a:solidFill>
                      <a:srgbClr val="FFFFFF"/>
                    </a:solidFill>
                  </a:tcPr>
                </a:tc>
                <a:tc>
                  <a:txBody>
                    <a:bodyPr wrap="square"/>
                    <a:lstStyle/>
                    <a:p>
                      <a:r>
                        <a:rPr sz="950" b="0" i="0">
                          <a:solidFill>
                            <a:srgbClr val="202020"/>
                          </a:solidFill>
                          <a:latin typeface="Calibri"/>
                        </a:rPr>
                        <a:t>Database administrator</a:t>
                      </a:r>
                    </a:p>
                  </a:txBody>
                  <a:tcPr marT="12700" marB="12700">
                    <a:solidFill>
                      <a:srgbClr val="FFFFFF"/>
                    </a:solidFill>
                  </a:tcPr>
                </a:tc>
                <a:tc>
                  <a:txBody>
                    <a:bodyPr wrap="square"/>
                    <a:lstStyle/>
                    <a:p>
                      <a:r>
                        <a:rPr sz="950" b="0" i="0">
                          <a:solidFill>
                            <a:srgbClr val="202020"/>
                          </a:solidFill>
                          <a:latin typeface="Calibri"/>
                        </a:rPr>
                        <a:t>Set USE_SQL_SERVER / SQL_CONNECTION_STRING</a:t>
                      </a:r>
                    </a:p>
                  </a:txBody>
                  <a:tcPr marT="12700" marB="12700">
                    <a:solidFill>
                      <a:srgbClr val="FFFFFF"/>
                    </a:solidFill>
                  </a:tcPr>
                </a:tc>
              </a:tr>
              <a:tr h="384048">
                <a:tc>
                  <a:txBody>
                    <a:bodyPr wrap="square"/>
                    <a:lstStyle/>
                    <a:p>
                      <a:r>
                        <a:rPr sz="950" b="0" i="0">
                          <a:solidFill>
                            <a:srgbClr val="202020"/>
                          </a:solidFill>
                          <a:latin typeface="Calibri"/>
                        </a:rPr>
                        <a:t>Connection/shard/item allocation, crawl window, app registration</a:t>
                      </a:r>
                    </a:p>
                  </a:txBody>
                  <a:tcPr marT="12700" marB="12700">
                    <a:solidFill>
                      <a:srgbClr val="F7F9FC"/>
                    </a:solidFill>
                  </a:tcPr>
                </a:tc>
                <a:tc>
                  <a:txBody>
                    <a:bodyPr wrap="square"/>
                    <a:lstStyle/>
                    <a:p>
                      <a:r>
                        <a:rPr sz="950" b="0" i="0">
                          <a:solidFill>
                            <a:srgbClr val="202020"/>
                          </a:solidFill>
                          <a:latin typeface="Calibri"/>
                        </a:rPr>
                        <a:t>Connector platform team / governance owner</a:t>
                      </a:r>
                    </a:p>
                  </a:txBody>
                  <a:tcPr marT="12700" marB="12700">
                    <a:solidFill>
                      <a:srgbClr val="F7F9FC"/>
                    </a:solidFill>
                  </a:tcPr>
                </a:tc>
                <a:tc>
                  <a:txBody>
                    <a:bodyPr wrap="square"/>
                    <a:lstStyle/>
                    <a:p>
                      <a:r>
                        <a:rPr sz="950" b="0" i="0">
                          <a:solidFill>
                            <a:srgbClr val="202020"/>
                          </a:solidFill>
                          <a:latin typeface="Calibri"/>
                        </a:rPr>
                        <a:t>Apply the allocated values</a:t>
                      </a:r>
                    </a:p>
                  </a:txBody>
                  <a:tcPr marT="12700" marB="12700">
                    <a:solidFill>
                      <a:srgbClr val="F7F9FC"/>
                    </a:solidFill>
                  </a:tcPr>
                </a:tc>
              </a:tr>
              <a:tr h="384048">
                <a:tc>
                  <a:txBody>
                    <a:bodyPr wrap="square"/>
                    <a:lstStyle/>
                    <a:p>
                      <a:r>
                        <a:rPr sz="950" b="0" i="0">
                          <a:solidFill>
                            <a:srgbClr val="202020"/>
                          </a:solidFill>
                          <a:latin typeface="Calibri"/>
                        </a:rPr>
                        <a:t>Data-at-rest / redaction / classification policy</a:t>
                      </a:r>
                    </a:p>
                  </a:txBody>
                  <a:tcPr marT="12700" marB="12700">
                    <a:solidFill>
                      <a:srgbClr val="FFFFFF"/>
                    </a:solidFill>
                  </a:tcPr>
                </a:tc>
                <a:tc>
                  <a:txBody>
                    <a:bodyPr wrap="square"/>
                    <a:lstStyle/>
                    <a:p>
                      <a:r>
                        <a:rPr sz="950" b="0" i="0">
                          <a:solidFill>
                            <a:srgbClr val="202020"/>
                          </a:solidFill>
                          <a:latin typeface="Calibri"/>
                        </a:rPr>
                        <a:t>Security / compliance</a:t>
                      </a:r>
                    </a:p>
                  </a:txBody>
                  <a:tcPr marT="12700" marB="12700">
                    <a:solidFill>
                      <a:srgbClr val="FFFFFF"/>
                    </a:solidFill>
                  </a:tcPr>
                </a:tc>
                <a:tc>
                  <a:txBody>
                    <a:bodyPr wrap="square"/>
                    <a:lstStyle/>
                    <a:p>
                      <a:r>
                        <a:rPr sz="950" b="0" i="0">
                          <a:solidFill>
                            <a:srgbClr val="202020"/>
                          </a:solidFill>
                          <a:latin typeface="Calibri"/>
                        </a:rPr>
                        <a:t>Set DEADLETTER_PAYLOAD_MODE / CLASSIFICATION</a:t>
                      </a:r>
                    </a:p>
                  </a:txBody>
                  <a:tcPr marT="12700" marB="12700">
                    <a:solidFill>
                      <a:srgbClr val="FFFFFF"/>
                    </a:solidFill>
                  </a:tcPr>
                </a:tc>
              </a:tr>
              <a:tr h="384048">
                <a:tc>
                  <a:txBody>
                    <a:bodyPr wrap="square"/>
                    <a:lstStyle/>
                    <a:p>
                      <a:r>
                        <a:rPr sz="950" b="0" i="0">
                          <a:solidFill>
                            <a:srgbClr val="202020"/>
                          </a:solidFill>
                          <a:latin typeface="Calibri"/>
                        </a:rPr>
                        <a:t>Monitoring targets, SIEM path, on-call routing</a:t>
                      </a:r>
                    </a:p>
                  </a:txBody>
                  <a:tcPr marT="12700" marB="12700">
                    <a:solidFill>
                      <a:srgbClr val="F7F9FC"/>
                    </a:solidFill>
                  </a:tcPr>
                </a:tc>
                <a:tc>
                  <a:txBody>
                    <a:bodyPr wrap="square"/>
                    <a:lstStyle/>
                    <a:p>
                      <a:r>
                        <a:rPr sz="950" b="0" i="0">
                          <a:solidFill>
                            <a:srgbClr val="202020"/>
                          </a:solidFill>
                          <a:latin typeface="Calibri"/>
                        </a:rPr>
                        <a:t>Monitoring team</a:t>
                      </a:r>
                    </a:p>
                  </a:txBody>
                  <a:tcPr marT="12700" marB="12700">
                    <a:solidFill>
                      <a:srgbClr val="F7F9FC"/>
                    </a:solidFill>
                  </a:tcPr>
                </a:tc>
                <a:tc>
                  <a:txBody>
                    <a:bodyPr wrap="square"/>
                    <a:lstStyle/>
                    <a:p>
                      <a:r>
                        <a:rPr sz="950" b="0" i="0">
                          <a:solidFill>
                            <a:srgbClr val="202020"/>
                          </a:solidFill>
                          <a:latin typeface="Calibri"/>
                        </a:rPr>
                        <a:t>Set HEALTH_PORT / LOG_FORMAT / alerts</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146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12.2 Master intake checklist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Collect every value below </a:t>
            </a:r>
            <a:r>
              <a:rPr sz="1250" b="1" i="0">
                <a:solidFill>
                  <a:srgbClr val="202020"/>
                </a:solidFill>
                <a:latin typeface="Calibri"/>
              </a:rPr>
              <a:t>before</a:t>
            </a:r>
            <a:r>
              <a:rPr sz="1250" b="0" i="0">
                <a:solidFill>
                  <a:srgbClr val="202020"/>
                </a:solidFill>
                <a:latin typeface="Calibri"/>
              </a:rPr>
              <a:t> you begin. Fill the last column with the value (or the person who owns it). Do not write live secrets here — record only where the secret lives (Key Vault name / secret file), never the value itself.</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147</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12.2 Master intake checklist</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2796463"/>
                <a:gridCol w="2796463"/>
                <a:gridCol w="2796463"/>
                <a:gridCol w="2796466"/>
              </a:tblGrid>
              <a:tr h="384048">
                <a:tc>
                  <a:txBody>
                    <a:bodyPr wrap="square"/>
                    <a:lstStyle/>
                    <a:p>
                      <a:r>
                        <a:rPr sz="1050" b="1" i="0">
                          <a:solidFill>
                            <a:srgbClr val="FFFFFF"/>
                          </a:solidFill>
                          <a:latin typeface="Calibri"/>
                        </a:rPr>
                        <a:t>#</a:t>
                      </a:r>
                    </a:p>
                  </a:txBody>
                  <a:tcPr marT="25400" marB="25400">
                    <a:solidFill>
                      <a:srgbClr val="2E5496"/>
                    </a:solidFill>
                  </a:tcPr>
                </a:tc>
                <a:tc>
                  <a:txBody>
                    <a:bodyPr wrap="square"/>
                    <a:lstStyle/>
                    <a:p>
                      <a:r>
                        <a:rPr sz="1050" b="1" i="0">
                          <a:solidFill>
                            <a:srgbClr val="FFFFFF"/>
                          </a:solidFill>
                          <a:latin typeface="Calibri"/>
                        </a:rPr>
                        <a:t>Value to collect</a:t>
                      </a:r>
                    </a:p>
                  </a:txBody>
                  <a:tcPr marT="25400" marB="25400">
                    <a:solidFill>
                      <a:srgbClr val="2E5496"/>
                    </a:solidFill>
                  </a:tcPr>
                </a:tc>
                <a:tc>
                  <a:txBody>
                    <a:bodyPr wrap="square"/>
                    <a:lstStyle/>
                    <a:p>
                      <a:r>
                        <a:rPr sz="1050" b="1" i="0">
                          <a:solidFill>
                            <a:srgbClr val="FFFFFF"/>
                          </a:solidFill>
                          <a:latin typeface="Calibri"/>
                        </a:rPr>
                        <a:t>From (role)</a:t>
                      </a:r>
                    </a:p>
                  </a:txBody>
                  <a:tcPr marT="25400" marB="25400">
                    <a:solidFill>
                      <a:srgbClr val="2E5496"/>
                    </a:solidFill>
                  </a:tcPr>
                </a:tc>
                <a:tc>
                  <a:txBody>
                    <a:bodyPr wrap="square"/>
                    <a:lstStyle/>
                    <a:p>
                      <a:r>
                        <a:rPr sz="1050" b="1" i="0">
                          <a:solidFill>
                            <a:srgbClr val="FFFFFF"/>
                          </a:solidFill>
                          <a:latin typeface="Calibri"/>
                        </a:rPr>
                        <a:t>Value / provided by</a:t>
                      </a:r>
                    </a:p>
                  </a:txBody>
                  <a:tcPr marT="25400" marB="25400">
                    <a:solidFill>
                      <a:srgbClr val="2E5496"/>
                    </a:solidFill>
                  </a:tcPr>
                </a:tc>
              </a:tr>
              <a:tr h="384048">
                <a:tc>
                  <a:txBody>
                    <a:bodyPr wrap="square"/>
                    <a:lstStyle/>
                    <a:p>
                      <a:r>
                        <a:rPr sz="950" b="0" i="0">
                          <a:solidFill>
                            <a:srgbClr val="202020"/>
                          </a:solidFill>
                          <a:latin typeface="Calibri"/>
                        </a:rPr>
                        <a:t>1</a:t>
                      </a:r>
                    </a:p>
                  </a:txBody>
                  <a:tcPr marT="12700" marB="12700">
                    <a:solidFill>
                      <a:srgbClr val="FFFFFF"/>
                    </a:solidFill>
                  </a:tcPr>
                </a:tc>
                <a:tc>
                  <a:txBody>
                    <a:bodyPr wrap="square"/>
                    <a:lstStyle/>
                    <a:p>
                      <a:r>
                        <a:rPr sz="950" b="0" i="0">
                          <a:solidFill>
                            <a:srgbClr val="202020"/>
                          </a:solidFill>
                          <a:latin typeface="Calibri"/>
                        </a:rPr>
                        <a:t>Entra tenant ID</a:t>
                      </a:r>
                    </a:p>
                  </a:txBody>
                  <a:tcPr marT="12700" marB="12700">
                    <a:solidFill>
                      <a:srgbClr val="FFFFFF"/>
                    </a:solidFill>
                  </a:tcPr>
                </a:tc>
                <a:tc>
                  <a:txBody>
                    <a:bodyPr wrap="square"/>
                    <a:lstStyle/>
                    <a:p>
                      <a:r>
                        <a:rPr sz="950" b="0" i="0">
                          <a:solidFill>
                            <a:srgbClr val="202020"/>
                          </a:solidFill>
                          <a:latin typeface="Calibri"/>
                        </a:rPr>
                        <a:t>Entra administrator</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2</a:t>
                      </a:r>
                    </a:p>
                  </a:txBody>
                  <a:tcPr marT="12700" marB="12700">
                    <a:solidFill>
                      <a:srgbClr val="F7F9FC"/>
                    </a:solidFill>
                  </a:tcPr>
                </a:tc>
                <a:tc>
                  <a:txBody>
                    <a:bodyPr wrap="square"/>
                    <a:lstStyle/>
                    <a:p>
                      <a:r>
                        <a:rPr sz="950" b="0" i="0">
                          <a:solidFill>
                            <a:srgbClr val="202020"/>
                          </a:solidFill>
                          <a:latin typeface="Calibri"/>
                        </a:rPr>
                        <a:t>App registration: client id + object id (one per connector)</a:t>
                      </a:r>
                    </a:p>
                  </a:txBody>
                  <a:tcPr marT="12700" marB="12700">
                    <a:solidFill>
                      <a:srgbClr val="F7F9FC"/>
                    </a:solidFill>
                  </a:tcPr>
                </a:tc>
                <a:tc>
                  <a:txBody>
                    <a:bodyPr wrap="square"/>
                    <a:lstStyle/>
                    <a:p>
                      <a:r>
                        <a:rPr sz="950" b="0" i="0">
                          <a:solidFill>
                            <a:srgbClr val="202020"/>
                          </a:solidFill>
                          <a:latin typeface="Calibri"/>
                        </a:rPr>
                        <a:t>Entra administrator</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3</a:t>
                      </a:r>
                    </a:p>
                  </a:txBody>
                  <a:tcPr marT="12700" marB="12700">
                    <a:solidFill>
                      <a:srgbClr val="FFFFFF"/>
                    </a:solidFill>
                  </a:tcPr>
                </a:tc>
                <a:tc>
                  <a:txBody>
                    <a:bodyPr wrap="square"/>
                    <a:lstStyle/>
                    <a:p>
                      <a:r>
                        <a:rPr sz="950" b="0" i="0">
                          <a:solidFill>
                            <a:srgbClr val="202020"/>
                          </a:solidFill>
                          <a:latin typeface="Calibri"/>
                        </a:rPr>
                        <a:t>Admin consent granted for the three Graph app permissions (7.2)</a:t>
                      </a:r>
                    </a:p>
                  </a:txBody>
                  <a:tcPr marT="12700" marB="12700">
                    <a:solidFill>
                      <a:srgbClr val="FFFFFF"/>
                    </a:solidFill>
                  </a:tcPr>
                </a:tc>
                <a:tc>
                  <a:txBody>
                    <a:bodyPr wrap="square"/>
                    <a:lstStyle/>
                    <a:p>
                      <a:r>
                        <a:rPr sz="950" b="0" i="0">
                          <a:solidFill>
                            <a:srgbClr val="202020"/>
                          </a:solidFill>
                          <a:latin typeface="Calibri"/>
                        </a:rPr>
                        <a:t>Entra administrator</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4</a:t>
                      </a:r>
                    </a:p>
                  </a:txBody>
                  <a:tcPr marT="12700" marB="12700">
                    <a:solidFill>
                      <a:srgbClr val="F7F9FC"/>
                    </a:solidFill>
                  </a:tcPr>
                </a:tc>
                <a:tc>
                  <a:txBody>
                    <a:bodyPr wrap="square"/>
                    <a:lstStyle/>
                    <a:p>
                      <a:r>
                        <a:rPr sz="950" b="0" i="0">
                          <a:solidFill>
                            <a:srgbClr val="202020"/>
                          </a:solidFill>
                          <a:latin typeface="Calibri"/>
                        </a:rPr>
                        <a:t>Auth method chosen: client secret OR certificate</a:t>
                      </a:r>
                    </a:p>
                  </a:txBody>
                  <a:tcPr marT="12700" marB="12700">
                    <a:solidFill>
                      <a:srgbClr val="F7F9FC"/>
                    </a:solidFill>
                  </a:tcPr>
                </a:tc>
                <a:tc>
                  <a:txBody>
                    <a:bodyPr wrap="square"/>
                    <a:lstStyle/>
                    <a:p>
                      <a:r>
                        <a:rPr sz="950" b="0" i="0">
                          <a:solidFill>
                            <a:srgbClr val="202020"/>
                          </a:solidFill>
                          <a:latin typeface="Calibri"/>
                        </a:rPr>
                        <a:t>Security team</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5</a:t>
                      </a:r>
                    </a:p>
                  </a:txBody>
                  <a:tcPr marT="12700" marB="12700">
                    <a:solidFill>
                      <a:srgbClr val="FFFFFF"/>
                    </a:solidFill>
                  </a:tcPr>
                </a:tc>
                <a:tc>
                  <a:txBody>
                    <a:bodyPr wrap="square"/>
                    <a:lstStyle/>
                    <a:p>
                      <a:r>
                        <a:rPr sz="950" b="0" i="0">
                          <a:solidFill>
                            <a:srgbClr val="202020"/>
                          </a:solidFill>
                          <a:latin typeface="Calibri"/>
                        </a:rPr>
                        <a:t>Client secret location (Key Vault name / secret file) — NOT the value</a:t>
                      </a:r>
                    </a:p>
                  </a:txBody>
                  <a:tcPr marT="12700" marB="12700">
                    <a:solidFill>
                      <a:srgbClr val="FFFFFF"/>
                    </a:solidFill>
                  </a:tcPr>
                </a:tc>
                <a:tc>
                  <a:txBody>
                    <a:bodyPr wrap="square"/>
                    <a:lstStyle/>
                    <a:p>
                      <a:r>
                        <a:rPr sz="950" b="0" i="0">
                          <a:solidFill>
                            <a:srgbClr val="202020"/>
                          </a:solidFill>
                          <a:latin typeface="Calibri"/>
                        </a:rPr>
                        <a:t>Entra admin / KV team</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6</a:t>
                      </a:r>
                    </a:p>
                  </a:txBody>
                  <a:tcPr marT="12700" marB="12700">
                    <a:solidFill>
                      <a:srgbClr val="F7F9FC"/>
                    </a:solidFill>
                  </a:tcPr>
                </a:tc>
                <a:tc>
                  <a:txBody>
                    <a:bodyPr wrap="square"/>
                    <a:lstStyle/>
                    <a:p>
                      <a:r>
                        <a:rPr sz="950" b="0" i="0">
                          <a:solidFill>
                            <a:srgbClr val="202020"/>
                          </a:solidFill>
                          <a:latin typeface="Calibri"/>
                        </a:rPr>
                        <a:t>Certificate thumbprint or PFX path (+ where the key lives)</a:t>
                      </a:r>
                    </a:p>
                  </a:txBody>
                  <a:tcPr marT="12700" marB="12700">
                    <a:solidFill>
                      <a:srgbClr val="F7F9FC"/>
                    </a:solidFill>
                  </a:tcPr>
                </a:tc>
                <a:tc>
                  <a:txBody>
                    <a:bodyPr wrap="square"/>
                    <a:lstStyle/>
                    <a:p>
                      <a:r>
                        <a:rPr sz="950" b="0" i="0">
                          <a:solidFill>
                            <a:srgbClr val="202020"/>
                          </a:solidFill>
                          <a:latin typeface="Calibri"/>
                        </a:rPr>
                        <a:t>PKI team</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7</a:t>
                      </a:r>
                    </a:p>
                  </a:txBody>
                  <a:tcPr marT="12700" marB="12700">
                    <a:solidFill>
                      <a:srgbClr val="FFFFFF"/>
                    </a:solidFill>
                  </a:tcPr>
                </a:tc>
                <a:tc>
                  <a:txBody>
                    <a:bodyPr wrap="square"/>
                    <a:lstStyle/>
                    <a:p>
                      <a:r>
                        <a:rPr sz="950" b="0" i="0">
                          <a:solidFill>
                            <a:srgbClr val="202020"/>
                          </a:solidFill>
                          <a:latin typeface="Calibri"/>
                        </a:rPr>
                        <a:t>Cert public key uploaded to the app registration</a:t>
                      </a:r>
                    </a:p>
                  </a:txBody>
                  <a:tcPr marT="12700" marB="12700">
                    <a:solidFill>
                      <a:srgbClr val="FFFFFF"/>
                    </a:solidFill>
                  </a:tcPr>
                </a:tc>
                <a:tc>
                  <a:txBody>
                    <a:bodyPr wrap="square"/>
                    <a:lstStyle/>
                    <a:p>
                      <a:r>
                        <a:rPr sz="950" b="0" i="0">
                          <a:solidFill>
                            <a:srgbClr val="202020"/>
                          </a:solidFill>
                          <a:latin typeface="Calibri"/>
                        </a:rPr>
                        <a:t>Entra administrator</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8</a:t>
                      </a:r>
                    </a:p>
                  </a:txBody>
                  <a:tcPr marT="12700" marB="12700">
                    <a:solidFill>
                      <a:srgbClr val="F7F9FC"/>
                    </a:solidFill>
                  </a:tcPr>
                </a:tc>
                <a:tc>
                  <a:txBody>
                    <a:bodyPr wrap="square"/>
                    <a:lstStyle/>
                    <a:p>
                      <a:r>
                        <a:rPr sz="950" b="0" i="0">
                          <a:solidFill>
                            <a:srgbClr val="202020"/>
                          </a:solidFill>
                          <a:latin typeface="Calibri"/>
                        </a:rPr>
                        <a:t>Key Vault URI + get access confirmed</a:t>
                      </a:r>
                    </a:p>
                  </a:txBody>
                  <a:tcPr marT="12700" marB="12700">
                    <a:solidFill>
                      <a:srgbClr val="F7F9FC"/>
                    </a:solidFill>
                  </a:tcPr>
                </a:tc>
                <a:tc>
                  <a:txBody>
                    <a:bodyPr wrap="square"/>
                    <a:lstStyle/>
                    <a:p>
                      <a:r>
                        <a:rPr sz="950" b="0" i="0">
                          <a:solidFill>
                            <a:srgbClr val="202020"/>
                          </a:solidFill>
                          <a:latin typeface="Calibri"/>
                        </a:rPr>
                        <a:t>Key Vault team</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9</a:t>
                      </a:r>
                    </a:p>
                  </a:txBody>
                  <a:tcPr marT="12700" marB="12700">
                    <a:solidFill>
                      <a:srgbClr val="FFFFFF"/>
                    </a:solidFill>
                  </a:tcPr>
                </a:tc>
                <a:tc>
                  <a:txBody>
                    <a:bodyPr wrap="square"/>
                    <a:lstStyle/>
                    <a:p>
                      <a:r>
                        <a:rPr sz="950" b="0" i="0">
                          <a:solidFill>
                            <a:srgbClr val="202020"/>
                          </a:solidFill>
                          <a:latin typeface="Calibri"/>
                        </a:rPr>
                        <a:t>CONNECTOR_ID (per allocation) + CONNECTOR_NAME</a:t>
                      </a:r>
                    </a:p>
                  </a:txBody>
                  <a:tcPr marT="12700" marB="12700">
                    <a:solidFill>
                      <a:srgbClr val="FFFFFF"/>
                    </a:solidFill>
                  </a:tcPr>
                </a:tc>
                <a:tc>
                  <a:txBody>
                    <a:bodyPr wrap="square"/>
                    <a:lstStyle/>
                    <a:p>
                      <a:r>
                        <a:rPr sz="950" b="0" i="0">
                          <a:solidFill>
                            <a:srgbClr val="202020"/>
                          </a:solidFill>
                          <a:latin typeface="Calibri"/>
                        </a:rPr>
                        <a:t>Governance owner</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10</a:t>
                      </a:r>
                    </a:p>
                  </a:txBody>
                  <a:tcPr marT="12700" marB="12700">
                    <a:solidFill>
                      <a:srgbClr val="F7F9FC"/>
                    </a:solidFill>
                  </a:tcPr>
                </a:tc>
                <a:tc>
                  <a:txBody>
                    <a:bodyPr wrap="square"/>
                    <a:lstStyle/>
                    <a:p>
                      <a:r>
                        <a:rPr sz="950" b="0" i="0">
                          <a:solidFill>
                            <a:srgbClr val="202020"/>
                          </a:solidFill>
                          <a:latin typeface="Calibri"/>
                        </a:rPr>
                        <a:t>Connection/shard count + item budget for this connector</a:t>
                      </a:r>
                    </a:p>
                  </a:txBody>
                  <a:tcPr marT="12700" marB="12700">
                    <a:solidFill>
                      <a:srgbClr val="F7F9FC"/>
                    </a:solidFill>
                  </a:tcPr>
                </a:tc>
                <a:tc>
                  <a:txBody>
                    <a:bodyPr wrap="square"/>
                    <a:lstStyle/>
                    <a:p>
                      <a:r>
                        <a:rPr sz="950" b="0" i="0">
                          <a:solidFill>
                            <a:srgbClr val="202020"/>
                          </a:solidFill>
                          <a:latin typeface="Calibri"/>
                        </a:rPr>
                        <a:t>Governance owner</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148</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12.2 Master intake checklist (cont.)</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2796463"/>
                <a:gridCol w="2796463"/>
                <a:gridCol w="2796463"/>
                <a:gridCol w="2796466"/>
              </a:tblGrid>
              <a:tr h="384048">
                <a:tc>
                  <a:txBody>
                    <a:bodyPr wrap="square"/>
                    <a:lstStyle/>
                    <a:p>
                      <a:r>
                        <a:rPr sz="1050" b="1" i="0">
                          <a:solidFill>
                            <a:srgbClr val="FFFFFF"/>
                          </a:solidFill>
                          <a:latin typeface="Calibri"/>
                        </a:rPr>
                        <a:t>#</a:t>
                      </a:r>
                    </a:p>
                  </a:txBody>
                  <a:tcPr marT="25400" marB="25400">
                    <a:solidFill>
                      <a:srgbClr val="2E5496"/>
                    </a:solidFill>
                  </a:tcPr>
                </a:tc>
                <a:tc>
                  <a:txBody>
                    <a:bodyPr wrap="square"/>
                    <a:lstStyle/>
                    <a:p>
                      <a:r>
                        <a:rPr sz="1050" b="1" i="0">
                          <a:solidFill>
                            <a:srgbClr val="FFFFFF"/>
                          </a:solidFill>
                          <a:latin typeface="Calibri"/>
                        </a:rPr>
                        <a:t>Value to collect</a:t>
                      </a:r>
                    </a:p>
                  </a:txBody>
                  <a:tcPr marT="25400" marB="25400">
                    <a:solidFill>
                      <a:srgbClr val="2E5496"/>
                    </a:solidFill>
                  </a:tcPr>
                </a:tc>
                <a:tc>
                  <a:txBody>
                    <a:bodyPr wrap="square"/>
                    <a:lstStyle/>
                    <a:p>
                      <a:r>
                        <a:rPr sz="1050" b="1" i="0">
                          <a:solidFill>
                            <a:srgbClr val="FFFFFF"/>
                          </a:solidFill>
                          <a:latin typeface="Calibri"/>
                        </a:rPr>
                        <a:t>From (role)</a:t>
                      </a:r>
                    </a:p>
                  </a:txBody>
                  <a:tcPr marT="25400" marB="25400">
                    <a:solidFill>
                      <a:srgbClr val="2E5496"/>
                    </a:solidFill>
                  </a:tcPr>
                </a:tc>
                <a:tc>
                  <a:txBody>
                    <a:bodyPr wrap="square"/>
                    <a:lstStyle/>
                    <a:p>
                      <a:r>
                        <a:rPr sz="1050" b="1" i="0">
                          <a:solidFill>
                            <a:srgbClr val="FFFFFF"/>
                          </a:solidFill>
                          <a:latin typeface="Calibri"/>
                        </a:rPr>
                        <a:t>Value / provided by</a:t>
                      </a:r>
                    </a:p>
                  </a:txBody>
                  <a:tcPr marT="25400" marB="25400">
                    <a:solidFill>
                      <a:srgbClr val="2E5496"/>
                    </a:solidFill>
                  </a:tcPr>
                </a:tc>
              </a:tr>
              <a:tr h="384048">
                <a:tc>
                  <a:txBody>
                    <a:bodyPr wrap="square"/>
                    <a:lstStyle/>
                    <a:p>
                      <a:r>
                        <a:rPr sz="950" b="0" i="0">
                          <a:solidFill>
                            <a:srgbClr val="202020"/>
                          </a:solidFill>
                          <a:latin typeface="Calibri"/>
                        </a:rPr>
                        <a:t>11</a:t>
                      </a:r>
                    </a:p>
                  </a:txBody>
                  <a:tcPr marT="12700" marB="12700">
                    <a:solidFill>
                      <a:srgbClr val="FFFFFF"/>
                    </a:solidFill>
                  </a:tcPr>
                </a:tc>
                <a:tc>
                  <a:txBody>
                    <a:bodyPr wrap="square"/>
                    <a:lstStyle/>
                    <a:p>
                      <a:r>
                        <a:rPr sz="950" b="0" i="0">
                          <a:solidFill>
                            <a:srgbClr val="202020"/>
                          </a:solidFill>
                          <a:latin typeface="Calibri"/>
                        </a:rPr>
                        <a:t>Crawl window (from the stagger plan)</a:t>
                      </a:r>
                    </a:p>
                  </a:txBody>
                  <a:tcPr marT="12700" marB="12700">
                    <a:solidFill>
                      <a:srgbClr val="FFFFFF"/>
                    </a:solidFill>
                  </a:tcPr>
                </a:tc>
                <a:tc>
                  <a:txBody>
                    <a:bodyPr wrap="square"/>
                    <a:lstStyle/>
                    <a:p>
                      <a:r>
                        <a:rPr sz="950" b="0" i="0">
                          <a:solidFill>
                            <a:srgbClr val="202020"/>
                          </a:solidFill>
                          <a:latin typeface="Calibri"/>
                        </a:rPr>
                        <a:t>Governance owner</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12</a:t>
                      </a:r>
                    </a:p>
                  </a:txBody>
                  <a:tcPr marT="12700" marB="12700">
                    <a:solidFill>
                      <a:srgbClr val="F7F9FC"/>
                    </a:solidFill>
                  </a:tcPr>
                </a:tc>
                <a:tc>
                  <a:txBody>
                    <a:bodyPr wrap="square"/>
                    <a:lstStyle/>
                    <a:p>
                      <a:r>
                        <a:rPr sz="950" b="0" i="0">
                          <a:solidFill>
                            <a:srgbClr val="202020"/>
                          </a:solidFill>
                          <a:latin typeface="Calibri"/>
                        </a:rPr>
                        <a:t>Source endpoint URL / instance URL</a:t>
                      </a:r>
                    </a:p>
                  </a:txBody>
                  <a:tcPr marT="12700" marB="12700">
                    <a:solidFill>
                      <a:srgbClr val="F7F9FC"/>
                    </a:solidFill>
                  </a:tcPr>
                </a:tc>
                <a:tc>
                  <a:txBody>
                    <a:bodyPr wrap="square"/>
                    <a:lstStyle/>
                    <a:p>
                      <a:r>
                        <a:rPr sz="950" b="0" i="0">
                          <a:solidFill>
                            <a:srgbClr val="202020"/>
                          </a:solidFill>
                          <a:latin typeface="Calibri"/>
                        </a:rPr>
                        <a:t>Source administrator</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13</a:t>
                      </a:r>
                    </a:p>
                  </a:txBody>
                  <a:tcPr marT="12700" marB="12700">
                    <a:solidFill>
                      <a:srgbClr val="FFFFFF"/>
                    </a:solidFill>
                  </a:tcPr>
                </a:tc>
                <a:tc>
                  <a:txBody>
                    <a:bodyPr wrap="square"/>
                    <a:lstStyle/>
                    <a:p>
                      <a:r>
                        <a:rPr sz="950" b="0" i="0">
                          <a:solidFill>
                            <a:srgbClr val="202020"/>
                          </a:solidFill>
                          <a:latin typeface="Calibri"/>
                        </a:rPr>
                        <a:t>Source read-only integration credentials (location, not value)</a:t>
                      </a:r>
                    </a:p>
                  </a:txBody>
                  <a:tcPr marT="12700" marB="12700">
                    <a:solidFill>
                      <a:srgbClr val="FFFFFF"/>
                    </a:solidFill>
                  </a:tcPr>
                </a:tc>
                <a:tc>
                  <a:txBody>
                    <a:bodyPr wrap="square"/>
                    <a:lstStyle/>
                    <a:p>
                      <a:r>
                        <a:rPr sz="950" b="0" i="0">
                          <a:solidFill>
                            <a:srgbClr val="202020"/>
                          </a:solidFill>
                          <a:latin typeface="Calibri"/>
                        </a:rPr>
                        <a:t>Source administrator</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14</a:t>
                      </a:r>
                    </a:p>
                  </a:txBody>
                  <a:tcPr marT="12700" marB="12700">
                    <a:solidFill>
                      <a:srgbClr val="F7F9FC"/>
                    </a:solidFill>
                  </a:tcPr>
                </a:tc>
                <a:tc>
                  <a:txBody>
                    <a:bodyPr wrap="square"/>
                    <a:lstStyle/>
                    <a:p>
                      <a:r>
                        <a:rPr sz="950" b="0" i="0">
                          <a:solidFill>
                            <a:srgbClr val="202020"/>
                          </a:solidFill>
                          <a:latin typeface="Calibri"/>
                        </a:rPr>
                        <a:t>Source-to-Entra principal mapping rule + group object ids</a:t>
                      </a:r>
                    </a:p>
                  </a:txBody>
                  <a:tcPr marT="12700" marB="12700">
                    <a:solidFill>
                      <a:srgbClr val="F7F9FC"/>
                    </a:solidFill>
                  </a:tcPr>
                </a:tc>
                <a:tc>
                  <a:txBody>
                    <a:bodyPr wrap="square"/>
                    <a:lstStyle/>
                    <a:p>
                      <a:r>
                        <a:rPr sz="950" b="0" i="0">
                          <a:solidFill>
                            <a:srgbClr val="202020"/>
                          </a:solidFill>
                          <a:latin typeface="Calibri"/>
                        </a:rPr>
                        <a:t>Source admin + Entra admin</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15</a:t>
                      </a:r>
                    </a:p>
                  </a:txBody>
                  <a:tcPr marT="12700" marB="12700">
                    <a:solidFill>
                      <a:srgbClr val="FFFFFF"/>
                    </a:solidFill>
                  </a:tcPr>
                </a:tc>
                <a:tc>
                  <a:txBody>
                    <a:bodyPr wrap="square"/>
                    <a:lstStyle/>
                    <a:p>
                      <a:r>
                        <a:rPr sz="950" b="0" i="0">
                          <a:solidFill>
                            <a:srgbClr val="202020"/>
                          </a:solidFill>
                          <a:latin typeface="Calibri"/>
                        </a:rPr>
                        <a:t>Proxy URL + bypass list (if any)</a:t>
                      </a:r>
                    </a:p>
                  </a:txBody>
                  <a:tcPr marT="12700" marB="12700">
                    <a:solidFill>
                      <a:srgbClr val="FFFFFF"/>
                    </a:solidFill>
                  </a:tcPr>
                </a:tc>
                <a:tc>
                  <a:txBody>
                    <a:bodyPr wrap="square"/>
                    <a:lstStyle/>
                    <a:p>
                      <a:r>
                        <a:rPr sz="950" b="0" i="0">
                          <a:solidFill>
                            <a:srgbClr val="202020"/>
                          </a:solidFill>
                          <a:latin typeface="Calibri"/>
                        </a:rPr>
                        <a:t>Network team</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16</a:t>
                      </a:r>
                    </a:p>
                  </a:txBody>
                  <a:tcPr marT="12700" marB="12700">
                    <a:solidFill>
                      <a:srgbClr val="F7F9FC"/>
                    </a:solidFill>
                  </a:tcPr>
                </a:tc>
                <a:tc>
                  <a:txBody>
                    <a:bodyPr wrap="square"/>
                    <a:lstStyle/>
                    <a:p>
                      <a:r>
                        <a:rPr sz="950" b="0" i="0">
                          <a:solidFill>
                            <a:srgbClr val="202020"/>
                          </a:solidFill>
                          <a:latin typeface="Calibri"/>
                        </a:rPr>
                        <a:t>TLS inspection CA bundle path (if inspected)</a:t>
                      </a:r>
                    </a:p>
                  </a:txBody>
                  <a:tcPr marT="12700" marB="12700">
                    <a:solidFill>
                      <a:srgbClr val="F7F9FC"/>
                    </a:solidFill>
                  </a:tcPr>
                </a:tc>
                <a:tc>
                  <a:txBody>
                    <a:bodyPr wrap="square"/>
                    <a:lstStyle/>
                    <a:p>
                      <a:r>
                        <a:rPr sz="950" b="0" i="0">
                          <a:solidFill>
                            <a:srgbClr val="202020"/>
                          </a:solidFill>
                          <a:latin typeface="Calibri"/>
                        </a:rPr>
                        <a:t>Network / security team</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17</a:t>
                      </a:r>
                    </a:p>
                  </a:txBody>
                  <a:tcPr marT="12700" marB="12700">
                    <a:solidFill>
                      <a:srgbClr val="FFFFFF"/>
                    </a:solidFill>
                  </a:tcPr>
                </a:tc>
                <a:tc>
                  <a:txBody>
                    <a:bodyPr wrap="square"/>
                    <a:lstStyle/>
                    <a:p>
                      <a:r>
                        <a:rPr sz="950" b="0" i="0">
                          <a:solidFill>
                            <a:srgbClr val="202020"/>
                          </a:solidFill>
                          <a:latin typeface="Calibri"/>
                        </a:rPr>
                        <a:t>Outbound 443 firewall rules confirmed</a:t>
                      </a:r>
                    </a:p>
                  </a:txBody>
                  <a:tcPr marT="12700" marB="12700">
                    <a:solidFill>
                      <a:srgbClr val="FFFFFF"/>
                    </a:solidFill>
                  </a:tcPr>
                </a:tc>
                <a:tc>
                  <a:txBody>
                    <a:bodyPr wrap="square"/>
                    <a:lstStyle/>
                    <a:p>
                      <a:r>
                        <a:rPr sz="950" b="0" i="0">
                          <a:solidFill>
                            <a:srgbClr val="202020"/>
                          </a:solidFill>
                          <a:latin typeface="Calibri"/>
                        </a:rPr>
                        <a:t>Network team</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18</a:t>
                      </a:r>
                    </a:p>
                  </a:txBody>
                  <a:tcPr marT="12700" marB="12700">
                    <a:solidFill>
                      <a:srgbClr val="F7F9FC"/>
                    </a:solidFill>
                  </a:tcPr>
                </a:tc>
                <a:tc>
                  <a:txBody>
                    <a:bodyPr wrap="square"/>
                    <a:lstStyle/>
                    <a:p>
                      <a:r>
                        <a:rPr sz="950" b="0" i="0">
                          <a:solidFill>
                            <a:srgbClr val="202020"/>
                          </a:solidFill>
                          <a:latin typeface="Calibri"/>
                        </a:rPr>
                        <a:t>Windows Server host(s) + .NET 10 runtime present</a:t>
                      </a:r>
                    </a:p>
                  </a:txBody>
                  <a:tcPr marT="12700" marB="12700">
                    <a:solidFill>
                      <a:srgbClr val="F7F9FC"/>
                    </a:solidFill>
                  </a:tcPr>
                </a:tc>
                <a:tc>
                  <a:txBody>
                    <a:bodyPr wrap="square"/>
                    <a:lstStyle/>
                    <a:p>
                      <a:r>
                        <a:rPr sz="950" b="0" i="0">
                          <a:solidFill>
                            <a:srgbClr val="202020"/>
                          </a:solidFill>
                          <a:latin typeface="Calibri"/>
                        </a:rPr>
                        <a:t>Server team</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19</a:t>
                      </a:r>
                    </a:p>
                  </a:txBody>
                  <a:tcPr marT="12700" marB="12700">
                    <a:solidFill>
                      <a:srgbClr val="FFFFFF"/>
                    </a:solidFill>
                  </a:tcPr>
                </a:tc>
                <a:tc>
                  <a:txBody>
                    <a:bodyPr wrap="square"/>
                    <a:lstStyle/>
                    <a:p>
                      <a:r>
                        <a:rPr sz="950" b="0" i="0">
                          <a:solidFill>
                            <a:srgbClr val="202020"/>
                          </a:solidFill>
                          <a:latin typeface="Calibri"/>
                        </a:rPr>
                        <a:t>Service account (gMSA) with logon-as-a-service</a:t>
                      </a:r>
                    </a:p>
                  </a:txBody>
                  <a:tcPr marT="12700" marB="12700">
                    <a:solidFill>
                      <a:srgbClr val="FFFFFF"/>
                    </a:solidFill>
                  </a:tcPr>
                </a:tc>
                <a:tc>
                  <a:txBody>
                    <a:bodyPr wrap="square"/>
                    <a:lstStyle/>
                    <a:p>
                      <a:r>
                        <a:rPr sz="950" b="0" i="0">
                          <a:solidFill>
                            <a:srgbClr val="202020"/>
                          </a:solidFill>
                          <a:latin typeface="Calibri"/>
                        </a:rPr>
                        <a:t>Active Directory team</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20</a:t>
                      </a:r>
                    </a:p>
                  </a:txBody>
                  <a:tcPr marT="12700" marB="12700">
                    <a:solidFill>
                      <a:srgbClr val="F7F9FC"/>
                    </a:solidFill>
                  </a:tcPr>
                </a:tc>
                <a:tc>
                  <a:txBody>
                    <a:bodyPr wrap="square"/>
                    <a:lstStyle/>
                    <a:p>
                      <a:r>
                        <a:rPr sz="950" b="0" i="0">
                          <a:solidFill>
                            <a:srgbClr val="202020"/>
                          </a:solidFill>
                          <a:latin typeface="Calibri"/>
                        </a:rPr>
                        <a:t>SQL connection string + login + AG listener (if SQL/HA)</a:t>
                      </a:r>
                    </a:p>
                  </a:txBody>
                  <a:tcPr marT="12700" marB="12700">
                    <a:solidFill>
                      <a:srgbClr val="F7F9FC"/>
                    </a:solidFill>
                  </a:tcPr>
                </a:tc>
                <a:tc>
                  <a:txBody>
                    <a:bodyPr wrap="square"/>
                    <a:lstStyle/>
                    <a:p>
                      <a:r>
                        <a:rPr sz="950" b="0" i="0">
                          <a:solidFill>
                            <a:srgbClr val="202020"/>
                          </a:solidFill>
                          <a:latin typeface="Calibri"/>
                        </a:rPr>
                        <a:t>Database administrator</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149</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12.2 Master intake checklist (cont.)</a:t>
            </a:r>
          </a:p>
        </p:txBody>
      </p:sp>
      <p:graphicFrame>
        <p:nvGraphicFramePr>
          <p:cNvPr id="5" name="Table 4"/>
          <p:cNvGraphicFramePr>
            <a:graphicFrameLocks noGrp="1"/>
          </p:cNvGraphicFramePr>
          <p:nvPr/>
        </p:nvGraphicFramePr>
        <p:xfrm>
          <a:off x="502920" y="1188720"/>
          <a:ext cx="11185855" cy="1536192"/>
        </p:xfrm>
        <a:graphic>
          <a:graphicData uri="http://schemas.openxmlformats.org/drawingml/2006/table">
            <a:tbl>
              <a:tblPr firstRow="1" bandRow="1">
                <a:tableStyleId>{5C22544A-7EE6-4342-B048-85BDC9FD1C3A}</a:tableStyleId>
              </a:tblPr>
              <a:tblGrid>
                <a:gridCol w="2796463"/>
                <a:gridCol w="2796463"/>
                <a:gridCol w="2796463"/>
                <a:gridCol w="2796466"/>
              </a:tblGrid>
              <a:tr h="384048">
                <a:tc>
                  <a:txBody>
                    <a:bodyPr wrap="square"/>
                    <a:lstStyle/>
                    <a:p>
                      <a:r>
                        <a:rPr sz="1050" b="1" i="0">
                          <a:solidFill>
                            <a:srgbClr val="FFFFFF"/>
                          </a:solidFill>
                          <a:latin typeface="Calibri"/>
                        </a:rPr>
                        <a:t>#</a:t>
                      </a:r>
                    </a:p>
                  </a:txBody>
                  <a:tcPr marT="25400" marB="25400">
                    <a:solidFill>
                      <a:srgbClr val="2E5496"/>
                    </a:solidFill>
                  </a:tcPr>
                </a:tc>
                <a:tc>
                  <a:txBody>
                    <a:bodyPr wrap="square"/>
                    <a:lstStyle/>
                    <a:p>
                      <a:r>
                        <a:rPr sz="1050" b="1" i="0">
                          <a:solidFill>
                            <a:srgbClr val="FFFFFF"/>
                          </a:solidFill>
                          <a:latin typeface="Calibri"/>
                        </a:rPr>
                        <a:t>Value to collect</a:t>
                      </a:r>
                    </a:p>
                  </a:txBody>
                  <a:tcPr marT="25400" marB="25400">
                    <a:solidFill>
                      <a:srgbClr val="2E5496"/>
                    </a:solidFill>
                  </a:tcPr>
                </a:tc>
                <a:tc>
                  <a:txBody>
                    <a:bodyPr wrap="square"/>
                    <a:lstStyle/>
                    <a:p>
                      <a:r>
                        <a:rPr sz="1050" b="1" i="0">
                          <a:solidFill>
                            <a:srgbClr val="FFFFFF"/>
                          </a:solidFill>
                          <a:latin typeface="Calibri"/>
                        </a:rPr>
                        <a:t>From (role)</a:t>
                      </a:r>
                    </a:p>
                  </a:txBody>
                  <a:tcPr marT="25400" marB="25400">
                    <a:solidFill>
                      <a:srgbClr val="2E5496"/>
                    </a:solidFill>
                  </a:tcPr>
                </a:tc>
                <a:tc>
                  <a:txBody>
                    <a:bodyPr wrap="square"/>
                    <a:lstStyle/>
                    <a:p>
                      <a:r>
                        <a:rPr sz="1050" b="1" i="0">
                          <a:solidFill>
                            <a:srgbClr val="FFFFFF"/>
                          </a:solidFill>
                          <a:latin typeface="Calibri"/>
                        </a:rPr>
                        <a:t>Value / provided by</a:t>
                      </a:r>
                    </a:p>
                  </a:txBody>
                  <a:tcPr marT="25400" marB="25400">
                    <a:solidFill>
                      <a:srgbClr val="2E5496"/>
                    </a:solidFill>
                  </a:tcPr>
                </a:tc>
              </a:tr>
              <a:tr h="384048">
                <a:tc>
                  <a:txBody>
                    <a:bodyPr wrap="square"/>
                    <a:lstStyle/>
                    <a:p>
                      <a:r>
                        <a:rPr sz="950" b="0" i="0">
                          <a:solidFill>
                            <a:srgbClr val="202020"/>
                          </a:solidFill>
                          <a:latin typeface="Calibri"/>
                        </a:rPr>
                        <a:t>21</a:t>
                      </a:r>
                    </a:p>
                  </a:txBody>
                  <a:tcPr marT="12700" marB="12700">
                    <a:solidFill>
                      <a:srgbClr val="FFFFFF"/>
                    </a:solidFill>
                  </a:tcPr>
                </a:tc>
                <a:tc>
                  <a:txBody>
                    <a:bodyPr wrap="square"/>
                    <a:lstStyle/>
                    <a:p>
                      <a:r>
                        <a:rPr sz="950" b="0" i="0">
                          <a:solidFill>
                            <a:srgbClr val="202020"/>
                          </a:solidFill>
                          <a:latin typeface="Calibri"/>
                        </a:rPr>
                        <a:t>HA plan: single node or active-active (node count)</a:t>
                      </a:r>
                    </a:p>
                  </a:txBody>
                  <a:tcPr marT="12700" marB="12700">
                    <a:solidFill>
                      <a:srgbClr val="FFFFFF"/>
                    </a:solidFill>
                  </a:tcPr>
                </a:tc>
                <a:tc>
                  <a:txBody>
                    <a:bodyPr wrap="square"/>
                    <a:lstStyle/>
                    <a:p>
                      <a:r>
                        <a:rPr sz="950" b="0" i="0">
                          <a:solidFill>
                            <a:srgbClr val="202020"/>
                          </a:solidFill>
                          <a:latin typeface="Calibri"/>
                        </a:rPr>
                        <a:t>Platform team</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22</a:t>
                      </a:r>
                    </a:p>
                  </a:txBody>
                  <a:tcPr marT="12700" marB="12700">
                    <a:solidFill>
                      <a:srgbClr val="F7F9FC"/>
                    </a:solidFill>
                  </a:tcPr>
                </a:tc>
                <a:tc>
                  <a:txBody>
                    <a:bodyPr wrap="square"/>
                    <a:lstStyle/>
                    <a:p>
                      <a:r>
                        <a:rPr sz="950" b="0" i="0">
                          <a:solidFill>
                            <a:srgbClr val="202020"/>
                          </a:solidFill>
                          <a:latin typeface="Consolas"/>
                        </a:rPr>
                        <a:t>DEADLETTER_PAYLOAD_MODE + CLASSIFICATION policy</a:t>
                      </a:r>
                    </a:p>
                  </a:txBody>
                  <a:tcPr marT="12700" marB="12700">
                    <a:solidFill>
                      <a:srgbClr val="F7F9FC"/>
                    </a:solidFill>
                  </a:tcPr>
                </a:tc>
                <a:tc>
                  <a:txBody>
                    <a:bodyPr wrap="square"/>
                    <a:lstStyle/>
                    <a:p>
                      <a:r>
                        <a:rPr sz="950" b="0" i="0">
                          <a:solidFill>
                            <a:srgbClr val="202020"/>
                          </a:solidFill>
                          <a:latin typeface="Calibri"/>
                        </a:rPr>
                        <a:t>Security / compliance</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23</a:t>
                      </a:r>
                    </a:p>
                  </a:txBody>
                  <a:tcPr marT="12700" marB="12700">
                    <a:solidFill>
                      <a:srgbClr val="FFFFFF"/>
                    </a:solidFill>
                  </a:tcPr>
                </a:tc>
                <a:tc>
                  <a:txBody>
                    <a:bodyPr wrap="square"/>
                    <a:lstStyle/>
                    <a:p>
                      <a:r>
                        <a:rPr sz="950" b="0" i="0">
                          <a:solidFill>
                            <a:srgbClr val="202020"/>
                          </a:solidFill>
                          <a:latin typeface="Calibri"/>
                        </a:rPr>
                        <a:t>HEALTH_PORT + monitoring/SIEM targets + on-call routing</a:t>
                      </a:r>
                    </a:p>
                  </a:txBody>
                  <a:tcPr marT="12700" marB="12700">
                    <a:solidFill>
                      <a:srgbClr val="FFFFFF"/>
                    </a:solidFill>
                  </a:tcPr>
                </a:tc>
                <a:tc>
                  <a:txBody>
                    <a:bodyPr wrap="square"/>
                    <a:lstStyle/>
                    <a:p>
                      <a:r>
                        <a:rPr sz="950" b="0" i="0">
                          <a:solidFill>
                            <a:srgbClr val="202020"/>
                          </a:solidFill>
                          <a:latin typeface="Calibri"/>
                        </a:rPr>
                        <a:t>Monitoring team</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12.2 Master intake checklist</a:t>
            </a:r>
          </a:p>
        </p:txBody>
      </p:sp>
      <p:sp>
        <p:nvSpPr>
          <p:cNvPr id="5" name="Rectangle 4"/>
          <p:cNvSpPr/>
          <p:nvPr/>
        </p:nvSpPr>
        <p:spPr>
          <a:xfrm>
            <a:off x="502920" y="1463040"/>
            <a:ext cx="11185855" cy="3291840"/>
          </a:xfrm>
          <a:prstGeom prst="rect">
            <a:avLst/>
          </a:prstGeom>
          <a:solidFill>
            <a:srgbClr val="F0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6A3D9A"/>
                </a:solidFill>
                <a:latin typeface="Calibri"/>
              </a:rPr>
              <a:t>Information to request:  </a:t>
            </a:r>
            <a:r>
              <a:rPr sz="1400" b="1" i="0">
                <a:solidFill>
                  <a:srgbClr val="202020"/>
                </a:solidFill>
                <a:latin typeface="Calibri"/>
              </a:rPr>
              <a:t>Information to request: </a:t>
            </a:r>
            <a:r>
              <a:rPr sz="1400" b="0" i="0">
                <a:solidFill>
                  <a:srgbClr val="202020"/>
                </a:solidFill>
                <a:latin typeface="Calibri"/>
              </a:rPr>
              <a:t>This checklist is deliberately generic to all five connectors. Your specific connector's guide adds its own source-specific rows (for example financial-field mode, content exclusions, attachment ingestion or filter files) — complete both before deploying.</a:t>
            </a:r>
          </a:p>
        </p:txBody>
      </p:sp>
      <p:sp>
        <p:nvSpPr>
          <p:cNvPr id="6" name="Rectangle 5"/>
          <p:cNvSpPr/>
          <p:nvPr/>
        </p:nvSpPr>
        <p:spPr>
          <a:xfrm>
            <a:off x="502920" y="1463040"/>
            <a:ext cx="128016" cy="3291840"/>
          </a:xfrm>
          <a:prstGeom prst="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151</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Tenant &amp; Common Concepts</a:t>
            </a:r>
          </a:p>
          <a:p>
            <a:r>
              <a:rPr sz="3000" b="1" i="0">
                <a:solidFill>
                  <a:srgbClr val="1F3864"/>
                </a:solidFill>
                <a:latin typeface="Calibri"/>
              </a:rPr>
              <a:t>13. Master glossary</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152</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Microsoft 365 Copilot</a:t>
            </a:r>
          </a:p>
          <a:p>
            <a:pPr>
              <a:spcAft>
                <a:spcPts val="0"/>
              </a:spcAft>
            </a:pPr>
            <a:r>
              <a:rPr sz="1000" b="1" i="0">
                <a:solidFill>
                  <a:srgbClr val="595959"/>
                </a:solidFill>
                <a:latin typeface="Calibri"/>
              </a:rPr>
              <a:t>What it is  </a:t>
            </a:r>
            <a:r>
              <a:rPr sz="1100" b="0" i="0">
                <a:solidFill>
                  <a:srgbClr val="202020"/>
                </a:solidFill>
                <a:latin typeface="Calibri"/>
              </a:rPr>
              <a:t>The AI assistant in Microsoft 365 that answers questions by retrieving permitted content from the organisation's index and reasoning over it.</a:t>
            </a:r>
          </a:p>
          <a:p>
            <a:pPr>
              <a:spcAft>
                <a:spcPts val="200"/>
              </a:spcAft>
            </a:pPr>
            <a:r>
              <a:rPr sz="1000" b="1" i="0">
                <a:solidFill>
                  <a:srgbClr val="595959"/>
                </a:solidFill>
                <a:latin typeface="Calibri"/>
              </a:rPr>
              <a:t>Why it matters  </a:t>
            </a:r>
            <a:r>
              <a:rPr sz="1100" b="0" i="0">
                <a:solidFill>
                  <a:srgbClr val="202020"/>
                </a:solidFill>
                <a:latin typeface="Calibri"/>
              </a:rPr>
              <a:t>Copilot is the consumer of everything your connector ingests; it can only use content that is indexed and that the asking user is allowed to see.</a:t>
            </a:r>
          </a:p>
          <a:p>
            <a:pPr>
              <a:spcBef>
                <a:spcPts val="600"/>
              </a:spcBef>
              <a:spcAft>
                <a:spcPts val="100"/>
              </a:spcAft>
            </a:pPr>
            <a:r>
              <a:rPr sz="1400" b="1" i="0">
                <a:solidFill>
                  <a:srgbClr val="1F3864"/>
                </a:solidFill>
                <a:latin typeface="Calibri"/>
              </a:rPr>
              <a:t>Grounding</a:t>
            </a:r>
          </a:p>
          <a:p>
            <a:pPr>
              <a:spcAft>
                <a:spcPts val="0"/>
              </a:spcAft>
            </a:pPr>
            <a:r>
              <a:rPr sz="1000" b="1" i="0">
                <a:solidFill>
                  <a:srgbClr val="595959"/>
                </a:solidFill>
                <a:latin typeface="Calibri"/>
              </a:rPr>
              <a:t>What it is  </a:t>
            </a:r>
            <a:r>
              <a:rPr sz="1100" b="0" i="0">
                <a:solidFill>
                  <a:srgbClr val="202020"/>
                </a:solidFill>
                <a:latin typeface="Calibri"/>
              </a:rPr>
              <a:t>Answering from real, retrieved, permitted content rather than the language model's memory.</a:t>
            </a:r>
          </a:p>
          <a:p>
            <a:pPr>
              <a:spcAft>
                <a:spcPts val="200"/>
              </a:spcAft>
            </a:pPr>
            <a:r>
              <a:rPr sz="1000" b="1" i="0">
                <a:solidFill>
                  <a:srgbClr val="595959"/>
                </a:solidFill>
                <a:latin typeface="Calibri"/>
              </a:rPr>
              <a:t>Why it matters  </a:t>
            </a:r>
            <a:r>
              <a:rPr sz="1100" b="0" i="0">
                <a:solidFill>
                  <a:srgbClr val="202020"/>
                </a:solidFill>
                <a:latin typeface="Calibri"/>
              </a:rPr>
              <a:t>Your connector's items become grounding evidence — this is why Copilot can cite an external record instead of guessing.</a:t>
            </a:r>
          </a:p>
          <a:p>
            <a:pPr>
              <a:spcBef>
                <a:spcPts val="600"/>
              </a:spcBef>
              <a:spcAft>
                <a:spcPts val="100"/>
              </a:spcAft>
            </a:pPr>
            <a:r>
              <a:rPr sz="1400" b="1" i="0">
                <a:solidFill>
                  <a:srgbClr val="1F3864"/>
                </a:solidFill>
                <a:latin typeface="Calibri"/>
              </a:rPr>
              <a:t>Semantic index</a:t>
            </a:r>
          </a:p>
          <a:p>
            <a:pPr>
              <a:spcAft>
                <a:spcPts val="0"/>
              </a:spcAft>
            </a:pPr>
            <a:r>
              <a:rPr sz="1000" b="1" i="0">
                <a:solidFill>
                  <a:srgbClr val="595959"/>
                </a:solidFill>
                <a:latin typeface="Calibri"/>
              </a:rPr>
              <a:t>What it is  </a:t>
            </a:r>
            <a:r>
              <a:rPr sz="1100" b="0" i="0">
                <a:solidFill>
                  <a:srgbClr val="202020"/>
                </a:solidFill>
                <a:latin typeface="Calibri"/>
              </a:rPr>
              <a:t>Microsoft's meaning-aware search index that matches on intent, not just keywords, and feeds Copilot grounding.</a:t>
            </a:r>
          </a:p>
          <a:p>
            <a:pPr>
              <a:spcAft>
                <a:spcPts val="200"/>
              </a:spcAft>
            </a:pPr>
            <a:r>
              <a:rPr sz="1000" b="1" i="0">
                <a:solidFill>
                  <a:srgbClr val="595959"/>
                </a:solidFill>
                <a:latin typeface="Calibri"/>
              </a:rPr>
              <a:t>Why it matters  </a:t>
            </a:r>
            <a:r>
              <a:rPr sz="1100" b="0" i="0">
                <a:solidFill>
                  <a:srgbClr val="202020"/>
                </a:solidFill>
                <a:latin typeface="Calibri"/>
              </a:rPr>
              <a:t>External items your connector pushes join this index alongside native Microsoft 365 content.</a:t>
            </a:r>
          </a:p>
          <a:p>
            <a:pPr>
              <a:spcBef>
                <a:spcPts val="600"/>
              </a:spcBef>
              <a:spcAft>
                <a:spcPts val="100"/>
              </a:spcAft>
            </a:pPr>
            <a:r>
              <a:rPr sz="1400" b="1" i="0">
                <a:solidFill>
                  <a:srgbClr val="1F3864"/>
                </a:solidFill>
                <a:latin typeface="Calibri"/>
              </a:rPr>
              <a:t>Search index</a:t>
            </a:r>
          </a:p>
          <a:p>
            <a:pPr>
              <a:spcAft>
                <a:spcPts val="0"/>
              </a:spcAft>
            </a:pPr>
            <a:r>
              <a:rPr sz="1000" b="1" i="0">
                <a:solidFill>
                  <a:srgbClr val="595959"/>
                </a:solidFill>
                <a:latin typeface="Calibri"/>
              </a:rPr>
              <a:t>What it is  </a:t>
            </a:r>
            <a:r>
              <a:rPr sz="1100" b="0" i="0">
                <a:solidFill>
                  <a:srgbClr val="202020"/>
                </a:solidFill>
                <a:latin typeface="Calibri"/>
              </a:rPr>
              <a:t>The keyword/metadata index behind Microsoft Search.</a:t>
            </a:r>
          </a:p>
          <a:p>
            <a:pPr>
              <a:spcAft>
                <a:spcPts val="200"/>
              </a:spcAft>
            </a:pPr>
            <a:r>
              <a:rPr sz="1000" b="1" i="0">
                <a:solidFill>
                  <a:srgbClr val="595959"/>
                </a:solidFill>
                <a:latin typeface="Calibri"/>
              </a:rPr>
              <a:t>Why it matters  </a:t>
            </a:r>
            <a:r>
              <a:rPr sz="1100" b="0" i="0">
                <a:solidFill>
                  <a:srgbClr val="202020"/>
                </a:solidFill>
                <a:latin typeface="Calibri"/>
              </a:rPr>
              <a:t>Newly ingested items are searchable here after Microsoft finishes indexing — a short, asynchronous delay after your connector reports success.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153</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Microsoft Graph</a:t>
            </a:r>
          </a:p>
          <a:p>
            <a:pPr>
              <a:spcAft>
                <a:spcPts val="0"/>
              </a:spcAft>
            </a:pPr>
            <a:r>
              <a:rPr sz="1000" b="1" i="0">
                <a:solidFill>
                  <a:srgbClr val="595959"/>
                </a:solidFill>
                <a:latin typeface="Calibri"/>
              </a:rPr>
              <a:t>What it is  </a:t>
            </a:r>
            <a:r>
              <a:rPr sz="1100" b="0" i="0">
                <a:solidFill>
                  <a:srgbClr val="202020"/>
                </a:solidFill>
                <a:latin typeface="Calibri"/>
              </a:rPr>
              <a:t>The single HTTPS REST API for Microsoft 365; the connector uses its connectors endpoints.</a:t>
            </a:r>
          </a:p>
          <a:p>
            <a:pPr>
              <a:spcAft>
                <a:spcPts val="200"/>
              </a:spcAft>
            </a:pPr>
            <a:r>
              <a:rPr sz="1000" b="1" i="0">
                <a:solidFill>
                  <a:srgbClr val="595959"/>
                </a:solidFill>
                <a:latin typeface="Calibri"/>
              </a:rPr>
              <a:t>Why it matters  </a:t>
            </a:r>
            <a:r>
              <a:rPr sz="1100" b="0" i="0">
                <a:solidFill>
                  <a:srgbClr val="202020"/>
                </a:solidFill>
                <a:latin typeface="Calibri"/>
              </a:rPr>
              <a:t>Every connection, schema and item operation is a Graph call — authenticated with a token and subject to throttling.</a:t>
            </a:r>
          </a:p>
          <a:p>
            <a:pPr>
              <a:spcBef>
                <a:spcPts val="600"/>
              </a:spcBef>
              <a:spcAft>
                <a:spcPts val="100"/>
              </a:spcAft>
            </a:pPr>
            <a:r>
              <a:rPr sz="1400" b="1" i="0">
                <a:solidFill>
                  <a:srgbClr val="1F3864"/>
                </a:solidFill>
                <a:latin typeface="Calibri"/>
              </a:rPr>
              <a:t>External connection</a:t>
            </a:r>
          </a:p>
          <a:p>
            <a:pPr>
              <a:spcAft>
                <a:spcPts val="0"/>
              </a:spcAft>
            </a:pPr>
            <a:r>
              <a:rPr sz="1000" b="1" i="0">
                <a:solidFill>
                  <a:srgbClr val="595959"/>
                </a:solidFill>
                <a:latin typeface="Calibri"/>
              </a:rPr>
              <a:t>What it is  </a:t>
            </a:r>
            <a:r>
              <a:rPr sz="1100" b="0" i="0">
                <a:solidFill>
                  <a:srgbClr val="202020"/>
                </a:solidFill>
                <a:latin typeface="Calibri"/>
              </a:rPr>
              <a:t>The named container (id set by CONNECTOR_ID) that holds a connector's items in the tenant; visible in the M365 admin center.</a:t>
            </a:r>
          </a:p>
          <a:p>
            <a:pPr>
              <a:spcAft>
                <a:spcPts val="200"/>
              </a:spcAft>
            </a:pPr>
            <a:r>
              <a:rPr sz="1000" b="1" i="0">
                <a:solidFill>
                  <a:srgbClr val="595959"/>
                </a:solidFill>
                <a:latin typeface="Calibri"/>
              </a:rPr>
              <a:t>Why it matters  </a:t>
            </a:r>
            <a:r>
              <a:rPr sz="1100" b="0" i="0">
                <a:solidFill>
                  <a:srgbClr val="202020"/>
                </a:solidFill>
                <a:latin typeface="Calibri"/>
              </a:rPr>
              <a:t>A connector has one, or several when sharded; each counts against the 30-per-tenant limit.</a:t>
            </a:r>
          </a:p>
          <a:p>
            <a:pPr>
              <a:spcBef>
                <a:spcPts val="600"/>
              </a:spcBef>
              <a:spcAft>
                <a:spcPts val="100"/>
              </a:spcAft>
            </a:pPr>
            <a:r>
              <a:rPr sz="1400" b="1" i="0">
                <a:solidFill>
                  <a:srgbClr val="1F3864"/>
                </a:solidFill>
                <a:latin typeface="Calibri"/>
              </a:rPr>
              <a:t>External item</a:t>
            </a:r>
          </a:p>
          <a:p>
            <a:pPr>
              <a:spcAft>
                <a:spcPts val="0"/>
              </a:spcAft>
            </a:pPr>
            <a:r>
              <a:rPr sz="1000" b="1" i="0">
                <a:solidFill>
                  <a:srgbClr val="595959"/>
                </a:solidFill>
                <a:latin typeface="Calibri"/>
              </a:rPr>
              <a:t>What it is  </a:t>
            </a:r>
            <a:r>
              <a:rPr sz="1100" b="0" i="0">
                <a:solidFill>
                  <a:srgbClr val="202020"/>
                </a:solidFill>
                <a:latin typeface="Calibri"/>
              </a:rPr>
              <a:t>One source record turned into an indexed unit: id, properties, content and ACL.</a:t>
            </a:r>
          </a:p>
          <a:p>
            <a:pPr>
              <a:spcAft>
                <a:spcPts val="200"/>
              </a:spcAft>
            </a:pPr>
            <a:r>
              <a:rPr sz="1000" b="1" i="0">
                <a:solidFill>
                  <a:srgbClr val="595959"/>
                </a:solidFill>
                <a:latin typeface="Calibri"/>
              </a:rPr>
              <a:t>Why it matters  </a:t>
            </a:r>
            <a:r>
              <a:rPr sz="1100" b="0" i="0">
                <a:solidFill>
                  <a:srgbClr val="202020"/>
                </a:solidFill>
                <a:latin typeface="Calibri"/>
              </a:rPr>
              <a:t>This is the atom the connector pushes and Copilot retrieves; its ACL is what makes results security-trimmed.</a:t>
            </a:r>
          </a:p>
          <a:p>
            <a:pPr>
              <a:spcBef>
                <a:spcPts val="600"/>
              </a:spcBef>
              <a:spcAft>
                <a:spcPts val="100"/>
              </a:spcAft>
            </a:pPr>
            <a:r>
              <a:rPr sz="1400" b="1" i="0">
                <a:solidFill>
                  <a:srgbClr val="1F3864"/>
                </a:solidFill>
                <a:latin typeface="Calibri"/>
              </a:rPr>
              <a:t>Schema / property</a:t>
            </a:r>
          </a:p>
          <a:p>
            <a:pPr>
              <a:spcAft>
                <a:spcPts val="0"/>
              </a:spcAft>
            </a:pPr>
            <a:r>
              <a:rPr sz="1000" b="1" i="0">
                <a:solidFill>
                  <a:srgbClr val="595959"/>
                </a:solidFill>
                <a:latin typeface="Calibri"/>
              </a:rPr>
              <a:t>What it is  </a:t>
            </a:r>
            <a:r>
              <a:rPr sz="1100" b="0" i="0">
                <a:solidFill>
                  <a:srgbClr val="202020"/>
                </a:solidFill>
                <a:latin typeface="Calibri"/>
              </a:rPr>
              <a:t>The declared shape of items in a connection: up to 128 typed properties, each flagged searchable / queryable / retrievable / refinable.</a:t>
            </a:r>
          </a:p>
          <a:p>
            <a:pPr>
              <a:spcAft>
                <a:spcPts val="200"/>
              </a:spcAft>
            </a:pPr>
            <a:r>
              <a:rPr sz="1000" b="1" i="0">
                <a:solidFill>
                  <a:srgbClr val="595959"/>
                </a:solidFill>
                <a:latin typeface="Calibri"/>
              </a:rPr>
              <a:t>Why it matters  </a:t>
            </a:r>
            <a:r>
              <a:rPr sz="1100" b="0" i="0">
                <a:solidFill>
                  <a:srgbClr val="202020"/>
                </a:solidFill>
                <a:latin typeface="Calibri"/>
              </a:rPr>
              <a:t>Schema is provisioned asynchronously, cannot be deleted, and refinable flags cannot be added later — so schema changes are deliberate, planned acts.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154</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$batch</a:t>
            </a:r>
          </a:p>
          <a:p>
            <a:pPr>
              <a:spcAft>
                <a:spcPts val="0"/>
              </a:spcAft>
            </a:pPr>
            <a:r>
              <a:rPr sz="1000" b="1" i="0">
                <a:solidFill>
                  <a:srgbClr val="595959"/>
                </a:solidFill>
                <a:latin typeface="Calibri"/>
              </a:rPr>
              <a:t>What it is  </a:t>
            </a:r>
            <a:r>
              <a:rPr sz="1100" b="0" i="0">
                <a:solidFill>
                  <a:srgbClr val="202020"/>
                </a:solidFill>
                <a:latin typeface="Calibri"/>
              </a:rPr>
              <a:t>A Graph endpoint that carries up to 20 sub-requests in one call.</a:t>
            </a:r>
          </a:p>
          <a:p>
            <a:pPr>
              <a:spcAft>
                <a:spcPts val="200"/>
              </a:spcAft>
            </a:pPr>
            <a:r>
              <a:rPr sz="1000" b="1" i="0">
                <a:solidFill>
                  <a:srgbClr val="595959"/>
                </a:solidFill>
                <a:latin typeface="Calibri"/>
              </a:rPr>
              <a:t>Why it matters  </a:t>
            </a:r>
            <a:r>
              <a:rPr sz="1100" b="0" i="0">
                <a:solidFill>
                  <a:srgbClr val="202020"/>
                </a:solidFill>
                <a:latin typeface="Calibri"/>
              </a:rPr>
              <a:t>It cuts round-trips but not throughput — each sub-request still counts against throttling limits.</a:t>
            </a:r>
          </a:p>
          <a:p>
            <a:pPr>
              <a:spcBef>
                <a:spcPts val="600"/>
              </a:spcBef>
              <a:spcAft>
                <a:spcPts val="100"/>
              </a:spcAft>
            </a:pPr>
            <a:r>
              <a:rPr sz="1400" b="1" i="0">
                <a:solidFill>
                  <a:srgbClr val="1F3864"/>
                </a:solidFill>
                <a:latin typeface="Calibri"/>
              </a:rPr>
              <a:t>ACL (access-control list)</a:t>
            </a:r>
          </a:p>
          <a:p>
            <a:pPr>
              <a:spcAft>
                <a:spcPts val="0"/>
              </a:spcAft>
            </a:pPr>
            <a:r>
              <a:rPr sz="1000" b="1" i="0">
                <a:solidFill>
                  <a:srgbClr val="595959"/>
                </a:solidFill>
                <a:latin typeface="Calibri"/>
              </a:rPr>
              <a:t>What it is  </a:t>
            </a:r>
            <a:r>
              <a:rPr sz="1100" b="0" i="0">
                <a:solidFill>
                  <a:srgbClr val="202020"/>
                </a:solidFill>
                <a:latin typeface="Calibri"/>
              </a:rPr>
              <a:t>The per-item list of grant/deny entries over principals that Copilot enforces at query time.</a:t>
            </a:r>
          </a:p>
          <a:p>
            <a:pPr>
              <a:spcAft>
                <a:spcPts val="200"/>
              </a:spcAft>
            </a:pPr>
            <a:r>
              <a:rPr sz="1000" b="1" i="0">
                <a:solidFill>
                  <a:srgbClr val="595959"/>
                </a:solidFill>
                <a:latin typeface="Calibri"/>
              </a:rPr>
              <a:t>Why it matters  </a:t>
            </a:r>
            <a:r>
              <a:rPr sz="1100" b="0" i="0">
                <a:solidFill>
                  <a:srgbClr val="202020"/>
                </a:solidFill>
                <a:latin typeface="Calibri"/>
              </a:rPr>
              <a:t>Get it right and results are correctly trimmed; get it wrong and you over-share (leak) or under-share (hide).</a:t>
            </a:r>
          </a:p>
          <a:p>
            <a:pPr>
              <a:spcBef>
                <a:spcPts val="600"/>
              </a:spcBef>
              <a:spcAft>
                <a:spcPts val="100"/>
              </a:spcAft>
            </a:pPr>
            <a:r>
              <a:rPr sz="1400" b="1" i="0">
                <a:solidFill>
                  <a:srgbClr val="1F3864"/>
                </a:solidFill>
                <a:latin typeface="Calibri"/>
              </a:rPr>
              <a:t>Principal</a:t>
            </a:r>
          </a:p>
          <a:p>
            <a:pPr>
              <a:spcAft>
                <a:spcPts val="0"/>
              </a:spcAft>
            </a:pPr>
            <a:r>
              <a:rPr sz="1000" b="1" i="0">
                <a:solidFill>
                  <a:srgbClr val="595959"/>
                </a:solidFill>
                <a:latin typeface="Calibri"/>
              </a:rPr>
              <a:t>What it is  </a:t>
            </a:r>
            <a:r>
              <a:rPr sz="1100" b="0" i="0">
                <a:solidFill>
                  <a:srgbClr val="202020"/>
                </a:solidFill>
                <a:latin typeface="Calibri"/>
              </a:rPr>
              <a:t>An identity that can be granted access: a user or a group, each with a stable Entra object id.</a:t>
            </a:r>
          </a:p>
          <a:p>
            <a:pPr>
              <a:spcAft>
                <a:spcPts val="200"/>
              </a:spcAft>
            </a:pPr>
            <a:r>
              <a:rPr sz="1000" b="1" i="0">
                <a:solidFill>
                  <a:srgbClr val="595959"/>
                </a:solidFill>
                <a:latin typeface="Calibri"/>
              </a:rPr>
              <a:t>Why it matters  </a:t>
            </a:r>
            <a:r>
              <a:rPr sz="1100" b="0" i="0">
                <a:solidFill>
                  <a:srgbClr val="202020"/>
                </a:solidFill>
                <a:latin typeface="Calibri"/>
              </a:rPr>
              <a:t>Source permissions only work once expressed as Entra principals — the ACL refers to principals by object id.</a:t>
            </a:r>
          </a:p>
          <a:p>
            <a:pPr>
              <a:spcBef>
                <a:spcPts val="600"/>
              </a:spcBef>
              <a:spcAft>
                <a:spcPts val="100"/>
              </a:spcAft>
            </a:pPr>
            <a:r>
              <a:rPr sz="1400" b="1" i="0">
                <a:solidFill>
                  <a:srgbClr val="1F3864"/>
                </a:solidFill>
                <a:latin typeface="Calibri"/>
              </a:rPr>
              <a:t>Microsoft Entra ID</a:t>
            </a:r>
          </a:p>
          <a:p>
            <a:pPr>
              <a:spcAft>
                <a:spcPts val="0"/>
              </a:spcAft>
            </a:pPr>
            <a:r>
              <a:rPr sz="1000" b="1" i="0">
                <a:solidFill>
                  <a:srgbClr val="595959"/>
                </a:solidFill>
                <a:latin typeface="Calibri"/>
              </a:rPr>
              <a:t>What it is  </a:t>
            </a:r>
            <a:r>
              <a:rPr sz="1100" b="0" i="0">
                <a:solidFill>
                  <a:srgbClr val="202020"/>
                </a:solidFill>
                <a:latin typeface="Calibri"/>
              </a:rPr>
              <a:t>Microsoft 365's identity directory (formerly Azure AD).</a:t>
            </a:r>
          </a:p>
          <a:p>
            <a:pPr>
              <a:spcAft>
                <a:spcPts val="200"/>
              </a:spcAft>
            </a:pPr>
            <a:r>
              <a:rPr sz="1000" b="1" i="0">
                <a:solidFill>
                  <a:srgbClr val="595959"/>
                </a:solidFill>
                <a:latin typeface="Calibri"/>
              </a:rPr>
              <a:t>Why it matters  </a:t>
            </a:r>
            <a:r>
              <a:rPr sz="1100" b="0" i="0">
                <a:solidFill>
                  <a:srgbClr val="202020"/>
                </a:solidFill>
                <a:latin typeface="Calibri"/>
              </a:rPr>
              <a:t>It defines the users and groups your ACLs reference and the app registration your connector authenticates as.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155</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Tenant</a:t>
            </a:r>
          </a:p>
          <a:p>
            <a:pPr>
              <a:spcAft>
                <a:spcPts val="0"/>
              </a:spcAft>
            </a:pPr>
            <a:r>
              <a:rPr sz="1000" b="1" i="0">
                <a:solidFill>
                  <a:srgbClr val="595959"/>
                </a:solidFill>
                <a:latin typeface="Calibri"/>
              </a:rPr>
              <a:t>What it is  </a:t>
            </a:r>
            <a:r>
              <a:rPr sz="1100" b="0" i="0">
                <a:solidFill>
                  <a:srgbClr val="202020"/>
                </a:solidFill>
                <a:latin typeface="Calibri"/>
              </a:rPr>
              <a:t>Your organisation's single instance of Microsoft 365 and its Entra directory.</a:t>
            </a:r>
          </a:p>
          <a:p>
            <a:pPr>
              <a:spcAft>
                <a:spcPts val="200"/>
              </a:spcAft>
            </a:pPr>
            <a:r>
              <a:rPr sz="1000" b="1" i="0">
                <a:solidFill>
                  <a:srgbClr val="595959"/>
                </a:solidFill>
                <a:latin typeface="Calibri"/>
              </a:rPr>
              <a:t>Why it matters  </a:t>
            </a:r>
            <a:r>
              <a:rPr sz="1100" b="0" i="0">
                <a:solidFill>
                  <a:srgbClr val="202020"/>
                </a:solidFill>
                <a:latin typeface="Calibri"/>
              </a:rPr>
              <a:t>All five connectors share one tenant's Graph quotas — the reason the capacity plan (section 8) exists.</a:t>
            </a:r>
          </a:p>
          <a:p>
            <a:pPr>
              <a:spcBef>
                <a:spcPts val="600"/>
              </a:spcBef>
              <a:spcAft>
                <a:spcPts val="100"/>
              </a:spcAft>
            </a:pPr>
            <a:r>
              <a:rPr sz="1400" b="1" i="0">
                <a:solidFill>
                  <a:srgbClr val="1F3864"/>
                </a:solidFill>
                <a:latin typeface="Calibri"/>
              </a:rPr>
              <a:t>App registration</a:t>
            </a:r>
          </a:p>
          <a:p>
            <a:pPr>
              <a:spcAft>
                <a:spcPts val="0"/>
              </a:spcAft>
            </a:pPr>
            <a:r>
              <a:rPr sz="1000" b="1" i="0">
                <a:solidFill>
                  <a:srgbClr val="595959"/>
                </a:solidFill>
                <a:latin typeface="Calibri"/>
              </a:rPr>
              <a:t>What it is  </a:t>
            </a:r>
            <a:r>
              <a:rPr sz="1100" b="0" i="0">
                <a:solidFill>
                  <a:srgbClr val="202020"/>
                </a:solidFill>
                <a:latin typeface="Calibri"/>
              </a:rPr>
              <a:t>The Entra identity of an application (client id, object id, credentials, consented permissions).</a:t>
            </a:r>
          </a:p>
          <a:p>
            <a:pPr>
              <a:spcAft>
                <a:spcPts val="200"/>
              </a:spcAft>
            </a:pPr>
            <a:r>
              <a:rPr sz="1000" b="1" i="0">
                <a:solidFill>
                  <a:srgbClr val="595959"/>
                </a:solidFill>
                <a:latin typeface="Calibri"/>
              </a:rPr>
              <a:t>Why it matters  </a:t>
            </a:r>
            <a:r>
              <a:rPr sz="1100" b="0" i="0">
                <a:solidFill>
                  <a:srgbClr val="202020"/>
                </a:solidFill>
                <a:latin typeface="Calibri"/>
              </a:rPr>
              <a:t>One per connector isolates Graph throttling and consent; it is how the connector proves who it is.</a:t>
            </a:r>
          </a:p>
          <a:p>
            <a:pPr>
              <a:spcBef>
                <a:spcPts val="600"/>
              </a:spcBef>
              <a:spcAft>
                <a:spcPts val="100"/>
              </a:spcAft>
            </a:pPr>
            <a:r>
              <a:rPr sz="1400" b="1" i="0">
                <a:solidFill>
                  <a:srgbClr val="1F3864"/>
                </a:solidFill>
                <a:latin typeface="Calibri"/>
              </a:rPr>
              <a:t>Client secret</a:t>
            </a:r>
          </a:p>
          <a:p>
            <a:pPr>
              <a:spcAft>
                <a:spcPts val="0"/>
              </a:spcAft>
            </a:pPr>
            <a:r>
              <a:rPr sz="1000" b="1" i="0">
                <a:solidFill>
                  <a:srgbClr val="595959"/>
                </a:solidFill>
                <a:latin typeface="Calibri"/>
              </a:rPr>
              <a:t>What it is  </a:t>
            </a:r>
            <a:r>
              <a:rPr sz="1100" b="0" i="0">
                <a:solidFill>
                  <a:srgbClr val="202020"/>
                </a:solidFill>
                <a:latin typeface="Calibri"/>
              </a:rPr>
              <a:t>A shared secret string the app sends to Entra to obtain a token.</a:t>
            </a:r>
          </a:p>
          <a:p>
            <a:pPr>
              <a:spcAft>
                <a:spcPts val="200"/>
              </a:spcAft>
            </a:pPr>
            <a:r>
              <a:rPr sz="1000" b="1" i="0">
                <a:solidFill>
                  <a:srgbClr val="595959"/>
                </a:solidFill>
                <a:latin typeface="Calibri"/>
              </a:rPr>
              <a:t>Why it matters  </a:t>
            </a:r>
            <a:r>
              <a:rPr sz="1100" b="0" i="0">
                <a:solidFill>
                  <a:srgbClr val="202020"/>
                </a:solidFill>
                <a:latin typeface="Calibri"/>
              </a:rPr>
              <a:t>Simple but a bearer credential — store it in Key Vault, never in a document, and rotate it before expiry.</a:t>
            </a:r>
          </a:p>
          <a:p>
            <a:pPr>
              <a:spcBef>
                <a:spcPts val="600"/>
              </a:spcBef>
              <a:spcAft>
                <a:spcPts val="100"/>
              </a:spcAft>
            </a:pPr>
            <a:r>
              <a:rPr sz="1400" b="1" i="0">
                <a:solidFill>
                  <a:srgbClr val="1F3864"/>
                </a:solidFill>
                <a:latin typeface="Calibri"/>
              </a:rPr>
              <a:t>Certificate credential</a:t>
            </a:r>
          </a:p>
          <a:p>
            <a:pPr>
              <a:spcAft>
                <a:spcPts val="0"/>
              </a:spcAft>
            </a:pPr>
            <a:r>
              <a:rPr sz="1000" b="1" i="0">
                <a:solidFill>
                  <a:srgbClr val="595959"/>
                </a:solidFill>
                <a:latin typeface="Calibri"/>
              </a:rPr>
              <a:t>What it is  </a:t>
            </a:r>
            <a:r>
              <a:rPr sz="1100" b="0" i="0">
                <a:solidFill>
                  <a:srgbClr val="202020"/>
                </a:solidFill>
                <a:latin typeface="Calibri"/>
              </a:rPr>
              <a:t>A signed assertion proving possession of a private key that never leaves the host/store; wins over a secret when both are set.</a:t>
            </a:r>
          </a:p>
          <a:p>
            <a:pPr>
              <a:spcAft>
                <a:spcPts val="200"/>
              </a:spcAft>
            </a:pPr>
            <a:r>
              <a:rPr sz="1000" b="1" i="0">
                <a:solidFill>
                  <a:srgbClr val="595959"/>
                </a:solidFill>
                <a:latin typeface="Calibri"/>
              </a:rPr>
              <a:t>Why it matters  </a:t>
            </a:r>
            <a:r>
              <a:rPr sz="1100" b="0" i="0">
                <a:solidFill>
                  <a:srgbClr val="202020"/>
                </a:solidFill>
                <a:latin typeface="Calibri"/>
              </a:rPr>
              <a:t>The stronger, FIPS-friendly production choice; also the rotation safety net (a valid secret still works if a cert rotation fails).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156</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OAuth 2.0 / client-credentials flow</a:t>
            </a:r>
          </a:p>
          <a:p>
            <a:pPr>
              <a:spcAft>
                <a:spcPts val="0"/>
              </a:spcAft>
            </a:pPr>
            <a:r>
              <a:rPr sz="1000" b="1" i="0">
                <a:solidFill>
                  <a:srgbClr val="595959"/>
                </a:solidFill>
                <a:latin typeface="Calibri"/>
              </a:rPr>
              <a:t>What it is  </a:t>
            </a:r>
            <a:r>
              <a:rPr sz="1100" b="0" i="0">
                <a:solidFill>
                  <a:srgbClr val="202020"/>
                </a:solidFill>
                <a:latin typeface="Calibri"/>
              </a:rPr>
              <a:t>The standard by which an application (no user) exchanges its credential for an access token.</a:t>
            </a:r>
          </a:p>
          <a:p>
            <a:pPr>
              <a:spcAft>
                <a:spcPts val="200"/>
              </a:spcAft>
            </a:pPr>
            <a:r>
              <a:rPr sz="1000" b="1" i="0">
                <a:solidFill>
                  <a:srgbClr val="595959"/>
                </a:solidFill>
                <a:latin typeface="Calibri"/>
              </a:rPr>
              <a:t>Why it matters  </a:t>
            </a:r>
            <a:r>
              <a:rPr sz="1100" b="0" i="0">
                <a:solidFill>
                  <a:srgbClr val="202020"/>
                </a:solidFill>
                <a:latin typeface="Calibri"/>
              </a:rPr>
              <a:t>This is how every connector gets the token it needs to call Graph.</a:t>
            </a:r>
          </a:p>
          <a:p>
            <a:pPr>
              <a:spcBef>
                <a:spcPts val="600"/>
              </a:spcBef>
              <a:spcAft>
                <a:spcPts val="100"/>
              </a:spcAft>
            </a:pPr>
            <a:r>
              <a:rPr sz="1400" b="1" i="0">
                <a:solidFill>
                  <a:srgbClr val="1F3864"/>
                </a:solidFill>
                <a:latin typeface="Calibri"/>
              </a:rPr>
              <a:t>Access token</a:t>
            </a:r>
          </a:p>
          <a:p>
            <a:pPr>
              <a:spcAft>
                <a:spcPts val="0"/>
              </a:spcAft>
            </a:pPr>
            <a:r>
              <a:rPr sz="1000" b="1" i="0">
                <a:solidFill>
                  <a:srgbClr val="595959"/>
                </a:solidFill>
                <a:latin typeface="Calibri"/>
              </a:rPr>
              <a:t>What it is  </a:t>
            </a:r>
            <a:r>
              <a:rPr sz="1100" b="0" i="0">
                <a:solidFill>
                  <a:srgbClr val="202020"/>
                </a:solidFill>
                <a:latin typeface="Calibri"/>
              </a:rPr>
              <a:t>A short-lived credential the connector presents on each Graph call.</a:t>
            </a:r>
          </a:p>
          <a:p>
            <a:pPr>
              <a:spcAft>
                <a:spcPts val="200"/>
              </a:spcAft>
            </a:pPr>
            <a:r>
              <a:rPr sz="1000" b="1" i="0">
                <a:solidFill>
                  <a:srgbClr val="595959"/>
                </a:solidFill>
                <a:latin typeface="Calibri"/>
              </a:rPr>
              <a:t>Why it matters  </a:t>
            </a:r>
            <a:r>
              <a:rPr sz="1100" b="0" i="0">
                <a:solidFill>
                  <a:srgbClr val="202020"/>
                </a:solidFill>
                <a:latin typeface="Calibri"/>
              </a:rPr>
              <a:t>Held in memory only, never persisted; its audience must match the Graph endpoint (relevant on sovereign clouds).</a:t>
            </a:r>
          </a:p>
          <a:p>
            <a:pPr>
              <a:spcBef>
                <a:spcPts val="600"/>
              </a:spcBef>
              <a:spcAft>
                <a:spcPts val="100"/>
              </a:spcAft>
            </a:pPr>
            <a:r>
              <a:rPr sz="1400" b="1" i="0">
                <a:solidFill>
                  <a:srgbClr val="1F3864"/>
                </a:solidFill>
                <a:latin typeface="Calibri"/>
              </a:rPr>
              <a:t>Access trimming</a:t>
            </a:r>
          </a:p>
          <a:p>
            <a:pPr>
              <a:spcAft>
                <a:spcPts val="0"/>
              </a:spcAft>
            </a:pPr>
            <a:r>
              <a:rPr sz="1000" b="1" i="0">
                <a:solidFill>
                  <a:srgbClr val="595959"/>
                </a:solidFill>
                <a:latin typeface="Calibri"/>
              </a:rPr>
              <a:t>What it is  </a:t>
            </a:r>
            <a:r>
              <a:rPr sz="1100" b="0" i="0">
                <a:solidFill>
                  <a:srgbClr val="202020"/>
                </a:solidFill>
                <a:latin typeface="Calibri"/>
              </a:rPr>
              <a:t>Filtering search results per user against each item's ACL at query time.</a:t>
            </a:r>
          </a:p>
          <a:p>
            <a:pPr>
              <a:spcAft>
                <a:spcPts val="200"/>
              </a:spcAft>
            </a:pPr>
            <a:r>
              <a:rPr sz="1000" b="1" i="0">
                <a:solidFill>
                  <a:srgbClr val="595959"/>
                </a:solidFill>
                <a:latin typeface="Calibri"/>
              </a:rPr>
              <a:t>Why it matters  </a:t>
            </a:r>
            <a:r>
              <a:rPr sz="1100" b="0" i="0">
                <a:solidFill>
                  <a:srgbClr val="202020"/>
                </a:solidFill>
                <a:latin typeface="Calibri"/>
              </a:rPr>
              <a:t>You never filter results yourself; correct ACLs are what make trimming correct.</a:t>
            </a:r>
          </a:p>
          <a:p>
            <a:pPr>
              <a:spcBef>
                <a:spcPts val="600"/>
              </a:spcBef>
              <a:spcAft>
                <a:spcPts val="100"/>
              </a:spcAft>
            </a:pPr>
            <a:r>
              <a:rPr sz="1400" b="1" i="0">
                <a:solidFill>
                  <a:srgbClr val="1F3864"/>
                </a:solidFill>
                <a:latin typeface="Calibri"/>
              </a:rPr>
              <a:t>Crawl (full / incremental)</a:t>
            </a:r>
          </a:p>
          <a:p>
            <a:pPr>
              <a:spcAft>
                <a:spcPts val="0"/>
              </a:spcAft>
            </a:pPr>
            <a:r>
              <a:rPr sz="1000" b="1" i="0">
                <a:solidFill>
                  <a:srgbClr val="595959"/>
                </a:solidFill>
                <a:latin typeface="Calibri"/>
              </a:rPr>
              <a:t>What it is  </a:t>
            </a:r>
            <a:r>
              <a:rPr sz="1100" b="0" i="0">
                <a:solidFill>
                  <a:srgbClr val="202020"/>
                </a:solidFill>
                <a:latin typeface="Calibri"/>
              </a:rPr>
              <a:t>One pass reading the source and pushing items: full = everything; incremental = only records changed since the last watermark.</a:t>
            </a:r>
          </a:p>
          <a:p>
            <a:pPr>
              <a:spcAft>
                <a:spcPts val="200"/>
              </a:spcAft>
            </a:pPr>
            <a:r>
              <a:rPr sz="1000" b="1" i="0">
                <a:solidFill>
                  <a:srgbClr val="595959"/>
                </a:solidFill>
                <a:latin typeface="Calibri"/>
              </a:rPr>
              <a:t>Why it matters  </a:t>
            </a:r>
            <a:r>
              <a:rPr sz="1100" b="0" i="0">
                <a:solidFill>
                  <a:srgbClr val="202020"/>
                </a:solidFill>
                <a:latin typeface="Calibri"/>
              </a:rPr>
              <a:t>Full crawls are the expensive, staggered events; incrementals are the cheap, frequent norm.</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157</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Checkpoint</a:t>
            </a:r>
          </a:p>
          <a:p>
            <a:pPr>
              <a:spcAft>
                <a:spcPts val="0"/>
              </a:spcAft>
            </a:pPr>
            <a:r>
              <a:rPr sz="1000" b="1" i="0">
                <a:solidFill>
                  <a:srgbClr val="595959"/>
                </a:solidFill>
                <a:latin typeface="Calibri"/>
              </a:rPr>
              <a:t>What it is  </a:t>
            </a:r>
            <a:r>
              <a:rPr sz="1100" b="0" i="0">
                <a:solidFill>
                  <a:srgbClr val="202020"/>
                </a:solidFill>
                <a:latin typeface="Calibri"/>
              </a:rPr>
              <a:t>The saved position (object type, last chunk, since boundary) written after each chunk.</a:t>
            </a:r>
          </a:p>
          <a:p>
            <a:pPr>
              <a:spcAft>
                <a:spcPts val="200"/>
              </a:spcAft>
            </a:pPr>
            <a:r>
              <a:rPr sz="1000" b="1" i="0">
                <a:solidFill>
                  <a:srgbClr val="595959"/>
                </a:solidFill>
                <a:latin typeface="Calibri"/>
              </a:rPr>
              <a:t>Why it matters  </a:t>
            </a:r>
            <a:r>
              <a:rPr sz="1100" b="0" i="0">
                <a:solidFill>
                  <a:srgbClr val="202020"/>
                </a:solidFill>
                <a:latin typeface="Calibri"/>
              </a:rPr>
              <a:t>A stop of any kind resumes from here — nothing is re-sent unnecessarily.</a:t>
            </a:r>
          </a:p>
          <a:p>
            <a:pPr>
              <a:spcBef>
                <a:spcPts val="600"/>
              </a:spcBef>
              <a:spcAft>
                <a:spcPts val="100"/>
              </a:spcAft>
            </a:pPr>
            <a:r>
              <a:rPr sz="1400" b="1" i="0">
                <a:solidFill>
                  <a:srgbClr val="1F3864"/>
                </a:solidFill>
                <a:latin typeface="Calibri"/>
              </a:rPr>
              <a:t>Watermark</a:t>
            </a:r>
          </a:p>
          <a:p>
            <a:pPr>
              <a:spcAft>
                <a:spcPts val="0"/>
              </a:spcAft>
            </a:pPr>
            <a:r>
              <a:rPr sz="1000" b="1" i="0">
                <a:solidFill>
                  <a:srgbClr val="595959"/>
                </a:solidFill>
                <a:latin typeface="Calibri"/>
              </a:rPr>
              <a:t>What it is  </a:t>
            </a:r>
            <a:r>
              <a:rPr sz="1100" b="0" i="0">
                <a:solidFill>
                  <a:srgbClr val="202020"/>
                </a:solidFill>
                <a:latin typeface="Calibri"/>
              </a:rPr>
              <a:t>The last-modified boundary (e.g. Salesforce SystemModstamp) that defines "changed since".</a:t>
            </a:r>
          </a:p>
          <a:p>
            <a:pPr>
              <a:spcAft>
                <a:spcPts val="200"/>
              </a:spcAft>
            </a:pPr>
            <a:r>
              <a:rPr sz="1000" b="1" i="0">
                <a:solidFill>
                  <a:srgbClr val="595959"/>
                </a:solidFill>
                <a:latin typeface="Calibri"/>
              </a:rPr>
              <a:t>Why it matters  </a:t>
            </a:r>
            <a:r>
              <a:rPr sz="1100" b="0" i="0">
                <a:solidFill>
                  <a:srgbClr val="202020"/>
                </a:solidFill>
                <a:latin typeface="Calibri"/>
              </a:rPr>
              <a:t>It is what makes an incremental crawl small; reliable watermark coverage is a design assumption.</a:t>
            </a:r>
          </a:p>
          <a:p>
            <a:pPr>
              <a:spcBef>
                <a:spcPts val="600"/>
              </a:spcBef>
              <a:spcAft>
                <a:spcPts val="100"/>
              </a:spcAft>
            </a:pPr>
            <a:r>
              <a:rPr sz="1400" b="1" i="0">
                <a:solidFill>
                  <a:srgbClr val="1F3864"/>
                </a:solidFill>
                <a:latin typeface="Calibri"/>
              </a:rPr>
              <a:t>Dead-letter queue</a:t>
            </a:r>
          </a:p>
          <a:p>
            <a:pPr>
              <a:spcAft>
                <a:spcPts val="0"/>
              </a:spcAft>
            </a:pPr>
            <a:r>
              <a:rPr sz="1000" b="1" i="0">
                <a:solidFill>
                  <a:srgbClr val="595959"/>
                </a:solidFill>
                <a:latin typeface="Calibri"/>
              </a:rPr>
              <a:t>What it is  </a:t>
            </a:r>
            <a:r>
              <a:rPr sz="1100" b="0" i="0">
                <a:solidFill>
                  <a:srgbClr val="202020"/>
                </a:solidFill>
                <a:latin typeface="Calibri"/>
              </a:rPr>
              <a:t>Where items that failed after all retries are set aside (a JSONL file or the DeadLetter table).</a:t>
            </a:r>
          </a:p>
          <a:p>
            <a:pPr>
              <a:spcAft>
                <a:spcPts val="200"/>
              </a:spcAft>
            </a:pPr>
            <a:r>
              <a:rPr sz="1000" b="1" i="0">
                <a:solidFill>
                  <a:srgbClr val="595959"/>
                </a:solidFill>
                <a:latin typeface="Calibri"/>
              </a:rPr>
              <a:t>Why it matters  </a:t>
            </a:r>
            <a:r>
              <a:rPr sz="1100" b="0" i="0">
                <a:solidFill>
                  <a:srgbClr val="202020"/>
                </a:solidFill>
                <a:latin typeface="Calibri"/>
              </a:rPr>
              <a:t>Failures never block a crawl; you drain the queue with retry-failed once the cause is fixed.</a:t>
            </a:r>
          </a:p>
          <a:p>
            <a:pPr>
              <a:spcBef>
                <a:spcPts val="600"/>
              </a:spcBef>
              <a:spcAft>
                <a:spcPts val="100"/>
              </a:spcAft>
            </a:pPr>
            <a:r>
              <a:rPr sz="1400" b="1" i="0">
                <a:solidFill>
                  <a:srgbClr val="1F3864"/>
                </a:solidFill>
                <a:latin typeface="Calibri"/>
              </a:rPr>
              <a:t>Retry / backoff</a:t>
            </a:r>
          </a:p>
          <a:p>
            <a:pPr>
              <a:spcAft>
                <a:spcPts val="0"/>
              </a:spcAft>
            </a:pPr>
            <a:r>
              <a:rPr sz="1000" b="1" i="0">
                <a:solidFill>
                  <a:srgbClr val="595959"/>
                </a:solidFill>
                <a:latin typeface="Calibri"/>
              </a:rPr>
              <a:t>What it is  </a:t>
            </a:r>
            <a:r>
              <a:rPr sz="1100" b="0" i="0">
                <a:solidFill>
                  <a:srgbClr val="202020"/>
                </a:solidFill>
                <a:latin typeface="Calibri"/>
              </a:rPr>
              <a:t>Re-attempting a failed call with a growing wait (base x 2^attempt, up to GRAPH_MAX_RETRIES).</a:t>
            </a:r>
          </a:p>
          <a:p>
            <a:pPr>
              <a:spcAft>
                <a:spcPts val="200"/>
              </a:spcAft>
            </a:pPr>
            <a:r>
              <a:rPr sz="1000" b="1" i="0">
                <a:solidFill>
                  <a:srgbClr val="595959"/>
                </a:solidFill>
                <a:latin typeface="Calibri"/>
              </a:rPr>
              <a:t>Why it matters  </a:t>
            </a:r>
            <a:r>
              <a:rPr sz="1100" b="0" i="0">
                <a:solidFill>
                  <a:srgbClr val="202020"/>
                </a:solidFill>
                <a:latin typeface="Calibri"/>
              </a:rPr>
              <a:t>Rides out transient errors and throttling automatically.</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158</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Retry-After</a:t>
            </a:r>
          </a:p>
          <a:p>
            <a:pPr>
              <a:spcAft>
                <a:spcPts val="0"/>
              </a:spcAft>
            </a:pPr>
            <a:r>
              <a:rPr sz="1000" b="1" i="0">
                <a:solidFill>
                  <a:srgbClr val="595959"/>
                </a:solidFill>
                <a:latin typeface="Calibri"/>
              </a:rPr>
              <a:t>What it is  </a:t>
            </a:r>
            <a:r>
              <a:rPr sz="1100" b="0" i="0">
                <a:solidFill>
                  <a:srgbClr val="202020"/>
                </a:solidFill>
                <a:latin typeface="Calibri"/>
              </a:rPr>
              <a:t>The header Graph returns with a 429 telling you how long to wait.</a:t>
            </a:r>
          </a:p>
          <a:p>
            <a:pPr>
              <a:spcAft>
                <a:spcPts val="200"/>
              </a:spcAft>
            </a:pPr>
            <a:r>
              <a:rPr sz="1000" b="1" i="0">
                <a:solidFill>
                  <a:srgbClr val="595959"/>
                </a:solidFill>
                <a:latin typeface="Calibri"/>
              </a:rPr>
              <a:t>Why it matters  </a:t>
            </a:r>
            <a:r>
              <a:rPr sz="1100" b="0" i="0">
                <a:solidFill>
                  <a:srgbClr val="202020"/>
                </a:solidFill>
                <a:latin typeface="Calibri"/>
              </a:rPr>
              <a:t>The connector honours it exactly but clamps every wait to 60 seconds, so a bad value can't stall a run for an hour.</a:t>
            </a:r>
          </a:p>
          <a:p>
            <a:pPr>
              <a:spcBef>
                <a:spcPts val="600"/>
              </a:spcBef>
              <a:spcAft>
                <a:spcPts val="100"/>
              </a:spcAft>
            </a:pPr>
            <a:r>
              <a:rPr sz="1400" b="1" i="0">
                <a:solidFill>
                  <a:srgbClr val="1F3864"/>
                </a:solidFill>
                <a:latin typeface="Calibri"/>
              </a:rPr>
              <a:t>Adaptive concurrency</a:t>
            </a:r>
          </a:p>
          <a:p>
            <a:pPr>
              <a:spcAft>
                <a:spcPts val="0"/>
              </a:spcAft>
            </a:pPr>
            <a:r>
              <a:rPr sz="1000" b="1" i="0">
                <a:solidFill>
                  <a:srgbClr val="595959"/>
                </a:solidFill>
                <a:latin typeface="Calibri"/>
              </a:rPr>
              <a:t>What it is  </a:t>
            </a:r>
            <a:r>
              <a:rPr sz="1100" b="0" i="0">
                <a:solidFill>
                  <a:srgbClr val="202020"/>
                </a:solidFill>
                <a:latin typeface="Calibri"/>
              </a:rPr>
              <a:t>Live tuning of the number of parallel push workers (down on 429, up after clean batches).</a:t>
            </a:r>
          </a:p>
          <a:p>
            <a:pPr>
              <a:spcAft>
                <a:spcPts val="200"/>
              </a:spcAft>
            </a:pPr>
            <a:r>
              <a:rPr sz="1000" b="1" i="0">
                <a:solidFill>
                  <a:srgbClr val="595959"/>
                </a:solidFill>
                <a:latin typeface="Calibri"/>
              </a:rPr>
              <a:t>Why it matters  </a:t>
            </a:r>
            <a:r>
              <a:rPr sz="1100" b="0" i="0">
                <a:solidFill>
                  <a:srgbClr val="202020"/>
                </a:solidFill>
                <a:latin typeface="Calibri"/>
              </a:rPr>
              <a:t>Self-corrects the push rate to what the tenant currently tolerates; pinned at 1 signals sustained throttling.</a:t>
            </a:r>
          </a:p>
          <a:p>
            <a:pPr>
              <a:spcBef>
                <a:spcPts val="600"/>
              </a:spcBef>
              <a:spcAft>
                <a:spcPts val="100"/>
              </a:spcAft>
            </a:pPr>
            <a:r>
              <a:rPr sz="1400" b="1" i="0">
                <a:solidFill>
                  <a:srgbClr val="1F3864"/>
                </a:solidFill>
                <a:latin typeface="Calibri"/>
              </a:rPr>
              <a:t>Connection sharding</a:t>
            </a:r>
          </a:p>
          <a:p>
            <a:pPr>
              <a:spcAft>
                <a:spcPts val="0"/>
              </a:spcAft>
            </a:pPr>
            <a:r>
              <a:rPr sz="1000" b="1" i="0">
                <a:solidFill>
                  <a:srgbClr val="595959"/>
                </a:solidFill>
                <a:latin typeface="Calibri"/>
              </a:rPr>
              <a:t>What it is  </a:t>
            </a:r>
            <a:r>
              <a:rPr sz="1100" b="0" i="0">
                <a:solidFill>
                  <a:srgbClr val="202020"/>
                </a:solidFill>
                <a:latin typeface="Calibri"/>
              </a:rPr>
              <a:t>Spreading object types across several connections (GRAPH_CONNECTION_SHARDS) to multiply throughput.</a:t>
            </a:r>
          </a:p>
          <a:p>
            <a:pPr>
              <a:spcAft>
                <a:spcPts val="200"/>
              </a:spcAft>
            </a:pPr>
            <a:r>
              <a:rPr sz="1000" b="1" i="0">
                <a:solidFill>
                  <a:srgbClr val="595959"/>
                </a:solidFill>
                <a:latin typeface="Calibri"/>
              </a:rPr>
              <a:t>Why it matters  </a:t>
            </a:r>
            <a:r>
              <a:rPr sz="1100" b="0" i="0">
                <a:solidFill>
                  <a:srgbClr val="202020"/>
                </a:solidFill>
                <a:latin typeface="Calibri"/>
              </a:rPr>
              <a:t>The per-connection rate limit is the reason; every shard is a real connection and counts against the 30-per-tenant cap.</a:t>
            </a:r>
          </a:p>
          <a:p>
            <a:pPr>
              <a:spcBef>
                <a:spcPts val="600"/>
              </a:spcBef>
              <a:spcAft>
                <a:spcPts val="100"/>
              </a:spcAft>
            </a:pPr>
            <a:r>
              <a:rPr sz="1400" b="1" i="0">
                <a:solidFill>
                  <a:srgbClr val="1F3864"/>
                </a:solidFill>
                <a:latin typeface="Calibri"/>
              </a:rPr>
              <a:t>HA lease</a:t>
            </a:r>
          </a:p>
          <a:p>
            <a:pPr>
              <a:spcAft>
                <a:spcPts val="0"/>
              </a:spcAft>
            </a:pPr>
            <a:r>
              <a:rPr sz="1000" b="1" i="0">
                <a:solidFill>
                  <a:srgbClr val="595959"/>
                </a:solidFill>
                <a:latin typeface="Calibri"/>
              </a:rPr>
              <a:t>What it is  </a:t>
            </a:r>
            <a:r>
              <a:rPr sz="1100" b="0" i="0">
                <a:solidFill>
                  <a:srgbClr val="202020"/>
                </a:solidFill>
                <a:latin typeface="Calibri"/>
              </a:rPr>
              <a:t>In active-active HA, a node's claim on an object type, kept alive by heartbeats and reclaimed if it goes stale.</a:t>
            </a:r>
          </a:p>
          <a:p>
            <a:pPr>
              <a:spcAft>
                <a:spcPts val="200"/>
              </a:spcAft>
            </a:pPr>
            <a:r>
              <a:rPr sz="1000" b="1" i="0">
                <a:solidFill>
                  <a:srgbClr val="595959"/>
                </a:solidFill>
                <a:latin typeface="Calibri"/>
              </a:rPr>
              <a:t>Why it matters  </a:t>
            </a:r>
            <a:r>
              <a:rPr sz="1100" b="0" i="0">
                <a:solidFill>
                  <a:srgbClr val="202020"/>
                </a:solidFill>
                <a:latin typeface="Calibri"/>
              </a:rPr>
              <a:t>It is how two nodes coordinate through SQL without stepping on each other, and how work survives a node death.</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159</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Circuit breaker</a:t>
            </a:r>
          </a:p>
          <a:p>
            <a:pPr>
              <a:spcAft>
                <a:spcPts val="0"/>
              </a:spcAft>
            </a:pPr>
            <a:r>
              <a:rPr sz="1000" b="1" i="0">
                <a:solidFill>
                  <a:srgbClr val="595959"/>
                </a:solidFill>
                <a:latin typeface="Calibri"/>
              </a:rPr>
              <a:t>What it is  </a:t>
            </a:r>
            <a:r>
              <a:rPr sz="1100" b="0" i="0">
                <a:solidFill>
                  <a:srgbClr val="202020"/>
                </a:solidFill>
                <a:latin typeface="Calibri"/>
              </a:rPr>
              <a:t>A guard that trips open during a sustained outage of a dependency, pausing work safely.</a:t>
            </a:r>
          </a:p>
          <a:p>
            <a:pPr>
              <a:spcAft>
                <a:spcPts val="200"/>
              </a:spcAft>
            </a:pPr>
            <a:r>
              <a:rPr sz="1000" b="1" i="0">
                <a:solidFill>
                  <a:srgbClr val="595959"/>
                </a:solidFill>
                <a:latin typeface="Calibri"/>
              </a:rPr>
              <a:t>Why it matters  </a:t>
            </a:r>
            <a:r>
              <a:rPr sz="1100" b="0" i="0">
                <a:solidFill>
                  <a:srgbClr val="202020"/>
                </a:solidFill>
                <a:latin typeface="Calibri"/>
              </a:rPr>
              <a:t>Stops the connector hammering a failing service; it auto-recovers via half-open probes with no state loss.</a:t>
            </a:r>
          </a:p>
          <a:p>
            <a:pPr>
              <a:spcBef>
                <a:spcPts val="600"/>
              </a:spcBef>
              <a:spcAft>
                <a:spcPts val="100"/>
              </a:spcAft>
            </a:pPr>
            <a:r>
              <a:rPr sz="1400" b="1" i="0">
                <a:solidFill>
                  <a:srgbClr val="1F3864"/>
                </a:solidFill>
                <a:latin typeface="Calibri"/>
              </a:rPr>
              <a:t>Degraded mode</a:t>
            </a:r>
          </a:p>
          <a:p>
            <a:pPr>
              <a:spcAft>
                <a:spcPts val="0"/>
              </a:spcAft>
            </a:pPr>
            <a:r>
              <a:rPr sz="1000" b="1" i="0">
                <a:solidFill>
                  <a:srgbClr val="595959"/>
                </a:solidFill>
                <a:latin typeface="Calibri"/>
              </a:rPr>
              <a:t>What it is  </a:t>
            </a:r>
            <a:r>
              <a:rPr sz="1100" b="0" i="0">
                <a:solidFill>
                  <a:srgbClr val="202020"/>
                </a:solidFill>
                <a:latin typeface="Calibri"/>
              </a:rPr>
              <a:t>The paused-and-waiting state after a breaker trips.</a:t>
            </a:r>
          </a:p>
          <a:p>
            <a:pPr>
              <a:spcAft>
                <a:spcPts val="200"/>
              </a:spcAft>
            </a:pPr>
            <a:r>
              <a:rPr sz="1000" b="1" i="0">
                <a:solidFill>
                  <a:srgbClr val="595959"/>
                </a:solidFill>
                <a:latin typeface="Calibri"/>
              </a:rPr>
              <a:t>Why it matters  </a:t>
            </a:r>
            <a:r>
              <a:rPr sz="1100" b="0" i="0">
                <a:solidFill>
                  <a:srgbClr val="202020"/>
                </a:solidFill>
                <a:latin typeface="Calibri"/>
              </a:rPr>
              <a:t>The connector keeps its state safe and resumes when the dependency recovers, instead of failing hard.</a:t>
            </a:r>
          </a:p>
          <a:p>
            <a:pPr>
              <a:spcBef>
                <a:spcPts val="600"/>
              </a:spcBef>
              <a:spcAft>
                <a:spcPts val="100"/>
              </a:spcAft>
            </a:pPr>
            <a:r>
              <a:rPr sz="1400" b="1" i="0">
                <a:solidFill>
                  <a:srgbClr val="1F3864"/>
                </a:solidFill>
                <a:latin typeface="Calibri"/>
              </a:rPr>
              <a:t>Idempotent</a:t>
            </a:r>
          </a:p>
          <a:p>
            <a:pPr>
              <a:spcAft>
                <a:spcPts val="0"/>
              </a:spcAft>
            </a:pPr>
            <a:r>
              <a:rPr sz="1000" b="1" i="0">
                <a:solidFill>
                  <a:srgbClr val="595959"/>
                </a:solidFill>
                <a:latin typeface="Calibri"/>
              </a:rPr>
              <a:t>What it is  </a:t>
            </a:r>
            <a:r>
              <a:rPr sz="1100" b="0" i="0">
                <a:solidFill>
                  <a:srgbClr val="202020"/>
                </a:solidFill>
                <a:latin typeface="Calibri"/>
              </a:rPr>
              <a:t>An operation that has the same effect whether run once or many times.</a:t>
            </a:r>
          </a:p>
          <a:p>
            <a:pPr>
              <a:spcAft>
                <a:spcPts val="200"/>
              </a:spcAft>
            </a:pPr>
            <a:r>
              <a:rPr sz="1000" b="1" i="0">
                <a:solidFill>
                  <a:srgbClr val="595959"/>
                </a:solidFill>
                <a:latin typeface="Calibri"/>
              </a:rPr>
              <a:t>Why it matters  </a:t>
            </a:r>
            <a:r>
              <a:rPr sz="1100" b="0" i="0">
                <a:solidFill>
                  <a:srgbClr val="202020"/>
                </a:solidFill>
                <a:latin typeface="Calibri"/>
              </a:rPr>
              <a:t>setup-connection and the SQL create script are idempotent, so re-running a deploy step is safe.</a:t>
            </a:r>
          </a:p>
          <a:p>
            <a:pPr>
              <a:spcBef>
                <a:spcPts val="600"/>
              </a:spcBef>
              <a:spcAft>
                <a:spcPts val="100"/>
              </a:spcAft>
            </a:pPr>
            <a:r>
              <a:rPr sz="1400" b="1" i="0">
                <a:solidFill>
                  <a:srgbClr val="1F3864"/>
                </a:solidFill>
                <a:latin typeface="Calibri"/>
              </a:rPr>
              <a:t>Reconcile</a:t>
            </a:r>
          </a:p>
          <a:p>
            <a:pPr>
              <a:spcAft>
                <a:spcPts val="0"/>
              </a:spcAft>
            </a:pPr>
            <a:r>
              <a:rPr sz="1000" b="1" i="0">
                <a:solidFill>
                  <a:srgbClr val="595959"/>
                </a:solidFill>
                <a:latin typeface="Calibri"/>
              </a:rPr>
              <a:t>What it is  </a:t>
            </a:r>
            <a:r>
              <a:rPr sz="1100" b="0" i="0">
                <a:solidFill>
                  <a:srgbClr val="202020"/>
                </a:solidFill>
                <a:latin typeface="Calibri"/>
              </a:rPr>
              <a:t>The command that reports (and with --fix repairs) drift between the source and the index.</a:t>
            </a:r>
          </a:p>
          <a:p>
            <a:pPr>
              <a:spcAft>
                <a:spcPts val="200"/>
              </a:spcAft>
            </a:pPr>
            <a:r>
              <a:rPr sz="1000" b="1" i="0">
                <a:solidFill>
                  <a:srgbClr val="595959"/>
                </a:solidFill>
                <a:latin typeface="Calibri"/>
              </a:rPr>
              <a:t>Why it matters  </a:t>
            </a:r>
            <a:r>
              <a:rPr sz="1100" b="0" i="0">
                <a:solidFill>
                  <a:srgbClr val="202020"/>
                </a:solidFill>
                <a:latin typeface="Calibri"/>
              </a:rPr>
              <a:t>Your assurance tool — run it periodically and after any restore.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160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Data classification / sensitivity label</a:t>
            </a:r>
          </a:p>
          <a:p>
            <a:pPr>
              <a:spcAft>
                <a:spcPts val="0"/>
              </a:spcAft>
            </a:pPr>
            <a:r>
              <a:rPr sz="1000" b="1" i="0">
                <a:solidFill>
                  <a:srgbClr val="595959"/>
                </a:solidFill>
                <a:latin typeface="Calibri"/>
              </a:rPr>
              <a:t>What it is  </a:t>
            </a:r>
            <a:r>
              <a:rPr sz="1100" b="0" i="0">
                <a:solidFill>
                  <a:srgbClr val="202020"/>
                </a:solidFill>
                <a:latin typeface="Calibri"/>
              </a:rPr>
              <a:t>Optional stamping of each item with SensitivityLabel (Public&lt;Internal&lt;Confidential&lt;Restricted) and DetectedCategories (PII/PCI/Secret).</a:t>
            </a:r>
          </a:p>
          <a:p>
            <a:pPr>
              <a:spcAft>
                <a:spcPts val="200"/>
              </a:spcAft>
            </a:pPr>
            <a:r>
              <a:rPr sz="1000" b="1" i="0">
                <a:solidFill>
                  <a:srgbClr val="595959"/>
                </a:solidFill>
                <a:latin typeface="Calibri"/>
              </a:rPr>
              <a:t>Why it matters  </a:t>
            </a:r>
            <a:r>
              <a:rPr sz="1100" b="0" i="0">
                <a:solidFill>
                  <a:srgbClr val="202020"/>
                </a:solidFill>
                <a:latin typeface="Calibri"/>
              </a:rPr>
              <a:t>It is an advisory connector tag (searchable/reportable metadata) — Purview-aligned in naming only, not a Microsoft Purview-enforced label, so it does not restrict access by itself; a detection can only raise the label, never lower the per-object floor, and real access enforcement needs CLASSIFICATION_ENFORCE_ACL (section 14).</a:t>
            </a:r>
          </a:p>
          <a:p>
            <a:pPr>
              <a:spcBef>
                <a:spcPts val="600"/>
              </a:spcBef>
              <a:spcAft>
                <a:spcPts val="100"/>
              </a:spcAft>
            </a:pPr>
            <a:r>
              <a:rPr sz="1400" b="1" i="0">
                <a:solidFill>
                  <a:srgbClr val="1F3864"/>
                </a:solidFill>
                <a:latin typeface="Calibri"/>
              </a:rPr>
              <a:t>Azure Key Vault</a:t>
            </a:r>
          </a:p>
          <a:p>
            <a:pPr>
              <a:spcAft>
                <a:spcPts val="0"/>
              </a:spcAft>
            </a:pPr>
            <a:r>
              <a:rPr sz="1000" b="1" i="0">
                <a:solidFill>
                  <a:srgbClr val="595959"/>
                </a:solidFill>
                <a:latin typeface="Calibri"/>
              </a:rPr>
              <a:t>What it is  </a:t>
            </a:r>
            <a:r>
              <a:rPr sz="1100" b="0" i="0">
                <a:solidFill>
                  <a:srgbClr val="202020"/>
                </a:solidFill>
                <a:latin typeface="Calibri"/>
              </a:rPr>
              <a:t>Microsoft's managed secret store; enabled with USE_KEY_VAULT + KEY_VAULT_URI.</a:t>
            </a:r>
          </a:p>
          <a:p>
            <a:pPr>
              <a:spcAft>
                <a:spcPts val="200"/>
              </a:spcAft>
            </a:pPr>
            <a:r>
              <a:rPr sz="1000" b="1" i="0">
                <a:solidFill>
                  <a:srgbClr val="595959"/>
                </a:solidFill>
                <a:latin typeface="Calibri"/>
              </a:rPr>
              <a:t>Why it matters  </a:t>
            </a:r>
            <a:r>
              <a:rPr sz="1100" b="0" i="0">
                <a:solidFill>
                  <a:srgbClr val="202020"/>
                </a:solidFill>
                <a:latin typeface="Calibri"/>
              </a:rPr>
              <a:t>The recommended way to hold secrets so no secret file exists on the box and rotation is one write; the connector needs only get access.</a:t>
            </a:r>
          </a:p>
          <a:p>
            <a:pPr>
              <a:spcBef>
                <a:spcPts val="600"/>
              </a:spcBef>
              <a:spcAft>
                <a:spcPts val="100"/>
              </a:spcAft>
            </a:pPr>
            <a:r>
              <a:rPr sz="1400" b="1" i="0">
                <a:solidFill>
                  <a:srgbClr val="1F3864"/>
                </a:solidFill>
                <a:latin typeface="Calibri"/>
              </a:rPr>
              <a:t>FIPS</a:t>
            </a:r>
          </a:p>
          <a:p>
            <a:pPr>
              <a:spcAft>
                <a:spcPts val="0"/>
              </a:spcAft>
            </a:pPr>
            <a:r>
              <a:rPr sz="1000" b="1" i="0">
                <a:solidFill>
                  <a:srgbClr val="595959"/>
                </a:solidFill>
                <a:latin typeface="Calibri"/>
              </a:rPr>
              <a:t>What it is  </a:t>
            </a:r>
            <a:r>
              <a:rPr sz="1100" b="0" i="0">
                <a:solidFill>
                  <a:srgbClr val="202020"/>
                </a:solidFill>
                <a:latin typeface="Calibri"/>
              </a:rPr>
              <a:t>A US cryptographic-validation standard; when enforced on Windows, .NET uses validated providers.</a:t>
            </a:r>
          </a:p>
          <a:p>
            <a:pPr>
              <a:spcAft>
                <a:spcPts val="200"/>
              </a:spcAft>
            </a:pPr>
            <a:r>
              <a:rPr sz="1000" b="1" i="0">
                <a:solidFill>
                  <a:srgbClr val="595959"/>
                </a:solidFill>
                <a:latin typeface="Calibri"/>
              </a:rPr>
              <a:t>Why it matters  </a:t>
            </a:r>
            <a:r>
              <a:rPr sz="1100" b="0" i="0">
                <a:solidFill>
                  <a:srgbClr val="202020"/>
                </a:solidFill>
                <a:latin typeface="Calibri"/>
              </a:rPr>
              <a:t>Prefer the certificate-thumbprint credential with a non-exportable key in FIPS estates.</a:t>
            </a:r>
          </a:p>
          <a:p>
            <a:pPr>
              <a:spcBef>
                <a:spcPts val="600"/>
              </a:spcBef>
              <a:spcAft>
                <a:spcPts val="100"/>
              </a:spcAft>
            </a:pPr>
            <a:r>
              <a:rPr sz="1400" b="1" i="0">
                <a:solidFill>
                  <a:srgbClr val="1F3864"/>
                </a:solidFill>
                <a:latin typeface="Calibri"/>
              </a:rPr>
              <a:t>Forward proxy</a:t>
            </a:r>
          </a:p>
          <a:p>
            <a:pPr>
              <a:spcAft>
                <a:spcPts val="0"/>
              </a:spcAft>
            </a:pPr>
            <a:r>
              <a:rPr sz="1000" b="1" i="0">
                <a:solidFill>
                  <a:srgbClr val="595959"/>
                </a:solidFill>
                <a:latin typeface="Calibri"/>
              </a:rPr>
              <a:t>What it is  </a:t>
            </a:r>
            <a:r>
              <a:rPr sz="1100" b="0" i="0">
                <a:solidFill>
                  <a:srgbClr val="202020"/>
                </a:solidFill>
                <a:latin typeface="Calibri"/>
              </a:rPr>
              <a:t>A corporate egress proxy all outbound traffic passes through (PROXY_URL / PROXY_BYPASS).</a:t>
            </a:r>
          </a:p>
          <a:p>
            <a:pPr>
              <a:spcAft>
                <a:spcPts val="200"/>
              </a:spcAft>
            </a:pPr>
            <a:r>
              <a:rPr sz="1000" b="1" i="0">
                <a:solidFill>
                  <a:srgbClr val="595959"/>
                </a:solidFill>
                <a:latin typeface="Calibri"/>
              </a:rPr>
              <a:t>Why it matters  </a:t>
            </a:r>
            <a:r>
              <a:rPr sz="1100" b="0" i="0">
                <a:solidFill>
                  <a:srgbClr val="202020"/>
                </a:solidFill>
                <a:latin typeface="Calibri"/>
              </a:rPr>
              <a:t>Required in locked-down networks; get the URL and bypass list from the network team.</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161</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TLS inspection</a:t>
            </a:r>
          </a:p>
          <a:p>
            <a:pPr>
              <a:spcAft>
                <a:spcPts val="0"/>
              </a:spcAft>
            </a:pPr>
            <a:r>
              <a:rPr sz="1000" b="1" i="0">
                <a:solidFill>
                  <a:srgbClr val="595959"/>
                </a:solidFill>
                <a:latin typeface="Calibri"/>
              </a:rPr>
              <a:t>What it is  </a:t>
            </a:r>
            <a:r>
              <a:rPr sz="1100" b="0" i="0">
                <a:solidFill>
                  <a:srgbClr val="202020"/>
                </a:solidFill>
                <a:latin typeface="Calibri"/>
              </a:rPr>
              <a:t>A proxy that decrypts and re-signs HTTPS with a corporate CA (trusted via CA_BUNDLE_PATH).</a:t>
            </a:r>
          </a:p>
          <a:p>
            <a:pPr>
              <a:spcAft>
                <a:spcPts val="200"/>
              </a:spcAft>
            </a:pPr>
            <a:r>
              <a:rPr sz="1000" b="1" i="0">
                <a:solidFill>
                  <a:srgbClr val="595959"/>
                </a:solidFill>
                <a:latin typeface="Calibri"/>
              </a:rPr>
              <a:t>Why it matters  </a:t>
            </a:r>
            <a:r>
              <a:rPr sz="1100" b="0" i="0">
                <a:solidFill>
                  <a:srgbClr val="202020"/>
                </a:solidFill>
                <a:latin typeface="Calibri"/>
              </a:rPr>
              <a:t>Trust is additive and hostname checks stay on; a missing/unparseable bundle fails startup (fail-closed).</a:t>
            </a:r>
          </a:p>
          <a:p>
            <a:pPr>
              <a:spcBef>
                <a:spcPts val="600"/>
              </a:spcBef>
              <a:spcAft>
                <a:spcPts val="100"/>
              </a:spcAft>
            </a:pPr>
            <a:r>
              <a:rPr sz="1400" b="1" i="0">
                <a:solidFill>
                  <a:srgbClr val="1F3864"/>
                </a:solidFill>
                <a:latin typeface="Calibri"/>
              </a:rPr>
              <a:t>MSI</a:t>
            </a:r>
          </a:p>
          <a:p>
            <a:pPr>
              <a:spcAft>
                <a:spcPts val="0"/>
              </a:spcAft>
            </a:pPr>
            <a:r>
              <a:rPr sz="1000" b="1" i="0">
                <a:solidFill>
                  <a:srgbClr val="595959"/>
                </a:solidFill>
                <a:latin typeface="Calibri"/>
              </a:rPr>
              <a:t>What it is  </a:t>
            </a:r>
            <a:r>
              <a:rPr sz="1100" b="0" i="0">
                <a:solidFill>
                  <a:srgbClr val="202020"/>
                </a:solidFill>
                <a:latin typeface="Calibri"/>
              </a:rPr>
              <a:t>The Windows installer package used to deploy the connector via SCCM/Intune.</a:t>
            </a:r>
          </a:p>
          <a:p>
            <a:pPr>
              <a:spcAft>
                <a:spcPts val="200"/>
              </a:spcAft>
            </a:pPr>
            <a:r>
              <a:rPr sz="1000" b="1" i="0">
                <a:solidFill>
                  <a:srgbClr val="595959"/>
                </a:solidFill>
                <a:latin typeface="Calibri"/>
              </a:rPr>
              <a:t>Why it matters  </a:t>
            </a:r>
            <a:r>
              <a:rPr sz="1100" b="0" i="0">
                <a:solidFill>
                  <a:srgbClr val="202020"/>
                </a:solidFill>
                <a:latin typeface="Calibri"/>
              </a:rPr>
              <a:t>Ships no secrets; installs the service (not started) and the event source; upgrades replace in place.</a:t>
            </a:r>
          </a:p>
          <a:p>
            <a:pPr>
              <a:spcBef>
                <a:spcPts val="600"/>
              </a:spcBef>
              <a:spcAft>
                <a:spcPts val="100"/>
              </a:spcAft>
            </a:pPr>
            <a:r>
              <a:rPr sz="1400" b="1" i="0">
                <a:solidFill>
                  <a:srgbClr val="1F3864"/>
                </a:solidFill>
                <a:latin typeface="Calibri"/>
              </a:rPr>
              <a:t>Windows service (SCM)</a:t>
            </a:r>
          </a:p>
          <a:p>
            <a:pPr>
              <a:spcAft>
                <a:spcPts val="0"/>
              </a:spcAft>
            </a:pPr>
            <a:r>
              <a:rPr sz="1000" b="1" i="0">
                <a:solidFill>
                  <a:srgbClr val="595959"/>
                </a:solidFill>
                <a:latin typeface="Calibri"/>
              </a:rPr>
              <a:t>What it is  </a:t>
            </a:r>
            <a:r>
              <a:rPr sz="1100" b="0" i="0">
                <a:solidFill>
                  <a:srgbClr val="202020"/>
                </a:solidFill>
                <a:latin typeface="Calibri"/>
              </a:rPr>
              <a:t>The connector running as a long-lived background service under the Service Control Manager.</a:t>
            </a:r>
          </a:p>
          <a:p>
            <a:pPr>
              <a:spcAft>
                <a:spcPts val="200"/>
              </a:spcAft>
            </a:pPr>
            <a:r>
              <a:rPr sz="1000" b="1" i="0">
                <a:solidFill>
                  <a:srgbClr val="595959"/>
                </a:solidFill>
                <a:latin typeface="Calibri"/>
              </a:rPr>
              <a:t>Why it matters  </a:t>
            </a:r>
            <a:r>
              <a:rPr sz="1100" b="0" i="0">
                <a:solidFill>
                  <a:srgbClr val="202020"/>
                </a:solidFill>
                <a:latin typeface="Calibri"/>
              </a:rPr>
              <a:t>It runs ingest --continuous; add a crash-restart policy so it self-heals (resuming from checkpoint).</a:t>
            </a:r>
          </a:p>
          <a:p>
            <a:pPr>
              <a:spcBef>
                <a:spcPts val="600"/>
              </a:spcBef>
              <a:spcAft>
                <a:spcPts val="100"/>
              </a:spcAft>
            </a:pPr>
            <a:r>
              <a:rPr sz="1400" b="1" i="0">
                <a:solidFill>
                  <a:srgbClr val="1F3864"/>
                </a:solidFill>
                <a:latin typeface="Calibri"/>
              </a:rPr>
              <a:t>RPO / RTO</a:t>
            </a:r>
          </a:p>
          <a:p>
            <a:pPr>
              <a:spcAft>
                <a:spcPts val="0"/>
              </a:spcAft>
            </a:pPr>
            <a:r>
              <a:rPr sz="1000" b="1" i="0">
                <a:solidFill>
                  <a:srgbClr val="595959"/>
                </a:solidFill>
                <a:latin typeface="Calibri"/>
              </a:rPr>
              <a:t>What it is  </a:t>
            </a:r>
            <a:r>
              <a:rPr sz="1100" b="0" i="0">
                <a:solidFill>
                  <a:srgbClr val="202020"/>
                </a:solidFill>
                <a:latin typeface="Calibri"/>
              </a:rPr>
              <a:t>Recovery Point Objective (how much you can lose) and Recovery Time Objective (how fast you recover).</a:t>
            </a:r>
          </a:p>
          <a:p>
            <a:pPr>
              <a:spcAft>
                <a:spcPts val="200"/>
              </a:spcAft>
            </a:pPr>
            <a:r>
              <a:rPr sz="1000" b="1" i="0">
                <a:solidFill>
                  <a:srgbClr val="595959"/>
                </a:solidFill>
                <a:latin typeface="Calibri"/>
              </a:rPr>
              <a:t>Why it matters  </a:t>
            </a:r>
            <a:r>
              <a:rPr sz="1100" b="0" i="0">
                <a:solidFill>
                  <a:srgbClr val="202020"/>
                </a:solidFill>
                <a:latin typeface="Calibri"/>
              </a:rPr>
              <a:t>For these connectors state loss = re-crawl cost, not data loss, and the index survives in the Graph connection — so both are measured in crawl time, not lost records.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162</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SIEM</a:t>
            </a:r>
          </a:p>
          <a:p>
            <a:pPr>
              <a:spcAft>
                <a:spcPts val="0"/>
              </a:spcAft>
            </a:pPr>
            <a:r>
              <a:rPr sz="1000" b="1" i="0">
                <a:solidFill>
                  <a:srgbClr val="595959"/>
                </a:solidFill>
                <a:latin typeface="Calibri"/>
              </a:rPr>
              <a:t>What it is  </a:t>
            </a:r>
            <a:r>
              <a:rPr sz="1100" b="0" i="0">
                <a:solidFill>
                  <a:srgbClr val="202020"/>
                </a:solidFill>
                <a:latin typeface="Calibri"/>
              </a:rPr>
              <a:t>Security information and event management (Sentinel, Splunk) — where security telemetry is centralised.</a:t>
            </a:r>
          </a:p>
          <a:p>
            <a:pPr>
              <a:spcAft>
                <a:spcPts val="200"/>
              </a:spcAft>
            </a:pPr>
            <a:r>
              <a:rPr sz="1000" b="1" i="0">
                <a:solidFill>
                  <a:srgbClr val="595959"/>
                </a:solidFill>
                <a:latin typeface="Calibri"/>
              </a:rPr>
              <a:t>Why it matters  </a:t>
            </a:r>
            <a:r>
              <a:rPr sz="1100" b="0" i="0">
                <a:solidFill>
                  <a:srgbClr val="202020"/>
                </a:solidFill>
                <a:latin typeface="Calibri"/>
              </a:rPr>
              <a:t>Feed it via the Windows Event Log, JSON logs or webhook alerts; do not ship Prometheus scrapes to it.</a:t>
            </a:r>
          </a:p>
          <a:p>
            <a:pPr>
              <a:spcBef>
                <a:spcPts val="600"/>
              </a:spcBef>
              <a:spcAft>
                <a:spcPts val="100"/>
              </a:spcAft>
            </a:pPr>
            <a:r>
              <a:rPr sz="1400" b="1" i="0">
                <a:solidFill>
                  <a:srgbClr val="1F3864"/>
                </a:solidFill>
                <a:latin typeface="Calibri"/>
              </a:rPr>
              <a:t>OpenTelemetry</a:t>
            </a:r>
          </a:p>
          <a:p>
            <a:pPr>
              <a:spcAft>
                <a:spcPts val="0"/>
              </a:spcAft>
            </a:pPr>
            <a:r>
              <a:rPr sz="1000" b="1" i="0">
                <a:solidFill>
                  <a:srgbClr val="595959"/>
                </a:solidFill>
                <a:latin typeface="Calibri"/>
              </a:rPr>
              <a:t>What it is  </a:t>
            </a:r>
            <a:r>
              <a:rPr sz="1100" b="0" i="0">
                <a:solidFill>
                  <a:srgbClr val="202020"/>
                </a:solidFill>
                <a:latin typeface="Calibri"/>
              </a:rPr>
              <a:t>An open standard for distributed traces; enabled with OTEL_EXPORTER_OTLP_ENDPOINT.</a:t>
            </a:r>
          </a:p>
          <a:p>
            <a:pPr>
              <a:spcAft>
                <a:spcPts val="200"/>
              </a:spcAft>
            </a:pPr>
            <a:r>
              <a:rPr sz="1000" b="1" i="0">
                <a:solidFill>
                  <a:srgbClr val="595959"/>
                </a:solidFill>
                <a:latin typeface="Calibri"/>
              </a:rPr>
              <a:t>Why it matters  </a:t>
            </a:r>
            <a:r>
              <a:rPr sz="1100" b="0" i="0">
                <a:solidFill>
                  <a:srgbClr val="202020"/>
                </a:solidFill>
                <a:latin typeface="Calibri"/>
              </a:rPr>
              <a:t>Gives end-to-end spans plus a correlation id linking logs, dead-letter records and spans for one run.</a:t>
            </a:r>
          </a:p>
          <a:p>
            <a:pPr>
              <a:spcBef>
                <a:spcPts val="600"/>
              </a:spcBef>
              <a:spcAft>
                <a:spcPts val="100"/>
              </a:spcAft>
            </a:pPr>
            <a:r>
              <a:rPr sz="1400" b="1" i="0">
                <a:solidFill>
                  <a:srgbClr val="1F3864"/>
                </a:solidFill>
                <a:latin typeface="Calibri"/>
              </a:rPr>
              <a:t>Metric / dashboard / alert</a:t>
            </a:r>
          </a:p>
          <a:p>
            <a:pPr>
              <a:spcAft>
                <a:spcPts val="0"/>
              </a:spcAft>
            </a:pPr>
            <a:r>
              <a:rPr sz="1000" b="1" i="0">
                <a:solidFill>
                  <a:srgbClr val="595959"/>
                </a:solidFill>
                <a:latin typeface="Calibri"/>
              </a:rPr>
              <a:t>What it is  </a:t>
            </a:r>
            <a:r>
              <a:rPr sz="1100" b="0" i="0">
                <a:solidFill>
                  <a:srgbClr val="202020"/>
                </a:solidFill>
                <a:latin typeface="Calibri"/>
              </a:rPr>
              <a:t>A Prometheus metric from /metrics; a Grafana panel over it; a rule that fires on a threshold.</a:t>
            </a:r>
          </a:p>
          <a:p>
            <a:pPr>
              <a:spcAft>
                <a:spcPts val="200"/>
              </a:spcAft>
            </a:pPr>
            <a:r>
              <a:rPr sz="1000" b="1" i="0">
                <a:solidFill>
                  <a:srgbClr val="595959"/>
                </a:solidFill>
                <a:latin typeface="Calibri"/>
              </a:rPr>
              <a:t>Why it matters  </a:t>
            </a:r>
            <a:r>
              <a:rPr sz="1100" b="0" i="0">
                <a:solidFill>
                  <a:srgbClr val="202020"/>
                </a:solidFill>
                <a:latin typeface="Calibri"/>
              </a:rPr>
              <a:t>The ops/ folder ships all three; they are how you see health and get paged before users notice.</a:t>
            </a:r>
          </a:p>
          <a:p>
            <a:pPr>
              <a:spcBef>
                <a:spcPts val="600"/>
              </a:spcBef>
              <a:spcAft>
                <a:spcPts val="100"/>
              </a:spcAft>
            </a:pPr>
            <a:r>
              <a:rPr sz="1400" b="1" i="0">
                <a:solidFill>
                  <a:srgbClr val="1F3864"/>
                </a:solidFill>
                <a:latin typeface="Calibri"/>
              </a:rPr>
              <a:t>Dead-letter redaction</a:t>
            </a:r>
          </a:p>
          <a:p>
            <a:pPr>
              <a:spcAft>
                <a:spcPts val="0"/>
              </a:spcAft>
            </a:pPr>
            <a:r>
              <a:rPr sz="1000" b="1" i="0">
                <a:solidFill>
                  <a:srgbClr val="595959"/>
                </a:solidFill>
                <a:latin typeface="Calibri"/>
              </a:rPr>
              <a:t>What it is  </a:t>
            </a:r>
            <a:r>
              <a:rPr sz="1100" b="0" i="0">
                <a:solidFill>
                  <a:srgbClr val="202020"/>
                </a:solidFill>
                <a:latin typeface="Calibri"/>
              </a:rPr>
              <a:t>DEADLETTER_PAYLOAD_MODE=redacted (now the fleet-wide default) strips item values/content from dead-letter records, keeping ids/errors/ACLs/field names + sha256 hashes. An unrecognised value fails config load, naming the setting.</a:t>
            </a:r>
          </a:p>
          <a:p>
            <a:pPr>
              <a:spcAft>
                <a:spcPts val="200"/>
              </a:spcAft>
            </a:pPr>
            <a:r>
              <a:rPr sz="1000" b="1" i="0">
                <a:solidFill>
                  <a:srgbClr val="595959"/>
                </a:solidFill>
                <a:latin typeface="Calibri"/>
              </a:rPr>
              <a:t>Why it matters  </a:t>
            </a:r>
            <a:r>
              <a:rPr sz="1100" b="0" i="0">
                <a:solidFill>
                  <a:srgbClr val="202020"/>
                </a:solidFill>
                <a:latin typeface="Calibri"/>
              </a:rPr>
              <a:t>Set it wherever source records contain sensitive data; retry-failed re-fetches from the source, so redaction costs nothing at retry time. Only an explicit full puts raw source values (PII/financial) on disk.</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163</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Entitlement freshness / re-ACL cadence</a:t>
            </a:r>
          </a:p>
          <a:p>
            <a:pPr>
              <a:spcAft>
                <a:spcPts val="0"/>
              </a:spcAft>
            </a:pPr>
            <a:r>
              <a:rPr sz="1000" b="1" i="0">
                <a:solidFill>
                  <a:srgbClr val="595959"/>
                </a:solidFill>
                <a:latin typeface="Calibri"/>
              </a:rPr>
              <a:t>What it is  </a:t>
            </a:r>
            <a:r>
              <a:rPr sz="1100" b="0" i="0">
                <a:solidFill>
                  <a:srgbClr val="202020"/>
                </a:solidFill>
                <a:latin typeface="Calibri"/>
              </a:rPr>
              <a:t>How current an item's permissions are. IDENTITY_SYNC_ON_INCREMENTAL (now default true) re-syncs entitlements on incremental crawls; the re-ACL cadence is how often an item whose content did not change has its ACL re-evaluated (full crawls, or the connector's re-ACL trigger such as PERMISSION_REACL / the reacl command).</a:t>
            </a:r>
          </a:p>
          <a:p>
            <a:pPr>
              <a:spcAft>
                <a:spcPts val="200"/>
              </a:spcAft>
            </a:pPr>
            <a:r>
              <a:rPr sz="1000" b="1" i="0">
                <a:solidFill>
                  <a:srgbClr val="595959"/>
                </a:solidFill>
                <a:latin typeface="Calibri"/>
              </a:rPr>
              <a:t>Why it matters  </a:t>
            </a:r>
            <a:r>
              <a:rPr sz="1100" b="0" i="0">
                <a:solidFill>
                  <a:srgbClr val="202020"/>
                </a:solidFill>
                <a:latin typeface="Calibri"/>
              </a:rPr>
              <a:t>Permissions now refresh on the incremental cadence instead of only on full crawls — but it is still not real-time, so a just-changed source permission is picked up on the next identity sync, not the instant it changes.</a:t>
            </a:r>
          </a:p>
          <a:p>
            <a:pPr>
              <a:spcBef>
                <a:spcPts val="600"/>
              </a:spcBef>
              <a:spcAft>
                <a:spcPts val="100"/>
              </a:spcAft>
            </a:pPr>
            <a:r>
              <a:rPr sz="1400" b="1" i="0">
                <a:solidFill>
                  <a:srgbClr val="1F3864"/>
                </a:solidFill>
                <a:latin typeface="Calibri"/>
              </a:rPr>
              <a:t>Owner-only state directory hardening</a:t>
            </a:r>
          </a:p>
          <a:p>
            <a:pPr>
              <a:spcAft>
                <a:spcPts val="0"/>
              </a:spcAft>
            </a:pPr>
            <a:r>
              <a:rPr sz="1000" b="1" i="0">
                <a:solidFill>
                  <a:srgbClr val="595959"/>
                </a:solidFill>
                <a:latin typeface="Calibri"/>
              </a:rPr>
              <a:t>What it is  </a:t>
            </a:r>
            <a:r>
              <a:rPr sz="1100" b="0" i="0">
                <a:solidFill>
                  <a:srgbClr val="202020"/>
                </a:solidFill>
                <a:latin typeface="Calibri"/>
              </a:rPr>
              <a:t>At startup the connector creates its logs, state/data and dead-letter directories owner-only — POSIX chmod 0700, or a best-effort owner+Administrators ACL (inheritance reset) on Windows.</a:t>
            </a:r>
          </a:p>
          <a:p>
            <a:pPr>
              <a:spcAft>
                <a:spcPts val="200"/>
              </a:spcAft>
            </a:pPr>
            <a:r>
              <a:rPr sz="1000" b="1" i="0">
                <a:solidFill>
                  <a:srgbClr val="595959"/>
                </a:solidFill>
                <a:latin typeface="Calibri"/>
              </a:rPr>
              <a:t>Why it matters  </a:t>
            </a:r>
            <a:r>
              <a:rPr sz="1100" b="0" i="0">
                <a:solidFill>
                  <a:srgbClr val="202020"/>
                </a:solidFill>
                <a:latin typeface="Calibri"/>
              </a:rPr>
              <a:t>On a shared host this stops other local accounts reading connector state; it is best-effort and never fatal (a failure logs a warning), and the env/secret files still need their own ACLs — they remain the trust root.</a:t>
            </a:r>
          </a:p>
          <a:p>
            <a:pPr>
              <a:spcBef>
                <a:spcPts val="600"/>
              </a:spcBef>
              <a:spcAft>
                <a:spcPts val="100"/>
              </a:spcAft>
            </a:pPr>
            <a:r>
              <a:rPr sz="1400" b="1" i="0">
                <a:solidFill>
                  <a:srgbClr val="1F3864"/>
                </a:solidFill>
                <a:latin typeface="Calibri"/>
              </a:rPr>
              <a:t>Classification enforcement (advisory tag → ACL)</a:t>
            </a:r>
          </a:p>
          <a:p>
            <a:pPr>
              <a:spcAft>
                <a:spcPts val="0"/>
              </a:spcAft>
            </a:pPr>
            <a:r>
              <a:rPr sz="1000" b="1" i="0">
                <a:solidFill>
                  <a:srgbClr val="595959"/>
                </a:solidFill>
                <a:latin typeface="Calibri"/>
              </a:rPr>
              <a:t>What it is  </a:t>
            </a:r>
            <a:r>
              <a:rPr sz="1100" b="0" i="0">
                <a:solidFill>
                  <a:srgbClr val="202020"/>
                </a:solidFill>
                <a:latin typeface="Calibri"/>
              </a:rPr>
              <a:t>CLASSIFICATION_ENFORCE_ACL (default off, plus the connector's enforcement-group variable — the name differs per connector) is the one place the advisory SensitivityLabel tag becomes real access control: it locks a Restricted item's Graph ACL to a single Entra group instead of the resolved source principals.</a:t>
            </a:r>
          </a:p>
          <a:p>
            <a:pPr>
              <a:spcAft>
                <a:spcPts val="200"/>
              </a:spcAft>
            </a:pPr>
            <a:r>
              <a:rPr sz="1000" b="1" i="0">
                <a:solidFill>
                  <a:srgbClr val="595959"/>
                </a:solidFill>
                <a:latin typeface="Calibri"/>
              </a:rPr>
              <a:t>Why it matters  </a:t>
            </a:r>
            <a:r>
              <a:rPr sz="1100" b="0" i="0">
                <a:solidFill>
                  <a:srgbClr val="202020"/>
                </a:solidFill>
                <a:latin typeface="Calibri"/>
              </a:rPr>
              <a:t>Do not assume the label restricts anything on its own — only this flag narrows who can see an item, and config load fails fast if it is on without a group. Turning it on is a genuine access change; review it as one.</a:t>
            </a:r>
          </a:p>
          <a:p>
            <a:pPr>
              <a:spcBef>
                <a:spcPts val="600"/>
              </a:spcBef>
              <a:spcAft>
                <a:spcPts val="100"/>
              </a:spcAft>
            </a:pPr>
            <a:r>
              <a:rPr sz="1400" b="1" i="0">
                <a:solidFill>
                  <a:srgbClr val="1F3864"/>
                </a:solidFill>
                <a:latin typeface="Calibri"/>
              </a:rPr>
              <a:t>Stale-index item TTL / expirationDateTime</a:t>
            </a:r>
          </a:p>
          <a:p>
            <a:pPr>
              <a:spcAft>
                <a:spcPts val="0"/>
              </a:spcAft>
            </a:pPr>
            <a:r>
              <a:rPr sz="1000" b="1" i="0">
                <a:solidFill>
                  <a:srgbClr val="595959"/>
                </a:solidFill>
                <a:latin typeface="Calibri"/>
              </a:rPr>
              <a:t>What it is  </a:t>
            </a:r>
            <a:r>
              <a:rPr sz="1100" b="0" i="0">
                <a:solidFill>
                  <a:srgbClr val="202020"/>
                </a:solidFill>
                <a:latin typeface="Calibri"/>
              </a:rPr>
              <a:t>GRAPH_ITEM_TTL_DAYS (default unset/0 = no expiry). When &gt; 0, each ingested item is stamped a top-level expirationDateTime = now + TTL, and a healthy connector re-stamps it every crawl.</a:t>
            </a:r>
          </a:p>
          <a:p>
            <a:pPr>
              <a:spcAft>
                <a:spcPts val="200"/>
              </a:spcAft>
            </a:pPr>
            <a:r>
              <a:rPr sz="1000" b="1" i="0">
                <a:solidFill>
                  <a:srgbClr val="595959"/>
                </a:solidFill>
                <a:latin typeface="Calibri"/>
              </a:rPr>
              <a:t>Why it matters  </a:t>
            </a:r>
            <a:r>
              <a:rPr sz="1100" b="0" i="0">
                <a:solidFill>
                  <a:srgbClr val="202020"/>
                </a:solidFill>
                <a:latin typeface="Calibri"/>
              </a:rPr>
              <a:t>If crawling stops after an outage the index self-expires instead of serving stale content forever; set the TTL comfortably above your full-crawl cadence so healthy items never expire.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164</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Decision ledger (tamper-evident hash chain)</a:t>
            </a:r>
          </a:p>
          <a:p>
            <a:pPr>
              <a:spcAft>
                <a:spcPts val="0"/>
              </a:spcAft>
            </a:pPr>
            <a:r>
              <a:rPr sz="1000" b="1" i="0">
                <a:solidFill>
                  <a:srgbClr val="595959"/>
                </a:solidFill>
                <a:latin typeface="Calibri"/>
              </a:rPr>
              <a:t>What it is  </a:t>
            </a:r>
            <a:r>
              <a:rPr sz="1100" b="0" i="0">
                <a:solidFill>
                  <a:srgbClr val="202020"/>
                </a:solidFill>
                <a:latin typeface="Calibri"/>
              </a:rPr>
              <a:t>DECISION_LEDGER — an append-only, SHA-256 hash-chained record of exclusion and ACL-restriction decisions, holding opaque ids and PII-safe reasons only (no content, no personal values).</a:t>
            </a:r>
          </a:p>
          <a:p>
            <a:pPr>
              <a:spcAft>
                <a:spcPts val="200"/>
              </a:spcAft>
            </a:pPr>
            <a:r>
              <a:rPr sz="1000" b="1" i="0">
                <a:solidFill>
                  <a:srgbClr val="595959"/>
                </a:solidFill>
                <a:latin typeface="Calibri"/>
              </a:rPr>
              <a:t>Why it matters  </a:t>
            </a:r>
            <a:r>
              <a:rPr sz="1100" b="0" i="0">
                <a:solidFill>
                  <a:srgbClr val="202020"/>
                </a:solidFill>
                <a:latin typeface="Calibri"/>
              </a:rPr>
              <a:t>Each entry chains to the previous by hash, so any edit, reorder or deletion breaks the chain and a Verify step catches it — your evidence of *why* an item was hidden or restricted. Default-on for some connectors, opt-in for others (confirm per connector); store it off-host for strong non-repudiation.</a:t>
            </a:r>
          </a:p>
          <a:p>
            <a:pPr>
              <a:spcBef>
                <a:spcPts val="600"/>
              </a:spcBef>
              <a:spcAft>
                <a:spcPts val="100"/>
              </a:spcAft>
            </a:pPr>
            <a:r>
              <a:rPr sz="1400" b="1" i="0">
                <a:solidFill>
                  <a:srgbClr val="1F3864"/>
                </a:solidFill>
                <a:latin typeface="Calibri"/>
              </a:rPr>
              <a:t>Webhook anti-replay / signed timestamp</a:t>
            </a:r>
          </a:p>
          <a:p>
            <a:pPr>
              <a:spcAft>
                <a:spcPts val="0"/>
              </a:spcAft>
            </a:pPr>
            <a:r>
              <a:rPr sz="1000" b="1" i="0">
                <a:solidFill>
                  <a:srgbClr val="595959"/>
                </a:solidFill>
                <a:latin typeface="Calibri"/>
              </a:rPr>
              <a:t>What it is  </a:t>
            </a:r>
            <a:r>
              <a:rPr sz="1100" b="0" i="0">
                <a:solidFill>
                  <a:srgbClr val="202020"/>
                </a:solidFill>
                <a:latin typeface="Calibri"/>
              </a:rPr>
              <a:t>For connectors that accept source webhooks, the HMAC now signs {timestamp}.{body} and each post must carry a signed timestamp; the require-timestamp switch defaults true and a tolerance-seconds setting (default 300) is the freshness window.</a:t>
            </a:r>
          </a:p>
          <a:p>
            <a:pPr>
              <a:spcAft>
                <a:spcPts val="200"/>
              </a:spcAft>
            </a:pPr>
            <a:r>
              <a:rPr sz="1000" b="1" i="0">
                <a:solidFill>
                  <a:srgbClr val="595959"/>
                </a:solidFill>
                <a:latin typeface="Calibri"/>
              </a:rPr>
              <a:t>Why it matters  </a:t>
            </a:r>
            <a:r>
              <a:rPr sz="1100" b="0" i="0">
                <a:solidFill>
                  <a:srgbClr val="202020"/>
                </a:solidFill>
                <a:latin typeface="Calibri"/>
              </a:rPr>
              <a:t>Stale, future, replayed or timestamp-less posts are rejected fail-closed before the body is parsed; legacy body-only senders work only with require-timestamp set false — a migration mode with no replay protection.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165</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Tenant &amp; Common Concepts</a:t>
            </a:r>
          </a:p>
          <a:p>
            <a:r>
              <a:rPr sz="3000" b="1" i="0">
                <a:solidFill>
                  <a:srgbClr val="1F3864"/>
                </a:solidFill>
                <a:latin typeface="Calibri"/>
              </a:rPr>
              <a:t>14. Security defaults &amp; new controls (bank-grade hardening release)</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166</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 Security defaults &amp; new controls (bank-grade hardening release)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bank-grade hardening release changed some safe defaults and added several new governance controls across the whole fleet. This section explains the shared behaviour </a:t>
            </a:r>
            <a:r>
              <a:rPr sz="1250" b="1" i="0">
                <a:solidFill>
                  <a:srgbClr val="202020"/>
                </a:solidFill>
                <a:latin typeface="Calibri"/>
              </a:rPr>
              <a:t>once</a:t>
            </a:r>
            <a:r>
              <a:rPr sz="1250" b="0" i="0">
                <a:solidFill>
                  <a:srgbClr val="202020"/>
                </a:solidFill>
                <a:latin typeface="Calibri"/>
              </a:rPr>
              <a:t> so the per-connector guides do not repeat the theory. The controls behave the same way everywhere, but the </a:t>
            </a:r>
            <a:r>
              <a:rPr sz="1250" b="1" i="0">
                <a:solidFill>
                  <a:srgbClr val="202020"/>
                </a:solidFill>
                <a:latin typeface="Calibri"/>
              </a:rPr>
              <a:t>exact variable names, and which defaults are on, differ per connector</a:t>
            </a:r>
            <a:r>
              <a:rPr sz="1250" b="0" i="0">
                <a:solidFill>
                  <a:srgbClr val="202020"/>
                </a:solidFill>
                <a:latin typeface="Calibri"/>
              </a:rPr>
              <a:t> — always confirm the specifics against your connector guide's Configuration reference and its </a:t>
            </a:r>
            <a:r>
              <a:rPr sz="1200" b="0" i="0">
                <a:solidFill>
                  <a:srgbClr val="202020"/>
                </a:solidFill>
                <a:latin typeface="Consolas"/>
              </a:rPr>
              <a:t>env/.env.local.example</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167</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 Security defaults &amp; new controls (bank-grade hardening release)</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Several of these are </a:t>
            </a:r>
            <a:r>
              <a:rPr sz="1400" b="1" i="0">
                <a:solidFill>
                  <a:srgbClr val="202020"/>
                </a:solidFill>
                <a:latin typeface="Calibri"/>
              </a:rPr>
              <a:t>behaviour-changing</a:t>
            </a:r>
            <a:r>
              <a:rPr sz="1400" b="0" i="0">
                <a:solidFill>
                  <a:srgbClr val="202020"/>
                </a:solidFill>
                <a:latin typeface="Calibri"/>
              </a:rPr>
              <a:t> on upgrade (they flip a default), not just new optional knobs. After upgrading any connector, re-read the changed defaults below, decide whether each is right for that source, and run </a:t>
            </a:r>
            <a:r>
              <a:rPr sz="1350" b="0" i="0">
                <a:solidFill>
                  <a:srgbClr val="202020"/>
                </a:solidFill>
                <a:latin typeface="Consolas"/>
              </a:rPr>
              <a:t>validate-config --strict</a:t>
            </a:r>
            <a:r>
              <a:rPr sz="1400" b="0" i="0">
                <a:solidFill>
                  <a:srgbClr val="202020"/>
                </a:solidFill>
                <a:latin typeface="Calibri"/>
              </a:rPr>
              <a:t> — a now-unrecognised value fails config load fast rather than silently reverting to the old behaviour.</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168</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14.1 Dead-letter payload redaction is the default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00" b="0" i="0">
                <a:solidFill>
                  <a:srgbClr val="202020"/>
                </a:solidFill>
                <a:latin typeface="Consolas"/>
              </a:rPr>
              <a:t>DEADLETTER_PAYLOAD_MODE</a:t>
            </a:r>
            <a:r>
              <a:rPr sz="1250" b="0" i="0">
                <a:solidFill>
                  <a:srgbClr val="202020"/>
                </a:solidFill>
                <a:latin typeface="Calibri"/>
              </a:rPr>
              <a:t> now defaults to </a:t>
            </a:r>
            <a:r>
              <a:rPr sz="1200" b="1" i="0">
                <a:solidFill>
                  <a:srgbClr val="202020"/>
                </a:solidFill>
                <a:latin typeface="Consolas"/>
              </a:rPr>
              <a:t>redacted</a:t>
            </a:r>
            <a:r>
              <a:rPr sz="1250" b="0" i="0">
                <a:solidFill>
                  <a:srgbClr val="202020"/>
                </a:solidFill>
                <a:latin typeface="Calibri"/>
              </a:rPr>
              <a:t> across the fleet (it was </a:t>
            </a:r>
            <a:r>
              <a:rPr sz="1200" b="0" i="0">
                <a:solidFill>
                  <a:srgbClr val="202020"/>
                </a:solidFill>
                <a:latin typeface="Consolas"/>
              </a:rPr>
              <a:t>full</a:t>
            </a:r>
            <a:r>
              <a:rPr sz="1250" b="0" i="0">
                <a:solidFill>
                  <a:srgbClr val="202020"/>
                </a:solidFill>
                <a:latin typeface="Calibri"/>
              </a:rPr>
              <a:t> on most connectors). In redacted mode a dead-letter record keeps the item id, object type, error, timestamps, the ACL and field </a:t>
            </a:r>
            <a:r>
              <a:rPr sz="1250" b="1" i="0">
                <a:solidFill>
                  <a:srgbClr val="202020"/>
                </a:solidFill>
                <a:latin typeface="Calibri"/>
              </a:rPr>
              <a:t>names</a:t>
            </a:r>
            <a:r>
              <a:rPr sz="1250" b="0" i="0">
                <a:solidFill>
                  <a:srgbClr val="202020"/>
                </a:solidFill>
                <a:latin typeface="Calibri"/>
              </a:rPr>
              <a:t>, plus SHA-256 hashes of the values — but the raw field </a:t>
            </a:r>
            <a:r>
              <a:rPr sz="1250" b="1" i="0">
                <a:solidFill>
                  <a:srgbClr val="202020"/>
                </a:solidFill>
                <a:latin typeface="Calibri"/>
              </a:rPr>
              <a:t>values</a:t>
            </a:r>
            <a:r>
              <a:rPr sz="1250" b="0" i="0">
                <a:solidFill>
                  <a:srgbClr val="202020"/>
                </a:solidFill>
                <a:latin typeface="Calibri"/>
              </a:rPr>
              <a:t>, content and any PII no longer touch disk. Only an operator who explicitly sets </a:t>
            </a:r>
            <a:r>
              <a:rPr sz="1200" b="0" i="0">
                <a:solidFill>
                  <a:srgbClr val="202020"/>
                </a:solidFill>
                <a:latin typeface="Consolas"/>
              </a:rPr>
              <a:t>full</a:t>
            </a:r>
            <a:r>
              <a:rPr sz="1250" b="0" i="0">
                <a:solidFill>
                  <a:srgbClr val="202020"/>
                </a:solidFill>
                <a:latin typeface="Calibri"/>
              </a:rPr>
              <a:t> puts raw source values back on disk. An </a:t>
            </a:r>
            <a:r>
              <a:rPr sz="1250" b="1" i="0">
                <a:solidFill>
                  <a:srgbClr val="202020"/>
                </a:solidFill>
                <a:latin typeface="Calibri"/>
              </a:rPr>
              <a:t>unrecognised value now fails fast at config load, naming the setting</a:t>
            </a:r>
            <a:r>
              <a:rPr sz="1250" b="0" i="0">
                <a:solidFill>
                  <a:srgbClr val="202020"/>
                </a:solidFill>
                <a:latin typeface="Calibri"/>
              </a:rPr>
              <a:t>, so a typo can no longer silently fall back to the old permissive behaviour. Because </a:t>
            </a:r>
            <a:r>
              <a:rPr sz="1200" b="0" i="0">
                <a:solidFill>
                  <a:srgbClr val="202020"/>
                </a:solidFill>
                <a:latin typeface="Consolas"/>
              </a:rPr>
              <a:t>retry-failed</a:t>
            </a:r>
            <a:r>
              <a:rPr sz="1250" b="0" i="0">
                <a:solidFill>
                  <a:srgbClr val="202020"/>
                </a:solidFill>
                <a:latin typeface="Calibri"/>
              </a:rPr>
              <a:t> re-reads each record from the source (section 6.4), redaction costs nothing at retry time — the queue is a set of pointers, not a data copy.</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169</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14.2 Entitlement freshness — identity sync on incremental crawls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00" b="0" i="0">
                <a:solidFill>
                  <a:srgbClr val="202020"/>
                </a:solidFill>
                <a:latin typeface="Consolas"/>
              </a:rPr>
              <a:t>IDENTITY_SYNC_ON_INCREMENTAL</a:t>
            </a:r>
            <a:r>
              <a:rPr sz="1250" b="0" i="0">
                <a:solidFill>
                  <a:srgbClr val="202020"/>
                </a:solidFill>
                <a:latin typeface="Calibri"/>
              </a:rPr>
              <a:t> now defaults to </a:t>
            </a:r>
            <a:r>
              <a:rPr sz="1200" b="1" i="0">
                <a:solidFill>
                  <a:srgbClr val="202020"/>
                </a:solidFill>
                <a:latin typeface="Consolas"/>
              </a:rPr>
              <a:t>true</a:t>
            </a:r>
            <a:r>
              <a:rPr sz="1250" b="0" i="0">
                <a:solidFill>
                  <a:srgbClr val="202020"/>
                </a:solidFill>
                <a:latin typeface="Calibri"/>
              </a:rPr>
              <a:t> (it was false). Entitlements — the source-to-Entra mappings and group memberships behind every ACL — are re-synced on incremental crawls, not only on full crawls. This shrinks ACL-staleness from the full-crawl cadence (around 24h) to the incremental cadence (around 4h). Two things to keep in mind:</a:t>
            </a:r>
          </a:p>
          <a:p>
            <a:pPr>
              <a:spcBef>
                <a:spcPts val="100"/>
              </a:spcBef>
              <a:spcAft>
                <a:spcPts val="200"/>
              </a:spcAft>
            </a:pPr>
            <a:r>
              <a:rPr sz="1250" b="1" i="0">
                <a:solidFill>
                  <a:srgbClr val="2E5496"/>
                </a:solidFill>
                <a:latin typeface="Calibri"/>
              </a:rPr>
              <a:t>•  </a:t>
            </a:r>
            <a:r>
              <a:rPr sz="1250" b="1" i="0">
                <a:solidFill>
                  <a:srgbClr val="202020"/>
                </a:solidFill>
                <a:latin typeface="Calibri"/>
              </a:rPr>
              <a:t>Residual lag is not zero.</a:t>
            </a:r>
            <a:r>
              <a:rPr sz="1250" b="0" i="0">
                <a:solidFill>
                  <a:srgbClr val="202020"/>
                </a:solidFill>
                <a:latin typeface="Calibri"/>
              </a:rPr>
              <a:t> This is still not real-time. A permission change made at the source is picked up on the </a:t>
            </a:r>
            <a:r>
              <a:rPr sz="1250" b="1" i="0">
                <a:solidFill>
                  <a:srgbClr val="202020"/>
                </a:solidFill>
                <a:latin typeface="Calibri"/>
              </a:rPr>
              <a:t>next</a:t>
            </a:r>
            <a:r>
              <a:rPr sz="1250" b="0" i="0">
                <a:solidFill>
                  <a:srgbClr val="202020"/>
                </a:solidFill>
                <a:latin typeface="Calibri"/>
              </a:rPr>
              <a:t> identity sync, not the instant it happens.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170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14.2 Entitlement freshness — identity sync on incremental crawls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Unchanged content still needs a re-ACL.</a:t>
            </a:r>
            <a:r>
              <a:rPr sz="1250" b="0" i="0">
                <a:solidFill>
                  <a:srgbClr val="202020"/>
                </a:solidFill>
                <a:latin typeface="Calibri"/>
              </a:rPr>
              <a:t> An item whose *content* did not change but whose *permissions* did is re-evaluated on the </a:t>
            </a:r>
            <a:r>
              <a:rPr sz="1250" b="1" i="0">
                <a:solidFill>
                  <a:srgbClr val="202020"/>
                </a:solidFill>
                <a:latin typeface="Calibri"/>
              </a:rPr>
              <a:t>re-ACL cadence</a:t>
            </a:r>
            <a:r>
              <a:rPr sz="1250" b="0" i="0">
                <a:solidFill>
                  <a:srgbClr val="202020"/>
                </a:solidFill>
                <a:latin typeface="Calibri"/>
              </a:rPr>
              <a:t> — full crawls, or the connector's re-ACL trigger (for example </a:t>
            </a:r>
            <a:r>
              <a:rPr sz="1200" b="0" i="0">
                <a:solidFill>
                  <a:srgbClr val="202020"/>
                </a:solidFill>
                <a:latin typeface="Consolas"/>
              </a:rPr>
              <a:t>PERMISSION_REACL</a:t>
            </a:r>
            <a:r>
              <a:rPr sz="1250" b="0" i="0">
                <a:solidFill>
                  <a:srgbClr val="202020"/>
                </a:solidFill>
                <a:latin typeface="Calibri"/>
              </a:rPr>
              <a:t> or the </a:t>
            </a:r>
            <a:r>
              <a:rPr sz="1200" b="0" i="0">
                <a:solidFill>
                  <a:srgbClr val="202020"/>
                </a:solidFill>
                <a:latin typeface="Consolas"/>
              </a:rPr>
              <a:t>reacl</a:t>
            </a:r>
            <a:r>
              <a:rPr sz="1250" b="0" i="0">
                <a:solidFill>
                  <a:srgbClr val="202020"/>
                </a:solidFill>
                <a:latin typeface="Calibri"/>
              </a:rPr>
              <a:t> command, per connector). The incremental identity sync keeps the mappings current; the re-ACL sweep is what re-applies them to unchanged items.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171</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14.2 Entitlement freshness — identity sync on incremental crawls</a:t>
            </a:r>
          </a:p>
        </p:txBody>
      </p:sp>
      <p:sp>
        <p:nvSpPr>
          <p:cNvPr id="5" name="Rectangle 4"/>
          <p:cNvSpPr/>
          <p:nvPr/>
        </p:nvSpPr>
        <p:spPr>
          <a:xfrm>
            <a:off x="502920" y="1463040"/>
            <a:ext cx="11185855" cy="3291840"/>
          </a:xfrm>
          <a:prstGeom prst="rect">
            <a:avLst/>
          </a:prstGeom>
          <a:solidFill>
            <a:srgbClr val="E7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7D32"/>
                </a:solidFill>
                <a:latin typeface="Calibri"/>
              </a:rPr>
              <a:t>Tip:  </a:t>
            </a:r>
            <a:r>
              <a:rPr sz="1400" b="1" i="0">
                <a:solidFill>
                  <a:srgbClr val="202020"/>
                </a:solidFill>
                <a:latin typeface="Calibri"/>
              </a:rPr>
              <a:t>Tip: </a:t>
            </a:r>
            <a:r>
              <a:rPr sz="1400" b="0" i="0">
                <a:solidFill>
                  <a:srgbClr val="202020"/>
                </a:solidFill>
                <a:latin typeface="Calibri"/>
              </a:rPr>
              <a:t>For a connector that already re-ACLed on every cycle (for example Altrata), this default </a:t>
            </a:r>
            <a:r>
              <a:rPr sz="1400" b="1" i="0">
                <a:solidFill>
                  <a:srgbClr val="202020"/>
                </a:solidFill>
                <a:latin typeface="Calibri"/>
              </a:rPr>
              <a:t>matches</a:t>
            </a:r>
            <a:r>
              <a:rPr sz="1400" b="0" i="0">
                <a:solidFill>
                  <a:srgbClr val="202020"/>
                </a:solidFill>
                <a:latin typeface="Calibri"/>
              </a:rPr>
              <a:t> its prior behaviour — no operational change. Check your connector guide for which case applies.</a:t>
            </a:r>
          </a:p>
        </p:txBody>
      </p:sp>
      <p:sp>
        <p:nvSpPr>
          <p:cNvPr id="6" name="Rectangle 5"/>
          <p:cNvSpPr/>
          <p:nvPr/>
        </p:nvSpPr>
        <p:spPr>
          <a:xfrm>
            <a:off x="502920" y="1463040"/>
            <a:ext cx="128016" cy="32918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172</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14.3 Owner-only state directories at startup</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At startup each connector now creates its </a:t>
            </a:r>
            <a:r>
              <a:rPr sz="1200" b="0" i="0">
                <a:solidFill>
                  <a:srgbClr val="202020"/>
                </a:solidFill>
                <a:latin typeface="Consolas"/>
              </a:rPr>
              <a:t>logs</a:t>
            </a:r>
            <a:r>
              <a:rPr sz="1250" b="0" i="0">
                <a:solidFill>
                  <a:srgbClr val="202020"/>
                </a:solidFill>
                <a:latin typeface="Calibri"/>
              </a:rPr>
              <a:t>, state/</a:t>
            </a:r>
            <a:r>
              <a:rPr sz="1200" b="0" i="0">
                <a:solidFill>
                  <a:srgbClr val="202020"/>
                </a:solidFill>
                <a:latin typeface="Consolas"/>
              </a:rPr>
              <a:t>data</a:t>
            </a:r>
            <a:r>
              <a:rPr sz="1250" b="0" i="0">
                <a:solidFill>
                  <a:srgbClr val="202020"/>
                </a:solidFill>
                <a:latin typeface="Calibri"/>
              </a:rPr>
              <a:t> and dead-letter directories </a:t>
            </a:r>
            <a:r>
              <a:rPr sz="1250" b="1" i="0">
                <a:solidFill>
                  <a:srgbClr val="202020"/>
                </a:solidFill>
                <a:latin typeface="Calibri"/>
              </a:rPr>
              <a:t>owner-only</a:t>
            </a:r>
            <a:r>
              <a:rPr sz="1250" b="0" i="0">
                <a:solidFill>
                  <a:srgbClr val="202020"/>
                </a:solidFill>
                <a:latin typeface="Calibri"/>
              </a:rPr>
              <a:t> — POSIX </a:t>
            </a:r>
            <a:r>
              <a:rPr sz="1200" b="0" i="0">
                <a:solidFill>
                  <a:srgbClr val="202020"/>
                </a:solidFill>
                <a:latin typeface="Consolas"/>
              </a:rPr>
              <a:t>chmod 0700</a:t>
            </a:r>
            <a:r>
              <a:rPr sz="1250" b="0" i="0">
                <a:solidFill>
                  <a:srgbClr val="202020"/>
                </a:solidFill>
                <a:latin typeface="Calibri"/>
              </a:rPr>
              <a:t>, or on Windows a best-effort owner+Administrators ACL with inheritance reset (via </a:t>
            </a:r>
            <a:r>
              <a:rPr sz="1200" b="0" i="0">
                <a:solidFill>
                  <a:srgbClr val="202020"/>
                </a:solidFill>
                <a:latin typeface="Consolas"/>
              </a:rPr>
              <a:t>icacls</a:t>
            </a:r>
            <a:r>
              <a:rPr sz="1250" b="0" i="0">
                <a:solidFill>
                  <a:srgbClr val="202020"/>
                </a:solidFill>
                <a:latin typeface="Calibri"/>
              </a:rPr>
              <a:t>). This is </a:t>
            </a:r>
            <a:r>
              <a:rPr sz="1250" b="1" i="0">
                <a:solidFill>
                  <a:srgbClr val="202020"/>
                </a:solidFill>
                <a:latin typeface="Calibri"/>
              </a:rPr>
              <a:t>best-effort and never fatal</a:t>
            </a:r>
            <a:r>
              <a:rPr sz="1250" b="0" i="0">
                <a:solidFill>
                  <a:srgbClr val="202020"/>
                </a:solidFill>
                <a:latin typeface="Calibri"/>
              </a:rPr>
              <a:t>: if it cannot set the permissions it logs a warning and carries on. On a shared host it stops other local accounts reading connector state. It does not replace your own controls — the env and secret files remain the trust root and still need their own ACLs (section 7.7).</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173</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14.4 Classification honesty — an advisory tag, not a Purview label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Be precise about what the </a:t>
            </a:r>
            <a:r>
              <a:rPr sz="1200" b="0" i="0">
                <a:solidFill>
                  <a:srgbClr val="202020"/>
                </a:solidFill>
                <a:latin typeface="Consolas"/>
              </a:rPr>
              <a:t>SensitivityLabel</a:t>
            </a:r>
            <a:r>
              <a:rPr sz="1250" b="0" i="0">
                <a:solidFill>
                  <a:srgbClr val="202020"/>
                </a:solidFill>
                <a:latin typeface="Calibri"/>
              </a:rPr>
              <a:t> property (section 6.12) is. It is an </a:t>
            </a:r>
            <a:r>
              <a:rPr sz="1250" b="1" i="0">
                <a:solidFill>
                  <a:srgbClr val="202020"/>
                </a:solidFill>
                <a:latin typeface="Calibri"/>
              </a:rPr>
              <a:t>advisory, connector-applied classification tag</a:t>
            </a:r>
            <a:r>
              <a:rPr sz="1250" b="0" i="0">
                <a:solidFill>
                  <a:srgbClr val="202020"/>
                </a:solidFill>
                <a:latin typeface="Calibri"/>
              </a:rPr>
              <a:t> — Purview-*aligned in naming only*. It is </a:t>
            </a:r>
            <a:r>
              <a:rPr sz="1250" b="1" i="0">
                <a:solidFill>
                  <a:srgbClr val="202020"/>
                </a:solidFill>
                <a:latin typeface="Calibri"/>
              </a:rPr>
              <a:t>not</a:t>
            </a:r>
            <a:r>
              <a:rPr sz="1250" b="0" i="0">
                <a:solidFill>
                  <a:srgbClr val="202020"/>
                </a:solidFill>
                <a:latin typeface="Calibri"/>
              </a:rPr>
              <a:t> a Microsoft Purview-enforced sensitivity label: it carries no encryption, no DLP, and nothing downstream honours it as a Purview label. On its own it is searchable/reportable metadata for catalog and DLP tooling, </a:t>
            </a:r>
            <a:r>
              <a:rPr sz="1250" b="1" i="0">
                <a:solidFill>
                  <a:srgbClr val="202020"/>
                </a:solidFill>
                <a:latin typeface="Calibri"/>
              </a:rPr>
              <a:t>not</a:t>
            </a:r>
            <a:r>
              <a:rPr sz="1250" b="0" i="0">
                <a:solidFill>
                  <a:srgbClr val="202020"/>
                </a:solidFill>
                <a:latin typeface="Calibri"/>
              </a:rPr>
              <a:t> access control.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174</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14.4 Classification honesty — an advisory tag, not a Purview label</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one place the tag becomes real access control is the optional, opt-in </a:t>
            </a:r>
            <a:r>
              <a:rPr sz="1200" b="0" i="0">
                <a:solidFill>
                  <a:srgbClr val="202020"/>
                </a:solidFill>
                <a:latin typeface="Consolas"/>
              </a:rPr>
              <a:t>CLASSIFICATION_ENFORCE_ACL</a:t>
            </a:r>
            <a:r>
              <a:rPr sz="1250" b="0" i="0">
                <a:solidFill>
                  <a:srgbClr val="202020"/>
                </a:solidFill>
                <a:latin typeface="Calibri"/>
              </a:rPr>
              <a:t> (default </a:t>
            </a:r>
            <a:r>
              <a:rPr sz="1250" b="1" i="0">
                <a:solidFill>
                  <a:srgbClr val="202020"/>
                </a:solidFill>
                <a:latin typeface="Calibri"/>
              </a:rPr>
              <a:t>off</a:t>
            </a:r>
            <a:r>
              <a:rPr sz="1250" b="0" i="0">
                <a:solidFill>
                  <a:srgbClr val="202020"/>
                </a:solidFill>
                <a:latin typeface="Calibri"/>
              </a:rPr>
              <a:t>). When it is on — together with the connector's enforcement-group variable, whose name differs per connector (for example </a:t>
            </a:r>
            <a:r>
              <a:rPr sz="1200" b="0" i="0">
                <a:solidFill>
                  <a:srgbClr val="202020"/>
                </a:solidFill>
                <a:latin typeface="Consolas"/>
              </a:rPr>
              <a:t>CLASSIFICATION_RESTRICTED_GROUP_ID</a:t>
            </a:r>
            <a:r>
              <a:rPr sz="1250" b="0" i="0">
                <a:solidFill>
                  <a:srgbClr val="202020"/>
                </a:solidFill>
                <a:latin typeface="Calibri"/>
              </a:rPr>
              <a:t> on one connector, </a:t>
            </a:r>
            <a:r>
              <a:rPr sz="1200" b="0" i="0">
                <a:solidFill>
                  <a:srgbClr val="202020"/>
                </a:solidFill>
                <a:latin typeface="Consolas"/>
              </a:rPr>
              <a:t>CLASSIFICATION_ENFORCE_GROUP</a:t>
            </a:r>
            <a:r>
              <a:rPr sz="1250" b="0" i="0">
                <a:solidFill>
                  <a:srgbClr val="202020"/>
                </a:solidFill>
                <a:latin typeface="Calibri"/>
              </a:rPr>
              <a:t> on another) — a Restricted item's Graph ACL is </a:t>
            </a:r>
            <a:r>
              <a:rPr sz="1250" b="1" i="0">
                <a:solidFill>
                  <a:srgbClr val="202020"/>
                </a:solidFill>
                <a:latin typeface="Calibri"/>
              </a:rPr>
              <a:t>locked to a single Entra group</a:t>
            </a:r>
            <a:r>
              <a:rPr sz="1250" b="0" i="0">
                <a:solidFill>
                  <a:srgbClr val="202020"/>
                </a:solidFill>
                <a:latin typeface="Calibri"/>
              </a:rPr>
              <a:t> instead of the resolved source principals. Config load </a:t>
            </a:r>
            <a:r>
              <a:rPr sz="1250" b="1" i="0">
                <a:solidFill>
                  <a:srgbClr val="202020"/>
                </a:solidFill>
                <a:latin typeface="Calibri"/>
              </a:rPr>
              <a:t>fails fast</a:t>
            </a:r>
            <a:r>
              <a:rPr sz="1250" b="0" i="0">
                <a:solidFill>
                  <a:srgbClr val="202020"/>
                </a:solidFill>
                <a:latin typeface="Calibri"/>
              </a:rPr>
              <a:t> if the flag is on without a group.</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175</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14.4 Classification honesty — an advisory tag, not a Purview label</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Turning on </a:t>
            </a:r>
            <a:r>
              <a:rPr sz="1350" b="0" i="0">
                <a:solidFill>
                  <a:srgbClr val="202020"/>
                </a:solidFill>
                <a:latin typeface="Consolas"/>
              </a:rPr>
              <a:t>CLASSIFICATION_ENFORCE_ACL</a:t>
            </a:r>
            <a:r>
              <a:rPr sz="1400" b="0" i="0">
                <a:solidFill>
                  <a:srgbClr val="202020"/>
                </a:solidFill>
                <a:latin typeface="Calibri"/>
              </a:rPr>
              <a:t> is a genuine access change — it narrows who can see Restricted items to one group and, on some connectors, that lock survives the re-ACL sweep until enforcement is turned off. Treat it as a security change and check your connector guide for the exact group variable and re-ACL interaction.</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176</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14.5 Stale-index item TTL — expirationDateTime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00" b="0" i="0">
                <a:solidFill>
                  <a:srgbClr val="202020"/>
                </a:solidFill>
                <a:latin typeface="Consolas"/>
              </a:rPr>
              <a:t>GRAPH_ITEM_TTL_DAYS</a:t>
            </a:r>
            <a:r>
              <a:rPr sz="1250" b="0" i="0">
                <a:solidFill>
                  <a:srgbClr val="202020"/>
                </a:solidFill>
                <a:latin typeface="Calibri"/>
              </a:rPr>
              <a:t> (default unset / 0 = no expiry) is a new safety net against a </a:t>
            </a:r>
            <a:r>
              <a:rPr sz="1250" b="1" i="0">
                <a:solidFill>
                  <a:srgbClr val="202020"/>
                </a:solidFill>
                <a:latin typeface="Calibri"/>
              </a:rPr>
              <a:t>stale</a:t>
            </a:r>
            <a:r>
              <a:rPr sz="1250" b="0" i="0">
                <a:solidFill>
                  <a:srgbClr val="202020"/>
                </a:solidFill>
                <a:latin typeface="Calibri"/>
              </a:rPr>
              <a:t> index. When set above 0, every ingested item is stamped a top-level </a:t>
            </a:r>
            <a:r>
              <a:rPr sz="1200" b="0" i="0">
                <a:solidFill>
                  <a:srgbClr val="202020"/>
                </a:solidFill>
                <a:latin typeface="Consolas"/>
              </a:rPr>
              <a:t>expirationDateTime</a:t>
            </a:r>
            <a:r>
              <a:rPr sz="1250" b="0" i="0">
                <a:solidFill>
                  <a:srgbClr val="202020"/>
                </a:solidFill>
                <a:latin typeface="Calibri"/>
              </a:rPr>
              <a:t> = now + TTL. A healthy connector re-stamps every item on each crawl, so items never actually expire; but if crawling </a:t>
            </a:r>
            <a:r>
              <a:rPr sz="1250" b="1" i="0">
                <a:solidFill>
                  <a:srgbClr val="202020"/>
                </a:solidFill>
                <a:latin typeface="Calibri"/>
              </a:rPr>
              <a:t>stops</a:t>
            </a:r>
            <a:r>
              <a:rPr sz="1250" b="0" i="0">
                <a:solidFill>
                  <a:srgbClr val="202020"/>
                </a:solidFill>
                <a:latin typeface="Calibri"/>
              </a:rPr>
              <a:t> (an outage, a wedged host), the index self-expires after the TTL rather than serving stale content indefinitely. Set the TTL comfortably </a:t>
            </a:r>
            <a:r>
              <a:rPr sz="1250" b="1" i="0">
                <a:solidFill>
                  <a:srgbClr val="202020"/>
                </a:solidFill>
                <a:latin typeface="Calibri"/>
              </a:rPr>
              <a:t>above</a:t>
            </a:r>
            <a:r>
              <a:rPr sz="1250" b="0" i="0">
                <a:solidFill>
                  <a:srgbClr val="202020"/>
                </a:solidFill>
                <a:latin typeface="Calibri"/>
              </a:rPr>
              <a:t> your full-crawl cadence so healthy items are always re-stamped before they can lapse.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177</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14.6 Tamper-evident decision ledger</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00" b="0" i="0">
                <a:solidFill>
                  <a:srgbClr val="202020"/>
                </a:solidFill>
                <a:latin typeface="Consolas"/>
              </a:rPr>
              <a:t>DECISION_LEDGER</a:t>
            </a:r>
            <a:r>
              <a:rPr sz="1250" b="0" i="0">
                <a:solidFill>
                  <a:srgbClr val="202020"/>
                </a:solidFill>
                <a:latin typeface="Calibri"/>
              </a:rPr>
              <a:t> writes an </a:t>
            </a:r>
            <a:r>
              <a:rPr sz="1250" b="1" i="0">
                <a:solidFill>
                  <a:srgbClr val="202020"/>
                </a:solidFill>
                <a:latin typeface="Calibri"/>
              </a:rPr>
              <a:t>append-only, SHA-256 hash-chained</a:t>
            </a:r>
            <a:r>
              <a:rPr sz="1250" b="0" i="0">
                <a:solidFill>
                  <a:srgbClr val="202020"/>
                </a:solidFill>
                <a:latin typeface="Calibri"/>
              </a:rPr>
              <a:t> record of </a:t>
            </a:r>
            <a:r>
              <a:rPr sz="1250" b="1" i="0">
                <a:solidFill>
                  <a:srgbClr val="202020"/>
                </a:solidFill>
                <a:latin typeface="Calibri"/>
              </a:rPr>
              <a:t>exclusion</a:t>
            </a:r>
            <a:r>
              <a:rPr sz="1250" b="0" i="0">
                <a:solidFill>
                  <a:srgbClr val="202020"/>
                </a:solidFill>
                <a:latin typeface="Calibri"/>
              </a:rPr>
              <a:t> and </a:t>
            </a:r>
            <a:r>
              <a:rPr sz="1250" b="1" i="0">
                <a:solidFill>
                  <a:srgbClr val="202020"/>
                </a:solidFill>
                <a:latin typeface="Calibri"/>
              </a:rPr>
              <a:t>ACL-restriction</a:t>
            </a:r>
            <a:r>
              <a:rPr sz="1250" b="0" i="0">
                <a:solidFill>
                  <a:srgbClr val="202020"/>
                </a:solidFill>
                <a:latin typeface="Calibri"/>
              </a:rPr>
              <a:t> decisions — the record of *why* an item was hidden or locked down. It stores opaque ids and PII-safe reasons only: </a:t>
            </a:r>
            <a:r>
              <a:rPr sz="1250" b="1" i="0">
                <a:solidFill>
                  <a:srgbClr val="202020"/>
                </a:solidFill>
                <a:latin typeface="Calibri"/>
              </a:rPr>
              <a:t>no content and no personal values</a:t>
            </a:r>
            <a:r>
              <a:rPr sz="1250" b="0" i="0">
                <a:solidFill>
                  <a:srgbClr val="202020"/>
                </a:solidFill>
                <a:latin typeface="Calibri"/>
              </a:rPr>
              <a:t>. Each entry chains to the previous one by hash, so any edit, reorder or deletion breaks the chain, and a </a:t>
            </a:r>
            <a:r>
              <a:rPr sz="1250" b="1" i="0">
                <a:solidFill>
                  <a:srgbClr val="202020"/>
                </a:solidFill>
                <a:latin typeface="Calibri"/>
              </a:rPr>
              <a:t>Verify</a:t>
            </a:r>
            <a:r>
              <a:rPr sz="1250" b="0" i="0">
                <a:solidFill>
                  <a:srgbClr val="202020"/>
                </a:solidFill>
                <a:latin typeface="Calibri"/>
              </a:rPr>
              <a:t> step detects the tamper. It is low-volume (it logs decisions, not every ingest). The default is </a:t>
            </a:r>
            <a:r>
              <a:rPr sz="1250" b="1" i="0">
                <a:solidFill>
                  <a:srgbClr val="202020"/>
                </a:solidFill>
                <a:latin typeface="Calibri"/>
              </a:rPr>
              <a:t>on for some connectors and opt-in for others</a:t>
            </a:r>
            <a:r>
              <a:rPr sz="1250" b="0" i="0">
                <a:solidFill>
                  <a:srgbClr val="202020"/>
                </a:solidFill>
                <a:latin typeface="Calibri"/>
              </a:rPr>
              <a:t> — confirm which in your connector guide. For strong non-repudiation, store or back the ledger up </a:t>
            </a:r>
            <a:r>
              <a:rPr sz="1250" b="1" i="0">
                <a:solidFill>
                  <a:srgbClr val="202020"/>
                </a:solidFill>
                <a:latin typeface="Calibri"/>
              </a:rPr>
              <a:t>off-host</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178</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14.7 Webhook anti-replay — signed timestamps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This applies only to connectors that accept source </a:t>
            </a:r>
            <a:r>
              <a:rPr sz="1250" b="1" i="0">
                <a:solidFill>
                  <a:srgbClr val="202020"/>
                </a:solidFill>
                <a:latin typeface="Calibri"/>
              </a:rPr>
              <a:t>webhooks</a:t>
            </a:r>
            <a:r>
              <a:rPr sz="1250" b="0" i="0">
                <a:solidFill>
                  <a:srgbClr val="202020"/>
                </a:solidFill>
                <a:latin typeface="Calibri"/>
              </a:rPr>
              <a:t> (others are unaffected). The HMAC signature now covers </a:t>
            </a:r>
            <a:r>
              <a:rPr sz="1200" b="1" i="0">
                <a:solidFill>
                  <a:srgbClr val="202020"/>
                </a:solidFill>
                <a:latin typeface="Consolas"/>
              </a:rPr>
              <a:t>{timestamp}.{body}</a:t>
            </a:r>
            <a:r>
              <a:rPr sz="1250" b="0" i="0">
                <a:solidFill>
                  <a:srgbClr val="202020"/>
                </a:solidFill>
                <a:latin typeface="Calibri"/>
              </a:rPr>
              <a:t> rather than the body alone, and every post must carry a </a:t>
            </a:r>
            <a:r>
              <a:rPr sz="1250" b="1" i="0">
                <a:solidFill>
                  <a:srgbClr val="202020"/>
                </a:solidFill>
                <a:latin typeface="Calibri"/>
              </a:rPr>
              <a:t>signed timestamp</a:t>
            </a:r>
            <a:r>
              <a:rPr sz="1250" b="0" i="0">
                <a:solidFill>
                  <a:srgbClr val="202020"/>
                </a:solidFill>
                <a:latin typeface="Calibri"/>
              </a:rPr>
              <a:t>. Stale, future-dated, replayed or timestamp-less posts are rejected </a:t>
            </a:r>
            <a:r>
              <a:rPr sz="1250" b="1" i="0">
                <a:solidFill>
                  <a:srgbClr val="202020"/>
                </a:solidFill>
                <a:latin typeface="Calibri"/>
              </a:rPr>
              <a:t>fail-closed, before the body is parsed</a:t>
            </a:r>
            <a:r>
              <a:rPr sz="1250" b="0" i="0">
                <a:solidFill>
                  <a:srgbClr val="202020"/>
                </a:solidFill>
                <a:latin typeface="Calibri"/>
              </a:rPr>
              <a:t> (401/409). The require-timestamp switch defaults </a:t>
            </a:r>
            <a:r>
              <a:rPr sz="1250" b="1" i="0">
                <a:solidFill>
                  <a:srgbClr val="202020"/>
                </a:solidFill>
                <a:latin typeface="Calibri"/>
              </a:rPr>
              <a:t>true</a:t>
            </a:r>
            <a:r>
              <a:rPr sz="1250" b="0" i="0">
                <a:solidFill>
                  <a:srgbClr val="202020"/>
                </a:solidFill>
                <a:latin typeface="Calibri"/>
              </a:rPr>
              <a:t>, and a tolerance-seconds setting (default </a:t>
            </a:r>
            <a:r>
              <a:rPr sz="1250" b="1" i="0">
                <a:solidFill>
                  <a:srgbClr val="202020"/>
                </a:solidFill>
                <a:latin typeface="Calibri"/>
              </a:rPr>
              <a:t>300</a:t>
            </a:r>
            <a:r>
              <a:rPr sz="1250" b="0" i="0">
                <a:solidFill>
                  <a:srgbClr val="202020"/>
                </a:solidFill>
                <a:latin typeface="Calibri"/>
              </a:rPr>
              <a:t>) is the freshness window. Legacy body-only senders work </a:t>
            </a:r>
            <a:r>
              <a:rPr sz="1250" b="1" i="0">
                <a:solidFill>
                  <a:srgbClr val="202020"/>
                </a:solidFill>
                <a:latin typeface="Calibri"/>
              </a:rPr>
              <a:t>only</a:t>
            </a:r>
            <a:r>
              <a:rPr sz="1250" b="0" i="0">
                <a:solidFill>
                  <a:srgbClr val="202020"/>
                </a:solidFill>
                <a:latin typeface="Calibri"/>
              </a:rPr>
              <a:t> with require-timestamp set to false — a migration mode that has </a:t>
            </a:r>
            <a:r>
              <a:rPr sz="1250" b="1" i="0">
                <a:solidFill>
                  <a:srgbClr val="202020"/>
                </a:solidFill>
                <a:latin typeface="Calibri"/>
              </a:rPr>
              <a:t>no replay protection</a:t>
            </a:r>
            <a:r>
              <a:rPr sz="1250" b="0" i="0">
                <a:solidFill>
                  <a:srgbClr val="202020"/>
                </a:solidFill>
                <a:latin typeface="Calibri"/>
              </a:rPr>
              <a:t>, so treat it as temporary.</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179</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14.8 At a glance</a:t>
            </a:r>
          </a:p>
        </p:txBody>
      </p:sp>
      <p:graphicFrame>
        <p:nvGraphicFramePr>
          <p:cNvPr id="5" name="Table 4"/>
          <p:cNvGraphicFramePr>
            <a:graphicFrameLocks noGrp="1"/>
          </p:cNvGraphicFramePr>
          <p:nvPr/>
        </p:nvGraphicFramePr>
        <p:xfrm>
          <a:off x="502920" y="1188720"/>
          <a:ext cx="11185855" cy="3072384"/>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Control</a:t>
                      </a:r>
                    </a:p>
                  </a:txBody>
                  <a:tcPr marT="25400" marB="25400">
                    <a:solidFill>
                      <a:srgbClr val="2E5496"/>
                    </a:solidFill>
                  </a:tcPr>
                </a:tc>
                <a:tc>
                  <a:txBody>
                    <a:bodyPr wrap="square"/>
                    <a:lstStyle/>
                    <a:p>
                      <a:r>
                        <a:rPr sz="1050" b="1" i="0">
                          <a:solidFill>
                            <a:srgbClr val="FFFFFF"/>
                          </a:solidFill>
                          <a:latin typeface="Calibri"/>
                        </a:rPr>
                        <a:t>New fleet-wide default / behaviour</a:t>
                      </a:r>
                    </a:p>
                  </a:txBody>
                  <a:tcPr marT="25400" marB="25400">
                    <a:solidFill>
                      <a:srgbClr val="2E5496"/>
                    </a:solidFill>
                  </a:tcPr>
                </a:tc>
                <a:tc>
                  <a:txBody>
                    <a:bodyPr wrap="square"/>
                    <a:lstStyle/>
                    <a:p>
                      <a:r>
                        <a:rPr sz="1050" b="1" i="0">
                          <a:solidFill>
                            <a:srgbClr val="FFFFFF"/>
                          </a:solidFill>
                          <a:latin typeface="Calibri"/>
                        </a:rPr>
                        <a:t>Notes</a:t>
                      </a:r>
                    </a:p>
                  </a:txBody>
                  <a:tcPr marT="25400" marB="25400">
                    <a:solidFill>
                      <a:srgbClr val="2E5496"/>
                    </a:solidFill>
                  </a:tcPr>
                </a:tc>
              </a:tr>
              <a:tr h="384048">
                <a:tc>
                  <a:txBody>
                    <a:bodyPr wrap="square"/>
                    <a:lstStyle/>
                    <a:p>
                      <a:r>
                        <a:rPr sz="950" b="0" i="0">
                          <a:solidFill>
                            <a:srgbClr val="202020"/>
                          </a:solidFill>
                          <a:latin typeface="Calibri"/>
                        </a:rPr>
                        <a:t>Dead-letter payload redaction</a:t>
                      </a:r>
                    </a:p>
                  </a:txBody>
                  <a:tcPr marT="12700" marB="12700">
                    <a:solidFill>
                      <a:srgbClr val="FFFFFF"/>
                    </a:solidFill>
                  </a:tcPr>
                </a:tc>
                <a:tc>
                  <a:txBody>
                    <a:bodyPr wrap="square"/>
                    <a:lstStyle/>
                    <a:p>
                      <a:r>
                        <a:rPr sz="950" b="0" i="0">
                          <a:solidFill>
                            <a:srgbClr val="202020"/>
                          </a:solidFill>
                          <a:latin typeface="Consolas"/>
                        </a:rPr>
                        <a:t>DEADLETTER_PAYLOAD_MODE=redacted (was full)</a:t>
                      </a:r>
                    </a:p>
                  </a:txBody>
                  <a:tcPr marT="12700" marB="12700">
                    <a:solidFill>
                      <a:srgbClr val="FFFFFF"/>
                    </a:solidFill>
                  </a:tcPr>
                </a:tc>
                <a:tc>
                  <a:txBody>
                    <a:bodyPr wrap="square"/>
                    <a:lstStyle/>
                    <a:p>
                      <a:r>
                        <a:rPr sz="950" b="0" i="0">
                          <a:solidFill>
                            <a:srgbClr val="202020"/>
                          </a:solidFill>
                          <a:latin typeface="Calibri"/>
                        </a:rPr>
                        <a:t>Raw values/PII off disk unless full; unrecognised value fails config load</a:t>
                      </a:r>
                    </a:p>
                  </a:txBody>
                  <a:tcPr marT="12700" marB="12700">
                    <a:solidFill>
                      <a:srgbClr val="FFFFFF"/>
                    </a:solidFill>
                  </a:tcPr>
                </a:tc>
              </a:tr>
              <a:tr h="384048">
                <a:tc>
                  <a:txBody>
                    <a:bodyPr wrap="square"/>
                    <a:lstStyle/>
                    <a:p>
                      <a:r>
                        <a:rPr sz="950" b="0" i="0">
                          <a:solidFill>
                            <a:srgbClr val="202020"/>
                          </a:solidFill>
                          <a:latin typeface="Calibri"/>
                        </a:rPr>
                        <a:t>Entitlement freshness</a:t>
                      </a:r>
                    </a:p>
                  </a:txBody>
                  <a:tcPr marT="12700" marB="12700">
                    <a:solidFill>
                      <a:srgbClr val="F7F9FC"/>
                    </a:solidFill>
                  </a:tcPr>
                </a:tc>
                <a:tc>
                  <a:txBody>
                    <a:bodyPr wrap="square"/>
                    <a:lstStyle/>
                    <a:p>
                      <a:r>
                        <a:rPr sz="950" b="0" i="0">
                          <a:solidFill>
                            <a:srgbClr val="202020"/>
                          </a:solidFill>
                          <a:latin typeface="Consolas"/>
                        </a:rPr>
                        <a:t>IDENTITY_SYNC_ON_INCREMENTAL=true (was false)</a:t>
                      </a:r>
                    </a:p>
                  </a:txBody>
                  <a:tcPr marT="12700" marB="12700">
                    <a:solidFill>
                      <a:srgbClr val="F7F9FC"/>
                    </a:solidFill>
                  </a:tcPr>
                </a:tc>
                <a:tc>
                  <a:txBody>
                    <a:bodyPr wrap="square"/>
                    <a:lstStyle/>
                    <a:p>
                      <a:r>
                        <a:rPr sz="950" b="0" i="0">
                          <a:solidFill>
                            <a:srgbClr val="202020"/>
                          </a:solidFill>
                          <a:latin typeface="Calibri"/>
                        </a:rPr>
                        <a:t>Re-syncs on incremental cadence; residual lag is non-real-time; unchanged items re-ACL on the re-ACL cadence</a:t>
                      </a:r>
                    </a:p>
                  </a:txBody>
                  <a:tcPr marT="12700" marB="12700">
                    <a:solidFill>
                      <a:srgbClr val="F7F9FC"/>
                    </a:solidFill>
                  </a:tcPr>
                </a:tc>
              </a:tr>
              <a:tr h="384048">
                <a:tc>
                  <a:txBody>
                    <a:bodyPr wrap="square"/>
                    <a:lstStyle/>
                    <a:p>
                      <a:r>
                        <a:rPr sz="950" b="0" i="0">
                          <a:solidFill>
                            <a:srgbClr val="202020"/>
                          </a:solidFill>
                          <a:latin typeface="Calibri"/>
                        </a:rPr>
                        <a:t>Owner-only state directories</a:t>
                      </a:r>
                    </a:p>
                  </a:txBody>
                  <a:tcPr marT="12700" marB="12700">
                    <a:solidFill>
                      <a:srgbClr val="FFFFFF"/>
                    </a:solidFill>
                  </a:tcPr>
                </a:tc>
                <a:tc>
                  <a:txBody>
                    <a:bodyPr wrap="square"/>
                    <a:lstStyle/>
                    <a:p>
                      <a:r>
                        <a:rPr sz="950" b="0" i="0">
                          <a:solidFill>
                            <a:srgbClr val="202020"/>
                          </a:solidFill>
                          <a:latin typeface="Calibri"/>
                        </a:rPr>
                        <a:t>On at startup (POSIX 0700 / best-effort Windows)</a:t>
                      </a:r>
                    </a:p>
                  </a:txBody>
                  <a:tcPr marT="12700" marB="12700">
                    <a:solidFill>
                      <a:srgbClr val="FFFFFF"/>
                    </a:solidFill>
                  </a:tcPr>
                </a:tc>
                <a:tc>
                  <a:txBody>
                    <a:bodyPr wrap="square"/>
                    <a:lstStyle/>
                    <a:p>
                      <a:r>
                        <a:rPr sz="950" b="0" i="0">
                          <a:solidFill>
                            <a:srgbClr val="202020"/>
                          </a:solidFill>
                          <a:latin typeface="Calibri"/>
                        </a:rPr>
                        <a:t>Best-effort, never fatal; env/secret files still need their own ACLs</a:t>
                      </a:r>
                    </a:p>
                  </a:txBody>
                  <a:tcPr marT="12700" marB="12700">
                    <a:solidFill>
                      <a:srgbClr val="FFFFFF"/>
                    </a:solidFill>
                  </a:tcPr>
                </a:tc>
              </a:tr>
              <a:tr h="384048">
                <a:tc>
                  <a:txBody>
                    <a:bodyPr wrap="square"/>
                    <a:lstStyle/>
                    <a:p>
                      <a:r>
                        <a:rPr sz="950" b="0" i="0">
                          <a:solidFill>
                            <a:srgbClr val="202020"/>
                          </a:solidFill>
                          <a:latin typeface="Calibri"/>
                        </a:rPr>
                        <a:t>Classification honesty</a:t>
                      </a:r>
                    </a:p>
                  </a:txBody>
                  <a:tcPr marT="12700" marB="12700">
                    <a:solidFill>
                      <a:srgbClr val="F7F9FC"/>
                    </a:solidFill>
                  </a:tcPr>
                </a:tc>
                <a:tc>
                  <a:txBody>
                    <a:bodyPr wrap="square"/>
                    <a:lstStyle/>
                    <a:p>
                      <a:r>
                        <a:rPr sz="950" b="0" i="0">
                          <a:solidFill>
                            <a:srgbClr val="202020"/>
                          </a:solidFill>
                          <a:latin typeface="Calibri"/>
                        </a:rPr>
                        <a:t>SensitivityLabel = advisory tag, NOT a Purview label</a:t>
                      </a:r>
                    </a:p>
                  </a:txBody>
                  <a:tcPr marT="12700" marB="12700">
                    <a:solidFill>
                      <a:srgbClr val="F7F9FC"/>
                    </a:solidFill>
                  </a:tcPr>
                </a:tc>
                <a:tc>
                  <a:txBody>
                    <a:bodyPr wrap="square"/>
                    <a:lstStyle/>
                    <a:p>
                      <a:r>
                        <a:rPr sz="950" b="0" i="0">
                          <a:solidFill>
                            <a:srgbClr val="202020"/>
                          </a:solidFill>
                          <a:latin typeface="Calibri"/>
                        </a:rPr>
                        <a:t>Enforce with CLASSIFICATION_ENFORCE_ACL (default off) + the connector's group variable</a:t>
                      </a:r>
                    </a:p>
                  </a:txBody>
                  <a:tcPr marT="12700" marB="12700">
                    <a:solidFill>
                      <a:srgbClr val="F7F9FC"/>
                    </a:solidFill>
                  </a:tcPr>
                </a:tc>
              </a:tr>
              <a:tr h="384048">
                <a:tc>
                  <a:txBody>
                    <a:bodyPr wrap="square"/>
                    <a:lstStyle/>
                    <a:p>
                      <a:r>
                        <a:rPr sz="950" b="0" i="0">
                          <a:solidFill>
                            <a:srgbClr val="202020"/>
                          </a:solidFill>
                          <a:latin typeface="Calibri"/>
                        </a:rPr>
                        <a:t>Stale-index item TTL</a:t>
                      </a:r>
                    </a:p>
                  </a:txBody>
                  <a:tcPr marT="12700" marB="12700">
                    <a:solidFill>
                      <a:srgbClr val="FFFFFF"/>
                    </a:solidFill>
                  </a:tcPr>
                </a:tc>
                <a:tc>
                  <a:txBody>
                    <a:bodyPr wrap="square"/>
                    <a:lstStyle/>
                    <a:p>
                      <a:r>
                        <a:rPr sz="950" b="0" i="0">
                          <a:solidFill>
                            <a:srgbClr val="202020"/>
                          </a:solidFill>
                          <a:latin typeface="Consolas"/>
                        </a:rPr>
                        <a:t>GRAPH_ITEM_TTL_DAYS (default off)</a:t>
                      </a:r>
                    </a:p>
                  </a:txBody>
                  <a:tcPr marT="12700" marB="12700">
                    <a:solidFill>
                      <a:srgbClr val="FFFFFF"/>
                    </a:solidFill>
                  </a:tcPr>
                </a:tc>
                <a:tc>
                  <a:txBody>
                    <a:bodyPr wrap="square"/>
                    <a:lstStyle/>
                    <a:p>
                      <a:r>
                        <a:rPr sz="950" b="0" i="0">
                          <a:solidFill>
                            <a:srgbClr val="202020"/>
                          </a:solidFill>
                          <a:latin typeface="Calibri"/>
                        </a:rPr>
                        <a:t>When &gt;0, stamps top-level expirationDateTime; set above the full-crawl cadence</a:t>
                      </a:r>
                    </a:p>
                  </a:txBody>
                  <a:tcPr marT="12700" marB="12700">
                    <a:solidFill>
                      <a:srgbClr val="FFFFFF"/>
                    </a:solidFill>
                  </a:tcPr>
                </a:tc>
              </a:tr>
              <a:tr h="384048">
                <a:tc>
                  <a:txBody>
                    <a:bodyPr wrap="square"/>
                    <a:lstStyle/>
                    <a:p>
                      <a:r>
                        <a:rPr sz="950" b="0" i="0">
                          <a:solidFill>
                            <a:srgbClr val="202020"/>
                          </a:solidFill>
                          <a:latin typeface="Calibri"/>
                        </a:rPr>
                        <a:t>Decision ledger</a:t>
                      </a:r>
                    </a:p>
                  </a:txBody>
                  <a:tcPr marT="12700" marB="12700">
                    <a:solidFill>
                      <a:srgbClr val="F7F9FC"/>
                    </a:solidFill>
                  </a:tcPr>
                </a:tc>
                <a:tc>
                  <a:txBody>
                    <a:bodyPr wrap="square"/>
                    <a:lstStyle/>
                    <a:p>
                      <a:r>
                        <a:rPr sz="950" b="0" i="0">
                          <a:solidFill>
                            <a:srgbClr val="202020"/>
                          </a:solidFill>
                          <a:latin typeface="Calibri"/>
                        </a:rPr>
                        <a:t>DECISION_LEDGER (default on for some, opt-in for others)</a:t>
                      </a:r>
                    </a:p>
                  </a:txBody>
                  <a:tcPr marT="12700" marB="12700">
                    <a:solidFill>
                      <a:srgbClr val="F7F9FC"/>
                    </a:solidFill>
                  </a:tcPr>
                </a:tc>
                <a:tc>
                  <a:txBody>
                    <a:bodyPr wrap="square"/>
                    <a:lstStyle/>
                    <a:p>
                      <a:r>
                        <a:rPr sz="950" b="0" i="0">
                          <a:solidFill>
                            <a:srgbClr val="202020"/>
                          </a:solidFill>
                          <a:latin typeface="Calibri"/>
                        </a:rPr>
                        <a:t>Append-only SHA-256 hash chain; ids/reasons only, no PII; Verify detects tamper</a:t>
                      </a:r>
                    </a:p>
                  </a:txBody>
                  <a:tcPr marT="12700" marB="12700">
                    <a:solidFill>
                      <a:srgbClr val="F7F9FC"/>
                    </a:solidFill>
                  </a:tcPr>
                </a:tc>
              </a:tr>
              <a:tr h="384048">
                <a:tc>
                  <a:txBody>
                    <a:bodyPr wrap="square"/>
                    <a:lstStyle/>
                    <a:p>
                      <a:r>
                        <a:rPr sz="950" b="0" i="0">
                          <a:solidFill>
                            <a:srgbClr val="202020"/>
                          </a:solidFill>
                          <a:latin typeface="Calibri"/>
                        </a:rPr>
                        <a:t>Webhook anti-replay</a:t>
                      </a:r>
                    </a:p>
                  </a:txBody>
                  <a:tcPr marT="12700" marB="12700">
                    <a:solidFill>
                      <a:srgbClr val="FFFFFF"/>
                    </a:solidFill>
                  </a:tcPr>
                </a:tc>
                <a:tc>
                  <a:txBody>
                    <a:bodyPr wrap="square"/>
                    <a:lstStyle/>
                    <a:p>
                      <a:r>
                        <a:rPr sz="950" b="0" i="0">
                          <a:solidFill>
                            <a:srgbClr val="202020"/>
                          </a:solidFill>
                          <a:latin typeface="Calibri"/>
                        </a:rPr>
                        <a:t>*_WEBHOOK_REQUIRE_TIMESTAMP=true (webhook connectors)</a:t>
                      </a:r>
                    </a:p>
                  </a:txBody>
                  <a:tcPr marT="12700" marB="12700">
                    <a:solidFill>
                      <a:srgbClr val="FFFFFF"/>
                    </a:solidFill>
                  </a:tcPr>
                </a:tc>
                <a:tc>
                  <a:txBody>
                    <a:bodyPr wrap="square"/>
                    <a:lstStyle/>
                    <a:p>
                      <a:r>
                        <a:rPr sz="950" b="0" i="0">
                          <a:solidFill>
                            <a:srgbClr val="202020"/>
                          </a:solidFill>
                          <a:latin typeface="Calibri"/>
                        </a:rPr>
                        <a:t>Signs {timestamp}.{body}; freshness window default 300s; false = migration mode, no replay protection</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180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14.8 At a glance</a:t>
            </a:r>
          </a:p>
        </p:txBody>
      </p:sp>
      <p:sp>
        <p:nvSpPr>
          <p:cNvPr id="5" name="Rectangle 4"/>
          <p:cNvSpPr/>
          <p:nvPr/>
        </p:nvSpPr>
        <p:spPr>
          <a:xfrm>
            <a:off x="502920" y="1463040"/>
            <a:ext cx="11185855" cy="3291840"/>
          </a:xfrm>
          <a:prstGeom prst="rect">
            <a:avLst/>
          </a:prstGeom>
          <a:solidFill>
            <a:srgbClr val="F0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6A3D9A"/>
                </a:solidFill>
                <a:latin typeface="Calibri"/>
              </a:rPr>
              <a:t>Information to request:  </a:t>
            </a:r>
            <a:r>
              <a:rPr sz="1400" b="1" i="0">
                <a:solidFill>
                  <a:srgbClr val="202020"/>
                </a:solidFill>
                <a:latin typeface="Calibri"/>
              </a:rPr>
              <a:t>Information to request: </a:t>
            </a:r>
            <a:r>
              <a:rPr sz="1400" b="0" i="0">
                <a:solidFill>
                  <a:srgbClr val="202020"/>
                </a:solidFill>
                <a:latin typeface="Calibri"/>
              </a:rPr>
              <a:t>Exact variable names, and which of these default to on, differ per connector — this section is the shared theory, not the authority for your values. Always confirm against your connector guide's Configuration reference and its </a:t>
            </a:r>
            <a:r>
              <a:rPr sz="1350" b="0" i="0">
                <a:solidFill>
                  <a:srgbClr val="202020"/>
                </a:solidFill>
                <a:latin typeface="Consolas"/>
              </a:rPr>
              <a:t>env/.env.local.example</a:t>
            </a:r>
            <a:r>
              <a:rPr sz="1400" b="0" i="0">
                <a:solidFill>
                  <a:srgbClr val="202020"/>
                </a:solidFill>
                <a:latin typeface="Calibri"/>
              </a:rPr>
              <a:t> before you deploy or change a setting.</a:t>
            </a:r>
          </a:p>
        </p:txBody>
      </p:sp>
      <p:sp>
        <p:nvSpPr>
          <p:cNvPr id="6" name="Rectangle 5"/>
          <p:cNvSpPr/>
          <p:nvPr/>
        </p:nvSpPr>
        <p:spPr>
          <a:xfrm>
            <a:off x="502920" y="1463040"/>
            <a:ext cx="128016" cy="3291840"/>
          </a:xfrm>
          <a:prstGeom prst="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Tenant &amp; Common Concepts</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181</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182880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331720"/>
            <a:ext cx="11185855" cy="1737360"/>
          </a:xfrm>
          <a:prstGeom prst="rect">
            <a:avLst/>
          </a:prstGeom>
          <a:noFill/>
        </p:spPr>
        <p:txBody>
          <a:bodyPr wrap="square" anchor="ctr" lIns="0" rIns="0" tIns="0" bIns="0">
            <a:spAutoFit/>
          </a:bodyPr>
          <a:lstStyle/>
          <a:p>
            <a:r>
              <a:rPr sz="2000" b="1" i="0">
                <a:solidFill>
                  <a:srgbClr val="C7D3EA"/>
                </a:solidFill>
                <a:latin typeface="Calibri"/>
              </a:rPr>
              <a:t>Part 1</a:t>
            </a:r>
          </a:p>
          <a:p>
            <a:r>
              <a:rPr sz="3400" b="1" i="0">
                <a:solidFill>
                  <a:srgbClr val="FFFFFF"/>
                </a:solidFill>
                <a:latin typeface="Calibri"/>
              </a:rPr>
              <a:t>Salesforce Connector</a:t>
            </a:r>
          </a:p>
          <a:p>
            <a:r>
              <a:rPr sz="1600" b="0" i="0">
                <a:solidFill>
                  <a:srgbClr val="E0E8F5"/>
                </a:solidFill>
                <a:latin typeface="Calibri"/>
              </a:rPr>
              <a:t>Live Salesforce CRM — sharing-model ACLs</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Salesforce Connector</a:t>
            </a:r>
          </a:p>
          <a:p>
            <a:r>
              <a:rPr sz="3000" b="1" i="0">
                <a:solidFill>
                  <a:srgbClr val="1F3864"/>
                </a:solidFill>
                <a:latin typeface="Calibri"/>
              </a:rPr>
              <a:t>1. About this guide</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183</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 About this guide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This guide tells you how to set up, run, monitor, troubleshoot and support the Salesforce connector for Microsoft 365 Copilot. It is written for an IT operator who has not worked with this connector before and who needs to know exactly what to do and what to ask other teams for.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184</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 About this guide</a:t>
            </a:r>
          </a:p>
        </p:txBody>
      </p:sp>
      <p:sp>
        <p:nvSpPr>
          <p:cNvPr id="5" name="Rectangle 4"/>
          <p:cNvSpPr/>
          <p:nvPr/>
        </p:nvSpPr>
        <p:spPr>
          <a:xfrm>
            <a:off x="502920" y="1463040"/>
            <a:ext cx="11185855" cy="329184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5496"/>
                </a:solidFill>
                <a:latin typeface="Calibri"/>
              </a:rPr>
              <a:t>Note:  </a:t>
            </a:r>
            <a:r>
              <a:rPr sz="1400" b="1" i="0">
                <a:solidFill>
                  <a:srgbClr val="202020"/>
                </a:solidFill>
                <a:latin typeface="Calibri"/>
              </a:rPr>
              <a:t>What changed in this release — safe defaults: </a:t>
            </a:r>
            <a:r>
              <a:rPr sz="1400" b="0" i="0">
                <a:solidFill>
                  <a:srgbClr val="202020"/>
                </a:solidFill>
                <a:latin typeface="Calibri"/>
              </a:rPr>
              <a:t>This </a:t>
            </a:r>
            <a:r>
              <a:rPr sz="1400" b="1" i="0">
                <a:solidFill>
                  <a:srgbClr val="202020"/>
                </a:solidFill>
                <a:latin typeface="Calibri"/>
              </a:rPr>
              <a:t>1.1</a:t>
            </a:r>
            <a:r>
              <a:rPr sz="1400" b="0" i="0">
                <a:solidFill>
                  <a:srgbClr val="202020"/>
                </a:solidFill>
                <a:latin typeface="Calibri"/>
              </a:rPr>
              <a:t> release ships bank-grade hardening. Two behaviour-changing </a:t>
            </a:r>
            <a:r>
              <a:rPr sz="1400" b="1" i="0">
                <a:solidFill>
                  <a:srgbClr val="202020"/>
                </a:solidFill>
                <a:latin typeface="Calibri"/>
              </a:rPr>
              <a:t>safe-default flips</a:t>
            </a:r>
            <a:r>
              <a:rPr sz="1400" b="0" i="0">
                <a:solidFill>
                  <a:srgbClr val="202020"/>
                </a:solidFill>
                <a:latin typeface="Calibri"/>
              </a:rPr>
              <a:t> affect this connector. </a:t>
            </a:r>
            <a:r>
              <a:rPr sz="1400" b="1" i="0">
                <a:solidFill>
                  <a:srgbClr val="202020"/>
                </a:solidFill>
                <a:latin typeface="Calibri"/>
              </a:rPr>
              <a:t>(1) Dead-letter records are now redacted by default</a:t>
            </a:r>
            <a:r>
              <a:rPr sz="1400" b="0" i="0">
                <a:solidFill>
                  <a:srgbClr val="202020"/>
                </a:solidFill>
                <a:latin typeface="Calibri"/>
              </a:rPr>
              <a:t> — </a:t>
            </a:r>
            <a:r>
              <a:rPr sz="1350" b="0" i="0">
                <a:solidFill>
                  <a:srgbClr val="202020"/>
                </a:solidFill>
                <a:latin typeface="Consolas"/>
              </a:rPr>
              <a:t>DEADLETTER_PAYLOAD_MODE</a:t>
            </a:r>
            <a:r>
              <a:rPr sz="1400" b="0" i="0">
                <a:solidFill>
                  <a:srgbClr val="202020"/>
                </a:solidFill>
                <a:latin typeface="Calibri"/>
              </a:rPr>
              <a:t> defaults to </a:t>
            </a:r>
            <a:r>
              <a:rPr sz="1350" b="0" i="0">
                <a:solidFill>
                  <a:srgbClr val="202020"/>
                </a:solidFill>
                <a:latin typeface="Consolas"/>
              </a:rPr>
              <a:t>redacted</a:t>
            </a:r>
            <a:r>
              <a:rPr sz="1400" b="0" i="0">
                <a:solidFill>
                  <a:srgbClr val="202020"/>
                </a:solidFill>
                <a:latin typeface="Calibri"/>
              </a:rPr>
              <a:t> (was </a:t>
            </a:r>
            <a:r>
              <a:rPr sz="1350" b="0" i="0">
                <a:solidFill>
                  <a:srgbClr val="202020"/>
                </a:solidFill>
                <a:latin typeface="Consolas"/>
              </a:rPr>
              <a:t>full</a:t>
            </a:r>
            <a:r>
              <a:rPr sz="1400" b="0" i="0">
                <a:solidFill>
                  <a:srgbClr val="202020"/>
                </a:solidFill>
                <a:latin typeface="Calibri"/>
              </a:rPr>
              <a:t>), so raw CRM field values and PII no longer land on disk unless you deliberately set </a:t>
            </a:r>
            <a:r>
              <a:rPr sz="1350" b="0" i="0">
                <a:solidFill>
                  <a:srgbClr val="202020"/>
                </a:solidFill>
                <a:latin typeface="Consolas"/>
              </a:rPr>
              <a:t>full</a:t>
            </a:r>
            <a:r>
              <a:rPr sz="1400" b="0" i="0">
                <a:solidFill>
                  <a:srgbClr val="202020"/>
                </a:solidFill>
                <a:latin typeface="Calibri"/>
              </a:rPr>
              <a:t>; a typo in this setting now fails startup rather than silently keeping data. </a:t>
            </a:r>
            <a:r>
              <a:rPr sz="1400" b="1" i="0">
                <a:solidFill>
                  <a:srgbClr val="202020"/>
                </a:solidFill>
                <a:latin typeface="Calibri"/>
              </a:rPr>
              <a:t>(2) Entitlements now re-sync on every incremental crawl</a:t>
            </a:r>
            <a:r>
              <a:rPr sz="1400" b="0" i="0">
                <a:solidFill>
                  <a:srgbClr val="202020"/>
                </a:solidFill>
                <a:latin typeface="Calibri"/>
              </a:rPr>
              <a:t> — </a:t>
            </a:r>
            <a:r>
              <a:rPr sz="1350" b="0" i="0">
                <a:solidFill>
                  <a:srgbClr val="202020"/>
                </a:solidFill>
                <a:latin typeface="Consolas"/>
              </a:rPr>
              <a:t>IDENTITY_SYNC_ON_INCREMENTAL</a:t>
            </a:r>
            <a:r>
              <a:rPr sz="1400" b="0" i="0">
                <a:solidFill>
                  <a:srgbClr val="202020"/>
                </a:solidFill>
                <a:latin typeface="Calibri"/>
              </a:rPr>
              <a:t> defaults to </a:t>
            </a:r>
            <a:r>
              <a:rPr sz="1350" b="0" i="0">
                <a:solidFill>
                  <a:srgbClr val="202020"/>
                </a:solidFill>
                <a:latin typeface="Consolas"/>
              </a:rPr>
              <a:t>true</a:t>
            </a:r>
            <a:r>
              <a:rPr sz="1400" b="0" i="0">
                <a:solidFill>
                  <a:srgbClr val="202020"/>
                </a:solidFill>
                <a:latin typeface="Calibri"/>
              </a:rPr>
              <a:t> (opt-out), shrinking ACL-staleness lag from the full-crawl cadence to the incremental cadence (this only takes effect when </a:t>
            </a:r>
            <a:r>
              <a:rPr sz="1350" b="0" i="0">
                <a:solidFill>
                  <a:srgbClr val="202020"/>
                </a:solidFill>
                <a:latin typeface="Consolas"/>
              </a:rPr>
              <a:t>USE_GROUP_ACL=true</a:t>
            </a:r>
            <a:r>
              <a:rPr sz="1400" b="0" i="0">
                <a:solidFill>
                  <a:srgbClr val="202020"/>
                </a:solidFill>
                <a:latin typeface="Calibri"/>
              </a:rPr>
              <a:t>, which is the default). In addition, new </a:t>
            </a:r>
            <a:r>
              <a:rPr sz="1400" b="1" i="0">
                <a:solidFill>
                  <a:srgbClr val="202020"/>
                </a:solidFill>
                <a:latin typeface="Calibri"/>
              </a:rPr>
              <a:t>opt-in</a:t>
            </a:r>
            <a:r>
              <a:rPr sz="1400" b="0" i="0">
                <a:solidFill>
                  <a:srgbClr val="202020"/>
                </a:solidFill>
                <a:latin typeface="Calibri"/>
              </a:rPr>
              <a:t> governance controls — classification-tag ACL enforcement, stale-index item TTL, the large-group ACL scale guard, and a tamper-evident decision ledger — are documented in §12.5, and the connector now creates its state, log and dead-letter directories owner-only at startup. Salesforce remains poll-only: there is still no inbound webhook and no circuit breaker.</a:t>
            </a:r>
          </a:p>
        </p:txBody>
      </p:sp>
      <p:sp>
        <p:nvSpPr>
          <p:cNvPr id="6" name="Rectangle 5"/>
          <p:cNvSpPr/>
          <p:nvPr/>
        </p:nvSpPr>
        <p:spPr>
          <a:xfrm>
            <a:off x="502920" y="1463040"/>
            <a:ext cx="128016" cy="329184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185</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 Who this is for</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You do not need to be a Salesforce developer or a Microsoft Graph specialist to run this connector. You do need to be comfortable editing configuration files, running a command-line tool or a Windows service, and reading logs and dashboards. Wherever a value has to come from another team (the Salesforce administrators, the Microsoft Entra tenant admins, or the network/firewall team), this guide flags it with an </a:t>
            </a:r>
            <a:r>
              <a:rPr sz="1250" b="1" i="0">
                <a:solidFill>
                  <a:srgbClr val="202020"/>
                </a:solidFill>
                <a:latin typeface="Calibri"/>
              </a:rPr>
              <a:t>Information to request</a:t>
            </a:r>
            <a:r>
              <a:rPr sz="1250" b="0" i="0">
                <a:solidFill>
                  <a:srgbClr val="202020"/>
                </a:solidFill>
                <a:latin typeface="Calibri"/>
              </a:rPr>
              <a:t> box so you know precisely what to ask for and who owns it.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186</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 Read the Common Guide first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This connector is one of a family that all share the same underlying engine — the same crawl loop, checkpointing, dead-letter queue, retry behaviour, sharding, high availability, security and deployment model. Those shared concepts are documented once, in the </a:t>
            </a:r>
            <a:r>
              <a:rPr sz="1250" b="1" i="0">
                <a:solidFill>
                  <a:srgbClr val="202020"/>
                </a:solidFill>
                <a:latin typeface="Calibri"/>
              </a:rPr>
              <a:t>Tenant &amp; Common Concepts Guide (CONN-DOC-COMMON-01)</a:t>
            </a:r>
            <a:r>
              <a:rPr sz="1250" b="0" i="0">
                <a:solidFill>
                  <a:srgbClr val="202020"/>
                </a:solidFill>
                <a:latin typeface="Calibri"/>
              </a:rPr>
              <a:t>, and are </a:t>
            </a:r>
            <a:r>
              <a:rPr sz="1250" b="1" i="0">
                <a:solidFill>
                  <a:srgbClr val="202020"/>
                </a:solidFill>
                <a:latin typeface="Calibri"/>
              </a:rPr>
              <a:t>not</a:t>
            </a:r>
            <a:r>
              <a:rPr sz="1250" b="0" i="0">
                <a:solidFill>
                  <a:srgbClr val="202020"/>
                </a:solidFill>
                <a:latin typeface="Calibri"/>
              </a:rPr>
              <a:t> repeated here. This document covers only what is specific to Salesforce.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187</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 Read the Common Guide first</a:t>
            </a:r>
          </a:p>
        </p:txBody>
      </p:sp>
      <p:sp>
        <p:nvSpPr>
          <p:cNvPr id="5" name="Rectangle 4"/>
          <p:cNvSpPr/>
          <p:nvPr/>
        </p:nvSpPr>
        <p:spPr>
          <a:xfrm>
            <a:off x="502920" y="1463040"/>
            <a:ext cx="11185855" cy="329184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5496"/>
                </a:solidFill>
                <a:latin typeface="Calibri"/>
              </a:rPr>
              <a:t>Note:  </a:t>
            </a:r>
            <a:r>
              <a:rPr sz="1400" b="1" i="0">
                <a:solidFill>
                  <a:srgbClr val="202020"/>
                </a:solidFill>
                <a:latin typeface="Calibri"/>
              </a:rPr>
              <a:t>Note: </a:t>
            </a:r>
            <a:r>
              <a:rPr sz="1400" b="0" i="0">
                <a:solidFill>
                  <a:srgbClr val="202020"/>
                </a:solidFill>
                <a:latin typeface="Calibri"/>
              </a:rPr>
              <a:t>If a term such as </a:t>
            </a:r>
            <a:r>
              <a:rPr sz="1400" b="1" i="0">
                <a:solidFill>
                  <a:srgbClr val="202020"/>
                </a:solidFill>
                <a:latin typeface="Calibri"/>
              </a:rPr>
              <a:t>external connection</a:t>
            </a:r>
            <a:r>
              <a:rPr sz="1400" b="0" i="0">
                <a:solidFill>
                  <a:srgbClr val="202020"/>
                </a:solidFill>
                <a:latin typeface="Calibri"/>
              </a:rPr>
              <a:t>, </a:t>
            </a:r>
            <a:r>
              <a:rPr sz="1400" b="1" i="0">
                <a:solidFill>
                  <a:srgbClr val="202020"/>
                </a:solidFill>
                <a:latin typeface="Calibri"/>
              </a:rPr>
              <a:t>external item</a:t>
            </a:r>
            <a:r>
              <a:rPr sz="1400" b="0" i="0">
                <a:solidFill>
                  <a:srgbClr val="202020"/>
                </a:solidFill>
                <a:latin typeface="Calibri"/>
              </a:rPr>
              <a:t>, </a:t>
            </a:r>
            <a:r>
              <a:rPr sz="1400" b="1" i="0">
                <a:solidFill>
                  <a:srgbClr val="202020"/>
                </a:solidFill>
                <a:latin typeface="Calibri"/>
              </a:rPr>
              <a:t>ACL</a:t>
            </a:r>
            <a:r>
              <a:rPr sz="1400" b="0" i="0">
                <a:solidFill>
                  <a:srgbClr val="202020"/>
                </a:solidFill>
                <a:latin typeface="Calibri"/>
              </a:rPr>
              <a:t>, </a:t>
            </a:r>
            <a:r>
              <a:rPr sz="1400" b="1" i="0">
                <a:solidFill>
                  <a:srgbClr val="202020"/>
                </a:solidFill>
                <a:latin typeface="Calibri"/>
              </a:rPr>
              <a:t>checkpoint</a:t>
            </a:r>
            <a:r>
              <a:rPr sz="1400" b="0" i="0">
                <a:solidFill>
                  <a:srgbClr val="202020"/>
                </a:solidFill>
                <a:latin typeface="Calibri"/>
              </a:rPr>
              <a:t>, </a:t>
            </a:r>
            <a:r>
              <a:rPr sz="1400" b="1" i="0">
                <a:solidFill>
                  <a:srgbClr val="202020"/>
                </a:solidFill>
                <a:latin typeface="Calibri"/>
              </a:rPr>
              <a:t>dead-letter queue</a:t>
            </a:r>
            <a:r>
              <a:rPr sz="1400" b="0" i="0">
                <a:solidFill>
                  <a:srgbClr val="202020"/>
                </a:solidFill>
                <a:latin typeface="Calibri"/>
              </a:rPr>
              <a:t>, </a:t>
            </a:r>
            <a:r>
              <a:rPr sz="1400" b="1" i="0">
                <a:solidFill>
                  <a:srgbClr val="202020"/>
                </a:solidFill>
                <a:latin typeface="Calibri"/>
              </a:rPr>
              <a:t>adaptive concurrency</a:t>
            </a:r>
            <a:r>
              <a:rPr sz="1400" b="0" i="0">
                <a:solidFill>
                  <a:srgbClr val="202020"/>
                </a:solidFill>
                <a:latin typeface="Calibri"/>
              </a:rPr>
              <a:t>, </a:t>
            </a:r>
            <a:r>
              <a:rPr sz="1400" b="1" i="0">
                <a:solidFill>
                  <a:srgbClr val="202020"/>
                </a:solidFill>
                <a:latin typeface="Calibri"/>
              </a:rPr>
              <a:t>sharding</a:t>
            </a:r>
            <a:r>
              <a:rPr sz="1400" b="0" i="0">
                <a:solidFill>
                  <a:srgbClr val="202020"/>
                </a:solidFill>
                <a:latin typeface="Calibri"/>
              </a:rPr>
              <a:t> or </a:t>
            </a:r>
            <a:r>
              <a:rPr sz="1400" b="1" i="0">
                <a:solidFill>
                  <a:srgbClr val="202020"/>
                </a:solidFill>
                <a:latin typeface="Calibri"/>
              </a:rPr>
              <a:t>high availability</a:t>
            </a:r>
            <a:r>
              <a:rPr sz="1400" b="0" i="0">
                <a:solidFill>
                  <a:srgbClr val="202020"/>
                </a:solidFill>
                <a:latin typeface="Calibri"/>
              </a:rPr>
              <a:t> is new to you, read the Common Guide before continuing. In particular: the Common Guide </a:t>
            </a:r>
            <a:r>
              <a:rPr sz="1400" b="1" i="0">
                <a:solidFill>
                  <a:srgbClr val="202020"/>
                </a:solidFill>
                <a:latin typeface="Calibri"/>
              </a:rPr>
              <a:t>§6 The shared connector architecture</a:t>
            </a:r>
            <a:r>
              <a:rPr sz="1400" b="0" i="0">
                <a:solidFill>
                  <a:srgbClr val="202020"/>
                </a:solidFill>
                <a:latin typeface="Calibri"/>
              </a:rPr>
              <a:t>, </a:t>
            </a:r>
            <a:r>
              <a:rPr sz="1400" b="1" i="0">
                <a:solidFill>
                  <a:srgbClr val="202020"/>
                </a:solidFill>
                <a:latin typeface="Calibri"/>
              </a:rPr>
              <a:t>§5 Identity and access</a:t>
            </a:r>
            <a:r>
              <a:rPr sz="1400" b="0" i="0">
                <a:solidFill>
                  <a:srgbClr val="202020"/>
                </a:solidFill>
                <a:latin typeface="Calibri"/>
              </a:rPr>
              <a:t>, and </a:t>
            </a:r>
            <a:r>
              <a:rPr sz="1400" b="1" i="0">
                <a:solidFill>
                  <a:srgbClr val="202020"/>
                </a:solidFill>
                <a:latin typeface="Calibri"/>
              </a:rPr>
              <a:t>§13 Master glossary</a:t>
            </a:r>
            <a:r>
              <a:rPr sz="1400" b="0" i="0">
                <a:solidFill>
                  <a:srgbClr val="202020"/>
                </a:solidFill>
                <a:latin typeface="Calibri"/>
              </a:rPr>
              <a:t>.</a:t>
            </a:r>
          </a:p>
        </p:txBody>
      </p:sp>
      <p:sp>
        <p:nvSpPr>
          <p:cNvPr id="6" name="Rectangle 5"/>
          <p:cNvSpPr/>
          <p:nvPr/>
        </p:nvSpPr>
        <p:spPr>
          <a:xfrm>
            <a:off x="502920" y="1463040"/>
            <a:ext cx="128016" cy="329184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188</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1.3 How to use this document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Setting it up for the first time?</a:t>
            </a:r>
            <a:r>
              <a:rPr sz="1250" b="0" i="0">
                <a:solidFill>
                  <a:srgbClr val="202020"/>
                </a:solidFill>
                <a:latin typeface="Calibri"/>
              </a:rPr>
              <a:t> Work through §7 (intake checklist) then §8 (step-by-step setup). Collect every value in §7 before you start §8.</a:t>
            </a:r>
          </a:p>
          <a:p>
            <a:pPr>
              <a:spcBef>
                <a:spcPts val="100"/>
              </a:spcBef>
              <a:spcAft>
                <a:spcPts val="200"/>
              </a:spcAft>
            </a:pPr>
            <a:r>
              <a:rPr sz="1250" b="1" i="0">
                <a:solidFill>
                  <a:srgbClr val="2E5496"/>
                </a:solidFill>
                <a:latin typeface="Calibri"/>
              </a:rPr>
              <a:t>•  </a:t>
            </a:r>
            <a:r>
              <a:rPr sz="1250" b="1" i="0">
                <a:solidFill>
                  <a:srgbClr val="202020"/>
                </a:solidFill>
                <a:latin typeface="Calibri"/>
              </a:rPr>
              <a:t>Running it day to day?</a:t>
            </a:r>
            <a:r>
              <a:rPr sz="1250" b="0" i="0">
                <a:solidFill>
                  <a:srgbClr val="202020"/>
                </a:solidFill>
                <a:latin typeface="Calibri"/>
              </a:rPr>
              <a:t> §9 (daily operation) and §10 (monitoring) are your reference.</a:t>
            </a:r>
          </a:p>
          <a:p>
            <a:pPr>
              <a:spcBef>
                <a:spcPts val="100"/>
              </a:spcBef>
              <a:spcAft>
                <a:spcPts val="200"/>
              </a:spcAft>
            </a:pPr>
            <a:r>
              <a:rPr sz="1250" b="1" i="0">
                <a:solidFill>
                  <a:srgbClr val="2E5496"/>
                </a:solidFill>
                <a:latin typeface="Calibri"/>
              </a:rPr>
              <a:t>•  </a:t>
            </a:r>
            <a:r>
              <a:rPr sz="1250" b="1" i="0">
                <a:solidFill>
                  <a:srgbClr val="202020"/>
                </a:solidFill>
                <a:latin typeface="Calibri"/>
              </a:rPr>
              <a:t>Something is wrong?</a:t>
            </a:r>
            <a:r>
              <a:rPr sz="1250" b="0" i="0">
                <a:solidFill>
                  <a:srgbClr val="202020"/>
                </a:solidFill>
                <a:latin typeface="Calibri"/>
              </a:rPr>
              <a:t> Go straight to §11 (troubleshooting) — it maps a symptom to a likely cause and a fix.</a:t>
            </a:r>
          </a:p>
          <a:p>
            <a:pPr>
              <a:spcBef>
                <a:spcPts val="100"/>
              </a:spcBef>
              <a:spcAft>
                <a:spcPts val="200"/>
              </a:spcAft>
            </a:pPr>
            <a:r>
              <a:rPr sz="1250" b="1" i="0">
                <a:solidFill>
                  <a:srgbClr val="2E5496"/>
                </a:solidFill>
                <a:latin typeface="Calibri"/>
              </a:rPr>
              <a:t>•  </a:t>
            </a:r>
            <a:r>
              <a:rPr sz="1250" b="1" i="0">
                <a:solidFill>
                  <a:srgbClr val="202020"/>
                </a:solidFill>
                <a:latin typeface="Calibri"/>
              </a:rPr>
              <a:t>Need to look up a setting or a term?</a:t>
            </a:r>
            <a:r>
              <a:rPr sz="1250" b="0" i="0">
                <a:solidFill>
                  <a:srgbClr val="202020"/>
                </a:solidFill>
                <a:latin typeface="Calibri"/>
              </a:rPr>
              <a:t> §12 is the full configuration reference; §13 is the Salesforce-specific glossary.</a:t>
            </a:r>
          </a:p>
          <a:p>
            <a:pPr>
              <a:spcBef>
                <a:spcPts val="100"/>
              </a:spcBef>
              <a:spcAft>
                <a:spcPts val="400"/>
              </a:spcAft>
            </a:pPr>
            <a:r>
              <a:rPr sz="1250" b="0" i="0">
                <a:solidFill>
                  <a:srgbClr val="202020"/>
                </a:solidFill>
                <a:latin typeface="Calibri"/>
              </a:rPr>
              <a:t>Keep this document open while you work. It is a reference, not a tutorial — you are not expected to memorise it.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189</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Salesforce Connector</a:t>
            </a:r>
          </a:p>
          <a:p>
            <a:r>
              <a:rPr sz="3000" b="1" i="0">
                <a:solidFill>
                  <a:srgbClr val="1F3864"/>
                </a:solidFill>
                <a:latin typeface="Calibri"/>
              </a:rPr>
              <a:t>2. What is Salesforce, and what data will this connector index?</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190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2.1 Salesforce in plain language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Salesforce is the bank's </a:t>
            </a:r>
            <a:r>
              <a:rPr sz="1250" b="1" i="0">
                <a:solidFill>
                  <a:srgbClr val="202020"/>
                </a:solidFill>
                <a:latin typeface="Calibri"/>
              </a:rPr>
              <a:t>CRM</a:t>
            </a:r>
            <a:r>
              <a:rPr sz="1250" b="0" i="0">
                <a:solidFill>
                  <a:srgbClr val="202020"/>
                </a:solidFill>
                <a:latin typeface="Calibri"/>
              </a:rPr>
              <a:t> — Customer Relationship Management — system. It is the system of record for who the customers and prospects are, who owns each relationship, what deals are in the pipeline, and what support issues are open. Relationship managers, sales staff, support agents and marketing teams live in it every day.</a:t>
            </a:r>
          </a:p>
          <a:p>
            <a:pPr>
              <a:spcBef>
                <a:spcPts val="100"/>
              </a:spcBef>
              <a:spcAft>
                <a:spcPts val="400"/>
              </a:spcAft>
            </a:pPr>
            <a:r>
              <a:rPr sz="1250" b="0" i="0">
                <a:solidFill>
                  <a:srgbClr val="202020"/>
                </a:solidFill>
                <a:latin typeface="Calibri"/>
              </a:rPr>
              <a:t>Salesforce stores data as </a:t>
            </a:r>
            <a:r>
              <a:rPr sz="1250" b="1" i="0">
                <a:solidFill>
                  <a:srgbClr val="202020"/>
                </a:solidFill>
                <a:latin typeface="Calibri"/>
              </a:rPr>
              <a:t>records</a:t>
            </a:r>
            <a:r>
              <a:rPr sz="1250" b="0" i="0">
                <a:solidFill>
                  <a:srgbClr val="202020"/>
                </a:solidFill>
                <a:latin typeface="Calibri"/>
              </a:rPr>
              <a:t> grouped into </a:t>
            </a:r>
            <a:r>
              <a:rPr sz="1250" b="1" i="0">
                <a:solidFill>
                  <a:srgbClr val="202020"/>
                </a:solidFill>
                <a:latin typeface="Calibri"/>
              </a:rPr>
              <a:t>objects</a:t>
            </a:r>
            <a:r>
              <a:rPr sz="1250" b="0" i="0">
                <a:solidFill>
                  <a:srgbClr val="202020"/>
                </a:solidFill>
                <a:latin typeface="Calibri"/>
              </a:rPr>
              <a:t>. An object is like a table; a record is a row. Salesforce ships with </a:t>
            </a:r>
            <a:r>
              <a:rPr sz="1250" b="1" i="0">
                <a:solidFill>
                  <a:srgbClr val="202020"/>
                </a:solidFill>
                <a:latin typeface="Calibri"/>
              </a:rPr>
              <a:t>standard objects</a:t>
            </a:r>
            <a:r>
              <a:rPr sz="1250" b="0" i="0">
                <a:solidFill>
                  <a:srgbClr val="202020"/>
                </a:solidFill>
                <a:latin typeface="Calibri"/>
              </a:rPr>
              <a:t> (Account, Contact, Opportunity, Case, Lead and so on) and lets each organisation add </a:t>
            </a:r>
            <a:r>
              <a:rPr sz="1250" b="1" i="0">
                <a:solidFill>
                  <a:srgbClr val="202020"/>
                </a:solidFill>
                <a:latin typeface="Calibri"/>
              </a:rPr>
              <a:t>custom objects</a:t>
            </a:r>
            <a:r>
              <a:rPr sz="1250" b="0" i="0">
                <a:solidFill>
                  <a:srgbClr val="202020"/>
                </a:solidFill>
                <a:latin typeface="Calibri"/>
              </a:rPr>
              <a:t> and </a:t>
            </a:r>
            <a:r>
              <a:rPr sz="1250" b="1" i="0">
                <a:solidFill>
                  <a:srgbClr val="202020"/>
                </a:solidFill>
                <a:latin typeface="Calibri"/>
              </a:rPr>
              <a:t>custom fields</a:t>
            </a:r>
            <a:r>
              <a:rPr sz="1250" b="0" i="0">
                <a:solidFill>
                  <a:srgbClr val="202020"/>
                </a:solidFill>
                <a:latin typeface="Calibri"/>
              </a:rPr>
              <a:t> (their API names end in </a:t>
            </a:r>
            <a:r>
              <a:rPr sz="1200" b="0" i="0">
                <a:solidFill>
                  <a:srgbClr val="202020"/>
                </a:solidFill>
                <a:latin typeface="Consolas"/>
              </a:rPr>
              <a:t>__c</a:t>
            </a:r>
            <a:r>
              <a:rPr sz="1250" b="0" i="0">
                <a:solidFill>
                  <a:srgbClr val="202020"/>
                </a:solidFill>
                <a:latin typeface="Calibri"/>
              </a:rPr>
              <a:t>, for example </a:t>
            </a:r>
            <a:r>
              <a:rPr sz="1200" b="0" i="0">
                <a:solidFill>
                  <a:srgbClr val="202020"/>
                </a:solidFill>
                <a:latin typeface="Consolas"/>
              </a:rPr>
              <a:t>PotentialLiability__c</a:t>
            </a:r>
            <a:r>
              <a:rPr sz="1250" b="0" i="0">
                <a:solidFill>
                  <a:srgbClr val="202020"/>
                </a:solidFill>
                <a:latin typeface="Calibri"/>
              </a:rPr>
              <a:t>). Every record has an 18-character </a:t>
            </a:r>
            <a:r>
              <a:rPr sz="1250" b="1" i="0">
                <a:solidFill>
                  <a:srgbClr val="202020"/>
                </a:solidFill>
                <a:latin typeface="Calibri"/>
              </a:rPr>
              <a:t>record Id</a:t>
            </a:r>
            <a:r>
              <a:rPr sz="1250" b="0" i="0">
                <a:solidFill>
                  <a:srgbClr val="202020"/>
                </a:solidFill>
                <a:latin typeface="Calibri"/>
              </a:rPr>
              <a:t> that uniquely identifies it.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191</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2.2 The objects this connector indexes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Out of the box this connector reads the following Salesforce objects, in this order. The exact list, the fields, and any filter are defined in </a:t>
            </a:r>
            <a:r>
              <a:rPr sz="1200" b="0" i="0">
                <a:solidFill>
                  <a:srgbClr val="202020"/>
                </a:solidFill>
                <a:latin typeface="Consolas"/>
              </a:rPr>
              <a:t>config/schema.json</a:t>
            </a:r>
            <a:r>
              <a:rPr sz="1250" b="0" i="0">
                <a:solidFill>
                  <a:srgbClr val="202020"/>
                </a:solidFill>
                <a:latin typeface="Calibri"/>
              </a:rPr>
              <a:t> — your Salesforce administrator confirms which of these are actually in scope for the bank.</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192</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2.2 The objects this connector indexes</a:t>
            </a:r>
          </a:p>
        </p:txBody>
      </p:sp>
      <p:graphicFrame>
        <p:nvGraphicFramePr>
          <p:cNvPr id="5" name="Table 4"/>
          <p:cNvGraphicFramePr>
            <a:graphicFrameLocks noGrp="1"/>
          </p:cNvGraphicFramePr>
          <p:nvPr/>
        </p:nvGraphicFramePr>
        <p:xfrm>
          <a:off x="502920" y="1188720"/>
          <a:ext cx="11185854" cy="4224528"/>
        </p:xfrm>
        <a:graphic>
          <a:graphicData uri="http://schemas.openxmlformats.org/drawingml/2006/table">
            <a:tbl>
              <a:tblPr firstRow="1" bandRow="1">
                <a:tableStyleId>{5C22544A-7EE6-4342-B048-85BDC9FD1C3A}</a:tableStyleId>
              </a:tblPr>
              <a:tblGrid>
                <a:gridCol w="3803190"/>
                <a:gridCol w="7382664"/>
              </a:tblGrid>
              <a:tr h="384048">
                <a:tc>
                  <a:txBody>
                    <a:bodyPr wrap="square"/>
                    <a:lstStyle/>
                    <a:p>
                      <a:r>
                        <a:rPr sz="1050" b="1" i="0">
                          <a:solidFill>
                            <a:srgbClr val="FFFFFF"/>
                          </a:solidFill>
                          <a:latin typeface="Calibri"/>
                        </a:rPr>
                        <a:t>Salesforce object</a:t>
                      </a:r>
                    </a:p>
                  </a:txBody>
                  <a:tcPr marT="25400" marB="25400">
                    <a:solidFill>
                      <a:srgbClr val="2E5496"/>
                    </a:solidFill>
                  </a:tcPr>
                </a:tc>
                <a:tc>
                  <a:txBody>
                    <a:bodyPr wrap="square"/>
                    <a:lstStyle/>
                    <a:p>
                      <a:r>
                        <a:rPr sz="1050" b="1" i="0">
                          <a:solidFill>
                            <a:srgbClr val="FFFFFF"/>
                          </a:solidFill>
                          <a:latin typeface="Calibri"/>
                        </a:rPr>
                        <a:t>What it holds</a:t>
                      </a:r>
                    </a:p>
                  </a:txBody>
                  <a:tcPr marT="25400" marB="25400">
                    <a:solidFill>
                      <a:srgbClr val="2E5496"/>
                    </a:solidFill>
                  </a:tcPr>
                </a:tc>
              </a:tr>
              <a:tr h="384048">
                <a:tc>
                  <a:txBody>
                    <a:bodyPr wrap="square"/>
                    <a:lstStyle/>
                    <a:p>
                      <a:r>
                        <a:rPr sz="950" b="0" i="0">
                          <a:solidFill>
                            <a:srgbClr val="202020"/>
                          </a:solidFill>
                          <a:latin typeface="Calibri"/>
                        </a:rPr>
                        <a:t>Account</a:t>
                      </a:r>
                    </a:p>
                  </a:txBody>
                  <a:tcPr marT="12700" marB="12700">
                    <a:solidFill>
                      <a:srgbClr val="FFFFFF"/>
                    </a:solidFill>
                  </a:tcPr>
                </a:tc>
                <a:tc>
                  <a:txBody>
                    <a:bodyPr wrap="square"/>
                    <a:lstStyle/>
                    <a:p>
                      <a:r>
                        <a:rPr sz="950" b="0" i="0">
                          <a:solidFill>
                            <a:srgbClr val="202020"/>
                          </a:solidFill>
                          <a:latin typeface="Calibri"/>
                        </a:rPr>
                        <a:t>Companies / organisations the bank does business with. Carries the org-wide default DefaultAccountAccess.</a:t>
                      </a:r>
                    </a:p>
                  </a:txBody>
                  <a:tcPr marT="12700" marB="12700">
                    <a:solidFill>
                      <a:srgbClr val="FFFFFF"/>
                    </a:solidFill>
                  </a:tcPr>
                </a:tc>
              </a:tr>
              <a:tr h="384048">
                <a:tc>
                  <a:txBody>
                    <a:bodyPr wrap="square"/>
                    <a:lstStyle/>
                    <a:p>
                      <a:r>
                        <a:rPr sz="950" b="0" i="0">
                          <a:solidFill>
                            <a:srgbClr val="202020"/>
                          </a:solidFill>
                          <a:latin typeface="Calibri"/>
                        </a:rPr>
                        <a:t>Contact</a:t>
                      </a:r>
                    </a:p>
                  </a:txBody>
                  <a:tcPr marT="12700" marB="12700">
                    <a:solidFill>
                      <a:srgbClr val="F7F9FC"/>
                    </a:solidFill>
                  </a:tcPr>
                </a:tc>
                <a:tc>
                  <a:txBody>
                    <a:bodyPr wrap="square"/>
                    <a:lstStyle/>
                    <a:p>
                      <a:r>
                        <a:rPr sz="950" b="0" i="0">
                          <a:solidFill>
                            <a:srgbClr val="202020"/>
                          </a:solidFill>
                          <a:latin typeface="Calibri"/>
                        </a:rPr>
                        <a:t>People at an Account (child of Account). DefaultContactAccess.</a:t>
                      </a:r>
                    </a:p>
                  </a:txBody>
                  <a:tcPr marT="12700" marB="12700">
                    <a:solidFill>
                      <a:srgbClr val="F7F9FC"/>
                    </a:solidFill>
                  </a:tcPr>
                </a:tc>
              </a:tr>
              <a:tr h="384048">
                <a:tc>
                  <a:txBody>
                    <a:bodyPr wrap="square"/>
                    <a:lstStyle/>
                    <a:p>
                      <a:r>
                        <a:rPr sz="950" b="0" i="0">
                          <a:solidFill>
                            <a:srgbClr val="202020"/>
                          </a:solidFill>
                          <a:latin typeface="Calibri"/>
                        </a:rPr>
                        <a:t>Lead</a:t>
                      </a:r>
                    </a:p>
                  </a:txBody>
                  <a:tcPr marT="12700" marB="12700">
                    <a:solidFill>
                      <a:srgbClr val="FFFFFF"/>
                    </a:solidFill>
                  </a:tcPr>
                </a:tc>
                <a:tc>
                  <a:txBody>
                    <a:bodyPr wrap="square"/>
                    <a:lstStyle/>
                    <a:p>
                      <a:r>
                        <a:rPr sz="950" b="0" i="0">
                          <a:solidFill>
                            <a:srgbClr val="202020"/>
                          </a:solidFill>
                          <a:latin typeface="Calibri"/>
                        </a:rPr>
                        <a:t>Unqualified prospects not yet converted. DefaultLeadAccess.</a:t>
                      </a:r>
                    </a:p>
                  </a:txBody>
                  <a:tcPr marT="12700" marB="12700">
                    <a:solidFill>
                      <a:srgbClr val="FFFFFF"/>
                    </a:solidFill>
                  </a:tcPr>
                </a:tc>
              </a:tr>
              <a:tr h="384048">
                <a:tc>
                  <a:txBody>
                    <a:bodyPr wrap="square"/>
                    <a:lstStyle/>
                    <a:p>
                      <a:r>
                        <a:rPr sz="950" b="0" i="0">
                          <a:solidFill>
                            <a:srgbClr val="202020"/>
                          </a:solidFill>
                          <a:latin typeface="Calibri"/>
                        </a:rPr>
                        <a:t>Opportunity</a:t>
                      </a:r>
                    </a:p>
                  </a:txBody>
                  <a:tcPr marT="12700" marB="12700">
                    <a:solidFill>
                      <a:srgbClr val="F7F9FC"/>
                    </a:solidFill>
                  </a:tcPr>
                </a:tc>
                <a:tc>
                  <a:txBody>
                    <a:bodyPr wrap="square"/>
                    <a:lstStyle/>
                    <a:p>
                      <a:r>
                        <a:rPr sz="950" b="0" i="0">
                          <a:solidFill>
                            <a:srgbClr val="202020"/>
                          </a:solidFill>
                          <a:latin typeface="Calibri"/>
                        </a:rPr>
                        <a:t>Deals in the sales pipeline, with amount and stage. DefaultOpportunityAccess.</a:t>
                      </a:r>
                    </a:p>
                  </a:txBody>
                  <a:tcPr marT="12700" marB="12700">
                    <a:solidFill>
                      <a:srgbClr val="F7F9FC"/>
                    </a:solidFill>
                  </a:tcPr>
                </a:tc>
              </a:tr>
              <a:tr h="384048">
                <a:tc>
                  <a:txBody>
                    <a:bodyPr wrap="square"/>
                    <a:lstStyle/>
                    <a:p>
                      <a:r>
                        <a:rPr sz="950" b="0" i="0">
                          <a:solidFill>
                            <a:srgbClr val="202020"/>
                          </a:solidFill>
                          <a:latin typeface="Calibri"/>
                        </a:rPr>
                        <a:t>Case</a:t>
                      </a:r>
                    </a:p>
                  </a:txBody>
                  <a:tcPr marT="12700" marB="12700">
                    <a:solidFill>
                      <a:srgbClr val="FFFFFF"/>
                    </a:solidFill>
                  </a:tcPr>
                </a:tc>
                <a:tc>
                  <a:txBody>
                    <a:bodyPr wrap="square"/>
                    <a:lstStyle/>
                    <a:p>
                      <a:r>
                        <a:rPr sz="950" b="0" i="0">
                          <a:solidFill>
                            <a:srgbClr val="202020"/>
                          </a:solidFill>
                          <a:latin typeface="Calibri"/>
                        </a:rPr>
                        <a:t>Customer support / service issues. DefaultCaseAccess.</a:t>
                      </a:r>
                    </a:p>
                  </a:txBody>
                  <a:tcPr marT="12700" marB="12700">
                    <a:solidFill>
                      <a:srgbClr val="FFFFFF"/>
                    </a:solidFill>
                  </a:tcPr>
                </a:tc>
              </a:tr>
              <a:tr h="384048">
                <a:tc>
                  <a:txBody>
                    <a:bodyPr wrap="square"/>
                    <a:lstStyle/>
                    <a:p>
                      <a:r>
                        <a:rPr sz="950" b="0" i="0">
                          <a:solidFill>
                            <a:srgbClr val="202020"/>
                          </a:solidFill>
                          <a:latin typeface="Calibri"/>
                        </a:rPr>
                        <a:t>Campaign</a:t>
                      </a:r>
                    </a:p>
                  </a:txBody>
                  <a:tcPr marT="12700" marB="12700">
                    <a:solidFill>
                      <a:srgbClr val="F7F9FC"/>
                    </a:solidFill>
                  </a:tcPr>
                </a:tc>
                <a:tc>
                  <a:txBody>
                    <a:bodyPr wrap="square"/>
                    <a:lstStyle/>
                    <a:p>
                      <a:r>
                        <a:rPr sz="950" b="0" i="0">
                          <a:solidFill>
                            <a:srgbClr val="202020"/>
                          </a:solidFill>
                          <a:latin typeface="Calibri"/>
                        </a:rPr>
                        <a:t>Marketing campaigns. DefaultCampaignAccess.</a:t>
                      </a:r>
                    </a:p>
                  </a:txBody>
                  <a:tcPr marT="12700" marB="12700">
                    <a:solidFill>
                      <a:srgbClr val="F7F9FC"/>
                    </a:solidFill>
                  </a:tcPr>
                </a:tc>
              </a:tr>
              <a:tr h="384048">
                <a:tc>
                  <a:txBody>
                    <a:bodyPr wrap="square"/>
                    <a:lstStyle/>
                    <a:p>
                      <a:r>
                        <a:rPr sz="950" b="0" i="0">
                          <a:solidFill>
                            <a:srgbClr val="202020"/>
                          </a:solidFill>
                          <a:latin typeface="Calibri"/>
                        </a:rPr>
                        <a:t>Task, Event</a:t>
                      </a:r>
                    </a:p>
                  </a:txBody>
                  <a:tcPr marT="12700" marB="12700">
                    <a:solidFill>
                      <a:srgbClr val="FFFFFF"/>
                    </a:solidFill>
                  </a:tcPr>
                </a:tc>
                <a:tc>
                  <a:txBody>
                    <a:bodyPr wrap="square"/>
                    <a:lstStyle/>
                    <a:p>
                      <a:r>
                        <a:rPr sz="950" b="0" i="0">
                          <a:solidFill>
                            <a:srgbClr val="202020"/>
                          </a:solidFill>
                          <a:latin typeface="Calibri"/>
                        </a:rPr>
                        <a:t>Activities (calls, meetings, to-dos) linked to other records.</a:t>
                      </a:r>
                    </a:p>
                  </a:txBody>
                  <a:tcPr marT="12700" marB="12700">
                    <a:solidFill>
                      <a:srgbClr val="FFFFFF"/>
                    </a:solidFill>
                  </a:tcPr>
                </a:tc>
              </a:tr>
              <a:tr h="384048">
                <a:tc>
                  <a:txBody>
                    <a:bodyPr wrap="square"/>
                    <a:lstStyle/>
                    <a:p>
                      <a:r>
                        <a:rPr sz="950" b="0" i="0">
                          <a:solidFill>
                            <a:srgbClr val="202020"/>
                          </a:solidFill>
                          <a:latin typeface="Calibri"/>
                        </a:rPr>
                        <a:t>CampaignMember, FeedItem</a:t>
                      </a:r>
                    </a:p>
                  </a:txBody>
                  <a:tcPr marT="12700" marB="12700">
                    <a:solidFill>
                      <a:srgbClr val="F7F9FC"/>
                    </a:solidFill>
                  </a:tcPr>
                </a:tc>
                <a:tc>
                  <a:txBody>
                    <a:bodyPr wrap="square"/>
                    <a:lstStyle/>
                    <a:p>
                      <a:r>
                        <a:rPr sz="950" b="0" i="0">
                          <a:solidFill>
                            <a:srgbClr val="202020"/>
                          </a:solidFill>
                          <a:latin typeface="Calibri"/>
                        </a:rPr>
                        <a:t>Campaign membership; Chatter feed posts.</a:t>
                      </a:r>
                    </a:p>
                  </a:txBody>
                  <a:tcPr marT="12700" marB="12700">
                    <a:solidFill>
                      <a:srgbClr val="F7F9FC"/>
                    </a:solidFill>
                  </a:tcPr>
                </a:tc>
              </a:tr>
              <a:tr h="384048">
                <a:tc>
                  <a:txBody>
                    <a:bodyPr wrap="square"/>
                    <a:lstStyle/>
                    <a:p>
                      <a:r>
                        <a:rPr sz="950" b="0" i="0">
                          <a:solidFill>
                            <a:srgbClr val="202020"/>
                          </a:solidFill>
                          <a:latin typeface="Calibri"/>
                        </a:rPr>
                        <a:t>Product2, OpportunityLineItem</a:t>
                      </a:r>
                    </a:p>
                  </a:txBody>
                  <a:tcPr marT="12700" marB="12700">
                    <a:solidFill>
                      <a:srgbClr val="FFFFFF"/>
                    </a:solidFill>
                  </a:tcPr>
                </a:tc>
                <a:tc>
                  <a:txBody>
                    <a:bodyPr wrap="square"/>
                    <a:lstStyle/>
                    <a:p>
                      <a:r>
                        <a:rPr sz="950" b="0" i="0">
                          <a:solidFill>
                            <a:srgbClr val="202020"/>
                          </a:solidFill>
                          <a:latin typeface="Calibri"/>
                        </a:rPr>
                        <a:t>Product catalogue; products on an opportunity.</a:t>
                      </a:r>
                    </a:p>
                  </a:txBody>
                  <a:tcPr marT="12700" marB="12700">
                    <a:solidFill>
                      <a:srgbClr val="FFFFFF"/>
                    </a:solidFill>
                  </a:tcPr>
                </a:tc>
              </a:tr>
              <a:tr h="384048">
                <a:tc>
                  <a:txBody>
                    <a:bodyPr wrap="square"/>
                    <a:lstStyle/>
                    <a:p>
                      <a:r>
                        <a:rPr sz="950" b="0" i="0">
                          <a:solidFill>
                            <a:srgbClr val="202020"/>
                          </a:solidFill>
                          <a:latin typeface="Calibri"/>
                        </a:rPr>
                        <a:t>Order, OrderItem</a:t>
                      </a:r>
                    </a:p>
                  </a:txBody>
                  <a:tcPr marT="12700" marB="12700">
                    <a:solidFill>
                      <a:srgbClr val="F7F9FC"/>
                    </a:solidFill>
                  </a:tcPr>
                </a:tc>
                <a:tc>
                  <a:txBody>
                    <a:bodyPr wrap="square"/>
                    <a:lstStyle/>
                    <a:p>
                      <a:r>
                        <a:rPr sz="950" b="0" i="0">
                          <a:solidFill>
                            <a:srgbClr val="202020"/>
                          </a:solidFill>
                          <a:latin typeface="Calibri"/>
                        </a:rPr>
                        <a:t>Orders and order line items.</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193</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2.2 The objects this connector indexes (cont.)</a:t>
            </a:r>
          </a:p>
        </p:txBody>
      </p:sp>
      <p:graphicFrame>
        <p:nvGraphicFramePr>
          <p:cNvPr id="5" name="Table 4"/>
          <p:cNvGraphicFramePr>
            <a:graphicFrameLocks noGrp="1"/>
          </p:cNvGraphicFramePr>
          <p:nvPr/>
        </p:nvGraphicFramePr>
        <p:xfrm>
          <a:off x="502920" y="1188720"/>
          <a:ext cx="11185854" cy="1152144"/>
        </p:xfrm>
        <a:graphic>
          <a:graphicData uri="http://schemas.openxmlformats.org/drawingml/2006/table">
            <a:tbl>
              <a:tblPr firstRow="1" bandRow="1">
                <a:tableStyleId>{5C22544A-7EE6-4342-B048-85BDC9FD1C3A}</a:tableStyleId>
              </a:tblPr>
              <a:tblGrid>
                <a:gridCol w="3803190"/>
                <a:gridCol w="7382664"/>
              </a:tblGrid>
              <a:tr h="384048">
                <a:tc>
                  <a:txBody>
                    <a:bodyPr wrap="square"/>
                    <a:lstStyle/>
                    <a:p>
                      <a:r>
                        <a:rPr sz="1050" b="1" i="0">
                          <a:solidFill>
                            <a:srgbClr val="FFFFFF"/>
                          </a:solidFill>
                          <a:latin typeface="Calibri"/>
                        </a:rPr>
                        <a:t>Salesforce object</a:t>
                      </a:r>
                    </a:p>
                  </a:txBody>
                  <a:tcPr marT="25400" marB="25400">
                    <a:solidFill>
                      <a:srgbClr val="2E5496"/>
                    </a:solidFill>
                  </a:tcPr>
                </a:tc>
                <a:tc>
                  <a:txBody>
                    <a:bodyPr wrap="square"/>
                    <a:lstStyle/>
                    <a:p>
                      <a:r>
                        <a:rPr sz="1050" b="1" i="0">
                          <a:solidFill>
                            <a:srgbClr val="FFFFFF"/>
                          </a:solidFill>
                          <a:latin typeface="Calibri"/>
                        </a:rPr>
                        <a:t>What it holds</a:t>
                      </a:r>
                    </a:p>
                  </a:txBody>
                  <a:tcPr marT="25400" marB="25400">
                    <a:solidFill>
                      <a:srgbClr val="2E5496"/>
                    </a:solidFill>
                  </a:tcPr>
                </a:tc>
              </a:tr>
              <a:tr h="384048">
                <a:tc>
                  <a:txBody>
                    <a:bodyPr wrap="square"/>
                    <a:lstStyle/>
                    <a:p>
                      <a:r>
                        <a:rPr sz="950" b="0" i="0">
                          <a:solidFill>
                            <a:srgbClr val="202020"/>
                          </a:solidFill>
                          <a:latin typeface="Calibri"/>
                        </a:rPr>
                        <a:t>Quote, QuoteLineItem</a:t>
                      </a:r>
                    </a:p>
                  </a:txBody>
                  <a:tcPr marT="12700" marB="12700">
                    <a:solidFill>
                      <a:srgbClr val="FFFFFF"/>
                    </a:solidFill>
                  </a:tcPr>
                </a:tc>
                <a:tc>
                  <a:txBody>
                    <a:bodyPr wrap="square"/>
                    <a:lstStyle/>
                    <a:p>
                      <a:r>
                        <a:rPr sz="950" b="0" i="0">
                          <a:solidFill>
                            <a:srgbClr val="202020"/>
                          </a:solidFill>
                          <a:latin typeface="Calibri"/>
                        </a:rPr>
                        <a:t>Quotes and quote line items.</a:t>
                      </a:r>
                    </a:p>
                  </a:txBody>
                  <a:tcPr marT="12700" marB="12700">
                    <a:solidFill>
                      <a:srgbClr val="FFFFFF"/>
                    </a:solidFill>
                  </a:tcPr>
                </a:tc>
              </a:tr>
              <a:tr h="384048">
                <a:tc>
                  <a:txBody>
                    <a:bodyPr wrap="square"/>
                    <a:lstStyle/>
                    <a:p>
                      <a:r>
                        <a:rPr sz="950" b="0" i="0">
                          <a:solidFill>
                            <a:srgbClr val="202020"/>
                          </a:solidFill>
                          <a:latin typeface="Calibri"/>
                        </a:rPr>
                        <a:t>CaseComment, CollaborationGroup</a:t>
                      </a:r>
                    </a:p>
                  </a:txBody>
                  <a:tcPr marT="12700" marB="12700">
                    <a:solidFill>
                      <a:srgbClr val="F7F9FC"/>
                    </a:solidFill>
                  </a:tcPr>
                </a:tc>
                <a:tc>
                  <a:txBody>
                    <a:bodyPr wrap="square"/>
                    <a:lstStyle/>
                    <a:p>
                      <a:r>
                        <a:rPr sz="950" b="0" i="0">
                          <a:solidFill>
                            <a:srgbClr val="202020"/>
                          </a:solidFill>
                          <a:latin typeface="Calibri"/>
                        </a:rPr>
                        <a:t>Case notes; Chatter groups.</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194</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2.2 The objects this connector indexes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four objects that carry a record-level sharing model — </a:t>
            </a:r>
            <a:r>
              <a:rPr sz="1250" b="1" i="0">
                <a:solidFill>
                  <a:srgbClr val="202020"/>
                </a:solidFill>
                <a:latin typeface="Calibri"/>
              </a:rPr>
              <a:t>Account, Contact, Opportunity, Case</a:t>
            </a:r>
            <a:r>
              <a:rPr sz="1250" b="0" i="0">
                <a:solidFill>
                  <a:srgbClr val="202020"/>
                </a:solidFill>
                <a:latin typeface="Calibri"/>
              </a:rPr>
              <a:t> (and Lead and Campaign) — are the ones where the access-trimming engine in §5 and §6 does its most important work.</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195</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2.3 Why the bank wants this in Copilot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goal is to let staff ask Microsoft 365 Copilot natural questions and get answers drawn from live CRM data — for example "what open high-priority cases do we have for Acme Corp?" or "show my opportunities closing this quarter" — </a:t>
            </a:r>
            <a:r>
              <a:rPr sz="1250" b="1" i="0">
                <a:solidFill>
                  <a:srgbClr val="202020"/>
                </a:solidFill>
                <a:latin typeface="Calibri"/>
              </a:rPr>
              <a:t>without</a:t>
            </a:r>
            <a:r>
              <a:rPr sz="1250" b="0" i="0">
                <a:solidFill>
                  <a:srgbClr val="202020"/>
                </a:solidFill>
                <a:latin typeface="Calibri"/>
              </a:rPr>
              <a:t> each person having to open Salesforce and search. The critical requirement, because this is a bank, is that Copilot must show each user only the records that person is already allowed to see in Salesforce. Replicating Salesforce's access rules into Copilot is exactly what this connector's sharing-model engine does (see §5 and §6).</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196</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Salesforce Connector</a:t>
            </a:r>
          </a:p>
          <a:p>
            <a:r>
              <a:rPr sz="3000" b="1" i="0">
                <a:solidFill>
                  <a:srgbClr val="1F3864"/>
                </a:solidFill>
                <a:latin typeface="Calibri"/>
              </a:rPr>
              <a:t>3. What this connector does</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197</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3. What this connector does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connector is a background service that copies Salesforce records into the Microsoft 365 Copilot search index, keeps them up to date, and stamps each one with the list of people allowed to see it.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198</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3.1 The end-to-end flow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At a high level, data moves in one direction — from Salesforce, through the connector, into Microsoft Graph, and then into the Copilot index:</a:t>
            </a:r>
          </a:p>
          <a:p>
            <a:pPr>
              <a:spcBef>
                <a:spcPts val="100"/>
              </a:spcBef>
              <a:spcAft>
                <a:spcPts val="200"/>
              </a:spcAft>
            </a:pPr>
            <a:r>
              <a:rPr sz="1250" b="1" i="0">
                <a:solidFill>
                  <a:srgbClr val="2E5496"/>
                </a:solidFill>
                <a:latin typeface="Calibri"/>
              </a:rPr>
              <a:t>•  </a:t>
            </a:r>
            <a:r>
              <a:rPr sz="1250" b="1" i="0">
                <a:solidFill>
                  <a:srgbClr val="202020"/>
                </a:solidFill>
                <a:latin typeface="Calibri"/>
              </a:rPr>
              <a:t>1. Read from Salesforce.</a:t>
            </a:r>
            <a:r>
              <a:rPr sz="1250" b="0" i="0">
                <a:solidFill>
                  <a:srgbClr val="202020"/>
                </a:solidFill>
                <a:latin typeface="Calibri"/>
              </a:rPr>
              <a:t> The connector signs in to your Salesforce org and runs SOQL queries (Salesforce's query language) to pull records for each object in scope, a page at a time.</a:t>
            </a:r>
          </a:p>
          <a:p>
            <a:pPr>
              <a:spcBef>
                <a:spcPts val="100"/>
              </a:spcBef>
              <a:spcAft>
                <a:spcPts val="200"/>
              </a:spcAft>
            </a:pPr>
            <a:r>
              <a:rPr sz="1250" b="1" i="0">
                <a:solidFill>
                  <a:srgbClr val="2E5496"/>
                </a:solidFill>
                <a:latin typeface="Calibri"/>
              </a:rPr>
              <a:t>•  </a:t>
            </a:r>
            <a:r>
              <a:rPr sz="1250" b="1" i="0">
                <a:solidFill>
                  <a:srgbClr val="202020"/>
                </a:solidFill>
                <a:latin typeface="Calibri"/>
              </a:rPr>
              <a:t>2. Work out who can see each record.</a:t>
            </a:r>
            <a:r>
              <a:rPr sz="1250" b="0" i="0">
                <a:solidFill>
                  <a:srgbClr val="202020"/>
                </a:solidFill>
                <a:latin typeface="Calibri"/>
              </a:rPr>
              <a:t> For every record it resolves the Salesforce sharing model (owner, role hierarchy, sharing rules, groups, queues, territories, parent records) into a concrete list of users — this becomes the record's </a:t>
            </a:r>
            <a:r>
              <a:rPr sz="1250" b="1" i="0">
                <a:solidFill>
                  <a:srgbClr val="202020"/>
                </a:solidFill>
                <a:latin typeface="Calibri"/>
              </a:rPr>
              <a:t>ACL</a:t>
            </a:r>
            <a:r>
              <a:rPr sz="1250" b="0" i="0">
                <a:solidFill>
                  <a:srgbClr val="202020"/>
                </a:solidFill>
                <a:latin typeface="Calibri"/>
              </a:rPr>
              <a:t> (access control list).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199</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3.1 The end-to-end flow</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3. Convert to an external item.</a:t>
            </a:r>
            <a:r>
              <a:rPr sz="1250" b="0" i="0">
                <a:solidFill>
                  <a:srgbClr val="202020"/>
                </a:solidFill>
                <a:latin typeface="Calibri"/>
              </a:rPr>
              <a:t> Each Salesforce record is turned into a Microsoft Graph </a:t>
            </a:r>
            <a:r>
              <a:rPr sz="1250" b="1" i="0">
                <a:solidFill>
                  <a:srgbClr val="202020"/>
                </a:solidFill>
                <a:latin typeface="Calibri"/>
              </a:rPr>
              <a:t>external item</a:t>
            </a:r>
            <a:r>
              <a:rPr sz="1250" b="0" i="0">
                <a:solidFill>
                  <a:srgbClr val="202020"/>
                </a:solidFill>
                <a:latin typeface="Calibri"/>
              </a:rPr>
              <a:t>: a set of properties (Name, Status, Amount, …), a text body for full-text search, and the ACL from step 2.</a:t>
            </a:r>
          </a:p>
          <a:p>
            <a:pPr>
              <a:spcBef>
                <a:spcPts val="100"/>
              </a:spcBef>
              <a:spcAft>
                <a:spcPts val="200"/>
              </a:spcAft>
            </a:pPr>
            <a:r>
              <a:rPr sz="1250" b="1" i="0">
                <a:solidFill>
                  <a:srgbClr val="2E5496"/>
                </a:solidFill>
                <a:latin typeface="Calibri"/>
              </a:rPr>
              <a:t>•  </a:t>
            </a:r>
            <a:r>
              <a:rPr sz="1250" b="1" i="0">
                <a:solidFill>
                  <a:srgbClr val="202020"/>
                </a:solidFill>
                <a:latin typeface="Calibri"/>
              </a:rPr>
              <a:t>4. Write to Microsoft Graph.</a:t>
            </a:r>
            <a:r>
              <a:rPr sz="1250" b="0" i="0">
                <a:solidFill>
                  <a:srgbClr val="202020"/>
                </a:solidFill>
                <a:latin typeface="Calibri"/>
              </a:rPr>
              <a:t> The items are pushed into the connector's </a:t>
            </a:r>
            <a:r>
              <a:rPr sz="1250" b="1" i="0">
                <a:solidFill>
                  <a:srgbClr val="202020"/>
                </a:solidFill>
                <a:latin typeface="Calibri"/>
              </a:rPr>
              <a:t>external connection</a:t>
            </a:r>
            <a:r>
              <a:rPr sz="1250" b="0" i="0">
                <a:solidFill>
                  <a:srgbClr val="202020"/>
                </a:solidFill>
                <a:latin typeface="Calibri"/>
              </a:rPr>
              <a:t> in Microsoft Graph, in batches, respecting Graph's rate limits.</a:t>
            </a:r>
          </a:p>
          <a:p>
            <a:pPr>
              <a:spcBef>
                <a:spcPts val="100"/>
              </a:spcBef>
              <a:spcAft>
                <a:spcPts val="200"/>
              </a:spcAft>
            </a:pPr>
            <a:r>
              <a:rPr sz="1250" b="1" i="0">
                <a:solidFill>
                  <a:srgbClr val="2E5496"/>
                </a:solidFill>
                <a:latin typeface="Calibri"/>
              </a:rPr>
              <a:t>•  </a:t>
            </a:r>
            <a:r>
              <a:rPr sz="1250" b="1" i="0">
                <a:solidFill>
                  <a:srgbClr val="202020"/>
                </a:solidFill>
                <a:latin typeface="Calibri"/>
              </a:rPr>
              <a:t>5. Copilot indexes and trims.</a:t>
            </a:r>
            <a:r>
              <a:rPr sz="1250" b="0" i="0">
                <a:solidFill>
                  <a:srgbClr val="202020"/>
                </a:solidFill>
                <a:latin typeface="Calibri"/>
              </a:rPr>
              <a:t> Microsoft 365 Copilot indexes the items and, at query time, only returns each item to users on that item's ACL — so Copilot's answers respect Salesforce access.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200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3.1 The end-to-end flow</a:t>
            </a:r>
          </a:p>
        </p:txBody>
      </p:sp>
      <p:sp>
        <p:nvSpPr>
          <p:cNvPr id="5" name="Rectangle 4"/>
          <p:cNvSpPr/>
          <p:nvPr/>
        </p:nvSpPr>
        <p:spPr>
          <a:xfrm>
            <a:off x="502920" y="1463040"/>
            <a:ext cx="11185855" cy="329184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5496"/>
                </a:solidFill>
                <a:latin typeface="Calibri"/>
              </a:rPr>
              <a:t>Note:  </a:t>
            </a:r>
            <a:r>
              <a:rPr sz="1400" b="1" i="0">
                <a:solidFill>
                  <a:srgbClr val="202020"/>
                </a:solidFill>
                <a:latin typeface="Calibri"/>
              </a:rPr>
              <a:t>Note: </a:t>
            </a:r>
            <a:r>
              <a:rPr sz="1400" b="0" i="0">
                <a:solidFill>
                  <a:srgbClr val="202020"/>
                </a:solidFill>
                <a:latin typeface="Calibri"/>
              </a:rPr>
              <a:t>The connector only ever </a:t>
            </a:r>
            <a:r>
              <a:rPr sz="1400" b="1" i="0">
                <a:solidFill>
                  <a:srgbClr val="202020"/>
                </a:solidFill>
                <a:latin typeface="Calibri"/>
              </a:rPr>
              <a:t>reads</a:t>
            </a:r>
            <a:r>
              <a:rPr sz="1400" b="0" i="0">
                <a:solidFill>
                  <a:srgbClr val="202020"/>
                </a:solidFill>
                <a:latin typeface="Calibri"/>
              </a:rPr>
              <a:t> from Salesforce and </a:t>
            </a:r>
            <a:r>
              <a:rPr sz="1400" b="1" i="0">
                <a:solidFill>
                  <a:srgbClr val="202020"/>
                </a:solidFill>
                <a:latin typeface="Calibri"/>
              </a:rPr>
              <a:t>writes</a:t>
            </a:r>
            <a:r>
              <a:rPr sz="1400" b="0" i="0">
                <a:solidFill>
                  <a:srgbClr val="202020"/>
                </a:solidFill>
                <a:latin typeface="Calibri"/>
              </a:rPr>
              <a:t> to its own Graph connection. It never changes Salesforce data, and it never writes anywhere in Graph except the one connection it owns. It listens on nothing except an optional local health endpoint (§10) — there is no inbound webhook to secure.</a:t>
            </a:r>
          </a:p>
        </p:txBody>
      </p:sp>
      <p:sp>
        <p:nvSpPr>
          <p:cNvPr id="6" name="Rectangle 5"/>
          <p:cNvSpPr/>
          <p:nvPr/>
        </p:nvSpPr>
        <p:spPr>
          <a:xfrm>
            <a:off x="502920" y="1463040"/>
            <a:ext cx="128016" cy="329184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201</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3.2 How it runs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connector is a single command-line program that also installs as a Windows service. In production it runs continuously (</a:t>
            </a:r>
            <a:r>
              <a:rPr sz="1200" b="0" i="0">
                <a:solidFill>
                  <a:srgbClr val="202020"/>
                </a:solidFill>
                <a:latin typeface="Consolas"/>
              </a:rPr>
              <a:t>full-deployment --continuous</a:t>
            </a:r>
            <a:r>
              <a:rPr sz="1250" b="0" i="0">
                <a:solidFill>
                  <a:srgbClr val="202020"/>
                </a:solidFill>
                <a:latin typeface="Calibri"/>
              </a:rPr>
              <a:t>), performing a periodic </a:t>
            </a:r>
            <a:r>
              <a:rPr sz="1250" b="1" i="0">
                <a:solidFill>
                  <a:srgbClr val="202020"/>
                </a:solidFill>
                <a:latin typeface="Calibri"/>
              </a:rPr>
              <a:t>full crawl</a:t>
            </a:r>
            <a:r>
              <a:rPr sz="1250" b="0" i="0">
                <a:solidFill>
                  <a:srgbClr val="202020"/>
                </a:solidFill>
                <a:latin typeface="Calibri"/>
              </a:rPr>
              <a:t> (default every 24 hours, re-reads everything) and more frequent </a:t>
            </a:r>
            <a:r>
              <a:rPr sz="1250" b="1" i="0">
                <a:solidFill>
                  <a:srgbClr val="202020"/>
                </a:solidFill>
                <a:latin typeface="Calibri"/>
              </a:rPr>
              <a:t>incremental crawls</a:t>
            </a:r>
            <a:r>
              <a:rPr sz="1250" b="0" i="0">
                <a:solidFill>
                  <a:srgbClr val="202020"/>
                </a:solidFill>
                <a:latin typeface="Calibri"/>
              </a:rPr>
              <a:t> (default every 4 hours, only records changed since the last run). The shared mechanics of the crawl loop, checkpointing and continuous scheduling are described in the Common Guide §6; the Salesforce specifics are in §8 and §9 of this guide.</a:t>
            </a:r>
          </a:p>
          <a:p>
            <a:pPr>
              <a:spcBef>
                <a:spcPts val="100"/>
              </a:spcBef>
              <a:spcAft>
                <a:spcPts val="400"/>
              </a:spcAft>
            </a:pPr>
            <a:r>
              <a:rPr sz="1250" b="0" i="0">
                <a:solidFill>
                  <a:srgbClr val="202020"/>
                </a:solidFill>
                <a:latin typeface="Calibri"/>
              </a:rPr>
              <a:t>This is the largest and most heavily tested connector in the family (</a:t>
            </a:r>
            <a:r>
              <a:rPr sz="1250" b="1" i="0">
                <a:solidFill>
                  <a:srgbClr val="202020"/>
                </a:solidFill>
                <a:latin typeface="Calibri"/>
              </a:rPr>
              <a:t>1,213 automated tests</a:t>
            </a:r>
            <a:r>
              <a:rPr sz="1250" b="0" i="0">
                <a:solidFill>
                  <a:srgbClr val="202020"/>
                </a:solidFill>
                <a:latin typeface="Calibri"/>
              </a:rPr>
              <a:t>), and its defining feature is the Salesforce sharing-model to ACL engine covered next.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202</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Salesforce Connector</a:t>
            </a:r>
          </a:p>
          <a:p>
            <a:r>
              <a:rPr sz="3000" b="1" i="0">
                <a:solidFill>
                  <a:srgbClr val="1F3864"/>
                </a:solidFill>
                <a:latin typeface="Calibri"/>
              </a:rPr>
              <a:t>4. How the connector connects to Salesforce (the target system)</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203</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 How the connector connects to Salesforce (the target system)</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This section describes exactly how the connector authenticates to and reads from Salesforce, what network paths it needs, and which values you must obtain from the Salesforce administrator.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204</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4.1 The API it uses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connector talks to the </a:t>
            </a:r>
            <a:r>
              <a:rPr sz="1250" b="1" i="0">
                <a:solidFill>
                  <a:srgbClr val="202020"/>
                </a:solidFill>
                <a:latin typeface="Calibri"/>
              </a:rPr>
              <a:t>Salesforce REST API</a:t>
            </a:r>
            <a:r>
              <a:rPr sz="1250" b="0" i="0">
                <a:solidFill>
                  <a:srgbClr val="202020"/>
                </a:solidFill>
                <a:latin typeface="Calibri"/>
              </a:rPr>
              <a:t> over HTTPS. It runs read-only </a:t>
            </a:r>
            <a:r>
              <a:rPr sz="1250" b="1" i="0">
                <a:solidFill>
                  <a:srgbClr val="202020"/>
                </a:solidFill>
                <a:latin typeface="Calibri"/>
              </a:rPr>
              <a:t>SOQL</a:t>
            </a:r>
            <a:r>
              <a:rPr sz="1250" b="0" i="0">
                <a:solidFill>
                  <a:srgbClr val="202020"/>
                </a:solidFill>
                <a:latin typeface="Calibri"/>
              </a:rPr>
              <a:t> (Salesforce Object Query Language) queries against the </a:t>
            </a:r>
            <a:r>
              <a:rPr sz="1200" b="0" i="0">
                <a:solidFill>
                  <a:srgbClr val="202020"/>
                </a:solidFill>
                <a:latin typeface="Consolas"/>
              </a:rPr>
              <a:t>/services/data/{version}/query</a:t>
            </a:r>
            <a:r>
              <a:rPr sz="1250" b="0" i="0">
                <a:solidFill>
                  <a:srgbClr val="202020"/>
                </a:solidFill>
                <a:latin typeface="Calibri"/>
              </a:rPr>
              <a:t> endpoint, for example </a:t>
            </a:r>
            <a:r>
              <a:rPr sz="1200" b="0" i="0">
                <a:solidFill>
                  <a:srgbClr val="202020"/>
                </a:solidFill>
                <a:latin typeface="Consolas"/>
              </a:rPr>
              <a:t>SELECT Id, Name, ... FROM Account</a:t>
            </a:r>
            <a:r>
              <a:rPr sz="1250" b="0" i="0">
                <a:solidFill>
                  <a:srgbClr val="202020"/>
                </a:solidFill>
                <a:latin typeface="Calibri"/>
              </a:rPr>
              <a:t>. Large result sets are paged automatically at </a:t>
            </a:r>
            <a:r>
              <a:rPr sz="1250" b="1" i="0">
                <a:solidFill>
                  <a:srgbClr val="202020"/>
                </a:solidFill>
                <a:latin typeface="Calibri"/>
              </a:rPr>
              <a:t>2,000 records per page</a:t>
            </a:r>
            <a:r>
              <a:rPr sz="1250" b="0" i="0">
                <a:solidFill>
                  <a:srgbClr val="202020"/>
                </a:solidFill>
                <a:latin typeface="Calibri"/>
              </a:rPr>
              <a:t> using the </a:t>
            </a:r>
            <a:r>
              <a:rPr sz="1200" b="0" i="0">
                <a:solidFill>
                  <a:srgbClr val="202020"/>
                </a:solidFill>
                <a:latin typeface="Consolas"/>
              </a:rPr>
              <a:t>nextRecordsUrl</a:t>
            </a:r>
            <a:r>
              <a:rPr sz="1250" b="0" i="0">
                <a:solidFill>
                  <a:srgbClr val="202020"/>
                </a:solidFill>
                <a:latin typeface="Calibri"/>
              </a:rPr>
              <a:t> Salesforce returns; the connector keeps following pages until the object is exhausted. For the deletion safety-net it also uses the </a:t>
            </a:r>
            <a:r>
              <a:rPr sz="1200" b="0" i="0">
                <a:solidFill>
                  <a:srgbClr val="202020"/>
                </a:solidFill>
                <a:latin typeface="Consolas"/>
              </a:rPr>
              <a:t>/queryAll</a:t>
            </a:r>
            <a:r>
              <a:rPr sz="1250" b="0" i="0">
                <a:solidFill>
                  <a:srgbClr val="202020"/>
                </a:solidFill>
                <a:latin typeface="Calibri"/>
              </a:rPr>
              <a:t> endpoint (which includes recently deleted records).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205</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4.1 The API it uses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set of fields requested per object comes from </a:t>
            </a:r>
            <a:r>
              <a:rPr sz="1200" b="0" i="0">
                <a:solidFill>
                  <a:srgbClr val="202020"/>
                </a:solidFill>
                <a:latin typeface="Consolas"/>
              </a:rPr>
              <a:t>config/schema.json</a:t>
            </a:r>
            <a:r>
              <a:rPr sz="1250" b="0" i="0">
                <a:solidFill>
                  <a:srgbClr val="202020"/>
                </a:solidFill>
                <a:latin typeface="Calibri"/>
              </a:rPr>
              <a:t>. If the org does not have a particular field, Salesforce returns an </a:t>
            </a:r>
            <a:r>
              <a:rPr sz="1200" b="0" i="0">
                <a:solidFill>
                  <a:srgbClr val="202020"/>
                </a:solidFill>
                <a:latin typeface="Consolas"/>
              </a:rPr>
              <a:t>INVALID_FIELD</a:t>
            </a:r>
            <a:r>
              <a:rPr sz="1250" b="0" i="0">
                <a:solidFill>
                  <a:srgbClr val="202020"/>
                </a:solidFill>
                <a:latin typeface="Calibri"/>
              </a:rPr>
              <a:t> error; the connector automatically drops that one field and retries, then remembers the working field list in its local state store so later runs skip the retry. If a whole object type does not exist in the org (</a:t>
            </a:r>
            <a:r>
              <a:rPr sz="1200" b="0" i="0">
                <a:solidFill>
                  <a:srgbClr val="202020"/>
                </a:solidFill>
                <a:latin typeface="Consolas"/>
              </a:rPr>
              <a:t>INVALID_TYPE</a:t>
            </a:r>
            <a:r>
              <a:rPr sz="1250" b="0" i="0">
                <a:solidFill>
                  <a:srgbClr val="202020"/>
                </a:solidFill>
                <a:latin typeface="Calibri"/>
              </a:rPr>
              <a:t>), that object is skipped with a warning rather than failing the crawl.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206</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4.2 How it authenticates to Salesforce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Authentication uses the </a:t>
            </a:r>
            <a:r>
              <a:rPr sz="1250" b="1" i="0">
                <a:solidFill>
                  <a:srgbClr val="202020"/>
                </a:solidFill>
                <a:latin typeface="Calibri"/>
              </a:rPr>
              <a:t>OAuth 2.0 client-credentials flow</a:t>
            </a:r>
            <a:r>
              <a:rPr sz="1250" b="0" i="0">
                <a:solidFill>
                  <a:srgbClr val="202020"/>
                </a:solidFill>
                <a:latin typeface="Calibri"/>
              </a:rPr>
              <a:t> against a Salesforce </a:t>
            </a:r>
            <a:r>
              <a:rPr sz="1250" b="1" i="0">
                <a:solidFill>
                  <a:srgbClr val="202020"/>
                </a:solidFill>
                <a:latin typeface="Calibri"/>
              </a:rPr>
              <a:t>Connected App</a:t>
            </a:r>
            <a:r>
              <a:rPr sz="1250" b="0" i="0">
                <a:solidFill>
                  <a:srgbClr val="202020"/>
                </a:solidFill>
                <a:latin typeface="Calibri"/>
              </a:rPr>
              <a:t>. The connector POSTs to </a:t>
            </a:r>
            <a:r>
              <a:rPr sz="1200" b="0" i="0">
                <a:solidFill>
                  <a:srgbClr val="202020"/>
                </a:solidFill>
                <a:latin typeface="Consolas"/>
              </a:rPr>
              <a:t>{instance}/services/oauth2/token</a:t>
            </a:r>
            <a:r>
              <a:rPr sz="1250" b="0" i="0">
                <a:solidFill>
                  <a:srgbClr val="202020"/>
                </a:solidFill>
                <a:latin typeface="Calibri"/>
              </a:rPr>
              <a:t> with </a:t>
            </a:r>
            <a:r>
              <a:rPr sz="1200" b="0" i="0">
                <a:solidFill>
                  <a:srgbClr val="202020"/>
                </a:solidFill>
                <a:latin typeface="Consolas"/>
              </a:rPr>
              <a:t>grant_type=client_credentials</a:t>
            </a:r>
            <a:r>
              <a:rPr sz="1250" b="0" i="0">
                <a:solidFill>
                  <a:srgbClr val="202020"/>
                </a:solidFill>
                <a:latin typeface="Calibri"/>
              </a:rPr>
              <a:t>, the Connected App's </a:t>
            </a:r>
            <a:r>
              <a:rPr sz="1250" b="1" i="0">
                <a:solidFill>
                  <a:srgbClr val="202020"/>
                </a:solidFill>
                <a:latin typeface="Calibri"/>
              </a:rPr>
              <a:t>consumer key</a:t>
            </a:r>
            <a:r>
              <a:rPr sz="1250" b="0" i="0">
                <a:solidFill>
                  <a:srgbClr val="202020"/>
                </a:solidFill>
                <a:latin typeface="Calibri"/>
              </a:rPr>
              <a:t> (</a:t>
            </a:r>
            <a:r>
              <a:rPr sz="1200" b="0" i="0">
                <a:solidFill>
                  <a:srgbClr val="202020"/>
                </a:solidFill>
                <a:latin typeface="Consolas"/>
              </a:rPr>
              <a:t>SALESFORCE_CLIENT_ID</a:t>
            </a:r>
            <a:r>
              <a:rPr sz="1250" b="0" i="0">
                <a:solidFill>
                  <a:srgbClr val="202020"/>
                </a:solidFill>
                <a:latin typeface="Calibri"/>
              </a:rPr>
              <a:t>) and </a:t>
            </a:r>
            <a:r>
              <a:rPr sz="1250" b="1" i="0">
                <a:solidFill>
                  <a:srgbClr val="202020"/>
                </a:solidFill>
                <a:latin typeface="Calibri"/>
              </a:rPr>
              <a:t>consumer secret</a:t>
            </a:r>
            <a:r>
              <a:rPr sz="1250" b="0" i="0">
                <a:solidFill>
                  <a:srgbClr val="202020"/>
                </a:solidFill>
                <a:latin typeface="Calibri"/>
              </a:rPr>
              <a:t> (</a:t>
            </a:r>
            <a:r>
              <a:rPr sz="1200" b="0" i="0">
                <a:solidFill>
                  <a:srgbClr val="202020"/>
                </a:solidFill>
                <a:latin typeface="Consolas"/>
              </a:rPr>
              <a:t>SECRET_SALESFORCE_CLIENT_SECRET</a:t>
            </a:r>
            <a:r>
              <a:rPr sz="1250" b="0" i="0">
                <a:solidFill>
                  <a:srgbClr val="202020"/>
                </a:solidFill>
                <a:latin typeface="Calibri"/>
              </a:rPr>
              <a:t>), and receives a short-lived access token used as a Bearer token on every query. There is no interactive login and no user password anywhere.</a:t>
            </a:r>
          </a:p>
          <a:p>
            <a:pPr>
              <a:spcBef>
                <a:spcPts val="100"/>
              </a:spcBef>
              <a:spcAft>
                <a:spcPts val="200"/>
              </a:spcAft>
            </a:pPr>
            <a:r>
              <a:rPr sz="1250" b="1" i="0">
                <a:solidFill>
                  <a:srgbClr val="2E5496"/>
                </a:solidFill>
                <a:latin typeface="Calibri"/>
              </a:rPr>
              <a:t>•  </a:t>
            </a:r>
            <a:r>
              <a:rPr sz="1250" b="0" i="0">
                <a:solidFill>
                  <a:srgbClr val="202020"/>
                </a:solidFill>
                <a:latin typeface="Calibri"/>
              </a:rPr>
              <a:t>The client-credentials flow runs as a specific </a:t>
            </a:r>
            <a:r>
              <a:rPr sz="1250" b="1" i="0">
                <a:solidFill>
                  <a:srgbClr val="202020"/>
                </a:solidFill>
                <a:latin typeface="Calibri"/>
              </a:rPr>
              <a:t>integration user</a:t>
            </a:r>
            <a:r>
              <a:rPr sz="1250" b="0" i="0">
                <a:solidFill>
                  <a:srgbClr val="202020"/>
                </a:solidFill>
                <a:latin typeface="Calibri"/>
              </a:rPr>
              <a:t> (the "run-as" user configured on the Connected App). Everything the connector can read is exactly what that user can read — so this user should be a dedicated, </a:t>
            </a:r>
            <a:r>
              <a:rPr sz="1250" b="1" i="0">
                <a:solidFill>
                  <a:srgbClr val="202020"/>
                </a:solidFill>
                <a:latin typeface="Calibri"/>
              </a:rPr>
              <a:t>read-only</a:t>
            </a:r>
            <a:r>
              <a:rPr sz="1250" b="0" i="0">
                <a:solidFill>
                  <a:srgbClr val="202020"/>
                </a:solidFill>
                <a:latin typeface="Calibri"/>
              </a:rPr>
              <a:t> integration account scoped to the objects and fields you intend to index.</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207</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4.2 How it authenticates to Salesforce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0" i="0">
                <a:solidFill>
                  <a:srgbClr val="202020"/>
                </a:solidFill>
                <a:latin typeface="Calibri"/>
              </a:rPr>
              <a:t>If the token expires mid-crawl, a </a:t>
            </a:r>
            <a:r>
              <a:rPr sz="1200" b="0" i="0">
                <a:solidFill>
                  <a:srgbClr val="202020"/>
                </a:solidFill>
                <a:latin typeface="Consolas"/>
              </a:rPr>
              <a:t>401</a:t>
            </a:r>
            <a:r>
              <a:rPr sz="1250" b="0" i="0">
                <a:solidFill>
                  <a:srgbClr val="202020"/>
                </a:solidFill>
                <a:latin typeface="Calibri"/>
              </a:rPr>
              <a:t> triggers a single automatic token refresh and the query is retried.</a:t>
            </a:r>
          </a:p>
          <a:p>
            <a:pPr>
              <a:spcBef>
                <a:spcPts val="100"/>
              </a:spcBef>
              <a:spcAft>
                <a:spcPts val="200"/>
              </a:spcAft>
            </a:pPr>
            <a:r>
              <a:rPr sz="1250" b="1" i="0">
                <a:solidFill>
                  <a:srgbClr val="2E5496"/>
                </a:solidFill>
                <a:latin typeface="Calibri"/>
              </a:rPr>
              <a:t>•  </a:t>
            </a:r>
            <a:r>
              <a:rPr sz="1250" b="0" i="0">
                <a:solidFill>
                  <a:srgbClr val="202020"/>
                </a:solidFill>
                <a:latin typeface="Calibri"/>
              </a:rPr>
              <a:t>On transient Salesforce gateway errors (</a:t>
            </a:r>
            <a:r>
              <a:rPr sz="1200" b="0" i="0">
                <a:solidFill>
                  <a:srgbClr val="202020"/>
                </a:solidFill>
                <a:latin typeface="Consolas"/>
              </a:rPr>
              <a:t>502</a:t>
            </a:r>
            <a:r>
              <a:rPr sz="1250" b="0" i="0">
                <a:solidFill>
                  <a:srgbClr val="202020"/>
                </a:solidFill>
                <a:latin typeface="Calibri"/>
              </a:rPr>
              <a:t>, </a:t>
            </a:r>
            <a:r>
              <a:rPr sz="1200" b="0" i="0">
                <a:solidFill>
                  <a:srgbClr val="202020"/>
                </a:solidFill>
                <a:latin typeface="Consolas"/>
              </a:rPr>
              <a:t>503</a:t>
            </a:r>
            <a:r>
              <a:rPr sz="1250" b="0" i="0">
                <a:solidFill>
                  <a:srgbClr val="202020"/>
                </a:solidFill>
                <a:latin typeface="Calibri"/>
              </a:rPr>
              <a:t>, </a:t>
            </a:r>
            <a:r>
              <a:rPr sz="1200" b="0" i="0">
                <a:solidFill>
                  <a:srgbClr val="202020"/>
                </a:solidFill>
                <a:latin typeface="Consolas"/>
              </a:rPr>
              <a:t>504</a:t>
            </a:r>
            <a:r>
              <a:rPr sz="1250" b="0" i="0">
                <a:solidFill>
                  <a:srgbClr val="202020"/>
                </a:solidFill>
                <a:latin typeface="Calibri"/>
              </a:rPr>
              <a:t>) the connector retries up to 3 times with a short exponential back-off before failing that object.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208</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4.2 How it authenticates to Salesforce</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The consumer secret is a credential. It belongs only in </a:t>
            </a:r>
            <a:r>
              <a:rPr sz="1350" b="0" i="0">
                <a:solidFill>
                  <a:srgbClr val="202020"/>
                </a:solidFill>
                <a:latin typeface="Consolas"/>
              </a:rPr>
              <a:t>env/.env.local.user</a:t>
            </a:r>
            <a:r>
              <a:rPr sz="1400" b="0" i="0">
                <a:solidFill>
                  <a:srgbClr val="202020"/>
                </a:solidFill>
                <a:latin typeface="Calibri"/>
              </a:rPr>
              <a:t> (never in </a:t>
            </a:r>
            <a:r>
              <a:rPr sz="1350" b="0" i="0">
                <a:solidFill>
                  <a:srgbClr val="202020"/>
                </a:solidFill>
                <a:latin typeface="Consolas"/>
              </a:rPr>
              <a:t>.env.local</a:t>
            </a:r>
            <a:r>
              <a:rPr sz="1400" b="0" i="0">
                <a:solidFill>
                  <a:srgbClr val="202020"/>
                </a:solidFill>
                <a:latin typeface="Calibri"/>
              </a:rPr>
              <a:t>, never committed) or in Azure Key Vault when </a:t>
            </a:r>
            <a:r>
              <a:rPr sz="1350" b="0" i="0">
                <a:solidFill>
                  <a:srgbClr val="202020"/>
                </a:solidFill>
                <a:latin typeface="Consolas"/>
              </a:rPr>
              <a:t>USE_KEY_VAULT=true</a:t>
            </a:r>
            <a:r>
              <a:rPr sz="1400" b="0" i="0">
                <a:solidFill>
                  <a:srgbClr val="202020"/>
                </a:solidFill>
                <a:latin typeface="Calibri"/>
              </a:rPr>
              <a:t>. It is never written to logs. See the Common Guide §5 for the shared secret-handling model.</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209</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4.3 Connection parameters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These are the Salesforce-side settings the connector reads (full list in §12):</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210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4.3 Connection parameters</a:t>
            </a:r>
          </a:p>
        </p:txBody>
      </p:sp>
      <p:graphicFrame>
        <p:nvGraphicFramePr>
          <p:cNvPr id="5" name="Table 4"/>
          <p:cNvGraphicFramePr>
            <a:graphicFrameLocks noGrp="1"/>
          </p:cNvGraphicFramePr>
          <p:nvPr/>
        </p:nvGraphicFramePr>
        <p:xfrm>
          <a:off x="502920" y="1188720"/>
          <a:ext cx="11185855" cy="2688336"/>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Setting (env var)</a:t>
                      </a:r>
                    </a:p>
                  </a:txBody>
                  <a:tcPr marT="25400" marB="25400">
                    <a:solidFill>
                      <a:srgbClr val="2E5496"/>
                    </a:solidFill>
                  </a:tcPr>
                </a:tc>
                <a:tc>
                  <a:txBody>
                    <a:bodyPr wrap="square"/>
                    <a:lstStyle/>
                    <a:p>
                      <a:r>
                        <a:rPr sz="1050" b="1" i="0">
                          <a:solidFill>
                            <a:srgbClr val="FFFFFF"/>
                          </a:solidFill>
                          <a:latin typeface="Calibri"/>
                        </a:rPr>
                        <a:t>What it is</a:t>
                      </a:r>
                    </a:p>
                  </a:txBody>
                  <a:tcPr marT="25400" marB="25400">
                    <a:solidFill>
                      <a:srgbClr val="2E5496"/>
                    </a:solidFill>
                  </a:tcPr>
                </a:tc>
                <a:tc>
                  <a:txBody>
                    <a:bodyPr wrap="square"/>
                    <a:lstStyle/>
                    <a:p>
                      <a:r>
                        <a:rPr sz="1050" b="1" i="0">
                          <a:solidFill>
                            <a:srgbClr val="FFFFFF"/>
                          </a:solidFill>
                          <a:latin typeface="Calibri"/>
                        </a:rPr>
                        <a:t>Example / default</a:t>
                      </a:r>
                    </a:p>
                  </a:txBody>
                  <a:tcPr marT="25400" marB="25400">
                    <a:solidFill>
                      <a:srgbClr val="2E5496"/>
                    </a:solidFill>
                  </a:tcPr>
                </a:tc>
              </a:tr>
              <a:tr h="384048">
                <a:tc>
                  <a:txBody>
                    <a:bodyPr wrap="square"/>
                    <a:lstStyle/>
                    <a:p>
                      <a:r>
                        <a:rPr sz="950" b="0" i="0">
                          <a:solidFill>
                            <a:srgbClr val="202020"/>
                          </a:solidFill>
                          <a:latin typeface="Consolas"/>
                        </a:rPr>
                        <a:t>SALESFORCE_INSTANCE_URL</a:t>
                      </a:r>
                    </a:p>
                  </a:txBody>
                  <a:tcPr marT="12700" marB="12700">
                    <a:solidFill>
                      <a:srgbClr val="FFFFFF"/>
                    </a:solidFill>
                  </a:tcPr>
                </a:tc>
                <a:tc>
                  <a:txBody>
                    <a:bodyPr wrap="square"/>
                    <a:lstStyle/>
                    <a:p>
                      <a:r>
                        <a:rPr sz="950" b="0" i="0">
                          <a:solidFill>
                            <a:srgbClr val="202020"/>
                          </a:solidFill>
                          <a:latin typeface="Calibri"/>
                        </a:rPr>
                        <a:t>Your org's base URL (My Domain). Trailing slash OK.</a:t>
                      </a:r>
                    </a:p>
                  </a:txBody>
                  <a:tcPr marT="12700" marB="12700">
                    <a:solidFill>
                      <a:srgbClr val="FFFFFF"/>
                    </a:solidFill>
                  </a:tcPr>
                </a:tc>
                <a:tc>
                  <a:txBody>
                    <a:bodyPr wrap="square"/>
                    <a:lstStyle/>
                    <a:p>
                      <a:r>
                        <a:rPr sz="950" b="0" i="0">
                          <a:solidFill>
                            <a:srgbClr val="202020"/>
                          </a:solidFill>
                          <a:latin typeface="Calibri"/>
                        </a:rPr>
                        <a:t>https://your-org.my.salesforce.com/</a:t>
                      </a:r>
                    </a:p>
                  </a:txBody>
                  <a:tcPr marT="12700" marB="12700">
                    <a:solidFill>
                      <a:srgbClr val="FFFFFF"/>
                    </a:solidFill>
                  </a:tcPr>
                </a:tc>
              </a:tr>
              <a:tr h="384048">
                <a:tc>
                  <a:txBody>
                    <a:bodyPr wrap="square"/>
                    <a:lstStyle/>
                    <a:p>
                      <a:r>
                        <a:rPr sz="950" b="0" i="0">
                          <a:solidFill>
                            <a:srgbClr val="202020"/>
                          </a:solidFill>
                          <a:latin typeface="Consolas"/>
                        </a:rPr>
                        <a:t>SALESFORCE_API_VERSION</a:t>
                      </a:r>
                    </a:p>
                  </a:txBody>
                  <a:tcPr marT="12700" marB="12700">
                    <a:solidFill>
                      <a:srgbClr val="F7F9FC"/>
                    </a:solidFill>
                  </a:tcPr>
                </a:tc>
                <a:tc>
                  <a:txBody>
                    <a:bodyPr wrap="square"/>
                    <a:lstStyle/>
                    <a:p>
                      <a:r>
                        <a:rPr sz="950" b="0" i="0">
                          <a:solidFill>
                            <a:srgbClr val="202020"/>
                          </a:solidFill>
                          <a:latin typeface="Calibri"/>
                        </a:rPr>
                        <a:t>REST API version to target.</a:t>
                      </a:r>
                    </a:p>
                  </a:txBody>
                  <a:tcPr marT="12700" marB="12700">
                    <a:solidFill>
                      <a:srgbClr val="F7F9FC"/>
                    </a:solidFill>
                  </a:tcPr>
                </a:tc>
                <a:tc>
                  <a:txBody>
                    <a:bodyPr wrap="square"/>
                    <a:lstStyle/>
                    <a:p>
                      <a:r>
                        <a:rPr sz="950" b="0" i="0">
                          <a:solidFill>
                            <a:srgbClr val="202020"/>
                          </a:solidFill>
                          <a:latin typeface="Calibri"/>
                        </a:rPr>
                        <a:t>v60.0</a:t>
                      </a:r>
                    </a:p>
                  </a:txBody>
                  <a:tcPr marT="12700" marB="12700">
                    <a:solidFill>
                      <a:srgbClr val="F7F9FC"/>
                    </a:solidFill>
                  </a:tcPr>
                </a:tc>
              </a:tr>
              <a:tr h="384048">
                <a:tc>
                  <a:txBody>
                    <a:bodyPr wrap="square"/>
                    <a:lstStyle/>
                    <a:p>
                      <a:r>
                        <a:rPr sz="950" b="0" i="0">
                          <a:solidFill>
                            <a:srgbClr val="202020"/>
                          </a:solidFill>
                          <a:latin typeface="Consolas"/>
                        </a:rPr>
                        <a:t>SALESFORCE_CLIENT_ID</a:t>
                      </a:r>
                    </a:p>
                  </a:txBody>
                  <a:tcPr marT="12700" marB="12700">
                    <a:solidFill>
                      <a:srgbClr val="FFFFFF"/>
                    </a:solidFill>
                  </a:tcPr>
                </a:tc>
                <a:tc>
                  <a:txBody>
                    <a:bodyPr wrap="square"/>
                    <a:lstStyle/>
                    <a:p>
                      <a:r>
                        <a:rPr sz="950" b="0" i="0">
                          <a:solidFill>
                            <a:srgbClr val="202020"/>
                          </a:solidFill>
                          <a:latin typeface="Calibri"/>
                        </a:rPr>
                        <a:t>Connected App consumer key.</a:t>
                      </a:r>
                    </a:p>
                  </a:txBody>
                  <a:tcPr marT="12700" marB="12700">
                    <a:solidFill>
                      <a:srgbClr val="FFFFFF"/>
                    </a:solidFill>
                  </a:tcPr>
                </a:tc>
                <a:tc>
                  <a:txBody>
                    <a:bodyPr wrap="square"/>
                    <a:lstStyle/>
                    <a:p>
                      <a:r>
                        <a:rPr sz="950" b="0" i="0">
                          <a:solidFill>
                            <a:srgbClr val="202020"/>
                          </a:solidFill>
                          <a:latin typeface="Calibri"/>
                        </a:rPr>
                        <a:t>(from SF admin)</a:t>
                      </a:r>
                    </a:p>
                  </a:txBody>
                  <a:tcPr marT="12700" marB="12700">
                    <a:solidFill>
                      <a:srgbClr val="FFFFFF"/>
                    </a:solidFill>
                  </a:tcPr>
                </a:tc>
              </a:tr>
              <a:tr h="384048">
                <a:tc>
                  <a:txBody>
                    <a:bodyPr wrap="square"/>
                    <a:lstStyle/>
                    <a:p>
                      <a:r>
                        <a:rPr sz="950" b="0" i="0">
                          <a:solidFill>
                            <a:srgbClr val="202020"/>
                          </a:solidFill>
                          <a:latin typeface="Consolas"/>
                        </a:rPr>
                        <a:t>SECRET_SALESFORCE_CLIENT_SECRET</a:t>
                      </a:r>
                    </a:p>
                  </a:txBody>
                  <a:tcPr marT="12700" marB="12700">
                    <a:solidFill>
                      <a:srgbClr val="F7F9FC"/>
                    </a:solidFill>
                  </a:tcPr>
                </a:tc>
                <a:tc>
                  <a:txBody>
                    <a:bodyPr wrap="square"/>
                    <a:lstStyle/>
                    <a:p>
                      <a:r>
                        <a:rPr sz="950" b="0" i="0">
                          <a:solidFill>
                            <a:srgbClr val="202020"/>
                          </a:solidFill>
                          <a:latin typeface="Calibri"/>
                        </a:rPr>
                        <a:t>Connected App consumer secret (secret file / Key Vault).</a:t>
                      </a:r>
                    </a:p>
                  </a:txBody>
                  <a:tcPr marT="12700" marB="12700">
                    <a:solidFill>
                      <a:srgbClr val="F7F9FC"/>
                    </a:solidFill>
                  </a:tcPr>
                </a:tc>
                <a:tc>
                  <a:txBody>
                    <a:bodyPr wrap="square"/>
                    <a:lstStyle/>
                    <a:p>
                      <a:r>
                        <a:rPr sz="950" b="0" i="0">
                          <a:solidFill>
                            <a:srgbClr val="202020"/>
                          </a:solidFill>
                          <a:latin typeface="Calibri"/>
                        </a:rPr>
                        <a:t>(secret)</a:t>
                      </a:r>
                    </a:p>
                  </a:txBody>
                  <a:tcPr marT="12700" marB="12700">
                    <a:solidFill>
                      <a:srgbClr val="F7F9FC"/>
                    </a:solidFill>
                  </a:tcPr>
                </a:tc>
              </a:tr>
              <a:tr h="384048">
                <a:tc>
                  <a:txBody>
                    <a:bodyPr wrap="square"/>
                    <a:lstStyle/>
                    <a:p>
                      <a:r>
                        <a:rPr sz="950" b="0" i="0">
                          <a:solidFill>
                            <a:srgbClr val="202020"/>
                          </a:solidFill>
                          <a:latin typeface="Consolas"/>
                        </a:rPr>
                        <a:t>SALESFORCE_QUERY_LIMIT</a:t>
                      </a:r>
                    </a:p>
                  </a:txBody>
                  <a:tcPr marT="12700" marB="12700">
                    <a:solidFill>
                      <a:srgbClr val="FFFFFF"/>
                    </a:solidFill>
                  </a:tcPr>
                </a:tc>
                <a:tc>
                  <a:txBody>
                    <a:bodyPr wrap="square"/>
                    <a:lstStyle/>
                    <a:p>
                      <a:r>
                        <a:rPr sz="950" b="0" i="0">
                          <a:solidFill>
                            <a:srgbClr val="202020"/>
                          </a:solidFill>
                          <a:latin typeface="Calibri"/>
                        </a:rPr>
                        <a:t>SOQL LIMIT; 0 = full pagination (production).</a:t>
                      </a:r>
                    </a:p>
                  </a:txBody>
                  <a:tcPr marT="12700" marB="12700">
                    <a:solidFill>
                      <a:srgbClr val="FFFFFF"/>
                    </a:solidFill>
                  </a:tcPr>
                </a:tc>
                <a:tc>
                  <a:txBody>
                    <a:bodyPr wrap="square"/>
                    <a:lstStyle/>
                    <a:p>
                      <a:r>
                        <a:rPr sz="950" b="0" i="0">
                          <a:solidFill>
                            <a:srgbClr val="202020"/>
                          </a:solidFill>
                          <a:latin typeface="Calibri"/>
                        </a:rPr>
                        <a:t>0</a:t>
                      </a:r>
                    </a:p>
                  </a:txBody>
                  <a:tcPr marT="12700" marB="12700">
                    <a:solidFill>
                      <a:srgbClr val="FFFFFF"/>
                    </a:solidFill>
                  </a:tcPr>
                </a:tc>
              </a:tr>
              <a:tr h="384048">
                <a:tc>
                  <a:txBody>
                    <a:bodyPr wrap="square"/>
                    <a:lstStyle/>
                    <a:p>
                      <a:r>
                        <a:rPr sz="950" b="0" i="0">
                          <a:solidFill>
                            <a:srgbClr val="202020"/>
                          </a:solidFill>
                          <a:latin typeface="Consolas"/>
                        </a:rPr>
                        <a:t>SALESFORCE_BATCH_SIZE</a:t>
                      </a:r>
                    </a:p>
                  </a:txBody>
                  <a:tcPr marT="12700" marB="12700">
                    <a:solidFill>
                      <a:srgbClr val="F7F9FC"/>
                    </a:solidFill>
                  </a:tcPr>
                </a:tc>
                <a:tc>
                  <a:txBody>
                    <a:bodyPr wrap="square"/>
                    <a:lstStyle/>
                    <a:p>
                      <a:r>
                        <a:rPr sz="950" b="0" i="0">
                          <a:solidFill>
                            <a:srgbClr val="202020"/>
                          </a:solidFill>
                          <a:latin typeface="Calibri"/>
                        </a:rPr>
                        <a:t>Max record Ids per SOQL IN clause during ACL resolution.</a:t>
                      </a:r>
                    </a:p>
                  </a:txBody>
                  <a:tcPr marT="12700" marB="12700">
                    <a:solidFill>
                      <a:srgbClr val="F7F9FC"/>
                    </a:solidFill>
                  </a:tcPr>
                </a:tc>
                <a:tc>
                  <a:txBody>
                    <a:bodyPr wrap="square"/>
                    <a:lstStyle/>
                    <a:p>
                      <a:r>
                        <a:rPr sz="950" b="0" i="0">
                          <a:solidFill>
                            <a:srgbClr val="202020"/>
                          </a:solidFill>
                          <a:latin typeface="Calibri"/>
                        </a:rPr>
                        <a:t>100</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211</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4.4 Network egress / firewall</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connector makes only </a:t>
            </a:r>
            <a:r>
              <a:rPr sz="1250" b="1" i="0">
                <a:solidFill>
                  <a:srgbClr val="202020"/>
                </a:solidFill>
                <a:latin typeface="Calibri"/>
              </a:rPr>
              <a:t>outbound HTTPS (TCP 443)</a:t>
            </a:r>
            <a:r>
              <a:rPr sz="1250" b="0" i="0">
                <a:solidFill>
                  <a:srgbClr val="202020"/>
                </a:solidFill>
                <a:latin typeface="Calibri"/>
              </a:rPr>
              <a:t> connections. The network/firewall team must allow the connector host to reach:</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212</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4.4 Network egress / firewall</a:t>
            </a:r>
          </a:p>
        </p:txBody>
      </p:sp>
      <p:graphicFrame>
        <p:nvGraphicFramePr>
          <p:cNvPr id="5" name="Table 4"/>
          <p:cNvGraphicFramePr>
            <a:graphicFrameLocks noGrp="1"/>
          </p:cNvGraphicFramePr>
          <p:nvPr/>
        </p:nvGraphicFramePr>
        <p:xfrm>
          <a:off x="502920" y="1188720"/>
          <a:ext cx="11185854" cy="2304288"/>
        </p:xfrm>
        <a:graphic>
          <a:graphicData uri="http://schemas.openxmlformats.org/drawingml/2006/table">
            <a:tbl>
              <a:tblPr firstRow="1" bandRow="1">
                <a:tableStyleId>{5C22544A-7EE6-4342-B048-85BDC9FD1C3A}</a:tableStyleId>
              </a:tblPr>
              <a:tblGrid>
                <a:gridCol w="3803190"/>
                <a:gridCol w="7382664"/>
              </a:tblGrid>
              <a:tr h="384048">
                <a:tc>
                  <a:txBody>
                    <a:bodyPr wrap="square"/>
                    <a:lstStyle/>
                    <a:p>
                      <a:r>
                        <a:rPr sz="1050" b="1" i="0">
                          <a:solidFill>
                            <a:srgbClr val="FFFFFF"/>
                          </a:solidFill>
                          <a:latin typeface="Calibri"/>
                        </a:rPr>
                        <a:t>Destination</a:t>
                      </a:r>
                    </a:p>
                  </a:txBody>
                  <a:tcPr marT="25400" marB="25400">
                    <a:solidFill>
                      <a:srgbClr val="2E5496"/>
                    </a:solidFill>
                  </a:tcPr>
                </a:tc>
                <a:tc>
                  <a:txBody>
                    <a:bodyPr wrap="square"/>
                    <a:lstStyle/>
                    <a:p>
                      <a:r>
                        <a:rPr sz="1050" b="1" i="0">
                          <a:solidFill>
                            <a:srgbClr val="FFFFFF"/>
                          </a:solidFill>
                          <a:latin typeface="Calibri"/>
                        </a:rPr>
                        <a:t>Why</a:t>
                      </a:r>
                    </a:p>
                  </a:txBody>
                  <a:tcPr marT="25400" marB="25400">
                    <a:solidFill>
                      <a:srgbClr val="2E5496"/>
                    </a:solidFill>
                  </a:tcPr>
                </a:tc>
              </a:tr>
              <a:tr h="384048">
                <a:tc>
                  <a:txBody>
                    <a:bodyPr wrap="square"/>
                    <a:lstStyle/>
                    <a:p>
                      <a:r>
                        <a:rPr sz="950" b="0" i="0">
                          <a:solidFill>
                            <a:srgbClr val="202020"/>
                          </a:solidFill>
                          <a:latin typeface="Calibri"/>
                        </a:rPr>
                        <a:t>Your SALESFORCE_INSTANCE_URL host (e.g. your-org.my.salesforce.com)</a:t>
                      </a:r>
                    </a:p>
                  </a:txBody>
                  <a:tcPr marT="12700" marB="12700">
                    <a:solidFill>
                      <a:srgbClr val="FFFFFF"/>
                    </a:solidFill>
                  </a:tcPr>
                </a:tc>
                <a:tc>
                  <a:txBody>
                    <a:bodyPr wrap="square"/>
                    <a:lstStyle/>
                    <a:p>
                      <a:r>
                        <a:rPr sz="950" b="0" i="0">
                          <a:solidFill>
                            <a:srgbClr val="202020"/>
                          </a:solidFill>
                          <a:latin typeface="Calibri"/>
                        </a:rPr>
                        <a:t>SOQL queries and record fetch.</a:t>
                      </a:r>
                    </a:p>
                  </a:txBody>
                  <a:tcPr marT="12700" marB="12700">
                    <a:solidFill>
                      <a:srgbClr val="FFFFFF"/>
                    </a:solidFill>
                  </a:tcPr>
                </a:tc>
              </a:tr>
              <a:tr h="384048">
                <a:tc>
                  <a:txBody>
                    <a:bodyPr wrap="square"/>
                    <a:lstStyle/>
                    <a:p>
                      <a:r>
                        <a:rPr sz="950" b="0" i="0">
                          <a:solidFill>
                            <a:srgbClr val="202020"/>
                          </a:solidFill>
                          <a:latin typeface="Calibri"/>
                        </a:rPr>
                        <a:t>login.salesforce.com</a:t>
                      </a:r>
                    </a:p>
                  </a:txBody>
                  <a:tcPr marT="12700" marB="12700">
                    <a:solidFill>
                      <a:srgbClr val="F7F9FC"/>
                    </a:solidFill>
                  </a:tcPr>
                </a:tc>
                <a:tc>
                  <a:txBody>
                    <a:bodyPr wrap="square"/>
                    <a:lstStyle/>
                    <a:p>
                      <a:r>
                        <a:rPr sz="950" b="0" i="0">
                          <a:solidFill>
                            <a:srgbClr val="202020"/>
                          </a:solidFill>
                          <a:latin typeface="Calibri"/>
                        </a:rPr>
                        <a:t>Salesforce OAuth token endpoint / login.</a:t>
                      </a:r>
                    </a:p>
                  </a:txBody>
                  <a:tcPr marT="12700" marB="12700">
                    <a:solidFill>
                      <a:srgbClr val="F7F9FC"/>
                    </a:solidFill>
                  </a:tcPr>
                </a:tc>
              </a:tr>
              <a:tr h="384048">
                <a:tc>
                  <a:txBody>
                    <a:bodyPr wrap="square"/>
                    <a:lstStyle/>
                    <a:p>
                      <a:r>
                        <a:rPr sz="950" b="0" i="0">
                          <a:solidFill>
                            <a:srgbClr val="202020"/>
                          </a:solidFill>
                          <a:latin typeface="Calibri"/>
                        </a:rPr>
                        <a:t>graph.microsoft.com (or the sovereign-cloud host — see §5.6)</a:t>
                      </a:r>
                    </a:p>
                  </a:txBody>
                  <a:tcPr marT="12700" marB="12700">
                    <a:solidFill>
                      <a:srgbClr val="FFFFFF"/>
                    </a:solidFill>
                  </a:tcPr>
                </a:tc>
                <a:tc>
                  <a:txBody>
                    <a:bodyPr wrap="square"/>
                    <a:lstStyle/>
                    <a:p>
                      <a:r>
                        <a:rPr sz="950" b="0" i="0">
                          <a:solidFill>
                            <a:srgbClr val="202020"/>
                          </a:solidFill>
                          <a:latin typeface="Calibri"/>
                        </a:rPr>
                        <a:t>Writing external items to Microsoft Graph.</a:t>
                      </a:r>
                    </a:p>
                  </a:txBody>
                  <a:tcPr marT="12700" marB="12700">
                    <a:solidFill>
                      <a:srgbClr val="FFFFFF"/>
                    </a:solidFill>
                  </a:tcPr>
                </a:tc>
              </a:tr>
              <a:tr h="384048">
                <a:tc>
                  <a:txBody>
                    <a:bodyPr wrap="square"/>
                    <a:lstStyle/>
                    <a:p>
                      <a:r>
                        <a:rPr sz="950" b="0" i="0">
                          <a:solidFill>
                            <a:srgbClr val="202020"/>
                          </a:solidFill>
                          <a:latin typeface="Calibri"/>
                        </a:rPr>
                        <a:t>login.microsoftonline.com</a:t>
                      </a:r>
                    </a:p>
                  </a:txBody>
                  <a:tcPr marT="12700" marB="12700">
                    <a:solidFill>
                      <a:srgbClr val="F7F9FC"/>
                    </a:solidFill>
                  </a:tcPr>
                </a:tc>
                <a:tc>
                  <a:txBody>
                    <a:bodyPr wrap="square"/>
                    <a:lstStyle/>
                    <a:p>
                      <a:r>
                        <a:rPr sz="950" b="0" i="0">
                          <a:solidFill>
                            <a:srgbClr val="202020"/>
                          </a:solidFill>
                          <a:latin typeface="Calibri"/>
                        </a:rPr>
                        <a:t>Microsoft Entra token endpoint for Graph auth.</a:t>
                      </a:r>
                    </a:p>
                  </a:txBody>
                  <a:tcPr marT="12700" marB="12700">
                    <a:solidFill>
                      <a:srgbClr val="F7F9FC"/>
                    </a:solidFill>
                  </a:tcPr>
                </a:tc>
              </a:tr>
              <a:tr h="384048">
                <a:tc>
                  <a:txBody>
                    <a:bodyPr wrap="square"/>
                    <a:lstStyle/>
                    <a:p>
                      <a:r>
                        <a:rPr sz="950" b="0" i="0">
                          <a:solidFill>
                            <a:srgbClr val="202020"/>
                          </a:solidFill>
                          <a:latin typeface="Calibri"/>
                        </a:rPr>
                        <a:t>*.vault.azure.net</a:t>
                      </a:r>
                    </a:p>
                  </a:txBody>
                  <a:tcPr marT="12700" marB="12700">
                    <a:solidFill>
                      <a:srgbClr val="FFFFFF"/>
                    </a:solidFill>
                  </a:tcPr>
                </a:tc>
                <a:tc>
                  <a:txBody>
                    <a:bodyPr wrap="square"/>
                    <a:lstStyle/>
                    <a:p>
                      <a:r>
                        <a:rPr sz="950" b="0" i="0">
                          <a:solidFill>
                            <a:srgbClr val="202020"/>
                          </a:solidFill>
                          <a:latin typeface="Calibri"/>
                        </a:rPr>
                        <a:t>Only if USE_KEY_VAULT=true (secret resolution).</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213</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4.4 Network egress / firewall</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If outbound traffic must go through a proxy, set </a:t>
            </a:r>
            <a:r>
              <a:rPr sz="1200" b="0" i="0">
                <a:solidFill>
                  <a:srgbClr val="202020"/>
                </a:solidFill>
                <a:latin typeface="Consolas"/>
              </a:rPr>
              <a:t>PROXY_URL</a:t>
            </a:r>
            <a:r>
              <a:rPr sz="1250" b="0" i="0">
                <a:solidFill>
                  <a:srgbClr val="202020"/>
                </a:solidFill>
                <a:latin typeface="Calibri"/>
              </a:rPr>
              <a:t> (and </a:t>
            </a:r>
            <a:r>
              <a:rPr sz="1200" b="0" i="0">
                <a:solidFill>
                  <a:srgbClr val="202020"/>
                </a:solidFill>
                <a:latin typeface="Consolas"/>
              </a:rPr>
              <a:t>PROXY_BYPASS</a:t>
            </a:r>
            <a:r>
              <a:rPr sz="1250" b="0" i="0">
                <a:solidFill>
                  <a:srgbClr val="202020"/>
                </a:solidFill>
                <a:latin typeface="Calibri"/>
              </a:rPr>
              <a:t> for internal exceptions). If a TLS-inspection appliance re-signs traffic, point </a:t>
            </a:r>
            <a:r>
              <a:rPr sz="1200" b="0" i="0">
                <a:solidFill>
                  <a:srgbClr val="202020"/>
                </a:solidFill>
                <a:latin typeface="Consolas"/>
              </a:rPr>
              <a:t>CA_BUNDLE_PATH</a:t>
            </a:r>
            <a:r>
              <a:rPr sz="1250" b="0" i="0">
                <a:solidFill>
                  <a:srgbClr val="202020"/>
                </a:solidFill>
                <a:latin typeface="Calibri"/>
              </a:rPr>
              <a:t> at its root-CA PEM bundle — trust is additive and certificate validation is never disabled. Both are covered in §12 and the Common Guide.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214</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4.5 Salesforce API limits to respect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connector shares your org's </a:t>
            </a:r>
            <a:r>
              <a:rPr sz="1250" b="1" i="0">
                <a:solidFill>
                  <a:srgbClr val="202020"/>
                </a:solidFill>
                <a:latin typeface="Calibri"/>
              </a:rPr>
              <a:t>daily API request allocation</a:t>
            </a:r>
            <a:r>
              <a:rPr sz="1250" b="0" i="0">
                <a:solidFill>
                  <a:srgbClr val="202020"/>
                </a:solidFill>
                <a:latin typeface="Calibri"/>
              </a:rPr>
              <a:t> with every other integration. A full crawl of a large org, plus the identity/sharing queries in §6, can make many thousands of SOQL calls. Keep </a:t>
            </a:r>
            <a:r>
              <a:rPr sz="1200" b="0" i="0">
                <a:solidFill>
                  <a:srgbClr val="202020"/>
                </a:solidFill>
                <a:latin typeface="Consolas"/>
              </a:rPr>
              <a:t>SALESFORCE_QUERY_LIMIT=0</a:t>
            </a:r>
            <a:r>
              <a:rPr sz="1250" b="0" i="0">
                <a:solidFill>
                  <a:srgbClr val="202020"/>
                </a:solidFill>
                <a:latin typeface="Calibri"/>
              </a:rPr>
              <a:t> (full pagination) in production; the small </a:t>
            </a:r>
            <a:r>
              <a:rPr sz="1200" b="0" i="0">
                <a:solidFill>
                  <a:srgbClr val="202020"/>
                </a:solidFill>
                <a:latin typeface="Consolas"/>
              </a:rPr>
              <a:t>LIMIT</a:t>
            </a:r>
            <a:r>
              <a:rPr sz="1250" b="0" i="0">
                <a:solidFill>
                  <a:srgbClr val="202020"/>
                </a:solidFill>
                <a:latin typeface="Calibri"/>
              </a:rPr>
              <a:t> is for debugging only. If the org is close to its API limit, coordinate crawl timing with the Salesforce administrator and prefer incremental crawls over frequent full crawls.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215</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4.5 Salesforce API limits to respect</a:t>
            </a:r>
          </a:p>
        </p:txBody>
      </p:sp>
      <p:sp>
        <p:nvSpPr>
          <p:cNvPr id="5" name="Rectangle 4"/>
          <p:cNvSpPr/>
          <p:nvPr/>
        </p:nvSpPr>
        <p:spPr>
          <a:xfrm>
            <a:off x="502920" y="1463040"/>
            <a:ext cx="11185855" cy="3291840"/>
          </a:xfrm>
          <a:prstGeom prst="rect">
            <a:avLst/>
          </a:prstGeom>
          <a:solidFill>
            <a:srgbClr val="F0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6A3D9A"/>
                </a:solidFill>
                <a:latin typeface="Calibri"/>
              </a:rPr>
              <a:t>Information to request:  </a:t>
            </a:r>
            <a:r>
              <a:rPr sz="1400" b="1" i="0">
                <a:solidFill>
                  <a:srgbClr val="202020"/>
                </a:solidFill>
                <a:latin typeface="Calibri"/>
              </a:rPr>
              <a:t>Information to request: </a:t>
            </a:r>
            <a:r>
              <a:rPr sz="1400" b="0" i="0">
                <a:solidFill>
                  <a:srgbClr val="202020"/>
                </a:solidFill>
                <a:latin typeface="Calibri"/>
              </a:rPr>
              <a:t>Ask the </a:t>
            </a:r>
            <a:r>
              <a:rPr sz="1400" b="1" i="0">
                <a:solidFill>
                  <a:srgbClr val="202020"/>
                </a:solidFill>
                <a:latin typeface="Calibri"/>
              </a:rPr>
              <a:t>Salesforce administrator</a:t>
            </a:r>
            <a:r>
              <a:rPr sz="1400" b="0" i="0">
                <a:solidFill>
                  <a:srgbClr val="202020"/>
                </a:solidFill>
                <a:latin typeface="Calibri"/>
              </a:rPr>
              <a:t> for, and record for your change ticket: </a:t>
            </a:r>
            <a:r>
              <a:rPr sz="1400" b="1" i="0">
                <a:solidFill>
                  <a:srgbClr val="202020"/>
                </a:solidFill>
                <a:latin typeface="Calibri"/>
              </a:rPr>
              <a:t>(1)</a:t>
            </a:r>
            <a:r>
              <a:rPr sz="1400" b="0" i="0">
                <a:solidFill>
                  <a:srgbClr val="202020"/>
                </a:solidFill>
                <a:latin typeface="Calibri"/>
              </a:rPr>
              <a:t> the org </a:t>
            </a:r>
            <a:r>
              <a:rPr sz="1400" b="1" i="0">
                <a:solidFill>
                  <a:srgbClr val="202020"/>
                </a:solidFill>
                <a:latin typeface="Calibri"/>
              </a:rPr>
              <a:t>instance URL</a:t>
            </a:r>
            <a:r>
              <a:rPr sz="1400" b="0" i="0">
                <a:solidFill>
                  <a:srgbClr val="202020"/>
                </a:solidFill>
                <a:latin typeface="Calibri"/>
              </a:rPr>
              <a:t> (My Domain); </a:t>
            </a:r>
            <a:r>
              <a:rPr sz="1400" b="1" i="0">
                <a:solidFill>
                  <a:srgbClr val="202020"/>
                </a:solidFill>
                <a:latin typeface="Calibri"/>
              </a:rPr>
              <a:t>(2)</a:t>
            </a:r>
            <a:r>
              <a:rPr sz="1400" b="0" i="0">
                <a:solidFill>
                  <a:srgbClr val="202020"/>
                </a:solidFill>
                <a:latin typeface="Calibri"/>
              </a:rPr>
              <a:t> a </a:t>
            </a:r>
            <a:r>
              <a:rPr sz="1400" b="1" i="0">
                <a:solidFill>
                  <a:srgbClr val="202020"/>
                </a:solidFill>
                <a:latin typeface="Calibri"/>
              </a:rPr>
              <a:t>Connected App</a:t>
            </a:r>
            <a:r>
              <a:rPr sz="1400" b="0" i="0">
                <a:solidFill>
                  <a:srgbClr val="202020"/>
                </a:solidFill>
                <a:latin typeface="Calibri"/>
              </a:rPr>
              <a:t> with the OAuth </a:t>
            </a:r>
            <a:r>
              <a:rPr sz="1400" b="1" i="0">
                <a:solidFill>
                  <a:srgbClr val="202020"/>
                </a:solidFill>
                <a:latin typeface="Calibri"/>
              </a:rPr>
              <a:t>client-credentials flow enabled</a:t>
            </a:r>
            <a:r>
              <a:rPr sz="1400" b="0" i="0">
                <a:solidFill>
                  <a:srgbClr val="202020"/>
                </a:solidFill>
                <a:latin typeface="Calibri"/>
              </a:rPr>
              <a:t> and its </a:t>
            </a:r>
            <a:r>
              <a:rPr sz="1400" b="1" i="0">
                <a:solidFill>
                  <a:srgbClr val="202020"/>
                </a:solidFill>
                <a:latin typeface="Calibri"/>
              </a:rPr>
              <a:t>consumer key</a:t>
            </a:r>
            <a:r>
              <a:rPr sz="1400" b="0" i="0">
                <a:solidFill>
                  <a:srgbClr val="202020"/>
                </a:solidFill>
                <a:latin typeface="Calibri"/>
              </a:rPr>
              <a:t> + </a:t>
            </a:r>
            <a:r>
              <a:rPr sz="1400" b="1" i="0">
                <a:solidFill>
                  <a:srgbClr val="202020"/>
                </a:solidFill>
                <a:latin typeface="Calibri"/>
              </a:rPr>
              <a:t>consumer secret</a:t>
            </a:r>
            <a:r>
              <a:rPr sz="1400" b="0" i="0">
                <a:solidFill>
                  <a:srgbClr val="202020"/>
                </a:solidFill>
                <a:latin typeface="Calibri"/>
              </a:rPr>
              <a:t>; </a:t>
            </a:r>
            <a:r>
              <a:rPr sz="1400" b="1" i="0">
                <a:solidFill>
                  <a:srgbClr val="202020"/>
                </a:solidFill>
                <a:latin typeface="Calibri"/>
              </a:rPr>
              <a:t>(3)</a:t>
            </a:r>
            <a:r>
              <a:rPr sz="1400" b="0" i="0">
                <a:solidFill>
                  <a:srgbClr val="202020"/>
                </a:solidFill>
                <a:latin typeface="Calibri"/>
              </a:rPr>
              <a:t> the dedicated </a:t>
            </a:r>
            <a:r>
              <a:rPr sz="1400" b="1" i="0">
                <a:solidFill>
                  <a:srgbClr val="202020"/>
                </a:solidFill>
                <a:latin typeface="Calibri"/>
              </a:rPr>
              <a:t>API-enabled, read-only integration user</a:t>
            </a:r>
            <a:r>
              <a:rPr sz="1400" b="0" i="0">
                <a:solidFill>
                  <a:srgbClr val="202020"/>
                </a:solidFill>
                <a:latin typeface="Calibri"/>
              </a:rPr>
              <a:t> the Connected App runs as, with read access to every object/field you intend to index; </a:t>
            </a:r>
            <a:r>
              <a:rPr sz="1400" b="1" i="0">
                <a:solidFill>
                  <a:srgbClr val="202020"/>
                </a:solidFill>
                <a:latin typeface="Calibri"/>
              </a:rPr>
              <a:t>(4)</a:t>
            </a:r>
            <a:r>
              <a:rPr sz="1400" b="0" i="0">
                <a:solidFill>
                  <a:srgbClr val="202020"/>
                </a:solidFill>
                <a:latin typeface="Calibri"/>
              </a:rPr>
              <a:t> the </a:t>
            </a:r>
            <a:r>
              <a:rPr sz="1400" b="1" i="0">
                <a:solidFill>
                  <a:srgbClr val="202020"/>
                </a:solidFill>
                <a:latin typeface="Calibri"/>
              </a:rPr>
              <a:t>API version</a:t>
            </a:r>
            <a:r>
              <a:rPr sz="1400" b="0" i="0">
                <a:solidFill>
                  <a:srgbClr val="202020"/>
                </a:solidFill>
                <a:latin typeface="Calibri"/>
              </a:rPr>
              <a:t> to target; </a:t>
            </a:r>
            <a:r>
              <a:rPr sz="1400" b="1" i="0">
                <a:solidFill>
                  <a:srgbClr val="202020"/>
                </a:solidFill>
                <a:latin typeface="Calibri"/>
              </a:rPr>
              <a:t>(5)</a:t>
            </a:r>
            <a:r>
              <a:rPr sz="1400" b="0" i="0">
                <a:solidFill>
                  <a:srgbClr val="202020"/>
                </a:solidFill>
                <a:latin typeface="Calibri"/>
              </a:rPr>
              <a:t> the confirmed </a:t>
            </a:r>
            <a:r>
              <a:rPr sz="1400" b="1" i="0">
                <a:solidFill>
                  <a:srgbClr val="202020"/>
                </a:solidFill>
                <a:latin typeface="Calibri"/>
              </a:rPr>
              <a:t>list of objects and fields</a:t>
            </a:r>
            <a:r>
              <a:rPr sz="1400" b="0" i="0">
                <a:solidFill>
                  <a:srgbClr val="202020"/>
                </a:solidFill>
                <a:latin typeface="Calibri"/>
              </a:rPr>
              <a:t> in scope (and whether any custom objects/fields are included); </a:t>
            </a:r>
            <a:r>
              <a:rPr sz="1400" b="1" i="0">
                <a:solidFill>
                  <a:srgbClr val="202020"/>
                </a:solidFill>
                <a:latin typeface="Calibri"/>
              </a:rPr>
              <a:t>(6)</a:t>
            </a:r>
            <a:r>
              <a:rPr sz="1400" b="0" i="0">
                <a:solidFill>
                  <a:srgbClr val="202020"/>
                </a:solidFill>
                <a:latin typeface="Calibri"/>
              </a:rPr>
              <a:t> confirmation of the org's remaining </a:t>
            </a:r>
            <a:r>
              <a:rPr sz="1400" b="1" i="0">
                <a:solidFill>
                  <a:srgbClr val="202020"/>
                </a:solidFill>
                <a:latin typeface="Calibri"/>
              </a:rPr>
              <a:t>daily API request</a:t>
            </a:r>
            <a:r>
              <a:rPr sz="1400" b="0" i="0">
                <a:solidFill>
                  <a:srgbClr val="202020"/>
                </a:solidFill>
                <a:latin typeface="Calibri"/>
              </a:rPr>
              <a:t> headroom.</a:t>
            </a:r>
          </a:p>
        </p:txBody>
      </p:sp>
      <p:sp>
        <p:nvSpPr>
          <p:cNvPr id="6" name="Rectangle 5"/>
          <p:cNvSpPr/>
          <p:nvPr/>
        </p:nvSpPr>
        <p:spPr>
          <a:xfrm>
            <a:off x="502920" y="1463040"/>
            <a:ext cx="128016" cy="3291840"/>
          </a:xfrm>
          <a:prstGeom prst="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216</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Salesforce Connector</a:t>
            </a:r>
          </a:p>
          <a:p>
            <a:r>
              <a:rPr sz="3000" b="1" i="0">
                <a:solidFill>
                  <a:srgbClr val="1F3864"/>
                </a:solidFill>
                <a:latin typeface="Calibri"/>
              </a:rPr>
              <a:t>5. How Salesforce data appears in the Copilot index</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217</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5.1 What becomes an external item</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Each Salesforce record becomes one Microsoft Graph </a:t>
            </a:r>
            <a:r>
              <a:rPr sz="1250" b="1" i="0">
                <a:solidFill>
                  <a:srgbClr val="202020"/>
                </a:solidFill>
                <a:latin typeface="Calibri"/>
              </a:rPr>
              <a:t>external item</a:t>
            </a:r>
            <a:r>
              <a:rPr sz="1250" b="0" i="0">
                <a:solidFill>
                  <a:srgbClr val="202020"/>
                </a:solidFill>
                <a:latin typeface="Calibri"/>
              </a:rPr>
              <a:t>. The external item's id is the Salesforce </a:t>
            </a:r>
            <a:r>
              <a:rPr sz="1250" b="1" i="0">
                <a:solidFill>
                  <a:srgbClr val="202020"/>
                </a:solidFill>
                <a:latin typeface="Calibri"/>
              </a:rPr>
              <a:t>record Id</a:t>
            </a:r>
            <a:r>
              <a:rPr sz="1250" b="0" i="0">
                <a:solidFill>
                  <a:srgbClr val="202020"/>
                </a:solidFill>
                <a:latin typeface="Calibri"/>
              </a:rPr>
              <a:t> (18-character), so items map one-to-one to records and updates/deletes always line up. Each item carries a </a:t>
            </a:r>
            <a:r>
              <a:rPr sz="1200" b="0" i="0">
                <a:solidFill>
                  <a:srgbClr val="202020"/>
                </a:solidFill>
                <a:latin typeface="Consolas"/>
              </a:rPr>
              <a:t>url</a:t>
            </a:r>
            <a:r>
              <a:rPr sz="1250" b="0" i="0">
                <a:solidFill>
                  <a:srgbClr val="202020"/>
                </a:solidFill>
                <a:latin typeface="Calibri"/>
              </a:rPr>
              <a:t> deep-link back to the record in Salesforce, an object-type label, a set of typed </a:t>
            </a:r>
            <a:r>
              <a:rPr sz="1250" b="1" i="0">
                <a:solidFill>
                  <a:srgbClr val="202020"/>
                </a:solidFill>
                <a:latin typeface="Calibri"/>
              </a:rPr>
              <a:t>properties</a:t>
            </a:r>
            <a:r>
              <a:rPr sz="1250" b="0" i="0">
                <a:solidFill>
                  <a:srgbClr val="202020"/>
                </a:solidFill>
                <a:latin typeface="Calibri"/>
              </a:rPr>
              <a:t>, a searchable </a:t>
            </a:r>
            <a:r>
              <a:rPr sz="1250" b="1" i="0">
                <a:solidFill>
                  <a:srgbClr val="202020"/>
                </a:solidFill>
                <a:latin typeface="Calibri"/>
              </a:rPr>
              <a:t>content</a:t>
            </a:r>
            <a:r>
              <a:rPr sz="1250" b="0" i="0">
                <a:solidFill>
                  <a:srgbClr val="202020"/>
                </a:solidFill>
                <a:latin typeface="Calibri"/>
              </a:rPr>
              <a:t> body, and an </a:t>
            </a:r>
            <a:r>
              <a:rPr sz="1250" b="1" i="0">
                <a:solidFill>
                  <a:srgbClr val="202020"/>
                </a:solidFill>
                <a:latin typeface="Calibri"/>
              </a:rPr>
              <a:t>ACL</a:t>
            </a:r>
            <a:r>
              <a:rPr sz="1250" b="0" i="0">
                <a:solidFill>
                  <a:srgbClr val="202020"/>
                </a:solidFill>
                <a:latin typeface="Calibri"/>
              </a:rPr>
              <a:t> (§5.3).</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218</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5.2 Field to property mapping</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mapping from Salesforce fields to Graph properties is defined in </a:t>
            </a:r>
            <a:r>
              <a:rPr sz="1200" b="0" i="0">
                <a:solidFill>
                  <a:srgbClr val="202020"/>
                </a:solidFill>
                <a:latin typeface="Consolas"/>
              </a:rPr>
              <a:t>config/schema.json</a:t>
            </a:r>
            <a:r>
              <a:rPr sz="1250" b="0" i="0">
                <a:solidFill>
                  <a:srgbClr val="202020"/>
                </a:solidFill>
                <a:latin typeface="Calibri"/>
              </a:rPr>
              <a:t> (source fields) and </a:t>
            </a:r>
            <a:r>
              <a:rPr sz="1200" b="0" i="0">
                <a:solidFill>
                  <a:srgbClr val="202020"/>
                </a:solidFill>
                <a:latin typeface="Consolas"/>
              </a:rPr>
              <a:t>config/graph-schema.json</a:t>
            </a:r>
            <a:r>
              <a:rPr sz="1250" b="0" i="0">
                <a:solidFill>
                  <a:srgbClr val="202020"/>
                </a:solidFill>
                <a:latin typeface="Calibri"/>
              </a:rPr>
              <a:t> (the property definitions registered with Graph). A representative sample: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219</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5.2 Field to property mapping</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2796463"/>
                <a:gridCol w="2796463"/>
                <a:gridCol w="2796463"/>
                <a:gridCol w="2796466"/>
              </a:tblGrid>
              <a:tr h="384048">
                <a:tc>
                  <a:txBody>
                    <a:bodyPr wrap="square"/>
                    <a:lstStyle/>
                    <a:p>
                      <a:r>
                        <a:rPr sz="1050" b="1" i="0">
                          <a:solidFill>
                            <a:srgbClr val="FFFFFF"/>
                          </a:solidFill>
                          <a:latin typeface="Calibri"/>
                        </a:rPr>
                        <a:t>Salesforce field</a:t>
                      </a:r>
                    </a:p>
                  </a:txBody>
                  <a:tcPr marT="25400" marB="25400">
                    <a:solidFill>
                      <a:srgbClr val="2E5496"/>
                    </a:solidFill>
                  </a:tcPr>
                </a:tc>
                <a:tc>
                  <a:txBody>
                    <a:bodyPr wrap="square"/>
                    <a:lstStyle/>
                    <a:p>
                      <a:r>
                        <a:rPr sz="1050" b="1" i="0">
                          <a:solidFill>
                            <a:srgbClr val="FFFFFF"/>
                          </a:solidFill>
                          <a:latin typeface="Calibri"/>
                        </a:rPr>
                        <a:t>Graph property</a:t>
                      </a:r>
                    </a:p>
                  </a:txBody>
                  <a:tcPr marT="25400" marB="25400">
                    <a:solidFill>
                      <a:srgbClr val="2E5496"/>
                    </a:solidFill>
                  </a:tcPr>
                </a:tc>
                <a:tc>
                  <a:txBody>
                    <a:bodyPr wrap="square"/>
                    <a:lstStyle/>
                    <a:p>
                      <a:r>
                        <a:rPr sz="1050" b="1" i="0">
                          <a:solidFill>
                            <a:srgbClr val="FFFFFF"/>
                          </a:solidFill>
                          <a:latin typeface="Calibri"/>
                        </a:rPr>
                        <a:t>Type</a:t>
                      </a:r>
                    </a:p>
                  </a:txBody>
                  <a:tcPr marT="25400" marB="25400">
                    <a:solidFill>
                      <a:srgbClr val="2E5496"/>
                    </a:solidFill>
                  </a:tcPr>
                </a:tc>
                <a:tc>
                  <a:txBody>
                    <a:bodyPr wrap="square"/>
                    <a:lstStyle/>
                    <a:p>
                      <a:r>
                        <a:rPr sz="1050" b="1" i="0">
                          <a:solidFill>
                            <a:srgbClr val="FFFFFF"/>
                          </a:solidFill>
                          <a:latin typeface="Calibri"/>
                        </a:rPr>
                        <a:t>Notes</a:t>
                      </a:r>
                    </a:p>
                  </a:txBody>
                  <a:tcPr marT="25400" marB="25400">
                    <a:solidFill>
                      <a:srgbClr val="2E5496"/>
                    </a:solidFill>
                  </a:tcPr>
                </a:tc>
              </a:tr>
              <a:tr h="384048">
                <a:tc>
                  <a:txBody>
                    <a:bodyPr wrap="square"/>
                    <a:lstStyle/>
                    <a:p>
                      <a:r>
                        <a:rPr sz="950" b="0" i="0">
                          <a:solidFill>
                            <a:srgbClr val="202020"/>
                          </a:solidFill>
                          <a:latin typeface="Calibri"/>
                        </a:rPr>
                        <a:t>Name / Subject</a:t>
                      </a:r>
                    </a:p>
                  </a:txBody>
                  <a:tcPr marT="12700" marB="12700">
                    <a:solidFill>
                      <a:srgbClr val="FFFFFF"/>
                    </a:solidFill>
                  </a:tcPr>
                </a:tc>
                <a:tc>
                  <a:txBody>
                    <a:bodyPr wrap="square"/>
                    <a:lstStyle/>
                    <a:p>
                      <a:r>
                        <a:rPr sz="950" b="0" i="0">
                          <a:solidFill>
                            <a:srgbClr val="202020"/>
                          </a:solidFill>
                          <a:latin typeface="Calibri"/>
                        </a:rPr>
                        <a:t>Name</a:t>
                      </a:r>
                    </a:p>
                  </a:txBody>
                  <a:tcPr marT="12700" marB="12700">
                    <a:solidFill>
                      <a:srgbClr val="FFFFFF"/>
                    </a:solidFill>
                  </a:tcPr>
                </a:tc>
                <a:tc>
                  <a:txBody>
                    <a:bodyPr wrap="square"/>
                    <a:lstStyle/>
                    <a:p>
                      <a:r>
                        <a:rPr sz="950" b="0" i="0">
                          <a:solidFill>
                            <a:srgbClr val="202020"/>
                          </a:solidFill>
                          <a:latin typeface="Calibri"/>
                        </a:rPr>
                        <a:t>String</a:t>
                      </a:r>
                    </a:p>
                  </a:txBody>
                  <a:tcPr marT="12700" marB="12700">
                    <a:solidFill>
                      <a:srgbClr val="FFFFFF"/>
                    </a:solidFill>
                  </a:tcPr>
                </a:tc>
                <a:tc>
                  <a:txBody>
                    <a:bodyPr wrap="square"/>
                    <a:lstStyle/>
                    <a:p>
                      <a:r>
                        <a:rPr sz="950" b="0" i="0">
                          <a:solidFill>
                            <a:srgbClr val="202020"/>
                          </a:solidFill>
                          <a:latin typeface="Calibri"/>
                        </a:rPr>
                        <a:t>Primary display title (title label).</a:t>
                      </a:r>
                    </a:p>
                  </a:txBody>
                  <a:tcPr marT="12700" marB="12700">
                    <a:solidFill>
                      <a:srgbClr val="FFFFFF"/>
                    </a:solidFill>
                  </a:tcPr>
                </a:tc>
              </a:tr>
              <a:tr h="384048">
                <a:tc>
                  <a:txBody>
                    <a:bodyPr wrap="square"/>
                    <a:lstStyle/>
                    <a:p>
                      <a:r>
                        <a:rPr sz="950" b="0" i="0">
                          <a:solidFill>
                            <a:srgbClr val="202020"/>
                          </a:solidFill>
                          <a:latin typeface="Calibri"/>
                        </a:rPr>
                        <a:t>Description</a:t>
                      </a:r>
                    </a:p>
                  </a:txBody>
                  <a:tcPr marT="12700" marB="12700">
                    <a:solidFill>
                      <a:srgbClr val="F7F9FC"/>
                    </a:solidFill>
                  </a:tcPr>
                </a:tc>
                <a:tc>
                  <a:txBody>
                    <a:bodyPr wrap="square"/>
                    <a:lstStyle/>
                    <a:p>
                      <a:r>
                        <a:rPr sz="950" b="0" i="0">
                          <a:solidFill>
                            <a:srgbClr val="202020"/>
                          </a:solidFill>
                          <a:latin typeface="Calibri"/>
                        </a:rPr>
                        <a:t>(content body)</a:t>
                      </a:r>
                    </a:p>
                  </a:txBody>
                  <a:tcPr marT="12700" marB="12700">
                    <a:solidFill>
                      <a:srgbClr val="F7F9FC"/>
                    </a:solidFill>
                  </a:tcPr>
                </a:tc>
                <a:tc>
                  <a:txBody>
                    <a:bodyPr wrap="square"/>
                    <a:lstStyle/>
                    <a:p>
                      <a:r>
                        <a:rPr sz="950" b="0" i="0">
                          <a:solidFill>
                            <a:srgbClr val="202020"/>
                          </a:solidFill>
                          <a:latin typeface="Calibri"/>
                        </a:rPr>
                        <a:t>String</a:t>
                      </a:r>
                    </a:p>
                  </a:txBody>
                  <a:tcPr marT="12700" marB="12700">
                    <a:solidFill>
                      <a:srgbClr val="F7F9FC"/>
                    </a:solidFill>
                  </a:tcPr>
                </a:tc>
                <a:tc>
                  <a:txBody>
                    <a:bodyPr wrap="square"/>
                    <a:lstStyle/>
                    <a:p>
                      <a:r>
                        <a:rPr sz="950" b="0" i="0">
                          <a:solidFill>
                            <a:srgbClr val="202020"/>
                          </a:solidFill>
                          <a:latin typeface="Calibri"/>
                        </a:rPr>
                        <a:t>Main full-text body for search.</a:t>
                      </a:r>
                    </a:p>
                  </a:txBody>
                  <a:tcPr marT="12700" marB="12700">
                    <a:solidFill>
                      <a:srgbClr val="F7F9FC"/>
                    </a:solidFill>
                  </a:tcPr>
                </a:tc>
              </a:tr>
              <a:tr h="384048">
                <a:tc>
                  <a:txBody>
                    <a:bodyPr wrap="square"/>
                    <a:lstStyle/>
                    <a:p>
                      <a:r>
                        <a:rPr sz="950" b="0" i="0">
                          <a:solidFill>
                            <a:srgbClr val="202020"/>
                          </a:solidFill>
                          <a:latin typeface="Calibri"/>
                        </a:rPr>
                        <a:t>Account.Name</a:t>
                      </a:r>
                    </a:p>
                  </a:txBody>
                  <a:tcPr marT="12700" marB="12700">
                    <a:solidFill>
                      <a:srgbClr val="FFFFFF"/>
                    </a:solidFill>
                  </a:tcPr>
                </a:tc>
                <a:tc>
                  <a:txBody>
                    <a:bodyPr wrap="square"/>
                    <a:lstStyle/>
                    <a:p>
                      <a:r>
                        <a:rPr sz="950" b="0" i="0">
                          <a:solidFill>
                            <a:srgbClr val="202020"/>
                          </a:solidFill>
                          <a:latin typeface="Calibri"/>
                        </a:rPr>
                        <a:t>AccountName</a:t>
                      </a:r>
                    </a:p>
                  </a:txBody>
                  <a:tcPr marT="12700" marB="12700">
                    <a:solidFill>
                      <a:srgbClr val="FFFFFF"/>
                    </a:solidFill>
                  </a:tcPr>
                </a:tc>
                <a:tc>
                  <a:txBody>
                    <a:bodyPr wrap="square"/>
                    <a:lstStyle/>
                    <a:p>
                      <a:r>
                        <a:rPr sz="950" b="0" i="0">
                          <a:solidFill>
                            <a:srgbClr val="202020"/>
                          </a:solidFill>
                          <a:latin typeface="Calibri"/>
                        </a:rPr>
                        <a:t>String</a:t>
                      </a:r>
                    </a:p>
                  </a:txBody>
                  <a:tcPr marT="12700" marB="12700">
                    <a:solidFill>
                      <a:srgbClr val="FFFFFF"/>
                    </a:solidFill>
                  </a:tcPr>
                </a:tc>
                <a:tc>
                  <a:txBody>
                    <a:bodyPr wrap="square"/>
                    <a:lstStyle/>
                    <a:p>
                      <a:r>
                        <a:rPr sz="950" b="0" i="0">
                          <a:solidFill>
                            <a:srgbClr val="202020"/>
                          </a:solidFill>
                          <a:latin typeface="Calibri"/>
                        </a:rPr>
                        <a:t>Related account name (denormalised).</a:t>
                      </a:r>
                    </a:p>
                  </a:txBody>
                  <a:tcPr marT="12700" marB="12700">
                    <a:solidFill>
                      <a:srgbClr val="FFFFFF"/>
                    </a:solidFill>
                  </a:tcPr>
                </a:tc>
              </a:tr>
              <a:tr h="384048">
                <a:tc>
                  <a:txBody>
                    <a:bodyPr wrap="square"/>
                    <a:lstStyle/>
                    <a:p>
                      <a:r>
                        <a:rPr sz="950" b="0" i="0">
                          <a:solidFill>
                            <a:srgbClr val="202020"/>
                          </a:solidFill>
                          <a:latin typeface="Calibri"/>
                        </a:rPr>
                        <a:t>Amount</a:t>
                      </a:r>
                    </a:p>
                  </a:txBody>
                  <a:tcPr marT="12700" marB="12700">
                    <a:solidFill>
                      <a:srgbClr val="F7F9FC"/>
                    </a:solidFill>
                  </a:tcPr>
                </a:tc>
                <a:tc>
                  <a:txBody>
                    <a:bodyPr wrap="square"/>
                    <a:lstStyle/>
                    <a:p>
                      <a:r>
                        <a:rPr sz="950" b="0" i="0">
                          <a:solidFill>
                            <a:srgbClr val="202020"/>
                          </a:solidFill>
                          <a:latin typeface="Calibri"/>
                        </a:rPr>
                        <a:t>Amount</a:t>
                      </a:r>
                    </a:p>
                  </a:txBody>
                  <a:tcPr marT="12700" marB="12700">
                    <a:solidFill>
                      <a:srgbClr val="F7F9FC"/>
                    </a:solidFill>
                  </a:tcPr>
                </a:tc>
                <a:tc>
                  <a:txBody>
                    <a:bodyPr wrap="square"/>
                    <a:lstStyle/>
                    <a:p>
                      <a:r>
                        <a:rPr sz="950" b="0" i="0">
                          <a:solidFill>
                            <a:srgbClr val="202020"/>
                          </a:solidFill>
                          <a:latin typeface="Calibri"/>
                        </a:rPr>
                        <a:t>Int64</a:t>
                      </a:r>
                    </a:p>
                  </a:txBody>
                  <a:tcPr marT="12700" marB="12700">
                    <a:solidFill>
                      <a:srgbClr val="F7F9FC"/>
                    </a:solidFill>
                  </a:tcPr>
                </a:tc>
                <a:tc>
                  <a:txBody>
                    <a:bodyPr wrap="square"/>
                    <a:lstStyle/>
                    <a:p>
                      <a:r>
                        <a:rPr sz="950" b="0" i="0">
                          <a:solidFill>
                            <a:srgbClr val="202020"/>
                          </a:solidFill>
                          <a:latin typeface="Calibri"/>
                        </a:rPr>
                        <a:t>Opportunity deal value (org base currency).</a:t>
                      </a:r>
                    </a:p>
                  </a:txBody>
                  <a:tcPr marT="12700" marB="12700">
                    <a:solidFill>
                      <a:srgbClr val="F7F9FC"/>
                    </a:solidFill>
                  </a:tcPr>
                </a:tc>
              </a:tr>
              <a:tr h="384048">
                <a:tc>
                  <a:txBody>
                    <a:bodyPr wrap="square"/>
                    <a:lstStyle/>
                    <a:p>
                      <a:r>
                        <a:rPr sz="950" b="0" i="0">
                          <a:solidFill>
                            <a:srgbClr val="202020"/>
                          </a:solidFill>
                          <a:latin typeface="Calibri"/>
                        </a:rPr>
                        <a:t>StageName</a:t>
                      </a:r>
                    </a:p>
                  </a:txBody>
                  <a:tcPr marT="12700" marB="12700">
                    <a:solidFill>
                      <a:srgbClr val="FFFFFF"/>
                    </a:solidFill>
                  </a:tcPr>
                </a:tc>
                <a:tc>
                  <a:txBody>
                    <a:bodyPr wrap="square"/>
                    <a:lstStyle/>
                    <a:p>
                      <a:r>
                        <a:rPr sz="950" b="0" i="0">
                          <a:solidFill>
                            <a:srgbClr val="202020"/>
                          </a:solidFill>
                          <a:latin typeface="Calibri"/>
                        </a:rPr>
                        <a:t>Status / Stage</a:t>
                      </a:r>
                    </a:p>
                  </a:txBody>
                  <a:tcPr marT="12700" marB="12700">
                    <a:solidFill>
                      <a:srgbClr val="FFFFFF"/>
                    </a:solidFill>
                  </a:tcPr>
                </a:tc>
                <a:tc>
                  <a:txBody>
                    <a:bodyPr wrap="square"/>
                    <a:lstStyle/>
                    <a:p>
                      <a:r>
                        <a:rPr sz="950" b="0" i="0">
                          <a:solidFill>
                            <a:srgbClr val="202020"/>
                          </a:solidFill>
                          <a:latin typeface="Calibri"/>
                        </a:rPr>
                        <a:t>String</a:t>
                      </a:r>
                    </a:p>
                  </a:txBody>
                  <a:tcPr marT="12700" marB="12700">
                    <a:solidFill>
                      <a:srgbClr val="FFFFFF"/>
                    </a:solidFill>
                  </a:tcPr>
                </a:tc>
                <a:tc>
                  <a:txBody>
                    <a:bodyPr wrap="square"/>
                    <a:lstStyle/>
                    <a:p>
                      <a:r>
                        <a:rPr sz="950" b="0" i="0">
                          <a:solidFill>
                            <a:srgbClr val="202020"/>
                          </a:solidFill>
                          <a:latin typeface="Calibri"/>
                        </a:rPr>
                        <a:t>Opportunity pipeline stage.</a:t>
                      </a:r>
                    </a:p>
                  </a:txBody>
                  <a:tcPr marT="12700" marB="12700">
                    <a:solidFill>
                      <a:srgbClr val="FFFFFF"/>
                    </a:solidFill>
                  </a:tcPr>
                </a:tc>
              </a:tr>
              <a:tr h="384048">
                <a:tc>
                  <a:txBody>
                    <a:bodyPr wrap="square"/>
                    <a:lstStyle/>
                    <a:p>
                      <a:r>
                        <a:rPr sz="950" b="0" i="0">
                          <a:solidFill>
                            <a:srgbClr val="202020"/>
                          </a:solidFill>
                          <a:latin typeface="Calibri"/>
                        </a:rPr>
                        <a:t>Priority</a:t>
                      </a:r>
                    </a:p>
                  </a:txBody>
                  <a:tcPr marT="12700" marB="12700">
                    <a:solidFill>
                      <a:srgbClr val="F7F9FC"/>
                    </a:solidFill>
                  </a:tcPr>
                </a:tc>
                <a:tc>
                  <a:txBody>
                    <a:bodyPr wrap="square"/>
                    <a:lstStyle/>
                    <a:p>
                      <a:r>
                        <a:rPr sz="950" b="0" i="0">
                          <a:solidFill>
                            <a:srgbClr val="202020"/>
                          </a:solidFill>
                          <a:latin typeface="Calibri"/>
                        </a:rPr>
                        <a:t>Priority</a:t>
                      </a:r>
                    </a:p>
                  </a:txBody>
                  <a:tcPr marT="12700" marB="12700">
                    <a:solidFill>
                      <a:srgbClr val="F7F9FC"/>
                    </a:solidFill>
                  </a:tcPr>
                </a:tc>
                <a:tc>
                  <a:txBody>
                    <a:bodyPr wrap="square"/>
                    <a:lstStyle/>
                    <a:p>
                      <a:r>
                        <a:rPr sz="950" b="0" i="0">
                          <a:solidFill>
                            <a:srgbClr val="202020"/>
                          </a:solidFill>
                          <a:latin typeface="Calibri"/>
                        </a:rPr>
                        <a:t>String</a:t>
                      </a:r>
                    </a:p>
                  </a:txBody>
                  <a:tcPr marT="12700" marB="12700">
                    <a:solidFill>
                      <a:srgbClr val="F7F9FC"/>
                    </a:solidFill>
                  </a:tcPr>
                </a:tc>
                <a:tc>
                  <a:txBody>
                    <a:bodyPr wrap="square"/>
                    <a:lstStyle/>
                    <a:p>
                      <a:r>
                        <a:rPr sz="950" b="0" i="0">
                          <a:solidFill>
                            <a:srgbClr val="202020"/>
                          </a:solidFill>
                          <a:latin typeface="Calibri"/>
                        </a:rPr>
                        <a:t>Case priority (priority label).</a:t>
                      </a:r>
                    </a:p>
                  </a:txBody>
                  <a:tcPr marT="12700" marB="12700">
                    <a:solidFill>
                      <a:srgbClr val="F7F9FC"/>
                    </a:solidFill>
                  </a:tcPr>
                </a:tc>
              </a:tr>
              <a:tr h="384048">
                <a:tc>
                  <a:txBody>
                    <a:bodyPr wrap="square"/>
                    <a:lstStyle/>
                    <a:p>
                      <a:r>
                        <a:rPr sz="950" b="0" i="0">
                          <a:solidFill>
                            <a:srgbClr val="202020"/>
                          </a:solidFill>
                          <a:latin typeface="Calibri"/>
                        </a:rPr>
                        <a:t>CaseNumber / AccountNumber</a:t>
                      </a:r>
                    </a:p>
                  </a:txBody>
                  <a:tcPr marT="12700" marB="12700">
                    <a:solidFill>
                      <a:srgbClr val="FFFFFF"/>
                    </a:solidFill>
                  </a:tcPr>
                </a:tc>
                <a:tc>
                  <a:txBody>
                    <a:bodyPr wrap="square"/>
                    <a:lstStyle/>
                    <a:p>
                      <a:r>
                        <a:rPr sz="950" b="0" i="0">
                          <a:solidFill>
                            <a:srgbClr val="202020"/>
                          </a:solidFill>
                          <a:latin typeface="Calibri"/>
                        </a:rPr>
                        <a:t>Number</a:t>
                      </a:r>
                    </a:p>
                  </a:txBody>
                  <a:tcPr marT="12700" marB="12700">
                    <a:solidFill>
                      <a:srgbClr val="FFFFFF"/>
                    </a:solidFill>
                  </a:tcPr>
                </a:tc>
                <a:tc>
                  <a:txBody>
                    <a:bodyPr wrap="square"/>
                    <a:lstStyle/>
                    <a:p>
                      <a:r>
                        <a:rPr sz="950" b="0" i="0">
                          <a:solidFill>
                            <a:srgbClr val="202020"/>
                          </a:solidFill>
                          <a:latin typeface="Calibri"/>
                        </a:rPr>
                        <a:t>String</a:t>
                      </a:r>
                    </a:p>
                  </a:txBody>
                  <a:tcPr marT="12700" marB="12700">
                    <a:solidFill>
                      <a:srgbClr val="FFFFFF"/>
                    </a:solidFill>
                  </a:tcPr>
                </a:tc>
                <a:tc>
                  <a:txBody>
                    <a:bodyPr wrap="square"/>
                    <a:lstStyle/>
                    <a:p>
                      <a:r>
                        <a:rPr sz="950" b="0" i="0">
                          <a:solidFill>
                            <a:srgbClr val="202020"/>
                          </a:solidFill>
                          <a:latin typeface="Calibri"/>
                        </a:rPr>
                        <a:t>Human-facing secondary id.</a:t>
                      </a:r>
                    </a:p>
                  </a:txBody>
                  <a:tcPr marT="12700" marB="12700">
                    <a:solidFill>
                      <a:srgbClr val="FFFFFF"/>
                    </a:solidFill>
                  </a:tcPr>
                </a:tc>
              </a:tr>
              <a:tr h="384048">
                <a:tc>
                  <a:txBody>
                    <a:bodyPr wrap="square"/>
                    <a:lstStyle/>
                    <a:p>
                      <a:r>
                        <a:rPr sz="950" b="0" i="0">
                          <a:solidFill>
                            <a:srgbClr val="202020"/>
                          </a:solidFill>
                          <a:latin typeface="Calibri"/>
                        </a:rPr>
                        <a:t>BillingAddress / MailingAddress</a:t>
                      </a:r>
                    </a:p>
                  </a:txBody>
                  <a:tcPr marT="12700" marB="12700">
                    <a:solidFill>
                      <a:srgbClr val="F7F9FC"/>
                    </a:solidFill>
                  </a:tcPr>
                </a:tc>
                <a:tc>
                  <a:txBody>
                    <a:bodyPr wrap="square"/>
                    <a:lstStyle/>
                    <a:p>
                      <a:r>
                        <a:rPr sz="950" b="0" i="0">
                          <a:solidFill>
                            <a:srgbClr val="202020"/>
                          </a:solidFill>
                          <a:latin typeface="Calibri"/>
                        </a:rPr>
                        <a:t>Address</a:t>
                      </a:r>
                    </a:p>
                  </a:txBody>
                  <a:tcPr marT="12700" marB="12700">
                    <a:solidFill>
                      <a:srgbClr val="F7F9FC"/>
                    </a:solidFill>
                  </a:tcPr>
                </a:tc>
                <a:tc>
                  <a:txBody>
                    <a:bodyPr wrap="square"/>
                    <a:lstStyle/>
                    <a:p>
                      <a:r>
                        <a:rPr sz="950" b="0" i="0">
                          <a:solidFill>
                            <a:srgbClr val="202020"/>
                          </a:solidFill>
                          <a:latin typeface="Calibri"/>
                        </a:rPr>
                        <a:t>String</a:t>
                      </a:r>
                    </a:p>
                  </a:txBody>
                  <a:tcPr marT="12700" marB="12700">
                    <a:solidFill>
                      <a:srgbClr val="F7F9FC"/>
                    </a:solidFill>
                  </a:tcPr>
                </a:tc>
                <a:tc>
                  <a:txBody>
                    <a:bodyPr wrap="square"/>
                    <a:lstStyle/>
                    <a:p>
                      <a:r>
                        <a:rPr sz="950" b="0" i="0">
                          <a:solidFill>
                            <a:srgbClr val="202020"/>
                          </a:solidFill>
                          <a:latin typeface="Calibri"/>
                        </a:rPr>
                        <a:t>Compound address serialised to one string.</a:t>
                      </a:r>
                    </a:p>
                  </a:txBody>
                  <a:tcPr marT="12700" marB="12700">
                    <a:solidFill>
                      <a:srgbClr val="F7F9FC"/>
                    </a:solidFill>
                  </a:tcPr>
                </a:tc>
              </a:tr>
              <a:tr h="384048">
                <a:tc>
                  <a:txBody>
                    <a:bodyPr wrap="square"/>
                    <a:lstStyle/>
                    <a:p>
                      <a:r>
                        <a:rPr sz="950" b="0" i="0">
                          <a:solidFill>
                            <a:srgbClr val="202020"/>
                          </a:solidFill>
                          <a:latin typeface="Calibri"/>
                        </a:rPr>
                        <a:t>OwnerId / Owner.Name</a:t>
                      </a:r>
                    </a:p>
                  </a:txBody>
                  <a:tcPr marT="12700" marB="12700">
                    <a:solidFill>
                      <a:srgbClr val="FFFFFF"/>
                    </a:solidFill>
                  </a:tcPr>
                </a:tc>
                <a:tc>
                  <a:txBody>
                    <a:bodyPr wrap="square"/>
                    <a:lstStyle/>
                    <a:p>
                      <a:r>
                        <a:rPr sz="950" b="0" i="0">
                          <a:solidFill>
                            <a:srgbClr val="202020"/>
                          </a:solidFill>
                          <a:latin typeface="Calibri"/>
                        </a:rPr>
                        <a:t>OwnerUrl / Owner</a:t>
                      </a:r>
                    </a:p>
                  </a:txBody>
                  <a:tcPr marT="12700" marB="12700">
                    <a:solidFill>
                      <a:srgbClr val="FFFFFF"/>
                    </a:solidFill>
                  </a:tcPr>
                </a:tc>
                <a:tc>
                  <a:txBody>
                    <a:bodyPr wrap="square"/>
                    <a:lstStyle/>
                    <a:p>
                      <a:r>
                        <a:rPr sz="950" b="0" i="0">
                          <a:solidFill>
                            <a:srgbClr val="202020"/>
                          </a:solidFill>
                          <a:latin typeface="Calibri"/>
                        </a:rPr>
                        <a:t>String / Principal</a:t>
                      </a:r>
                    </a:p>
                  </a:txBody>
                  <a:tcPr marT="12700" marB="12700">
                    <a:solidFill>
                      <a:srgbClr val="FFFFFF"/>
                    </a:solidFill>
                  </a:tcPr>
                </a:tc>
                <a:tc>
                  <a:txBody>
                    <a:bodyPr wrap="square"/>
                    <a:lstStyle/>
                    <a:p>
                      <a:r>
                        <a:rPr sz="950" b="0" i="0">
                          <a:solidFill>
                            <a:srgbClr val="202020"/>
                          </a:solidFill>
                          <a:latin typeface="Calibri"/>
                        </a:rPr>
                        <a:t>Record owner (assignedToPeople).</a:t>
                      </a:r>
                    </a:p>
                  </a:txBody>
                  <a:tcPr marT="12700" marB="12700">
                    <a:solidFill>
                      <a:srgbClr val="FFFFFF"/>
                    </a:solidFill>
                  </a:tcPr>
                </a:tc>
              </a:tr>
              <a:tr h="384048">
                <a:tc>
                  <a:txBody>
                    <a:bodyPr wrap="square"/>
                    <a:lstStyle/>
                    <a:p>
                      <a:r>
                        <a:rPr sz="950" b="0" i="0">
                          <a:solidFill>
                            <a:srgbClr val="202020"/>
                          </a:solidFill>
                          <a:latin typeface="Calibri"/>
                        </a:rPr>
                        <a:t>CreatedBy.Name / LastModifiedDate</a:t>
                      </a:r>
                    </a:p>
                  </a:txBody>
                  <a:tcPr marT="12700" marB="12700">
                    <a:solidFill>
                      <a:srgbClr val="F7F9FC"/>
                    </a:solidFill>
                  </a:tcPr>
                </a:tc>
                <a:tc>
                  <a:txBody>
                    <a:bodyPr wrap="square"/>
                    <a:lstStyle/>
                    <a:p>
                      <a:r>
                        <a:rPr sz="950" b="0" i="0">
                          <a:solidFill>
                            <a:srgbClr val="202020"/>
                          </a:solidFill>
                          <a:latin typeface="Calibri"/>
                        </a:rPr>
                        <a:t>CreatedBy / LastModifiedDate</a:t>
                      </a:r>
                    </a:p>
                  </a:txBody>
                  <a:tcPr marT="12700" marB="12700">
                    <a:solidFill>
                      <a:srgbClr val="F7F9FC"/>
                    </a:solidFill>
                  </a:tcPr>
                </a:tc>
                <a:tc>
                  <a:txBody>
                    <a:bodyPr wrap="square"/>
                    <a:lstStyle/>
                    <a:p>
                      <a:r>
                        <a:rPr sz="950" b="0" i="0">
                          <a:solidFill>
                            <a:srgbClr val="202020"/>
                          </a:solidFill>
                          <a:latin typeface="Calibri"/>
                        </a:rPr>
                        <a:t>Principal / DateTime</a:t>
                      </a:r>
                    </a:p>
                  </a:txBody>
                  <a:tcPr marT="12700" marB="12700">
                    <a:solidFill>
                      <a:srgbClr val="F7F9FC"/>
                    </a:solidFill>
                  </a:tcPr>
                </a:tc>
                <a:tc>
                  <a:txBody>
                    <a:bodyPr wrap="square"/>
                    <a:lstStyle/>
                    <a:p>
                      <a:r>
                        <a:rPr sz="950" b="0" i="0">
                          <a:solidFill>
                            <a:srgbClr val="202020"/>
                          </a:solidFill>
                          <a:latin typeface="Calibri"/>
                        </a:rPr>
                        <a:t>Audit metadata for date/people queries.</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220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5.2 Field to property mapping</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Some source fields are prefixed </a:t>
            </a:r>
            <a:r>
              <a:rPr sz="1200" b="0" i="0">
                <a:solidFill>
                  <a:srgbClr val="202020"/>
                </a:solidFill>
                <a:latin typeface="Consolas"/>
              </a:rPr>
              <a:t>_sf_</a:t>
            </a:r>
            <a:r>
              <a:rPr sz="1250" b="0" i="0">
                <a:solidFill>
                  <a:srgbClr val="202020"/>
                </a:solidFill>
                <a:latin typeface="Calibri"/>
              </a:rPr>
              <a:t> in the schema (for example </a:t>
            </a:r>
            <a:r>
              <a:rPr sz="1200" b="0" i="0">
                <a:solidFill>
                  <a:srgbClr val="202020"/>
                </a:solidFill>
                <a:latin typeface="Consolas"/>
              </a:rPr>
              <a:t>_sf_BillingAddress</a:t>
            </a:r>
            <a:r>
              <a:rPr sz="1250" b="0" i="0">
                <a:solidFill>
                  <a:srgbClr val="202020"/>
                </a:solidFill>
                <a:latin typeface="Calibri"/>
              </a:rPr>
              <a:t>, </a:t>
            </a:r>
            <a:r>
              <a:rPr sz="1200" b="0" i="0">
                <a:solidFill>
                  <a:srgbClr val="202020"/>
                </a:solidFill>
                <a:latin typeface="Consolas"/>
              </a:rPr>
              <a:t>_sf_StageName</a:t>
            </a:r>
            <a:r>
              <a:rPr sz="1250" b="0" i="0">
                <a:solidFill>
                  <a:srgbClr val="202020"/>
                </a:solidFill>
                <a:latin typeface="Calibri"/>
              </a:rPr>
              <a:t>, </a:t>
            </a:r>
            <a:r>
              <a:rPr sz="1200" b="0" i="0">
                <a:solidFill>
                  <a:srgbClr val="202020"/>
                </a:solidFill>
                <a:latin typeface="Consolas"/>
              </a:rPr>
              <a:t>_sf_CaseNumber</a:t>
            </a:r>
            <a:r>
              <a:rPr sz="1250" b="0" i="0">
                <a:solidFill>
                  <a:srgbClr val="202020"/>
                </a:solidFill>
                <a:latin typeface="Calibri"/>
              </a:rPr>
              <a:t>). These are queried from Salesforce but not published directly; the converter reads them to build </a:t>
            </a:r>
            <a:r>
              <a:rPr sz="1250" b="1" i="0">
                <a:solidFill>
                  <a:srgbClr val="202020"/>
                </a:solidFill>
                <a:latin typeface="Calibri"/>
              </a:rPr>
              <a:t>computed</a:t>
            </a:r>
            <a:r>
              <a:rPr sz="1250" b="0" i="0">
                <a:solidFill>
                  <a:srgbClr val="202020"/>
                </a:solidFill>
                <a:latin typeface="Calibri"/>
              </a:rPr>
              <a:t> properties — a single JSON </a:t>
            </a:r>
            <a:r>
              <a:rPr sz="1250" b="1" i="0">
                <a:solidFill>
                  <a:srgbClr val="202020"/>
                </a:solidFill>
                <a:latin typeface="Calibri"/>
              </a:rPr>
              <a:t>Address</a:t>
            </a:r>
            <a:r>
              <a:rPr sz="1250" b="0" i="0">
                <a:solidFill>
                  <a:srgbClr val="202020"/>
                </a:solidFill>
                <a:latin typeface="Calibri"/>
              </a:rPr>
              <a:t>, a consolidated </a:t>
            </a:r>
            <a:r>
              <a:rPr sz="1250" b="1" i="0">
                <a:solidFill>
                  <a:srgbClr val="202020"/>
                </a:solidFill>
                <a:latin typeface="Calibri"/>
              </a:rPr>
              <a:t>ContactDetails</a:t>
            </a:r>
            <a:r>
              <a:rPr sz="1250" b="0" i="0">
                <a:solidFill>
                  <a:srgbClr val="202020"/>
                </a:solidFill>
                <a:latin typeface="Calibri"/>
              </a:rPr>
              <a:t>, and unified </a:t>
            </a:r>
            <a:r>
              <a:rPr sz="1250" b="1" i="0">
                <a:solidFill>
                  <a:srgbClr val="202020"/>
                </a:solidFill>
                <a:latin typeface="Calibri"/>
              </a:rPr>
              <a:t>Status / Number / IsClosed / ClosedDate / Source</a:t>
            </a:r>
            <a:r>
              <a:rPr sz="1250" b="0" i="0">
                <a:solidFill>
                  <a:srgbClr val="202020"/>
                </a:solidFill>
                <a:latin typeface="Calibri"/>
              </a:rPr>
              <a:t> properties that behave consistently across object types. Any field not mapped to a property is appended to the item's text </a:t>
            </a:r>
            <a:r>
              <a:rPr sz="1250" b="1" i="0">
                <a:solidFill>
                  <a:srgbClr val="202020"/>
                </a:solidFill>
                <a:latin typeface="Calibri"/>
              </a:rPr>
              <a:t>content</a:t>
            </a:r>
            <a:r>
              <a:rPr sz="1250" b="0" i="0">
                <a:solidFill>
                  <a:srgbClr val="202020"/>
                </a:solidFill>
                <a:latin typeface="Calibri"/>
              </a:rPr>
              <a:t> so it is still discoverable by keyword search.</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221</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5.3 How the sharing model becomes the item ACL — the most important part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This is where the connector earns its keep. Before writing each item, the connector translates Salesforce's record-level sharing into a Graph </a:t>
            </a:r>
            <a:r>
              <a:rPr sz="1250" b="1" i="0">
                <a:solidFill>
                  <a:srgbClr val="202020"/>
                </a:solidFill>
                <a:latin typeface="Calibri"/>
              </a:rPr>
              <a:t>ACL</a:t>
            </a:r>
            <a:r>
              <a:rPr sz="1250" b="0" i="0">
                <a:solidFill>
                  <a:srgbClr val="202020"/>
                </a:solidFill>
                <a:latin typeface="Calibri"/>
              </a:rPr>
              <a:t> — a list of grant/deny entries naming the Microsoft Entra users allowed to see that item. Copilot then performs </a:t>
            </a:r>
            <a:r>
              <a:rPr sz="1250" b="1" i="0">
                <a:solidFill>
                  <a:srgbClr val="202020"/>
                </a:solidFill>
                <a:latin typeface="Calibri"/>
              </a:rPr>
              <a:t>access trimming</a:t>
            </a:r>
            <a:r>
              <a:rPr sz="1250" b="0" i="0">
                <a:solidFill>
                  <a:srgbClr val="202020"/>
                </a:solidFill>
                <a:latin typeface="Calibri"/>
              </a:rPr>
              <a:t>: at query time it only surfaces an item to a user who is on that item's ACL. The net effect is that Copilot trims access </a:t>
            </a:r>
            <a:r>
              <a:rPr sz="1250" b="1" i="0">
                <a:solidFill>
                  <a:srgbClr val="202020"/>
                </a:solidFill>
                <a:latin typeface="Calibri"/>
              </a:rPr>
              <a:t>the same way Salesforce does</a:t>
            </a:r>
            <a:r>
              <a:rPr sz="1250" b="0" i="0">
                <a:solidFill>
                  <a:srgbClr val="202020"/>
                </a:solidFill>
                <a:latin typeface="Calibri"/>
              </a:rPr>
              <a:t>.</a:t>
            </a:r>
          </a:p>
          <a:p>
            <a:pPr>
              <a:spcBef>
                <a:spcPts val="100"/>
              </a:spcBef>
              <a:spcAft>
                <a:spcPts val="400"/>
              </a:spcAft>
            </a:pPr>
            <a:r>
              <a:rPr sz="1250" b="0" i="0">
                <a:solidFill>
                  <a:srgbClr val="202020"/>
                </a:solidFill>
                <a:latin typeface="Calibri"/>
              </a:rPr>
              <a:t>The engine evaluates, per object and per record:</a:t>
            </a:r>
          </a:p>
          <a:p>
            <a:pPr>
              <a:spcBef>
                <a:spcPts val="100"/>
              </a:spcBef>
              <a:spcAft>
                <a:spcPts val="200"/>
              </a:spcAft>
            </a:pPr>
            <a:r>
              <a:rPr sz="1250" b="1" i="0">
                <a:solidFill>
                  <a:srgbClr val="2E5496"/>
                </a:solidFill>
                <a:latin typeface="Calibri"/>
              </a:rPr>
              <a:t>•  </a:t>
            </a:r>
            <a:r>
              <a:rPr sz="1250" b="1" i="0">
                <a:solidFill>
                  <a:srgbClr val="202020"/>
                </a:solidFill>
                <a:latin typeface="Calibri"/>
              </a:rPr>
              <a:t>Org-wide defaults (OWD).</a:t>
            </a:r>
            <a:r>
              <a:rPr sz="1250" b="0" i="0">
                <a:solidFill>
                  <a:srgbClr val="202020"/>
                </a:solidFill>
                <a:latin typeface="Calibri"/>
              </a:rPr>
              <a:t> The starting point for each object (e.g. DefaultAccountAccess). If the OWD is public (Read/Edit/…), every record of that object is granted to everyone and no further work is needed. If it is Private or ControlledByParent, the connector drills into record-level sharing.</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222</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5.3 How the sharing model becomes the item ACL — the most important part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Record owner + role hierarchy.</a:t>
            </a:r>
            <a:r>
              <a:rPr sz="1250" b="0" i="0">
                <a:solidFill>
                  <a:srgbClr val="202020"/>
                </a:solidFill>
                <a:latin typeface="Calibri"/>
              </a:rPr>
              <a:t> The owner always gets access. Because Salesforce grants managers access to their subordinates' records ("Grant Access Using Hierarchies"), users in </a:t>
            </a:r>
            <a:r>
              <a:rPr sz="1250" b="1" i="0">
                <a:solidFill>
                  <a:srgbClr val="202020"/>
                </a:solidFill>
                <a:latin typeface="Calibri"/>
              </a:rPr>
              <a:t>roles above the owner's role</a:t>
            </a:r>
            <a:r>
              <a:rPr sz="1250" b="0" i="0">
                <a:solidFill>
                  <a:srgbClr val="202020"/>
                </a:solidFill>
                <a:latin typeface="Calibri"/>
              </a:rPr>
              <a:t> are granted too.</a:t>
            </a:r>
          </a:p>
          <a:p>
            <a:pPr>
              <a:spcBef>
                <a:spcPts val="100"/>
              </a:spcBef>
              <a:spcAft>
                <a:spcPts val="200"/>
              </a:spcAft>
            </a:pPr>
            <a:r>
              <a:rPr sz="1250" b="1" i="0">
                <a:solidFill>
                  <a:srgbClr val="2E5496"/>
                </a:solidFill>
                <a:latin typeface="Calibri"/>
              </a:rPr>
              <a:t>•  </a:t>
            </a:r>
            <a:r>
              <a:rPr sz="1250" b="1" i="0">
                <a:solidFill>
                  <a:srgbClr val="202020"/>
                </a:solidFill>
                <a:latin typeface="Calibri"/>
              </a:rPr>
              <a:t>Sharing rules and manual shares.</a:t>
            </a:r>
            <a:r>
              <a:rPr sz="1250" b="0" i="0">
                <a:solidFill>
                  <a:srgbClr val="202020"/>
                </a:solidFill>
                <a:latin typeface="Calibri"/>
              </a:rPr>
              <a:t> The record's share table (e.g. AccountShare) lists extra users and groups; each is expanded.</a:t>
            </a:r>
          </a:p>
          <a:p>
            <a:pPr>
              <a:spcBef>
                <a:spcPts val="100"/>
              </a:spcBef>
              <a:spcAft>
                <a:spcPts val="200"/>
              </a:spcAft>
            </a:pPr>
            <a:r>
              <a:rPr sz="1250" b="1" i="0">
                <a:solidFill>
                  <a:srgbClr val="2E5496"/>
                </a:solidFill>
                <a:latin typeface="Calibri"/>
              </a:rPr>
              <a:t>•  </a:t>
            </a:r>
            <a:r>
              <a:rPr sz="1250" b="1" i="0">
                <a:solidFill>
                  <a:srgbClr val="202020"/>
                </a:solidFill>
                <a:latin typeface="Calibri"/>
              </a:rPr>
              <a:t>Public groups and queues.</a:t>
            </a:r>
            <a:r>
              <a:rPr sz="1250" b="0" i="0">
                <a:solidFill>
                  <a:srgbClr val="202020"/>
                </a:solidFill>
                <a:latin typeface="Calibri"/>
              </a:rPr>
              <a:t> Groups and queues are expanded recursively to their member users. Queues are the Salesforce construct for shared work assignment (common on Cases and Leads).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223</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5.3 How the sharing model becomes the item ACL — the most important part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Territories.</a:t>
            </a:r>
            <a:r>
              <a:rPr sz="1250" b="0" i="0">
                <a:solidFill>
                  <a:srgbClr val="202020"/>
                </a:solidFill>
                <a:latin typeface="Calibri"/>
              </a:rPr>
              <a:t> For Account and Opportunity, users assigned to the record's territory (and every ancestor territory) are included, when Enterprise Territory Management is in use.</a:t>
            </a:r>
          </a:p>
          <a:p>
            <a:pPr>
              <a:spcBef>
                <a:spcPts val="100"/>
              </a:spcBef>
              <a:spcAft>
                <a:spcPts val="200"/>
              </a:spcAft>
            </a:pPr>
            <a:r>
              <a:rPr sz="1250" b="1" i="0">
                <a:solidFill>
                  <a:srgbClr val="2E5496"/>
                </a:solidFill>
                <a:latin typeface="Calibri"/>
              </a:rPr>
              <a:t>•  </a:t>
            </a:r>
            <a:r>
              <a:rPr sz="1250" b="1" i="0">
                <a:solidFill>
                  <a:srgbClr val="202020"/>
                </a:solidFill>
                <a:latin typeface="Calibri"/>
              </a:rPr>
              <a:t>ControlledByParent.</a:t>
            </a:r>
            <a:r>
              <a:rPr sz="1250" b="0" i="0">
                <a:solidFill>
                  <a:srgbClr val="202020"/>
                </a:solidFill>
                <a:latin typeface="Calibri"/>
              </a:rPr>
              <a:t> Objects whose OWD is ControlledByParent (e.g. a detail record under a master) inherit the ACL of their parent record.</a:t>
            </a:r>
          </a:p>
          <a:p>
            <a:pPr>
              <a:spcBef>
                <a:spcPts val="100"/>
              </a:spcBef>
              <a:spcAft>
                <a:spcPts val="400"/>
              </a:spcAft>
            </a:pPr>
            <a:r>
              <a:rPr sz="1250" b="0" i="0">
                <a:solidFill>
                  <a:srgbClr val="202020"/>
                </a:solidFill>
                <a:latin typeface="Calibri"/>
              </a:rPr>
              <a:t>The resolved Salesforce users are then mapped to Microsoft Entra identities to build the final ACL. The mapping tries, in order: the user's </a:t>
            </a:r>
            <a:r>
              <a:rPr sz="1250" b="1" i="0">
                <a:solidFill>
                  <a:srgbClr val="202020"/>
                </a:solidFill>
                <a:latin typeface="Calibri"/>
              </a:rPr>
              <a:t>FederationIdentifier</a:t>
            </a:r>
            <a:r>
              <a:rPr sz="1250" b="0" i="0">
                <a:solidFill>
                  <a:srgbClr val="202020"/>
                </a:solidFill>
                <a:latin typeface="Calibri"/>
              </a:rPr>
              <a:t>, then </a:t>
            </a:r>
            <a:r>
              <a:rPr sz="1250" b="1" i="0">
                <a:solidFill>
                  <a:srgbClr val="202020"/>
                </a:solidFill>
                <a:latin typeface="Calibri"/>
              </a:rPr>
              <a:t>UserName</a:t>
            </a:r>
            <a:r>
              <a:rPr sz="1250" b="0" i="0">
                <a:solidFill>
                  <a:srgbClr val="202020"/>
                </a:solidFill>
                <a:latin typeface="Calibri"/>
              </a:rPr>
              <a:t>, then </a:t>
            </a:r>
            <a:r>
              <a:rPr sz="1250" b="1" i="0">
                <a:solidFill>
                  <a:srgbClr val="202020"/>
                </a:solidFill>
                <a:latin typeface="Calibri"/>
              </a:rPr>
              <a:t>Email</a:t>
            </a:r>
            <a:r>
              <a:rPr sz="1250" b="0" i="0">
                <a:solidFill>
                  <a:srgbClr val="202020"/>
                </a:solidFill>
                <a:latin typeface="Calibri"/>
              </a:rPr>
              <a:t>. </a:t>
            </a:r>
            <a:r>
              <a:rPr sz="1250" b="1" i="0">
                <a:solidFill>
                  <a:srgbClr val="202020"/>
                </a:solidFill>
                <a:latin typeface="Calibri"/>
              </a:rPr>
              <a:t>Frozen</a:t>
            </a:r>
            <a:r>
              <a:rPr sz="1250" b="0" i="0">
                <a:solidFill>
                  <a:srgbClr val="202020"/>
                </a:solidFill>
                <a:latin typeface="Calibri"/>
              </a:rPr>
              <a:t> (disabled) Salesforce users are dropped. If a record resolves to no visible users, the item is written with a </a:t>
            </a:r>
            <a:r>
              <a:rPr sz="1250" b="1" i="0">
                <a:solidFill>
                  <a:srgbClr val="202020"/>
                </a:solidFill>
                <a:latin typeface="Calibri"/>
              </a:rPr>
              <a:t>deny-all</a:t>
            </a:r>
            <a:r>
              <a:rPr sz="1250" b="0" i="0">
                <a:solidFill>
                  <a:srgbClr val="202020"/>
                </a:solidFill>
                <a:latin typeface="Calibri"/>
              </a:rPr>
              <a:t> ACL — it is indexed but shown to nobody, which is the safe (least-privilege) outcome.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224</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5.4 What "access trimming" means for end users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Two users asking Copilot the same question can get different answers, exactly as they would see different records inside Salesforce. A relationship manager sees their own accounts; their manager sees theirs too (role hierarchy); someone with no share sees nothing for that record. Verifying this with two test users who have </a:t>
            </a:r>
            <a:r>
              <a:rPr sz="1250" b="1" i="0">
                <a:solidFill>
                  <a:srgbClr val="202020"/>
                </a:solidFill>
                <a:latin typeface="Calibri"/>
              </a:rPr>
              <a:t>different</a:t>
            </a:r>
            <a:r>
              <a:rPr sz="1250" b="0" i="0">
                <a:solidFill>
                  <a:srgbClr val="202020"/>
                </a:solidFill>
                <a:latin typeface="Calibri"/>
              </a:rPr>
              <a:t> Salesforce access is the final acceptance step of setup (§8).</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225</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5.5 The risk if identity mapping is incomplete</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Access trimming is only as correct as the </a:t>
            </a:r>
            <a:r>
              <a:rPr sz="1400" b="1" i="0">
                <a:solidFill>
                  <a:srgbClr val="202020"/>
                </a:solidFill>
                <a:latin typeface="Calibri"/>
              </a:rPr>
              <a:t>Salesforce user to Entra identity mapping</a:t>
            </a:r>
            <a:r>
              <a:rPr sz="1400" b="0" i="0">
                <a:solidFill>
                  <a:srgbClr val="202020"/>
                </a:solidFill>
                <a:latin typeface="Calibri"/>
              </a:rPr>
              <a:t>. If a Salesforce user cannot be matched to an Entra account (no FederationIdentifier, UserName or Email match), that user is silently left off the ACL and will </a:t>
            </a:r>
            <a:r>
              <a:rPr sz="1400" b="1" i="0">
                <a:solidFill>
                  <a:srgbClr val="202020"/>
                </a:solidFill>
                <a:latin typeface="Calibri"/>
              </a:rPr>
              <a:t>not</a:t>
            </a:r>
            <a:r>
              <a:rPr sz="1400" b="0" i="0">
                <a:solidFill>
                  <a:srgbClr val="202020"/>
                </a:solidFill>
                <a:latin typeface="Calibri"/>
              </a:rPr>
              <a:t> see records they are entitled to in Copilot (an under-grant — inconvenient, not a breach). Conversely, an over-permissioned integration user, a wrong OWD override, or an incomplete identity crawl can cause records to be indexed with the wrong audience. Always run </a:t>
            </a:r>
            <a:r>
              <a:rPr sz="1350" b="0" i="0">
                <a:solidFill>
                  <a:srgbClr val="202020"/>
                </a:solidFill>
                <a:latin typeface="Consolas"/>
              </a:rPr>
              <a:t>identity-dry-run</a:t>
            </a:r>
            <a:r>
              <a:rPr sz="1400" b="0" i="0">
                <a:solidFill>
                  <a:srgbClr val="202020"/>
                </a:solidFill>
                <a:latin typeface="Calibri"/>
              </a:rPr>
              <a:t> (§8) before the first content crawl and confirm the mapping coverage, and use the two-test-user check to prove trimming end-to-end.</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226</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5.6 Sovereign / national clouds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For US Government or other sovereign tenants, point the connector at the correct Graph endpoint with </a:t>
            </a:r>
            <a:r>
              <a:rPr sz="1200" b="0" i="0">
                <a:solidFill>
                  <a:srgbClr val="202020"/>
                </a:solidFill>
                <a:latin typeface="Consolas"/>
              </a:rPr>
              <a:t>GRAPH_BASE_URL</a:t>
            </a:r>
            <a:r>
              <a:rPr sz="1250" b="0" i="0">
                <a:solidFill>
                  <a:srgbClr val="202020"/>
                </a:solidFill>
                <a:latin typeface="Calibri"/>
              </a:rPr>
              <a:t> (e.g. </a:t>
            </a:r>
            <a:r>
              <a:rPr sz="1200" b="0" i="0">
                <a:solidFill>
                  <a:srgbClr val="202020"/>
                </a:solidFill>
                <a:latin typeface="Consolas"/>
              </a:rPr>
              <a:t>https://graph.microsoft.us</a:t>
            </a:r>
            <a:r>
              <a:rPr sz="1250" b="0" i="0">
                <a:solidFill>
                  <a:srgbClr val="202020"/>
                </a:solidFill>
                <a:latin typeface="Calibri"/>
              </a:rPr>
              <a:t>, or </a:t>
            </a:r>
            <a:r>
              <a:rPr sz="1200" b="0" i="0">
                <a:solidFill>
                  <a:srgbClr val="202020"/>
                </a:solidFill>
                <a:latin typeface="Consolas"/>
              </a:rPr>
              <a:t>https://microsoftgraph.chinacloudapi.cn</a:t>
            </a:r>
            <a:r>
              <a:rPr sz="1250" b="0" i="0">
                <a:solidFill>
                  <a:srgbClr val="202020"/>
                </a:solidFill>
                <a:latin typeface="Calibri"/>
              </a:rPr>
              <a:t> operated by 21Vianet), and set </a:t>
            </a:r>
            <a:r>
              <a:rPr sz="1200" b="0" i="0">
                <a:solidFill>
                  <a:srgbClr val="202020"/>
                </a:solidFill>
                <a:latin typeface="Consolas"/>
              </a:rPr>
              <a:t>GRAPH_SCOPE</a:t>
            </a:r>
            <a:r>
              <a:rPr sz="1250" b="0" i="0">
                <a:solidFill>
                  <a:srgbClr val="202020"/>
                </a:solidFill>
                <a:latin typeface="Calibri"/>
              </a:rPr>
              <a:t> / </a:t>
            </a:r>
            <a:r>
              <a:rPr sz="1200" b="0" i="0">
                <a:solidFill>
                  <a:srgbClr val="202020"/>
                </a:solidFill>
                <a:latin typeface="Consolas"/>
              </a:rPr>
              <a:t>AZURE_AUTHORITY_HOST</a:t>
            </a:r>
            <a:r>
              <a:rPr sz="1250" b="0" i="0">
                <a:solidFill>
                  <a:srgbClr val="202020"/>
                </a:solidFill>
                <a:latin typeface="Calibri"/>
              </a:rPr>
              <a:t> if your cloud's token audience differs. The default is the public cloud </a:t>
            </a:r>
            <a:r>
              <a:rPr sz="1200" b="0" i="0">
                <a:solidFill>
                  <a:srgbClr val="202020"/>
                </a:solidFill>
                <a:latin typeface="Consolas"/>
              </a:rPr>
              <a:t>https://graph.microsoft.com</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227</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Salesforce Connector</a:t>
            </a:r>
          </a:p>
          <a:p>
            <a:r>
              <a:rPr sz="3000" b="1" i="0">
                <a:solidFill>
                  <a:srgbClr val="1F3864"/>
                </a:solidFill>
                <a:latin typeface="Calibri"/>
              </a:rPr>
              <a:t>6. The Salesforce sharing model to ACL engine, in depth</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228</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 The Salesforce sharing model to ACL engine, in depth</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This section is a fuller reference for the engine introduced in §5. You do not need to operate it by hand — it runs automatically as part of every crawl — but you should understand what it does so you can read its logs and recognise when it needs attention.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229</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6.1 Why it exists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Microsoft Graph has no knowledge of Salesforce roles, sharing rules, groups, queues or territories. Left to itself, Copilot would either show everything to everyone or nothing to anyone. This engine is the bridge: it reads the org's sharing configuration and produces, per record, the precise Entra audience — so Copilot's trimming matches Salesforce's.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230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6.2 How a record is resolved</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For each record the engine decides one of three paths from the object's OWD:</a:t>
            </a:r>
          </a:p>
          <a:p>
            <a:pPr>
              <a:spcBef>
                <a:spcPts val="100"/>
              </a:spcBef>
              <a:spcAft>
                <a:spcPts val="200"/>
              </a:spcAft>
            </a:pPr>
            <a:r>
              <a:rPr sz="1250" b="1" i="0">
                <a:solidFill>
                  <a:srgbClr val="2E5496"/>
                </a:solidFill>
                <a:latin typeface="Calibri"/>
              </a:rPr>
              <a:t>•  </a:t>
            </a:r>
            <a:r>
              <a:rPr sz="1250" b="1" i="0">
                <a:solidFill>
                  <a:srgbClr val="202020"/>
                </a:solidFill>
                <a:latin typeface="Calibri"/>
              </a:rPr>
              <a:t>Public OWD</a:t>
            </a:r>
            <a:r>
              <a:rPr sz="1250" b="0" i="0">
                <a:solidFill>
                  <a:srgbClr val="202020"/>
                </a:solidFill>
                <a:latin typeface="Calibri"/>
              </a:rPr>
              <a:t> → grant to everyone. Done.</a:t>
            </a:r>
          </a:p>
          <a:p>
            <a:pPr>
              <a:spcBef>
                <a:spcPts val="100"/>
              </a:spcBef>
              <a:spcAft>
                <a:spcPts val="200"/>
              </a:spcAft>
            </a:pPr>
            <a:r>
              <a:rPr sz="1250" b="1" i="0">
                <a:solidFill>
                  <a:srgbClr val="2E5496"/>
                </a:solidFill>
                <a:latin typeface="Calibri"/>
              </a:rPr>
              <a:t>•  </a:t>
            </a:r>
            <a:r>
              <a:rPr sz="1250" b="1" i="0">
                <a:solidFill>
                  <a:srgbClr val="202020"/>
                </a:solidFill>
                <a:latin typeface="Calibri"/>
              </a:rPr>
              <a:t>ControlledByParent OWD</a:t>
            </a:r>
            <a:r>
              <a:rPr sz="1250" b="0" i="0">
                <a:solidFill>
                  <a:srgbClr val="202020"/>
                </a:solidFill>
                <a:latin typeface="Calibri"/>
              </a:rPr>
              <a:t> → find the controlling parent record and inherit its ACL (recursively).</a:t>
            </a:r>
          </a:p>
          <a:p>
            <a:pPr>
              <a:spcBef>
                <a:spcPts val="100"/>
              </a:spcBef>
              <a:spcAft>
                <a:spcPts val="200"/>
              </a:spcAft>
            </a:pPr>
            <a:r>
              <a:rPr sz="1250" b="1" i="0">
                <a:solidFill>
                  <a:srgbClr val="2E5496"/>
                </a:solidFill>
                <a:latin typeface="Calibri"/>
              </a:rPr>
              <a:t>•  </a:t>
            </a:r>
            <a:r>
              <a:rPr sz="1250" b="1" i="0">
                <a:solidFill>
                  <a:srgbClr val="202020"/>
                </a:solidFill>
                <a:latin typeface="Calibri"/>
              </a:rPr>
              <a:t>Private OWD</a:t>
            </a:r>
            <a:r>
              <a:rPr sz="1250" b="0" i="0">
                <a:solidFill>
                  <a:srgbClr val="202020"/>
                </a:solidFill>
                <a:latin typeface="Calibri"/>
              </a:rPr>
              <a:t> → build a private ACL from owner + role hierarchy + shares + groups/queues + territories, then map each user to an Entra identity.</a:t>
            </a:r>
          </a:p>
          <a:p>
            <a:pPr>
              <a:spcBef>
                <a:spcPts val="100"/>
              </a:spcBef>
              <a:spcAft>
                <a:spcPts val="400"/>
              </a:spcAft>
            </a:pPr>
            <a:r>
              <a:rPr sz="1250" b="0" i="0">
                <a:solidFill>
                  <a:srgbClr val="202020"/>
                </a:solidFill>
                <a:latin typeface="Calibri"/>
              </a:rPr>
              <a:t>The connector uses a modular engine by default (</a:t>
            </a:r>
            <a:r>
              <a:rPr sz="1200" b="0" i="0">
                <a:solidFill>
                  <a:srgbClr val="202020"/>
                </a:solidFill>
                <a:latin typeface="Consolas"/>
              </a:rPr>
              <a:t>USE_NEW_ACL_ENGINE=true</a:t>
            </a:r>
            <a:r>
              <a:rPr sz="1250" b="0" i="0">
                <a:solidFill>
                  <a:srgbClr val="202020"/>
                </a:solidFill>
                <a:latin typeface="Calibri"/>
              </a:rPr>
              <a:t>); a legacy resolver is available for compatibility. Group-based ACLs (public groups, queues, roles, territories) are enabled by </a:t>
            </a:r>
            <a:r>
              <a:rPr sz="1200" b="0" i="0">
                <a:solidFill>
                  <a:srgbClr val="202020"/>
                </a:solidFill>
                <a:latin typeface="Consolas"/>
              </a:rPr>
              <a:t>USE_GROUP_ACL=true</a:t>
            </a:r>
            <a:r>
              <a:rPr sz="1250" b="0" i="0">
                <a:solidFill>
                  <a:srgbClr val="202020"/>
                </a:solidFill>
                <a:latin typeface="Calibri"/>
              </a:rPr>
              <a:t> (default), which requires an </a:t>
            </a:r>
            <a:r>
              <a:rPr sz="1250" b="1" i="0">
                <a:solidFill>
                  <a:srgbClr val="202020"/>
                </a:solidFill>
                <a:latin typeface="Calibri"/>
              </a:rPr>
              <a:t>identity crawl</a:t>
            </a:r>
            <a:r>
              <a:rPr sz="1250" b="0" i="0">
                <a:solidFill>
                  <a:srgbClr val="202020"/>
                </a:solidFill>
                <a:latin typeface="Calibri"/>
              </a:rPr>
              <a:t> to run before content — </a:t>
            </a:r>
            <a:r>
              <a:rPr sz="1200" b="0" i="0">
                <a:solidFill>
                  <a:srgbClr val="202020"/>
                </a:solidFill>
                <a:latin typeface="Consolas"/>
              </a:rPr>
              <a:t>full-deployment</a:t>
            </a:r>
            <a:r>
              <a:rPr sz="1250" b="0" i="0">
                <a:solidFill>
                  <a:srgbClr val="202020"/>
                </a:solidFill>
                <a:latin typeface="Calibri"/>
              </a:rPr>
              <a:t> does this for you.</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231</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6.3 OWD values you will see</a:t>
            </a:r>
          </a:p>
        </p:txBody>
      </p:sp>
      <p:graphicFrame>
        <p:nvGraphicFramePr>
          <p:cNvPr id="5" name="Table 4"/>
          <p:cNvGraphicFramePr>
            <a:graphicFrameLocks noGrp="1"/>
          </p:cNvGraphicFramePr>
          <p:nvPr/>
        </p:nvGraphicFramePr>
        <p:xfrm>
          <a:off x="502920" y="1188720"/>
          <a:ext cx="11185854" cy="1920240"/>
        </p:xfrm>
        <a:graphic>
          <a:graphicData uri="http://schemas.openxmlformats.org/drawingml/2006/table">
            <a:tbl>
              <a:tblPr firstRow="1" bandRow="1">
                <a:tableStyleId>{5C22544A-7EE6-4342-B048-85BDC9FD1C3A}</a:tableStyleId>
              </a:tblPr>
              <a:tblGrid>
                <a:gridCol w="3803190"/>
                <a:gridCol w="7382664"/>
              </a:tblGrid>
              <a:tr h="384048">
                <a:tc>
                  <a:txBody>
                    <a:bodyPr wrap="square"/>
                    <a:lstStyle/>
                    <a:p>
                      <a:r>
                        <a:rPr sz="1050" b="1" i="0">
                          <a:solidFill>
                            <a:srgbClr val="FFFFFF"/>
                          </a:solidFill>
                          <a:latin typeface="Calibri"/>
                        </a:rPr>
                        <a:t>OWD value</a:t>
                      </a:r>
                    </a:p>
                  </a:txBody>
                  <a:tcPr marT="25400" marB="25400">
                    <a:solidFill>
                      <a:srgbClr val="2E5496"/>
                    </a:solidFill>
                  </a:tcPr>
                </a:tc>
                <a:tc>
                  <a:txBody>
                    <a:bodyPr wrap="square"/>
                    <a:lstStyle/>
                    <a:p>
                      <a:r>
                        <a:rPr sz="1050" b="1" i="0">
                          <a:solidFill>
                            <a:srgbClr val="FFFFFF"/>
                          </a:solidFill>
                          <a:latin typeface="Calibri"/>
                        </a:rPr>
                        <a:t>Meaning for the engine</a:t>
                      </a:r>
                    </a:p>
                  </a:txBody>
                  <a:tcPr marT="25400" marB="25400">
                    <a:solidFill>
                      <a:srgbClr val="2E5496"/>
                    </a:solidFill>
                  </a:tcPr>
                </a:tc>
              </a:tr>
              <a:tr h="384048">
                <a:tc>
                  <a:txBody>
                    <a:bodyPr wrap="square"/>
                    <a:lstStyle/>
                    <a:p>
                      <a:r>
                        <a:rPr sz="950" b="0" i="0">
                          <a:solidFill>
                            <a:srgbClr val="202020"/>
                          </a:solidFill>
                          <a:latin typeface="Calibri"/>
                        </a:rPr>
                        <a:t>Read / Edit / ReadEditTransfer / All</a:t>
                      </a:r>
                    </a:p>
                  </a:txBody>
                  <a:tcPr marT="12700" marB="12700">
                    <a:solidFill>
                      <a:srgbClr val="FFFFFF"/>
                    </a:solidFill>
                  </a:tcPr>
                </a:tc>
                <a:tc>
                  <a:txBody>
                    <a:bodyPr wrap="square"/>
                    <a:lstStyle/>
                    <a:p>
                      <a:r>
                        <a:rPr sz="950" b="0" i="0">
                          <a:solidFill>
                            <a:srgbClr val="202020"/>
                          </a:solidFill>
                          <a:latin typeface="Calibri"/>
                        </a:rPr>
                        <a:t>Public — record granted to everyone.</a:t>
                      </a:r>
                    </a:p>
                  </a:txBody>
                  <a:tcPr marT="12700" marB="12700">
                    <a:solidFill>
                      <a:srgbClr val="FFFFFF"/>
                    </a:solidFill>
                  </a:tcPr>
                </a:tc>
              </a:tr>
              <a:tr h="384048">
                <a:tc>
                  <a:txBody>
                    <a:bodyPr wrap="square"/>
                    <a:lstStyle/>
                    <a:p>
                      <a:r>
                        <a:rPr sz="950" b="0" i="0">
                          <a:solidFill>
                            <a:srgbClr val="202020"/>
                          </a:solidFill>
                          <a:latin typeface="Calibri"/>
                        </a:rPr>
                        <a:t>None (Private)</a:t>
                      </a:r>
                    </a:p>
                  </a:txBody>
                  <a:tcPr marT="12700" marB="12700">
                    <a:solidFill>
                      <a:srgbClr val="F7F9FC"/>
                    </a:solidFill>
                  </a:tcPr>
                </a:tc>
                <a:tc>
                  <a:txBody>
                    <a:bodyPr wrap="square"/>
                    <a:lstStyle/>
                    <a:p>
                      <a:r>
                        <a:rPr sz="950" b="0" i="0">
                          <a:solidFill>
                            <a:srgbClr val="202020"/>
                          </a:solidFill>
                          <a:latin typeface="Calibri"/>
                        </a:rPr>
                        <a:t>Private — build a per-record ACL.</a:t>
                      </a:r>
                    </a:p>
                  </a:txBody>
                  <a:tcPr marT="12700" marB="12700">
                    <a:solidFill>
                      <a:srgbClr val="F7F9FC"/>
                    </a:solidFill>
                  </a:tcPr>
                </a:tc>
              </a:tr>
              <a:tr h="384048">
                <a:tc>
                  <a:txBody>
                    <a:bodyPr wrap="square"/>
                    <a:lstStyle/>
                    <a:p>
                      <a:r>
                        <a:rPr sz="950" b="0" i="0">
                          <a:solidFill>
                            <a:srgbClr val="202020"/>
                          </a:solidFill>
                          <a:latin typeface="Calibri"/>
                        </a:rPr>
                        <a:t>ControlledByParent</a:t>
                      </a:r>
                    </a:p>
                  </a:txBody>
                  <a:tcPr marT="12700" marB="12700">
                    <a:solidFill>
                      <a:srgbClr val="FFFFFF"/>
                    </a:solidFill>
                  </a:tcPr>
                </a:tc>
                <a:tc>
                  <a:txBody>
                    <a:bodyPr wrap="square"/>
                    <a:lstStyle/>
                    <a:p>
                      <a:r>
                        <a:rPr sz="950" b="0" i="0">
                          <a:solidFill>
                            <a:srgbClr val="202020"/>
                          </a:solidFill>
                          <a:latin typeface="Calibri"/>
                        </a:rPr>
                        <a:t>Inherit the parent record's ACL.</a:t>
                      </a:r>
                    </a:p>
                  </a:txBody>
                  <a:tcPr marT="12700" marB="12700">
                    <a:solidFill>
                      <a:srgbClr val="FFFFFF"/>
                    </a:solidFill>
                  </a:tcPr>
                </a:tc>
              </a:tr>
              <a:tr h="384048">
                <a:tc>
                  <a:txBody>
                    <a:bodyPr wrap="square"/>
                    <a:lstStyle/>
                    <a:p>
                      <a:r>
                        <a:rPr sz="950" b="0" i="0">
                          <a:solidFill>
                            <a:srgbClr val="202020"/>
                          </a:solidFill>
                          <a:latin typeface="Calibri"/>
                        </a:rPr>
                        <a:t>ControlledByCampaign / ControlledByLeadOrContact</a:t>
                      </a:r>
                    </a:p>
                  </a:txBody>
                  <a:tcPr marT="12700" marB="12700">
                    <a:solidFill>
                      <a:srgbClr val="F7F9FC"/>
                    </a:solidFill>
                  </a:tcPr>
                </a:tc>
                <a:tc>
                  <a:txBody>
                    <a:bodyPr wrap="square"/>
                    <a:lstStyle/>
                    <a:p>
                      <a:r>
                        <a:rPr sz="950" b="0" i="0">
                          <a:solidFill>
                            <a:srgbClr val="202020"/>
                          </a:solidFill>
                          <a:latin typeface="Calibri"/>
                        </a:rPr>
                        <a:t>Normalised to None (Private) for Account/Opportunity.</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232</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6.3 OWD values you will see</a:t>
            </a:r>
          </a:p>
        </p:txBody>
      </p:sp>
      <p:sp>
        <p:nvSpPr>
          <p:cNvPr id="5" name="Rectangle 4"/>
          <p:cNvSpPr/>
          <p:nvPr/>
        </p:nvSpPr>
        <p:spPr>
          <a:xfrm>
            <a:off x="502920" y="1463040"/>
            <a:ext cx="11185855" cy="3291840"/>
          </a:xfrm>
          <a:prstGeom prst="rect">
            <a:avLst/>
          </a:prstGeom>
          <a:solidFill>
            <a:srgbClr val="E7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7D32"/>
                </a:solidFill>
                <a:latin typeface="Calibri"/>
              </a:rPr>
              <a:t>Tip:  </a:t>
            </a:r>
            <a:r>
              <a:rPr sz="1400" b="1" i="0">
                <a:solidFill>
                  <a:srgbClr val="202020"/>
                </a:solidFill>
                <a:latin typeface="Calibri"/>
              </a:rPr>
              <a:t>Tip: </a:t>
            </a:r>
            <a:r>
              <a:rPr sz="1400" b="0" i="0">
                <a:solidFill>
                  <a:srgbClr val="202020"/>
                </a:solidFill>
                <a:latin typeface="Calibri"/>
              </a:rPr>
              <a:t>If the connector cannot read an OWD value for any reason, it defaults that object to </a:t>
            </a:r>
            <a:r>
              <a:rPr sz="1400" b="1" i="0">
                <a:solidFill>
                  <a:srgbClr val="202020"/>
                </a:solidFill>
                <a:latin typeface="Calibri"/>
              </a:rPr>
              <a:t>None (Private)</a:t>
            </a:r>
            <a:r>
              <a:rPr sz="1400" b="0" i="0">
                <a:solidFill>
                  <a:srgbClr val="202020"/>
                </a:solidFill>
                <a:latin typeface="Calibri"/>
              </a:rPr>
              <a:t> — never to a public value. This fail-closed choice preserves least privilege: a lookup failure can only ever under-grant, never over-share.</a:t>
            </a:r>
          </a:p>
        </p:txBody>
      </p:sp>
      <p:sp>
        <p:nvSpPr>
          <p:cNvPr id="6" name="Rectangle 5"/>
          <p:cNvSpPr/>
          <p:nvPr/>
        </p:nvSpPr>
        <p:spPr>
          <a:xfrm>
            <a:off x="502920" y="1463040"/>
            <a:ext cx="128016" cy="32918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233</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6.4 Group and queue expansion</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When a share names a group rather than a user, the engine expands it by its Salesforce group type: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234</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6.4 Group and queue expansion</a:t>
            </a:r>
          </a:p>
        </p:txBody>
      </p:sp>
      <p:graphicFrame>
        <p:nvGraphicFramePr>
          <p:cNvPr id="5" name="Table 4"/>
          <p:cNvGraphicFramePr>
            <a:graphicFrameLocks noGrp="1"/>
          </p:cNvGraphicFramePr>
          <p:nvPr/>
        </p:nvGraphicFramePr>
        <p:xfrm>
          <a:off x="502920" y="1188720"/>
          <a:ext cx="11185854" cy="2688336"/>
        </p:xfrm>
        <a:graphic>
          <a:graphicData uri="http://schemas.openxmlformats.org/drawingml/2006/table">
            <a:tbl>
              <a:tblPr firstRow="1" bandRow="1">
                <a:tableStyleId>{5C22544A-7EE6-4342-B048-85BDC9FD1C3A}</a:tableStyleId>
              </a:tblPr>
              <a:tblGrid>
                <a:gridCol w="3803190"/>
                <a:gridCol w="7382664"/>
              </a:tblGrid>
              <a:tr h="384048">
                <a:tc>
                  <a:txBody>
                    <a:bodyPr wrap="square"/>
                    <a:lstStyle/>
                    <a:p>
                      <a:r>
                        <a:rPr sz="1050" b="1" i="0">
                          <a:solidFill>
                            <a:srgbClr val="FFFFFF"/>
                          </a:solidFill>
                          <a:latin typeface="Calibri"/>
                        </a:rPr>
                        <a:t>Group type</a:t>
                      </a:r>
                    </a:p>
                  </a:txBody>
                  <a:tcPr marT="25400" marB="25400">
                    <a:solidFill>
                      <a:srgbClr val="2E5496"/>
                    </a:solidFill>
                  </a:tcPr>
                </a:tc>
                <a:tc>
                  <a:txBody>
                    <a:bodyPr wrap="square"/>
                    <a:lstStyle/>
                    <a:p>
                      <a:r>
                        <a:rPr sz="1050" b="1" i="0">
                          <a:solidFill>
                            <a:srgbClr val="FFFFFF"/>
                          </a:solidFill>
                          <a:latin typeface="Calibri"/>
                        </a:rPr>
                        <a:t>Expands to</a:t>
                      </a:r>
                    </a:p>
                  </a:txBody>
                  <a:tcPr marT="25400" marB="25400">
                    <a:solidFill>
                      <a:srgbClr val="2E5496"/>
                    </a:solidFill>
                  </a:tcPr>
                </a:tc>
              </a:tr>
              <a:tr h="384048">
                <a:tc>
                  <a:txBody>
                    <a:bodyPr wrap="square"/>
                    <a:lstStyle/>
                    <a:p>
                      <a:r>
                        <a:rPr sz="950" b="0" i="0">
                          <a:solidFill>
                            <a:srgbClr val="202020"/>
                          </a:solidFill>
                          <a:latin typeface="Calibri"/>
                        </a:rPr>
                        <a:t>Organization</a:t>
                      </a:r>
                    </a:p>
                  </a:txBody>
                  <a:tcPr marT="12700" marB="12700">
                    <a:solidFill>
                      <a:srgbClr val="FFFFFF"/>
                    </a:solidFill>
                  </a:tcPr>
                </a:tc>
                <a:tc>
                  <a:txBody>
                    <a:bodyPr wrap="square"/>
                    <a:lstStyle/>
                    <a:p>
                      <a:r>
                        <a:rPr sz="950" b="0" i="0">
                          <a:solidFill>
                            <a:srgbClr val="202020"/>
                          </a:solidFill>
                          <a:latin typeface="Calibri"/>
                        </a:rPr>
                        <a:t>Everyone (sets the public flag).</a:t>
                      </a:r>
                    </a:p>
                  </a:txBody>
                  <a:tcPr marT="12700" marB="12700">
                    <a:solidFill>
                      <a:srgbClr val="FFFFFF"/>
                    </a:solidFill>
                  </a:tcPr>
                </a:tc>
              </a:tr>
              <a:tr h="384048">
                <a:tc>
                  <a:txBody>
                    <a:bodyPr wrap="square"/>
                    <a:lstStyle/>
                    <a:p>
                      <a:r>
                        <a:rPr sz="950" b="0" i="0">
                          <a:solidFill>
                            <a:srgbClr val="202020"/>
                          </a:solidFill>
                          <a:latin typeface="Calibri"/>
                        </a:rPr>
                        <a:t>Role</a:t>
                      </a:r>
                    </a:p>
                  </a:txBody>
                  <a:tcPr marT="12700" marB="12700">
                    <a:solidFill>
                      <a:srgbClr val="F7F9FC"/>
                    </a:solidFill>
                  </a:tcPr>
                </a:tc>
                <a:tc>
                  <a:txBody>
                    <a:bodyPr wrap="square"/>
                    <a:lstStyle/>
                    <a:p>
                      <a:r>
                        <a:rPr sz="950" b="0" i="0">
                          <a:solidFill>
                            <a:srgbClr val="202020"/>
                          </a:solidFill>
                          <a:latin typeface="Calibri"/>
                        </a:rPr>
                        <a:t>Users in that role.</a:t>
                      </a:r>
                    </a:p>
                  </a:txBody>
                  <a:tcPr marT="12700" marB="12700">
                    <a:solidFill>
                      <a:srgbClr val="F7F9FC"/>
                    </a:solidFill>
                  </a:tcPr>
                </a:tc>
              </a:tr>
              <a:tr h="384048">
                <a:tc>
                  <a:txBody>
                    <a:bodyPr wrap="square"/>
                    <a:lstStyle/>
                    <a:p>
                      <a:r>
                        <a:rPr sz="950" b="0" i="0">
                          <a:solidFill>
                            <a:srgbClr val="202020"/>
                          </a:solidFill>
                          <a:latin typeface="Calibri"/>
                        </a:rPr>
                        <a:t>RoleAndSubordinates / …Internal</a:t>
                      </a:r>
                    </a:p>
                  </a:txBody>
                  <a:tcPr marT="12700" marB="12700">
                    <a:solidFill>
                      <a:srgbClr val="FFFFFF"/>
                    </a:solidFill>
                  </a:tcPr>
                </a:tc>
                <a:tc>
                  <a:txBody>
                    <a:bodyPr wrap="square"/>
                    <a:lstStyle/>
                    <a:p>
                      <a:r>
                        <a:rPr sz="950" b="0" i="0">
                          <a:solidFill>
                            <a:srgbClr val="202020"/>
                          </a:solidFill>
                          <a:latin typeface="Calibri"/>
                        </a:rPr>
                        <a:t>Users in that role and all descendant roles.</a:t>
                      </a:r>
                    </a:p>
                  </a:txBody>
                  <a:tcPr marT="12700" marB="12700">
                    <a:solidFill>
                      <a:srgbClr val="FFFFFF"/>
                    </a:solidFill>
                  </a:tcPr>
                </a:tc>
              </a:tr>
              <a:tr h="384048">
                <a:tc>
                  <a:txBody>
                    <a:bodyPr wrap="square"/>
                    <a:lstStyle/>
                    <a:p>
                      <a:r>
                        <a:rPr sz="950" b="0" i="0">
                          <a:solidFill>
                            <a:srgbClr val="202020"/>
                          </a:solidFill>
                          <a:latin typeface="Calibri"/>
                        </a:rPr>
                        <a:t>Manager</a:t>
                      </a:r>
                    </a:p>
                  </a:txBody>
                  <a:tcPr marT="12700" marB="12700">
                    <a:solidFill>
                      <a:srgbClr val="F7F9FC"/>
                    </a:solidFill>
                  </a:tcPr>
                </a:tc>
                <a:tc>
                  <a:txBody>
                    <a:bodyPr wrap="square"/>
                    <a:lstStyle/>
                    <a:p>
                      <a:r>
                        <a:rPr sz="950" b="0" i="0">
                          <a:solidFill>
                            <a:srgbClr val="202020"/>
                          </a:solidFill>
                          <a:latin typeface="Calibri"/>
                        </a:rPr>
                        <a:t>The manager's direct reports.</a:t>
                      </a:r>
                    </a:p>
                  </a:txBody>
                  <a:tcPr marT="12700" marB="12700">
                    <a:solidFill>
                      <a:srgbClr val="F7F9FC"/>
                    </a:solidFill>
                  </a:tcPr>
                </a:tc>
              </a:tr>
              <a:tr h="384048">
                <a:tc>
                  <a:txBody>
                    <a:bodyPr wrap="square"/>
                    <a:lstStyle/>
                    <a:p>
                      <a:r>
                        <a:rPr sz="950" b="0" i="0">
                          <a:solidFill>
                            <a:srgbClr val="202020"/>
                          </a:solidFill>
                          <a:latin typeface="Calibri"/>
                        </a:rPr>
                        <a:t>ManagerAndSubordinatesInternal</a:t>
                      </a:r>
                    </a:p>
                  </a:txBody>
                  <a:tcPr marT="12700" marB="12700">
                    <a:solidFill>
                      <a:srgbClr val="FFFFFF"/>
                    </a:solidFill>
                  </a:tcPr>
                </a:tc>
                <a:tc>
                  <a:txBody>
                    <a:bodyPr wrap="square"/>
                    <a:lstStyle/>
                    <a:p>
                      <a:r>
                        <a:rPr sz="950" b="0" i="0">
                          <a:solidFill>
                            <a:srgbClr val="202020"/>
                          </a:solidFill>
                          <a:latin typeface="Calibri"/>
                        </a:rPr>
                        <a:t>The manager's full reporting chain.</a:t>
                      </a:r>
                    </a:p>
                  </a:txBody>
                  <a:tcPr marT="12700" marB="12700">
                    <a:solidFill>
                      <a:srgbClr val="FFFFFF"/>
                    </a:solidFill>
                  </a:tcPr>
                </a:tc>
              </a:tr>
              <a:tr h="384048">
                <a:tc>
                  <a:txBody>
                    <a:bodyPr wrap="square"/>
                    <a:lstStyle/>
                    <a:p>
                      <a:r>
                        <a:rPr sz="950" b="0" i="0">
                          <a:solidFill>
                            <a:srgbClr val="202020"/>
                          </a:solidFill>
                          <a:latin typeface="Calibri"/>
                        </a:rPr>
                        <a:t>Regular / Queue</a:t>
                      </a:r>
                    </a:p>
                  </a:txBody>
                  <a:tcPr marT="12700" marB="12700">
                    <a:solidFill>
                      <a:srgbClr val="F7F9FC"/>
                    </a:solidFill>
                  </a:tcPr>
                </a:tc>
                <a:tc>
                  <a:txBody>
                    <a:bodyPr wrap="square"/>
                    <a:lstStyle/>
                    <a:p>
                      <a:r>
                        <a:rPr sz="950" b="0" i="0">
                          <a:solidFill>
                            <a:srgbClr val="202020"/>
                          </a:solidFill>
                          <a:latin typeface="Calibri"/>
                        </a:rPr>
                        <a:t>Member users, expanded recursively (queues are Group records too).</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235</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6.5 Cycle detection and the depth cap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Salesforce groups can reference other groups, and misconfigured orgs can contain loops. The engine guards against two failure modes so a bad configuration cannot hang or crash a long-running crawl:</a:t>
            </a:r>
          </a:p>
          <a:p>
            <a:pPr>
              <a:spcBef>
                <a:spcPts val="100"/>
              </a:spcBef>
              <a:spcAft>
                <a:spcPts val="200"/>
              </a:spcAft>
            </a:pPr>
            <a:r>
              <a:rPr sz="1250" b="1" i="0">
                <a:solidFill>
                  <a:srgbClr val="2E5496"/>
                </a:solidFill>
                <a:latin typeface="Calibri"/>
              </a:rPr>
              <a:t>•  </a:t>
            </a:r>
            <a:r>
              <a:rPr sz="1250" b="1" i="0">
                <a:solidFill>
                  <a:srgbClr val="202020"/>
                </a:solidFill>
                <a:latin typeface="Calibri"/>
              </a:rPr>
              <a:t>Cycle detection.</a:t>
            </a:r>
            <a:r>
              <a:rPr sz="1250" b="0" i="0">
                <a:solidFill>
                  <a:srgbClr val="202020"/>
                </a:solidFill>
                <a:latin typeface="Calibri"/>
              </a:rPr>
              <a:t> Group expansion tracks the chain of groups it is currently walking (a "visited" set). If it meets a group already on that chain, it recognises the loop, logs </a:t>
            </a:r>
            <a:r>
              <a:rPr sz="1200" b="0" i="0">
                <a:solidFill>
                  <a:srgbClr val="202020"/>
                </a:solidFill>
                <a:latin typeface="Consolas"/>
              </a:rPr>
              <a:t>Cyclic group membership detected at &lt;id&gt;; skipping nested reference</a:t>
            </a:r>
            <a:r>
              <a:rPr sz="1250" b="0" i="0">
                <a:solidFill>
                  <a:srgbClr val="202020"/>
                </a:solidFill>
                <a:latin typeface="Calibri"/>
              </a:rPr>
              <a:t>, and does not recurse into it. Groups above the cycle still resolve fully.</a:t>
            </a:r>
          </a:p>
          <a:p>
            <a:pPr>
              <a:spcBef>
                <a:spcPts val="100"/>
              </a:spcBef>
              <a:spcAft>
                <a:spcPts val="200"/>
              </a:spcAft>
            </a:pPr>
            <a:r>
              <a:rPr sz="1250" b="1" i="0">
                <a:solidFill>
                  <a:srgbClr val="2E5496"/>
                </a:solidFill>
                <a:latin typeface="Calibri"/>
              </a:rPr>
              <a:t>•  </a:t>
            </a:r>
            <a:r>
              <a:rPr sz="1250" b="1" i="0">
                <a:solidFill>
                  <a:srgbClr val="202020"/>
                </a:solidFill>
                <a:latin typeface="Calibri"/>
              </a:rPr>
              <a:t>Nesting depth cap.</a:t>
            </a:r>
            <a:r>
              <a:rPr sz="1250" b="0" i="0">
                <a:solidFill>
                  <a:srgbClr val="202020"/>
                </a:solidFill>
                <a:latin typeface="Calibri"/>
              </a:rPr>
              <a:t> Group nesting is capped (about 400 levels) as a stack-safety backstop; real orgs are only a few levels deep. If the cap is hit the branch stops expanding (fail-closed: deeper members are simply not granted) and warns once per group.</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236</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6.5 Cycle detection and the depth cap</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Parent-chain depth cap.</a:t>
            </a:r>
            <a:r>
              <a:rPr sz="1250" b="0" i="0">
                <a:solidFill>
                  <a:srgbClr val="202020"/>
                </a:solidFill>
                <a:latin typeface="Calibri"/>
              </a:rPr>
              <a:t> ControlledByParent inheritance follows at most </a:t>
            </a:r>
            <a:r>
              <a:rPr sz="1200" b="0" i="0">
                <a:solidFill>
                  <a:srgbClr val="202020"/>
                </a:solidFill>
                <a:latin typeface="Consolas"/>
              </a:rPr>
              <a:t>ACL_MAX_PARENT_DEPTH</a:t>
            </a:r>
            <a:r>
              <a:rPr sz="1250" b="0" i="0">
                <a:solidFill>
                  <a:srgbClr val="202020"/>
                </a:solidFill>
                <a:latin typeface="Calibri"/>
              </a:rPr>
              <a:t> levels (default 5). Beyond that the record falls back to its own private ACL rather than recursing forever.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237</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6.6 Performance considerations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To avoid a SOQL query per record, the engine </a:t>
            </a:r>
            <a:r>
              <a:rPr sz="1250" b="1" i="0">
                <a:solidFill>
                  <a:srgbClr val="202020"/>
                </a:solidFill>
                <a:latin typeface="Calibri"/>
              </a:rPr>
              <a:t>bulk pre-warms</a:t>
            </a:r>
            <a:r>
              <a:rPr sz="1250" b="0" i="0">
                <a:solidFill>
                  <a:srgbClr val="202020"/>
                </a:solidFill>
                <a:latin typeface="Calibri"/>
              </a:rPr>
              <a:t> all reference data once per crawl — the role hierarchy, users and their roles, frozen users, all groups and group members, and territory tables — then resolves every record in memory. Salesforce-to-Entra GUID lookups are batched through Graph (20 per </a:t>
            </a:r>
            <a:r>
              <a:rPr sz="1200" b="0" i="0">
                <a:solidFill>
                  <a:srgbClr val="202020"/>
                </a:solidFill>
                <a:latin typeface="Consolas"/>
              </a:rPr>
              <a:t>$batch</a:t>
            </a:r>
            <a:r>
              <a:rPr sz="1250" b="0" i="0">
                <a:solidFill>
                  <a:srgbClr val="202020"/>
                </a:solidFill>
                <a:latin typeface="Calibri"/>
              </a:rPr>
              <a:t> call) and cached. For most orgs the reference tables (roles &lt; 1,000; groups/members &lt; 5,000; users &lt; 50,000) fit comfortably in memory and pre-warm in seconds.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238</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6.7 What an operator should watch</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Identity mapping coverage</a:t>
            </a:r>
            <a:r>
              <a:rPr sz="1250" b="0" i="0">
                <a:solidFill>
                  <a:srgbClr val="202020"/>
                </a:solidFill>
                <a:latin typeface="Calibri"/>
              </a:rPr>
              <a:t> — run </a:t>
            </a:r>
            <a:r>
              <a:rPr sz="1200" b="0" i="0">
                <a:solidFill>
                  <a:srgbClr val="202020"/>
                </a:solidFill>
                <a:latin typeface="Consolas"/>
              </a:rPr>
              <a:t>identity-dry-run --save --verbose</a:t>
            </a:r>
            <a:r>
              <a:rPr sz="1250" b="0" i="0">
                <a:solidFill>
                  <a:srgbClr val="202020"/>
                </a:solidFill>
                <a:latin typeface="Calibri"/>
              </a:rPr>
              <a:t> before the first content crawl; a large number of unmapped users signals a FederationIdentifier/UserName/Email mismatch to raise with the Salesforce and Entra admins.</a:t>
            </a:r>
          </a:p>
          <a:p>
            <a:pPr>
              <a:spcBef>
                <a:spcPts val="100"/>
              </a:spcBef>
              <a:spcAft>
                <a:spcPts val="200"/>
              </a:spcAft>
            </a:pPr>
            <a:r>
              <a:rPr sz="1250" b="1" i="0">
                <a:solidFill>
                  <a:srgbClr val="2E5496"/>
                </a:solidFill>
                <a:latin typeface="Calibri"/>
              </a:rPr>
              <a:t>•  </a:t>
            </a:r>
            <a:r>
              <a:rPr sz="1250" b="1" i="0">
                <a:solidFill>
                  <a:srgbClr val="202020"/>
                </a:solidFill>
                <a:latin typeface="Calibri"/>
              </a:rPr>
              <a:t>Cyclic-group and depth-cap warnings</a:t>
            </a:r>
            <a:r>
              <a:rPr sz="1250" b="0" i="0">
                <a:solidFill>
                  <a:srgbClr val="202020"/>
                </a:solidFill>
                <a:latin typeface="Calibri"/>
              </a:rPr>
              <a:t> in the log — they name the specific group; give it to the Salesforce admin to fix, as members inside the cut branch may be under-granted.</a:t>
            </a:r>
          </a:p>
          <a:p>
            <a:pPr>
              <a:spcBef>
                <a:spcPts val="100"/>
              </a:spcBef>
              <a:spcAft>
                <a:spcPts val="200"/>
              </a:spcAft>
            </a:pPr>
            <a:r>
              <a:rPr sz="1250" b="1" i="0">
                <a:solidFill>
                  <a:srgbClr val="2E5496"/>
                </a:solidFill>
                <a:latin typeface="Calibri"/>
              </a:rPr>
              <a:t>•  </a:t>
            </a:r>
            <a:r>
              <a:rPr sz="1250" b="1" i="0">
                <a:solidFill>
                  <a:srgbClr val="202020"/>
                </a:solidFill>
                <a:latin typeface="Calibri"/>
              </a:rPr>
              <a:t>ControlledByParent fallback warnings</a:t>
            </a:r>
            <a:r>
              <a:rPr sz="1250" b="0" i="0">
                <a:solidFill>
                  <a:srgbClr val="202020"/>
                </a:solidFill>
                <a:latin typeface="Calibri"/>
              </a:rPr>
              <a:t> (</a:t>
            </a:r>
            <a:r>
              <a:rPr sz="1200" b="0" i="0">
                <a:solidFill>
                  <a:srgbClr val="202020"/>
                </a:solidFill>
                <a:latin typeface="Consolas"/>
              </a:rPr>
              <a:t>Cannot determine controlling parent for &lt;object&gt;</a:t>
            </a:r>
            <a:r>
              <a:rPr sz="1250" b="0" i="0">
                <a:solidFill>
                  <a:srgbClr val="202020"/>
                </a:solidFill>
                <a:latin typeface="Calibri"/>
              </a:rPr>
              <a:t>) — a schema.json parent mapping may be missing for a custom object.</a:t>
            </a:r>
          </a:p>
          <a:p>
            <a:pPr>
              <a:spcBef>
                <a:spcPts val="100"/>
              </a:spcBef>
              <a:spcAft>
                <a:spcPts val="200"/>
              </a:spcAft>
            </a:pPr>
            <a:r>
              <a:rPr sz="1250" b="1" i="0">
                <a:solidFill>
                  <a:srgbClr val="2E5496"/>
                </a:solidFill>
                <a:latin typeface="Calibri"/>
              </a:rPr>
              <a:t>•  </a:t>
            </a:r>
            <a:r>
              <a:rPr sz="1250" b="1" i="0">
                <a:solidFill>
                  <a:srgbClr val="202020"/>
                </a:solidFill>
                <a:latin typeface="Calibri"/>
              </a:rPr>
              <a:t>Territory bulk-fetch warnings</a:t>
            </a:r>
            <a:r>
              <a:rPr sz="1250" b="0" i="0">
                <a:solidFill>
                  <a:srgbClr val="202020"/>
                </a:solidFill>
                <a:latin typeface="Calibri"/>
              </a:rPr>
              <a:t> — expected and harmless if Territory Management is not enabled; the run simply makes no territory-based grants.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239</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Salesforce Connector</a:t>
            </a:r>
          </a:p>
          <a:p>
            <a:r>
              <a:rPr sz="3000" b="1" i="0">
                <a:solidFill>
                  <a:srgbClr val="1F3864"/>
                </a:solidFill>
                <a:latin typeface="Calibri"/>
              </a:rPr>
              <a:t>7. Before you start: prerequisites &amp; intake checklist</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240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 Before you start: prerequisites &amp; intake checklist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Collect every value below before you begin §8. Each row names where it comes from. Fill in the right-hand column as you gather them; treat any secret as such (Key Vault or the secret env file, never a ticket comment).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241</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 Before you start: prerequisites &amp; intake checklist</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Value to collect</a:t>
                      </a:r>
                    </a:p>
                  </a:txBody>
                  <a:tcPr marT="25400" marB="25400">
                    <a:solidFill>
                      <a:srgbClr val="2E5496"/>
                    </a:solidFill>
                  </a:tcPr>
                </a:tc>
                <a:tc>
                  <a:txBody>
                    <a:bodyPr wrap="square"/>
                    <a:lstStyle/>
                    <a:p>
                      <a:r>
                        <a:rPr sz="1050" b="1" i="0">
                          <a:solidFill>
                            <a:srgbClr val="FFFFFF"/>
                          </a:solidFill>
                          <a:latin typeface="Calibri"/>
                        </a:rPr>
                        <a:t>Where / who it comes from</a:t>
                      </a:r>
                    </a:p>
                  </a:txBody>
                  <a:tcPr marT="25400" marB="25400">
                    <a:solidFill>
                      <a:srgbClr val="2E5496"/>
                    </a:solidFill>
                  </a:tcPr>
                </a:tc>
                <a:tc>
                  <a:txBody>
                    <a:bodyPr wrap="square"/>
                    <a:lstStyle/>
                    <a:p>
                      <a:r>
                        <a:rPr sz="1050" b="1" i="0">
                          <a:solidFill>
                            <a:srgbClr val="FFFFFF"/>
                          </a:solidFill>
                          <a:latin typeface="Calibri"/>
                        </a:rPr>
                        <a:t>Value / provided by</a:t>
                      </a:r>
                    </a:p>
                  </a:txBody>
                  <a:tcPr marT="25400" marB="25400">
                    <a:solidFill>
                      <a:srgbClr val="2E5496"/>
                    </a:solidFill>
                  </a:tcPr>
                </a:tc>
              </a:tr>
              <a:tr h="384048">
                <a:tc>
                  <a:txBody>
                    <a:bodyPr wrap="square"/>
                    <a:lstStyle/>
                    <a:p>
                      <a:r>
                        <a:rPr sz="950" b="0" i="0">
                          <a:solidFill>
                            <a:srgbClr val="202020"/>
                          </a:solidFill>
                          <a:latin typeface="Calibri"/>
                        </a:rPr>
                        <a:t>Entra tenant ID (AAD_APP_TENANT_ID)</a:t>
                      </a:r>
                    </a:p>
                  </a:txBody>
                  <a:tcPr marT="12700" marB="12700">
                    <a:solidFill>
                      <a:srgbClr val="FFFFFF"/>
                    </a:solidFill>
                  </a:tcPr>
                </a:tc>
                <a:tc>
                  <a:txBody>
                    <a:bodyPr wrap="square"/>
                    <a:lstStyle/>
                    <a:p>
                      <a:r>
                        <a:rPr sz="950" b="0" i="0">
                          <a:solidFill>
                            <a:srgbClr val="202020"/>
                          </a:solidFill>
                          <a:latin typeface="Calibri"/>
                        </a:rPr>
                        <a:t>Entra tenant admin</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App registration client ID + object ID (AAD_APP_CLIENT_ID / _OBJECT_ID)</a:t>
                      </a:r>
                    </a:p>
                  </a:txBody>
                  <a:tcPr marT="12700" marB="12700">
                    <a:solidFill>
                      <a:srgbClr val="F7F9FC"/>
                    </a:solidFill>
                  </a:tcPr>
                </a:tc>
                <a:tc>
                  <a:txBody>
                    <a:bodyPr wrap="square"/>
                    <a:lstStyle/>
                    <a:p>
                      <a:r>
                        <a:rPr sz="950" b="0" i="0">
                          <a:solidFill>
                            <a:srgbClr val="202020"/>
                          </a:solidFill>
                          <a:latin typeface="Calibri"/>
                        </a:rPr>
                        <a:t>Entra tenant admin</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Graph app client secret OR certificate (secret / GRAPH_CLIENT_CERT_*)</a:t>
                      </a:r>
                    </a:p>
                  </a:txBody>
                  <a:tcPr marT="12700" marB="12700">
                    <a:solidFill>
                      <a:srgbClr val="FFFFFF"/>
                    </a:solidFill>
                  </a:tcPr>
                </a:tc>
                <a:tc>
                  <a:txBody>
                    <a:bodyPr wrap="square"/>
                    <a:lstStyle/>
                    <a:p>
                      <a:r>
                        <a:rPr sz="950" b="0" i="0">
                          <a:solidFill>
                            <a:srgbClr val="202020"/>
                          </a:solidFill>
                          <a:latin typeface="Calibri"/>
                        </a:rPr>
                        <a:t>Entra tenant admin</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Admin-consented Graph app permissions granted (see §8)</a:t>
                      </a:r>
                    </a:p>
                  </a:txBody>
                  <a:tcPr marT="12700" marB="12700">
                    <a:solidFill>
                      <a:srgbClr val="F7F9FC"/>
                    </a:solidFill>
                  </a:tcPr>
                </a:tc>
                <a:tc>
                  <a:txBody>
                    <a:bodyPr wrap="square"/>
                    <a:lstStyle/>
                    <a:p>
                      <a:r>
                        <a:rPr sz="950" b="0" i="0">
                          <a:solidFill>
                            <a:srgbClr val="202020"/>
                          </a:solidFill>
                          <a:latin typeface="Calibri"/>
                        </a:rPr>
                        <a:t>Entra tenant admin</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Key Vault URI (if USE_KEY_VAULT=true)</a:t>
                      </a:r>
                    </a:p>
                  </a:txBody>
                  <a:tcPr marT="12700" marB="12700">
                    <a:solidFill>
                      <a:srgbClr val="FFFFFF"/>
                    </a:solidFill>
                  </a:tcPr>
                </a:tc>
                <a:tc>
                  <a:txBody>
                    <a:bodyPr wrap="square"/>
                    <a:lstStyle/>
                    <a:p>
                      <a:r>
                        <a:rPr sz="950" b="0" i="0">
                          <a:solidFill>
                            <a:srgbClr val="202020"/>
                          </a:solidFill>
                          <a:latin typeface="Calibri"/>
                        </a:rPr>
                        <a:t>Cloud platform team</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Salesforce instance URL (My Domain)</a:t>
                      </a:r>
                    </a:p>
                  </a:txBody>
                  <a:tcPr marT="12700" marB="12700">
                    <a:solidFill>
                      <a:srgbClr val="F7F9FC"/>
                    </a:solidFill>
                  </a:tcPr>
                </a:tc>
                <a:tc>
                  <a:txBody>
                    <a:bodyPr wrap="square"/>
                    <a:lstStyle/>
                    <a:p>
                      <a:r>
                        <a:rPr sz="950" b="0" i="0">
                          <a:solidFill>
                            <a:srgbClr val="202020"/>
                          </a:solidFill>
                          <a:latin typeface="Calibri"/>
                        </a:rPr>
                        <a:t>Salesforce administrator</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Salesforce API version (e.g. v60.0)</a:t>
                      </a:r>
                    </a:p>
                  </a:txBody>
                  <a:tcPr marT="12700" marB="12700">
                    <a:solidFill>
                      <a:srgbClr val="FFFFFF"/>
                    </a:solidFill>
                  </a:tcPr>
                </a:tc>
                <a:tc>
                  <a:txBody>
                    <a:bodyPr wrap="square"/>
                    <a:lstStyle/>
                    <a:p>
                      <a:r>
                        <a:rPr sz="950" b="0" i="0">
                          <a:solidFill>
                            <a:srgbClr val="202020"/>
                          </a:solidFill>
                          <a:latin typeface="Calibri"/>
                        </a:rPr>
                        <a:t>Salesforce administrator</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Connected App consumer key + consumer secret</a:t>
                      </a:r>
                    </a:p>
                  </a:txBody>
                  <a:tcPr marT="12700" marB="12700">
                    <a:solidFill>
                      <a:srgbClr val="F7F9FC"/>
                    </a:solidFill>
                  </a:tcPr>
                </a:tc>
                <a:tc>
                  <a:txBody>
                    <a:bodyPr wrap="square"/>
                    <a:lstStyle/>
                    <a:p>
                      <a:r>
                        <a:rPr sz="950" b="0" i="0">
                          <a:solidFill>
                            <a:srgbClr val="202020"/>
                          </a:solidFill>
                          <a:latin typeface="Calibri"/>
                        </a:rPr>
                        <a:t>Salesforce administrator</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API-enabled, read-only integration (run-as) user</a:t>
                      </a:r>
                    </a:p>
                  </a:txBody>
                  <a:tcPr marT="12700" marB="12700">
                    <a:solidFill>
                      <a:srgbClr val="FFFFFF"/>
                    </a:solidFill>
                  </a:tcPr>
                </a:tc>
                <a:tc>
                  <a:txBody>
                    <a:bodyPr wrap="square"/>
                    <a:lstStyle/>
                    <a:p>
                      <a:r>
                        <a:rPr sz="950" b="0" i="0">
                          <a:solidFill>
                            <a:srgbClr val="202020"/>
                          </a:solidFill>
                          <a:latin typeface="Calibri"/>
                        </a:rPr>
                        <a:t>Salesforce administrator</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Objects &amp; fields in scope (incl. any custom __c)</a:t>
                      </a:r>
                    </a:p>
                  </a:txBody>
                  <a:tcPr marT="12700" marB="12700">
                    <a:solidFill>
                      <a:srgbClr val="F7F9FC"/>
                    </a:solidFill>
                  </a:tcPr>
                </a:tc>
                <a:tc>
                  <a:txBody>
                    <a:bodyPr wrap="square"/>
                    <a:lstStyle/>
                    <a:p>
                      <a:r>
                        <a:rPr sz="950" b="0" i="0">
                          <a:solidFill>
                            <a:srgbClr val="202020"/>
                          </a:solidFill>
                          <a:latin typeface="Calibri"/>
                        </a:rPr>
                        <a:t>Salesforce administrator / data owner</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242</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 Before you start: prerequisites &amp; intake checklist (cont.)</a:t>
            </a:r>
          </a:p>
        </p:txBody>
      </p:sp>
      <p:graphicFrame>
        <p:nvGraphicFramePr>
          <p:cNvPr id="5" name="Table 4"/>
          <p:cNvGraphicFramePr>
            <a:graphicFrameLocks noGrp="1"/>
          </p:cNvGraphicFramePr>
          <p:nvPr/>
        </p:nvGraphicFramePr>
        <p:xfrm>
          <a:off x="502920" y="1188720"/>
          <a:ext cx="11185855" cy="230428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Value to collect</a:t>
                      </a:r>
                    </a:p>
                  </a:txBody>
                  <a:tcPr marT="25400" marB="25400">
                    <a:solidFill>
                      <a:srgbClr val="2E5496"/>
                    </a:solidFill>
                  </a:tcPr>
                </a:tc>
                <a:tc>
                  <a:txBody>
                    <a:bodyPr wrap="square"/>
                    <a:lstStyle/>
                    <a:p>
                      <a:r>
                        <a:rPr sz="1050" b="1" i="0">
                          <a:solidFill>
                            <a:srgbClr val="FFFFFF"/>
                          </a:solidFill>
                          <a:latin typeface="Calibri"/>
                        </a:rPr>
                        <a:t>Where / who it comes from</a:t>
                      </a:r>
                    </a:p>
                  </a:txBody>
                  <a:tcPr marT="25400" marB="25400">
                    <a:solidFill>
                      <a:srgbClr val="2E5496"/>
                    </a:solidFill>
                  </a:tcPr>
                </a:tc>
                <a:tc>
                  <a:txBody>
                    <a:bodyPr wrap="square"/>
                    <a:lstStyle/>
                    <a:p>
                      <a:r>
                        <a:rPr sz="1050" b="1" i="0">
                          <a:solidFill>
                            <a:srgbClr val="FFFFFF"/>
                          </a:solidFill>
                          <a:latin typeface="Calibri"/>
                        </a:rPr>
                        <a:t>Value / provided by</a:t>
                      </a:r>
                    </a:p>
                  </a:txBody>
                  <a:tcPr marT="25400" marB="25400">
                    <a:solidFill>
                      <a:srgbClr val="2E5496"/>
                    </a:solidFill>
                  </a:tcPr>
                </a:tc>
              </a:tr>
              <a:tr h="384048">
                <a:tc>
                  <a:txBody>
                    <a:bodyPr wrap="square"/>
                    <a:lstStyle/>
                    <a:p>
                      <a:r>
                        <a:rPr sz="950" b="0" i="0">
                          <a:solidFill>
                            <a:srgbClr val="202020"/>
                          </a:solidFill>
                          <a:latin typeface="Calibri"/>
                        </a:rPr>
                        <a:t>Connector service account (gMSA / domain / virtual)</a:t>
                      </a:r>
                    </a:p>
                  </a:txBody>
                  <a:tcPr marT="12700" marB="12700">
                    <a:solidFill>
                      <a:srgbClr val="FFFFFF"/>
                    </a:solidFill>
                  </a:tcPr>
                </a:tc>
                <a:tc>
                  <a:txBody>
                    <a:bodyPr wrap="square"/>
                    <a:lstStyle/>
                    <a:p>
                      <a:r>
                        <a:rPr sz="950" b="0" i="0">
                          <a:solidFill>
                            <a:srgbClr val="202020"/>
                          </a:solidFill>
                          <a:latin typeface="Calibri"/>
                        </a:rPr>
                        <a:t>Windows / AD team</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Outbound 443 firewall rules opened (see §4.4)</a:t>
                      </a:r>
                    </a:p>
                  </a:txBody>
                  <a:tcPr marT="12700" marB="12700">
                    <a:solidFill>
                      <a:srgbClr val="F7F9FC"/>
                    </a:solidFill>
                  </a:tcPr>
                </a:tc>
                <a:tc>
                  <a:txBody>
                    <a:bodyPr wrap="square"/>
                    <a:lstStyle/>
                    <a:p>
                      <a:r>
                        <a:rPr sz="950" b="0" i="0">
                          <a:solidFill>
                            <a:srgbClr val="202020"/>
                          </a:solidFill>
                          <a:latin typeface="Calibri"/>
                        </a:rPr>
                        <a:t>Network / firewall team</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Proxy URL + CA bundle (if egress is proxied/inspected)</a:t>
                      </a:r>
                    </a:p>
                  </a:txBody>
                  <a:tcPr marT="12700" marB="12700">
                    <a:solidFill>
                      <a:srgbClr val="FFFFFF"/>
                    </a:solidFill>
                  </a:tcPr>
                </a:tc>
                <a:tc>
                  <a:txBody>
                    <a:bodyPr wrap="square"/>
                    <a:lstStyle/>
                    <a:p>
                      <a:r>
                        <a:rPr sz="950" b="0" i="0">
                          <a:solidFill>
                            <a:srgbClr val="202020"/>
                          </a:solidFill>
                          <a:latin typeface="Calibri"/>
                        </a:rPr>
                        <a:t>Network / firewall team</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SQL Server connection string (only if USE_SQL_SERVER=true / HA)</a:t>
                      </a:r>
                    </a:p>
                  </a:txBody>
                  <a:tcPr marT="12700" marB="12700">
                    <a:solidFill>
                      <a:srgbClr val="F7F9FC"/>
                    </a:solidFill>
                  </a:tcPr>
                </a:tc>
                <a:tc>
                  <a:txBody>
                    <a:bodyPr wrap="square"/>
                    <a:lstStyle/>
                    <a:p>
                      <a:r>
                        <a:rPr sz="950" b="0" i="0">
                          <a:solidFill>
                            <a:srgbClr val="202020"/>
                          </a:solidFill>
                          <a:latin typeface="Calibri"/>
                        </a:rPr>
                        <a:t>DBA team</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CONNECTOR_ID chosen (3-32 alnum, no reserved prefix)</a:t>
                      </a:r>
                    </a:p>
                  </a:txBody>
                  <a:tcPr marT="12700" marB="12700">
                    <a:solidFill>
                      <a:srgbClr val="FFFFFF"/>
                    </a:solidFill>
                  </a:tcPr>
                </a:tc>
                <a:tc>
                  <a:txBody>
                    <a:bodyPr wrap="square"/>
                    <a:lstStyle/>
                    <a:p>
                      <a:r>
                        <a:rPr sz="950" b="0" i="0">
                          <a:solidFill>
                            <a:srgbClr val="202020"/>
                          </a:solidFill>
                          <a:latin typeface="Calibri"/>
                        </a:rPr>
                        <a:t>You / connector platform team</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243</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 Before you start: prerequisites &amp; intake checklist</a:t>
            </a:r>
          </a:p>
        </p:txBody>
      </p:sp>
      <p:sp>
        <p:nvSpPr>
          <p:cNvPr id="5" name="Rectangle 4"/>
          <p:cNvSpPr/>
          <p:nvPr/>
        </p:nvSpPr>
        <p:spPr>
          <a:xfrm>
            <a:off x="502920" y="1463040"/>
            <a:ext cx="11185855" cy="329184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5496"/>
                </a:solidFill>
                <a:latin typeface="Calibri"/>
              </a:rPr>
              <a:t>Note:  </a:t>
            </a:r>
            <a:r>
              <a:rPr sz="1400" b="1" i="0">
                <a:solidFill>
                  <a:srgbClr val="202020"/>
                </a:solidFill>
                <a:latin typeface="Calibri"/>
              </a:rPr>
              <a:t>Note: </a:t>
            </a:r>
            <a:r>
              <a:rPr sz="1400" b="0" i="0">
                <a:solidFill>
                  <a:srgbClr val="202020"/>
                </a:solidFill>
                <a:latin typeface="Calibri"/>
              </a:rPr>
              <a:t>The </a:t>
            </a:r>
            <a:r>
              <a:rPr sz="1400" b="1" i="0">
                <a:solidFill>
                  <a:srgbClr val="202020"/>
                </a:solidFill>
                <a:latin typeface="Calibri"/>
              </a:rPr>
              <a:t>CONNECTOR_ID</a:t>
            </a:r>
            <a:r>
              <a:rPr sz="1400" b="0" i="0">
                <a:solidFill>
                  <a:srgbClr val="202020"/>
                </a:solidFill>
                <a:latin typeface="Calibri"/>
              </a:rPr>
              <a:t> must be 3-32 characters, alphanumeric only, and must not start with a Microsoft-reserved prefix (Microsoft, SharePoint, Teams, Exchange, OneDriveBusiness, Connectors, PowerBI, …). It becomes the on-disk state key (</a:t>
            </a:r>
            <a:r>
              <a:rPr sz="1350" b="0" i="0">
                <a:solidFill>
                  <a:srgbClr val="202020"/>
                </a:solidFill>
                <a:latin typeface="Consolas"/>
              </a:rPr>
              <a:t>data\{CONNECTOR_ID}_identity.db</a:t>
            </a:r>
            <a:r>
              <a:rPr sz="1400" b="0" i="0">
                <a:solidFill>
                  <a:srgbClr val="202020"/>
                </a:solidFill>
                <a:latin typeface="Calibri"/>
              </a:rPr>
              <a:t>, </a:t>
            </a:r>
            <a:r>
              <a:rPr sz="1350" b="0" i="0">
                <a:solidFill>
                  <a:srgbClr val="202020"/>
                </a:solidFill>
                <a:latin typeface="Consolas"/>
              </a:rPr>
              <a:t>logs\checkpoint_{CONNECTOR_ID}.json</a:t>
            </a:r>
            <a:r>
              <a:rPr sz="1400" b="0" i="0">
                <a:solidFill>
                  <a:srgbClr val="202020"/>
                </a:solidFill>
                <a:latin typeface="Calibri"/>
              </a:rPr>
              <a:t>, etc.), so pick it once and do not change it. The shipped default is </a:t>
            </a:r>
            <a:r>
              <a:rPr sz="1350" b="0" i="0">
                <a:solidFill>
                  <a:srgbClr val="202020"/>
                </a:solidFill>
                <a:latin typeface="Consolas"/>
              </a:rPr>
              <a:t>SalesforceCRM</a:t>
            </a:r>
            <a:r>
              <a:rPr sz="1400" b="0" i="0">
                <a:solidFill>
                  <a:srgbClr val="202020"/>
                </a:solidFill>
                <a:latin typeface="Calibri"/>
              </a:rPr>
              <a:t>.</a:t>
            </a:r>
          </a:p>
        </p:txBody>
      </p:sp>
      <p:sp>
        <p:nvSpPr>
          <p:cNvPr id="6" name="Rectangle 5"/>
          <p:cNvSpPr/>
          <p:nvPr/>
        </p:nvSpPr>
        <p:spPr>
          <a:xfrm>
            <a:off x="502920" y="1463040"/>
            <a:ext cx="128016" cy="329184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244</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Salesforce Connector</a:t>
            </a:r>
          </a:p>
          <a:p>
            <a:r>
              <a:rPr sz="3000" b="1" i="0">
                <a:solidFill>
                  <a:srgbClr val="1F3864"/>
                </a:solidFill>
                <a:latin typeface="Calibri"/>
              </a:rPr>
              <a:t>8. Setting it up, step by step</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245</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8. Setting it up, step by step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This is the Salesforce-specific setup path. The shared install mechanics (unzipping the release bundle, the Windows-service installer, SQL/HA and Key Vault wiring) are in the Common Guide — this section tells you what to do for Salesforce and points to the Common Guide where the steps are generic.</a:t>
            </a:r>
          </a:p>
          <a:p>
            <a:pPr>
              <a:spcBef>
                <a:spcPts val="100"/>
              </a:spcBef>
              <a:spcAft>
                <a:spcPts val="400"/>
              </a:spcAft>
            </a:pPr>
            <a:r>
              <a:rPr sz="1250" b="0" i="0">
                <a:solidFill>
                  <a:srgbClr val="202020"/>
                </a:solidFill>
                <a:latin typeface="Calibri"/>
              </a:rPr>
              <a:t>The overall sequence:</a:t>
            </a:r>
          </a:p>
          <a:p>
            <a:pPr>
              <a:spcBef>
                <a:spcPts val="100"/>
              </a:spcBef>
              <a:spcAft>
                <a:spcPts val="200"/>
              </a:spcAft>
            </a:pPr>
            <a:r>
              <a:rPr sz="1250" b="1" i="0">
                <a:solidFill>
                  <a:srgbClr val="2E5496"/>
                </a:solidFill>
                <a:latin typeface="Calibri"/>
              </a:rPr>
              <a:t>1.  </a:t>
            </a:r>
            <a:r>
              <a:rPr sz="1250" b="0" i="0">
                <a:solidFill>
                  <a:srgbClr val="202020"/>
                </a:solidFill>
                <a:latin typeface="Calibri"/>
              </a:rPr>
              <a:t>Confirm prerequisites (§7) and Graph app permissions.</a:t>
            </a:r>
          </a:p>
          <a:p>
            <a:pPr>
              <a:spcBef>
                <a:spcPts val="100"/>
              </a:spcBef>
              <a:spcAft>
                <a:spcPts val="200"/>
              </a:spcAft>
            </a:pPr>
            <a:r>
              <a:rPr sz="1250" b="1" i="0">
                <a:solidFill>
                  <a:srgbClr val="2E5496"/>
                </a:solidFill>
                <a:latin typeface="Calibri"/>
              </a:rPr>
              <a:t>2.  </a:t>
            </a:r>
            <a:r>
              <a:rPr sz="1250" b="0" i="0">
                <a:solidFill>
                  <a:srgbClr val="202020"/>
                </a:solidFill>
                <a:latin typeface="Calibri"/>
              </a:rPr>
              <a:t>Install the connector (service or bundle) — Common Guide.</a:t>
            </a:r>
          </a:p>
          <a:p>
            <a:pPr>
              <a:spcBef>
                <a:spcPts val="100"/>
              </a:spcBef>
              <a:spcAft>
                <a:spcPts val="200"/>
              </a:spcAft>
            </a:pPr>
            <a:r>
              <a:rPr sz="1250" b="1" i="0">
                <a:solidFill>
                  <a:srgbClr val="2E5496"/>
                </a:solidFill>
                <a:latin typeface="Calibri"/>
              </a:rPr>
              <a:t>3.  </a:t>
            </a:r>
            <a:r>
              <a:rPr sz="1250" b="0" i="0">
                <a:solidFill>
                  <a:srgbClr val="202020"/>
                </a:solidFill>
                <a:latin typeface="Calibri"/>
              </a:rPr>
              <a:t>Configure the environment variables.</a:t>
            </a:r>
          </a:p>
          <a:p>
            <a:pPr>
              <a:spcBef>
                <a:spcPts val="100"/>
              </a:spcBef>
              <a:spcAft>
                <a:spcPts val="200"/>
              </a:spcAft>
            </a:pPr>
            <a:r>
              <a:rPr sz="1250" b="1" i="0">
                <a:solidFill>
                  <a:srgbClr val="2E5496"/>
                </a:solidFill>
                <a:latin typeface="Calibri"/>
              </a:rPr>
              <a:t>4.  </a:t>
            </a:r>
            <a:r>
              <a:rPr sz="1250" b="0" i="0">
                <a:solidFill>
                  <a:srgbClr val="202020"/>
                </a:solidFill>
                <a:latin typeface="Calibri"/>
              </a:rPr>
              <a:t>Create the external connection and register the schema.</a:t>
            </a:r>
          </a:p>
          <a:p>
            <a:pPr>
              <a:spcBef>
                <a:spcPts val="100"/>
              </a:spcBef>
              <a:spcAft>
                <a:spcPts val="200"/>
              </a:spcAft>
            </a:pPr>
            <a:r>
              <a:rPr sz="1250" b="1" i="0">
                <a:solidFill>
                  <a:srgbClr val="2E5496"/>
                </a:solidFill>
                <a:latin typeface="Calibri"/>
              </a:rPr>
              <a:t>5.  </a:t>
            </a:r>
            <a:r>
              <a:rPr sz="1250" b="0" i="0">
                <a:solidFill>
                  <a:srgbClr val="202020"/>
                </a:solidFill>
                <a:latin typeface="Calibri"/>
              </a:rPr>
              <a:t>Preview the identity mapping (identity-dry-run).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246</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8. Setting it up, step by step</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6.  </a:t>
            </a:r>
            <a:r>
              <a:rPr sz="1250" b="0" i="0">
                <a:solidFill>
                  <a:srgbClr val="202020"/>
                </a:solidFill>
                <a:latin typeface="Calibri"/>
              </a:rPr>
              <a:t>Run the first full crawl.</a:t>
            </a:r>
          </a:p>
          <a:p>
            <a:pPr>
              <a:spcBef>
                <a:spcPts val="100"/>
              </a:spcBef>
              <a:spcAft>
                <a:spcPts val="200"/>
              </a:spcAft>
            </a:pPr>
            <a:r>
              <a:rPr sz="1250" b="1" i="0">
                <a:solidFill>
                  <a:srgbClr val="2E5496"/>
                </a:solidFill>
                <a:latin typeface="Calibri"/>
              </a:rPr>
              <a:t>7.  </a:t>
            </a:r>
            <a:r>
              <a:rPr sz="1250" b="0" i="0">
                <a:solidFill>
                  <a:srgbClr val="202020"/>
                </a:solidFill>
                <a:latin typeface="Calibri"/>
              </a:rPr>
              <a:t>Verify results in Copilot for two users with different Salesforce access.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247</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Step 1 — Confirm prerequisites &amp; Graph permissions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Work through the §7 checklist. The Entra app registration needs exactly these </a:t>
            </a:r>
            <a:r>
              <a:rPr sz="1250" b="1" i="0">
                <a:solidFill>
                  <a:srgbClr val="202020"/>
                </a:solidFill>
                <a:latin typeface="Calibri"/>
              </a:rPr>
              <a:t>application</a:t>
            </a:r>
            <a:r>
              <a:rPr sz="1250" b="0" i="0">
                <a:solidFill>
                  <a:srgbClr val="202020"/>
                </a:solidFill>
                <a:latin typeface="Calibri"/>
              </a:rPr>
              <a:t> Graph permissions, admin-consented — nothing broader: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248</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Step 1 — Confirm prerequisites &amp; Graph permissions</a:t>
            </a:r>
          </a:p>
        </p:txBody>
      </p:sp>
      <p:graphicFrame>
        <p:nvGraphicFramePr>
          <p:cNvPr id="5" name="Table 4"/>
          <p:cNvGraphicFramePr>
            <a:graphicFrameLocks noGrp="1"/>
          </p:cNvGraphicFramePr>
          <p:nvPr/>
        </p:nvGraphicFramePr>
        <p:xfrm>
          <a:off x="502920" y="1188720"/>
          <a:ext cx="11185854" cy="1536192"/>
        </p:xfrm>
        <a:graphic>
          <a:graphicData uri="http://schemas.openxmlformats.org/drawingml/2006/table">
            <a:tbl>
              <a:tblPr firstRow="1" bandRow="1">
                <a:tableStyleId>{5C22544A-7EE6-4342-B048-85BDC9FD1C3A}</a:tableStyleId>
              </a:tblPr>
              <a:tblGrid>
                <a:gridCol w="3803190"/>
                <a:gridCol w="7382664"/>
              </a:tblGrid>
              <a:tr h="384048">
                <a:tc>
                  <a:txBody>
                    <a:bodyPr wrap="square"/>
                    <a:lstStyle/>
                    <a:p>
                      <a:r>
                        <a:rPr sz="1050" b="1" i="0">
                          <a:solidFill>
                            <a:srgbClr val="FFFFFF"/>
                          </a:solidFill>
                          <a:latin typeface="Calibri"/>
                        </a:rPr>
                        <a:t>Graph application permission</a:t>
                      </a:r>
                    </a:p>
                  </a:txBody>
                  <a:tcPr marT="25400" marB="25400">
                    <a:solidFill>
                      <a:srgbClr val="2E5496"/>
                    </a:solidFill>
                  </a:tcPr>
                </a:tc>
                <a:tc>
                  <a:txBody>
                    <a:bodyPr wrap="square"/>
                    <a:lstStyle/>
                    <a:p>
                      <a:r>
                        <a:rPr sz="1050" b="1" i="0">
                          <a:solidFill>
                            <a:srgbClr val="FFFFFF"/>
                          </a:solidFill>
                          <a:latin typeface="Calibri"/>
                        </a:rPr>
                        <a:t>Why it is needed</a:t>
                      </a:r>
                    </a:p>
                  </a:txBody>
                  <a:tcPr marT="25400" marB="25400">
                    <a:solidFill>
                      <a:srgbClr val="2E5496"/>
                    </a:solidFill>
                  </a:tcPr>
                </a:tc>
              </a:tr>
              <a:tr h="384048">
                <a:tc>
                  <a:txBody>
                    <a:bodyPr wrap="square"/>
                    <a:lstStyle/>
                    <a:p>
                      <a:r>
                        <a:rPr sz="950" b="0" i="0">
                          <a:solidFill>
                            <a:srgbClr val="202020"/>
                          </a:solidFill>
                          <a:latin typeface="Calibri"/>
                        </a:rPr>
                        <a:t>ExternalConnection.ReadWrite.OwnedBy</a:t>
                      </a:r>
                    </a:p>
                  </a:txBody>
                  <a:tcPr marT="12700" marB="12700">
                    <a:solidFill>
                      <a:srgbClr val="FFFFFF"/>
                    </a:solidFill>
                  </a:tcPr>
                </a:tc>
                <a:tc>
                  <a:txBody>
                    <a:bodyPr wrap="square"/>
                    <a:lstStyle/>
                    <a:p>
                      <a:r>
                        <a:rPr sz="950" b="0" i="0">
                          <a:solidFill>
                            <a:srgbClr val="202020"/>
                          </a:solidFill>
                          <a:latin typeface="Calibri"/>
                        </a:rPr>
                        <a:t>Create/manage only the connection this app owns (connection, schema, external groups).</a:t>
                      </a:r>
                    </a:p>
                  </a:txBody>
                  <a:tcPr marT="12700" marB="12700">
                    <a:solidFill>
                      <a:srgbClr val="FFFFFF"/>
                    </a:solidFill>
                  </a:tcPr>
                </a:tc>
              </a:tr>
              <a:tr h="384048">
                <a:tc>
                  <a:txBody>
                    <a:bodyPr wrap="square"/>
                    <a:lstStyle/>
                    <a:p>
                      <a:r>
                        <a:rPr sz="950" b="0" i="0">
                          <a:solidFill>
                            <a:srgbClr val="202020"/>
                          </a:solidFill>
                          <a:latin typeface="Calibri"/>
                        </a:rPr>
                        <a:t>ExternalItem.ReadWrite.OwnedBy</a:t>
                      </a:r>
                    </a:p>
                  </a:txBody>
                  <a:tcPr marT="12700" marB="12700">
                    <a:solidFill>
                      <a:srgbClr val="F7F9FC"/>
                    </a:solidFill>
                  </a:tcPr>
                </a:tc>
                <a:tc>
                  <a:txBody>
                    <a:bodyPr wrap="square"/>
                    <a:lstStyle/>
                    <a:p>
                      <a:r>
                        <a:rPr sz="950" b="0" i="0">
                          <a:solidFill>
                            <a:srgbClr val="202020"/>
                          </a:solidFill>
                          <a:latin typeface="Calibri"/>
                        </a:rPr>
                        <a:t>Write and delete items only in the owned connection.</a:t>
                      </a:r>
                    </a:p>
                  </a:txBody>
                  <a:tcPr marT="12700" marB="12700">
                    <a:solidFill>
                      <a:srgbClr val="F7F9FC"/>
                    </a:solidFill>
                  </a:tcPr>
                </a:tc>
              </a:tr>
              <a:tr h="384048">
                <a:tc>
                  <a:txBody>
                    <a:bodyPr wrap="square"/>
                    <a:lstStyle/>
                    <a:p>
                      <a:r>
                        <a:rPr sz="950" b="0" i="0">
                          <a:solidFill>
                            <a:srgbClr val="202020"/>
                          </a:solidFill>
                          <a:latin typeface="Calibri"/>
                        </a:rPr>
                        <a:t>User.Read.All</a:t>
                      </a:r>
                    </a:p>
                  </a:txBody>
                  <a:tcPr marT="12700" marB="12700">
                    <a:solidFill>
                      <a:srgbClr val="FFFFFF"/>
                    </a:solidFill>
                  </a:tcPr>
                </a:tc>
                <a:tc>
                  <a:txBody>
                    <a:bodyPr wrap="square"/>
                    <a:lstStyle/>
                    <a:p>
                      <a:r>
                        <a:rPr sz="950" b="0" i="0">
                          <a:solidFill>
                            <a:srgbClr val="202020"/>
                          </a:solidFill>
                          <a:latin typeface="Calibri"/>
                        </a:rPr>
                        <a:t>Resolve Salesforce users to Entra object ids for ACLs. (Droppable only if you run public ACLs with no user grants.)</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249</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Step 1 — Confirm prerequisites &amp; Graph permissions</a:t>
            </a:r>
          </a:p>
        </p:txBody>
      </p:sp>
      <p:sp>
        <p:nvSpPr>
          <p:cNvPr id="5" name="Rectangle 4"/>
          <p:cNvSpPr/>
          <p:nvPr/>
        </p:nvSpPr>
        <p:spPr>
          <a:xfrm>
            <a:off x="502920" y="1463040"/>
            <a:ext cx="11185855" cy="3291840"/>
          </a:xfrm>
          <a:prstGeom prst="rect">
            <a:avLst/>
          </a:prstGeom>
          <a:solidFill>
            <a:srgbClr val="F0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6A3D9A"/>
                </a:solidFill>
                <a:latin typeface="Calibri"/>
              </a:rPr>
              <a:t>Information to request:  </a:t>
            </a:r>
            <a:r>
              <a:rPr sz="1400" b="1" i="0">
                <a:solidFill>
                  <a:srgbClr val="202020"/>
                </a:solidFill>
                <a:latin typeface="Calibri"/>
              </a:rPr>
              <a:t>Information to request: </a:t>
            </a:r>
            <a:r>
              <a:rPr sz="1400" b="0" i="0">
                <a:solidFill>
                  <a:srgbClr val="202020"/>
                </a:solidFill>
                <a:latin typeface="Calibri"/>
              </a:rPr>
              <a:t>Ask the </a:t>
            </a:r>
            <a:r>
              <a:rPr sz="1400" b="1" i="0">
                <a:solidFill>
                  <a:srgbClr val="202020"/>
                </a:solidFill>
                <a:latin typeface="Calibri"/>
              </a:rPr>
              <a:t>Entra tenant admin</a:t>
            </a:r>
            <a:r>
              <a:rPr sz="1400" b="0" i="0">
                <a:solidFill>
                  <a:srgbClr val="202020"/>
                </a:solidFill>
                <a:latin typeface="Calibri"/>
              </a:rPr>
              <a:t> to confirm the three permissions above are granted </a:t>
            </a:r>
            <a:r>
              <a:rPr sz="1400" b="1" i="0">
                <a:solidFill>
                  <a:srgbClr val="202020"/>
                </a:solidFill>
                <a:latin typeface="Calibri"/>
              </a:rPr>
              <a:t>as application permissions with admin consent</a:t>
            </a:r>
            <a:r>
              <a:rPr sz="1400" b="0" i="0">
                <a:solidFill>
                  <a:srgbClr val="202020"/>
                </a:solidFill>
                <a:latin typeface="Calibri"/>
              </a:rPr>
              <a:t>, and to supply the tenant ID, app client ID and object ID, and the client secret or certificate. Do </a:t>
            </a:r>
            <a:r>
              <a:rPr sz="1400" b="1" i="0">
                <a:solidFill>
                  <a:srgbClr val="202020"/>
                </a:solidFill>
                <a:latin typeface="Calibri"/>
              </a:rPr>
              <a:t>not</a:t>
            </a:r>
            <a:r>
              <a:rPr sz="1400" b="0" i="0">
                <a:solidFill>
                  <a:srgbClr val="202020"/>
                </a:solidFill>
                <a:latin typeface="Calibri"/>
              </a:rPr>
              <a:t> accept </a:t>
            </a:r>
            <a:r>
              <a:rPr sz="1350" b="0" i="0">
                <a:solidFill>
                  <a:srgbClr val="202020"/>
                </a:solidFill>
                <a:latin typeface="Consolas"/>
              </a:rPr>
              <a:t>ExternalConnection.ReadWrite.All</a:t>
            </a:r>
            <a:r>
              <a:rPr sz="1400" b="0" i="0">
                <a:solidFill>
                  <a:srgbClr val="202020"/>
                </a:solidFill>
                <a:latin typeface="Calibri"/>
              </a:rPr>
              <a:t>, </a:t>
            </a:r>
            <a:r>
              <a:rPr sz="1350" b="0" i="0">
                <a:solidFill>
                  <a:srgbClr val="202020"/>
                </a:solidFill>
                <a:latin typeface="Consolas"/>
              </a:rPr>
              <a:t>ExternalItem.ReadWrite.All</a:t>
            </a:r>
            <a:r>
              <a:rPr sz="1400" b="0" i="0">
                <a:solidFill>
                  <a:srgbClr val="202020"/>
                </a:solidFill>
                <a:latin typeface="Calibri"/>
              </a:rPr>
              <a:t> or </a:t>
            </a:r>
            <a:r>
              <a:rPr sz="1350" b="0" i="0">
                <a:solidFill>
                  <a:srgbClr val="202020"/>
                </a:solidFill>
                <a:latin typeface="Consolas"/>
              </a:rPr>
              <a:t>Directory.Read.All</a:t>
            </a:r>
            <a:r>
              <a:rPr sz="1400" b="0" i="0">
                <a:solidFill>
                  <a:srgbClr val="202020"/>
                </a:solidFill>
                <a:latin typeface="Calibri"/>
              </a:rPr>
              <a:t> — they are broader than needed.</a:t>
            </a:r>
          </a:p>
        </p:txBody>
      </p:sp>
      <p:sp>
        <p:nvSpPr>
          <p:cNvPr id="6" name="Rectangle 5"/>
          <p:cNvSpPr/>
          <p:nvPr/>
        </p:nvSpPr>
        <p:spPr>
          <a:xfrm>
            <a:off x="502920" y="1463040"/>
            <a:ext cx="128016" cy="3291840"/>
          </a:xfrm>
          <a:prstGeom prst="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250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Step 2 — Install the connector</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Install from the release bundle or MSI and register the Windows service as described in the Common Guide (deployment) and §12.3 here. In short: publish/extract to the install directory, copy the </a:t>
            </a:r>
            <a:r>
              <a:rPr sz="1200" b="0" i="0">
                <a:solidFill>
                  <a:srgbClr val="202020"/>
                </a:solidFill>
                <a:latin typeface="Consolas"/>
              </a:rPr>
              <a:t>config\</a:t>
            </a:r>
            <a:r>
              <a:rPr sz="1250" b="0" i="0">
                <a:solidFill>
                  <a:srgbClr val="202020"/>
                </a:solidFill>
                <a:latin typeface="Calibri"/>
              </a:rPr>
              <a:t> and </a:t>
            </a:r>
            <a:r>
              <a:rPr sz="1200" b="0" i="0">
                <a:solidFill>
                  <a:srgbClr val="202020"/>
                </a:solidFill>
                <a:latin typeface="Consolas"/>
              </a:rPr>
              <a:t>env\</a:t>
            </a:r>
            <a:r>
              <a:rPr sz="1250" b="0" i="0">
                <a:solidFill>
                  <a:srgbClr val="202020"/>
                </a:solidFill>
                <a:latin typeface="Calibri"/>
              </a:rPr>
              <a:t> folders next to the executable, then run </a:t>
            </a:r>
            <a:r>
              <a:rPr sz="1200" b="0" i="0">
                <a:solidFill>
                  <a:srgbClr val="202020"/>
                </a:solidFill>
                <a:latin typeface="Consolas"/>
              </a:rPr>
              <a:t>scripts\install-windows-service.ps1 -InstallDir &lt;dir&gt;</a:t>
            </a:r>
            <a:r>
              <a:rPr sz="1250" b="0" i="0">
                <a:solidFill>
                  <a:srgbClr val="202020"/>
                </a:solidFill>
                <a:latin typeface="Calibri"/>
              </a:rPr>
              <a:t>. The service is SCM-aware; a graceful stop finishes the in-flight chunk, flushes the pending Graph batch and saves the checkpoint, so the next start resumes cleanly.</a:t>
            </a:r>
          </a:p>
          <a:p>
            <a:pPr>
              <a:spcBef>
                <a:spcPts val="100"/>
              </a:spcBef>
              <a:spcAft>
                <a:spcPts val="400"/>
              </a:spcAft>
            </a:pPr>
            <a:r>
              <a:rPr sz="1250" b="0" i="0">
                <a:solidFill>
                  <a:srgbClr val="202020"/>
                </a:solidFill>
                <a:latin typeface="Calibri"/>
              </a:rPr>
              <a:t>As of this release the connector also creates its </a:t>
            </a:r>
            <a:r>
              <a:rPr sz="1200" b="0" i="0">
                <a:solidFill>
                  <a:srgbClr val="202020"/>
                </a:solidFill>
                <a:latin typeface="Consolas"/>
              </a:rPr>
              <a:t>logs\</a:t>
            </a:r>
            <a:r>
              <a:rPr sz="1250" b="0" i="0">
                <a:solidFill>
                  <a:srgbClr val="202020"/>
                </a:solidFill>
                <a:latin typeface="Calibri"/>
              </a:rPr>
              <a:t>, </a:t>
            </a:r>
            <a:r>
              <a:rPr sz="1200" b="0" i="0">
                <a:solidFill>
                  <a:srgbClr val="202020"/>
                </a:solidFill>
                <a:latin typeface="Consolas"/>
              </a:rPr>
              <a:t>data\</a:t>
            </a:r>
            <a:r>
              <a:rPr sz="1250" b="0" i="0">
                <a:solidFill>
                  <a:srgbClr val="202020"/>
                </a:solidFill>
                <a:latin typeface="Calibri"/>
              </a:rPr>
              <a:t> and dead-letter directories </a:t>
            </a:r>
            <a:r>
              <a:rPr sz="1250" b="1" i="0">
                <a:solidFill>
                  <a:srgbClr val="202020"/>
                </a:solidFill>
                <a:latin typeface="Calibri"/>
              </a:rPr>
              <a:t>owner-only</a:t>
            </a:r>
            <a:r>
              <a:rPr sz="1250" b="0" i="0">
                <a:solidFill>
                  <a:srgbClr val="202020"/>
                </a:solidFill>
                <a:latin typeface="Calibri"/>
              </a:rPr>
              <a:t> at startup (POSIX </a:t>
            </a:r>
            <a:r>
              <a:rPr sz="1200" b="0" i="0">
                <a:solidFill>
                  <a:srgbClr val="202020"/>
                </a:solidFill>
                <a:latin typeface="Consolas"/>
              </a:rPr>
              <a:t>0700</a:t>
            </a:r>
            <a:r>
              <a:rPr sz="1250" b="0" i="0">
                <a:solidFill>
                  <a:srgbClr val="202020"/>
                </a:solidFill>
                <a:latin typeface="Calibri"/>
              </a:rPr>
              <a:t>; on Windows a best-effort owner+Administrators grant via </a:t>
            </a:r>
            <a:r>
              <a:rPr sz="1200" b="0" i="0">
                <a:solidFill>
                  <a:srgbClr val="202020"/>
                </a:solidFill>
                <a:latin typeface="Consolas"/>
              </a:rPr>
              <a:t>icacls</a:t>
            </a:r>
            <a:r>
              <a:rPr sz="1250" b="0" i="0">
                <a:solidFill>
                  <a:srgbClr val="202020"/>
                </a:solidFill>
                <a:latin typeface="Calibri"/>
              </a:rPr>
              <a:t>). This is a defence-in-depth hardening step, not a prerequisite — it is best-effort and never blocks startup — but you should still ACL these directories to the service account per the Common Guide / SECURITY.md.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251</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Step 3 — Configure environment variables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Copy </a:t>
            </a:r>
            <a:r>
              <a:rPr sz="1200" b="0" i="0">
                <a:solidFill>
                  <a:srgbClr val="202020"/>
                </a:solidFill>
                <a:latin typeface="Consolas"/>
              </a:rPr>
              <a:t>env\.env.local.example</a:t>
            </a:r>
            <a:r>
              <a:rPr sz="1250" b="0" i="0">
                <a:solidFill>
                  <a:srgbClr val="202020"/>
                </a:solidFill>
                <a:latin typeface="Calibri"/>
              </a:rPr>
              <a:t> to </a:t>
            </a:r>
            <a:r>
              <a:rPr sz="1200" b="0" i="0">
                <a:solidFill>
                  <a:srgbClr val="202020"/>
                </a:solidFill>
                <a:latin typeface="Consolas"/>
              </a:rPr>
              <a:t>env\.env.local</a:t>
            </a:r>
            <a:r>
              <a:rPr sz="1250" b="0" i="0">
                <a:solidFill>
                  <a:srgbClr val="202020"/>
                </a:solidFill>
                <a:latin typeface="Calibri"/>
              </a:rPr>
              <a:t> and fill in the non-secret values (connector id/name, Salesforce instance URL and API version, Salesforce client id, Entra app/tenant ids and authority). Put every </a:t>
            </a:r>
            <a:r>
              <a:rPr sz="1200" b="0" i="0">
                <a:solidFill>
                  <a:srgbClr val="202020"/>
                </a:solidFill>
                <a:latin typeface="Consolas"/>
              </a:rPr>
              <a:t>SECRET_*</a:t>
            </a:r>
            <a:r>
              <a:rPr sz="1250" b="0" i="0">
                <a:solidFill>
                  <a:srgbClr val="202020"/>
                </a:solidFill>
                <a:latin typeface="Calibri"/>
              </a:rPr>
              <a:t> value (the Salesforce consumer secret and the Entra client secret) in </a:t>
            </a:r>
            <a:r>
              <a:rPr sz="1200" b="0" i="0">
                <a:solidFill>
                  <a:srgbClr val="202020"/>
                </a:solidFill>
                <a:latin typeface="Consolas"/>
              </a:rPr>
              <a:t>env\.env.local.user</a:t>
            </a:r>
            <a:r>
              <a:rPr sz="1250" b="0" i="0">
                <a:solidFill>
                  <a:srgbClr val="202020"/>
                </a:solidFill>
                <a:latin typeface="Calibri"/>
              </a:rPr>
              <a:t>, or in Key Vault when </a:t>
            </a:r>
            <a:r>
              <a:rPr sz="1200" b="0" i="0">
                <a:solidFill>
                  <a:srgbClr val="202020"/>
                </a:solidFill>
                <a:latin typeface="Consolas"/>
              </a:rPr>
              <a:t>USE_KEY_VAULT=true</a:t>
            </a:r>
            <a:r>
              <a:rPr sz="1250" b="0" i="0">
                <a:solidFill>
                  <a:srgbClr val="202020"/>
                </a:solidFill>
                <a:latin typeface="Calibri"/>
              </a:rPr>
              <a:t>. §12 is the full variable reference.</a:t>
            </a:r>
          </a:p>
          <a:p>
            <a:pPr>
              <a:spcBef>
                <a:spcPts val="100"/>
              </a:spcBef>
              <a:spcAft>
                <a:spcPts val="400"/>
              </a:spcAft>
            </a:pPr>
            <a:r>
              <a:rPr sz="1250" b="0" i="0">
                <a:solidFill>
                  <a:srgbClr val="202020"/>
                </a:solidFill>
                <a:latin typeface="Calibri"/>
              </a:rPr>
              <a:t>Then validate before any long run:</a:t>
            </a:r>
          </a:p>
          <a:p>
            <a:pPr>
              <a:spcBef>
                <a:spcPts val="100"/>
              </a:spcBef>
              <a:spcAft>
                <a:spcPts val="400"/>
              </a:spcAft>
            </a:pPr>
            <a:r>
              <a:rPr sz="1200" b="0" i="0">
                <a:solidFill>
                  <a:srgbClr val="202020"/>
                </a:solidFill>
                <a:latin typeface="Consolas"/>
              </a:rPr>
              <a:t>SalesforceCopilotConnector validate-config --strict</a:t>
            </a:r>
          </a:p>
          <a:p>
            <a:pPr>
              <a:spcBef>
                <a:spcPts val="100"/>
              </a:spcBef>
              <a:spcAft>
                <a:spcPts val="400"/>
              </a:spcAft>
            </a:pPr>
            <a:r>
              <a:rPr sz="1200" b="0" i="0">
                <a:solidFill>
                  <a:srgbClr val="202020"/>
                </a:solidFill>
                <a:latin typeface="Consolas"/>
              </a:rPr>
              <a:t>validate-config --strict</a:t>
            </a:r>
            <a:r>
              <a:rPr sz="1250" b="0" i="0">
                <a:solidFill>
                  <a:srgbClr val="202020"/>
                </a:solidFill>
                <a:latin typeface="Calibri"/>
              </a:rPr>
              <a:t> checks the environment, config files, schema shape, and (best-effort) both Salesforce and Graph connectivity, naming any failing credential. Fix everything it reports before continuing.</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252</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Step 4 — Create the external connection &amp; register the schema</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Run </a:t>
            </a:r>
            <a:r>
              <a:rPr sz="1200" b="0" i="0">
                <a:solidFill>
                  <a:srgbClr val="202020"/>
                </a:solidFill>
                <a:latin typeface="Consolas"/>
              </a:rPr>
              <a:t>setup-connection</a:t>
            </a:r>
            <a:r>
              <a:rPr sz="1250" b="0" i="0">
                <a:solidFill>
                  <a:srgbClr val="202020"/>
                </a:solidFill>
                <a:latin typeface="Calibri"/>
              </a:rPr>
              <a:t> to create (or verify) the Graph external connection and register the schema from </a:t>
            </a:r>
            <a:r>
              <a:rPr sz="1200" b="0" i="0">
                <a:solidFill>
                  <a:srgbClr val="202020"/>
                </a:solidFill>
                <a:latin typeface="Consolas"/>
              </a:rPr>
              <a:t>config/graph-schema.json</a:t>
            </a:r>
            <a:r>
              <a:rPr sz="1250" b="0" i="0">
                <a:solidFill>
                  <a:srgbClr val="202020"/>
                </a:solidFill>
                <a:latin typeface="Calibri"/>
              </a:rPr>
              <a:t>:</a:t>
            </a:r>
          </a:p>
          <a:p>
            <a:pPr>
              <a:spcBef>
                <a:spcPts val="100"/>
              </a:spcBef>
              <a:spcAft>
                <a:spcPts val="400"/>
              </a:spcAft>
            </a:pPr>
            <a:r>
              <a:rPr sz="1200" b="0" i="0">
                <a:solidFill>
                  <a:srgbClr val="202020"/>
                </a:solidFill>
                <a:latin typeface="Consolas"/>
              </a:rPr>
              <a:t>SalesforceCopilotConnector setup-connection --verbose</a:t>
            </a:r>
          </a:p>
          <a:p>
            <a:pPr>
              <a:spcBef>
                <a:spcPts val="100"/>
              </a:spcBef>
              <a:spcAft>
                <a:spcPts val="400"/>
              </a:spcAft>
            </a:pPr>
            <a:r>
              <a:rPr sz="1250" b="0" i="0">
                <a:solidFill>
                  <a:srgbClr val="202020"/>
                </a:solidFill>
                <a:latin typeface="Calibri"/>
              </a:rPr>
              <a:t>Schema is provisioned asynchronously by Graph and, once registered, refinable attributes cannot be changed by update and the schema cannot be deleted — so get the object/field scope right (with the Salesforce admin and data owner) before this step. This is a shared mechanism; see the Common Guide for the connection/schema lifecycle.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253</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Step 5 — Preview the identity mapping</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Before indexing any content, preview how Salesforce users map to Entra identities:</a:t>
            </a:r>
          </a:p>
          <a:p>
            <a:pPr>
              <a:spcBef>
                <a:spcPts val="100"/>
              </a:spcBef>
              <a:spcAft>
                <a:spcPts val="400"/>
              </a:spcAft>
            </a:pPr>
            <a:r>
              <a:rPr sz="1200" b="0" i="0">
                <a:solidFill>
                  <a:srgbClr val="202020"/>
                </a:solidFill>
                <a:latin typeface="Consolas"/>
              </a:rPr>
              <a:t>SalesforceCopilotConnector identity-dry-run --save --verbose</a:t>
            </a:r>
          </a:p>
          <a:p>
            <a:pPr>
              <a:spcBef>
                <a:spcPts val="100"/>
              </a:spcBef>
              <a:spcAft>
                <a:spcPts val="400"/>
              </a:spcAft>
            </a:pPr>
            <a:r>
              <a:rPr sz="1250" b="0" i="0">
                <a:solidFill>
                  <a:srgbClr val="202020"/>
                </a:solidFill>
                <a:latin typeface="Calibri"/>
              </a:rPr>
              <a:t>Review the coverage. A high proportion of unmapped users means the FederationIdentifier / UserName / Email values in Salesforce do not line up with Entra — resolve that with the Salesforce and Entra admins now, because unmapped users are silently left off ACLs (§5.5).</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254</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Step 6 — Run the first full crawl</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Run a full deployment. It runs the identity crawl first (required for group ACLs), then ingests content with ACLs:</a:t>
            </a:r>
          </a:p>
          <a:p>
            <a:pPr>
              <a:spcBef>
                <a:spcPts val="100"/>
              </a:spcBef>
              <a:spcAft>
                <a:spcPts val="400"/>
              </a:spcAft>
            </a:pPr>
            <a:r>
              <a:rPr sz="1200" b="0" i="0">
                <a:solidFill>
                  <a:srgbClr val="202020"/>
                </a:solidFill>
                <a:latin typeface="Consolas"/>
              </a:rPr>
              <a:t>SalesforceCopilotConnector full-deployment --verbose</a:t>
            </a:r>
          </a:p>
          <a:p>
            <a:pPr>
              <a:spcBef>
                <a:spcPts val="100"/>
              </a:spcBef>
              <a:spcAft>
                <a:spcPts val="400"/>
              </a:spcAft>
            </a:pPr>
            <a:r>
              <a:rPr sz="1250" b="0" i="0">
                <a:solidFill>
                  <a:srgbClr val="202020"/>
                </a:solidFill>
                <a:latin typeface="Calibri"/>
              </a:rPr>
              <a:t>For production, run it continuously so full and incremental crawls are scheduled automatically (this is what the service installs by default):</a:t>
            </a:r>
          </a:p>
          <a:p>
            <a:pPr>
              <a:spcBef>
                <a:spcPts val="100"/>
              </a:spcBef>
              <a:spcAft>
                <a:spcPts val="400"/>
              </a:spcAft>
            </a:pPr>
            <a:r>
              <a:rPr sz="1200" b="0" i="0">
                <a:solidFill>
                  <a:srgbClr val="202020"/>
                </a:solidFill>
                <a:latin typeface="Consolas"/>
              </a:rPr>
              <a:t>SalesforceCopilotConnector full-deployment --continuous --full-crawl-hours 24 --incremental-hours 4</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255</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Step 6 — Run the first full crawl</a:t>
            </a:r>
          </a:p>
        </p:txBody>
      </p:sp>
      <p:sp>
        <p:nvSpPr>
          <p:cNvPr id="5" name="Rectangle 4"/>
          <p:cNvSpPr/>
          <p:nvPr/>
        </p:nvSpPr>
        <p:spPr>
          <a:xfrm>
            <a:off x="502920" y="1463040"/>
            <a:ext cx="11185855" cy="329184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5496"/>
                </a:solidFill>
                <a:latin typeface="Calibri"/>
              </a:rPr>
              <a:t>Note:  </a:t>
            </a:r>
            <a:r>
              <a:rPr sz="1400" b="1" i="0">
                <a:solidFill>
                  <a:srgbClr val="202020"/>
                </a:solidFill>
                <a:latin typeface="Calibri"/>
              </a:rPr>
              <a:t>Note: </a:t>
            </a:r>
            <a:r>
              <a:rPr sz="1400" b="0" i="0">
                <a:solidFill>
                  <a:srgbClr val="202020"/>
                </a:solidFill>
                <a:latin typeface="Calibri"/>
              </a:rPr>
              <a:t>A first full crawl of a large org takes hours — plan for roughly </a:t>
            </a:r>
            <a:r>
              <a:rPr sz="1400" b="1" i="0">
                <a:solidFill>
                  <a:srgbClr val="202020"/>
                </a:solidFill>
                <a:latin typeface="Calibri"/>
              </a:rPr>
              <a:t>25 items/second per connection</a:t>
            </a:r>
            <a:r>
              <a:rPr sz="1400" b="0" i="0">
                <a:solidFill>
                  <a:srgbClr val="202020"/>
                </a:solidFill>
                <a:latin typeface="Calibri"/>
              </a:rPr>
              <a:t> (about 90,000/hour), so ~11-16 hours per million records. See §10 for what a healthy crawl looks like and the Common Guide / capacity notes for sharding when you need more throughput.</a:t>
            </a:r>
          </a:p>
        </p:txBody>
      </p:sp>
      <p:sp>
        <p:nvSpPr>
          <p:cNvPr id="6" name="Rectangle 5"/>
          <p:cNvSpPr/>
          <p:nvPr/>
        </p:nvSpPr>
        <p:spPr>
          <a:xfrm>
            <a:off x="502920" y="1463040"/>
            <a:ext cx="128016" cy="329184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256</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Step 7 — Verify trimming with two test users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This is the acceptance test that proves the crown-jewel feature works. Pick two Entra users who have </a:t>
            </a:r>
            <a:r>
              <a:rPr sz="1250" b="1" i="0">
                <a:solidFill>
                  <a:srgbClr val="202020"/>
                </a:solidFill>
                <a:latin typeface="Calibri"/>
              </a:rPr>
              <a:t>deliberately different</a:t>
            </a:r>
            <a:r>
              <a:rPr sz="1250" b="0" i="0">
                <a:solidFill>
                  <a:srgbClr val="202020"/>
                </a:solidFill>
                <a:latin typeface="Calibri"/>
              </a:rPr>
              <a:t> Salesforce access — for example one relationship manager who owns a specific Account, and one user with no share on it. After the crawl completes:</a:t>
            </a:r>
          </a:p>
          <a:p>
            <a:pPr>
              <a:spcBef>
                <a:spcPts val="100"/>
              </a:spcBef>
              <a:spcAft>
                <a:spcPts val="200"/>
              </a:spcAft>
            </a:pPr>
            <a:r>
              <a:rPr sz="1250" b="1" i="0">
                <a:solidFill>
                  <a:srgbClr val="2E5496"/>
                </a:solidFill>
                <a:latin typeface="Calibri"/>
              </a:rPr>
              <a:t>•  </a:t>
            </a:r>
            <a:r>
              <a:rPr sz="1250" b="0" i="0">
                <a:solidFill>
                  <a:srgbClr val="202020"/>
                </a:solidFill>
                <a:latin typeface="Calibri"/>
              </a:rPr>
              <a:t>As user A, ask Copilot a question that should surface a record A can see in Salesforce — confirm it appears.</a:t>
            </a:r>
          </a:p>
          <a:p>
            <a:pPr>
              <a:spcBef>
                <a:spcPts val="100"/>
              </a:spcBef>
              <a:spcAft>
                <a:spcPts val="200"/>
              </a:spcAft>
            </a:pPr>
            <a:r>
              <a:rPr sz="1250" b="1" i="0">
                <a:solidFill>
                  <a:srgbClr val="2E5496"/>
                </a:solidFill>
                <a:latin typeface="Calibri"/>
              </a:rPr>
              <a:t>•  </a:t>
            </a:r>
            <a:r>
              <a:rPr sz="1250" b="0" i="0">
                <a:solidFill>
                  <a:srgbClr val="202020"/>
                </a:solidFill>
                <a:latin typeface="Calibri"/>
              </a:rPr>
              <a:t>As user B (who cannot see that record in Salesforce), ask the same question — confirm the record does </a:t>
            </a:r>
            <a:r>
              <a:rPr sz="1250" b="1" i="0">
                <a:solidFill>
                  <a:srgbClr val="202020"/>
                </a:solidFill>
                <a:latin typeface="Calibri"/>
              </a:rPr>
              <a:t>not</a:t>
            </a:r>
            <a:r>
              <a:rPr sz="1250" b="0" i="0">
                <a:solidFill>
                  <a:srgbClr val="202020"/>
                </a:solidFill>
                <a:latin typeface="Calibri"/>
              </a:rPr>
              <a:t> appear.</a:t>
            </a:r>
          </a:p>
          <a:p>
            <a:pPr>
              <a:spcBef>
                <a:spcPts val="100"/>
              </a:spcBef>
              <a:spcAft>
                <a:spcPts val="200"/>
              </a:spcAft>
            </a:pPr>
            <a:r>
              <a:rPr sz="1250" b="1" i="0">
                <a:solidFill>
                  <a:srgbClr val="2E5496"/>
                </a:solidFill>
                <a:latin typeface="Calibri"/>
              </a:rPr>
              <a:t>•  </a:t>
            </a:r>
            <a:r>
              <a:rPr sz="1250" b="0" i="0">
                <a:solidFill>
                  <a:srgbClr val="202020"/>
                </a:solidFill>
                <a:latin typeface="Calibri"/>
              </a:rPr>
              <a:t>Optionally check a role-hierarchy case: A's manager should see A's records; a peer should not.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257</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Step 7 — Verify trimming with two test users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If both users see the same thing, or a user sees a record they should not, stop and treat it as an ACL/identity problem (§11) — do not roll out further until trimming is proven.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258</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Salesforce Connector</a:t>
            </a:r>
          </a:p>
          <a:p>
            <a:r>
              <a:rPr sz="3000" b="1" i="0">
                <a:solidFill>
                  <a:srgbClr val="1F3864"/>
                </a:solidFill>
                <a:latin typeface="Calibri"/>
              </a:rPr>
              <a:t>9. Running it day to day</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259</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9.1 Full vs incremental crawls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In continuous mode the connector alternates two crawl types on the schedule you set:</a:t>
            </a:r>
          </a:p>
          <a:p>
            <a:pPr>
              <a:spcBef>
                <a:spcPts val="100"/>
              </a:spcBef>
              <a:spcAft>
                <a:spcPts val="200"/>
              </a:spcAft>
            </a:pPr>
            <a:r>
              <a:rPr sz="1250" b="1" i="0">
                <a:solidFill>
                  <a:srgbClr val="2E5496"/>
                </a:solidFill>
                <a:latin typeface="Calibri"/>
              </a:rPr>
              <a:t>•  </a:t>
            </a:r>
            <a:r>
              <a:rPr sz="1250" b="1" i="0">
                <a:solidFill>
                  <a:srgbClr val="202020"/>
                </a:solidFill>
                <a:latin typeface="Calibri"/>
              </a:rPr>
              <a:t>Full crawl</a:t>
            </a:r>
            <a:r>
              <a:rPr sz="1250" b="0" i="0">
                <a:solidFill>
                  <a:srgbClr val="202020"/>
                </a:solidFill>
                <a:latin typeface="Calibri"/>
              </a:rPr>
              <a:t> (</a:t>
            </a:r>
            <a:r>
              <a:rPr sz="1200" b="0" i="0">
                <a:solidFill>
                  <a:srgbClr val="202020"/>
                </a:solidFill>
                <a:latin typeface="Consolas"/>
              </a:rPr>
              <a:t>--full-crawl-hours</a:t>
            </a:r>
            <a:r>
              <a:rPr sz="1250" b="0" i="0">
                <a:solidFill>
                  <a:srgbClr val="202020"/>
                </a:solidFill>
                <a:latin typeface="Calibri"/>
              </a:rPr>
              <a:t>, default 24, minimum 12) — re-reads every in-scope record, refreshes ACLs from a fresh identity crawl, and runs the deletion sweep (§9.3).</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260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9.1 Full vs incremental crawls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Incremental crawl</a:t>
            </a:r>
            <a:r>
              <a:rPr sz="1250" b="0" i="0">
                <a:solidFill>
                  <a:srgbClr val="202020"/>
                </a:solidFill>
                <a:latin typeface="Calibri"/>
              </a:rPr>
              <a:t> (</a:t>
            </a:r>
            <a:r>
              <a:rPr sz="1200" b="0" i="0">
                <a:solidFill>
                  <a:srgbClr val="202020"/>
                </a:solidFill>
                <a:latin typeface="Consolas"/>
              </a:rPr>
              <a:t>--incremental-hours</a:t>
            </a:r>
            <a:r>
              <a:rPr sz="1250" b="0" i="0">
                <a:solidFill>
                  <a:srgbClr val="202020"/>
                </a:solidFill>
                <a:latin typeface="Calibri"/>
              </a:rPr>
              <a:t>, default 4, minimum 1) — reads only records whose LastModifiedDate is newer than the last run. Incremental crawls do </a:t>
            </a:r>
            <a:r>
              <a:rPr sz="1250" b="1" i="0">
                <a:solidFill>
                  <a:srgbClr val="202020"/>
                </a:solidFill>
                <a:latin typeface="Calibri"/>
              </a:rPr>
              <a:t>not</a:t>
            </a:r>
            <a:r>
              <a:rPr sz="1250" b="0" i="0">
                <a:solidFill>
                  <a:srgbClr val="202020"/>
                </a:solidFill>
                <a:latin typeface="Calibri"/>
              </a:rPr>
              <a:t> run the deletion sweep (a changed-only view cannot prove a record is gone). Since this release they </a:t>
            </a:r>
            <a:r>
              <a:rPr sz="1250" b="1" i="0">
                <a:solidFill>
                  <a:srgbClr val="202020"/>
                </a:solidFill>
                <a:latin typeface="Calibri"/>
              </a:rPr>
              <a:t>do</a:t>
            </a:r>
            <a:r>
              <a:rPr sz="1250" b="0" i="0">
                <a:solidFill>
                  <a:srgbClr val="202020"/>
                </a:solidFill>
                <a:latin typeface="Calibri"/>
              </a:rPr>
              <a:t> refresh identities by default: </a:t>
            </a:r>
            <a:r>
              <a:rPr sz="1200" b="0" i="0">
                <a:solidFill>
                  <a:srgbClr val="202020"/>
                </a:solidFill>
                <a:latin typeface="Consolas"/>
              </a:rPr>
              <a:t>IDENTITY_SYNC_ON_INCREMENTAL</a:t>
            </a:r>
            <a:r>
              <a:rPr sz="1250" b="0" i="0">
                <a:solidFill>
                  <a:srgbClr val="202020"/>
                </a:solidFill>
                <a:latin typeface="Calibri"/>
              </a:rPr>
              <a:t> now defaults to </a:t>
            </a:r>
            <a:r>
              <a:rPr sz="1250" b="1" i="0">
                <a:solidFill>
                  <a:srgbClr val="202020"/>
                </a:solidFill>
                <a:latin typeface="Calibri"/>
              </a:rPr>
              <a:t>true</a:t>
            </a:r>
            <a:r>
              <a:rPr sz="1250" b="0" i="0">
                <a:solidFill>
                  <a:srgbClr val="202020"/>
                </a:solidFill>
                <a:latin typeface="Calibri"/>
              </a:rPr>
              <a:t> (opt-out), so an entitlement change — a user added to or removed from a Salesforce role/group — is reflected in Copilot at the next incremental instead of waiting for the next full crawl. This only matters when </a:t>
            </a:r>
            <a:r>
              <a:rPr sz="1200" b="0" i="0">
                <a:solidFill>
                  <a:srgbClr val="202020"/>
                </a:solidFill>
                <a:latin typeface="Consolas"/>
              </a:rPr>
              <a:t>USE_GROUP_ACL=true</a:t>
            </a:r>
            <a:r>
              <a:rPr sz="1250" b="0" i="0">
                <a:solidFill>
                  <a:srgbClr val="202020"/>
                </a:solidFill>
                <a:latin typeface="Calibri"/>
              </a:rPr>
              <a:t> (the default); set </a:t>
            </a:r>
            <a:r>
              <a:rPr sz="1200" b="0" i="0">
                <a:solidFill>
                  <a:srgbClr val="202020"/>
                </a:solidFill>
                <a:latin typeface="Consolas"/>
              </a:rPr>
              <a:t>IDENTITY_SYNC_ON_INCREMENTAL=false</a:t>
            </a:r>
            <a:r>
              <a:rPr sz="1250" b="0" i="0">
                <a:solidFill>
                  <a:srgbClr val="202020"/>
                </a:solidFill>
                <a:latin typeface="Calibri"/>
              </a:rPr>
              <a:t> to sync identities on full crawls only (the previous behaviour). The residual lag is still </a:t>
            </a:r>
            <a:r>
              <a:rPr sz="1250" b="1" i="0">
                <a:solidFill>
                  <a:srgbClr val="202020"/>
                </a:solidFill>
                <a:latin typeface="Calibri"/>
              </a:rPr>
              <a:t>not real-time</a:t>
            </a:r>
            <a:r>
              <a:rPr sz="1250" b="0" i="0">
                <a:solidFill>
                  <a:srgbClr val="202020"/>
                </a:solidFill>
                <a:latin typeface="Calibri"/>
              </a:rPr>
              <a:t> — access is re-evaluated only when a crawl runs (bounded by the incremental interval), and unchanged content is re-ACL'd on the re-ACL cadence (full crawls). For tighter guarantees shorten the incremental cadence and keep a periodic full crawl.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261</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9.2 Reconcile and retry</a:t>
            </a:r>
          </a:p>
        </p:txBody>
      </p:sp>
      <p:graphicFrame>
        <p:nvGraphicFramePr>
          <p:cNvPr id="5" name="Table 4"/>
          <p:cNvGraphicFramePr>
            <a:graphicFrameLocks noGrp="1"/>
          </p:cNvGraphicFramePr>
          <p:nvPr/>
        </p:nvGraphicFramePr>
        <p:xfrm>
          <a:off x="502920" y="1188720"/>
          <a:ext cx="11185855" cy="230428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Task</a:t>
                      </a:r>
                    </a:p>
                  </a:txBody>
                  <a:tcPr marT="25400" marB="25400">
                    <a:solidFill>
                      <a:srgbClr val="2E5496"/>
                    </a:solidFill>
                  </a:tcPr>
                </a:tc>
                <a:tc>
                  <a:txBody>
                    <a:bodyPr wrap="square"/>
                    <a:lstStyle/>
                    <a:p>
                      <a:r>
                        <a:rPr sz="1050" b="1" i="0">
                          <a:solidFill>
                            <a:srgbClr val="FFFFFF"/>
                          </a:solidFill>
                          <a:latin typeface="Calibri"/>
                        </a:rPr>
                        <a:t>Command</a:t>
                      </a:r>
                    </a:p>
                  </a:txBody>
                  <a:tcPr marT="25400" marB="25400">
                    <a:solidFill>
                      <a:srgbClr val="2E5496"/>
                    </a:solidFill>
                  </a:tcPr>
                </a:tc>
                <a:tc>
                  <a:txBody>
                    <a:bodyPr wrap="square"/>
                    <a:lstStyle/>
                    <a:p>
                      <a:r>
                        <a:rPr sz="1050" b="1" i="0">
                          <a:solidFill>
                            <a:srgbClr val="FFFFFF"/>
                          </a:solidFill>
                          <a:latin typeface="Calibri"/>
                        </a:rPr>
                        <a:t>When to use</a:t>
                      </a:r>
                    </a:p>
                  </a:txBody>
                  <a:tcPr marT="25400" marB="25400">
                    <a:solidFill>
                      <a:srgbClr val="2E5496"/>
                    </a:solidFill>
                  </a:tcPr>
                </a:tc>
              </a:tr>
              <a:tr h="384048">
                <a:tc>
                  <a:txBody>
                    <a:bodyPr wrap="square"/>
                    <a:lstStyle/>
                    <a:p>
                      <a:r>
                        <a:rPr sz="950" b="0" i="0">
                          <a:solidFill>
                            <a:srgbClr val="202020"/>
                          </a:solidFill>
                          <a:latin typeface="Calibri"/>
                        </a:rPr>
                        <a:t>Reconcile drift</a:t>
                      </a:r>
                    </a:p>
                  </a:txBody>
                  <a:tcPr marT="12700" marB="12700">
                    <a:solidFill>
                      <a:srgbClr val="FFFFFF"/>
                    </a:solidFill>
                  </a:tcPr>
                </a:tc>
                <a:tc>
                  <a:txBody>
                    <a:bodyPr wrap="square"/>
                    <a:lstStyle/>
                    <a:p>
                      <a:r>
                        <a:rPr sz="950" b="0" i="0">
                          <a:solidFill>
                            <a:srgbClr val="202020"/>
                          </a:solidFill>
                          <a:latin typeface="Calibri"/>
                        </a:rPr>
                        <a:t>reconcile [--type X]</a:t>
                      </a:r>
                    </a:p>
                  </a:txBody>
                  <a:tcPr marT="12700" marB="12700">
                    <a:solidFill>
                      <a:srgbClr val="FFFFFF"/>
                    </a:solidFill>
                  </a:tcPr>
                </a:tc>
                <a:tc>
                  <a:txBody>
                    <a:bodyPr wrap="square"/>
                    <a:lstStyle/>
                    <a:p>
                      <a:r>
                        <a:rPr sz="950" b="0" i="0">
                          <a:solidFill>
                            <a:srgbClr val="202020"/>
                          </a:solidFill>
                          <a:latin typeface="Calibri"/>
                        </a:rPr>
                        <a:t>Report items MISSING (in SF, not indexed) or STALE (indexed, gone from SF). Exit code 0 = no drift; fits a cron check.</a:t>
                      </a:r>
                    </a:p>
                  </a:txBody>
                  <a:tcPr marT="12700" marB="12700">
                    <a:solidFill>
                      <a:srgbClr val="FFFFFF"/>
                    </a:solidFill>
                  </a:tcPr>
                </a:tc>
              </a:tr>
              <a:tr h="384048">
                <a:tc>
                  <a:txBody>
                    <a:bodyPr wrap="square"/>
                    <a:lstStyle/>
                    <a:p>
                      <a:r>
                        <a:rPr sz="950" b="0" i="0">
                          <a:solidFill>
                            <a:srgbClr val="202020"/>
                          </a:solidFill>
                          <a:latin typeface="Calibri"/>
                        </a:rPr>
                        <a:t>Repair drift</a:t>
                      </a:r>
                    </a:p>
                  </a:txBody>
                  <a:tcPr marT="12700" marB="12700">
                    <a:solidFill>
                      <a:srgbClr val="F7F9FC"/>
                    </a:solidFill>
                  </a:tcPr>
                </a:tc>
                <a:tc>
                  <a:txBody>
                    <a:bodyPr wrap="square"/>
                    <a:lstStyle/>
                    <a:p>
                      <a:r>
                        <a:rPr sz="950" b="0" i="0">
                          <a:solidFill>
                            <a:srgbClr val="202020"/>
                          </a:solidFill>
                          <a:latin typeface="Calibri"/>
                        </a:rPr>
                        <a:t>reconcile --type X --fix</a:t>
                      </a:r>
                    </a:p>
                  </a:txBody>
                  <a:tcPr marT="12700" marB="12700">
                    <a:solidFill>
                      <a:srgbClr val="F7F9FC"/>
                    </a:solidFill>
                  </a:tcPr>
                </a:tc>
                <a:tc>
                  <a:txBody>
                    <a:bodyPr wrap="square"/>
                    <a:lstStyle/>
                    <a:p>
                      <a:r>
                        <a:rPr sz="950" b="0" i="0">
                          <a:solidFill>
                            <a:srgbClr val="202020"/>
                          </a:solidFill>
                          <a:latin typeface="Calibri"/>
                        </a:rPr>
                        <a:t>Delete stale items and drop them from the inventory. Attended action — no mass-deletion guard (see §9.3).</a:t>
                      </a:r>
                    </a:p>
                  </a:txBody>
                  <a:tcPr marT="12700" marB="12700">
                    <a:solidFill>
                      <a:srgbClr val="F7F9FC"/>
                    </a:solidFill>
                  </a:tcPr>
                </a:tc>
              </a:tr>
              <a:tr h="384048">
                <a:tc>
                  <a:txBody>
                    <a:bodyPr wrap="square"/>
                    <a:lstStyle/>
                    <a:p>
                      <a:r>
                        <a:rPr sz="950" b="0" i="0">
                          <a:solidFill>
                            <a:srgbClr val="202020"/>
                          </a:solidFill>
                          <a:latin typeface="Calibri"/>
                        </a:rPr>
                        <a:t>Retry dead-letter</a:t>
                      </a:r>
                    </a:p>
                  </a:txBody>
                  <a:tcPr marT="12700" marB="12700">
                    <a:solidFill>
                      <a:srgbClr val="FFFFFF"/>
                    </a:solidFill>
                  </a:tcPr>
                </a:tc>
                <a:tc>
                  <a:txBody>
                    <a:bodyPr wrap="square"/>
                    <a:lstStyle/>
                    <a:p>
                      <a:r>
                        <a:rPr sz="950" b="0" i="0">
                          <a:solidFill>
                            <a:srgbClr val="202020"/>
                          </a:solidFill>
                          <a:latin typeface="Calibri"/>
                        </a:rPr>
                        <a:t>retry-failed [--clear-on-success]</a:t>
                      </a:r>
                    </a:p>
                  </a:txBody>
                  <a:tcPr marT="12700" marB="12700">
                    <a:solidFill>
                      <a:srgbClr val="FFFFFF"/>
                    </a:solidFill>
                  </a:tcPr>
                </a:tc>
                <a:tc>
                  <a:txBody>
                    <a:bodyPr wrap="square"/>
                    <a:lstStyle/>
                    <a:p>
                      <a:r>
                        <a:rPr sz="950" b="0" i="0">
                          <a:solidFill>
                            <a:srgbClr val="202020"/>
                          </a:solidFill>
                          <a:latin typeface="Calibri"/>
                        </a:rPr>
                        <a:t>Re-ingest items that failed and landed in the dead-letter queue, off-peak, after fixing the cause.</a:t>
                      </a:r>
                    </a:p>
                  </a:txBody>
                  <a:tcPr marT="12700" marB="12700">
                    <a:solidFill>
                      <a:srgbClr val="FFFFFF"/>
                    </a:solidFill>
                  </a:tcPr>
                </a:tc>
              </a:tr>
              <a:tr h="384048">
                <a:tc>
                  <a:txBody>
                    <a:bodyPr wrap="square"/>
                    <a:lstStyle/>
                    <a:p>
                      <a:r>
                        <a:rPr sz="950" b="0" i="0">
                          <a:solidFill>
                            <a:srgbClr val="202020"/>
                          </a:solidFill>
                          <a:latin typeface="Calibri"/>
                        </a:rPr>
                        <a:t>Single record</a:t>
                      </a:r>
                    </a:p>
                  </a:txBody>
                  <a:tcPr marT="12700" marB="12700">
                    <a:solidFill>
                      <a:srgbClr val="F7F9FC"/>
                    </a:solidFill>
                  </a:tcPr>
                </a:tc>
                <a:tc>
                  <a:txBody>
                    <a:bodyPr wrap="square"/>
                    <a:lstStyle/>
                    <a:p>
                      <a:r>
                        <a:rPr sz="950" b="0" i="0">
                          <a:solidFill>
                            <a:srgbClr val="202020"/>
                          </a:solidFill>
                          <a:latin typeface="Calibri"/>
                        </a:rPr>
                        <a:t>ingest-item --id &lt;18-char Id&gt;</a:t>
                      </a:r>
                    </a:p>
                  </a:txBody>
                  <a:tcPr marT="12700" marB="12700">
                    <a:solidFill>
                      <a:srgbClr val="F7F9FC"/>
                    </a:solidFill>
                  </a:tcPr>
                </a:tc>
                <a:tc>
                  <a:txBody>
                    <a:bodyPr wrap="square"/>
                    <a:lstStyle/>
                    <a:p>
                      <a:r>
                        <a:rPr sz="950" b="0" i="0">
                          <a:solidFill>
                            <a:srgbClr val="202020"/>
                          </a:solidFill>
                          <a:latin typeface="Calibri"/>
                        </a:rPr>
                        <a:t>Force one record through end-to-end (useful when validating a fix).</a:t>
                      </a:r>
                    </a:p>
                  </a:txBody>
                  <a:tcPr marT="12700" marB="12700">
                    <a:solidFill>
                      <a:srgbClr val="F7F9FC"/>
                    </a:solidFill>
                  </a:tcPr>
                </a:tc>
              </a:tr>
              <a:tr h="384048">
                <a:tc>
                  <a:txBody>
                    <a:bodyPr wrap="square"/>
                    <a:lstStyle/>
                    <a:p>
                      <a:r>
                        <a:rPr sz="950" b="0" i="0">
                          <a:solidFill>
                            <a:srgbClr val="202020"/>
                          </a:solidFill>
                          <a:latin typeface="Calibri"/>
                        </a:rPr>
                        <a:t>Single object</a:t>
                      </a:r>
                    </a:p>
                  </a:txBody>
                  <a:tcPr marT="12700" marB="12700">
                    <a:solidFill>
                      <a:srgbClr val="FFFFFF"/>
                    </a:solidFill>
                  </a:tcPr>
                </a:tc>
                <a:tc>
                  <a:txBody>
                    <a:bodyPr wrap="square"/>
                    <a:lstStyle/>
                    <a:p>
                      <a:r>
                        <a:rPr sz="950" b="0" i="0">
                          <a:solidFill>
                            <a:srgbClr val="202020"/>
                          </a:solidFill>
                          <a:latin typeface="Calibri"/>
                        </a:rPr>
                        <a:t>ingest-object --type Case</a:t>
                      </a:r>
                    </a:p>
                  </a:txBody>
                  <a:tcPr marT="12700" marB="12700">
                    <a:solidFill>
                      <a:srgbClr val="FFFFFF"/>
                    </a:solidFill>
                  </a:tcPr>
                </a:tc>
                <a:tc>
                  <a:txBody>
                    <a:bodyPr wrap="square"/>
                    <a:lstStyle/>
                    <a:p>
                      <a:r>
                        <a:rPr sz="950" b="0" i="0">
                          <a:solidFill>
                            <a:srgbClr val="202020"/>
                          </a:solidFill>
                          <a:latin typeface="Calibri"/>
                        </a:rPr>
                        <a:t>Re-ingest one object type only.</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262</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9.3 Deletion handling</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Salesforce gives no reliable deletion feed — its native </a:t>
            </a:r>
            <a:r>
              <a:rPr sz="1200" b="0" i="0">
                <a:solidFill>
                  <a:srgbClr val="202020"/>
                </a:solidFill>
                <a:latin typeface="Consolas"/>
              </a:rPr>
              <a:t>IsDeleted</a:t>
            </a:r>
            <a:r>
              <a:rPr sz="1250" b="0" i="0">
                <a:solidFill>
                  <a:srgbClr val="202020"/>
                </a:solidFill>
                <a:latin typeface="Calibri"/>
              </a:rPr>
              <a:t> signal only covers the Recycle Bin (~15 days). The connector closes the gap with an </a:t>
            </a:r>
            <a:r>
              <a:rPr sz="1250" b="1" i="0">
                <a:solidFill>
                  <a:srgbClr val="202020"/>
                </a:solidFill>
                <a:latin typeface="Calibri"/>
              </a:rPr>
              <a:t>existence sweep</a:t>
            </a:r>
            <a:r>
              <a:rPr sz="1250" b="0" i="0">
                <a:solidFill>
                  <a:srgbClr val="202020"/>
                </a:solidFill>
                <a:latin typeface="Calibri"/>
              </a:rPr>
              <a:t>: it keeps an </a:t>
            </a:r>
            <a:r>
              <a:rPr sz="1250" b="1" i="0">
                <a:solidFill>
                  <a:srgbClr val="202020"/>
                </a:solidFill>
                <a:latin typeface="Calibri"/>
              </a:rPr>
              <a:t>inventory</a:t>
            </a:r>
            <a:r>
              <a:rPr sz="1250" b="0" i="0">
                <a:solidFill>
                  <a:srgbClr val="202020"/>
                </a:solidFill>
                <a:latin typeface="Calibri"/>
              </a:rPr>
              <a:t> of every item it has confirmed into Graph (</a:t>
            </a:r>
            <a:r>
              <a:rPr sz="1200" b="0" i="0">
                <a:solidFill>
                  <a:srgbClr val="202020"/>
                </a:solidFill>
                <a:latin typeface="Consolas"/>
              </a:rPr>
              <a:t>data\{CONNECTOR_ID}_inventory.db</a:t>
            </a:r>
            <a:r>
              <a:rPr sz="1250" b="0" i="0">
                <a:solidFill>
                  <a:srgbClr val="202020"/>
                </a:solidFill>
                <a:latin typeface="Calibri"/>
              </a:rPr>
              <a:t>, or </a:t>
            </a:r>
            <a:r>
              <a:rPr sz="1200" b="0" i="0">
                <a:solidFill>
                  <a:srgbClr val="202020"/>
                </a:solidFill>
                <a:latin typeface="Consolas"/>
              </a:rPr>
              <a:t>dbo.ItemInventory</a:t>
            </a:r>
            <a:r>
              <a:rPr sz="1250" b="0" i="0">
                <a:solidFill>
                  <a:srgbClr val="202020"/>
                </a:solidFill>
                <a:latin typeface="Calibri"/>
              </a:rPr>
              <a:t> on SQL Server). After each </a:t>
            </a:r>
            <a:r>
              <a:rPr sz="1250" b="1" i="0">
                <a:solidFill>
                  <a:srgbClr val="202020"/>
                </a:solidFill>
                <a:latin typeface="Calibri"/>
              </a:rPr>
              <a:t>full</a:t>
            </a:r>
            <a:r>
              <a:rPr sz="1250" b="0" i="0">
                <a:solidFill>
                  <a:srgbClr val="202020"/>
                </a:solidFill>
                <a:latin typeface="Calibri"/>
              </a:rPr>
              <a:t> crawl it re-queries Salesforce for the live id set of each object (same filter) and deletes from Graph any inventory id that is no longer present. The metric is </a:t>
            </a:r>
            <a:r>
              <a:rPr sz="1200" b="0" i="0">
                <a:solidFill>
                  <a:srgbClr val="202020"/>
                </a:solidFill>
                <a:latin typeface="Consolas"/>
              </a:rPr>
              <a:t>salesforce_connector_items_deleted_total</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263</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9.3 Deletion handling</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A </a:t>
            </a:r>
            <a:r>
              <a:rPr sz="1400" b="1" i="0">
                <a:solidFill>
                  <a:srgbClr val="202020"/>
                </a:solidFill>
                <a:latin typeface="Calibri"/>
              </a:rPr>
              <a:t>mass-deletion guard</a:t>
            </a:r>
            <a:r>
              <a:rPr sz="1400" b="0" i="0">
                <a:solidFill>
                  <a:srgbClr val="202020"/>
                </a:solidFill>
                <a:latin typeface="Calibri"/>
              </a:rPr>
              <a:t> protects against a Salesforce outage or a wrong filter wiping the index: if a single sweep would delete more than </a:t>
            </a:r>
            <a:r>
              <a:rPr sz="1350" b="0" i="0">
                <a:solidFill>
                  <a:srgbClr val="202020"/>
                </a:solidFill>
                <a:latin typeface="Consolas"/>
              </a:rPr>
              <a:t>DELETION_SYNC_MAX_PERCENT</a:t>
            </a:r>
            <a:r>
              <a:rPr sz="1400" b="0" i="0">
                <a:solidFill>
                  <a:srgbClr val="202020"/>
                </a:solidFill>
                <a:latin typeface="Calibri"/>
              </a:rPr>
              <a:t> (default 25%) of an object's inventory — and the inventory holds at least 20 items — that object's sweep is </a:t>
            </a:r>
            <a:r>
              <a:rPr sz="1400" b="1" i="0">
                <a:solidFill>
                  <a:srgbClr val="202020"/>
                </a:solidFill>
                <a:latin typeface="Calibri"/>
              </a:rPr>
              <a:t>skipped</a:t>
            </a:r>
            <a:r>
              <a:rPr sz="1400" b="0" i="0">
                <a:solidFill>
                  <a:srgbClr val="202020"/>
                </a:solidFill>
                <a:latin typeface="Calibri"/>
              </a:rPr>
              <a:t>, a warning and a </a:t>
            </a:r>
            <a:r>
              <a:rPr sz="1350" b="0" i="0">
                <a:solidFill>
                  <a:srgbClr val="202020"/>
                </a:solidFill>
                <a:latin typeface="Consolas"/>
              </a:rPr>
              <a:t>deletion_sweep_skipped</a:t>
            </a:r>
            <a:r>
              <a:rPr sz="1400" b="0" i="0">
                <a:solidFill>
                  <a:srgbClr val="202020"/>
                </a:solidFill>
                <a:latin typeface="Calibri"/>
              </a:rPr>
              <a:t> alert fire, and nothing is deleted. If the drop is genuine, repair it deliberately with </a:t>
            </a:r>
            <a:r>
              <a:rPr sz="1350" b="0" i="0">
                <a:solidFill>
                  <a:srgbClr val="202020"/>
                </a:solidFill>
                <a:latin typeface="Consolas"/>
              </a:rPr>
              <a:t>reconcile --type &lt;object&gt; --fix</a:t>
            </a:r>
            <a:r>
              <a:rPr sz="1400" b="0" i="0">
                <a:solidFill>
                  <a:srgbClr val="202020"/>
                </a:solidFill>
                <a:latin typeface="Calibri"/>
              </a:rPr>
              <a:t> (which has no guard) or raise the threshold and re-run. See §11 for the runbook.</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264</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Salesforce Connector</a:t>
            </a:r>
          </a:p>
          <a:p>
            <a:r>
              <a:rPr sz="3000" b="1" i="0">
                <a:solidFill>
                  <a:srgbClr val="1F3864"/>
                </a:solidFill>
                <a:latin typeface="Calibri"/>
              </a:rPr>
              <a:t>10. Monitoring this connector</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265</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 Monitoring this connector</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Turn on the health/metrics endpoint by setting </a:t>
            </a:r>
            <a:r>
              <a:rPr sz="1200" b="0" i="0">
                <a:solidFill>
                  <a:srgbClr val="202020"/>
                </a:solidFill>
                <a:latin typeface="Consolas"/>
              </a:rPr>
              <a:t>HEALTH_PORT</a:t>
            </a:r>
            <a:r>
              <a:rPr sz="1250" b="0" i="0">
                <a:solidFill>
                  <a:srgbClr val="202020"/>
                </a:solidFill>
                <a:latin typeface="Calibri"/>
              </a:rPr>
              <a:t> to a port. The connector then serves three routes and Prometheus metrics; a ready-made Grafana dashboard and Prometheus alert rules ship in </a:t>
            </a:r>
            <a:r>
              <a:rPr sz="1200" b="0" i="0">
                <a:solidFill>
                  <a:srgbClr val="202020"/>
                </a:solidFill>
                <a:latin typeface="Consolas"/>
              </a:rPr>
              <a:t>ops/</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266</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10.1 Health / readiness / metrics endpoints</a:t>
            </a:r>
          </a:p>
        </p:txBody>
      </p:sp>
      <p:graphicFrame>
        <p:nvGraphicFramePr>
          <p:cNvPr id="5" name="Table 4"/>
          <p:cNvGraphicFramePr>
            <a:graphicFrameLocks noGrp="1"/>
          </p:cNvGraphicFramePr>
          <p:nvPr/>
        </p:nvGraphicFramePr>
        <p:xfrm>
          <a:off x="502920" y="1188720"/>
          <a:ext cx="11185855" cy="1536192"/>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Route</a:t>
                      </a:r>
                    </a:p>
                  </a:txBody>
                  <a:tcPr marT="25400" marB="25400">
                    <a:solidFill>
                      <a:srgbClr val="2E5496"/>
                    </a:solidFill>
                  </a:tcPr>
                </a:tc>
                <a:tc>
                  <a:txBody>
                    <a:bodyPr wrap="square"/>
                    <a:lstStyle/>
                    <a:p>
                      <a:r>
                        <a:rPr sz="1050" b="1" i="0">
                          <a:solidFill>
                            <a:srgbClr val="FFFFFF"/>
                          </a:solidFill>
                          <a:latin typeface="Calibri"/>
                        </a:rPr>
                        <a:t>Meaning</a:t>
                      </a:r>
                    </a:p>
                  </a:txBody>
                  <a:tcPr marT="25400" marB="25400">
                    <a:solidFill>
                      <a:srgbClr val="2E5496"/>
                    </a:solidFill>
                  </a:tcPr>
                </a:tc>
                <a:tc>
                  <a:txBody>
                    <a:bodyPr wrap="square"/>
                    <a:lstStyle/>
                    <a:p>
                      <a:r>
                        <a:rPr sz="1050" b="1" i="0">
                          <a:solidFill>
                            <a:srgbClr val="FFFFFF"/>
                          </a:solidFill>
                          <a:latin typeface="Calibri"/>
                        </a:rPr>
                        <a:t>Healthy response</a:t>
                      </a:r>
                    </a:p>
                  </a:txBody>
                  <a:tcPr marT="25400" marB="25400">
                    <a:solidFill>
                      <a:srgbClr val="2E5496"/>
                    </a:solidFill>
                  </a:tcPr>
                </a:tc>
              </a:tr>
              <a:tr h="384048">
                <a:tc>
                  <a:txBody>
                    <a:bodyPr wrap="square"/>
                    <a:lstStyle/>
                    <a:p>
                      <a:r>
                        <a:rPr sz="950" b="0" i="0">
                          <a:solidFill>
                            <a:srgbClr val="202020"/>
                          </a:solidFill>
                          <a:latin typeface="Calibri"/>
                        </a:rPr>
                        <a:t>GET /health</a:t>
                      </a:r>
                    </a:p>
                  </a:txBody>
                  <a:tcPr marT="12700" marB="12700">
                    <a:solidFill>
                      <a:srgbClr val="FFFFFF"/>
                    </a:solidFill>
                  </a:tcPr>
                </a:tc>
                <a:tc>
                  <a:txBody>
                    <a:bodyPr wrap="square"/>
                    <a:lstStyle/>
                    <a:p>
                      <a:r>
                        <a:rPr sz="950" b="0" i="0">
                          <a:solidFill>
                            <a:srgbClr val="202020"/>
                          </a:solidFill>
                          <a:latin typeface="Calibri"/>
                        </a:rPr>
                        <a:t>Liveness — the process is up.</a:t>
                      </a:r>
                    </a:p>
                  </a:txBody>
                  <a:tcPr marT="12700" marB="12700">
                    <a:solidFill>
                      <a:srgbClr val="FFFFFF"/>
                    </a:solidFill>
                  </a:tcPr>
                </a:tc>
                <a:tc>
                  <a:txBody>
                    <a:bodyPr wrap="square"/>
                    <a:lstStyle/>
                    <a:p>
                      <a:r>
                        <a:rPr sz="950" b="0" i="0">
                          <a:solidFill>
                            <a:srgbClr val="202020"/>
                          </a:solidFill>
                          <a:latin typeface="Calibri"/>
                        </a:rPr>
                        <a:t>200 OK</a:t>
                      </a:r>
                    </a:p>
                  </a:txBody>
                  <a:tcPr marT="12700" marB="12700">
                    <a:solidFill>
                      <a:srgbClr val="FFFFFF"/>
                    </a:solidFill>
                  </a:tcPr>
                </a:tc>
              </a:tr>
              <a:tr h="384048">
                <a:tc>
                  <a:txBody>
                    <a:bodyPr wrap="square"/>
                    <a:lstStyle/>
                    <a:p>
                      <a:r>
                        <a:rPr sz="950" b="0" i="0">
                          <a:solidFill>
                            <a:srgbClr val="202020"/>
                          </a:solidFill>
                          <a:latin typeface="Calibri"/>
                        </a:rPr>
                        <a:t>GET /ready</a:t>
                      </a:r>
                    </a:p>
                  </a:txBody>
                  <a:tcPr marT="12700" marB="12700">
                    <a:solidFill>
                      <a:srgbClr val="F7F9FC"/>
                    </a:solidFill>
                  </a:tcPr>
                </a:tc>
                <a:tc>
                  <a:txBody>
                    <a:bodyPr wrap="square"/>
                    <a:lstStyle/>
                    <a:p>
                      <a:r>
                        <a:rPr sz="950" b="0" i="0">
                          <a:solidFill>
                            <a:srgbClr val="202020"/>
                          </a:solidFill>
                          <a:latin typeface="Calibri"/>
                        </a:rPr>
                        <a:t>Readiness — configuration is loaded.</a:t>
                      </a:r>
                    </a:p>
                  </a:txBody>
                  <a:tcPr marT="12700" marB="12700">
                    <a:solidFill>
                      <a:srgbClr val="F7F9FC"/>
                    </a:solidFill>
                  </a:tcPr>
                </a:tc>
                <a:tc>
                  <a:txBody>
                    <a:bodyPr wrap="square"/>
                    <a:lstStyle/>
                    <a:p>
                      <a:r>
                        <a:rPr sz="950" b="0" i="0">
                          <a:solidFill>
                            <a:srgbClr val="202020"/>
                          </a:solidFill>
                          <a:latin typeface="Calibri"/>
                        </a:rPr>
                        <a:t>200 READY</a:t>
                      </a:r>
                    </a:p>
                  </a:txBody>
                  <a:tcPr marT="12700" marB="12700">
                    <a:solidFill>
                      <a:srgbClr val="F7F9FC"/>
                    </a:solidFill>
                  </a:tcPr>
                </a:tc>
              </a:tr>
              <a:tr h="384048">
                <a:tc>
                  <a:txBody>
                    <a:bodyPr wrap="square"/>
                    <a:lstStyle/>
                    <a:p>
                      <a:r>
                        <a:rPr sz="950" b="0" i="0">
                          <a:solidFill>
                            <a:srgbClr val="202020"/>
                          </a:solidFill>
                          <a:latin typeface="Calibri"/>
                        </a:rPr>
                        <a:t>GET /metrics</a:t>
                      </a:r>
                    </a:p>
                  </a:txBody>
                  <a:tcPr marT="12700" marB="12700">
                    <a:solidFill>
                      <a:srgbClr val="FFFFFF"/>
                    </a:solidFill>
                  </a:tcPr>
                </a:tc>
                <a:tc>
                  <a:txBody>
                    <a:bodyPr wrap="square"/>
                    <a:lstStyle/>
                    <a:p>
                      <a:r>
                        <a:rPr sz="950" b="0" i="0">
                          <a:solidFill>
                            <a:srgbClr val="202020"/>
                          </a:solidFill>
                          <a:latin typeface="Calibri"/>
                        </a:rPr>
                        <a:t>Prometheus text exposition of all metrics.</a:t>
                      </a:r>
                    </a:p>
                  </a:txBody>
                  <a:tcPr marT="12700" marB="12700">
                    <a:solidFill>
                      <a:srgbClr val="FFFFFF"/>
                    </a:solidFill>
                  </a:tcPr>
                </a:tc>
                <a:tc>
                  <a:txBody>
                    <a:bodyPr wrap="square"/>
                    <a:lstStyle/>
                    <a:p>
                      <a:r>
                        <a:rPr sz="950" b="0" i="0">
                          <a:solidFill>
                            <a:srgbClr val="202020"/>
                          </a:solidFill>
                          <a:latin typeface="Calibri"/>
                        </a:rPr>
                        <a:t>200 + metrics</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267</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10.2 The metrics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Every metric is prefixed </a:t>
            </a:r>
            <a:r>
              <a:rPr sz="1200" b="0" i="0">
                <a:solidFill>
                  <a:srgbClr val="202020"/>
                </a:solidFill>
                <a:latin typeface="Consolas"/>
              </a:rPr>
              <a:t>salesforce_connector_</a:t>
            </a:r>
            <a:r>
              <a:rPr sz="1250" b="0" i="0">
                <a:solidFill>
                  <a:srgbClr val="202020"/>
                </a:solidFill>
                <a:latin typeface="Calibri"/>
              </a:rPr>
              <a:t>. </a:t>
            </a:r>
            <a:r>
              <a:rPr sz="1200" b="0" i="0">
                <a:solidFill>
                  <a:srgbClr val="202020"/>
                </a:solidFill>
                <a:latin typeface="Consolas"/>
              </a:rPr>
              <a:t>*_total</a:t>
            </a:r>
            <a:r>
              <a:rPr sz="1250" b="0" i="0">
                <a:solidFill>
                  <a:srgbClr val="202020"/>
                </a:solidFill>
                <a:latin typeface="Calibri"/>
              </a:rPr>
              <a:t> are counters; the rest are gauges.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268</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10.2 The metrics</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Metric</a:t>
                      </a:r>
                    </a:p>
                  </a:txBody>
                  <a:tcPr marT="25400" marB="25400">
                    <a:solidFill>
                      <a:srgbClr val="2E5496"/>
                    </a:solidFill>
                  </a:tcPr>
                </a:tc>
                <a:tc>
                  <a:txBody>
                    <a:bodyPr wrap="square"/>
                    <a:lstStyle/>
                    <a:p>
                      <a:r>
                        <a:rPr sz="1050" b="1" i="0">
                          <a:solidFill>
                            <a:srgbClr val="FFFFFF"/>
                          </a:solidFill>
                          <a:latin typeface="Calibri"/>
                        </a:rPr>
                        <a:t>Type</a:t>
                      </a:r>
                    </a:p>
                  </a:txBody>
                  <a:tcPr marT="25400" marB="25400">
                    <a:solidFill>
                      <a:srgbClr val="2E5496"/>
                    </a:solidFill>
                  </a:tcPr>
                </a:tc>
                <a:tc>
                  <a:txBody>
                    <a:bodyPr wrap="square"/>
                    <a:lstStyle/>
                    <a:p>
                      <a:r>
                        <a:rPr sz="1050" b="1" i="0">
                          <a:solidFill>
                            <a:srgbClr val="FFFFFF"/>
                          </a:solidFill>
                          <a:latin typeface="Calibri"/>
                        </a:rPr>
                        <a:t>What it tells you</a:t>
                      </a:r>
                    </a:p>
                  </a:txBody>
                  <a:tcPr marT="25400" marB="25400">
                    <a:solidFill>
                      <a:srgbClr val="2E5496"/>
                    </a:solidFill>
                  </a:tcPr>
                </a:tc>
              </a:tr>
              <a:tr h="384048">
                <a:tc>
                  <a:txBody>
                    <a:bodyPr wrap="square"/>
                    <a:lstStyle/>
                    <a:p>
                      <a:r>
                        <a:rPr sz="950" b="0" i="0">
                          <a:solidFill>
                            <a:srgbClr val="202020"/>
                          </a:solidFill>
                          <a:latin typeface="Calibri"/>
                        </a:rPr>
                        <a:t>items_ingested_total</a:t>
                      </a:r>
                    </a:p>
                  </a:txBody>
                  <a:tcPr marT="12700" marB="12700">
                    <a:solidFill>
                      <a:srgbClr val="FFFFFF"/>
                    </a:solidFill>
                  </a:tcPr>
                </a:tc>
                <a:tc>
                  <a:txBody>
                    <a:bodyPr wrap="square"/>
                    <a:lstStyle/>
                    <a:p>
                      <a:r>
                        <a:rPr sz="950" b="0" i="0">
                          <a:solidFill>
                            <a:srgbClr val="202020"/>
                          </a:solidFill>
                          <a:latin typeface="Calibri"/>
                        </a:rPr>
                        <a:t>counter</a:t>
                      </a:r>
                    </a:p>
                  </a:txBody>
                  <a:tcPr marT="12700" marB="12700">
                    <a:solidFill>
                      <a:srgbClr val="FFFFFF"/>
                    </a:solidFill>
                  </a:tcPr>
                </a:tc>
                <a:tc>
                  <a:txBody>
                    <a:bodyPr wrap="square"/>
                    <a:lstStyle/>
                    <a:p>
                      <a:r>
                        <a:rPr sz="950" b="0" i="0">
                          <a:solidFill>
                            <a:srgbClr val="202020"/>
                          </a:solidFill>
                          <a:latin typeface="Calibri"/>
                        </a:rPr>
                        <a:t>Items successfully written to Graph.</a:t>
                      </a:r>
                    </a:p>
                  </a:txBody>
                  <a:tcPr marT="12700" marB="12700">
                    <a:solidFill>
                      <a:srgbClr val="FFFFFF"/>
                    </a:solidFill>
                  </a:tcPr>
                </a:tc>
              </a:tr>
              <a:tr h="384048">
                <a:tc>
                  <a:txBody>
                    <a:bodyPr wrap="square"/>
                    <a:lstStyle/>
                    <a:p>
                      <a:r>
                        <a:rPr sz="950" b="0" i="0">
                          <a:solidFill>
                            <a:srgbClr val="202020"/>
                          </a:solidFill>
                          <a:latin typeface="Calibri"/>
                        </a:rPr>
                        <a:t>items_failed_total</a:t>
                      </a:r>
                    </a:p>
                  </a:txBody>
                  <a:tcPr marT="12700" marB="12700">
                    <a:solidFill>
                      <a:srgbClr val="F7F9FC"/>
                    </a:solidFill>
                  </a:tcPr>
                </a:tc>
                <a:tc>
                  <a:txBody>
                    <a:bodyPr wrap="square"/>
                    <a:lstStyle/>
                    <a:p>
                      <a:r>
                        <a:rPr sz="950" b="0" i="0">
                          <a:solidFill>
                            <a:srgbClr val="202020"/>
                          </a:solidFill>
                          <a:latin typeface="Calibri"/>
                        </a:rPr>
                        <a:t>counter</a:t>
                      </a:r>
                    </a:p>
                  </a:txBody>
                  <a:tcPr marT="12700" marB="12700">
                    <a:solidFill>
                      <a:srgbClr val="F7F9FC"/>
                    </a:solidFill>
                  </a:tcPr>
                </a:tc>
                <a:tc>
                  <a:txBody>
                    <a:bodyPr wrap="square"/>
                    <a:lstStyle/>
                    <a:p>
                      <a:r>
                        <a:rPr sz="950" b="0" i="0">
                          <a:solidFill>
                            <a:srgbClr val="202020"/>
                          </a:solidFill>
                          <a:latin typeface="Calibri"/>
                        </a:rPr>
                        <a:t>Items that failed to ingest (see dead-letter).</a:t>
                      </a:r>
                    </a:p>
                  </a:txBody>
                  <a:tcPr marT="12700" marB="12700">
                    <a:solidFill>
                      <a:srgbClr val="F7F9FC"/>
                    </a:solidFill>
                  </a:tcPr>
                </a:tc>
              </a:tr>
              <a:tr h="384048">
                <a:tc>
                  <a:txBody>
                    <a:bodyPr wrap="square"/>
                    <a:lstStyle/>
                    <a:p>
                      <a:r>
                        <a:rPr sz="950" b="0" i="0">
                          <a:solidFill>
                            <a:srgbClr val="202020"/>
                          </a:solidFill>
                          <a:latin typeface="Calibri"/>
                        </a:rPr>
                        <a:t>items_deleted_total</a:t>
                      </a:r>
                    </a:p>
                  </a:txBody>
                  <a:tcPr marT="12700" marB="12700">
                    <a:solidFill>
                      <a:srgbClr val="FFFFFF"/>
                    </a:solidFill>
                  </a:tcPr>
                </a:tc>
                <a:tc>
                  <a:txBody>
                    <a:bodyPr wrap="square"/>
                    <a:lstStyle/>
                    <a:p>
                      <a:r>
                        <a:rPr sz="950" b="0" i="0">
                          <a:solidFill>
                            <a:srgbClr val="202020"/>
                          </a:solidFill>
                          <a:latin typeface="Calibri"/>
                        </a:rPr>
                        <a:t>counter</a:t>
                      </a:r>
                    </a:p>
                  </a:txBody>
                  <a:tcPr marT="12700" marB="12700">
                    <a:solidFill>
                      <a:srgbClr val="FFFFFF"/>
                    </a:solidFill>
                  </a:tcPr>
                </a:tc>
                <a:tc>
                  <a:txBody>
                    <a:bodyPr wrap="square"/>
                    <a:lstStyle/>
                    <a:p>
                      <a:r>
                        <a:rPr sz="950" b="0" i="0">
                          <a:solidFill>
                            <a:srgbClr val="202020"/>
                          </a:solidFill>
                          <a:latin typeface="Calibri"/>
                        </a:rPr>
                        <a:t>Items removed by the deletion sweep / reconcile.</a:t>
                      </a:r>
                    </a:p>
                  </a:txBody>
                  <a:tcPr marT="12700" marB="12700">
                    <a:solidFill>
                      <a:srgbClr val="FFFFFF"/>
                    </a:solidFill>
                  </a:tcPr>
                </a:tc>
              </a:tr>
              <a:tr h="384048">
                <a:tc>
                  <a:txBody>
                    <a:bodyPr wrap="square"/>
                    <a:lstStyle/>
                    <a:p>
                      <a:r>
                        <a:rPr sz="950" b="0" i="0">
                          <a:solidFill>
                            <a:srgbClr val="202020"/>
                          </a:solidFill>
                          <a:latin typeface="Calibri"/>
                        </a:rPr>
                        <a:t>items_skipped_total</a:t>
                      </a:r>
                    </a:p>
                  </a:txBody>
                  <a:tcPr marT="12700" marB="12700">
                    <a:solidFill>
                      <a:srgbClr val="F7F9FC"/>
                    </a:solidFill>
                  </a:tcPr>
                </a:tc>
                <a:tc>
                  <a:txBody>
                    <a:bodyPr wrap="square"/>
                    <a:lstStyle/>
                    <a:p>
                      <a:r>
                        <a:rPr sz="950" b="0" i="0">
                          <a:solidFill>
                            <a:srgbClr val="202020"/>
                          </a:solidFill>
                          <a:latin typeface="Calibri"/>
                        </a:rPr>
                        <a:t>counter</a:t>
                      </a:r>
                    </a:p>
                  </a:txBody>
                  <a:tcPr marT="12700" marB="12700">
                    <a:solidFill>
                      <a:srgbClr val="F7F9FC"/>
                    </a:solidFill>
                  </a:tcPr>
                </a:tc>
                <a:tc>
                  <a:txBody>
                    <a:bodyPr wrap="square"/>
                    <a:lstStyle/>
                    <a:p>
                      <a:r>
                        <a:rPr sz="950" b="0" i="0">
                          <a:solidFill>
                            <a:srgbClr val="202020"/>
                          </a:solidFill>
                          <a:latin typeface="Calibri"/>
                        </a:rPr>
                        <a:t>Items skipped (e.g. already checkpointed).</a:t>
                      </a:r>
                    </a:p>
                  </a:txBody>
                  <a:tcPr marT="12700" marB="12700">
                    <a:solidFill>
                      <a:srgbClr val="F7F9FC"/>
                    </a:solidFill>
                  </a:tcPr>
                </a:tc>
              </a:tr>
              <a:tr h="384048">
                <a:tc>
                  <a:txBody>
                    <a:bodyPr wrap="square"/>
                    <a:lstStyle/>
                    <a:p>
                      <a:r>
                        <a:rPr sz="950" b="0" i="0">
                          <a:solidFill>
                            <a:srgbClr val="202020"/>
                          </a:solidFill>
                          <a:latin typeface="Calibri"/>
                        </a:rPr>
                        <a:t>crawls_started_total / crawls_completed_total</a:t>
                      </a:r>
                    </a:p>
                  </a:txBody>
                  <a:tcPr marT="12700" marB="12700">
                    <a:solidFill>
                      <a:srgbClr val="FFFFFF"/>
                    </a:solidFill>
                  </a:tcPr>
                </a:tc>
                <a:tc>
                  <a:txBody>
                    <a:bodyPr wrap="square"/>
                    <a:lstStyle/>
                    <a:p>
                      <a:r>
                        <a:rPr sz="950" b="0" i="0">
                          <a:solidFill>
                            <a:srgbClr val="202020"/>
                          </a:solidFill>
                          <a:latin typeface="Calibri"/>
                        </a:rPr>
                        <a:t>counter</a:t>
                      </a:r>
                    </a:p>
                  </a:txBody>
                  <a:tcPr marT="12700" marB="12700">
                    <a:solidFill>
                      <a:srgbClr val="FFFFFF"/>
                    </a:solidFill>
                  </a:tcPr>
                </a:tc>
                <a:tc>
                  <a:txBody>
                    <a:bodyPr wrap="square"/>
                    <a:lstStyle/>
                    <a:p>
                      <a:r>
                        <a:rPr sz="950" b="0" i="0">
                          <a:solidFill>
                            <a:srgbClr val="202020"/>
                          </a:solidFill>
                          <a:latin typeface="Calibri"/>
                        </a:rPr>
                        <a:t>Crawl runs started vs finished. Started &gt; completed for long = running or stalled.</a:t>
                      </a:r>
                    </a:p>
                  </a:txBody>
                  <a:tcPr marT="12700" marB="12700">
                    <a:solidFill>
                      <a:srgbClr val="FFFFFF"/>
                    </a:solidFill>
                  </a:tcPr>
                </a:tc>
              </a:tr>
              <a:tr h="384048">
                <a:tc>
                  <a:txBody>
                    <a:bodyPr wrap="square"/>
                    <a:lstStyle/>
                    <a:p>
                      <a:r>
                        <a:rPr sz="950" b="0" i="0">
                          <a:solidFill>
                            <a:srgbClr val="202020"/>
                          </a:solidFill>
                          <a:latin typeface="Calibri"/>
                        </a:rPr>
                        <a:t>throttled_429_total</a:t>
                      </a:r>
                    </a:p>
                  </a:txBody>
                  <a:tcPr marT="12700" marB="12700">
                    <a:solidFill>
                      <a:srgbClr val="F7F9FC"/>
                    </a:solidFill>
                  </a:tcPr>
                </a:tc>
                <a:tc>
                  <a:txBody>
                    <a:bodyPr wrap="square"/>
                    <a:lstStyle/>
                    <a:p>
                      <a:r>
                        <a:rPr sz="950" b="0" i="0">
                          <a:solidFill>
                            <a:srgbClr val="202020"/>
                          </a:solidFill>
                          <a:latin typeface="Calibri"/>
                        </a:rPr>
                        <a:t>counter</a:t>
                      </a:r>
                    </a:p>
                  </a:txBody>
                  <a:tcPr marT="12700" marB="12700">
                    <a:solidFill>
                      <a:srgbClr val="F7F9FC"/>
                    </a:solidFill>
                  </a:tcPr>
                </a:tc>
                <a:tc>
                  <a:txBody>
                    <a:bodyPr wrap="square"/>
                    <a:lstStyle/>
                    <a:p>
                      <a:r>
                        <a:rPr sz="950" b="0" i="0">
                          <a:solidFill>
                            <a:srgbClr val="202020"/>
                          </a:solidFill>
                          <a:latin typeface="Calibri"/>
                        </a:rPr>
                        <a:t>HTTP 429 throttling responses from Graph.</a:t>
                      </a:r>
                    </a:p>
                  </a:txBody>
                  <a:tcPr marT="12700" marB="12700">
                    <a:solidFill>
                      <a:srgbClr val="F7F9FC"/>
                    </a:solidFill>
                  </a:tcPr>
                </a:tc>
              </a:tr>
              <a:tr h="384048">
                <a:tc>
                  <a:txBody>
                    <a:bodyPr wrap="square"/>
                    <a:lstStyle/>
                    <a:p>
                      <a:r>
                        <a:rPr sz="950" b="0" i="0">
                          <a:solidFill>
                            <a:srgbClr val="202020"/>
                          </a:solidFill>
                          <a:latin typeface="Calibri"/>
                        </a:rPr>
                        <a:t>dead_letter_depth</a:t>
                      </a:r>
                    </a:p>
                  </a:txBody>
                  <a:tcPr marT="12700" marB="12700">
                    <a:solidFill>
                      <a:srgbClr val="FFFFFF"/>
                    </a:solidFill>
                  </a:tcPr>
                </a:tc>
                <a:tc>
                  <a:txBody>
                    <a:bodyPr wrap="square"/>
                    <a:lstStyle/>
                    <a:p>
                      <a:r>
                        <a:rPr sz="950" b="0" i="0">
                          <a:solidFill>
                            <a:srgbClr val="202020"/>
                          </a:solidFill>
                          <a:latin typeface="Calibri"/>
                        </a:rPr>
                        <a:t>gauge</a:t>
                      </a:r>
                    </a:p>
                  </a:txBody>
                  <a:tcPr marT="12700" marB="12700">
                    <a:solidFill>
                      <a:srgbClr val="FFFFFF"/>
                    </a:solidFill>
                  </a:tcPr>
                </a:tc>
                <a:tc>
                  <a:txBody>
                    <a:bodyPr wrap="square"/>
                    <a:lstStyle/>
                    <a:p>
                      <a:r>
                        <a:rPr sz="950" b="0" i="0">
                          <a:solidFill>
                            <a:srgbClr val="202020"/>
                          </a:solidFill>
                          <a:latin typeface="Calibri"/>
                        </a:rPr>
                        <a:t>Current dead-letter backlog.</a:t>
                      </a:r>
                    </a:p>
                  </a:txBody>
                  <a:tcPr marT="12700" marB="12700">
                    <a:solidFill>
                      <a:srgbClr val="FFFFFF"/>
                    </a:solidFill>
                  </a:tcPr>
                </a:tc>
              </a:tr>
              <a:tr h="384048">
                <a:tc>
                  <a:txBody>
                    <a:bodyPr wrap="square"/>
                    <a:lstStyle/>
                    <a:p>
                      <a:r>
                        <a:rPr sz="950" b="0" i="0">
                          <a:solidFill>
                            <a:srgbClr val="202020"/>
                          </a:solidFill>
                          <a:latin typeface="Calibri"/>
                        </a:rPr>
                        <a:t>adaptive_concurrency_level</a:t>
                      </a:r>
                    </a:p>
                  </a:txBody>
                  <a:tcPr marT="12700" marB="12700">
                    <a:solidFill>
                      <a:srgbClr val="F7F9FC"/>
                    </a:solidFill>
                  </a:tcPr>
                </a:tc>
                <a:tc>
                  <a:txBody>
                    <a:bodyPr wrap="square"/>
                    <a:lstStyle/>
                    <a:p>
                      <a:r>
                        <a:rPr sz="950" b="0" i="0">
                          <a:solidFill>
                            <a:srgbClr val="202020"/>
                          </a:solidFill>
                          <a:latin typeface="Calibri"/>
                        </a:rPr>
                        <a:t>gauge</a:t>
                      </a:r>
                    </a:p>
                  </a:txBody>
                  <a:tcPr marT="12700" marB="12700">
                    <a:solidFill>
                      <a:srgbClr val="F7F9FC"/>
                    </a:solidFill>
                  </a:tcPr>
                </a:tc>
                <a:tc>
                  <a:txBody>
                    <a:bodyPr wrap="square"/>
                    <a:lstStyle/>
                    <a:p>
                      <a:r>
                        <a:rPr sz="950" b="0" i="0">
                          <a:solidFill>
                            <a:srgbClr val="202020"/>
                          </a:solidFill>
                          <a:latin typeface="Calibri"/>
                        </a:rPr>
                        <a:t>Current Graph batch concurrency (see §10.4).</a:t>
                      </a:r>
                    </a:p>
                  </a:txBody>
                  <a:tcPr marT="12700" marB="12700">
                    <a:solidFill>
                      <a:srgbClr val="F7F9FC"/>
                    </a:solidFill>
                  </a:tcPr>
                </a:tc>
              </a:tr>
              <a:tr h="384048">
                <a:tc>
                  <a:txBody>
                    <a:bodyPr wrap="square"/>
                    <a:lstStyle/>
                    <a:p>
                      <a:r>
                        <a:rPr sz="950" b="0" i="0">
                          <a:solidFill>
                            <a:srgbClr val="202020"/>
                          </a:solidFill>
                          <a:latin typeface="Calibri"/>
                        </a:rPr>
                        <a:t>last_crawl_completed_timestamp_seconds</a:t>
                      </a:r>
                    </a:p>
                  </a:txBody>
                  <a:tcPr marT="12700" marB="12700">
                    <a:solidFill>
                      <a:srgbClr val="FFFFFF"/>
                    </a:solidFill>
                  </a:tcPr>
                </a:tc>
                <a:tc>
                  <a:txBody>
                    <a:bodyPr wrap="square"/>
                    <a:lstStyle/>
                    <a:p>
                      <a:r>
                        <a:rPr sz="950" b="0" i="0">
                          <a:solidFill>
                            <a:srgbClr val="202020"/>
                          </a:solidFill>
                          <a:latin typeface="Calibri"/>
                        </a:rPr>
                        <a:t>gauge</a:t>
                      </a:r>
                    </a:p>
                  </a:txBody>
                  <a:tcPr marT="12700" marB="12700">
                    <a:solidFill>
                      <a:srgbClr val="FFFFFF"/>
                    </a:solidFill>
                  </a:tcPr>
                </a:tc>
                <a:tc>
                  <a:txBody>
                    <a:bodyPr wrap="square"/>
                    <a:lstStyle/>
                    <a:p>
                      <a:r>
                        <a:rPr sz="950" b="0" i="0">
                          <a:solidFill>
                            <a:srgbClr val="202020"/>
                          </a:solidFill>
                          <a:latin typeface="Calibri"/>
                        </a:rPr>
                        <a:t>When the last crawl finished (staleness check).</a:t>
                      </a:r>
                    </a:p>
                  </a:txBody>
                  <a:tcPr marT="12700" marB="12700">
                    <a:solidFill>
                      <a:srgbClr val="FFFFFF"/>
                    </a:solidFill>
                  </a:tcPr>
                </a:tc>
              </a:tr>
              <a:tr h="384048">
                <a:tc>
                  <a:txBody>
                    <a:bodyPr wrap="square"/>
                    <a:lstStyle/>
                    <a:p>
                      <a:r>
                        <a:rPr sz="950" b="0" i="0">
                          <a:solidFill>
                            <a:srgbClr val="202020"/>
                          </a:solidFill>
                          <a:latin typeface="Calibri"/>
                        </a:rPr>
                        <a:t>ha_claims_held</a:t>
                      </a:r>
                    </a:p>
                  </a:txBody>
                  <a:tcPr marT="12700" marB="12700">
                    <a:solidFill>
                      <a:srgbClr val="F7F9FC"/>
                    </a:solidFill>
                  </a:tcPr>
                </a:tc>
                <a:tc>
                  <a:txBody>
                    <a:bodyPr wrap="square"/>
                    <a:lstStyle/>
                    <a:p>
                      <a:r>
                        <a:rPr sz="950" b="0" i="0">
                          <a:solidFill>
                            <a:srgbClr val="202020"/>
                          </a:solidFill>
                          <a:latin typeface="Calibri"/>
                        </a:rPr>
                        <a:t>gauge</a:t>
                      </a:r>
                    </a:p>
                  </a:txBody>
                  <a:tcPr marT="12700" marB="12700">
                    <a:solidFill>
                      <a:srgbClr val="F7F9FC"/>
                    </a:solidFill>
                  </a:tcPr>
                </a:tc>
                <a:tc>
                  <a:txBody>
                    <a:bodyPr wrap="square"/>
                    <a:lstStyle/>
                    <a:p>
                      <a:r>
                        <a:rPr sz="950" b="0" i="0">
                          <a:solidFill>
                            <a:srgbClr val="202020"/>
                          </a:solidFill>
                          <a:latin typeface="Calibri"/>
                        </a:rPr>
                        <a:t>HA object claims this node is heartbeating (0 outside HA).</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269</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10.2 The metrics (cont.)</a:t>
            </a:r>
          </a:p>
        </p:txBody>
      </p:sp>
      <p:graphicFrame>
        <p:nvGraphicFramePr>
          <p:cNvPr id="5" name="Table 4"/>
          <p:cNvGraphicFramePr>
            <a:graphicFrameLocks noGrp="1"/>
          </p:cNvGraphicFramePr>
          <p:nvPr/>
        </p:nvGraphicFramePr>
        <p:xfrm>
          <a:off x="502920" y="1188720"/>
          <a:ext cx="11185855" cy="1536192"/>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Metric</a:t>
                      </a:r>
                    </a:p>
                  </a:txBody>
                  <a:tcPr marT="25400" marB="25400">
                    <a:solidFill>
                      <a:srgbClr val="2E5496"/>
                    </a:solidFill>
                  </a:tcPr>
                </a:tc>
                <a:tc>
                  <a:txBody>
                    <a:bodyPr wrap="square"/>
                    <a:lstStyle/>
                    <a:p>
                      <a:r>
                        <a:rPr sz="1050" b="1" i="0">
                          <a:solidFill>
                            <a:srgbClr val="FFFFFF"/>
                          </a:solidFill>
                          <a:latin typeface="Calibri"/>
                        </a:rPr>
                        <a:t>Type</a:t>
                      </a:r>
                    </a:p>
                  </a:txBody>
                  <a:tcPr marT="25400" marB="25400">
                    <a:solidFill>
                      <a:srgbClr val="2E5496"/>
                    </a:solidFill>
                  </a:tcPr>
                </a:tc>
                <a:tc>
                  <a:txBody>
                    <a:bodyPr wrap="square"/>
                    <a:lstStyle/>
                    <a:p>
                      <a:r>
                        <a:rPr sz="1050" b="1" i="0">
                          <a:solidFill>
                            <a:srgbClr val="FFFFFF"/>
                          </a:solidFill>
                          <a:latin typeface="Calibri"/>
                        </a:rPr>
                        <a:t>What it tells you</a:t>
                      </a:r>
                    </a:p>
                  </a:txBody>
                  <a:tcPr marT="25400" marB="25400">
                    <a:solidFill>
                      <a:srgbClr val="2E5496"/>
                    </a:solidFill>
                  </a:tcPr>
                </a:tc>
              </a:tr>
              <a:tr h="384048">
                <a:tc>
                  <a:txBody>
                    <a:bodyPr wrap="square"/>
                    <a:lstStyle/>
                    <a:p>
                      <a:r>
                        <a:rPr sz="950" b="0" i="0">
                          <a:solidFill>
                            <a:srgbClr val="202020"/>
                          </a:solidFill>
                          <a:latin typeface="Calibri"/>
                        </a:rPr>
                        <a:t>uptime_seconds</a:t>
                      </a:r>
                    </a:p>
                  </a:txBody>
                  <a:tcPr marT="12700" marB="12700">
                    <a:solidFill>
                      <a:srgbClr val="FFFFFF"/>
                    </a:solidFill>
                  </a:tcPr>
                </a:tc>
                <a:tc>
                  <a:txBody>
                    <a:bodyPr wrap="square"/>
                    <a:lstStyle/>
                    <a:p>
                      <a:r>
                        <a:rPr sz="950" b="0" i="0">
                          <a:solidFill>
                            <a:srgbClr val="202020"/>
                          </a:solidFill>
                          <a:latin typeface="Calibri"/>
                        </a:rPr>
                        <a:t>gauge</a:t>
                      </a:r>
                    </a:p>
                  </a:txBody>
                  <a:tcPr marT="12700" marB="12700">
                    <a:solidFill>
                      <a:srgbClr val="FFFFFF"/>
                    </a:solidFill>
                  </a:tcPr>
                </a:tc>
                <a:tc>
                  <a:txBody>
                    <a:bodyPr wrap="square"/>
                    <a:lstStyle/>
                    <a:p>
                      <a:r>
                        <a:rPr sz="950" b="0" i="0">
                          <a:solidFill>
                            <a:srgbClr val="202020"/>
                          </a:solidFill>
                          <a:latin typeface="Calibri"/>
                        </a:rPr>
                        <a:t>Seconds since process start (resets = restarts).</a:t>
                      </a:r>
                    </a:p>
                  </a:txBody>
                  <a:tcPr marT="12700" marB="12700">
                    <a:solidFill>
                      <a:srgbClr val="FFFFFF"/>
                    </a:solidFill>
                  </a:tcPr>
                </a:tc>
              </a:tr>
              <a:tr h="384048">
                <a:tc>
                  <a:txBody>
                    <a:bodyPr wrap="square"/>
                    <a:lstStyle/>
                    <a:p>
                      <a:r>
                        <a:rPr sz="950" b="0" i="0">
                          <a:solidFill>
                            <a:srgbClr val="202020"/>
                          </a:solidFill>
                          <a:latin typeface="Calibri"/>
                        </a:rPr>
                        <a:t>object_records_fetched / object_records_total {object_type}</a:t>
                      </a:r>
                    </a:p>
                  </a:txBody>
                  <a:tcPr marT="12700" marB="12700">
                    <a:solidFill>
                      <a:srgbClr val="F7F9FC"/>
                    </a:solidFill>
                  </a:tcPr>
                </a:tc>
                <a:tc>
                  <a:txBody>
                    <a:bodyPr wrap="square"/>
                    <a:lstStyle/>
                    <a:p>
                      <a:r>
                        <a:rPr sz="950" b="0" i="0">
                          <a:solidFill>
                            <a:srgbClr val="202020"/>
                          </a:solidFill>
                          <a:latin typeface="Calibri"/>
                        </a:rPr>
                        <a:t>gauge</a:t>
                      </a:r>
                    </a:p>
                  </a:txBody>
                  <a:tcPr marT="12700" marB="12700">
                    <a:solidFill>
                      <a:srgbClr val="F7F9FC"/>
                    </a:solidFill>
                  </a:tcPr>
                </a:tc>
                <a:tc>
                  <a:txBody>
                    <a:bodyPr wrap="square"/>
                    <a:lstStyle/>
                    <a:p>
                      <a:r>
                        <a:rPr sz="950" b="0" i="0">
                          <a:solidFill>
                            <a:srgbClr val="202020"/>
                          </a:solidFill>
                          <a:latin typeface="Calibri"/>
                        </a:rPr>
                        <a:t>Per-object crawl progress vs the count Salesforce reported at start.</a:t>
                      </a:r>
                    </a:p>
                  </a:txBody>
                  <a:tcPr marT="12700" marB="12700">
                    <a:solidFill>
                      <a:srgbClr val="F7F9FC"/>
                    </a:solidFill>
                  </a:tcPr>
                </a:tc>
              </a:tr>
              <a:tr h="384048">
                <a:tc>
                  <a:txBody>
                    <a:bodyPr wrap="square"/>
                    <a:lstStyle/>
                    <a:p>
                      <a:r>
                        <a:rPr sz="950" b="0" i="0">
                          <a:solidFill>
                            <a:srgbClr val="202020"/>
                          </a:solidFill>
                          <a:latin typeface="Calibri"/>
                        </a:rPr>
                        <a:t>max_item_ace_count</a:t>
                      </a:r>
                    </a:p>
                  </a:txBody>
                  <a:tcPr marT="12700" marB="12700">
                    <a:solidFill>
                      <a:srgbClr val="FFFFFF"/>
                    </a:solidFill>
                  </a:tcPr>
                </a:tc>
                <a:tc>
                  <a:txBody>
                    <a:bodyPr wrap="square"/>
                    <a:lstStyle/>
                    <a:p>
                      <a:r>
                        <a:rPr sz="950" b="0" i="0">
                          <a:solidFill>
                            <a:srgbClr val="202020"/>
                          </a:solidFill>
                          <a:latin typeface="Calibri"/>
                        </a:rPr>
                        <a:t>gauge</a:t>
                      </a:r>
                    </a:p>
                  </a:txBody>
                  <a:tcPr marT="12700" marB="12700">
                    <a:solidFill>
                      <a:srgbClr val="FFFFFF"/>
                    </a:solidFill>
                  </a:tcPr>
                </a:tc>
                <a:tc>
                  <a:txBody>
                    <a:bodyPr wrap="square"/>
                    <a:lstStyle/>
                    <a:p>
                      <a:r>
                        <a:rPr sz="950" b="0" i="0">
                          <a:solidFill>
                            <a:srgbClr val="202020"/>
                          </a:solidFill>
                          <a:latin typeface="Calibri"/>
                        </a:rPr>
                        <a:t>Largest per-item ACL size (ACE count) seen — always exported; watch it against Graph's per-item ACL / 4 MB ceiling. Drives the ACL scale guard (§12.5).</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270</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10.3 Dashboard panels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shipped Grafana dashboard (</a:t>
            </a:r>
            <a:r>
              <a:rPr sz="1200" b="0" i="0">
                <a:solidFill>
                  <a:srgbClr val="202020"/>
                </a:solidFill>
                <a:latin typeface="Consolas"/>
              </a:rPr>
              <a:t>ops/grafana-dashboard.json</a:t>
            </a:r>
            <a:r>
              <a:rPr sz="1250" b="0" i="0">
                <a:solidFill>
                  <a:srgbClr val="202020"/>
                </a:solidFill>
                <a:latin typeface="Calibri"/>
              </a:rPr>
              <a:t>, title "Salesforce Copilot Connector") has stat tiles for crawl throughput (items/s), dead-letter depth, 429 rate, adaptive concurrency, HA claims and last-crawl age, plus time-series for ingested/failed/deleted/skipped rates, 429s vs concurrency, crawls started/completed with dead-letter depth, node uptime (restart detection), and a per-object progress bar-gauge and table. Import it against your Prometheus data source.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271</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10.4 Key alerts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shipped Prometheus rules (</a:t>
            </a:r>
            <a:r>
              <a:rPr sz="1200" b="0" i="0">
                <a:solidFill>
                  <a:srgbClr val="202020"/>
                </a:solidFill>
                <a:latin typeface="Consolas"/>
              </a:rPr>
              <a:t>ops/prometheus-alerts.yml</a:t>
            </a:r>
            <a:r>
              <a:rPr sz="1250" b="0" i="0">
                <a:solidFill>
                  <a:srgbClr val="202020"/>
                </a:solidFill>
                <a:latin typeface="Calibri"/>
              </a:rPr>
              <a:t>) each link to a runbook in §11. The most important: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272</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10.4 Key alerts</a:t>
            </a:r>
          </a:p>
        </p:txBody>
      </p:sp>
      <p:graphicFrame>
        <p:nvGraphicFramePr>
          <p:cNvPr id="5" name="Table 4"/>
          <p:cNvGraphicFramePr>
            <a:graphicFrameLocks noGrp="1"/>
          </p:cNvGraphicFramePr>
          <p:nvPr/>
        </p:nvGraphicFramePr>
        <p:xfrm>
          <a:off x="502920" y="1188720"/>
          <a:ext cx="11185855" cy="3456432"/>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Alert</a:t>
                      </a:r>
                    </a:p>
                  </a:txBody>
                  <a:tcPr marT="25400" marB="25400">
                    <a:solidFill>
                      <a:srgbClr val="2E5496"/>
                    </a:solidFill>
                  </a:tcPr>
                </a:tc>
                <a:tc>
                  <a:txBody>
                    <a:bodyPr wrap="square"/>
                    <a:lstStyle/>
                    <a:p>
                      <a:r>
                        <a:rPr sz="1050" b="1" i="0">
                          <a:solidFill>
                            <a:srgbClr val="FFFFFF"/>
                          </a:solidFill>
                          <a:latin typeface="Calibri"/>
                        </a:rPr>
                        <a:t>Fires when</a:t>
                      </a:r>
                    </a:p>
                  </a:txBody>
                  <a:tcPr marT="25400" marB="25400">
                    <a:solidFill>
                      <a:srgbClr val="2E5496"/>
                    </a:solidFill>
                  </a:tcPr>
                </a:tc>
                <a:tc>
                  <a:txBody>
                    <a:bodyPr wrap="square"/>
                    <a:lstStyle/>
                    <a:p>
                      <a:r>
                        <a:rPr sz="1050" b="1" i="0">
                          <a:solidFill>
                            <a:srgbClr val="FFFFFF"/>
                          </a:solidFill>
                          <a:latin typeface="Calibri"/>
                        </a:rPr>
                        <a:t>Runbook (§11)</a:t>
                      </a:r>
                    </a:p>
                  </a:txBody>
                  <a:tcPr marT="25400" marB="25400">
                    <a:solidFill>
                      <a:srgbClr val="2E5496"/>
                    </a:solidFill>
                  </a:tcPr>
                </a:tc>
              </a:tr>
              <a:tr h="384048">
                <a:tc>
                  <a:txBody>
                    <a:bodyPr wrap="square"/>
                    <a:lstStyle/>
                    <a:p>
                      <a:r>
                        <a:rPr sz="950" b="0" i="0">
                          <a:solidFill>
                            <a:srgbClr val="202020"/>
                          </a:solidFill>
                          <a:latin typeface="Calibri"/>
                        </a:rPr>
                        <a:t>SfConnectorDown</a:t>
                      </a:r>
                    </a:p>
                  </a:txBody>
                  <a:tcPr marT="12700" marB="12700">
                    <a:solidFill>
                      <a:srgbClr val="FFFFFF"/>
                    </a:solidFill>
                  </a:tcPr>
                </a:tc>
                <a:tc>
                  <a:txBody>
                    <a:bodyPr wrap="square"/>
                    <a:lstStyle/>
                    <a:p>
                      <a:r>
                        <a:rPr sz="950" b="0" i="0">
                          <a:solidFill>
                            <a:srgbClr val="202020"/>
                          </a:solidFill>
                          <a:latin typeface="Consolas"/>
                        </a:rPr>
                        <a:t>/metrics stops answering for 5m.</a:t>
                      </a:r>
                    </a:p>
                  </a:txBody>
                  <a:tcPr marT="12700" marB="12700">
                    <a:solidFill>
                      <a:srgbClr val="FFFFFF"/>
                    </a:solidFill>
                  </a:tcPr>
                </a:tc>
                <a:tc>
                  <a:txBody>
                    <a:bodyPr wrap="square"/>
                    <a:lstStyle/>
                    <a:p>
                      <a:r>
                        <a:rPr sz="950" b="0" i="0">
                          <a:solidFill>
                            <a:srgbClr val="202020"/>
                          </a:solidFill>
                          <a:latin typeface="Calibri"/>
                        </a:rPr>
                        <a:t>Crawl stalled</a:t>
                      </a:r>
                    </a:p>
                  </a:txBody>
                  <a:tcPr marT="12700" marB="12700">
                    <a:solidFill>
                      <a:srgbClr val="FFFFFF"/>
                    </a:solidFill>
                  </a:tcPr>
                </a:tc>
              </a:tr>
              <a:tr h="384048">
                <a:tc>
                  <a:txBody>
                    <a:bodyPr wrap="square"/>
                    <a:lstStyle/>
                    <a:p>
                      <a:r>
                        <a:rPr sz="950" b="0" i="0">
                          <a:solidFill>
                            <a:srgbClr val="202020"/>
                          </a:solidFill>
                          <a:latin typeface="Calibri"/>
                        </a:rPr>
                        <a:t>SfConnectorRestartLoop</a:t>
                      </a:r>
                    </a:p>
                  </a:txBody>
                  <a:tcPr marT="12700" marB="12700">
                    <a:solidFill>
                      <a:srgbClr val="F7F9FC"/>
                    </a:solidFill>
                  </a:tcPr>
                </a:tc>
                <a:tc>
                  <a:txBody>
                    <a:bodyPr wrap="square"/>
                    <a:lstStyle/>
                    <a:p>
                      <a:r>
                        <a:rPr sz="950" b="0" i="0">
                          <a:solidFill>
                            <a:srgbClr val="202020"/>
                          </a:solidFill>
                          <a:latin typeface="Calibri"/>
                        </a:rPr>
                        <a:t>&gt; 2 restarts in 1h (crash loop).</a:t>
                      </a:r>
                    </a:p>
                  </a:txBody>
                  <a:tcPr marT="12700" marB="12700">
                    <a:solidFill>
                      <a:srgbClr val="F7F9FC"/>
                    </a:solidFill>
                  </a:tcPr>
                </a:tc>
                <a:tc>
                  <a:txBody>
                    <a:bodyPr wrap="square"/>
                    <a:lstStyle/>
                    <a:p>
                      <a:r>
                        <a:rPr sz="950" b="0" i="0">
                          <a:solidFill>
                            <a:srgbClr val="202020"/>
                          </a:solidFill>
                          <a:latin typeface="Calibri"/>
                        </a:rPr>
                        <a:t>Crawl stalled</a:t>
                      </a:r>
                    </a:p>
                  </a:txBody>
                  <a:tcPr marT="12700" marB="12700">
                    <a:solidFill>
                      <a:srgbClr val="F7F9FC"/>
                    </a:solidFill>
                  </a:tcPr>
                </a:tc>
              </a:tr>
              <a:tr h="384048">
                <a:tc>
                  <a:txBody>
                    <a:bodyPr wrap="square"/>
                    <a:lstStyle/>
                    <a:p>
                      <a:r>
                        <a:rPr sz="950" b="0" i="0">
                          <a:solidFill>
                            <a:srgbClr val="202020"/>
                          </a:solidFill>
                          <a:latin typeface="Calibri"/>
                        </a:rPr>
                        <a:t>SfConnectorCrawlStalled</a:t>
                      </a:r>
                    </a:p>
                  </a:txBody>
                  <a:tcPr marT="12700" marB="12700">
                    <a:solidFill>
                      <a:srgbClr val="FFFFFF"/>
                    </a:solidFill>
                  </a:tcPr>
                </a:tc>
                <a:tc>
                  <a:txBody>
                    <a:bodyPr wrap="square"/>
                    <a:lstStyle/>
                    <a:p>
                      <a:r>
                        <a:rPr sz="950" b="0" i="0">
                          <a:solidFill>
                            <a:srgbClr val="202020"/>
                          </a:solidFill>
                          <a:latin typeface="Calibri"/>
                        </a:rPr>
                        <a:t>No completed crawl in &gt; 30h.</a:t>
                      </a:r>
                    </a:p>
                  </a:txBody>
                  <a:tcPr marT="12700" marB="12700">
                    <a:solidFill>
                      <a:srgbClr val="FFFFFF"/>
                    </a:solidFill>
                  </a:tcPr>
                </a:tc>
                <a:tc>
                  <a:txBody>
                    <a:bodyPr wrap="square"/>
                    <a:lstStyle/>
                    <a:p>
                      <a:r>
                        <a:rPr sz="950" b="0" i="0">
                          <a:solidFill>
                            <a:srgbClr val="202020"/>
                          </a:solidFill>
                          <a:latin typeface="Calibri"/>
                        </a:rPr>
                        <a:t>Crawl stalled</a:t>
                      </a:r>
                    </a:p>
                  </a:txBody>
                  <a:tcPr marT="12700" marB="12700">
                    <a:solidFill>
                      <a:srgbClr val="FFFFFF"/>
                    </a:solidFill>
                  </a:tcPr>
                </a:tc>
              </a:tr>
              <a:tr h="384048">
                <a:tc>
                  <a:txBody>
                    <a:bodyPr wrap="square"/>
                    <a:lstStyle/>
                    <a:p>
                      <a:r>
                        <a:rPr sz="950" b="0" i="0">
                          <a:solidFill>
                            <a:srgbClr val="202020"/>
                          </a:solidFill>
                          <a:latin typeface="Calibri"/>
                        </a:rPr>
                        <a:t>SfConnectorLeaseStuck</a:t>
                      </a:r>
                    </a:p>
                  </a:txBody>
                  <a:tcPr marT="12700" marB="12700">
                    <a:solidFill>
                      <a:srgbClr val="F7F9FC"/>
                    </a:solidFill>
                  </a:tcPr>
                </a:tc>
                <a:tc>
                  <a:txBody>
                    <a:bodyPr wrap="square"/>
                    <a:lstStyle/>
                    <a:p>
                      <a:r>
                        <a:rPr sz="950" b="0" i="0">
                          <a:solidFill>
                            <a:srgbClr val="202020"/>
                          </a:solidFill>
                          <a:latin typeface="Calibri"/>
                        </a:rPr>
                        <a:t>Crawl open but no per-object progress for 45m.</a:t>
                      </a:r>
                    </a:p>
                  </a:txBody>
                  <a:tcPr marT="12700" marB="12700">
                    <a:solidFill>
                      <a:srgbClr val="F7F9FC"/>
                    </a:solidFill>
                  </a:tcPr>
                </a:tc>
                <a:tc>
                  <a:txBody>
                    <a:bodyPr wrap="square"/>
                    <a:lstStyle/>
                    <a:p>
                      <a:r>
                        <a:rPr sz="950" b="0" i="0">
                          <a:solidFill>
                            <a:srgbClr val="202020"/>
                          </a:solidFill>
                          <a:latin typeface="Calibri"/>
                        </a:rPr>
                        <a:t>Lease stuck</a:t>
                      </a:r>
                    </a:p>
                  </a:txBody>
                  <a:tcPr marT="12700" marB="12700">
                    <a:solidFill>
                      <a:srgbClr val="F7F9FC"/>
                    </a:solidFill>
                  </a:tcPr>
                </a:tc>
              </a:tr>
              <a:tr h="384048">
                <a:tc>
                  <a:txBody>
                    <a:bodyPr wrap="square"/>
                    <a:lstStyle/>
                    <a:p>
                      <a:r>
                        <a:rPr sz="950" b="0" i="0">
                          <a:solidFill>
                            <a:srgbClr val="202020"/>
                          </a:solidFill>
                          <a:latin typeface="Calibri"/>
                        </a:rPr>
                        <a:t>SfConnectorThrottle429Storm</a:t>
                      </a:r>
                    </a:p>
                  </a:txBody>
                  <a:tcPr marT="12700" marB="12700">
                    <a:solidFill>
                      <a:srgbClr val="FFFFFF"/>
                    </a:solidFill>
                  </a:tcPr>
                </a:tc>
                <a:tc>
                  <a:txBody>
                    <a:bodyPr wrap="square"/>
                    <a:lstStyle/>
                    <a:p>
                      <a:r>
                        <a:rPr sz="950" b="0" i="0">
                          <a:solidFill>
                            <a:srgbClr val="202020"/>
                          </a:solidFill>
                          <a:latin typeface="Calibri"/>
                        </a:rPr>
                        <a:t>Sustained 429s (&gt; 0.5/s over 15m).</a:t>
                      </a:r>
                    </a:p>
                  </a:txBody>
                  <a:tcPr marT="12700" marB="12700">
                    <a:solidFill>
                      <a:srgbClr val="FFFFFF"/>
                    </a:solidFill>
                  </a:tcPr>
                </a:tc>
                <a:tc>
                  <a:txBody>
                    <a:bodyPr wrap="square"/>
                    <a:lstStyle/>
                    <a:p>
                      <a:r>
                        <a:rPr sz="950" b="0" i="0">
                          <a:solidFill>
                            <a:srgbClr val="202020"/>
                          </a:solidFill>
                          <a:latin typeface="Calibri"/>
                        </a:rPr>
                        <a:t>429 storm</a:t>
                      </a:r>
                    </a:p>
                  </a:txBody>
                  <a:tcPr marT="12700" marB="12700">
                    <a:solidFill>
                      <a:srgbClr val="FFFFFF"/>
                    </a:solidFill>
                  </a:tcPr>
                </a:tc>
              </a:tr>
              <a:tr h="384048">
                <a:tc>
                  <a:txBody>
                    <a:bodyPr wrap="square"/>
                    <a:lstStyle/>
                    <a:p>
                      <a:r>
                        <a:rPr sz="950" b="0" i="0">
                          <a:solidFill>
                            <a:srgbClr val="202020"/>
                          </a:solidFill>
                          <a:latin typeface="Calibri"/>
                        </a:rPr>
                        <a:t>SfConnectorConcurrencyPinned</a:t>
                      </a:r>
                    </a:p>
                  </a:txBody>
                  <a:tcPr marT="12700" marB="12700">
                    <a:solidFill>
                      <a:srgbClr val="F7F9FC"/>
                    </a:solidFill>
                  </a:tcPr>
                </a:tc>
                <a:tc>
                  <a:txBody>
                    <a:bodyPr wrap="square"/>
                    <a:lstStyle/>
                    <a:p>
                      <a:r>
                        <a:rPr sz="950" b="0" i="0">
                          <a:solidFill>
                            <a:srgbClr val="202020"/>
                          </a:solidFill>
                          <a:latin typeface="Calibri"/>
                        </a:rPr>
                        <a:t>adaptive_concurrency_level == 1 while still ingesting.</a:t>
                      </a:r>
                    </a:p>
                  </a:txBody>
                  <a:tcPr marT="12700" marB="12700">
                    <a:solidFill>
                      <a:srgbClr val="F7F9FC"/>
                    </a:solidFill>
                  </a:tcPr>
                </a:tc>
                <a:tc>
                  <a:txBody>
                    <a:bodyPr wrap="square"/>
                    <a:lstStyle/>
                    <a:p>
                      <a:r>
                        <a:rPr sz="950" b="0" i="0">
                          <a:solidFill>
                            <a:srgbClr val="202020"/>
                          </a:solidFill>
                          <a:latin typeface="Calibri"/>
                        </a:rPr>
                        <a:t>Adaptive concurrency degradation</a:t>
                      </a:r>
                    </a:p>
                  </a:txBody>
                  <a:tcPr marT="12700" marB="12700">
                    <a:solidFill>
                      <a:srgbClr val="F7F9FC"/>
                    </a:solidFill>
                  </a:tcPr>
                </a:tc>
              </a:tr>
              <a:tr h="384048">
                <a:tc>
                  <a:txBody>
                    <a:bodyPr wrap="square"/>
                    <a:lstStyle/>
                    <a:p>
                      <a:r>
                        <a:rPr sz="950" b="0" i="0">
                          <a:solidFill>
                            <a:srgbClr val="202020"/>
                          </a:solidFill>
                          <a:latin typeface="Calibri"/>
                        </a:rPr>
                        <a:t>SfConnectorDeadLetterDepthHigh</a:t>
                      </a:r>
                    </a:p>
                  </a:txBody>
                  <a:tcPr marT="12700" marB="12700">
                    <a:solidFill>
                      <a:srgbClr val="FFFFFF"/>
                    </a:solidFill>
                  </a:tcPr>
                </a:tc>
                <a:tc>
                  <a:txBody>
                    <a:bodyPr wrap="square"/>
                    <a:lstStyle/>
                    <a:p>
                      <a:r>
                        <a:rPr sz="950" b="0" i="0">
                          <a:solidFill>
                            <a:srgbClr val="202020"/>
                          </a:solidFill>
                          <a:latin typeface="Calibri"/>
                        </a:rPr>
                        <a:t>dead_letter_depth &gt; 100 for 30m.</a:t>
                      </a:r>
                    </a:p>
                  </a:txBody>
                  <a:tcPr marT="12700" marB="12700">
                    <a:solidFill>
                      <a:srgbClr val="FFFFFF"/>
                    </a:solidFill>
                  </a:tcPr>
                </a:tc>
                <a:tc>
                  <a:txBody>
                    <a:bodyPr wrap="square"/>
                    <a:lstStyle/>
                    <a:p>
                      <a:r>
                        <a:rPr sz="950" b="0" i="0">
                          <a:solidFill>
                            <a:srgbClr val="202020"/>
                          </a:solidFill>
                          <a:latin typeface="Calibri"/>
                        </a:rPr>
                        <a:t>Dead-letter growth</a:t>
                      </a:r>
                    </a:p>
                  </a:txBody>
                  <a:tcPr marT="12700" marB="12700">
                    <a:solidFill>
                      <a:srgbClr val="FFFFFF"/>
                    </a:solidFill>
                  </a:tcPr>
                </a:tc>
              </a:tr>
              <a:tr h="384048">
                <a:tc>
                  <a:txBody>
                    <a:bodyPr wrap="square"/>
                    <a:lstStyle/>
                    <a:p>
                      <a:r>
                        <a:rPr sz="950" b="0" i="0">
                          <a:solidFill>
                            <a:srgbClr val="202020"/>
                          </a:solidFill>
                          <a:latin typeface="Calibri"/>
                        </a:rPr>
                        <a:t>SfConnectorHighFailureRatio</a:t>
                      </a:r>
                    </a:p>
                  </a:txBody>
                  <a:tcPr marT="12700" marB="12700">
                    <a:solidFill>
                      <a:srgbClr val="F7F9FC"/>
                    </a:solidFill>
                  </a:tcPr>
                </a:tc>
                <a:tc>
                  <a:txBody>
                    <a:bodyPr wrap="square"/>
                    <a:lstStyle/>
                    <a:p>
                      <a:r>
                        <a:rPr sz="950" b="0" i="0">
                          <a:solidFill>
                            <a:srgbClr val="202020"/>
                          </a:solidFill>
                          <a:latin typeface="Calibri"/>
                        </a:rPr>
                        <a:t>&gt; 5% of items failing over 1h.</a:t>
                      </a:r>
                    </a:p>
                  </a:txBody>
                  <a:tcPr marT="12700" marB="12700">
                    <a:solidFill>
                      <a:srgbClr val="F7F9FC"/>
                    </a:solidFill>
                  </a:tcPr>
                </a:tc>
                <a:tc>
                  <a:txBody>
                    <a:bodyPr wrap="square"/>
                    <a:lstStyle/>
                    <a:p>
                      <a:r>
                        <a:rPr sz="950" b="0" i="0">
                          <a:solidFill>
                            <a:srgbClr val="202020"/>
                          </a:solidFill>
                          <a:latin typeface="Calibri"/>
                        </a:rPr>
                        <a:t>Dead-letter growth</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273</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10.5 What good looks like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00" b="0" i="0">
                <a:solidFill>
                  <a:srgbClr val="202020"/>
                </a:solidFill>
                <a:latin typeface="Consolas"/>
              </a:rPr>
              <a:t>adaptive_concurrency_level</a:t>
            </a:r>
            <a:r>
              <a:rPr sz="1250" b="0" i="0">
                <a:solidFill>
                  <a:srgbClr val="202020"/>
                </a:solidFill>
                <a:latin typeface="Calibri"/>
              </a:rPr>
              <a:t> sits at your </a:t>
            </a:r>
            <a:r>
              <a:rPr sz="1200" b="0" i="0">
                <a:solidFill>
                  <a:srgbClr val="202020"/>
                </a:solidFill>
                <a:latin typeface="Consolas"/>
              </a:rPr>
              <a:t>GRAPH_BATCH_WORKERS</a:t>
            </a:r>
            <a:r>
              <a:rPr sz="1250" b="0" i="0">
                <a:solidFill>
                  <a:srgbClr val="202020"/>
                </a:solidFill>
                <a:latin typeface="Calibri"/>
              </a:rPr>
              <a:t> (default 8), not pinned at 1.</a:t>
            </a:r>
          </a:p>
          <a:p>
            <a:pPr>
              <a:spcBef>
                <a:spcPts val="100"/>
              </a:spcBef>
              <a:spcAft>
                <a:spcPts val="200"/>
              </a:spcAft>
            </a:pPr>
            <a:r>
              <a:rPr sz="1250" b="1" i="0">
                <a:solidFill>
                  <a:srgbClr val="2E5496"/>
                </a:solidFill>
                <a:latin typeface="Calibri"/>
              </a:rPr>
              <a:t>•  </a:t>
            </a:r>
            <a:r>
              <a:rPr sz="1200" b="0" i="0">
                <a:solidFill>
                  <a:srgbClr val="202020"/>
                </a:solidFill>
                <a:latin typeface="Consolas"/>
              </a:rPr>
              <a:t>crawls_completed_total</a:t>
            </a:r>
            <a:r>
              <a:rPr sz="1250" b="0" i="0">
                <a:solidFill>
                  <a:srgbClr val="202020"/>
                </a:solidFill>
                <a:latin typeface="Calibri"/>
              </a:rPr>
              <a:t> advances each cycle and </a:t>
            </a:r>
            <a:r>
              <a:rPr sz="1200" b="0" i="0">
                <a:solidFill>
                  <a:srgbClr val="202020"/>
                </a:solidFill>
                <a:latin typeface="Consolas"/>
              </a:rPr>
              <a:t>last_crawl_completed_timestamp_seconds</a:t>
            </a:r>
            <a:r>
              <a:rPr sz="1250" b="0" i="0">
                <a:solidFill>
                  <a:srgbClr val="202020"/>
                </a:solidFill>
                <a:latin typeface="Calibri"/>
              </a:rPr>
              <a:t> is recent (within your schedule + a crawl window).</a:t>
            </a:r>
          </a:p>
          <a:p>
            <a:pPr>
              <a:spcBef>
                <a:spcPts val="100"/>
              </a:spcBef>
              <a:spcAft>
                <a:spcPts val="200"/>
              </a:spcAft>
            </a:pPr>
            <a:r>
              <a:rPr sz="1250" b="1" i="0">
                <a:solidFill>
                  <a:srgbClr val="2E5496"/>
                </a:solidFill>
                <a:latin typeface="Calibri"/>
              </a:rPr>
              <a:t>•  </a:t>
            </a:r>
            <a:r>
              <a:rPr sz="1200" b="0" i="0">
                <a:solidFill>
                  <a:srgbClr val="202020"/>
                </a:solidFill>
                <a:latin typeface="Consolas"/>
              </a:rPr>
              <a:t>dead_letter_depth</a:t>
            </a:r>
            <a:r>
              <a:rPr sz="1250" b="0" i="0">
                <a:solidFill>
                  <a:srgbClr val="202020"/>
                </a:solidFill>
                <a:latin typeface="Calibri"/>
              </a:rPr>
              <a:t> is 0 (or draining after a known blip); </a:t>
            </a:r>
            <a:r>
              <a:rPr sz="1200" b="0" i="0">
                <a:solidFill>
                  <a:srgbClr val="202020"/>
                </a:solidFill>
                <a:latin typeface="Consolas"/>
              </a:rPr>
              <a:t>throttled_429_total</a:t>
            </a:r>
            <a:r>
              <a:rPr sz="1250" b="0" i="0">
                <a:solidFill>
                  <a:srgbClr val="202020"/>
                </a:solidFill>
                <a:latin typeface="Calibri"/>
              </a:rPr>
              <a:t> is flat or only briefly rising.</a:t>
            </a:r>
          </a:p>
          <a:p>
            <a:pPr>
              <a:spcBef>
                <a:spcPts val="100"/>
              </a:spcBef>
              <a:spcAft>
                <a:spcPts val="200"/>
              </a:spcAft>
            </a:pPr>
            <a:r>
              <a:rPr sz="1250" b="1" i="0">
                <a:solidFill>
                  <a:srgbClr val="2E5496"/>
                </a:solidFill>
                <a:latin typeface="Calibri"/>
              </a:rPr>
              <a:t>•  </a:t>
            </a:r>
            <a:r>
              <a:rPr sz="1250" b="0" i="0">
                <a:solidFill>
                  <a:srgbClr val="202020"/>
                </a:solidFill>
                <a:latin typeface="Calibri"/>
              </a:rPr>
              <a:t>Steady ingest rate around </a:t>
            </a:r>
            <a:r>
              <a:rPr sz="1250" b="1" i="0">
                <a:solidFill>
                  <a:srgbClr val="202020"/>
                </a:solidFill>
                <a:latin typeface="Calibri"/>
              </a:rPr>
              <a:t>25 items/second per connection</a:t>
            </a:r>
            <a:r>
              <a:rPr sz="1250" b="0" i="0">
                <a:solidFill>
                  <a:srgbClr val="202020"/>
                </a:solidFill>
                <a:latin typeface="Calibri"/>
              </a:rPr>
              <a:t> during a full crawl; per-object progress bars all march to 100%.</a:t>
            </a:r>
          </a:p>
          <a:p>
            <a:pPr>
              <a:spcBef>
                <a:spcPts val="100"/>
              </a:spcBef>
              <a:spcAft>
                <a:spcPts val="200"/>
              </a:spcAft>
            </a:pPr>
            <a:r>
              <a:rPr sz="1250" b="1" i="0">
                <a:solidFill>
                  <a:srgbClr val="2E5496"/>
                </a:solidFill>
                <a:latin typeface="Calibri"/>
              </a:rPr>
              <a:t>•  </a:t>
            </a:r>
            <a:r>
              <a:rPr sz="1200" b="0" i="0">
                <a:solidFill>
                  <a:srgbClr val="202020"/>
                </a:solidFill>
                <a:latin typeface="Consolas"/>
              </a:rPr>
              <a:t>uptime_seconds</a:t>
            </a:r>
            <a:r>
              <a:rPr sz="1250" b="0" i="0">
                <a:solidFill>
                  <a:srgbClr val="202020"/>
                </a:solidFill>
                <a:latin typeface="Calibri"/>
              </a:rPr>
              <a:t> climbs steadily with no sawtooth (no crash loop).</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274</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10.5 What good looks like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There is deliberately </a:t>
            </a:r>
            <a:r>
              <a:rPr sz="1250" b="1" i="0">
                <a:solidFill>
                  <a:srgbClr val="202020"/>
                </a:solidFill>
                <a:latin typeface="Calibri"/>
              </a:rPr>
              <a:t>no circuit-breaker metric</a:t>
            </a:r>
            <a:r>
              <a:rPr sz="1250" b="0" i="0">
                <a:solidFill>
                  <a:srgbClr val="202020"/>
                </a:solidFill>
                <a:latin typeface="Calibri"/>
              </a:rPr>
              <a:t> to watch — this connector has no breaker. The equivalent signal is </a:t>
            </a:r>
            <a:r>
              <a:rPr sz="1200" b="0" i="0">
                <a:solidFill>
                  <a:srgbClr val="202020"/>
                </a:solidFill>
                <a:latin typeface="Consolas"/>
              </a:rPr>
              <a:t>adaptive_concurrency_level</a:t>
            </a:r>
            <a:r>
              <a:rPr sz="1250" b="0" i="0">
                <a:solidFill>
                  <a:srgbClr val="202020"/>
                </a:solidFill>
                <a:latin typeface="Calibri"/>
              </a:rPr>
              <a:t> pinned at 1 (see §10.4 and §11).</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275</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Salesforce Connector</a:t>
            </a:r>
          </a:p>
          <a:p>
            <a:r>
              <a:rPr sz="3000" b="1" i="0">
                <a:solidFill>
                  <a:srgbClr val="1F3864"/>
                </a:solidFill>
                <a:latin typeface="Calibri"/>
              </a:rPr>
              <a:t>11. Troubleshooting</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276</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 Troubleshooting</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Symptom to likely cause to what to do. Log lines shown are the exact strings the connector emits — grep for them. </a:t>
            </a:r>
            <a:r>
              <a:rPr sz="1200" b="0" i="0">
                <a:solidFill>
                  <a:srgbClr val="202020"/>
                </a:solidFill>
                <a:latin typeface="Consolas"/>
              </a:rPr>
              <a:t>&lt;logdir&gt;</a:t>
            </a:r>
            <a:r>
              <a:rPr sz="1250" b="0" i="0">
                <a:solidFill>
                  <a:srgbClr val="202020"/>
                </a:solidFill>
                <a:latin typeface="Calibri"/>
              </a:rPr>
              <a:t> is the current </a:t>
            </a:r>
            <a:r>
              <a:rPr sz="1200" b="0" i="0">
                <a:solidFill>
                  <a:srgbClr val="202020"/>
                </a:solidFill>
                <a:latin typeface="Consolas"/>
              </a:rPr>
              <a:t>logs\{prefix}_{timestamp}\</a:t>
            </a:r>
            <a:r>
              <a:rPr sz="1250" b="0" i="0">
                <a:solidFill>
                  <a:srgbClr val="202020"/>
                </a:solidFill>
                <a:latin typeface="Calibri"/>
              </a:rPr>
              <a:t> run directory.</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277</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 Troubleshooting</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Symptom</a:t>
                      </a:r>
                    </a:p>
                  </a:txBody>
                  <a:tcPr marT="25400" marB="25400">
                    <a:solidFill>
                      <a:srgbClr val="2E5496"/>
                    </a:solidFill>
                  </a:tcPr>
                </a:tc>
                <a:tc>
                  <a:txBody>
                    <a:bodyPr wrap="square"/>
                    <a:lstStyle/>
                    <a:p>
                      <a:r>
                        <a:rPr sz="1050" b="1" i="0">
                          <a:solidFill>
                            <a:srgbClr val="FFFFFF"/>
                          </a:solidFill>
                          <a:latin typeface="Calibri"/>
                        </a:rPr>
                        <a:t>Likely cause</a:t>
                      </a:r>
                    </a:p>
                  </a:txBody>
                  <a:tcPr marT="25400" marB="25400">
                    <a:solidFill>
                      <a:srgbClr val="2E5496"/>
                    </a:solidFill>
                  </a:tcPr>
                </a:tc>
                <a:tc>
                  <a:txBody>
                    <a:bodyPr wrap="square"/>
                    <a:lstStyle/>
                    <a:p>
                      <a:r>
                        <a:rPr sz="1050" b="1" i="0">
                          <a:solidFill>
                            <a:srgbClr val="FFFFFF"/>
                          </a:solidFill>
                          <a:latin typeface="Calibri"/>
                        </a:rPr>
                        <a:t>What to do</a:t>
                      </a:r>
                    </a:p>
                  </a:txBody>
                  <a:tcPr marT="25400" marB="25400">
                    <a:solidFill>
                      <a:srgbClr val="2E5496"/>
                    </a:solidFill>
                  </a:tcPr>
                </a:tc>
              </a:tr>
              <a:tr h="384048">
                <a:tc>
                  <a:txBody>
                    <a:bodyPr wrap="square"/>
                    <a:lstStyle/>
                    <a:p>
                      <a:r>
                        <a:rPr sz="950" b="0" i="0">
                          <a:solidFill>
                            <a:srgbClr val="202020"/>
                          </a:solidFill>
                          <a:latin typeface="Calibri"/>
                        </a:rPr>
                        <a:t>Crawl aborts immediately; log shows invalid_client / invalid_grant (Salesforce) or 401 InvalidAuthenticationToken / AuthenticationFailedException (Graph).</a:t>
                      </a:r>
                    </a:p>
                  </a:txBody>
                  <a:tcPr marT="12700" marB="12700">
                    <a:solidFill>
                      <a:srgbClr val="FFFFFF"/>
                    </a:solidFill>
                  </a:tcPr>
                </a:tc>
                <a:tc>
                  <a:txBody>
                    <a:bodyPr wrap="square"/>
                    <a:lstStyle/>
                    <a:p>
                      <a:r>
                        <a:rPr sz="950" b="0" i="0">
                          <a:solidFill>
                            <a:srgbClr val="202020"/>
                          </a:solidFill>
                          <a:latin typeface="Calibri"/>
                        </a:rPr>
                        <a:t>Bad or expired credential; wrong auth mode; conditional-access policy.</a:t>
                      </a:r>
                    </a:p>
                  </a:txBody>
                  <a:tcPr marT="12700" marB="12700">
                    <a:solidFill>
                      <a:srgbClr val="FFFFFF"/>
                    </a:solidFill>
                  </a:tcPr>
                </a:tc>
                <a:tc>
                  <a:txBody>
                    <a:bodyPr wrap="square"/>
                    <a:lstStyle/>
                    <a:p>
                      <a:r>
                        <a:rPr sz="950" b="0" i="0">
                          <a:solidFill>
                            <a:srgbClr val="202020"/>
                          </a:solidFill>
                          <a:latin typeface="Calibri"/>
                        </a:rPr>
                        <a:t>Run validate-config --strict (it names the failing credential). Check the startup line 'Graph auth mode: …'. Check secret/cert expiry. Rotate per §12.6 / SECURITY. Confirm Salesforce Connected App client-credentials + run-as user.</a:t>
                      </a:r>
                    </a:p>
                  </a:txBody>
                  <a:tcPr marT="12700" marB="12700">
                    <a:solidFill>
                      <a:srgbClr val="FFFFFF"/>
                    </a:solidFill>
                  </a:tcPr>
                </a:tc>
              </a:tr>
              <a:tr h="384048">
                <a:tc>
                  <a:txBody>
                    <a:bodyPr wrap="square"/>
                    <a:lstStyle/>
                    <a:p>
                      <a:r>
                        <a:rPr sz="950" b="0" i="0">
                          <a:solidFill>
                            <a:srgbClr val="202020"/>
                          </a:solidFill>
                          <a:latin typeface="Calibri"/>
                        </a:rPr>
                        <a:t>Users miss records they should see in Copilot; identity-dry-run shows many unmapped users.</a:t>
                      </a:r>
                    </a:p>
                  </a:txBody>
                  <a:tcPr marT="12700" marB="12700">
                    <a:solidFill>
                      <a:srgbClr val="F7F9FC"/>
                    </a:solidFill>
                  </a:tcPr>
                </a:tc>
                <a:tc>
                  <a:txBody>
                    <a:bodyPr wrap="square"/>
                    <a:lstStyle/>
                    <a:p>
                      <a:r>
                        <a:rPr sz="950" b="0" i="0">
                          <a:solidFill>
                            <a:srgbClr val="202020"/>
                          </a:solidFill>
                          <a:latin typeface="Calibri"/>
                        </a:rPr>
                        <a:t>Salesforce users not matching an Entra identity (FederationIdentifier / UserName / Email mismatch).</a:t>
                      </a:r>
                    </a:p>
                  </a:txBody>
                  <a:tcPr marT="12700" marB="12700">
                    <a:solidFill>
                      <a:srgbClr val="F7F9FC"/>
                    </a:solidFill>
                  </a:tcPr>
                </a:tc>
                <a:tc>
                  <a:txBody>
                    <a:bodyPr wrap="square"/>
                    <a:lstStyle/>
                    <a:p>
                      <a:r>
                        <a:rPr sz="950" b="0" i="0">
                          <a:solidFill>
                            <a:srgbClr val="202020"/>
                          </a:solidFill>
                          <a:latin typeface="Calibri"/>
                        </a:rPr>
                        <a:t>Fix the identity data with the Salesforce and Entra admins; re-run identity-dry-run; then a full crawl. Confirm User.Read.All is granted.</a:t>
                      </a:r>
                    </a:p>
                  </a:txBody>
                  <a:tcPr marT="12700" marB="12700">
                    <a:solidFill>
                      <a:srgbClr val="F7F9FC"/>
                    </a:solidFill>
                  </a:tcPr>
                </a:tc>
              </a:tr>
              <a:tr h="384048">
                <a:tc>
                  <a:txBody>
                    <a:bodyPr wrap="square"/>
                    <a:lstStyle/>
                    <a:p>
                      <a:r>
                        <a:rPr sz="950" b="0" i="0">
                          <a:solidFill>
                            <a:srgbClr val="202020"/>
                          </a:solidFill>
                          <a:latin typeface="Calibri"/>
                        </a:rPr>
                        <a:t>A record is visible to the wrong people, or to nobody.</a:t>
                      </a:r>
                    </a:p>
                  </a:txBody>
                  <a:tcPr marT="12700" marB="12700">
                    <a:solidFill>
                      <a:srgbClr val="FFFFFF"/>
                    </a:solidFill>
                  </a:tcPr>
                </a:tc>
                <a:tc>
                  <a:txBody>
                    <a:bodyPr wrap="square"/>
                    <a:lstStyle/>
                    <a:p>
                      <a:r>
                        <a:rPr sz="950" b="0" i="0">
                          <a:solidFill>
                            <a:srgbClr val="202020"/>
                          </a:solidFill>
                          <a:latin typeface="Calibri"/>
                        </a:rPr>
                        <a:t>OWD override wrong; over-permissioned run-as user; incomplete identity crawl; cyclic/depth-capped group.</a:t>
                      </a:r>
                    </a:p>
                  </a:txBody>
                  <a:tcPr marT="12700" marB="12700">
                    <a:solidFill>
                      <a:srgbClr val="FFFFFF"/>
                    </a:solidFill>
                  </a:tcPr>
                </a:tc>
                <a:tc>
                  <a:txBody>
                    <a:bodyPr wrap="square"/>
                    <a:lstStyle/>
                    <a:p>
                      <a:r>
                        <a:rPr sz="950" b="0" i="0">
                          <a:solidFill>
                            <a:srgbClr val="202020"/>
                          </a:solidFill>
                          <a:latin typeface="Calibri"/>
                        </a:rPr>
                        <a:t>Re-check OWD_OVERRIDES; confirm the integration user is read-only and correctly scoped; grep the log for 'Cyclic group membership detected' / depth-cap warnings and give the named group to the SF admin. Re-run full crawl.</a:t>
                      </a:r>
                    </a:p>
                  </a:txBody>
                  <a:tcPr marT="12700" marB="12700">
                    <a:solidFill>
                      <a:srgbClr val="FFFFFF"/>
                    </a:solidFill>
                  </a:tcPr>
                </a:tc>
              </a:tr>
              <a:tr h="384048">
                <a:tc>
                  <a:txBody>
                    <a:bodyPr wrap="square"/>
                    <a:lstStyle/>
                    <a:p>
                      <a:r>
                        <a:rPr sz="950" b="0" i="0">
                          <a:solidFill>
                            <a:srgbClr val="202020"/>
                          </a:solidFill>
                          <a:latin typeface="Calibri"/>
                        </a:rPr>
                        <a:t>throttled_429_total spiking; log floods with 'Graph API transient error 429 … retrying in Ns'.</a:t>
                      </a:r>
                    </a:p>
                  </a:txBody>
                  <a:tcPr marT="12700" marB="12700">
                    <a:solidFill>
                      <a:srgbClr val="F7F9FC"/>
                    </a:solidFill>
                  </a:tcPr>
                </a:tc>
                <a:tc>
                  <a:txBody>
                    <a:bodyPr wrap="square"/>
                    <a:lstStyle/>
                    <a:p>
                      <a:r>
                        <a:rPr sz="950" b="0" i="0">
                          <a:solidFill>
                            <a:srgbClr val="202020"/>
                          </a:solidFill>
                          <a:latin typeface="Calibri"/>
                        </a:rPr>
                        <a:t>Too much concurrency, or several jobs hitting one connection at once (HA nodes, retry-failed + full crawl).</a:t>
                      </a:r>
                    </a:p>
                  </a:txBody>
                  <a:tcPr marT="12700" marB="12700">
                    <a:solidFill>
                      <a:srgbClr val="F7F9FC"/>
                    </a:solidFill>
                  </a:tcPr>
                </a:tc>
                <a:tc>
                  <a:txBody>
                    <a:bodyPr wrap="square"/>
                    <a:lstStyle/>
                    <a:p>
                      <a:r>
                        <a:rPr sz="950" b="0" i="0">
                          <a:solidFill>
                            <a:srgbClr val="202020"/>
                          </a:solidFill>
                          <a:latin typeface="Calibri"/>
                        </a:rPr>
                        <a:t>The client already backs off (Retry-After honoured, 60s cap). Stagger jobs; restore GRAPH_BATCH_WORKERS defaults; set GRAPH_RETRY_JITTER=true on every HA node. Drain the dead-letter with retry-failed after the storm.</a:t>
                      </a:r>
                    </a:p>
                  </a:txBody>
                  <a:tcPr marT="12700" marB="12700">
                    <a:solidFill>
                      <a:srgbClr val="F7F9FC"/>
                    </a:solidFill>
                  </a:tcPr>
                </a:tc>
              </a:tr>
              <a:tr h="384048">
                <a:tc>
                  <a:txBody>
                    <a:bodyPr wrap="square"/>
                    <a:lstStyle/>
                    <a:p>
                      <a:r>
                        <a:rPr sz="950" b="0" i="0">
                          <a:solidFill>
                            <a:srgbClr val="202020"/>
                          </a:solidFill>
                          <a:latin typeface="Calibri"/>
                        </a:rPr>
                        <a:t>adaptive_concurrency_level pinned at 1 for &gt; 15m; no 'concurrency ramped up' lines.</a:t>
                      </a:r>
                    </a:p>
                  </a:txBody>
                  <a:tcPr marT="12700" marB="12700">
                    <a:solidFill>
                      <a:srgbClr val="FFFFFF"/>
                    </a:solidFill>
                  </a:tcPr>
                </a:tc>
                <a:tc>
                  <a:txBody>
                    <a:bodyPr wrap="square"/>
                    <a:lstStyle/>
                    <a:p>
                      <a:r>
                        <a:rPr sz="950" b="0" i="0">
                          <a:solidFill>
                            <a:srgbClr val="202020"/>
                          </a:solidFill>
                          <a:latin typeface="Calibri"/>
                        </a:rPr>
                        <a:t>Sustained Graph throttling — the no-breaker equivalent of 'open'. Ingestion degrades to one worker.</a:t>
                      </a:r>
                    </a:p>
                  </a:txBody>
                  <a:tcPr marT="12700" marB="12700">
                    <a:solidFill>
                      <a:srgbClr val="FFFFFF"/>
                    </a:solidFill>
                  </a:tcPr>
                </a:tc>
                <a:tc>
                  <a:txBody>
                    <a:bodyPr wrap="square"/>
                    <a:lstStyle/>
                    <a:p>
                      <a:r>
                        <a:rPr sz="950" b="0" i="0">
                          <a:solidFill>
                            <a:srgbClr val="202020"/>
                          </a:solidFill>
                          <a:latin typeface="Calibri"/>
                        </a:rPr>
                        <a:t>Usually self-recovers (3 successes per step ramp). If sustained: lower GRAPH_BATCH_WORKERS (divide by node count in HA), enable jitter, or shard connections. Check no runaway retry-failed competes with a crawl.</a:t>
                      </a:r>
                    </a:p>
                  </a:txBody>
                  <a:tcPr marT="12700" marB="12700">
                    <a:solidFill>
                      <a:srgbClr val="FFFFFF"/>
                    </a:solidFill>
                  </a:tcPr>
                </a:tc>
              </a:tr>
              <a:tr h="384048">
                <a:tc>
                  <a:txBody>
                    <a:bodyPr wrap="square"/>
                    <a:lstStyle/>
                    <a:p>
                      <a:r>
                        <a:rPr sz="950" b="0" i="0">
                          <a:solidFill>
                            <a:srgbClr val="202020"/>
                          </a:solidFill>
                          <a:latin typeface="Calibri"/>
                        </a:rPr>
                        <a:t>Crawl open but one object shows no progress; object_records_fetched flat.</a:t>
                      </a:r>
                    </a:p>
                  </a:txBody>
                  <a:tcPr marT="12700" marB="12700">
                    <a:solidFill>
                      <a:srgbClr val="F7F9FC"/>
                    </a:solidFill>
                  </a:tcPr>
                </a:tc>
                <a:tc>
                  <a:txBody>
                    <a:bodyPr wrap="square"/>
                    <a:lstStyle/>
                    <a:p>
                      <a:r>
                        <a:rPr sz="950" b="0" i="0">
                          <a:solidFill>
                            <a:srgbClr val="202020"/>
                          </a:solidFill>
                          <a:latin typeface="Calibri"/>
                        </a:rPr>
                        <a:t>Stalled worker / stuck HA claim on a giant chunk or slow SOQL.</a:t>
                      </a:r>
                    </a:p>
                  </a:txBody>
                  <a:tcPr marT="12700" marB="12700">
                    <a:solidFill>
                      <a:srgbClr val="F7F9FC"/>
                    </a:solidFill>
                  </a:tcPr>
                </a:tc>
                <a:tc>
                  <a:txBody>
                    <a:bodyPr wrap="square"/>
                    <a:lstStyle/>
                    <a:p>
                      <a:r>
                        <a:rPr sz="950" b="0" i="0">
                          <a:solidFill>
                            <a:srgbClr val="202020"/>
                          </a:solidFill>
                          <a:latin typeface="Calibri"/>
                        </a:rPr>
                        <a:t>Single node: graceful stop then start — it resumes from the checkpoint. HA: the claim expires after HA_CLAIM_TIMEOUT_SECONDS and a survivor reclaims it. Never delete ObjectClaims rows by hand.</a:t>
                      </a:r>
                    </a:p>
                  </a:txBody>
                  <a:tcPr marT="12700" marB="12700">
                    <a:solidFill>
                      <a:srgbClr val="F7F9FC"/>
                    </a:solidFill>
                  </a:tcPr>
                </a:tc>
              </a:tr>
              <a:tr h="384048">
                <a:tc>
                  <a:txBody>
                    <a:bodyPr wrap="square"/>
                    <a:lstStyle/>
                    <a:p>
                      <a:r>
                        <a:rPr sz="950" b="0" i="0">
                          <a:solidFill>
                            <a:srgbClr val="202020"/>
                          </a:solidFill>
                          <a:latin typeface="Calibri"/>
                        </a:rPr>
                        <a:t>dead_letter_depth climbing; dead_letter webhook alert.</a:t>
                      </a:r>
                    </a:p>
                  </a:txBody>
                  <a:tcPr marT="12700" marB="12700">
                    <a:solidFill>
                      <a:srgbClr val="FFFFFF"/>
                    </a:solidFill>
                  </a:tcPr>
                </a:tc>
                <a:tc>
                  <a:txBody>
                    <a:bodyPr wrap="square"/>
                    <a:lstStyle/>
                    <a:p>
                      <a:r>
                        <a:rPr sz="950" b="0" i="0">
                          <a:solidFill>
                            <a:srgbClr val="202020"/>
                          </a:solidFill>
                          <a:latin typeface="Calibri"/>
                        </a:rPr>
                        <a:t>Systematic failure (schema/property mismatch, one object hitting a Graph limit) or a transient tail after throttling.</a:t>
                      </a:r>
                    </a:p>
                  </a:txBody>
                  <a:tcPr marT="12700" marB="12700">
                    <a:solidFill>
                      <a:srgbClr val="FFFFFF"/>
                    </a:solidFill>
                  </a:tcPr>
                </a:tc>
                <a:tc>
                  <a:txBody>
                    <a:bodyPr wrap="square"/>
                    <a:lstStyle/>
                    <a:p>
                      <a:r>
                        <a:rPr sz="950" b="0" i="0">
                          <a:solidFill>
                            <a:srgbClr val="202020"/>
                          </a:solidFill>
                          <a:latin typeface="Calibri"/>
                        </a:rPr>
                        <a:t>Inspect error signatures (jq over failed_records_*.jsonl, or dbo.DeadLetter). One dominant signature = fix the cause (validate-config --strict helps) then retry-failed; long tail = retry-failed --clear-on-success off-peak.</a:t>
                      </a:r>
                    </a:p>
                  </a:txBody>
                  <a:tcPr marT="12700" marB="12700">
                    <a:solidFill>
                      <a:srgbClr val="FFFFFF"/>
                    </a:solidFill>
                  </a:tcPr>
                </a:tc>
              </a:tr>
              <a:tr h="384048">
                <a:tc>
                  <a:txBody>
                    <a:bodyPr wrap="square"/>
                    <a:lstStyle/>
                    <a:p>
                      <a:r>
                        <a:rPr sz="950" b="0" i="0">
                          <a:solidFill>
                            <a:srgbClr val="202020"/>
                          </a:solidFill>
                          <a:latin typeface="Calibri"/>
                        </a:rPr>
                        <a:t>deletion_sweep_skipped alert; '… of the inventory would be deleted, above the DELETION_SYNC_MAX_PERCENT guard'.</a:t>
                      </a:r>
                    </a:p>
                  </a:txBody>
                  <a:tcPr marT="12700" marB="12700">
                    <a:solidFill>
                      <a:srgbClr val="F7F9FC"/>
                    </a:solidFill>
                  </a:tcPr>
                </a:tc>
                <a:tc>
                  <a:txBody>
                    <a:bodyPr wrap="square"/>
                    <a:lstStyle/>
                    <a:p>
                      <a:r>
                        <a:rPr sz="950" b="0" i="0">
                          <a:solidFill>
                            <a:srgbClr val="202020"/>
                          </a:solidFill>
                          <a:latin typeface="Calibri"/>
                        </a:rPr>
                        <a:t>A large fraction of an object looked deleted — real cleanup, or a Salesforce outage / partial fetch.</a:t>
                      </a:r>
                    </a:p>
                  </a:txBody>
                  <a:tcPr marT="12700" marB="12700">
                    <a:solidFill>
                      <a:srgbClr val="F7F9FC"/>
                    </a:solidFill>
                  </a:tcPr>
                </a:tc>
                <a:tc>
                  <a:txBody>
                    <a:bodyPr wrap="square"/>
                    <a:lstStyle/>
                    <a:p>
                      <a:r>
                        <a:rPr sz="950" b="0" i="0">
                          <a:solidFill>
                            <a:srgbClr val="202020"/>
                          </a:solidFill>
                          <a:latin typeface="Calibri"/>
                        </a:rPr>
                        <a:t>Decide real vs false: reconcile --type &lt;object&gt; (no --fix) re-checks. False: do nothing (next crawl re-sweeps). Real: reconcile --type &lt;object&gt; --fix, or raise the threshold and re-run.</a:t>
                      </a:r>
                    </a:p>
                  </a:txBody>
                  <a:tcPr marT="12700" marB="12700">
                    <a:solidFill>
                      <a:srgbClr val="F7F9FC"/>
                    </a:solidFill>
                  </a:tcPr>
                </a:tc>
              </a:tr>
              <a:tr h="384048">
                <a:tc>
                  <a:txBody>
                    <a:bodyPr wrap="square"/>
                    <a:lstStyle/>
                    <a:p>
                      <a:r>
                        <a:rPr sz="950" b="0" i="0">
                          <a:solidFill>
                            <a:srgbClr val="202020"/>
                          </a:solidFill>
                          <a:latin typeface="Calibri"/>
                        </a:rPr>
                        <a:t>SqliteException naming *_identity.db / *_inventory.db, or 'checkpoint … corrupt', or 'Dead-letter file … corrupt entry at line N'.</a:t>
                      </a:r>
                    </a:p>
                  </a:txBody>
                  <a:tcPr marT="12700" marB="12700">
                    <a:solidFill>
                      <a:srgbClr val="FFFFFF"/>
                    </a:solidFill>
                  </a:tcPr>
                </a:tc>
                <a:tc>
                  <a:txBody>
                    <a:bodyPr wrap="square"/>
                    <a:lstStyle/>
                    <a:p>
                      <a:r>
                        <a:rPr sz="950" b="0" i="0">
                          <a:solidFill>
                            <a:srgbClr val="202020"/>
                          </a:solidFill>
                          <a:latin typeface="Calibri"/>
                        </a:rPr>
                        <a:t>Local state file damaged (often two non-HA processes sharing one state dir).</a:t>
                      </a:r>
                    </a:p>
                  </a:txBody>
                  <a:tcPr marT="12700" marB="12700">
                    <a:solidFill>
                      <a:srgbClr val="FFFFFF"/>
                    </a:solidFill>
                  </a:tcPr>
                </a:tc>
                <a:tc>
                  <a:txBody>
                    <a:bodyPr wrap="square"/>
                    <a:lstStyle/>
                    <a:p>
                      <a:r>
                        <a:rPr sz="950" b="0" i="0">
                          <a:solidFill>
                            <a:srgbClr val="202020"/>
                          </a:solidFill>
                          <a:latin typeface="Calibri"/>
                        </a:rPr>
                        <a:t>State loss = re-crawl cost, not data loss. Corrupt checkpoint: delete it (next crawl restarts that object). Corrupt identity/inventory DB: restore from backup or delete and run a full crawl. Ensure only one process per state dir unless USE_SQL_SERVER + HA_MODE.</a:t>
                      </a:r>
                    </a:p>
                  </a:txBody>
                  <a:tcPr marT="12700" marB="12700">
                    <a:solidFill>
                      <a:srgbClr val="FFFFFF"/>
                    </a:solidFill>
                  </a:tcPr>
                </a:tc>
              </a:tr>
              <a:tr h="384048">
                <a:tc>
                  <a:txBody>
                    <a:bodyPr wrap="square"/>
                    <a:lstStyle/>
                    <a:p>
                      <a:r>
                        <a:rPr sz="950" b="0" i="0">
                          <a:solidFill>
                            <a:srgbClr val="202020"/>
                          </a:solidFill>
                          <a:latin typeface="Calibri"/>
                        </a:rPr>
                        <a:t>HA: a node stopped heartbeating.</a:t>
                      </a:r>
                    </a:p>
                  </a:txBody>
                  <a:tcPr marT="12700" marB="12700">
                    <a:solidFill>
                      <a:srgbClr val="F7F9FC"/>
                    </a:solidFill>
                  </a:tcPr>
                </a:tc>
                <a:tc>
                  <a:txBody>
                    <a:bodyPr wrap="square"/>
                    <a:lstStyle/>
                    <a:p>
                      <a:r>
                        <a:rPr sz="950" b="0" i="0">
                          <a:solidFill>
                            <a:srgbClr val="202020"/>
                          </a:solidFill>
                          <a:latin typeface="Calibri"/>
                        </a:rPr>
                        <a:t>Host down / network partition.</a:t>
                      </a:r>
                    </a:p>
                  </a:txBody>
                  <a:tcPr marT="12700" marB="12700">
                    <a:solidFill>
                      <a:srgbClr val="F7F9FC"/>
                    </a:solidFill>
                  </a:tcPr>
                </a:tc>
                <a:tc>
                  <a:txBody>
                    <a:bodyPr wrap="square"/>
                    <a:lstStyle/>
                    <a:p>
                      <a:r>
                        <a:rPr sz="950" b="0" i="0">
                          <a:solidFill>
                            <a:srgbClr val="202020"/>
                          </a:solidFill>
                          <a:latin typeface="Calibri"/>
                        </a:rPr>
                        <a:t>Designed path — a survivor reclaims the expired claim and resumes from the checkpoint; exactly one node closes the crawl. Restart the dead node when convenient. Verify crawls_completed_total advanced.</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278</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Salesforce Connector</a:t>
            </a:r>
          </a:p>
          <a:p>
            <a:r>
              <a:rPr sz="3000" b="1" i="0">
                <a:solidFill>
                  <a:srgbClr val="1F3864"/>
                </a:solidFill>
                <a:latin typeface="Calibri"/>
              </a:rPr>
              <a:t>12. Configuration reference</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279</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 Configuration reference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Every environment variable the connector reads, grouped by purpose. Booleans are true for true / 1 / yes. "REQUIRED" values must be set or startup fails naming the missing one. The authoritative source is </a:t>
            </a:r>
            <a:r>
              <a:rPr sz="1200" b="0" i="0">
                <a:solidFill>
                  <a:srgbClr val="202020"/>
                </a:solidFill>
                <a:latin typeface="Consolas"/>
              </a:rPr>
              <a:t>env/.env.local.example</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280</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12.1 Core, Salesforce &amp; Graph auth</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c>
                  <a:txBody>
                    <a:bodyPr wrap="square"/>
                    <a:lstStyle/>
                    <a:p>
                      <a:r>
                        <a:rPr sz="1050" b="1" i="0">
                          <a:solidFill>
                            <a:srgbClr val="FFFFFF"/>
                          </a:solidFill>
                          <a:latin typeface="Calibri"/>
                        </a:rPr>
                        <a:t>Example / default</a:t>
                      </a:r>
                    </a:p>
                  </a:txBody>
                  <a:tcPr marT="25400" marB="25400">
                    <a:solidFill>
                      <a:srgbClr val="2E5496"/>
                    </a:solidFill>
                  </a:tcPr>
                </a:tc>
              </a:tr>
              <a:tr h="384048">
                <a:tc>
                  <a:txBody>
                    <a:bodyPr wrap="square"/>
                    <a:lstStyle/>
                    <a:p>
                      <a:r>
                        <a:rPr sz="950" b="0" i="0">
                          <a:solidFill>
                            <a:srgbClr val="202020"/>
                          </a:solidFill>
                          <a:latin typeface="Calibri"/>
                        </a:rPr>
                        <a:t>CONNECTOR_ID (req.)</a:t>
                      </a:r>
                    </a:p>
                  </a:txBody>
                  <a:tcPr marT="12700" marB="12700">
                    <a:solidFill>
                      <a:srgbClr val="FFFFFF"/>
                    </a:solidFill>
                  </a:tcPr>
                </a:tc>
                <a:tc>
                  <a:txBody>
                    <a:bodyPr wrap="square"/>
                    <a:lstStyle/>
                    <a:p>
                      <a:r>
                        <a:rPr sz="950" b="0" i="0">
                          <a:solidFill>
                            <a:srgbClr val="202020"/>
                          </a:solidFill>
                          <a:latin typeface="Calibri"/>
                        </a:rPr>
                        <a:t>Unique id for the external connection; the on-disk state key. 3-32 alnum, no reserved prefix.</a:t>
                      </a:r>
                    </a:p>
                  </a:txBody>
                  <a:tcPr marT="12700" marB="12700">
                    <a:solidFill>
                      <a:srgbClr val="FFFFFF"/>
                    </a:solidFill>
                  </a:tcPr>
                </a:tc>
                <a:tc>
                  <a:txBody>
                    <a:bodyPr wrap="square"/>
                    <a:lstStyle/>
                    <a:p>
                      <a:r>
                        <a:rPr sz="950" b="0" i="0">
                          <a:solidFill>
                            <a:srgbClr val="202020"/>
                          </a:solidFill>
                          <a:latin typeface="Calibri"/>
                        </a:rPr>
                        <a:t>SalesforceCRM</a:t>
                      </a:r>
                    </a:p>
                  </a:txBody>
                  <a:tcPr marT="12700" marB="12700">
                    <a:solidFill>
                      <a:srgbClr val="FFFFFF"/>
                    </a:solidFill>
                  </a:tcPr>
                </a:tc>
              </a:tr>
              <a:tr h="384048">
                <a:tc>
                  <a:txBody>
                    <a:bodyPr wrap="square"/>
                    <a:lstStyle/>
                    <a:p>
                      <a:r>
                        <a:rPr sz="950" b="0" i="0">
                          <a:solidFill>
                            <a:srgbClr val="202020"/>
                          </a:solidFill>
                          <a:latin typeface="Calibri"/>
                        </a:rPr>
                        <a:t>CONNECTOR_NAME / CONNECTOR_DESCRIPTION (req.)</a:t>
                      </a:r>
                    </a:p>
                  </a:txBody>
                  <a:tcPr marT="12700" marB="12700">
                    <a:solidFill>
                      <a:srgbClr val="F7F9FC"/>
                    </a:solidFill>
                  </a:tcPr>
                </a:tc>
                <a:tc>
                  <a:txBody>
                    <a:bodyPr wrap="square"/>
                    <a:lstStyle/>
                    <a:p>
                      <a:r>
                        <a:rPr sz="950" b="0" i="0">
                          <a:solidFill>
                            <a:srgbClr val="202020"/>
                          </a:solidFill>
                          <a:latin typeface="Calibri"/>
                        </a:rPr>
                        <a:t>Display name / description shown in the Microsoft admin UI and Search.</a:t>
                      </a:r>
                    </a:p>
                  </a:txBody>
                  <a:tcPr marT="12700" marB="12700">
                    <a:solidFill>
                      <a:srgbClr val="F7F9FC"/>
                    </a:solidFill>
                  </a:tcPr>
                </a:tc>
                <a:tc>
                  <a:txBody>
                    <a:bodyPr wrap="square"/>
                    <a:lstStyle/>
                    <a:p>
                      <a:r>
                        <a:rPr sz="950" b="0" i="0">
                          <a:solidFill>
                            <a:srgbClr val="202020"/>
                          </a:solidFill>
                          <a:latin typeface="Calibri"/>
                        </a:rPr>
                        <a:t>Salesforce CRM</a:t>
                      </a:r>
                    </a:p>
                  </a:txBody>
                  <a:tcPr marT="12700" marB="12700">
                    <a:solidFill>
                      <a:srgbClr val="F7F9FC"/>
                    </a:solidFill>
                  </a:tcPr>
                </a:tc>
              </a:tr>
              <a:tr h="384048">
                <a:tc>
                  <a:txBody>
                    <a:bodyPr wrap="square"/>
                    <a:lstStyle/>
                    <a:p>
                      <a:r>
                        <a:rPr sz="950" b="0" i="0">
                          <a:solidFill>
                            <a:srgbClr val="202020"/>
                          </a:solidFill>
                          <a:latin typeface="Calibri"/>
                        </a:rPr>
                        <a:t>SALESFORCE_INSTANCE_URL (req.)</a:t>
                      </a:r>
                    </a:p>
                  </a:txBody>
                  <a:tcPr marT="12700" marB="12700">
                    <a:solidFill>
                      <a:srgbClr val="FFFFFF"/>
                    </a:solidFill>
                  </a:tcPr>
                </a:tc>
                <a:tc>
                  <a:txBody>
                    <a:bodyPr wrap="square"/>
                    <a:lstStyle/>
                    <a:p>
                      <a:r>
                        <a:rPr sz="950" b="0" i="0">
                          <a:solidFill>
                            <a:srgbClr val="202020"/>
                          </a:solidFill>
                          <a:latin typeface="Calibri"/>
                        </a:rPr>
                        <a:t>Org base URL (My Domain).</a:t>
                      </a:r>
                    </a:p>
                  </a:txBody>
                  <a:tcPr marT="12700" marB="12700">
                    <a:solidFill>
                      <a:srgbClr val="FFFFFF"/>
                    </a:solidFill>
                  </a:tcPr>
                </a:tc>
                <a:tc>
                  <a:txBody>
                    <a:bodyPr wrap="square"/>
                    <a:lstStyle/>
                    <a:p>
                      <a:r>
                        <a:rPr sz="950" b="0" i="0">
                          <a:solidFill>
                            <a:srgbClr val="202020"/>
                          </a:solidFill>
                          <a:latin typeface="Calibri"/>
                        </a:rPr>
                        <a:t>https://your-org.my.salesforce.com/</a:t>
                      </a:r>
                    </a:p>
                  </a:txBody>
                  <a:tcPr marT="12700" marB="12700">
                    <a:solidFill>
                      <a:srgbClr val="FFFFFF"/>
                    </a:solidFill>
                  </a:tcPr>
                </a:tc>
              </a:tr>
              <a:tr h="384048">
                <a:tc>
                  <a:txBody>
                    <a:bodyPr wrap="square"/>
                    <a:lstStyle/>
                    <a:p>
                      <a:r>
                        <a:rPr sz="950" b="0" i="0">
                          <a:solidFill>
                            <a:srgbClr val="202020"/>
                          </a:solidFill>
                          <a:latin typeface="Calibri"/>
                        </a:rPr>
                        <a:t>SALESFORCE_API_VERSION (req.)</a:t>
                      </a:r>
                    </a:p>
                  </a:txBody>
                  <a:tcPr marT="12700" marB="12700">
                    <a:solidFill>
                      <a:srgbClr val="F7F9FC"/>
                    </a:solidFill>
                  </a:tcPr>
                </a:tc>
                <a:tc>
                  <a:txBody>
                    <a:bodyPr wrap="square"/>
                    <a:lstStyle/>
                    <a:p>
                      <a:r>
                        <a:rPr sz="950" b="0" i="0">
                          <a:solidFill>
                            <a:srgbClr val="202020"/>
                          </a:solidFill>
                          <a:latin typeface="Calibri"/>
                        </a:rPr>
                        <a:t>Salesforce REST API version.</a:t>
                      </a:r>
                    </a:p>
                  </a:txBody>
                  <a:tcPr marT="12700" marB="12700">
                    <a:solidFill>
                      <a:srgbClr val="F7F9FC"/>
                    </a:solidFill>
                  </a:tcPr>
                </a:tc>
                <a:tc>
                  <a:txBody>
                    <a:bodyPr wrap="square"/>
                    <a:lstStyle/>
                    <a:p>
                      <a:r>
                        <a:rPr sz="950" b="0" i="0">
                          <a:solidFill>
                            <a:srgbClr val="202020"/>
                          </a:solidFill>
                          <a:latin typeface="Calibri"/>
                        </a:rPr>
                        <a:t>v60.0</a:t>
                      </a:r>
                    </a:p>
                  </a:txBody>
                  <a:tcPr marT="12700" marB="12700">
                    <a:solidFill>
                      <a:srgbClr val="F7F9FC"/>
                    </a:solidFill>
                  </a:tcPr>
                </a:tc>
              </a:tr>
              <a:tr h="384048">
                <a:tc>
                  <a:txBody>
                    <a:bodyPr wrap="square"/>
                    <a:lstStyle/>
                    <a:p>
                      <a:r>
                        <a:rPr sz="950" b="0" i="0">
                          <a:solidFill>
                            <a:srgbClr val="202020"/>
                          </a:solidFill>
                          <a:latin typeface="Calibri"/>
                        </a:rPr>
                        <a:t>SALESFORCE_CLIENT_ID (req.)</a:t>
                      </a:r>
                    </a:p>
                  </a:txBody>
                  <a:tcPr marT="12700" marB="12700">
                    <a:solidFill>
                      <a:srgbClr val="FFFFFF"/>
                    </a:solidFill>
                  </a:tcPr>
                </a:tc>
                <a:tc>
                  <a:txBody>
                    <a:bodyPr wrap="square"/>
                    <a:lstStyle/>
                    <a:p>
                      <a:r>
                        <a:rPr sz="950" b="0" i="0">
                          <a:solidFill>
                            <a:srgbClr val="202020"/>
                          </a:solidFill>
                          <a:latin typeface="Calibri"/>
                        </a:rPr>
                        <a:t>Connected App consumer key.</a:t>
                      </a:r>
                    </a:p>
                  </a:txBody>
                  <a:tcPr marT="12700" marB="12700">
                    <a:solidFill>
                      <a:srgbClr val="FFFFFF"/>
                    </a:solidFill>
                  </a:tcPr>
                </a:tc>
                <a:tc>
                  <a:txBody>
                    <a:bodyPr wrap="square"/>
                    <a:lstStyle/>
                    <a:p>
                      <a:r>
                        <a:rPr sz="950" b="0" i="0">
                          <a:solidFill>
                            <a:srgbClr val="202020"/>
                          </a:solidFill>
                          <a:latin typeface="Calibri"/>
                        </a:rPr>
                        <a:t>(from SF admin)</a:t>
                      </a:r>
                    </a:p>
                  </a:txBody>
                  <a:tcPr marT="12700" marB="12700">
                    <a:solidFill>
                      <a:srgbClr val="FFFFFF"/>
                    </a:solidFill>
                  </a:tcPr>
                </a:tc>
              </a:tr>
              <a:tr h="384048">
                <a:tc>
                  <a:txBody>
                    <a:bodyPr wrap="square"/>
                    <a:lstStyle/>
                    <a:p>
                      <a:r>
                        <a:rPr sz="950" b="0" i="0">
                          <a:solidFill>
                            <a:srgbClr val="202020"/>
                          </a:solidFill>
                          <a:latin typeface="Calibri"/>
                        </a:rPr>
                        <a:t>SECRET_SALESFORCE_CLIENT_SECRET (req.)</a:t>
                      </a:r>
                    </a:p>
                  </a:txBody>
                  <a:tcPr marT="12700" marB="12700">
                    <a:solidFill>
                      <a:srgbClr val="F7F9FC"/>
                    </a:solidFill>
                  </a:tcPr>
                </a:tc>
                <a:tc>
                  <a:txBody>
                    <a:bodyPr wrap="square"/>
                    <a:lstStyle/>
                    <a:p>
                      <a:r>
                        <a:rPr sz="950" b="0" i="0">
                          <a:solidFill>
                            <a:srgbClr val="202020"/>
                          </a:solidFill>
                          <a:latin typeface="Calibri"/>
                        </a:rPr>
                        <a:t>Connected App consumer secret — secret file / Key Vault only.</a:t>
                      </a:r>
                    </a:p>
                  </a:txBody>
                  <a:tcPr marT="12700" marB="12700">
                    <a:solidFill>
                      <a:srgbClr val="F7F9FC"/>
                    </a:solidFill>
                  </a:tcPr>
                </a:tc>
                <a:tc>
                  <a:txBody>
                    <a:bodyPr wrap="square"/>
                    <a:lstStyle/>
                    <a:p>
                      <a:r>
                        <a:rPr sz="950" b="0" i="0">
                          <a:solidFill>
                            <a:srgbClr val="202020"/>
                          </a:solidFill>
                          <a:latin typeface="Calibri"/>
                        </a:rPr>
                        <a:t>(secret)</a:t>
                      </a:r>
                    </a:p>
                  </a:txBody>
                  <a:tcPr marT="12700" marB="12700">
                    <a:solidFill>
                      <a:srgbClr val="F7F9FC"/>
                    </a:solidFill>
                  </a:tcPr>
                </a:tc>
              </a:tr>
              <a:tr h="384048">
                <a:tc>
                  <a:txBody>
                    <a:bodyPr wrap="square"/>
                    <a:lstStyle/>
                    <a:p>
                      <a:r>
                        <a:rPr sz="950" b="0" i="0">
                          <a:solidFill>
                            <a:srgbClr val="202020"/>
                          </a:solidFill>
                          <a:latin typeface="Consolas"/>
                        </a:rPr>
                        <a:t>SALESFORCE_QUERY_LIMIT / SALESFORCE_BATCH_SIZE</a:t>
                      </a:r>
                    </a:p>
                  </a:txBody>
                  <a:tcPr marT="12700" marB="12700">
                    <a:solidFill>
                      <a:srgbClr val="FFFFFF"/>
                    </a:solidFill>
                  </a:tcPr>
                </a:tc>
                <a:tc>
                  <a:txBody>
                    <a:bodyPr wrap="square"/>
                    <a:lstStyle/>
                    <a:p>
                      <a:r>
                        <a:rPr sz="950" b="0" i="0">
                          <a:solidFill>
                            <a:srgbClr val="202020"/>
                          </a:solidFill>
                          <a:latin typeface="Calibri"/>
                        </a:rPr>
                        <a:t>SOQL LIMIT (0 = full pagination) / max ids per SOQL IN.</a:t>
                      </a:r>
                    </a:p>
                  </a:txBody>
                  <a:tcPr marT="12700" marB="12700">
                    <a:solidFill>
                      <a:srgbClr val="FFFFFF"/>
                    </a:solidFill>
                  </a:tcPr>
                </a:tc>
                <a:tc>
                  <a:txBody>
                    <a:bodyPr wrap="square"/>
                    <a:lstStyle/>
                    <a:p>
                      <a:r>
                        <a:rPr sz="950" b="0" i="0">
                          <a:solidFill>
                            <a:srgbClr val="202020"/>
                          </a:solidFill>
                          <a:latin typeface="Calibri"/>
                        </a:rPr>
                        <a:t>0 / 100</a:t>
                      </a:r>
                    </a:p>
                  </a:txBody>
                  <a:tcPr marT="12700" marB="12700">
                    <a:solidFill>
                      <a:srgbClr val="FFFFFF"/>
                    </a:solidFill>
                  </a:tcPr>
                </a:tc>
              </a:tr>
              <a:tr h="384048">
                <a:tc>
                  <a:txBody>
                    <a:bodyPr wrap="square"/>
                    <a:lstStyle/>
                    <a:p>
                      <a:r>
                        <a:rPr sz="950" b="0" i="0">
                          <a:solidFill>
                            <a:srgbClr val="202020"/>
                          </a:solidFill>
                          <a:latin typeface="Calibri"/>
                        </a:rPr>
                        <a:t>AAD_APP_TENANT_ID / _CLIENT_ID / _OBJECT_ID (req.)</a:t>
                      </a:r>
                    </a:p>
                  </a:txBody>
                  <a:tcPr marT="12700" marB="12700">
                    <a:solidFill>
                      <a:srgbClr val="F7F9FC"/>
                    </a:solidFill>
                  </a:tcPr>
                </a:tc>
                <a:tc>
                  <a:txBody>
                    <a:bodyPr wrap="square"/>
                    <a:lstStyle/>
                    <a:p>
                      <a:r>
                        <a:rPr sz="950" b="0" i="0">
                          <a:solidFill>
                            <a:srgbClr val="202020"/>
                          </a:solidFill>
                          <a:latin typeface="Calibri"/>
                        </a:rPr>
                        <a:t>Entra tenant, application client and object ids.</a:t>
                      </a:r>
                    </a:p>
                  </a:txBody>
                  <a:tcPr marT="12700" marB="12700">
                    <a:solidFill>
                      <a:srgbClr val="F7F9FC"/>
                    </a:solidFill>
                  </a:tcPr>
                </a:tc>
                <a:tc>
                  <a:txBody>
                    <a:bodyPr wrap="square"/>
                    <a:lstStyle/>
                    <a:p>
                      <a:r>
                        <a:rPr sz="950" b="0" i="0">
                          <a:solidFill>
                            <a:srgbClr val="202020"/>
                          </a:solidFill>
                          <a:latin typeface="Calibri"/>
                        </a:rPr>
                        <a:t>(GUIDs)</a:t>
                      </a:r>
                    </a:p>
                  </a:txBody>
                  <a:tcPr marT="12700" marB="12700">
                    <a:solidFill>
                      <a:srgbClr val="F7F9FC"/>
                    </a:solidFill>
                  </a:tcPr>
                </a:tc>
              </a:tr>
              <a:tr h="384048">
                <a:tc>
                  <a:txBody>
                    <a:bodyPr wrap="square"/>
                    <a:lstStyle/>
                    <a:p>
                      <a:r>
                        <a:rPr sz="950" b="0" i="0">
                          <a:solidFill>
                            <a:srgbClr val="202020"/>
                          </a:solidFill>
                          <a:latin typeface="Calibri"/>
                        </a:rPr>
                        <a:t>AAD_APP_OAUTH_AUTHORITY / _HOST (req.)</a:t>
                      </a:r>
                    </a:p>
                  </a:txBody>
                  <a:tcPr marT="12700" marB="12700">
                    <a:solidFill>
                      <a:srgbClr val="FFFFFF"/>
                    </a:solidFill>
                  </a:tcPr>
                </a:tc>
                <a:tc>
                  <a:txBody>
                    <a:bodyPr wrap="square"/>
                    <a:lstStyle/>
                    <a:p>
                      <a:r>
                        <a:rPr sz="950" b="0" i="0">
                          <a:solidFill>
                            <a:srgbClr val="202020"/>
                          </a:solidFill>
                          <a:latin typeface="Calibri"/>
                        </a:rPr>
                        <a:t>Entra OAuth authority URL / host.</a:t>
                      </a:r>
                    </a:p>
                  </a:txBody>
                  <a:tcPr marT="12700" marB="12700">
                    <a:solidFill>
                      <a:srgbClr val="FFFFFF"/>
                    </a:solidFill>
                  </a:tcPr>
                </a:tc>
                <a:tc>
                  <a:txBody>
                    <a:bodyPr wrap="square"/>
                    <a:lstStyle/>
                    <a:p>
                      <a:r>
                        <a:rPr sz="950" b="0" i="0">
                          <a:solidFill>
                            <a:srgbClr val="202020"/>
                          </a:solidFill>
                          <a:latin typeface="Calibri"/>
                        </a:rPr>
                        <a:t>https://login.microsoftonline.com/&lt;tenant&gt;</a:t>
                      </a:r>
                    </a:p>
                  </a:txBody>
                  <a:tcPr marT="12700" marB="12700">
                    <a:solidFill>
                      <a:srgbClr val="FFFFFF"/>
                    </a:solidFill>
                  </a:tcPr>
                </a:tc>
              </a:tr>
              <a:tr h="384048">
                <a:tc>
                  <a:txBody>
                    <a:bodyPr wrap="square"/>
                    <a:lstStyle/>
                    <a:p>
                      <a:r>
                        <a:rPr sz="950" b="0" i="0">
                          <a:solidFill>
                            <a:srgbClr val="202020"/>
                          </a:solidFill>
                          <a:latin typeface="Calibri"/>
                        </a:rPr>
                        <a:t>SECRET_AAD_APP_CLIENT_SECRET (req. unless cert)</a:t>
                      </a:r>
                    </a:p>
                  </a:txBody>
                  <a:tcPr marT="12700" marB="12700">
                    <a:solidFill>
                      <a:srgbClr val="F7F9FC"/>
                    </a:solidFill>
                  </a:tcPr>
                </a:tc>
                <a:tc>
                  <a:txBody>
                    <a:bodyPr wrap="square"/>
                    <a:lstStyle/>
                    <a:p>
                      <a:r>
                        <a:rPr sz="950" b="0" i="0">
                          <a:solidFill>
                            <a:srgbClr val="202020"/>
                          </a:solidFill>
                          <a:latin typeface="Calibri"/>
                        </a:rPr>
                        <a:t>Entra app client secret value.</a:t>
                      </a:r>
                    </a:p>
                  </a:txBody>
                  <a:tcPr marT="12700" marB="12700">
                    <a:solidFill>
                      <a:srgbClr val="F7F9FC"/>
                    </a:solidFill>
                  </a:tcPr>
                </a:tc>
                <a:tc>
                  <a:txBody>
                    <a:bodyPr wrap="square"/>
                    <a:lstStyle/>
                    <a:p>
                      <a:r>
                        <a:rPr sz="950" b="0" i="0">
                          <a:solidFill>
                            <a:srgbClr val="202020"/>
                          </a:solidFill>
                          <a:latin typeface="Calibri"/>
                        </a:rPr>
                        <a:t>(secret)</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281</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12.1 Core, Salesforce &amp; Graph auth (cont.)</a:t>
            </a:r>
          </a:p>
        </p:txBody>
      </p:sp>
      <p:graphicFrame>
        <p:nvGraphicFramePr>
          <p:cNvPr id="5" name="Table 4"/>
          <p:cNvGraphicFramePr>
            <a:graphicFrameLocks noGrp="1"/>
          </p:cNvGraphicFramePr>
          <p:nvPr/>
        </p:nvGraphicFramePr>
        <p:xfrm>
          <a:off x="502920" y="1188720"/>
          <a:ext cx="11185855" cy="768096"/>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c>
                  <a:txBody>
                    <a:bodyPr wrap="square"/>
                    <a:lstStyle/>
                    <a:p>
                      <a:r>
                        <a:rPr sz="1050" b="1" i="0">
                          <a:solidFill>
                            <a:srgbClr val="FFFFFF"/>
                          </a:solidFill>
                          <a:latin typeface="Calibri"/>
                        </a:rPr>
                        <a:t>Example / default</a:t>
                      </a:r>
                    </a:p>
                  </a:txBody>
                  <a:tcPr marT="25400" marB="25400">
                    <a:solidFill>
                      <a:srgbClr val="2E5496"/>
                    </a:solidFill>
                  </a:tcPr>
                </a:tc>
              </a:tr>
              <a:tr h="384048">
                <a:tc>
                  <a:txBody>
                    <a:bodyPr wrap="square"/>
                    <a:lstStyle/>
                    <a:p>
                      <a:r>
                        <a:rPr sz="950" b="0" i="0">
                          <a:solidFill>
                            <a:srgbClr val="202020"/>
                          </a:solidFill>
                          <a:latin typeface="Consolas"/>
                        </a:rPr>
                        <a:t>GRAPH_API_VERSION</a:t>
                      </a:r>
                    </a:p>
                  </a:txBody>
                  <a:tcPr marT="12700" marB="12700">
                    <a:solidFill>
                      <a:srgbClr val="FFFFFF"/>
                    </a:solidFill>
                  </a:tcPr>
                </a:tc>
                <a:tc>
                  <a:txBody>
                    <a:bodyPr wrap="square"/>
                    <a:lstStyle/>
                    <a:p>
                      <a:r>
                        <a:rPr sz="950" b="0" i="0">
                          <a:solidFill>
                            <a:srgbClr val="202020"/>
                          </a:solidFill>
                          <a:latin typeface="Calibri"/>
                        </a:rPr>
                        <a:t>Graph API version. env docs say beta; the code falls back to v1.0 — set it explicitly.</a:t>
                      </a:r>
                    </a:p>
                  </a:txBody>
                  <a:tcPr marT="12700" marB="12700">
                    <a:solidFill>
                      <a:srgbClr val="FFFFFF"/>
                    </a:solidFill>
                  </a:tcPr>
                </a:tc>
                <a:tc>
                  <a:txBody>
                    <a:bodyPr wrap="square"/>
                    <a:lstStyle/>
                    <a:p>
                      <a:r>
                        <a:rPr sz="950" b="0" i="0">
                          <a:solidFill>
                            <a:srgbClr val="202020"/>
                          </a:solidFill>
                          <a:latin typeface="Calibri"/>
                        </a:rPr>
                        <a:t>v1.0</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282</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12.2 ACL engine, batching &amp; throttling</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c>
                  <a:txBody>
                    <a:bodyPr wrap="square"/>
                    <a:lstStyle/>
                    <a:p>
                      <a:r>
                        <a:rPr sz="1050" b="1" i="0">
                          <a:solidFill>
                            <a:srgbClr val="FFFFFF"/>
                          </a:solidFill>
                          <a:latin typeface="Calibri"/>
                        </a:rPr>
                        <a:t>Example / default</a:t>
                      </a:r>
                    </a:p>
                  </a:txBody>
                  <a:tcPr marT="25400" marB="25400">
                    <a:solidFill>
                      <a:srgbClr val="2E5496"/>
                    </a:solidFill>
                  </a:tcPr>
                </a:tc>
              </a:tr>
              <a:tr h="384048">
                <a:tc>
                  <a:txBody>
                    <a:bodyPr wrap="square"/>
                    <a:lstStyle/>
                    <a:p>
                      <a:r>
                        <a:rPr sz="950" b="0" i="0">
                          <a:solidFill>
                            <a:srgbClr val="202020"/>
                          </a:solidFill>
                          <a:latin typeface="Consolas"/>
                        </a:rPr>
                        <a:t>USE_NEW_ACL_ENGINE</a:t>
                      </a:r>
                    </a:p>
                  </a:txBody>
                  <a:tcPr marT="12700" marB="12700">
                    <a:solidFill>
                      <a:srgbClr val="FFFFFF"/>
                    </a:solidFill>
                  </a:tcPr>
                </a:tc>
                <a:tc>
                  <a:txBody>
                    <a:bodyPr wrap="square"/>
                    <a:lstStyle/>
                    <a:p>
                      <a:r>
                        <a:rPr sz="950" b="0" i="0">
                          <a:solidFill>
                            <a:srgbClr val="202020"/>
                          </a:solidFill>
                          <a:latin typeface="Calibri"/>
                        </a:rPr>
                        <a:t>Use the modular ACL engine (vs the legacy resolver).</a:t>
                      </a:r>
                    </a:p>
                  </a:txBody>
                  <a:tcPr marT="12700" marB="12700">
                    <a:solidFill>
                      <a:srgbClr val="FFFFFF"/>
                    </a:solidFill>
                  </a:tcPr>
                </a:tc>
                <a:tc>
                  <a:txBody>
                    <a:bodyPr wrap="square"/>
                    <a:lstStyle/>
                    <a:p>
                      <a:r>
                        <a:rPr sz="950" b="0" i="0">
                          <a:solidFill>
                            <a:srgbClr val="202020"/>
                          </a:solidFill>
                          <a:latin typeface="Calibri"/>
                        </a:rPr>
                        <a:t>true</a:t>
                      </a:r>
                    </a:p>
                  </a:txBody>
                  <a:tcPr marT="12700" marB="12700">
                    <a:solidFill>
                      <a:srgbClr val="FFFFFF"/>
                    </a:solidFill>
                  </a:tcPr>
                </a:tc>
              </a:tr>
              <a:tr h="384048">
                <a:tc>
                  <a:txBody>
                    <a:bodyPr wrap="square"/>
                    <a:lstStyle/>
                    <a:p>
                      <a:r>
                        <a:rPr sz="950" b="0" i="0">
                          <a:solidFill>
                            <a:srgbClr val="202020"/>
                          </a:solidFill>
                          <a:latin typeface="Consolas"/>
                        </a:rPr>
                        <a:t>USE_GROUP_ACL</a:t>
                      </a:r>
                    </a:p>
                  </a:txBody>
                  <a:tcPr marT="12700" marB="12700">
                    <a:solidFill>
                      <a:srgbClr val="F7F9FC"/>
                    </a:solidFill>
                  </a:tcPr>
                </a:tc>
                <a:tc>
                  <a:txBody>
                    <a:bodyPr wrap="square"/>
                    <a:lstStyle/>
                    <a:p>
                      <a:r>
                        <a:rPr sz="950" b="0" i="0">
                          <a:solidFill>
                            <a:srgbClr val="202020"/>
                          </a:solidFill>
                          <a:latin typeface="Calibri"/>
                        </a:rPr>
                        <a:t>Enable group/queue/role/territory ACLs (needs an identity crawl; full-deployment runs it).</a:t>
                      </a:r>
                    </a:p>
                  </a:txBody>
                  <a:tcPr marT="12700" marB="12700">
                    <a:solidFill>
                      <a:srgbClr val="F7F9FC"/>
                    </a:solidFill>
                  </a:tcPr>
                </a:tc>
                <a:tc>
                  <a:txBody>
                    <a:bodyPr wrap="square"/>
                    <a:lstStyle/>
                    <a:p>
                      <a:r>
                        <a:rPr sz="950" b="0" i="0">
                          <a:solidFill>
                            <a:srgbClr val="202020"/>
                          </a:solidFill>
                          <a:latin typeface="Calibri"/>
                        </a:rPr>
                        <a:t>true</a:t>
                      </a:r>
                    </a:p>
                  </a:txBody>
                  <a:tcPr marT="12700" marB="12700">
                    <a:solidFill>
                      <a:srgbClr val="F7F9FC"/>
                    </a:solidFill>
                  </a:tcPr>
                </a:tc>
              </a:tr>
              <a:tr h="384048">
                <a:tc>
                  <a:txBody>
                    <a:bodyPr wrap="square"/>
                    <a:lstStyle/>
                    <a:p>
                      <a:r>
                        <a:rPr sz="950" b="0" i="0">
                          <a:solidFill>
                            <a:srgbClr val="202020"/>
                          </a:solidFill>
                          <a:latin typeface="Consolas"/>
                        </a:rPr>
                        <a:t>ACL_MAX_PARENT_DEPTH</a:t>
                      </a:r>
                    </a:p>
                  </a:txBody>
                  <a:tcPr marT="12700" marB="12700">
                    <a:solidFill>
                      <a:srgbClr val="FFFFFF"/>
                    </a:solidFill>
                  </a:tcPr>
                </a:tc>
                <a:tc>
                  <a:txBody>
                    <a:bodyPr wrap="square"/>
                    <a:lstStyle/>
                    <a:p>
                      <a:r>
                        <a:rPr sz="950" b="0" i="0">
                          <a:solidFill>
                            <a:srgbClr val="202020"/>
                          </a:solidFill>
                          <a:latin typeface="Calibri"/>
                        </a:rPr>
                        <a:t>Max ControlledByParent chain depth before falling back to private ACL.</a:t>
                      </a:r>
                    </a:p>
                  </a:txBody>
                  <a:tcPr marT="12700" marB="12700">
                    <a:solidFill>
                      <a:srgbClr val="FFFFFF"/>
                    </a:solidFill>
                  </a:tcPr>
                </a:tc>
                <a:tc>
                  <a:txBody>
                    <a:bodyPr wrap="square"/>
                    <a:lstStyle/>
                    <a:p>
                      <a:r>
                        <a:rPr sz="950" b="0" i="0">
                          <a:solidFill>
                            <a:srgbClr val="202020"/>
                          </a:solidFill>
                          <a:latin typeface="Calibri"/>
                        </a:rPr>
                        <a:t>5</a:t>
                      </a:r>
                    </a:p>
                  </a:txBody>
                  <a:tcPr marT="12700" marB="12700">
                    <a:solidFill>
                      <a:srgbClr val="FFFFFF"/>
                    </a:solidFill>
                  </a:tcPr>
                </a:tc>
              </a:tr>
              <a:tr h="384048">
                <a:tc>
                  <a:txBody>
                    <a:bodyPr wrap="square"/>
                    <a:lstStyle/>
                    <a:p>
                      <a:r>
                        <a:rPr sz="950" b="0" i="0">
                          <a:solidFill>
                            <a:srgbClr val="202020"/>
                          </a:solidFill>
                          <a:latin typeface="Consolas"/>
                        </a:rPr>
                        <a:t>OWD_OVERRIDES</a:t>
                      </a:r>
                    </a:p>
                  </a:txBody>
                  <a:tcPr marT="12700" marB="12700">
                    <a:solidFill>
                      <a:srgbClr val="F7F9FC"/>
                    </a:solidFill>
                  </a:tcPr>
                </a:tc>
                <a:tc>
                  <a:txBody>
                    <a:bodyPr wrap="square"/>
                    <a:lstStyle/>
                    <a:p>
                      <a:r>
                        <a:rPr sz="950" b="0" i="0">
                          <a:solidFill>
                            <a:srgbClr val="202020"/>
                          </a:solidFill>
                          <a:latin typeface="Calibri"/>
                        </a:rPr>
                        <a:t>Force OWD values for testing, JSON e.g. {"Account":"Private"}. Invalid JSON ignored.</a:t>
                      </a:r>
                    </a:p>
                  </a:txBody>
                  <a:tcPr marT="12700" marB="12700">
                    <a:solidFill>
                      <a:srgbClr val="F7F9FC"/>
                    </a:solidFill>
                  </a:tcPr>
                </a:tc>
                <a:tc>
                  <a:txBody>
                    <a:bodyPr wrap="square"/>
                    <a:lstStyle/>
                    <a:p>
                      <a:r>
                        <a:rPr sz="950" b="0" i="0">
                          <a:solidFill>
                            <a:srgbClr val="202020"/>
                          </a:solidFill>
                          <a:latin typeface="Calibri"/>
                        </a:rPr>
                        <a:t>(empty)</a:t>
                      </a:r>
                    </a:p>
                  </a:txBody>
                  <a:tcPr marT="12700" marB="12700">
                    <a:solidFill>
                      <a:srgbClr val="F7F9FC"/>
                    </a:solidFill>
                  </a:tcPr>
                </a:tc>
              </a:tr>
              <a:tr h="384048">
                <a:tc>
                  <a:txBody>
                    <a:bodyPr wrap="square"/>
                    <a:lstStyle/>
                    <a:p>
                      <a:r>
                        <a:rPr sz="950" b="0" i="0">
                          <a:solidFill>
                            <a:srgbClr val="202020"/>
                          </a:solidFill>
                          <a:latin typeface="Consolas"/>
                        </a:rPr>
                        <a:t>USE_ENTITY_DEFINITION_OWD</a:t>
                      </a:r>
                    </a:p>
                  </a:txBody>
                  <a:tcPr marT="12700" marB="12700">
                    <a:solidFill>
                      <a:srgbClr val="FFFFFF"/>
                    </a:solidFill>
                  </a:tcPr>
                </a:tc>
                <a:tc>
                  <a:txBody>
                    <a:bodyPr wrap="square"/>
                    <a:lstStyle/>
                    <a:p>
                      <a:r>
                        <a:rPr sz="950" b="0" i="0">
                          <a:solidFill>
                            <a:srgbClr val="202020"/>
                          </a:solidFill>
                          <a:latin typeface="Calibri"/>
                        </a:rPr>
                        <a:t>Read OWD from EntityDefinition metadata instead of schema.json mapping.</a:t>
                      </a:r>
                    </a:p>
                  </a:txBody>
                  <a:tcPr marT="12700" marB="12700">
                    <a:solidFill>
                      <a:srgbClr val="FFFFFF"/>
                    </a:solidFill>
                  </a:tcPr>
                </a:tc>
                <a:tc>
                  <a:txBody>
                    <a:bodyPr wrap="square"/>
                    <a:lstStyle/>
                    <a:p>
                      <a:r>
                        <a:rPr sz="950" b="0" i="0">
                          <a:solidFill>
                            <a:srgbClr val="202020"/>
                          </a:solidFill>
                          <a:latin typeface="Calibri"/>
                        </a:rPr>
                        <a:t>false</a:t>
                      </a:r>
                    </a:p>
                  </a:txBody>
                  <a:tcPr marT="12700" marB="12700">
                    <a:solidFill>
                      <a:srgbClr val="FFFFFF"/>
                    </a:solidFill>
                  </a:tcPr>
                </a:tc>
              </a:tr>
              <a:tr h="384048">
                <a:tc>
                  <a:txBody>
                    <a:bodyPr wrap="square"/>
                    <a:lstStyle/>
                    <a:p>
                      <a:r>
                        <a:rPr sz="950" b="0" i="0">
                          <a:solidFill>
                            <a:srgbClr val="202020"/>
                          </a:solidFill>
                          <a:latin typeface="Consolas"/>
                        </a:rPr>
                        <a:t>INGEST_CHUNK_SIZE</a:t>
                      </a:r>
                    </a:p>
                  </a:txBody>
                  <a:tcPr marT="12700" marB="12700">
                    <a:solidFill>
                      <a:srgbClr val="F7F9FC"/>
                    </a:solidFill>
                  </a:tcPr>
                </a:tc>
                <a:tc>
                  <a:txBody>
                    <a:bodyPr wrap="square"/>
                    <a:lstStyle/>
                    <a:p>
                      <a:r>
                        <a:rPr sz="950" b="0" i="0">
                          <a:solidFill>
                            <a:srgbClr val="202020"/>
                          </a:solidFill>
                          <a:latin typeface="Calibri"/>
                        </a:rPr>
                        <a:t>Salesforce records per ACL + Graph batch cycle (align to the 2000 page).</a:t>
                      </a:r>
                    </a:p>
                  </a:txBody>
                  <a:tcPr marT="12700" marB="12700">
                    <a:solidFill>
                      <a:srgbClr val="F7F9FC"/>
                    </a:solidFill>
                  </a:tcPr>
                </a:tc>
                <a:tc>
                  <a:txBody>
                    <a:bodyPr wrap="square"/>
                    <a:lstStyle/>
                    <a:p>
                      <a:r>
                        <a:rPr sz="950" b="0" i="0">
                          <a:solidFill>
                            <a:srgbClr val="202020"/>
                          </a:solidFill>
                          <a:latin typeface="Calibri"/>
                        </a:rPr>
                        <a:t>2000</a:t>
                      </a:r>
                    </a:p>
                  </a:txBody>
                  <a:tcPr marT="12700" marB="12700">
                    <a:solidFill>
                      <a:srgbClr val="F7F9FC"/>
                    </a:solidFill>
                  </a:tcPr>
                </a:tc>
              </a:tr>
              <a:tr h="384048">
                <a:tc>
                  <a:txBody>
                    <a:bodyPr wrap="square"/>
                    <a:lstStyle/>
                    <a:p>
                      <a:r>
                        <a:rPr sz="950" b="0" i="0">
                          <a:solidFill>
                            <a:srgbClr val="202020"/>
                          </a:solidFill>
                          <a:latin typeface="Consolas"/>
                        </a:rPr>
                        <a:t>INGEST_GRAPH_BATCH_SIZE</a:t>
                      </a:r>
                    </a:p>
                  </a:txBody>
                  <a:tcPr marT="12700" marB="12700">
                    <a:solidFill>
                      <a:srgbClr val="FFFFFF"/>
                    </a:solidFill>
                  </a:tcPr>
                </a:tc>
                <a:tc>
                  <a:txBody>
                    <a:bodyPr wrap="square"/>
                    <a:lstStyle/>
                    <a:p>
                      <a:r>
                        <a:rPr sz="950" b="0" i="0">
                          <a:solidFill>
                            <a:srgbClr val="202020"/>
                          </a:solidFill>
                          <a:latin typeface="Calibri"/>
                        </a:rPr>
                        <a:t>Requests per Graph $batch POST (hard-capped at 20).</a:t>
                      </a:r>
                    </a:p>
                  </a:txBody>
                  <a:tcPr marT="12700" marB="12700">
                    <a:solidFill>
                      <a:srgbClr val="FFFFFF"/>
                    </a:solidFill>
                  </a:tcPr>
                </a:tc>
                <a:tc>
                  <a:txBody>
                    <a:bodyPr wrap="square"/>
                    <a:lstStyle/>
                    <a:p>
                      <a:r>
                        <a:rPr sz="950" b="0" i="0">
                          <a:solidFill>
                            <a:srgbClr val="202020"/>
                          </a:solidFill>
                          <a:latin typeface="Calibri"/>
                        </a:rPr>
                        <a:t>20</a:t>
                      </a:r>
                    </a:p>
                  </a:txBody>
                  <a:tcPr marT="12700" marB="12700">
                    <a:solidFill>
                      <a:srgbClr val="FFFFFF"/>
                    </a:solidFill>
                  </a:tcPr>
                </a:tc>
              </a:tr>
              <a:tr h="384048">
                <a:tc>
                  <a:txBody>
                    <a:bodyPr wrap="square"/>
                    <a:lstStyle/>
                    <a:p>
                      <a:r>
                        <a:rPr sz="950" b="0" i="0">
                          <a:solidFill>
                            <a:srgbClr val="202020"/>
                          </a:solidFill>
                          <a:latin typeface="Consolas"/>
                        </a:rPr>
                        <a:t>GRAPH_BATCH_WORKERS</a:t>
                      </a:r>
                    </a:p>
                  </a:txBody>
                  <a:tcPr marT="12700" marB="12700">
                    <a:solidFill>
                      <a:srgbClr val="F7F9FC"/>
                    </a:solidFill>
                  </a:tcPr>
                </a:tc>
                <a:tc>
                  <a:txBody>
                    <a:bodyPr wrap="square"/>
                    <a:lstStyle/>
                    <a:p>
                      <a:r>
                        <a:rPr sz="950" b="0" i="0">
                          <a:solidFill>
                            <a:srgbClr val="202020"/>
                          </a:solidFill>
                          <a:latin typeface="Calibri"/>
                        </a:rPr>
                        <a:t>Concurrent Graph $batch workers; adaptive concurrency dials 1..this on 429s. In HA divide by node count.</a:t>
                      </a:r>
                    </a:p>
                  </a:txBody>
                  <a:tcPr marT="12700" marB="12700">
                    <a:solidFill>
                      <a:srgbClr val="F7F9FC"/>
                    </a:solidFill>
                  </a:tcPr>
                </a:tc>
                <a:tc>
                  <a:txBody>
                    <a:bodyPr wrap="square"/>
                    <a:lstStyle/>
                    <a:p>
                      <a:r>
                        <a:rPr sz="950" b="0" i="0">
                          <a:solidFill>
                            <a:srgbClr val="202020"/>
                          </a:solidFill>
                          <a:latin typeface="Calibri"/>
                        </a:rPr>
                        <a:t>8</a:t>
                      </a:r>
                    </a:p>
                  </a:txBody>
                  <a:tcPr marT="12700" marB="12700">
                    <a:solidFill>
                      <a:srgbClr val="F7F9FC"/>
                    </a:solidFill>
                  </a:tcPr>
                </a:tc>
              </a:tr>
              <a:tr h="384048">
                <a:tc>
                  <a:txBody>
                    <a:bodyPr wrap="square"/>
                    <a:lstStyle/>
                    <a:p>
                      <a:r>
                        <a:rPr sz="950" b="0" i="0">
                          <a:solidFill>
                            <a:srgbClr val="202020"/>
                          </a:solidFill>
                          <a:latin typeface="Consolas"/>
                        </a:rPr>
                        <a:t>PARALLEL_OBJECT_WORKERS</a:t>
                      </a:r>
                    </a:p>
                  </a:txBody>
                  <a:tcPr marT="12700" marB="12700">
                    <a:solidFill>
                      <a:srgbClr val="FFFFFF"/>
                    </a:solidFill>
                  </a:tcPr>
                </a:tc>
                <a:tc>
                  <a:txBody>
                    <a:bodyPr wrap="square"/>
                    <a:lstStyle/>
                    <a:p>
                      <a:r>
                        <a:rPr sz="950" b="0" i="0">
                          <a:solidFill>
                            <a:srgbClr val="202020"/>
                          </a:solidFill>
                          <a:latin typeface="Calibri"/>
                        </a:rPr>
                        <a:t>Salesforce object types ingested in parallel (single-node).</a:t>
                      </a:r>
                    </a:p>
                  </a:txBody>
                  <a:tcPr marT="12700" marB="12700">
                    <a:solidFill>
                      <a:srgbClr val="FFFFFF"/>
                    </a:solidFill>
                  </a:tcPr>
                </a:tc>
                <a:tc>
                  <a:txBody>
                    <a:bodyPr wrap="square"/>
                    <a:lstStyle/>
                    <a:p>
                      <a:r>
                        <a:rPr sz="950" b="0" i="0">
                          <a:solidFill>
                            <a:srgbClr val="202020"/>
                          </a:solidFill>
                          <a:latin typeface="Calibri"/>
                        </a:rPr>
                        <a:t>3</a:t>
                      </a:r>
                    </a:p>
                  </a:txBody>
                  <a:tcPr marT="12700" marB="12700">
                    <a:solidFill>
                      <a:srgbClr val="FFFFFF"/>
                    </a:solidFill>
                  </a:tcPr>
                </a:tc>
              </a:tr>
              <a:tr h="384048">
                <a:tc>
                  <a:txBody>
                    <a:bodyPr wrap="square"/>
                    <a:lstStyle/>
                    <a:p>
                      <a:r>
                        <a:rPr sz="950" b="0" i="0">
                          <a:solidFill>
                            <a:srgbClr val="202020"/>
                          </a:solidFill>
                          <a:latin typeface="Consolas"/>
                        </a:rPr>
                        <a:t>GRAPH_MAX_RETRIES / GRAPH_RETRY_BACKOFF_BASE</a:t>
                      </a:r>
                    </a:p>
                  </a:txBody>
                  <a:tcPr marT="12700" marB="12700">
                    <a:solidFill>
                      <a:srgbClr val="F7F9FC"/>
                    </a:solidFill>
                  </a:tcPr>
                </a:tc>
                <a:tc>
                  <a:txBody>
                    <a:bodyPr wrap="square"/>
                    <a:lstStyle/>
                    <a:p>
                      <a:r>
                        <a:rPr sz="950" b="0" i="0">
                          <a:solidFill>
                            <a:srgbClr val="202020"/>
                          </a:solidFill>
                          <a:latin typeface="Calibri"/>
                        </a:rPr>
                        <a:t>Max Graph retries / exponential base seconds (capped 60s; Retry-After honoured exactly).</a:t>
                      </a:r>
                    </a:p>
                  </a:txBody>
                  <a:tcPr marT="12700" marB="12700">
                    <a:solidFill>
                      <a:srgbClr val="F7F9FC"/>
                    </a:solidFill>
                  </a:tcPr>
                </a:tc>
                <a:tc>
                  <a:txBody>
                    <a:bodyPr wrap="square"/>
                    <a:lstStyle/>
                    <a:p>
                      <a:r>
                        <a:rPr sz="950" b="0" i="0">
                          <a:solidFill>
                            <a:srgbClr val="202020"/>
                          </a:solidFill>
                          <a:latin typeface="Calibri"/>
                        </a:rPr>
                        <a:t>4 / 2</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283</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12.2 ACL engine, batching &amp; throttling (cont.)</a:t>
            </a:r>
          </a:p>
        </p:txBody>
      </p:sp>
      <p:graphicFrame>
        <p:nvGraphicFramePr>
          <p:cNvPr id="5" name="Table 4"/>
          <p:cNvGraphicFramePr>
            <a:graphicFrameLocks noGrp="1"/>
          </p:cNvGraphicFramePr>
          <p:nvPr/>
        </p:nvGraphicFramePr>
        <p:xfrm>
          <a:off x="502920" y="1188720"/>
          <a:ext cx="11185855" cy="768096"/>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c>
                  <a:txBody>
                    <a:bodyPr wrap="square"/>
                    <a:lstStyle/>
                    <a:p>
                      <a:r>
                        <a:rPr sz="1050" b="1" i="0">
                          <a:solidFill>
                            <a:srgbClr val="FFFFFF"/>
                          </a:solidFill>
                          <a:latin typeface="Calibri"/>
                        </a:rPr>
                        <a:t>Example / default</a:t>
                      </a:r>
                    </a:p>
                  </a:txBody>
                  <a:tcPr marT="25400" marB="25400">
                    <a:solidFill>
                      <a:srgbClr val="2E5496"/>
                    </a:solidFill>
                  </a:tcPr>
                </a:tc>
              </a:tr>
              <a:tr h="384048">
                <a:tc>
                  <a:txBody>
                    <a:bodyPr wrap="square"/>
                    <a:lstStyle/>
                    <a:p>
                      <a:r>
                        <a:rPr sz="950" b="0" i="0">
                          <a:solidFill>
                            <a:srgbClr val="202020"/>
                          </a:solidFill>
                          <a:latin typeface="Consolas"/>
                        </a:rPr>
                        <a:t>GRAPH_RETRY_JITTER</a:t>
                      </a:r>
                    </a:p>
                  </a:txBody>
                  <a:tcPr marT="12700" marB="12700">
                    <a:solidFill>
                      <a:srgbClr val="FFFFFF"/>
                    </a:solidFill>
                  </a:tcPr>
                </a:tc>
                <a:tc>
                  <a:txBody>
                    <a:bodyPr wrap="square"/>
                    <a:lstStyle/>
                    <a:p>
                      <a:r>
                        <a:rPr sz="950" b="0" i="0">
                          <a:solidFill>
                            <a:srgbClr val="202020"/>
                          </a:solidFill>
                          <a:latin typeface="Calibri"/>
                        </a:rPr>
                        <a:t>Apply +/-20% jitter to computed backoff (recommended in HA).</a:t>
                      </a:r>
                    </a:p>
                  </a:txBody>
                  <a:tcPr marT="12700" marB="12700">
                    <a:solidFill>
                      <a:srgbClr val="FFFFFF"/>
                    </a:solidFill>
                  </a:tcPr>
                </a:tc>
                <a:tc>
                  <a:txBody>
                    <a:bodyPr wrap="square"/>
                    <a:lstStyle/>
                    <a:p>
                      <a:r>
                        <a:rPr sz="950" b="0" i="0">
                          <a:solidFill>
                            <a:srgbClr val="202020"/>
                          </a:solidFill>
                          <a:latin typeface="Calibri"/>
                        </a:rPr>
                        <a:t>false</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284</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12.3 Deployment, state &amp; high availability</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c>
                  <a:txBody>
                    <a:bodyPr wrap="square"/>
                    <a:lstStyle/>
                    <a:p>
                      <a:r>
                        <a:rPr sz="1050" b="1" i="0">
                          <a:solidFill>
                            <a:srgbClr val="FFFFFF"/>
                          </a:solidFill>
                          <a:latin typeface="Calibri"/>
                        </a:rPr>
                        <a:t>Example / default</a:t>
                      </a:r>
                    </a:p>
                  </a:txBody>
                  <a:tcPr marT="25400" marB="25400">
                    <a:solidFill>
                      <a:srgbClr val="2E5496"/>
                    </a:solidFill>
                  </a:tcPr>
                </a:tc>
              </a:tr>
              <a:tr h="384048">
                <a:tc>
                  <a:txBody>
                    <a:bodyPr wrap="square"/>
                    <a:lstStyle/>
                    <a:p>
                      <a:r>
                        <a:rPr sz="950" b="0" i="0">
                          <a:solidFill>
                            <a:srgbClr val="202020"/>
                          </a:solidFill>
                          <a:latin typeface="Consolas"/>
                        </a:rPr>
                        <a:t>SFCONNECTOR_HOME</a:t>
                      </a:r>
                    </a:p>
                  </a:txBody>
                  <a:tcPr marT="12700" marB="12700">
                    <a:solidFill>
                      <a:srgbClr val="FFFFFF"/>
                    </a:solidFill>
                  </a:tcPr>
                </a:tc>
                <a:tc>
                  <a:txBody>
                    <a:bodyPr wrap="square"/>
                    <a:lstStyle/>
                    <a:p>
                      <a:r>
                        <a:rPr sz="950" b="0" i="0">
                          <a:solidFill>
                            <a:srgbClr val="202020"/>
                          </a:solidFill>
                          <a:latin typeface="Calibri"/>
                        </a:rPr>
                        <a:t>Root that relative paths (config, env, logs, data) resolve against in service mode.</a:t>
                      </a:r>
                    </a:p>
                  </a:txBody>
                  <a:tcPr marT="12700" marB="12700">
                    <a:solidFill>
                      <a:srgbClr val="FFFFFF"/>
                    </a:solidFill>
                  </a:tcPr>
                </a:tc>
                <a:tc>
                  <a:txBody>
                    <a:bodyPr wrap="square"/>
                    <a:lstStyle/>
                    <a:p>
                      <a:r>
                        <a:rPr sz="950" b="0" i="0">
                          <a:solidFill>
                            <a:srgbClr val="202020"/>
                          </a:solidFill>
                          <a:latin typeface="Calibri"/>
                        </a:rPr>
                        <a:t>(install dir)</a:t>
                      </a:r>
                    </a:p>
                  </a:txBody>
                  <a:tcPr marT="12700" marB="12700">
                    <a:solidFill>
                      <a:srgbClr val="FFFFFF"/>
                    </a:solidFill>
                  </a:tcPr>
                </a:tc>
              </a:tr>
              <a:tr h="384048">
                <a:tc>
                  <a:txBody>
                    <a:bodyPr wrap="square"/>
                    <a:lstStyle/>
                    <a:p>
                      <a:r>
                        <a:rPr sz="950" b="0" i="0">
                          <a:solidFill>
                            <a:srgbClr val="202020"/>
                          </a:solidFill>
                          <a:latin typeface="Consolas"/>
                        </a:rPr>
                        <a:t>USE_SQL_SERVER + SQL_CONNECTION_STRING</a:t>
                      </a:r>
                    </a:p>
                  </a:txBody>
                  <a:tcPr marT="12700" marB="12700">
                    <a:solidFill>
                      <a:srgbClr val="F7F9FC"/>
                    </a:solidFill>
                  </a:tcPr>
                </a:tc>
                <a:tc>
                  <a:txBody>
                    <a:bodyPr wrap="square"/>
                    <a:lstStyle/>
                    <a:p>
                      <a:r>
                        <a:rPr sz="950" b="0" i="0">
                          <a:solidFill>
                            <a:srgbClr val="202020"/>
                          </a:solidFill>
                          <a:latin typeface="Calibri"/>
                        </a:rPr>
                        <a:t>Move all state to SQL Server (required for HA). Point at the AG listener.</a:t>
                      </a:r>
                    </a:p>
                  </a:txBody>
                  <a:tcPr marT="12700" marB="12700">
                    <a:solidFill>
                      <a:srgbClr val="F7F9FC"/>
                    </a:solidFill>
                  </a:tcPr>
                </a:tc>
                <a:tc>
                  <a:txBody>
                    <a:bodyPr wrap="square"/>
                    <a:lstStyle/>
                    <a:p>
                      <a:r>
                        <a:rPr sz="950" b="0" i="0">
                          <a:solidFill>
                            <a:srgbClr val="202020"/>
                          </a:solidFill>
                          <a:latin typeface="Calibri"/>
                        </a:rPr>
                        <a:t>false</a:t>
                      </a:r>
                    </a:p>
                  </a:txBody>
                  <a:tcPr marT="12700" marB="12700">
                    <a:solidFill>
                      <a:srgbClr val="F7F9FC"/>
                    </a:solidFill>
                  </a:tcPr>
                </a:tc>
              </a:tr>
              <a:tr h="384048">
                <a:tc>
                  <a:txBody>
                    <a:bodyPr wrap="square"/>
                    <a:lstStyle/>
                    <a:p>
                      <a:r>
                        <a:rPr sz="950" b="0" i="0">
                          <a:solidFill>
                            <a:srgbClr val="202020"/>
                          </a:solidFill>
                          <a:latin typeface="Consolas"/>
                        </a:rPr>
                        <a:t>SQL_USE_MANAGED_IDENTITY / SQL_MAX_RETRIES</a:t>
                      </a:r>
                    </a:p>
                  </a:txBody>
                  <a:tcPr marT="12700" marB="12700">
                    <a:solidFill>
                      <a:srgbClr val="FFFFFF"/>
                    </a:solidFill>
                  </a:tcPr>
                </a:tc>
                <a:tc>
                  <a:txBody>
                    <a:bodyPr wrap="square"/>
                    <a:lstStyle/>
                    <a:p>
                      <a:r>
                        <a:rPr sz="950" b="0" i="0">
                          <a:solidFill>
                            <a:srgbClr val="202020"/>
                          </a:solidFill>
                          <a:latin typeface="Calibri"/>
                        </a:rPr>
                        <a:t>Entra auth for SQL / transient-fault retry count.</a:t>
                      </a:r>
                    </a:p>
                  </a:txBody>
                  <a:tcPr marT="12700" marB="12700">
                    <a:solidFill>
                      <a:srgbClr val="FFFFFF"/>
                    </a:solidFill>
                  </a:tcPr>
                </a:tc>
                <a:tc>
                  <a:txBody>
                    <a:bodyPr wrap="square"/>
                    <a:lstStyle/>
                    <a:p>
                      <a:r>
                        <a:rPr sz="950" b="0" i="0">
                          <a:solidFill>
                            <a:srgbClr val="202020"/>
                          </a:solidFill>
                          <a:latin typeface="Calibri"/>
                        </a:rPr>
                        <a:t>false / 5</a:t>
                      </a:r>
                    </a:p>
                  </a:txBody>
                  <a:tcPr marT="12700" marB="12700">
                    <a:solidFill>
                      <a:srgbClr val="FFFFFF"/>
                    </a:solidFill>
                  </a:tcPr>
                </a:tc>
              </a:tr>
              <a:tr h="384048">
                <a:tc>
                  <a:txBody>
                    <a:bodyPr wrap="square"/>
                    <a:lstStyle/>
                    <a:p>
                      <a:r>
                        <a:rPr sz="950" b="0" i="0">
                          <a:solidFill>
                            <a:srgbClr val="202020"/>
                          </a:solidFill>
                          <a:latin typeface="Consolas"/>
                        </a:rPr>
                        <a:t>HA_MODE / NODE_ID</a:t>
                      </a:r>
                    </a:p>
                  </a:txBody>
                  <a:tcPr marT="12700" marB="12700">
                    <a:solidFill>
                      <a:srgbClr val="F7F9FC"/>
                    </a:solidFill>
                  </a:tcPr>
                </a:tc>
                <a:tc>
                  <a:txBody>
                    <a:bodyPr wrap="square"/>
                    <a:lstStyle/>
                    <a:p>
                      <a:r>
                        <a:rPr sz="950" b="0" i="0">
                          <a:solidFill>
                            <a:srgbClr val="202020"/>
                          </a:solidFill>
                          <a:latin typeface="Calibri"/>
                        </a:rPr>
                        <a:t>Active-active multi-node crawling / stable node id.</a:t>
                      </a:r>
                    </a:p>
                  </a:txBody>
                  <a:tcPr marT="12700" marB="12700">
                    <a:solidFill>
                      <a:srgbClr val="F7F9FC"/>
                    </a:solidFill>
                  </a:tcPr>
                </a:tc>
                <a:tc>
                  <a:txBody>
                    <a:bodyPr wrap="square"/>
                    <a:lstStyle/>
                    <a:p>
                      <a:r>
                        <a:rPr sz="950" b="0" i="0">
                          <a:solidFill>
                            <a:srgbClr val="202020"/>
                          </a:solidFill>
                          <a:latin typeface="Calibri"/>
                        </a:rPr>
                        <a:t>false / (machine name)</a:t>
                      </a:r>
                    </a:p>
                  </a:txBody>
                  <a:tcPr marT="12700" marB="12700">
                    <a:solidFill>
                      <a:srgbClr val="F7F9FC"/>
                    </a:solidFill>
                  </a:tcPr>
                </a:tc>
              </a:tr>
              <a:tr h="384048">
                <a:tc>
                  <a:txBody>
                    <a:bodyPr wrap="square"/>
                    <a:lstStyle/>
                    <a:p>
                      <a:r>
                        <a:rPr sz="950" b="0" i="0">
                          <a:solidFill>
                            <a:srgbClr val="202020"/>
                          </a:solidFill>
                          <a:latin typeface="Consolas"/>
                        </a:rPr>
                        <a:t>HA_CLAIM_TIMEOUT_SECONDS / HA_HEARTBEAT_SECONDS</a:t>
                      </a:r>
                    </a:p>
                  </a:txBody>
                  <a:tcPr marT="12700" marB="12700">
                    <a:solidFill>
                      <a:srgbClr val="FFFFFF"/>
                    </a:solidFill>
                  </a:tcPr>
                </a:tc>
                <a:tc>
                  <a:txBody>
                    <a:bodyPr wrap="square"/>
                    <a:lstStyle/>
                    <a:p>
                      <a:r>
                        <a:rPr sz="950" b="0" i="0">
                          <a:solidFill>
                            <a:srgbClr val="202020"/>
                          </a:solidFill>
                          <a:latin typeface="Calibri"/>
                        </a:rPr>
                        <a:t>When a stale claim is reclaimable / heartbeat interval.</a:t>
                      </a:r>
                    </a:p>
                  </a:txBody>
                  <a:tcPr marT="12700" marB="12700">
                    <a:solidFill>
                      <a:srgbClr val="FFFFFF"/>
                    </a:solidFill>
                  </a:tcPr>
                </a:tc>
                <a:tc>
                  <a:txBody>
                    <a:bodyPr wrap="square"/>
                    <a:lstStyle/>
                    <a:p>
                      <a:r>
                        <a:rPr sz="950" b="0" i="0">
                          <a:solidFill>
                            <a:srgbClr val="202020"/>
                          </a:solidFill>
                          <a:latin typeface="Calibri"/>
                        </a:rPr>
                        <a:t>300 / 60</a:t>
                      </a:r>
                    </a:p>
                  </a:txBody>
                  <a:tcPr marT="12700" marB="12700">
                    <a:solidFill>
                      <a:srgbClr val="FFFFFF"/>
                    </a:solidFill>
                  </a:tcPr>
                </a:tc>
              </a:tr>
              <a:tr h="384048">
                <a:tc>
                  <a:txBody>
                    <a:bodyPr wrap="square"/>
                    <a:lstStyle/>
                    <a:p>
                      <a:r>
                        <a:rPr sz="950" b="0" i="0">
                          <a:solidFill>
                            <a:srgbClr val="202020"/>
                          </a:solidFill>
                          <a:latin typeface="Consolas"/>
                        </a:rPr>
                        <a:t>USE_KEY_VAULT + KEY_VAULT_URI</a:t>
                      </a:r>
                    </a:p>
                  </a:txBody>
                  <a:tcPr marT="12700" marB="12700">
                    <a:solidFill>
                      <a:srgbClr val="F7F9FC"/>
                    </a:solidFill>
                  </a:tcPr>
                </a:tc>
                <a:tc>
                  <a:txBody>
                    <a:bodyPr wrap="square"/>
                    <a:lstStyle/>
                    <a:p>
                      <a:r>
                        <a:rPr sz="950" b="0" i="0">
                          <a:solidFill>
                            <a:srgbClr val="202020"/>
                          </a:solidFill>
                          <a:latin typeface="Calibri"/>
                        </a:rPr>
                        <a:t>Resolve SECRET_* from Azure Key Vault instead of env.</a:t>
                      </a:r>
                    </a:p>
                  </a:txBody>
                  <a:tcPr marT="12700" marB="12700">
                    <a:solidFill>
                      <a:srgbClr val="F7F9FC"/>
                    </a:solidFill>
                  </a:tcPr>
                </a:tc>
                <a:tc>
                  <a:txBody>
                    <a:bodyPr wrap="square"/>
                    <a:lstStyle/>
                    <a:p>
                      <a:r>
                        <a:rPr sz="950" b="0" i="0">
                          <a:solidFill>
                            <a:srgbClr val="202020"/>
                          </a:solidFill>
                          <a:latin typeface="Calibri"/>
                        </a:rPr>
                        <a:t>false</a:t>
                      </a:r>
                    </a:p>
                  </a:txBody>
                  <a:tcPr marT="12700" marB="12700">
                    <a:solidFill>
                      <a:srgbClr val="F7F9FC"/>
                    </a:solidFill>
                  </a:tcPr>
                </a:tc>
              </a:tr>
              <a:tr h="384048">
                <a:tc>
                  <a:txBody>
                    <a:bodyPr wrap="square"/>
                    <a:lstStyle/>
                    <a:p>
                      <a:r>
                        <a:rPr sz="950" b="0" i="0">
                          <a:solidFill>
                            <a:srgbClr val="202020"/>
                          </a:solidFill>
                          <a:latin typeface="Consolas"/>
                        </a:rPr>
                        <a:t>DELETION_SYNC / DELETION_SYNC_MAX_PERCENT</a:t>
                      </a:r>
                    </a:p>
                  </a:txBody>
                  <a:tcPr marT="12700" marB="12700">
                    <a:solidFill>
                      <a:srgbClr val="FFFFFF"/>
                    </a:solidFill>
                  </a:tcPr>
                </a:tc>
                <a:tc>
                  <a:txBody>
                    <a:bodyPr wrap="square"/>
                    <a:lstStyle/>
                    <a:p>
                      <a:r>
                        <a:rPr sz="950" b="0" i="0">
                          <a:solidFill>
                            <a:srgbClr val="202020"/>
                          </a:solidFill>
                          <a:latin typeface="Calibri"/>
                        </a:rPr>
                        <a:t>Full-crawl deletion sweep on/off / mass-deletion guard percent.</a:t>
                      </a:r>
                    </a:p>
                  </a:txBody>
                  <a:tcPr marT="12700" marB="12700">
                    <a:solidFill>
                      <a:srgbClr val="FFFFFF"/>
                    </a:solidFill>
                  </a:tcPr>
                </a:tc>
                <a:tc>
                  <a:txBody>
                    <a:bodyPr wrap="square"/>
                    <a:lstStyle/>
                    <a:p>
                      <a:r>
                        <a:rPr sz="950" b="0" i="0">
                          <a:solidFill>
                            <a:srgbClr val="202020"/>
                          </a:solidFill>
                          <a:latin typeface="Calibri"/>
                        </a:rPr>
                        <a:t>true / 25</a:t>
                      </a:r>
                    </a:p>
                  </a:txBody>
                  <a:tcPr marT="12700" marB="12700">
                    <a:solidFill>
                      <a:srgbClr val="FFFFFF"/>
                    </a:solidFill>
                  </a:tcPr>
                </a:tc>
              </a:tr>
              <a:tr h="384048">
                <a:tc>
                  <a:txBody>
                    <a:bodyPr wrap="square"/>
                    <a:lstStyle/>
                    <a:p>
                      <a:r>
                        <a:rPr sz="950" b="0" i="0">
                          <a:solidFill>
                            <a:srgbClr val="202020"/>
                          </a:solidFill>
                          <a:latin typeface="Consolas"/>
                        </a:rPr>
                        <a:t>IDENTITY_SYNC_ON_INCREMENTAL</a:t>
                      </a:r>
                    </a:p>
                  </a:txBody>
                  <a:tcPr marT="12700" marB="12700">
                    <a:solidFill>
                      <a:srgbClr val="F7F9FC"/>
                    </a:solidFill>
                  </a:tcPr>
                </a:tc>
                <a:tc>
                  <a:txBody>
                    <a:bodyPr wrap="square"/>
                    <a:lstStyle/>
                    <a:p>
                      <a:r>
                        <a:rPr sz="950" b="0" i="0">
                          <a:solidFill>
                            <a:srgbClr val="202020"/>
                          </a:solidFill>
                          <a:latin typeface="Calibri"/>
                        </a:rPr>
                        <a:t>Re-run the identity sync on incremental crawls too (opt-out; only takes effect when USE_GROUP_ACL=true). false = sync identities on full crawls only.</a:t>
                      </a:r>
                    </a:p>
                  </a:txBody>
                  <a:tcPr marT="12700" marB="12700">
                    <a:solidFill>
                      <a:srgbClr val="F7F9FC"/>
                    </a:solidFill>
                  </a:tcPr>
                </a:tc>
                <a:tc>
                  <a:txBody>
                    <a:bodyPr wrap="square"/>
                    <a:lstStyle/>
                    <a:p>
                      <a:r>
                        <a:rPr sz="950" b="0" i="0">
                          <a:solidFill>
                            <a:srgbClr val="202020"/>
                          </a:solidFill>
                          <a:latin typeface="Calibri"/>
                        </a:rPr>
                        <a:t>true</a:t>
                      </a:r>
                    </a:p>
                  </a:txBody>
                  <a:tcPr marT="12700" marB="12700">
                    <a:solidFill>
                      <a:srgbClr val="F7F9FC"/>
                    </a:solidFill>
                  </a:tcPr>
                </a:tc>
              </a:tr>
              <a:tr h="384048">
                <a:tc>
                  <a:txBody>
                    <a:bodyPr wrap="square"/>
                    <a:lstStyle/>
                    <a:p>
                      <a:r>
                        <a:rPr sz="950" b="0" i="0">
                          <a:solidFill>
                            <a:srgbClr val="202020"/>
                          </a:solidFill>
                          <a:latin typeface="Consolas"/>
                        </a:rPr>
                        <a:t>GRAPH_CONNECTION_SHARDS</a:t>
                      </a:r>
                    </a:p>
                  </a:txBody>
                  <a:tcPr marT="12700" marB="12700">
                    <a:solidFill>
                      <a:srgbClr val="FFFFFF"/>
                    </a:solidFill>
                  </a:tcPr>
                </a:tc>
                <a:tc>
                  <a:txBody>
                    <a:bodyPr wrap="square"/>
                    <a:lstStyle/>
                    <a:p>
                      <a:r>
                        <a:rPr sz="950" b="0" i="0">
                          <a:solidFill>
                            <a:srgbClr val="202020"/>
                          </a:solidFill>
                          <a:latin typeface="Calibri"/>
                        </a:rPr>
                        <a:t>Split objects across N Graph connections for throughput (JSON map).</a:t>
                      </a:r>
                    </a:p>
                  </a:txBody>
                  <a:tcPr marT="12700" marB="12700">
                    <a:solidFill>
                      <a:srgbClr val="FFFFFF"/>
                    </a:solidFill>
                  </a:tcPr>
                </a:tc>
                <a:tc>
                  <a:txBody>
                    <a:bodyPr wrap="square"/>
                    <a:lstStyle/>
                    <a:p>
                      <a:r>
                        <a:rPr sz="950" b="0" i="0">
                          <a:solidFill>
                            <a:srgbClr val="202020"/>
                          </a:solidFill>
                          <a:latin typeface="Calibri"/>
                        </a:rPr>
                        <a:t>(unset)</a:t>
                      </a:r>
                    </a:p>
                  </a:txBody>
                  <a:tcPr marT="12700" marB="12700">
                    <a:solidFill>
                      <a:srgbClr val="FFFFFF"/>
                    </a:solidFill>
                  </a:tcPr>
                </a:tc>
              </a:tr>
              <a:tr h="384048">
                <a:tc>
                  <a:txBody>
                    <a:bodyPr wrap="square"/>
                    <a:lstStyle/>
                    <a:p>
                      <a:r>
                        <a:rPr sz="950" b="0" i="0">
                          <a:solidFill>
                            <a:srgbClr val="202020"/>
                          </a:solidFill>
                          <a:latin typeface="Consolas"/>
                        </a:rPr>
                        <a:t>GRAPH_BASE_URL / GRAPH_SCOPE</a:t>
                      </a:r>
                    </a:p>
                  </a:txBody>
                  <a:tcPr marT="12700" marB="12700">
                    <a:solidFill>
                      <a:srgbClr val="F7F9FC"/>
                    </a:solidFill>
                  </a:tcPr>
                </a:tc>
                <a:tc>
                  <a:txBody>
                    <a:bodyPr wrap="square"/>
                    <a:lstStyle/>
                    <a:p>
                      <a:r>
                        <a:rPr sz="950" b="0" i="0">
                          <a:solidFill>
                            <a:srgbClr val="202020"/>
                          </a:solidFill>
                          <a:latin typeface="Calibri"/>
                        </a:rPr>
                        <a:t>Sovereign-cloud Graph endpoint / token audience.</a:t>
                      </a:r>
                    </a:p>
                  </a:txBody>
                  <a:tcPr marT="12700" marB="12700">
                    <a:solidFill>
                      <a:srgbClr val="F7F9FC"/>
                    </a:solidFill>
                  </a:tcPr>
                </a:tc>
                <a:tc>
                  <a:txBody>
                    <a:bodyPr wrap="square"/>
                    <a:lstStyle/>
                    <a:p>
                      <a:r>
                        <a:rPr sz="950" b="0" i="0">
                          <a:solidFill>
                            <a:srgbClr val="202020"/>
                          </a:solidFill>
                          <a:latin typeface="Calibri"/>
                        </a:rPr>
                        <a:t>https://graph.microsoft.com</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285</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12.4 Enterprise: proxy, TLS, logging, alerting, certificate auth</a:t>
            </a:r>
          </a:p>
        </p:txBody>
      </p:sp>
      <p:graphicFrame>
        <p:nvGraphicFramePr>
          <p:cNvPr id="5" name="Table 4"/>
          <p:cNvGraphicFramePr>
            <a:graphicFrameLocks noGrp="1"/>
          </p:cNvGraphicFramePr>
          <p:nvPr/>
        </p:nvGraphicFramePr>
        <p:xfrm>
          <a:off x="502920" y="1188720"/>
          <a:ext cx="11185855" cy="3840480"/>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c>
                  <a:txBody>
                    <a:bodyPr wrap="square"/>
                    <a:lstStyle/>
                    <a:p>
                      <a:r>
                        <a:rPr sz="1050" b="1" i="0">
                          <a:solidFill>
                            <a:srgbClr val="FFFFFF"/>
                          </a:solidFill>
                          <a:latin typeface="Calibri"/>
                        </a:rPr>
                        <a:t>Example / default</a:t>
                      </a:r>
                    </a:p>
                  </a:txBody>
                  <a:tcPr marT="25400" marB="25400">
                    <a:solidFill>
                      <a:srgbClr val="2E5496"/>
                    </a:solidFill>
                  </a:tcPr>
                </a:tc>
              </a:tr>
              <a:tr h="384048">
                <a:tc>
                  <a:txBody>
                    <a:bodyPr wrap="square"/>
                    <a:lstStyle/>
                    <a:p>
                      <a:r>
                        <a:rPr sz="950" b="0" i="0">
                          <a:solidFill>
                            <a:srgbClr val="202020"/>
                          </a:solidFill>
                          <a:latin typeface="Consolas"/>
                        </a:rPr>
                        <a:t>PROXY_URL / PROXY_BYPASS</a:t>
                      </a:r>
                    </a:p>
                  </a:txBody>
                  <a:tcPr marT="12700" marB="12700">
                    <a:solidFill>
                      <a:srgbClr val="FFFFFF"/>
                    </a:solidFill>
                  </a:tcPr>
                </a:tc>
                <a:tc>
                  <a:txBody>
                    <a:bodyPr wrap="square"/>
                    <a:lstStyle/>
                    <a:p>
                      <a:r>
                        <a:rPr sz="950" b="0" i="0">
                          <a:solidFill>
                            <a:srgbClr val="202020"/>
                          </a:solidFill>
                          <a:latin typeface="Calibri"/>
                        </a:rPr>
                        <a:t>Explicit outbound proxy for all connector HTTP / bypass suffixes.</a:t>
                      </a:r>
                    </a:p>
                  </a:txBody>
                  <a:tcPr marT="12700" marB="12700">
                    <a:solidFill>
                      <a:srgbClr val="FFFFFF"/>
                    </a:solidFill>
                  </a:tcPr>
                </a:tc>
                <a:tc>
                  <a:txBody>
                    <a:bodyPr wrap="square"/>
                    <a:lstStyle/>
                    <a:p>
                      <a:r>
                        <a:rPr sz="950" b="0" i="0">
                          <a:solidFill>
                            <a:srgbClr val="202020"/>
                          </a:solidFill>
                          <a:latin typeface="Calibri"/>
                        </a:rPr>
                        <a:t>(unset)</a:t>
                      </a:r>
                    </a:p>
                  </a:txBody>
                  <a:tcPr marT="12700" marB="12700">
                    <a:solidFill>
                      <a:srgbClr val="FFFFFF"/>
                    </a:solidFill>
                  </a:tcPr>
                </a:tc>
              </a:tr>
              <a:tr h="384048">
                <a:tc>
                  <a:txBody>
                    <a:bodyPr wrap="square"/>
                    <a:lstStyle/>
                    <a:p>
                      <a:r>
                        <a:rPr sz="950" b="0" i="0">
                          <a:solidFill>
                            <a:srgbClr val="202020"/>
                          </a:solidFill>
                          <a:latin typeface="Consolas"/>
                        </a:rPr>
                        <a:t>CA_BUNDLE_PATH</a:t>
                      </a:r>
                    </a:p>
                  </a:txBody>
                  <a:tcPr marT="12700" marB="12700">
                    <a:solidFill>
                      <a:srgbClr val="F7F9FC"/>
                    </a:solidFill>
                  </a:tcPr>
                </a:tc>
                <a:tc>
                  <a:txBody>
                    <a:bodyPr wrap="square"/>
                    <a:lstStyle/>
                    <a:p>
                      <a:r>
                        <a:rPr sz="950" b="0" i="0">
                          <a:solidFill>
                            <a:srgbClr val="202020"/>
                          </a:solidFill>
                          <a:latin typeface="Calibri"/>
                        </a:rPr>
                        <a:t>PEM of additional trusted roots for TLS inspection (additive; fail-closed if missing).</a:t>
                      </a:r>
                    </a:p>
                  </a:txBody>
                  <a:tcPr marT="12700" marB="12700">
                    <a:solidFill>
                      <a:srgbClr val="F7F9FC"/>
                    </a:solidFill>
                  </a:tcPr>
                </a:tc>
                <a:tc>
                  <a:txBody>
                    <a:bodyPr wrap="square"/>
                    <a:lstStyle/>
                    <a:p>
                      <a:r>
                        <a:rPr sz="950" b="0" i="0">
                          <a:solidFill>
                            <a:srgbClr val="202020"/>
                          </a:solidFill>
                          <a:latin typeface="Calibri"/>
                        </a:rPr>
                        <a:t>(unset)</a:t>
                      </a:r>
                    </a:p>
                  </a:txBody>
                  <a:tcPr marT="12700" marB="12700">
                    <a:solidFill>
                      <a:srgbClr val="F7F9FC"/>
                    </a:solidFill>
                  </a:tcPr>
                </a:tc>
              </a:tr>
              <a:tr h="384048">
                <a:tc>
                  <a:txBody>
                    <a:bodyPr wrap="square"/>
                    <a:lstStyle/>
                    <a:p>
                      <a:r>
                        <a:rPr sz="950" b="0" i="0">
                          <a:solidFill>
                            <a:srgbClr val="202020"/>
                          </a:solidFill>
                          <a:latin typeface="Consolas"/>
                        </a:rPr>
                        <a:t>HEALTH_PORT</a:t>
                      </a:r>
                    </a:p>
                  </a:txBody>
                  <a:tcPr marT="12700" marB="12700">
                    <a:solidFill>
                      <a:srgbClr val="FFFFFF"/>
                    </a:solidFill>
                  </a:tcPr>
                </a:tc>
                <a:tc>
                  <a:txBody>
                    <a:bodyPr wrap="square"/>
                    <a:lstStyle/>
                    <a:p>
                      <a:r>
                        <a:rPr sz="950" b="0" i="0">
                          <a:solidFill>
                            <a:srgbClr val="202020"/>
                          </a:solidFill>
                          <a:latin typeface="Calibri"/>
                        </a:rPr>
                        <a:t>Serve /health, /ready, /metrics on this port (0 = off).</a:t>
                      </a:r>
                    </a:p>
                  </a:txBody>
                  <a:tcPr marT="12700" marB="12700">
                    <a:solidFill>
                      <a:srgbClr val="FFFFFF"/>
                    </a:solidFill>
                  </a:tcPr>
                </a:tc>
                <a:tc>
                  <a:txBody>
                    <a:bodyPr wrap="square"/>
                    <a:lstStyle/>
                    <a:p>
                      <a:r>
                        <a:rPr sz="950" b="0" i="0">
                          <a:solidFill>
                            <a:srgbClr val="202020"/>
                          </a:solidFill>
                          <a:latin typeface="Calibri"/>
                        </a:rPr>
                        <a:t>0</a:t>
                      </a:r>
                    </a:p>
                  </a:txBody>
                  <a:tcPr marT="12700" marB="12700">
                    <a:solidFill>
                      <a:srgbClr val="FFFFFF"/>
                    </a:solidFill>
                  </a:tcPr>
                </a:tc>
              </a:tr>
              <a:tr h="384048">
                <a:tc>
                  <a:txBody>
                    <a:bodyPr wrap="square"/>
                    <a:lstStyle/>
                    <a:p>
                      <a:r>
                        <a:rPr sz="950" b="0" i="0">
                          <a:solidFill>
                            <a:srgbClr val="202020"/>
                          </a:solidFill>
                          <a:latin typeface="Consolas"/>
                        </a:rPr>
                        <a:t>LOG_FORMAT / LOG_RETENTION_DAYS</a:t>
                      </a:r>
                    </a:p>
                  </a:txBody>
                  <a:tcPr marT="12700" marB="12700">
                    <a:solidFill>
                      <a:srgbClr val="F7F9FC"/>
                    </a:solidFill>
                  </a:tcPr>
                </a:tc>
                <a:tc>
                  <a:txBody>
                    <a:bodyPr wrap="square"/>
                    <a:lstStyle/>
                    <a:p>
                      <a:r>
                        <a:rPr sz="950" b="0" i="0">
                          <a:solidFill>
                            <a:srgbClr val="202020"/>
                          </a:solidFill>
                          <a:latin typeface="Calibri"/>
                        </a:rPr>
                        <a:t>json structured logs / prune run-dir logs older than N days (state files untouched).</a:t>
                      </a:r>
                    </a:p>
                  </a:txBody>
                  <a:tcPr marT="12700" marB="12700">
                    <a:solidFill>
                      <a:srgbClr val="F7F9FC"/>
                    </a:solidFill>
                  </a:tcPr>
                </a:tc>
                <a:tc>
                  <a:txBody>
                    <a:bodyPr wrap="square"/>
                    <a:lstStyle/>
                    <a:p>
                      <a:r>
                        <a:rPr sz="950" b="0" i="0">
                          <a:solidFill>
                            <a:srgbClr val="202020"/>
                          </a:solidFill>
                          <a:latin typeface="Calibri"/>
                        </a:rPr>
                        <a:t>text / 0</a:t>
                      </a:r>
                    </a:p>
                  </a:txBody>
                  <a:tcPr marT="12700" marB="12700">
                    <a:solidFill>
                      <a:srgbClr val="F7F9FC"/>
                    </a:solidFill>
                  </a:tcPr>
                </a:tc>
              </a:tr>
              <a:tr h="384048">
                <a:tc>
                  <a:txBody>
                    <a:bodyPr wrap="square"/>
                    <a:lstStyle/>
                    <a:p>
                      <a:r>
                        <a:rPr sz="950" b="0" i="0">
                          <a:solidFill>
                            <a:srgbClr val="202020"/>
                          </a:solidFill>
                          <a:latin typeface="Consolas"/>
                        </a:rPr>
                        <a:t>ALERT_WEBHOOK_URL / ALERT_DEADLETTER_THRESHOLD</a:t>
                      </a:r>
                    </a:p>
                  </a:txBody>
                  <a:tcPr marT="12700" marB="12700">
                    <a:solidFill>
                      <a:srgbClr val="FFFFFF"/>
                    </a:solidFill>
                  </a:tcPr>
                </a:tc>
                <a:tc>
                  <a:txBody>
                    <a:bodyPr wrap="square"/>
                    <a:lstStyle/>
                    <a:p>
                      <a:r>
                        <a:rPr sz="950" b="0" i="0">
                          <a:solidFill>
                            <a:srgbClr val="202020"/>
                          </a:solidFill>
                          <a:latin typeface="Calibri"/>
                        </a:rPr>
                        <a:t>POST JSON alerts (crawl_failed, dead_letter, deletion_sweep_skipped) / dead-letter alert threshold.</a:t>
                      </a:r>
                    </a:p>
                  </a:txBody>
                  <a:tcPr marT="12700" marB="12700">
                    <a:solidFill>
                      <a:srgbClr val="FFFFFF"/>
                    </a:solidFill>
                  </a:tcPr>
                </a:tc>
                <a:tc>
                  <a:txBody>
                    <a:bodyPr wrap="square"/>
                    <a:lstStyle/>
                    <a:p>
                      <a:r>
                        <a:rPr sz="950" b="0" i="0">
                          <a:solidFill>
                            <a:srgbClr val="202020"/>
                          </a:solidFill>
                          <a:latin typeface="Calibri"/>
                        </a:rPr>
                        <a:t>(unset) / 0</a:t>
                      </a:r>
                    </a:p>
                  </a:txBody>
                  <a:tcPr marT="12700" marB="12700">
                    <a:solidFill>
                      <a:srgbClr val="FFFFFF"/>
                    </a:solidFill>
                  </a:tcPr>
                </a:tc>
              </a:tr>
              <a:tr h="384048">
                <a:tc>
                  <a:txBody>
                    <a:bodyPr wrap="square"/>
                    <a:lstStyle/>
                    <a:p>
                      <a:r>
                        <a:rPr sz="950" b="0" i="0">
                          <a:solidFill>
                            <a:srgbClr val="202020"/>
                          </a:solidFill>
                          <a:latin typeface="Consolas"/>
                        </a:rPr>
                        <a:t>EVENTLOG_ENABLED / EVENTLOG_LEVEL</a:t>
                      </a:r>
                    </a:p>
                  </a:txBody>
                  <a:tcPr marT="12700" marB="12700">
                    <a:solidFill>
                      <a:srgbClr val="F7F9FC"/>
                    </a:solidFill>
                  </a:tcPr>
                </a:tc>
                <a:tc>
                  <a:txBody>
                    <a:bodyPr wrap="square"/>
                    <a:lstStyle/>
                    <a:p>
                      <a:r>
                        <a:rPr sz="950" b="0" i="0">
                          <a:solidFill>
                            <a:srgbClr val="202020"/>
                          </a:solidFill>
                          <a:latin typeface="Calibri"/>
                        </a:rPr>
                        <a:t>Mirror events to the Windows Application log (source SalesforceConnector, ids 1000/2000/3000).</a:t>
                      </a:r>
                    </a:p>
                  </a:txBody>
                  <a:tcPr marT="12700" marB="12700">
                    <a:solidFill>
                      <a:srgbClr val="F7F9FC"/>
                    </a:solidFill>
                  </a:tcPr>
                </a:tc>
                <a:tc>
                  <a:txBody>
                    <a:bodyPr wrap="square"/>
                    <a:lstStyle/>
                    <a:p>
                      <a:r>
                        <a:rPr sz="950" b="0" i="0">
                          <a:solidFill>
                            <a:srgbClr val="202020"/>
                          </a:solidFill>
                          <a:latin typeface="Calibri"/>
                        </a:rPr>
                        <a:t>false / warning+</a:t>
                      </a:r>
                    </a:p>
                  </a:txBody>
                  <a:tcPr marT="12700" marB="12700">
                    <a:solidFill>
                      <a:srgbClr val="F7F9FC"/>
                    </a:solidFill>
                  </a:tcPr>
                </a:tc>
              </a:tr>
              <a:tr h="384048">
                <a:tc>
                  <a:txBody>
                    <a:bodyPr wrap="square"/>
                    <a:lstStyle/>
                    <a:p>
                      <a:r>
                        <a:rPr sz="950" b="0" i="0">
                          <a:solidFill>
                            <a:srgbClr val="202020"/>
                          </a:solidFill>
                          <a:latin typeface="Consolas"/>
                        </a:rPr>
                        <a:t>DEADLETTER_PAYLOAD_MODE</a:t>
                      </a:r>
                    </a:p>
                  </a:txBody>
                  <a:tcPr marT="12700" marB="12700">
                    <a:solidFill>
                      <a:srgbClr val="FFFFFF"/>
                    </a:solidFill>
                  </a:tcPr>
                </a:tc>
                <a:tc>
                  <a:txBody>
                    <a:bodyPr wrap="square"/>
                    <a:lstStyle/>
                    <a:p>
                      <a:r>
                        <a:rPr sz="950" b="0" i="0">
                          <a:solidFill>
                            <a:srgbClr val="202020"/>
                          </a:solidFill>
                          <a:latin typeface="Calibri"/>
                        </a:rPr>
                        <a:t>redacted (default) strips item property values/content before a failed record hits disk (keeps ids, object type, error, ACLs, field names + sha256 hashes); full keeps the raw request/response payloads (use only in a locked-down env). Any other value fails config-load naming this setting — never silently downgraded to full.</a:t>
                      </a:r>
                    </a:p>
                  </a:txBody>
                  <a:tcPr marT="12700" marB="12700">
                    <a:solidFill>
                      <a:srgbClr val="FFFFFF"/>
                    </a:solidFill>
                  </a:tcPr>
                </a:tc>
                <a:tc>
                  <a:txBody>
                    <a:bodyPr wrap="square"/>
                    <a:lstStyle/>
                    <a:p>
                      <a:r>
                        <a:rPr sz="950" b="0" i="0">
                          <a:solidFill>
                            <a:srgbClr val="202020"/>
                          </a:solidFill>
                          <a:latin typeface="Calibri"/>
                        </a:rPr>
                        <a:t>redacted</a:t>
                      </a:r>
                    </a:p>
                  </a:txBody>
                  <a:tcPr marT="12700" marB="12700">
                    <a:solidFill>
                      <a:srgbClr val="FFFFFF"/>
                    </a:solidFill>
                  </a:tcPr>
                </a:tc>
              </a:tr>
              <a:tr h="384048">
                <a:tc>
                  <a:txBody>
                    <a:bodyPr wrap="square"/>
                    <a:lstStyle/>
                    <a:p>
                      <a:r>
                        <a:rPr sz="950" b="0" i="0">
                          <a:solidFill>
                            <a:srgbClr val="202020"/>
                          </a:solidFill>
                          <a:latin typeface="Consolas"/>
                        </a:rPr>
                        <a:t>GRAPH_CLIENT_CERT_PATH / _PASSWORD</a:t>
                      </a:r>
                    </a:p>
                  </a:txBody>
                  <a:tcPr marT="12700" marB="12700">
                    <a:solidFill>
                      <a:srgbClr val="F7F9FC"/>
                    </a:solidFill>
                  </a:tcPr>
                </a:tc>
                <a:tc>
                  <a:txBody>
                    <a:bodyPr wrap="square"/>
                    <a:lstStyle/>
                    <a:p>
                      <a:r>
                        <a:rPr sz="950" b="0" i="0">
                          <a:solidFill>
                            <a:srgbClr val="202020"/>
                          </a:solidFill>
                          <a:latin typeface="Calibri"/>
                        </a:rPr>
                        <a:t>Use a PFX certificate for Graph auth (client_assertion) instead of a secret.</a:t>
                      </a:r>
                    </a:p>
                  </a:txBody>
                  <a:tcPr marT="12700" marB="12700">
                    <a:solidFill>
                      <a:srgbClr val="F7F9FC"/>
                    </a:solidFill>
                  </a:tcPr>
                </a:tc>
                <a:tc>
                  <a:txBody>
                    <a:bodyPr wrap="square"/>
                    <a:lstStyle/>
                    <a:p>
                      <a:r>
                        <a:rPr sz="950" b="0" i="0">
                          <a:solidFill>
                            <a:srgbClr val="202020"/>
                          </a:solidFill>
                          <a:latin typeface="Calibri"/>
                        </a:rPr>
                        <a:t>(unset)</a:t>
                      </a:r>
                    </a:p>
                  </a:txBody>
                  <a:tcPr marT="12700" marB="12700">
                    <a:solidFill>
                      <a:srgbClr val="F7F9FC"/>
                    </a:solidFill>
                  </a:tcPr>
                </a:tc>
              </a:tr>
              <a:tr h="384048">
                <a:tc>
                  <a:txBody>
                    <a:bodyPr wrap="square"/>
                    <a:lstStyle/>
                    <a:p>
                      <a:r>
                        <a:rPr sz="950" b="0" i="0">
                          <a:solidFill>
                            <a:srgbClr val="202020"/>
                          </a:solidFill>
                          <a:latin typeface="Consolas"/>
                        </a:rPr>
                        <a:t>GRAPH_CLIENT_CERT_THUMBPRINT</a:t>
                      </a:r>
                    </a:p>
                  </a:txBody>
                  <a:tcPr marT="12700" marB="12700">
                    <a:solidFill>
                      <a:srgbClr val="FFFFFF"/>
                    </a:solidFill>
                  </a:tcPr>
                </a:tc>
                <a:tc>
                  <a:txBody>
                    <a:bodyPr wrap="square"/>
                    <a:lstStyle/>
                    <a:p>
                      <a:r>
                        <a:rPr sz="950" b="0" i="0">
                          <a:solidFill>
                            <a:srgbClr val="202020"/>
                          </a:solidFill>
                          <a:latin typeface="Calibri"/>
                        </a:rPr>
                        <a:t>Use a cert from the Windows store (CurrentUser\My then LocalMachine\My). Cert wins over secret.</a:t>
                      </a:r>
                    </a:p>
                  </a:txBody>
                  <a:tcPr marT="12700" marB="12700">
                    <a:solidFill>
                      <a:srgbClr val="FFFFFF"/>
                    </a:solidFill>
                  </a:tcPr>
                </a:tc>
                <a:tc>
                  <a:txBody>
                    <a:bodyPr wrap="square"/>
                    <a:lstStyle/>
                    <a:p>
                      <a:r>
                        <a:rPr sz="950" b="0" i="0">
                          <a:solidFill>
                            <a:srgbClr val="202020"/>
                          </a:solidFill>
                          <a:latin typeface="Calibri"/>
                        </a:rPr>
                        <a:t>(unset)</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286</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12.4 Enterprise: proxy, TLS, logging, alerting, certificate auth</a:t>
            </a:r>
          </a:p>
        </p:txBody>
      </p:sp>
      <p:sp>
        <p:nvSpPr>
          <p:cNvPr id="5" name="Rectangle 4"/>
          <p:cNvSpPr/>
          <p:nvPr/>
        </p:nvSpPr>
        <p:spPr>
          <a:xfrm>
            <a:off x="502920" y="1463040"/>
            <a:ext cx="11185855" cy="3291840"/>
          </a:xfrm>
          <a:prstGeom prst="rect">
            <a:avLst/>
          </a:prstGeom>
          <a:solidFill>
            <a:srgbClr val="E7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7D32"/>
                </a:solidFill>
                <a:latin typeface="Calibri"/>
              </a:rPr>
              <a:t>Tip:  </a:t>
            </a:r>
            <a:r>
              <a:rPr sz="1400" b="1" i="0">
                <a:solidFill>
                  <a:srgbClr val="202020"/>
                </a:solidFill>
                <a:latin typeface="Calibri"/>
              </a:rPr>
              <a:t>Tip: </a:t>
            </a:r>
            <a:r>
              <a:rPr sz="1400" b="0" i="0">
                <a:solidFill>
                  <a:srgbClr val="202020"/>
                </a:solidFill>
                <a:latin typeface="Calibri"/>
              </a:rPr>
              <a:t>Graph auth mode is chosen at startup and logged: </a:t>
            </a:r>
            <a:r>
              <a:rPr sz="1350" b="0" i="0">
                <a:solidFill>
                  <a:srgbClr val="202020"/>
                </a:solidFill>
                <a:latin typeface="Consolas"/>
              </a:rPr>
              <a:t>Graph auth mode: default credential chain (…)</a:t>
            </a:r>
            <a:r>
              <a:rPr sz="1400" b="0" i="0">
                <a:solidFill>
                  <a:srgbClr val="202020"/>
                </a:solidFill>
                <a:latin typeface="Calibri"/>
              </a:rPr>
              <a:t> for the client secret, or </a:t>
            </a:r>
            <a:r>
              <a:rPr sz="1350" b="0" i="0">
                <a:solidFill>
                  <a:srgbClr val="202020"/>
                </a:solidFill>
                <a:latin typeface="Consolas"/>
              </a:rPr>
              <a:t>Graph auth mode: client certificate (… expires YYYY-MM-DD)</a:t>
            </a:r>
            <a:r>
              <a:rPr sz="1400" b="0" i="0">
                <a:solidFill>
                  <a:srgbClr val="202020"/>
                </a:solidFill>
                <a:latin typeface="Calibri"/>
              </a:rPr>
              <a:t> when a certificate is configured. A certificate (ideally a non-exportable key referenced by thumbprint) is the stronger, FIPS-friendly option and the recommended choice for a bank.</a:t>
            </a:r>
          </a:p>
        </p:txBody>
      </p:sp>
      <p:sp>
        <p:nvSpPr>
          <p:cNvPr id="6" name="Rectangle 5"/>
          <p:cNvSpPr/>
          <p:nvPr/>
        </p:nvSpPr>
        <p:spPr>
          <a:xfrm>
            <a:off x="502920" y="1463040"/>
            <a:ext cx="128016" cy="32918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287</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12.5 Data governance &amp; compliance controls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These controls all ship </a:t>
            </a:r>
            <a:r>
              <a:rPr sz="1250" b="1" i="0">
                <a:solidFill>
                  <a:srgbClr val="202020"/>
                </a:solidFill>
                <a:latin typeface="Calibri"/>
              </a:rPr>
              <a:t>off / advisory by default</a:t>
            </a:r>
            <a:r>
              <a:rPr sz="1250" b="0" i="0">
                <a:solidFill>
                  <a:srgbClr val="202020"/>
                </a:solidFill>
                <a:latin typeface="Calibri"/>
              </a:rPr>
              <a:t> — leaving them unset keeps the connector's classic behaviour. Turn them on deliberately, per the bank's data-governance requirements. They live in </a:t>
            </a:r>
            <a:r>
              <a:rPr sz="1200" b="0" i="0">
                <a:solidFill>
                  <a:srgbClr val="202020"/>
                </a:solidFill>
                <a:latin typeface="Consolas"/>
              </a:rPr>
              <a:t>env/.env.local.example</a:t>
            </a:r>
            <a:r>
              <a:rPr sz="1250" b="0" i="0">
                <a:solidFill>
                  <a:srgbClr val="202020"/>
                </a:solidFill>
                <a:latin typeface="Calibri"/>
              </a:rPr>
              <a:t> alongside everything else.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288</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12.5 Data governance &amp; compliance controls</a:t>
            </a:r>
          </a:p>
        </p:txBody>
      </p:sp>
      <p:graphicFrame>
        <p:nvGraphicFramePr>
          <p:cNvPr id="5" name="Table 4"/>
          <p:cNvGraphicFramePr>
            <a:graphicFrameLocks noGrp="1"/>
          </p:cNvGraphicFramePr>
          <p:nvPr/>
        </p:nvGraphicFramePr>
        <p:xfrm>
          <a:off x="502920" y="1188720"/>
          <a:ext cx="11185855" cy="3840480"/>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c>
                  <a:txBody>
                    <a:bodyPr wrap="square"/>
                    <a:lstStyle/>
                    <a:p>
                      <a:r>
                        <a:rPr sz="1050" b="1" i="0">
                          <a:solidFill>
                            <a:srgbClr val="FFFFFF"/>
                          </a:solidFill>
                          <a:latin typeface="Calibri"/>
                        </a:rPr>
                        <a:t>Example / default</a:t>
                      </a:r>
                    </a:p>
                  </a:txBody>
                  <a:tcPr marT="25400" marB="25400">
                    <a:solidFill>
                      <a:srgbClr val="2E5496"/>
                    </a:solidFill>
                  </a:tcPr>
                </a:tc>
              </a:tr>
              <a:tr h="384048">
                <a:tc>
                  <a:txBody>
                    <a:bodyPr wrap="square"/>
                    <a:lstStyle/>
                    <a:p>
                      <a:r>
                        <a:rPr sz="950" b="0" i="0">
                          <a:solidFill>
                            <a:srgbClr val="202020"/>
                          </a:solidFill>
                          <a:latin typeface="Consolas"/>
                        </a:rPr>
                        <a:t>CLASSIFICATION_FIELD</a:t>
                      </a:r>
                    </a:p>
                  </a:txBody>
                  <a:tcPr marT="12700" marB="12700">
                    <a:solidFill>
                      <a:srgbClr val="FFFFFF"/>
                    </a:solidFill>
                  </a:tcPr>
                </a:tc>
                <a:tc>
                  <a:txBody>
                    <a:bodyPr wrap="square"/>
                    <a:lstStyle/>
                    <a:p>
                      <a:r>
                        <a:rPr sz="950" b="0" i="0">
                          <a:solidFill>
                            <a:srgbClr val="202020"/>
                          </a:solidFill>
                          <a:latin typeface="Calibri"/>
                        </a:rPr>
                        <a:t>Salesforce field whose value is read as an advisory classification tag. Unset = classification off.</a:t>
                      </a:r>
                    </a:p>
                  </a:txBody>
                  <a:tcPr marT="12700" marB="12700">
                    <a:solidFill>
                      <a:srgbClr val="FFFFFF"/>
                    </a:solidFill>
                  </a:tcPr>
                </a:tc>
                <a:tc>
                  <a:txBody>
                    <a:bodyPr wrap="square"/>
                    <a:lstStyle/>
                    <a:p>
                      <a:r>
                        <a:rPr sz="950" b="0" i="0">
                          <a:solidFill>
                            <a:srgbClr val="202020"/>
                          </a:solidFill>
                          <a:latin typeface="Calibri"/>
                        </a:rPr>
                        <a:t>(unset) e.g. Data_Classification__c</a:t>
                      </a:r>
                    </a:p>
                  </a:txBody>
                  <a:tcPr marT="12700" marB="12700">
                    <a:solidFill>
                      <a:srgbClr val="FFFFFF"/>
                    </a:solidFill>
                  </a:tcPr>
                </a:tc>
              </a:tr>
              <a:tr h="384048">
                <a:tc>
                  <a:txBody>
                    <a:bodyPr wrap="square"/>
                    <a:lstStyle/>
                    <a:p>
                      <a:r>
                        <a:rPr sz="950" b="0" i="0">
                          <a:solidFill>
                            <a:srgbClr val="202020"/>
                          </a:solidFill>
                          <a:latin typeface="Consolas"/>
                        </a:rPr>
                        <a:t>CLASSIFICATION_RESTRICTED_VALUES</a:t>
                      </a:r>
                    </a:p>
                  </a:txBody>
                  <a:tcPr marT="12700" marB="12700">
                    <a:solidFill>
                      <a:srgbClr val="F7F9FC"/>
                    </a:solidFill>
                  </a:tcPr>
                </a:tc>
                <a:tc>
                  <a:txBody>
                    <a:bodyPr wrap="square"/>
                    <a:lstStyle/>
                    <a:p>
                      <a:r>
                        <a:rPr sz="950" b="0" i="0">
                          <a:solidFill>
                            <a:srgbClr val="202020"/>
                          </a:solidFill>
                          <a:latin typeface="Calibri"/>
                        </a:rPr>
                        <a:t>CSV of tag values treated as the top (Restricted) tier; case-insensitive.</a:t>
                      </a:r>
                    </a:p>
                  </a:txBody>
                  <a:tcPr marT="12700" marB="12700">
                    <a:solidFill>
                      <a:srgbClr val="F7F9FC"/>
                    </a:solidFill>
                  </a:tcPr>
                </a:tc>
                <a:tc>
                  <a:txBody>
                    <a:bodyPr wrap="square"/>
                    <a:lstStyle/>
                    <a:p>
                      <a:r>
                        <a:rPr sz="950" b="0" i="0">
                          <a:solidFill>
                            <a:srgbClr val="202020"/>
                          </a:solidFill>
                          <a:latin typeface="Calibri"/>
                        </a:rPr>
                        <a:t>Restricted</a:t>
                      </a:r>
                    </a:p>
                  </a:txBody>
                  <a:tcPr marT="12700" marB="12700">
                    <a:solidFill>
                      <a:srgbClr val="F7F9FC"/>
                    </a:solidFill>
                  </a:tcPr>
                </a:tc>
              </a:tr>
              <a:tr h="384048">
                <a:tc>
                  <a:txBody>
                    <a:bodyPr wrap="square"/>
                    <a:lstStyle/>
                    <a:p>
                      <a:r>
                        <a:rPr sz="950" b="0" i="0">
                          <a:solidFill>
                            <a:srgbClr val="202020"/>
                          </a:solidFill>
                          <a:latin typeface="Consolas"/>
                        </a:rPr>
                        <a:t>CLASSIFICATION_ENFORCE_ACL</a:t>
                      </a:r>
                    </a:p>
                  </a:txBody>
                  <a:tcPr marT="12700" marB="12700">
                    <a:solidFill>
                      <a:srgbClr val="FFFFFF"/>
                    </a:solidFill>
                  </a:tcPr>
                </a:tc>
                <a:tc>
                  <a:txBody>
                    <a:bodyPr wrap="square"/>
                    <a:lstStyle/>
                    <a:p>
                      <a:r>
                        <a:rPr sz="950" b="0" i="0">
                          <a:solidFill>
                            <a:srgbClr val="202020"/>
                          </a:solidFill>
                          <a:latin typeface="Calibri"/>
                        </a:rPr>
                        <a:t>true = replace a top-tier item's Graph ACL with a single grant to CLASSIFICATION_RESTRICTED_GROUP (belt-and-braces on the Salesforce ACL). Default off = advisory tag only, ACLs untouched.</a:t>
                      </a:r>
                    </a:p>
                  </a:txBody>
                  <a:tcPr marT="12700" marB="12700">
                    <a:solidFill>
                      <a:srgbClr val="FFFFFF"/>
                    </a:solidFill>
                  </a:tcPr>
                </a:tc>
                <a:tc>
                  <a:txBody>
                    <a:bodyPr wrap="square"/>
                    <a:lstStyle/>
                    <a:p>
                      <a:r>
                        <a:rPr sz="950" b="0" i="0">
                          <a:solidFill>
                            <a:srgbClr val="202020"/>
                          </a:solidFill>
                          <a:latin typeface="Calibri"/>
                        </a:rPr>
                        <a:t>false</a:t>
                      </a:r>
                    </a:p>
                  </a:txBody>
                  <a:tcPr marT="12700" marB="12700">
                    <a:solidFill>
                      <a:srgbClr val="FFFFFF"/>
                    </a:solidFill>
                  </a:tcPr>
                </a:tc>
              </a:tr>
              <a:tr h="384048">
                <a:tc>
                  <a:txBody>
                    <a:bodyPr wrap="square"/>
                    <a:lstStyle/>
                    <a:p>
                      <a:r>
                        <a:rPr sz="950" b="0" i="0">
                          <a:solidFill>
                            <a:srgbClr val="202020"/>
                          </a:solidFill>
                          <a:latin typeface="Consolas"/>
                        </a:rPr>
                        <a:t>CLASSIFICATION_RESTRICTED_GROUP</a:t>
                      </a:r>
                    </a:p>
                  </a:txBody>
                  <a:tcPr marT="12700" marB="12700">
                    <a:solidFill>
                      <a:srgbClr val="F7F9FC"/>
                    </a:solidFill>
                  </a:tcPr>
                </a:tc>
                <a:tc>
                  <a:txBody>
                    <a:bodyPr wrap="square"/>
                    <a:lstStyle/>
                    <a:p>
                      <a:r>
                        <a:rPr sz="950" b="0" i="0">
                          <a:solidFill>
                            <a:srgbClr val="202020"/>
                          </a:solidFill>
                          <a:latin typeface="Calibri"/>
                        </a:rPr>
                        <a:t>Entra group object id the restricted ACL grants to. Required for enforcement to take effect.</a:t>
                      </a:r>
                    </a:p>
                  </a:txBody>
                  <a:tcPr marT="12700" marB="12700">
                    <a:solidFill>
                      <a:srgbClr val="F7F9FC"/>
                    </a:solidFill>
                  </a:tcPr>
                </a:tc>
                <a:tc>
                  <a:txBody>
                    <a:bodyPr wrap="square"/>
                    <a:lstStyle/>
                    <a:p>
                      <a:r>
                        <a:rPr sz="950" b="0" i="0">
                          <a:solidFill>
                            <a:srgbClr val="202020"/>
                          </a:solidFill>
                          <a:latin typeface="Calibri"/>
                        </a:rPr>
                        <a:t>(unset)</a:t>
                      </a:r>
                    </a:p>
                  </a:txBody>
                  <a:tcPr marT="12700" marB="12700">
                    <a:solidFill>
                      <a:srgbClr val="F7F9FC"/>
                    </a:solidFill>
                  </a:tcPr>
                </a:tc>
              </a:tr>
              <a:tr h="384048">
                <a:tc>
                  <a:txBody>
                    <a:bodyPr wrap="square"/>
                    <a:lstStyle/>
                    <a:p>
                      <a:r>
                        <a:rPr sz="950" b="0" i="0">
                          <a:solidFill>
                            <a:srgbClr val="202020"/>
                          </a:solidFill>
                          <a:latin typeface="Consolas"/>
                        </a:rPr>
                        <a:t>GRAPH_ITEM_TTL_DAYS</a:t>
                      </a:r>
                    </a:p>
                  </a:txBody>
                  <a:tcPr marT="12700" marB="12700">
                    <a:solidFill>
                      <a:srgbClr val="FFFFFF"/>
                    </a:solidFill>
                  </a:tcPr>
                </a:tc>
                <a:tc>
                  <a:txBody>
                    <a:bodyPr wrap="square"/>
                    <a:lstStyle/>
                    <a:p>
                      <a:r>
                        <a:rPr sz="950" b="0" i="0">
                          <a:solidFill>
                            <a:srgbClr val="202020"/>
                          </a:solidFill>
                          <a:latin typeface="Calibri"/>
                        </a:rPr>
                        <a:t>&gt; 0 stamps each item with a top-level expirationDateTime = ingest time + TTL, so the index self-expires if crawling stops; a healthy crawl re-stamps every item. Set several times the full-crawl cadence. Unset/0 = never expire.</a:t>
                      </a:r>
                    </a:p>
                  </a:txBody>
                  <a:tcPr marT="12700" marB="12700">
                    <a:solidFill>
                      <a:srgbClr val="FFFFFF"/>
                    </a:solidFill>
                  </a:tcPr>
                </a:tc>
                <a:tc>
                  <a:txBody>
                    <a:bodyPr wrap="square"/>
                    <a:lstStyle/>
                    <a:p>
                      <a:r>
                        <a:rPr sz="950" b="0" i="0">
                          <a:solidFill>
                            <a:srgbClr val="202020"/>
                          </a:solidFill>
                          <a:latin typeface="Calibri"/>
                        </a:rPr>
                        <a:t>(unset) / 0</a:t>
                      </a:r>
                    </a:p>
                  </a:txBody>
                  <a:tcPr marT="12700" marB="12700">
                    <a:solidFill>
                      <a:srgbClr val="FFFFFF"/>
                    </a:solidFill>
                  </a:tcPr>
                </a:tc>
              </a:tr>
              <a:tr h="384048">
                <a:tc>
                  <a:txBody>
                    <a:bodyPr wrap="square"/>
                    <a:lstStyle/>
                    <a:p>
                      <a:r>
                        <a:rPr sz="950" b="0" i="0">
                          <a:solidFill>
                            <a:srgbClr val="202020"/>
                          </a:solidFill>
                          <a:latin typeface="Consolas"/>
                        </a:rPr>
                        <a:t>ACL_MAX_ACES</a:t>
                      </a:r>
                    </a:p>
                  </a:txBody>
                  <a:tcPr marT="12700" marB="12700">
                    <a:solidFill>
                      <a:srgbClr val="F7F9FC"/>
                    </a:solidFill>
                  </a:tcPr>
                </a:tc>
                <a:tc>
                  <a:txBody>
                    <a:bodyPr wrap="square"/>
                    <a:lstStyle/>
                    <a:p>
                      <a:r>
                        <a:rPr sz="950" b="0" i="0">
                          <a:solidFill>
                            <a:srgbClr val="202020"/>
                          </a:solidFill>
                          <a:latin typeface="Calibri"/>
                        </a:rPr>
                        <a:t>&gt; 0 = trip the large-group ACL scale guard when an item's ACE count exceeds this. 0 = guard off (metric max_item_ace_count still exported).</a:t>
                      </a:r>
                    </a:p>
                  </a:txBody>
                  <a:tcPr marT="12700" marB="12700">
                    <a:solidFill>
                      <a:srgbClr val="F7F9FC"/>
                    </a:solidFill>
                  </a:tcPr>
                </a:tc>
                <a:tc>
                  <a:txBody>
                    <a:bodyPr wrap="square"/>
                    <a:lstStyle/>
                    <a:p>
                      <a:r>
                        <a:rPr sz="950" b="0" i="0">
                          <a:solidFill>
                            <a:srgbClr val="202020"/>
                          </a:solidFill>
                          <a:latin typeface="Calibri"/>
                        </a:rPr>
                        <a:t>0</a:t>
                      </a:r>
                    </a:p>
                  </a:txBody>
                  <a:tcPr marT="12700" marB="12700">
                    <a:solidFill>
                      <a:srgbClr val="F7F9FC"/>
                    </a:solidFill>
                  </a:tcPr>
                </a:tc>
              </a:tr>
              <a:tr h="384048">
                <a:tc>
                  <a:txBody>
                    <a:bodyPr wrap="square"/>
                    <a:lstStyle/>
                    <a:p>
                      <a:r>
                        <a:rPr sz="950" b="0" i="0">
                          <a:solidFill>
                            <a:srgbClr val="202020"/>
                          </a:solidFill>
                          <a:latin typeface="Consolas"/>
                        </a:rPr>
                        <a:t>ACL_SCALE_GUARD_ACTION</a:t>
                      </a:r>
                    </a:p>
                  </a:txBody>
                  <a:tcPr marT="12700" marB="12700">
                    <a:solidFill>
                      <a:srgbClr val="FFFFFF"/>
                    </a:solidFill>
                  </a:tcPr>
                </a:tc>
                <a:tc>
                  <a:txBody>
                    <a:bodyPr wrap="square"/>
                    <a:lstStyle/>
                    <a:p>
                      <a:r>
                        <a:rPr sz="950" b="0" i="0">
                          <a:solidFill>
                            <a:srgbClr val="202020"/>
                          </a:solidFill>
                          <a:latin typeface="Calibri"/>
                        </a:rPr>
                        <a:t>What the guard does when tripped: warn (keep ACL, log + fired metric), group (replace ACL with a grant to ACL_SCALE_GUARD_GROUP), or fallback (deny-everyone until re-resolved smaller).</a:t>
                      </a:r>
                    </a:p>
                  </a:txBody>
                  <a:tcPr marT="12700" marB="12700">
                    <a:solidFill>
                      <a:srgbClr val="FFFFFF"/>
                    </a:solidFill>
                  </a:tcPr>
                </a:tc>
                <a:tc>
                  <a:txBody>
                    <a:bodyPr wrap="square"/>
                    <a:lstStyle/>
                    <a:p>
                      <a:r>
                        <a:rPr sz="950" b="0" i="0">
                          <a:solidFill>
                            <a:srgbClr val="202020"/>
                          </a:solidFill>
                          <a:latin typeface="Calibri"/>
                        </a:rPr>
                        <a:t>warn</a:t>
                      </a:r>
                    </a:p>
                  </a:txBody>
                  <a:tcPr marT="12700" marB="12700">
                    <a:solidFill>
                      <a:srgbClr val="FFFFFF"/>
                    </a:solidFill>
                  </a:tcPr>
                </a:tc>
              </a:tr>
              <a:tr h="384048">
                <a:tc>
                  <a:txBody>
                    <a:bodyPr wrap="square"/>
                    <a:lstStyle/>
                    <a:p>
                      <a:r>
                        <a:rPr sz="950" b="0" i="0">
                          <a:solidFill>
                            <a:srgbClr val="202020"/>
                          </a:solidFill>
                          <a:latin typeface="Consolas"/>
                        </a:rPr>
                        <a:t>ACL_SCALE_GUARD_GROUP</a:t>
                      </a:r>
                    </a:p>
                  </a:txBody>
                  <a:tcPr marT="12700" marB="12700">
                    <a:solidFill>
                      <a:srgbClr val="F7F9FC"/>
                    </a:solidFill>
                  </a:tcPr>
                </a:tc>
                <a:tc>
                  <a:txBody>
                    <a:bodyPr wrap="square"/>
                    <a:lstStyle/>
                    <a:p>
                      <a:r>
                        <a:rPr sz="950" b="0" i="0">
                          <a:solidFill>
                            <a:srgbClr val="202020"/>
                          </a:solidFill>
                          <a:latin typeface="Calibri"/>
                        </a:rPr>
                        <a:t>Entra group id used by ACL_SCALE_GUARD_ACTION=group. Required for the group action, else it falls back to warn.</a:t>
                      </a:r>
                    </a:p>
                  </a:txBody>
                  <a:tcPr marT="12700" marB="12700">
                    <a:solidFill>
                      <a:srgbClr val="F7F9FC"/>
                    </a:solidFill>
                  </a:tcPr>
                </a:tc>
                <a:tc>
                  <a:txBody>
                    <a:bodyPr wrap="square"/>
                    <a:lstStyle/>
                    <a:p>
                      <a:r>
                        <a:rPr sz="950" b="0" i="0">
                          <a:solidFill>
                            <a:srgbClr val="202020"/>
                          </a:solidFill>
                          <a:latin typeface="Calibri"/>
                        </a:rPr>
                        <a:t>(unset)</a:t>
                      </a:r>
                    </a:p>
                  </a:txBody>
                  <a:tcPr marT="12700" marB="12700">
                    <a:solidFill>
                      <a:srgbClr val="F7F9FC"/>
                    </a:solidFill>
                  </a:tcPr>
                </a:tc>
              </a:tr>
              <a:tr h="384048">
                <a:tc>
                  <a:txBody>
                    <a:bodyPr wrap="square"/>
                    <a:lstStyle/>
                    <a:p>
                      <a:r>
                        <a:rPr sz="950" b="0" i="0">
                          <a:solidFill>
                            <a:srgbClr val="202020"/>
                          </a:solidFill>
                          <a:latin typeface="Consolas"/>
                        </a:rPr>
                        <a:t>DECISION_LEDGER</a:t>
                      </a:r>
                    </a:p>
                  </a:txBody>
                  <a:tcPr marT="12700" marB="12700">
                    <a:solidFill>
                      <a:srgbClr val="FFFFFF"/>
                    </a:solidFill>
                  </a:tcPr>
                </a:tc>
                <a:tc>
                  <a:txBody>
                    <a:bodyPr wrap="square"/>
                    <a:lstStyle/>
                    <a:p>
                      <a:r>
                        <a:rPr sz="950" b="0" i="0">
                          <a:solidFill>
                            <a:srgbClr val="202020"/>
                          </a:solidFill>
                          <a:latin typeface="Calibri"/>
                        </a:rPr>
                        <a:t>true = append each access-affecting decision (classification ACL restriction, scale-guard group/fallback drop) to a tamper-evident, SHA-256 hash-chained ledger logs\decision_ledger_{CONNECTOR_ID}.jsonl; Verify() detects any edit/reorder/delete. Low-volume; default off.</a:t>
                      </a:r>
                    </a:p>
                  </a:txBody>
                  <a:tcPr marT="12700" marB="12700">
                    <a:solidFill>
                      <a:srgbClr val="FFFFFF"/>
                    </a:solidFill>
                  </a:tcPr>
                </a:tc>
                <a:tc>
                  <a:txBody>
                    <a:bodyPr wrap="square"/>
                    <a:lstStyle/>
                    <a:p>
                      <a:r>
                        <a:rPr sz="950" b="0" i="0">
                          <a:solidFill>
                            <a:srgbClr val="202020"/>
                          </a:solidFill>
                          <a:latin typeface="Calibri"/>
                        </a:rPr>
                        <a:t>false</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289</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12.5 Data governance &amp; compliance controls</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The classification value is an </a:t>
            </a:r>
            <a:r>
              <a:rPr sz="1400" b="1" i="0">
                <a:solidFill>
                  <a:srgbClr val="202020"/>
                </a:solidFill>
                <a:latin typeface="Calibri"/>
              </a:rPr>
              <a:t>advisory, connector-applied tag</a:t>
            </a:r>
            <a:r>
              <a:rPr sz="1400" b="0" i="0">
                <a:solidFill>
                  <a:srgbClr val="202020"/>
                </a:solidFill>
                <a:latin typeface="Calibri"/>
              </a:rPr>
              <a:t> read from the Salesforce field named by </a:t>
            </a:r>
            <a:r>
              <a:rPr sz="1350" b="0" i="0">
                <a:solidFill>
                  <a:srgbClr val="202020"/>
                </a:solidFill>
                <a:latin typeface="Consolas"/>
              </a:rPr>
              <a:t>CLASSIFICATION_FIELD</a:t>
            </a:r>
            <a:r>
              <a:rPr sz="1400" b="0" i="0">
                <a:solidFill>
                  <a:srgbClr val="202020"/>
                </a:solidFill>
                <a:latin typeface="Calibri"/>
              </a:rPr>
              <a:t> — it is </a:t>
            </a:r>
            <a:r>
              <a:rPr sz="1400" b="1" i="0">
                <a:solidFill>
                  <a:srgbClr val="202020"/>
                </a:solidFill>
                <a:latin typeface="Calibri"/>
              </a:rPr>
              <a:t>Purview-aligned in naming only, NOT a Microsoft Purview sensitivity label</a:t>
            </a:r>
            <a:r>
              <a:rPr sz="1400" b="0" i="0">
                <a:solidFill>
                  <a:srgbClr val="202020"/>
                </a:solidFill>
                <a:latin typeface="Calibri"/>
              </a:rPr>
              <a:t>. The connector neither applies nor honours any Purview label, and by itself the tag does </a:t>
            </a:r>
            <a:r>
              <a:rPr sz="1400" b="1" i="0">
                <a:solidFill>
                  <a:srgbClr val="202020"/>
                </a:solidFill>
                <a:latin typeface="Calibri"/>
              </a:rPr>
              <a:t>not</a:t>
            </a:r>
            <a:r>
              <a:rPr sz="1400" b="0" i="0">
                <a:solidFill>
                  <a:srgbClr val="202020"/>
                </a:solidFill>
                <a:latin typeface="Calibri"/>
              </a:rPr>
              <a:t> change who can see an item: the access control the connector actually enforces is always the ACL derived from the Salesforce sharing model (§5-§6). Only </a:t>
            </a:r>
            <a:r>
              <a:rPr sz="1350" b="0" i="0">
                <a:solidFill>
                  <a:srgbClr val="202020"/>
                </a:solidFill>
                <a:latin typeface="Consolas"/>
              </a:rPr>
              <a:t>CLASSIFICATION_ENFORCE_ACL=true</a:t>
            </a:r>
            <a:r>
              <a:rPr sz="1400" b="0" i="0">
                <a:solidFill>
                  <a:srgbClr val="202020"/>
                </a:solidFill>
                <a:latin typeface="Calibri"/>
              </a:rPr>
              <a:t> </a:t>
            </a:r>
            <a:r>
              <a:rPr sz="1400" b="1" i="0">
                <a:solidFill>
                  <a:srgbClr val="202020"/>
                </a:solidFill>
                <a:latin typeface="Calibri"/>
              </a:rPr>
              <a:t>together with</a:t>
            </a:r>
            <a:r>
              <a:rPr sz="1400" b="0" i="0">
                <a:solidFill>
                  <a:srgbClr val="202020"/>
                </a:solidFill>
                <a:latin typeface="Calibri"/>
              </a:rPr>
              <a:t> a configured </a:t>
            </a:r>
            <a:r>
              <a:rPr sz="1350" b="0" i="0">
                <a:solidFill>
                  <a:srgbClr val="202020"/>
                </a:solidFill>
                <a:latin typeface="Consolas"/>
              </a:rPr>
              <a:t>CLASSIFICATION_RESTRICTED_GROUP</a:t>
            </a:r>
            <a:r>
              <a:rPr sz="1400" b="0" i="0">
                <a:solidFill>
                  <a:srgbClr val="202020"/>
                </a:solidFill>
                <a:latin typeface="Calibri"/>
              </a:rPr>
              <a:t> adds a belt-and-braces ACL lock on top-tier items; with the flag on but no group, enforcement simply does not take effect. </a:t>
            </a:r>
            <a:r>
              <a:rPr sz="1350" b="0" i="0">
                <a:solidFill>
                  <a:srgbClr val="202020"/>
                </a:solidFill>
                <a:latin typeface="Consolas"/>
              </a:rPr>
              <a:t>ACL_SCALE_GUARD_ACTION=group</a:t>
            </a:r>
            <a:r>
              <a:rPr sz="1400" b="0" i="0">
                <a:solidFill>
                  <a:srgbClr val="202020"/>
                </a:solidFill>
                <a:latin typeface="Calibri"/>
              </a:rPr>
              <a:t> likewise needs </a:t>
            </a:r>
            <a:r>
              <a:rPr sz="1350" b="0" i="0">
                <a:solidFill>
                  <a:srgbClr val="202020"/>
                </a:solidFill>
                <a:latin typeface="Consolas"/>
              </a:rPr>
              <a:t>ACL_SCALE_GUARD_GROUP</a:t>
            </a:r>
            <a:r>
              <a:rPr sz="1400" b="0" i="0">
                <a:solidFill>
                  <a:srgbClr val="202020"/>
                </a:solidFill>
                <a:latin typeface="Calibri"/>
              </a:rPr>
              <a:t> or it falls back to </a:t>
            </a:r>
            <a:r>
              <a:rPr sz="1350" b="0" i="0">
                <a:solidFill>
                  <a:srgbClr val="202020"/>
                </a:solidFill>
                <a:latin typeface="Consolas"/>
              </a:rPr>
              <a:t>warn</a:t>
            </a:r>
            <a:r>
              <a:rPr sz="1400" b="0" i="0">
                <a:solidFill>
                  <a:srgbClr val="202020"/>
                </a:solidFill>
                <a:latin typeface="Calibri"/>
              </a:rPr>
              <a:t>. For large orgs the durable fix for oversized ACLs is </a:t>
            </a:r>
            <a:r>
              <a:rPr sz="1350" b="0" i="0">
                <a:solidFill>
                  <a:srgbClr val="202020"/>
                </a:solidFill>
                <a:latin typeface="Consolas"/>
              </a:rPr>
              <a:t>USE_GROUP_ACL=true</a:t>
            </a:r>
            <a:r>
              <a:rPr sz="1400" b="0" i="0">
                <a:solidFill>
                  <a:srgbClr val="202020"/>
                </a:solidFill>
                <a:latin typeface="Calibri"/>
              </a:rPr>
              <a:t> (the default), whose group-reference ACLs stay small instead of expanding to thousands of per-user ACEs.</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290</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12.6 Secret rotation (summary)</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Four credentials exist: the Entra client secret, the Graph certificate, the Salesforce Connected App consumer secret, and (if used) the Key Vault copies. All rotations are zero-downtime — add new, point config at new, restart the service (it resumes from the checkpoint), retire old. The Salesforce consumer secret regenerates in place (no dual window), so rotate it off-peak. Full runbooks are in SECURITY.md; the Common Guide §5 covers the shared rotation model.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291</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Salesforce Connector</a:t>
            </a:r>
          </a:p>
          <a:p>
            <a:r>
              <a:rPr sz="3000" b="1" i="0">
                <a:solidFill>
                  <a:srgbClr val="1F3864"/>
                </a:solidFill>
                <a:latin typeface="Calibri"/>
              </a:rPr>
              <a:t>13. Glossary — Salesforce-specific terms</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292</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SOQL</a:t>
            </a:r>
          </a:p>
          <a:p>
            <a:pPr>
              <a:spcAft>
                <a:spcPts val="0"/>
              </a:spcAft>
            </a:pPr>
            <a:r>
              <a:rPr sz="1000" b="1" i="0">
                <a:solidFill>
                  <a:srgbClr val="595959"/>
                </a:solidFill>
                <a:latin typeface="Calibri"/>
              </a:rPr>
              <a:t>What it is  </a:t>
            </a:r>
            <a:r>
              <a:rPr sz="1100" b="0" i="0">
                <a:solidFill>
                  <a:srgbClr val="202020"/>
                </a:solidFill>
                <a:latin typeface="Calibri"/>
              </a:rPr>
              <a:t>Salesforce Object Query Language — the SQL-like language the connector uses to read records, e.g. SELECT Id, Name FROM Account.</a:t>
            </a:r>
          </a:p>
          <a:p>
            <a:pPr>
              <a:spcAft>
                <a:spcPts val="200"/>
              </a:spcAft>
            </a:pPr>
            <a:r>
              <a:rPr sz="1000" b="1" i="0">
                <a:solidFill>
                  <a:srgbClr val="595959"/>
                </a:solidFill>
                <a:latin typeface="Calibri"/>
              </a:rPr>
              <a:t>Why it matters  </a:t>
            </a:r>
            <a:r>
              <a:rPr sz="1100" b="0" i="0">
                <a:solidFill>
                  <a:srgbClr val="202020"/>
                </a:solidFill>
                <a:latin typeface="Calibri"/>
              </a:rPr>
              <a:t>Every fetch and every sharing-model query is SOQL; log lines quote the exact query, so recognising it helps you diagnose fetch problems.</a:t>
            </a:r>
          </a:p>
          <a:p>
            <a:pPr>
              <a:spcBef>
                <a:spcPts val="600"/>
              </a:spcBef>
              <a:spcAft>
                <a:spcPts val="100"/>
              </a:spcAft>
            </a:pPr>
            <a:r>
              <a:rPr sz="1400" b="1" i="0">
                <a:solidFill>
                  <a:srgbClr val="1F3864"/>
                </a:solidFill>
                <a:latin typeface="Calibri"/>
              </a:rPr>
              <a:t>Org-Wide Defaults (OWD)</a:t>
            </a:r>
          </a:p>
          <a:p>
            <a:pPr>
              <a:spcAft>
                <a:spcPts val="0"/>
              </a:spcAft>
            </a:pPr>
            <a:r>
              <a:rPr sz="1000" b="1" i="0">
                <a:solidFill>
                  <a:srgbClr val="595959"/>
                </a:solidFill>
                <a:latin typeface="Calibri"/>
              </a:rPr>
              <a:t>What it is  </a:t>
            </a:r>
            <a:r>
              <a:rPr sz="1100" b="0" i="0">
                <a:solidFill>
                  <a:srgbClr val="202020"/>
                </a:solidFill>
                <a:latin typeface="Calibri"/>
              </a:rPr>
              <a:t>The baseline record visibility per object (Private, Public Read, Public Read/Write, ControlledByParent, …), e.g. DefaultAccountAccess.</a:t>
            </a:r>
          </a:p>
          <a:p>
            <a:pPr>
              <a:spcAft>
                <a:spcPts val="200"/>
              </a:spcAft>
            </a:pPr>
            <a:r>
              <a:rPr sz="1000" b="1" i="0">
                <a:solidFill>
                  <a:srgbClr val="595959"/>
                </a:solidFill>
                <a:latin typeface="Calibri"/>
              </a:rPr>
              <a:t>Why it matters  </a:t>
            </a:r>
            <a:r>
              <a:rPr sz="1100" b="0" i="0">
                <a:solidFill>
                  <a:srgbClr val="202020"/>
                </a:solidFill>
                <a:latin typeface="Calibri"/>
              </a:rPr>
              <a:t>The OWD is the first decision the ACL engine makes: public means everyone; private means build a per-record ACL. A wrong OWD (or override) changes who sees everything of that type.</a:t>
            </a:r>
          </a:p>
          <a:p>
            <a:pPr>
              <a:spcBef>
                <a:spcPts val="600"/>
              </a:spcBef>
              <a:spcAft>
                <a:spcPts val="100"/>
              </a:spcAft>
            </a:pPr>
            <a:r>
              <a:rPr sz="1400" b="1" i="0">
                <a:solidFill>
                  <a:srgbClr val="1F3864"/>
                </a:solidFill>
                <a:latin typeface="Calibri"/>
              </a:rPr>
              <a:t>Role hierarchy / Grant Access Using Hierarchies</a:t>
            </a:r>
          </a:p>
          <a:p>
            <a:pPr>
              <a:spcAft>
                <a:spcPts val="0"/>
              </a:spcAft>
            </a:pPr>
            <a:r>
              <a:rPr sz="1000" b="1" i="0">
                <a:solidFill>
                  <a:srgbClr val="595959"/>
                </a:solidFill>
                <a:latin typeface="Calibri"/>
              </a:rPr>
              <a:t>What it is  </a:t>
            </a:r>
            <a:r>
              <a:rPr sz="1100" b="0" i="0">
                <a:solidFill>
                  <a:srgbClr val="202020"/>
                </a:solidFill>
                <a:latin typeface="Calibri"/>
              </a:rPr>
              <a:t>Salesforce's management tree; by default a manager inherits access to records owned by people below them.</a:t>
            </a:r>
          </a:p>
          <a:p>
            <a:pPr>
              <a:spcAft>
                <a:spcPts val="200"/>
              </a:spcAft>
            </a:pPr>
            <a:r>
              <a:rPr sz="1000" b="1" i="0">
                <a:solidFill>
                  <a:srgbClr val="595959"/>
                </a:solidFill>
                <a:latin typeface="Calibri"/>
              </a:rPr>
              <a:t>Why it matters  </a:t>
            </a:r>
            <a:r>
              <a:rPr sz="1100" b="0" i="0">
                <a:solidFill>
                  <a:srgbClr val="202020"/>
                </a:solidFill>
                <a:latin typeface="Calibri"/>
              </a:rPr>
              <a:t>The engine grants records to users in roles above the owner, so Copilot mirrors upward sharing. Missing role data under-grants managers.</a:t>
            </a:r>
          </a:p>
          <a:p>
            <a:pPr>
              <a:spcBef>
                <a:spcPts val="600"/>
              </a:spcBef>
              <a:spcAft>
                <a:spcPts val="100"/>
              </a:spcAft>
            </a:pPr>
            <a:r>
              <a:rPr sz="1400" b="1" i="0">
                <a:solidFill>
                  <a:srgbClr val="1F3864"/>
                </a:solidFill>
                <a:latin typeface="Calibri"/>
              </a:rPr>
              <a:t>Sharing rule / manual share</a:t>
            </a:r>
          </a:p>
          <a:p>
            <a:pPr>
              <a:spcAft>
                <a:spcPts val="0"/>
              </a:spcAft>
            </a:pPr>
            <a:r>
              <a:rPr sz="1000" b="1" i="0">
                <a:solidFill>
                  <a:srgbClr val="595959"/>
                </a:solidFill>
                <a:latin typeface="Calibri"/>
              </a:rPr>
              <a:t>What it is  </a:t>
            </a:r>
            <a:r>
              <a:rPr sz="1100" b="0" i="0">
                <a:solidFill>
                  <a:srgbClr val="202020"/>
                </a:solidFill>
                <a:latin typeface="Calibri"/>
              </a:rPr>
              <a:t>Configured or ad-hoc rules that widen access to specific users or groups beyond the owner, recorded in each object's share table (AccountShare, etc.).</a:t>
            </a:r>
          </a:p>
          <a:p>
            <a:pPr>
              <a:spcAft>
                <a:spcPts val="200"/>
              </a:spcAft>
            </a:pPr>
            <a:r>
              <a:rPr sz="1000" b="1" i="0">
                <a:solidFill>
                  <a:srgbClr val="595959"/>
                </a:solidFill>
                <a:latin typeface="Calibri"/>
              </a:rPr>
              <a:t>Why it matters  </a:t>
            </a:r>
            <a:r>
              <a:rPr sz="1100" b="0" i="0">
                <a:solidFill>
                  <a:srgbClr val="202020"/>
                </a:solidFill>
                <a:latin typeface="Calibri"/>
              </a:rPr>
              <a:t>These are the extra grantees the engine reads and expands; they are why two records of the same object can have different audiences.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293</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Public group</a:t>
            </a:r>
          </a:p>
          <a:p>
            <a:pPr>
              <a:spcAft>
                <a:spcPts val="0"/>
              </a:spcAft>
            </a:pPr>
            <a:r>
              <a:rPr sz="1000" b="1" i="0">
                <a:solidFill>
                  <a:srgbClr val="595959"/>
                </a:solidFill>
                <a:latin typeface="Calibri"/>
              </a:rPr>
              <a:t>What it is  </a:t>
            </a:r>
            <a:r>
              <a:rPr sz="1100" b="0" i="0">
                <a:solidFill>
                  <a:srgbClr val="202020"/>
                </a:solidFill>
                <a:latin typeface="Calibri"/>
              </a:rPr>
              <a:t>A named, reusable collection of users, roles and other groups used in sharing.</a:t>
            </a:r>
          </a:p>
          <a:p>
            <a:pPr>
              <a:spcAft>
                <a:spcPts val="200"/>
              </a:spcAft>
            </a:pPr>
            <a:r>
              <a:rPr sz="1000" b="1" i="0">
                <a:solidFill>
                  <a:srgbClr val="595959"/>
                </a:solidFill>
                <a:latin typeface="Calibri"/>
              </a:rPr>
              <a:t>Why it matters  </a:t>
            </a:r>
            <a:r>
              <a:rPr sz="1100" b="0" i="0">
                <a:solidFill>
                  <a:srgbClr val="202020"/>
                </a:solidFill>
                <a:latin typeface="Calibri"/>
              </a:rPr>
              <a:t>A share to a group means everyone in it; the engine expands groups recursively to their member users.</a:t>
            </a:r>
          </a:p>
          <a:p>
            <a:pPr>
              <a:spcBef>
                <a:spcPts val="600"/>
              </a:spcBef>
              <a:spcAft>
                <a:spcPts val="100"/>
              </a:spcAft>
            </a:pPr>
            <a:r>
              <a:rPr sz="1400" b="1" i="0">
                <a:solidFill>
                  <a:srgbClr val="1F3864"/>
                </a:solidFill>
                <a:latin typeface="Calibri"/>
              </a:rPr>
              <a:t>Queue</a:t>
            </a:r>
          </a:p>
          <a:p>
            <a:pPr>
              <a:spcAft>
                <a:spcPts val="0"/>
              </a:spcAft>
            </a:pPr>
            <a:r>
              <a:rPr sz="1000" b="1" i="0">
                <a:solidFill>
                  <a:srgbClr val="595959"/>
                </a:solidFill>
                <a:latin typeface="Calibri"/>
              </a:rPr>
              <a:t>What it is  </a:t>
            </a:r>
            <a:r>
              <a:rPr sz="1100" b="0" i="0">
                <a:solidFill>
                  <a:srgbClr val="202020"/>
                </a:solidFill>
                <a:latin typeface="Calibri"/>
              </a:rPr>
              <a:t>A shared holding area for records (commonly Cases and Leads) that a team works from; implemented as a Group.</a:t>
            </a:r>
          </a:p>
          <a:p>
            <a:pPr>
              <a:spcAft>
                <a:spcPts val="200"/>
              </a:spcAft>
            </a:pPr>
            <a:r>
              <a:rPr sz="1000" b="1" i="0">
                <a:solidFill>
                  <a:srgbClr val="595959"/>
                </a:solidFill>
                <a:latin typeface="Calibri"/>
              </a:rPr>
              <a:t>Why it matters  </a:t>
            </a:r>
            <a:r>
              <a:rPr sz="1100" b="0" i="0">
                <a:solidFill>
                  <a:srgbClr val="202020"/>
                </a:solidFill>
                <a:latin typeface="Calibri"/>
              </a:rPr>
              <a:t>Members of a queue get access to its records; the engine expands queues like groups, so queue membership flows into Copilot trimming.</a:t>
            </a:r>
          </a:p>
          <a:p>
            <a:pPr>
              <a:spcBef>
                <a:spcPts val="600"/>
              </a:spcBef>
              <a:spcAft>
                <a:spcPts val="100"/>
              </a:spcAft>
            </a:pPr>
            <a:r>
              <a:rPr sz="1400" b="1" i="0">
                <a:solidFill>
                  <a:srgbClr val="1F3864"/>
                </a:solidFill>
                <a:latin typeface="Calibri"/>
              </a:rPr>
              <a:t>ControlledByParent</a:t>
            </a:r>
          </a:p>
          <a:p>
            <a:pPr>
              <a:spcAft>
                <a:spcPts val="0"/>
              </a:spcAft>
            </a:pPr>
            <a:r>
              <a:rPr sz="1000" b="1" i="0">
                <a:solidFill>
                  <a:srgbClr val="595959"/>
                </a:solidFill>
                <a:latin typeface="Calibri"/>
              </a:rPr>
              <a:t>What it is  </a:t>
            </a:r>
            <a:r>
              <a:rPr sz="1100" b="0" i="0">
                <a:solidFill>
                  <a:srgbClr val="202020"/>
                </a:solidFill>
                <a:latin typeface="Calibri"/>
              </a:rPr>
              <a:t>An OWD where a record's access is inherited from a controlling parent record (typically a master-detail relationship).</a:t>
            </a:r>
          </a:p>
          <a:p>
            <a:pPr>
              <a:spcAft>
                <a:spcPts val="200"/>
              </a:spcAft>
            </a:pPr>
            <a:r>
              <a:rPr sz="1000" b="1" i="0">
                <a:solidFill>
                  <a:srgbClr val="595959"/>
                </a:solidFill>
                <a:latin typeface="Calibri"/>
              </a:rPr>
              <a:t>Why it matters  </a:t>
            </a:r>
            <a:r>
              <a:rPr sz="1100" b="0" i="0">
                <a:solidFill>
                  <a:srgbClr val="202020"/>
                </a:solidFill>
                <a:latin typeface="Calibri"/>
              </a:rPr>
              <a:t>The engine follows the parent chain (up to ACL_MAX_PARENT_DEPTH) and reuses the parent's ACL; a missing parent mapping in schema.json causes a fallback warning.</a:t>
            </a:r>
          </a:p>
          <a:p>
            <a:pPr>
              <a:spcBef>
                <a:spcPts val="600"/>
              </a:spcBef>
              <a:spcAft>
                <a:spcPts val="100"/>
              </a:spcAft>
            </a:pPr>
            <a:r>
              <a:rPr sz="1400" b="1" i="0">
                <a:solidFill>
                  <a:srgbClr val="1F3864"/>
                </a:solidFill>
                <a:latin typeface="Calibri"/>
              </a:rPr>
              <a:t>Territory (Territory2 / Enterprise Territory Management)</a:t>
            </a:r>
          </a:p>
          <a:p>
            <a:pPr>
              <a:spcAft>
                <a:spcPts val="0"/>
              </a:spcAft>
            </a:pPr>
            <a:r>
              <a:rPr sz="1000" b="1" i="0">
                <a:solidFill>
                  <a:srgbClr val="595959"/>
                </a:solidFill>
                <a:latin typeface="Calibri"/>
              </a:rPr>
              <a:t>What it is  </a:t>
            </a:r>
            <a:r>
              <a:rPr sz="1100" b="0" i="0">
                <a:solidFill>
                  <a:srgbClr val="202020"/>
                </a:solidFill>
                <a:latin typeface="Calibri"/>
              </a:rPr>
              <a:t>An optional model that assigns users to sales territories and links accounts/opportunities to them.</a:t>
            </a:r>
          </a:p>
          <a:p>
            <a:pPr>
              <a:spcAft>
                <a:spcPts val="200"/>
              </a:spcAft>
            </a:pPr>
            <a:r>
              <a:rPr sz="1000" b="1" i="0">
                <a:solidFill>
                  <a:srgbClr val="595959"/>
                </a:solidFill>
                <a:latin typeface="Calibri"/>
              </a:rPr>
              <a:t>Why it matters  </a:t>
            </a:r>
            <a:r>
              <a:rPr sz="1100" b="0" i="0">
                <a:solidFill>
                  <a:srgbClr val="202020"/>
                </a:solidFill>
                <a:latin typeface="Calibri"/>
              </a:rPr>
              <a:t>For Account and Opportunity the engine adds users from the record's territory and its ancestors. If Territory Management is off, the harmless warning simply means no territory grants.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294</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Connected App</a:t>
            </a:r>
          </a:p>
          <a:p>
            <a:pPr>
              <a:spcAft>
                <a:spcPts val="0"/>
              </a:spcAft>
            </a:pPr>
            <a:r>
              <a:rPr sz="1000" b="1" i="0">
                <a:solidFill>
                  <a:srgbClr val="595959"/>
                </a:solidFill>
                <a:latin typeface="Calibri"/>
              </a:rPr>
              <a:t>What it is  </a:t>
            </a:r>
            <a:r>
              <a:rPr sz="1100" b="0" i="0">
                <a:solidFill>
                  <a:srgbClr val="202020"/>
                </a:solidFill>
                <a:latin typeface="Calibri"/>
              </a:rPr>
              <a:t>The Salesforce app registration the connector authenticates against, holding the OAuth consumer key and secret.</a:t>
            </a:r>
          </a:p>
          <a:p>
            <a:pPr>
              <a:spcAft>
                <a:spcPts val="200"/>
              </a:spcAft>
            </a:pPr>
            <a:r>
              <a:rPr sz="1000" b="1" i="0">
                <a:solidFill>
                  <a:srgbClr val="595959"/>
                </a:solidFill>
                <a:latin typeface="Calibri"/>
              </a:rPr>
              <a:t>Why it matters  </a:t>
            </a:r>
            <a:r>
              <a:rPr sz="1100" b="0" i="0">
                <a:solidFill>
                  <a:srgbClr val="202020"/>
                </a:solidFill>
                <a:latin typeface="Calibri"/>
              </a:rPr>
              <a:t>It defines the client-credentials flow and the run-as integration user; its consumer secret is one of the four credentials you rotate.</a:t>
            </a:r>
          </a:p>
          <a:p>
            <a:pPr>
              <a:spcBef>
                <a:spcPts val="600"/>
              </a:spcBef>
              <a:spcAft>
                <a:spcPts val="100"/>
              </a:spcAft>
            </a:pPr>
            <a:r>
              <a:rPr sz="1400" b="1" i="0">
                <a:solidFill>
                  <a:srgbClr val="1F3864"/>
                </a:solidFill>
                <a:latin typeface="Calibri"/>
              </a:rPr>
              <a:t>Consumer key / consumer secret</a:t>
            </a:r>
          </a:p>
          <a:p>
            <a:pPr>
              <a:spcAft>
                <a:spcPts val="0"/>
              </a:spcAft>
            </a:pPr>
            <a:r>
              <a:rPr sz="1000" b="1" i="0">
                <a:solidFill>
                  <a:srgbClr val="595959"/>
                </a:solidFill>
                <a:latin typeface="Calibri"/>
              </a:rPr>
              <a:t>What it is  </a:t>
            </a:r>
            <a:r>
              <a:rPr sz="1100" b="0" i="0">
                <a:solidFill>
                  <a:srgbClr val="202020"/>
                </a:solidFill>
                <a:latin typeface="Calibri"/>
              </a:rPr>
              <a:t>The OAuth client id (key) and client secret of the Connected App.</a:t>
            </a:r>
          </a:p>
          <a:p>
            <a:pPr>
              <a:spcAft>
                <a:spcPts val="200"/>
              </a:spcAft>
            </a:pPr>
            <a:r>
              <a:rPr sz="1000" b="1" i="0">
                <a:solidFill>
                  <a:srgbClr val="595959"/>
                </a:solidFill>
                <a:latin typeface="Calibri"/>
              </a:rPr>
              <a:t>Why it matters  </a:t>
            </a:r>
            <a:r>
              <a:rPr sz="1100" b="0" i="0">
                <a:solidFill>
                  <a:srgbClr val="202020"/>
                </a:solidFill>
                <a:latin typeface="Calibri"/>
              </a:rPr>
              <a:t>The connector presents these to get a Salesforce access token; the secret must live only in the secret env file or Key Vault.</a:t>
            </a:r>
          </a:p>
          <a:p>
            <a:pPr>
              <a:spcBef>
                <a:spcPts val="600"/>
              </a:spcBef>
              <a:spcAft>
                <a:spcPts val="100"/>
              </a:spcAft>
            </a:pPr>
            <a:r>
              <a:rPr sz="1400" b="1" i="0">
                <a:solidFill>
                  <a:srgbClr val="1F3864"/>
                </a:solidFill>
                <a:latin typeface="Calibri"/>
              </a:rPr>
              <a:t>Client-credentials flow / run-as user</a:t>
            </a:r>
          </a:p>
          <a:p>
            <a:pPr>
              <a:spcAft>
                <a:spcPts val="0"/>
              </a:spcAft>
            </a:pPr>
            <a:r>
              <a:rPr sz="1000" b="1" i="0">
                <a:solidFill>
                  <a:srgbClr val="595959"/>
                </a:solidFill>
                <a:latin typeface="Calibri"/>
              </a:rPr>
              <a:t>What it is  </a:t>
            </a:r>
            <a:r>
              <a:rPr sz="1100" b="0" i="0">
                <a:solidFill>
                  <a:srgbClr val="202020"/>
                </a:solidFill>
                <a:latin typeface="Calibri"/>
              </a:rPr>
              <a:t>The OAuth grant used (no interactive login); the Connected App executes as a designated integration user.</a:t>
            </a:r>
          </a:p>
          <a:p>
            <a:pPr>
              <a:spcAft>
                <a:spcPts val="200"/>
              </a:spcAft>
            </a:pPr>
            <a:r>
              <a:rPr sz="1000" b="1" i="0">
                <a:solidFill>
                  <a:srgbClr val="595959"/>
                </a:solidFill>
                <a:latin typeface="Calibri"/>
              </a:rPr>
              <a:t>Why it matters  </a:t>
            </a:r>
            <a:r>
              <a:rPr sz="1100" b="0" i="0">
                <a:solidFill>
                  <a:srgbClr val="202020"/>
                </a:solidFill>
                <a:latin typeface="Calibri"/>
              </a:rPr>
              <a:t>Everything the connector can read equals what the run-as user can read, so this user should be read-only and correctly scoped — over-permissioning it broadens what gets indexed.</a:t>
            </a:r>
          </a:p>
          <a:p>
            <a:pPr>
              <a:spcBef>
                <a:spcPts val="600"/>
              </a:spcBef>
              <a:spcAft>
                <a:spcPts val="100"/>
              </a:spcAft>
            </a:pPr>
            <a:r>
              <a:rPr sz="1400" b="1" i="0">
                <a:solidFill>
                  <a:srgbClr val="1F3864"/>
                </a:solidFill>
                <a:latin typeface="Calibri"/>
              </a:rPr>
              <a:t>API-enabled user</a:t>
            </a:r>
          </a:p>
          <a:p>
            <a:pPr>
              <a:spcAft>
                <a:spcPts val="0"/>
              </a:spcAft>
            </a:pPr>
            <a:r>
              <a:rPr sz="1000" b="1" i="0">
                <a:solidFill>
                  <a:srgbClr val="595959"/>
                </a:solidFill>
                <a:latin typeface="Calibri"/>
              </a:rPr>
              <a:t>What it is  </a:t>
            </a:r>
            <a:r>
              <a:rPr sz="1100" b="0" i="0">
                <a:solidFill>
                  <a:srgbClr val="202020"/>
                </a:solidFill>
                <a:latin typeface="Calibri"/>
              </a:rPr>
              <a:t>A Salesforce user whose profile permits API access.</a:t>
            </a:r>
          </a:p>
          <a:p>
            <a:pPr>
              <a:spcAft>
                <a:spcPts val="200"/>
              </a:spcAft>
            </a:pPr>
            <a:r>
              <a:rPr sz="1000" b="1" i="0">
                <a:solidFill>
                  <a:srgbClr val="595959"/>
                </a:solidFill>
                <a:latin typeface="Calibri"/>
              </a:rPr>
              <a:t>Why it matters  </a:t>
            </a:r>
            <a:r>
              <a:rPr sz="1100" b="0" i="0">
                <a:solidFill>
                  <a:srgbClr val="202020"/>
                </a:solidFill>
                <a:latin typeface="Calibri"/>
              </a:rPr>
              <a:t>The integration/run-as user must be API-enabled or authentication and queries fail.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295</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FederationIdentifier</a:t>
            </a:r>
          </a:p>
          <a:p>
            <a:pPr>
              <a:spcAft>
                <a:spcPts val="0"/>
              </a:spcAft>
            </a:pPr>
            <a:r>
              <a:rPr sz="1000" b="1" i="0">
                <a:solidFill>
                  <a:srgbClr val="595959"/>
                </a:solidFill>
                <a:latin typeface="Calibri"/>
              </a:rPr>
              <a:t>What it is  </a:t>
            </a:r>
            <a:r>
              <a:rPr sz="1100" b="0" i="0">
                <a:solidFill>
                  <a:srgbClr val="202020"/>
                </a:solidFill>
                <a:latin typeface="Calibri"/>
              </a:rPr>
              <a:t>The SSO identifier on a Salesforce user, ideally the same value used in Microsoft Entra.</a:t>
            </a:r>
          </a:p>
          <a:p>
            <a:pPr>
              <a:spcAft>
                <a:spcPts val="200"/>
              </a:spcAft>
            </a:pPr>
            <a:r>
              <a:rPr sz="1000" b="1" i="0">
                <a:solidFill>
                  <a:srgbClr val="595959"/>
                </a:solidFill>
                <a:latin typeface="Calibri"/>
              </a:rPr>
              <a:t>Why it matters  </a:t>
            </a:r>
            <a:r>
              <a:rPr sz="1100" b="0" i="0">
                <a:solidFill>
                  <a:srgbClr val="202020"/>
                </a:solidFill>
                <a:latin typeface="Calibri"/>
              </a:rPr>
              <a:t>It is the first and most reliable key for matching a Salesforce user to an Entra identity when building ACLs; a good FederationIdentifier means accurate trimming.</a:t>
            </a:r>
          </a:p>
          <a:p>
            <a:pPr>
              <a:spcBef>
                <a:spcPts val="600"/>
              </a:spcBef>
              <a:spcAft>
                <a:spcPts val="100"/>
              </a:spcAft>
            </a:pPr>
            <a:r>
              <a:rPr sz="1400" b="1" i="0">
                <a:solidFill>
                  <a:srgbClr val="1F3864"/>
                </a:solidFill>
                <a:latin typeface="Calibri"/>
              </a:rPr>
              <a:t>Frozen user</a:t>
            </a:r>
          </a:p>
          <a:p>
            <a:pPr>
              <a:spcAft>
                <a:spcPts val="0"/>
              </a:spcAft>
            </a:pPr>
            <a:r>
              <a:rPr sz="1000" b="1" i="0">
                <a:solidFill>
                  <a:srgbClr val="595959"/>
                </a:solidFill>
                <a:latin typeface="Calibri"/>
              </a:rPr>
              <a:t>What it is  </a:t>
            </a:r>
            <a:r>
              <a:rPr sz="1100" b="0" i="0">
                <a:solidFill>
                  <a:srgbClr val="202020"/>
                </a:solidFill>
                <a:latin typeface="Calibri"/>
              </a:rPr>
              <a:t>A Salesforce user account that has been frozen (temporarily disabled).</a:t>
            </a:r>
          </a:p>
          <a:p>
            <a:pPr>
              <a:spcAft>
                <a:spcPts val="200"/>
              </a:spcAft>
            </a:pPr>
            <a:r>
              <a:rPr sz="1000" b="1" i="0">
                <a:solidFill>
                  <a:srgbClr val="595959"/>
                </a:solidFill>
                <a:latin typeface="Calibri"/>
              </a:rPr>
              <a:t>Why it matters  </a:t>
            </a:r>
            <a:r>
              <a:rPr sz="1100" b="0" i="0">
                <a:solidFill>
                  <a:srgbClr val="202020"/>
                </a:solidFill>
                <a:latin typeface="Calibri"/>
              </a:rPr>
              <a:t>Frozen users are dropped from ACLs, matching Salesforce behaviour, so they do not see records in Copilot.</a:t>
            </a:r>
          </a:p>
          <a:p>
            <a:pPr>
              <a:spcBef>
                <a:spcPts val="600"/>
              </a:spcBef>
              <a:spcAft>
                <a:spcPts val="100"/>
              </a:spcAft>
            </a:pPr>
            <a:r>
              <a:rPr sz="1400" b="1" i="0">
                <a:solidFill>
                  <a:srgbClr val="1F3864"/>
                </a:solidFill>
                <a:latin typeface="Calibri"/>
              </a:rPr>
              <a:t>Standard vs custom object/field</a:t>
            </a:r>
          </a:p>
          <a:p>
            <a:pPr>
              <a:spcAft>
                <a:spcPts val="0"/>
              </a:spcAft>
            </a:pPr>
            <a:r>
              <a:rPr sz="1000" b="1" i="0">
                <a:solidFill>
                  <a:srgbClr val="595959"/>
                </a:solidFill>
                <a:latin typeface="Calibri"/>
              </a:rPr>
              <a:t>What it is  </a:t>
            </a:r>
            <a:r>
              <a:rPr sz="1100" b="0" i="0">
                <a:solidFill>
                  <a:srgbClr val="202020"/>
                </a:solidFill>
                <a:latin typeface="Calibri"/>
              </a:rPr>
              <a:t>Standard objects/fields ship with Salesforce; custom ones are added per org and end in __c (e.g. PotentialLiability__c).</a:t>
            </a:r>
          </a:p>
          <a:p>
            <a:pPr>
              <a:spcAft>
                <a:spcPts val="200"/>
              </a:spcAft>
            </a:pPr>
            <a:r>
              <a:rPr sz="1000" b="1" i="0">
                <a:solidFill>
                  <a:srgbClr val="595959"/>
                </a:solidFill>
                <a:latin typeface="Calibri"/>
              </a:rPr>
              <a:t>Why it matters  </a:t>
            </a:r>
            <a:r>
              <a:rPr sz="1100" b="0" i="0">
                <a:solidFill>
                  <a:srgbClr val="202020"/>
                </a:solidFill>
                <a:latin typeface="Calibri"/>
              </a:rPr>
              <a:t>The schema can index both; confirm with the Salesforce admin which custom objects/fields are in scope, and expect INVALID_FIELD auto-drops for fields not present in this org.</a:t>
            </a:r>
          </a:p>
          <a:p>
            <a:pPr>
              <a:spcBef>
                <a:spcPts val="600"/>
              </a:spcBef>
              <a:spcAft>
                <a:spcPts val="100"/>
              </a:spcAft>
            </a:pPr>
            <a:r>
              <a:rPr sz="1400" b="1" i="0">
                <a:solidFill>
                  <a:srgbClr val="1F3864"/>
                </a:solidFill>
                <a:latin typeface="Calibri"/>
              </a:rPr>
              <a:t>queryAll / IsDeleted / Recycle Bin</a:t>
            </a:r>
          </a:p>
          <a:p>
            <a:pPr>
              <a:spcAft>
                <a:spcPts val="0"/>
              </a:spcAft>
            </a:pPr>
            <a:r>
              <a:rPr sz="1000" b="1" i="0">
                <a:solidFill>
                  <a:srgbClr val="595959"/>
                </a:solidFill>
                <a:latin typeface="Calibri"/>
              </a:rPr>
              <a:t>What it is  </a:t>
            </a:r>
            <a:r>
              <a:rPr sz="1100" b="0" i="0">
                <a:solidFill>
                  <a:srgbClr val="202020"/>
                </a:solidFill>
                <a:latin typeface="Calibri"/>
              </a:rPr>
              <a:t>The Salesforce endpoint and flag that surface recently deleted records, retained in the Recycle Bin for ~15 days.</a:t>
            </a:r>
          </a:p>
          <a:p>
            <a:pPr>
              <a:spcAft>
                <a:spcPts val="200"/>
              </a:spcAft>
            </a:pPr>
            <a:r>
              <a:rPr sz="1000" b="1" i="0">
                <a:solidFill>
                  <a:srgbClr val="595959"/>
                </a:solidFill>
                <a:latin typeface="Calibri"/>
              </a:rPr>
              <a:t>Why it matters  </a:t>
            </a:r>
            <a:r>
              <a:rPr sz="1100" b="0" i="0">
                <a:solidFill>
                  <a:srgbClr val="202020"/>
                </a:solidFill>
                <a:latin typeface="Calibri"/>
              </a:rPr>
              <a:t>Because this only covers a short window, the connector adds its own deletion existence-sweep (§9.3) to catch older or hard deletions.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296</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Sovereign cloud</a:t>
            </a:r>
          </a:p>
          <a:p>
            <a:pPr>
              <a:spcAft>
                <a:spcPts val="0"/>
              </a:spcAft>
            </a:pPr>
            <a:r>
              <a:rPr sz="1000" b="1" i="0">
                <a:solidFill>
                  <a:srgbClr val="595959"/>
                </a:solidFill>
                <a:latin typeface="Calibri"/>
              </a:rPr>
              <a:t>What it is  </a:t>
            </a:r>
            <a:r>
              <a:rPr sz="1100" b="0" i="0">
                <a:solidFill>
                  <a:srgbClr val="202020"/>
                </a:solidFill>
                <a:latin typeface="Calibri"/>
              </a:rPr>
              <a:t>A Microsoft national/government cloud with its own Graph endpoint (e.g. graph.microsoft.us).</a:t>
            </a:r>
          </a:p>
          <a:p>
            <a:pPr>
              <a:spcAft>
                <a:spcPts val="200"/>
              </a:spcAft>
            </a:pPr>
            <a:r>
              <a:rPr sz="1000" b="1" i="0">
                <a:solidFill>
                  <a:srgbClr val="595959"/>
                </a:solidFill>
                <a:latin typeface="Calibri"/>
              </a:rPr>
              <a:t>Why it matters  </a:t>
            </a:r>
            <a:r>
              <a:rPr sz="1100" b="0" i="0">
                <a:solidFill>
                  <a:srgbClr val="202020"/>
                </a:solidFill>
                <a:latin typeface="Calibri"/>
              </a:rPr>
              <a:t>Set GRAPH_BASE_URL / GRAPH_SCOPE / AZURE_AUTHORITY_HOST for these tenants so the connector writes to the correct cloud (see the Common Guide for shared endpoint details).</a:t>
            </a:r>
          </a:p>
          <a:p>
            <a:pPr>
              <a:spcBef>
                <a:spcPts val="600"/>
              </a:spcBef>
              <a:spcAft>
                <a:spcPts val="100"/>
              </a:spcAft>
            </a:pPr>
            <a:r>
              <a:rPr sz="1400" b="1" i="0">
                <a:solidFill>
                  <a:srgbClr val="1F3864"/>
                </a:solidFill>
                <a:latin typeface="Calibri"/>
              </a:rPr>
              <a:t>Dead-letter redaction (DEADLETTER_PAYLOAD_MODE)</a:t>
            </a:r>
          </a:p>
          <a:p>
            <a:pPr>
              <a:spcAft>
                <a:spcPts val="0"/>
              </a:spcAft>
            </a:pPr>
            <a:r>
              <a:rPr sz="1000" b="1" i="0">
                <a:solidFill>
                  <a:srgbClr val="595959"/>
                </a:solidFill>
                <a:latin typeface="Calibri"/>
              </a:rPr>
              <a:t>What it is  </a:t>
            </a:r>
            <a:r>
              <a:rPr sz="1100" b="0" i="0">
                <a:solidFill>
                  <a:srgbClr val="202020"/>
                </a:solidFill>
                <a:latin typeface="Calibri"/>
              </a:rPr>
              <a:t>The default dead-letter mode (redacted) strips item property values and content before a failed record is written to disk, keeping only ids, object type, error text, ACLs, field names and sha256 hashes of the removed values; full instead keeps the raw request/response payloads.</a:t>
            </a:r>
          </a:p>
          <a:p>
            <a:pPr>
              <a:spcAft>
                <a:spcPts val="200"/>
              </a:spcAft>
            </a:pPr>
            <a:r>
              <a:rPr sz="1000" b="1" i="0">
                <a:solidFill>
                  <a:srgbClr val="595959"/>
                </a:solidFill>
                <a:latin typeface="Calibri"/>
              </a:rPr>
              <a:t>Why it matters  </a:t>
            </a:r>
            <a:r>
              <a:rPr sz="1100" b="0" i="0">
                <a:solidFill>
                  <a:srgbClr val="202020"/>
                </a:solidFill>
                <a:latin typeface="Calibri"/>
              </a:rPr>
              <a:t>Raw CRM field values and PII no longer sit at rest in logs\failed_records_*.jsonl / dbo.DeadLetter by default. retry-failed re-fetches items from Salesforce, so redaction costs nothing at retry time, and an unrecognised value fails config-load naming the setting — a typo can never silently leave data in the clear.</a:t>
            </a:r>
          </a:p>
          <a:p>
            <a:pPr>
              <a:spcBef>
                <a:spcPts val="600"/>
              </a:spcBef>
              <a:spcAft>
                <a:spcPts val="100"/>
              </a:spcAft>
            </a:pPr>
            <a:r>
              <a:rPr sz="1400" b="1" i="0">
                <a:solidFill>
                  <a:srgbClr val="1F3864"/>
                </a:solidFill>
                <a:latin typeface="Calibri"/>
              </a:rPr>
              <a:t>Classification enforcement (advisory tag → ACL)</a:t>
            </a:r>
          </a:p>
          <a:p>
            <a:pPr>
              <a:spcAft>
                <a:spcPts val="0"/>
              </a:spcAft>
            </a:pPr>
            <a:r>
              <a:rPr sz="1000" b="1" i="0">
                <a:solidFill>
                  <a:srgbClr val="595959"/>
                </a:solidFill>
                <a:latin typeface="Calibri"/>
              </a:rPr>
              <a:t>What it is  </a:t>
            </a:r>
            <a:r>
              <a:rPr sz="1100" b="0" i="0">
                <a:solidFill>
                  <a:srgbClr val="202020"/>
                </a:solidFill>
                <a:latin typeface="Calibri"/>
              </a:rPr>
              <a:t>An opt-in control (CLASSIFICATION_ENFORCE_ACL) that reads an advisory classification tag from a Salesforce field (CLASSIFICATION_FIELD) and, for top-tier values (CLASSIFICATION_RESTRICTED_VALUES), replaces the item's Graph ACL with a single grant to one Entra group (CLASSIFICATION_RESTRICTED_GROUP).</a:t>
            </a:r>
          </a:p>
          <a:p>
            <a:pPr>
              <a:spcAft>
                <a:spcPts val="200"/>
              </a:spcAft>
            </a:pPr>
            <a:r>
              <a:rPr sz="1000" b="1" i="0">
                <a:solidFill>
                  <a:srgbClr val="595959"/>
                </a:solidFill>
                <a:latin typeface="Calibri"/>
              </a:rPr>
              <a:t>Why it matters  </a:t>
            </a:r>
            <a:r>
              <a:rPr sz="1100" b="0" i="0">
                <a:solidFill>
                  <a:srgbClr val="202020"/>
                </a:solidFill>
                <a:latin typeface="Calibri"/>
              </a:rPr>
              <a:t>The tag itself is advisory metadata — Purview-aligned in naming only, NOT a Purview-enforced label — and changes nothing on its own. Enforcement is a belt-and-braces ACL lock on the most sensitive records on top of the normal Salesforce-derived ACL, and is off unless both the flag and the group are set.</a:t>
            </a:r>
          </a:p>
          <a:p>
            <a:pPr>
              <a:spcBef>
                <a:spcPts val="600"/>
              </a:spcBef>
              <a:spcAft>
                <a:spcPts val="100"/>
              </a:spcAft>
            </a:pPr>
            <a:r>
              <a:rPr sz="1400" b="1" i="0">
                <a:solidFill>
                  <a:srgbClr val="1F3864"/>
                </a:solidFill>
                <a:latin typeface="Calibri"/>
              </a:rPr>
              <a:t>ACL scale guard (ACL_MAX_ACES)</a:t>
            </a:r>
          </a:p>
          <a:p>
            <a:pPr>
              <a:spcAft>
                <a:spcPts val="0"/>
              </a:spcAft>
            </a:pPr>
            <a:r>
              <a:rPr sz="1000" b="1" i="0">
                <a:solidFill>
                  <a:srgbClr val="595959"/>
                </a:solidFill>
                <a:latin typeface="Calibri"/>
              </a:rPr>
              <a:t>What it is  </a:t>
            </a:r>
            <a:r>
              <a:rPr sz="1100" b="0" i="0">
                <a:solidFill>
                  <a:srgbClr val="202020"/>
                </a:solidFill>
                <a:latin typeface="Calibri"/>
              </a:rPr>
              <a:t>A safety net for per-user ACL expansion: when an item's ACL exceeds ACL_MAX_ACES entries the guard fires and, per ACL_SCALE_GUARD_ACTION, warns, swaps the ACL for a single group grant, or drops it to deny-everyone.</a:t>
            </a:r>
          </a:p>
          <a:p>
            <a:pPr>
              <a:spcAft>
                <a:spcPts val="200"/>
              </a:spcAft>
            </a:pPr>
            <a:r>
              <a:rPr sz="1000" b="1" i="0">
                <a:solidFill>
                  <a:srgbClr val="595959"/>
                </a:solidFill>
                <a:latin typeface="Calibri"/>
              </a:rPr>
              <a:t>Why it matters  </a:t>
            </a:r>
            <a:r>
              <a:rPr sz="1100" b="0" i="0">
                <a:solidFill>
                  <a:srgbClr val="202020"/>
                </a:solidFill>
                <a:latin typeface="Calibri"/>
              </a:rPr>
              <a:t>A record shared to a huge role/group/queue can produce thousands of per-user ACEs and blow Graph's per-item ACL / 4 MB ceiling. The guard keeps such items ingestable and the max_item_ace_count metric makes the risk visible first; the durable fix for large orgs is USE_GROUP_ACL=true (the default), whose group-reference ACLs stay small.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297</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Stale-index item TTL / expirationDateTime (GRAPH_ITEM_TTL_DAYS)</a:t>
            </a:r>
          </a:p>
          <a:p>
            <a:pPr>
              <a:spcAft>
                <a:spcPts val="0"/>
              </a:spcAft>
            </a:pPr>
            <a:r>
              <a:rPr sz="1000" b="1" i="0">
                <a:solidFill>
                  <a:srgbClr val="595959"/>
                </a:solidFill>
                <a:latin typeface="Calibri"/>
              </a:rPr>
              <a:t>What it is  </a:t>
            </a:r>
            <a:r>
              <a:rPr sz="1100" b="0" i="0">
                <a:solidFill>
                  <a:srgbClr val="202020"/>
                </a:solidFill>
                <a:latin typeface="Calibri"/>
              </a:rPr>
              <a:t>When GRAPH_ITEM_TTL_DAYS &gt; 0, every ingested item is stamped with a top-level expirationDateTime of ingest time + TTL; Graph then auto-expires items that stop being refreshed. A healthy connector re-stamps every item on each crawl.</a:t>
            </a:r>
          </a:p>
          <a:p>
            <a:pPr>
              <a:spcAft>
                <a:spcPts val="200"/>
              </a:spcAft>
            </a:pPr>
            <a:r>
              <a:rPr sz="1000" b="1" i="0">
                <a:solidFill>
                  <a:srgbClr val="595959"/>
                </a:solidFill>
                <a:latin typeface="Calibri"/>
              </a:rPr>
              <a:t>Why it matters  </a:t>
            </a:r>
            <a:r>
              <a:rPr sz="1100" b="0" i="0">
                <a:solidFill>
                  <a:srgbClr val="202020"/>
                </a:solidFill>
                <a:latin typeface="Calibri"/>
              </a:rPr>
              <a:t>If crawling stops after an outage, stale or over-permissioned content ages out of the index instead of being served forever. Choose a TTL several times the full-crawl cadence so a single missed crawl never expires live content; unset/0 keeps today's never-expire behaviour.</a:t>
            </a:r>
          </a:p>
          <a:p>
            <a:pPr>
              <a:spcBef>
                <a:spcPts val="600"/>
              </a:spcBef>
              <a:spcAft>
                <a:spcPts val="100"/>
              </a:spcAft>
            </a:pPr>
            <a:r>
              <a:rPr sz="1400" b="1" i="0">
                <a:solidFill>
                  <a:srgbClr val="1F3864"/>
                </a:solidFill>
                <a:latin typeface="Calibri"/>
              </a:rPr>
              <a:t>Decision ledger (DECISION_LEDGER)</a:t>
            </a:r>
          </a:p>
          <a:p>
            <a:pPr>
              <a:spcAft>
                <a:spcPts val="0"/>
              </a:spcAft>
            </a:pPr>
            <a:r>
              <a:rPr sz="1000" b="1" i="0">
                <a:solidFill>
                  <a:srgbClr val="595959"/>
                </a:solidFill>
                <a:latin typeface="Calibri"/>
              </a:rPr>
              <a:t>What it is  </a:t>
            </a:r>
            <a:r>
              <a:rPr sz="1100" b="0" i="0">
                <a:solidFill>
                  <a:srgbClr val="202020"/>
                </a:solidFill>
                <a:latin typeface="Calibri"/>
              </a:rPr>
              <a:t>An opt-in, append-only, SHA-256 hash-chained record (logs\decision_ledger_{CONNECTOR_ID}.jsonl) of access-affecting decisions only — classification ACL restrictions and ACL scale-guard group/fallback drops (ids, decision and reason; no CRM content or PII). Its Verify() step detects any edit, reorder or deletion.</a:t>
            </a:r>
          </a:p>
          <a:p>
            <a:pPr>
              <a:spcAft>
                <a:spcPts val="200"/>
              </a:spcAft>
            </a:pPr>
            <a:r>
              <a:rPr sz="1000" b="1" i="0">
                <a:solidFill>
                  <a:srgbClr val="595959"/>
                </a:solidFill>
                <a:latin typeface="Calibri"/>
              </a:rPr>
              <a:t>Why it matters  </a:t>
            </a:r>
            <a:r>
              <a:rPr sz="1100" b="0" i="0">
                <a:solidFill>
                  <a:srgbClr val="202020"/>
                </a:solidFill>
                <a:latin typeface="Calibri"/>
              </a:rPr>
              <a:t>Gives a tamper-evident audit trail of the deliberate access restrictions the connector made, suitable as a compliance record. It is low-volume (ordinary items are never recorded) and off by default (byte-identical to before when unset).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Salesforce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298</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182880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331720"/>
            <a:ext cx="11185855" cy="1737360"/>
          </a:xfrm>
          <a:prstGeom prst="rect">
            <a:avLst/>
          </a:prstGeom>
          <a:noFill/>
        </p:spPr>
        <p:txBody>
          <a:bodyPr wrap="square" anchor="ctr" lIns="0" rIns="0" tIns="0" bIns="0">
            <a:spAutoFit/>
          </a:bodyPr>
          <a:lstStyle/>
          <a:p>
            <a:r>
              <a:rPr sz="2000" b="1" i="0">
                <a:solidFill>
                  <a:srgbClr val="C7D3EA"/>
                </a:solidFill>
                <a:latin typeface="Calibri"/>
              </a:rPr>
              <a:t>Part 2</a:t>
            </a:r>
          </a:p>
          <a:p>
            <a:r>
              <a:rPr sz="3400" b="1" i="0">
                <a:solidFill>
                  <a:srgbClr val="FFFFFF"/>
                </a:solidFill>
                <a:latin typeface="Calibri"/>
              </a:rPr>
              <a:t>Clarizen Connector</a:t>
            </a:r>
          </a:p>
          <a:p>
            <a:r>
              <a:rPr sz="1600" b="0" i="0">
                <a:solidFill>
                  <a:srgbClr val="E0E8F5"/>
                </a:solidFill>
                <a:latin typeface="Calibri"/>
              </a:rPr>
              <a:t>Planview AdaptiveWork — financial-field governance</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Clarizen Connector</a:t>
            </a:r>
          </a:p>
          <a:p>
            <a:r>
              <a:rPr sz="3000" b="1" i="0">
                <a:solidFill>
                  <a:srgbClr val="1F3864"/>
                </a:solidFill>
                <a:latin typeface="Calibri"/>
              </a:rPr>
              <a:t>1. About this guide</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300</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 About this guide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This guide tells you how to set up, run, monitor, troubleshoot and support the Clarizen (Planview AdaptiveWork) connector for Microsoft 365 Copilot. It is written for an IT operator who keeps the connector healthy day to day and needs to know exactly what to request from other teams.</a:t>
            </a:r>
          </a:p>
          <a:p>
            <a:pPr>
              <a:spcBef>
                <a:spcPts val="100"/>
              </a:spcBef>
              <a:spcAft>
                <a:spcPts val="400"/>
              </a:spcAft>
            </a:pPr>
            <a:r>
              <a:rPr sz="1250" b="0" i="0">
                <a:solidFill>
                  <a:srgbClr val="202020"/>
                </a:solidFill>
                <a:latin typeface="Calibri"/>
              </a:rPr>
              <a:t>The connector is a small standalone service, built on </a:t>
            </a:r>
            <a:r>
              <a:rPr sz="1250" b="1" i="0">
                <a:solidFill>
                  <a:srgbClr val="202020"/>
                </a:solidFill>
                <a:latin typeface="Calibri"/>
              </a:rPr>
              <a:t>.NET 10</a:t>
            </a:r>
            <a:r>
              <a:rPr sz="1250" b="0" i="0">
                <a:solidFill>
                  <a:srgbClr val="202020"/>
                </a:solidFill>
                <a:latin typeface="Calibri"/>
              </a:rPr>
              <a:t> and normally run as a Windows service, that copies work-management records out of Clarizen and into the Microsoft 365 Copilot search index so that Copilot can answer questions about your organisation's projects. It ships with </a:t>
            </a:r>
            <a:r>
              <a:rPr sz="1250" b="1" i="0">
                <a:solidFill>
                  <a:srgbClr val="202020"/>
                </a:solidFill>
                <a:latin typeface="Calibri"/>
              </a:rPr>
              <a:t>897 automated tests</a:t>
            </a:r>
            <a:r>
              <a:rPr sz="1250" b="0" i="0">
                <a:solidFill>
                  <a:srgbClr val="202020"/>
                </a:solidFill>
                <a:latin typeface="Calibri"/>
              </a:rPr>
              <a:t>; none of them touch the network.</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301</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 How to use this guide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0" i="0">
                <a:solidFill>
                  <a:srgbClr val="202020"/>
                </a:solidFill>
                <a:latin typeface="Calibri"/>
              </a:rPr>
              <a:t>Read top to bottom the first time. Sections 2 and 3 explain what the connector is and does; sections 4 to 7 explain how it works; sections 8 and 9 walk you through first install; sections 10 to 14 are the keep-open reference.</a:t>
            </a:r>
          </a:p>
          <a:p>
            <a:pPr>
              <a:spcBef>
                <a:spcPts val="100"/>
              </a:spcBef>
              <a:spcAft>
                <a:spcPts val="200"/>
              </a:spcAft>
            </a:pPr>
            <a:r>
              <a:rPr sz="1250" b="1" i="0">
                <a:solidFill>
                  <a:srgbClr val="2E5496"/>
                </a:solidFill>
                <a:latin typeface="Calibri"/>
              </a:rPr>
              <a:t>•  </a:t>
            </a:r>
            <a:r>
              <a:rPr sz="1250" b="0" i="0">
                <a:solidFill>
                  <a:srgbClr val="202020"/>
                </a:solidFill>
                <a:latin typeface="Calibri"/>
              </a:rPr>
              <a:t>When something is broken, jump to </a:t>
            </a:r>
            <a:r>
              <a:rPr sz="1250" b="1" i="0">
                <a:solidFill>
                  <a:srgbClr val="202020"/>
                </a:solidFill>
                <a:latin typeface="Calibri"/>
              </a:rPr>
              <a:t>Section 12 (Troubleshooting)</a:t>
            </a:r>
            <a:r>
              <a:rPr sz="1250" b="0" i="0">
                <a:solidFill>
                  <a:srgbClr val="202020"/>
                </a:solidFill>
                <a:latin typeface="Calibri"/>
              </a:rPr>
              <a:t> — it is a symptom-to-action table keyed on the exact log lines and metric names the connector emits.</a:t>
            </a:r>
          </a:p>
          <a:p>
            <a:pPr>
              <a:spcBef>
                <a:spcPts val="100"/>
              </a:spcBef>
              <a:spcAft>
                <a:spcPts val="200"/>
              </a:spcAft>
            </a:pPr>
            <a:r>
              <a:rPr sz="1250" b="1" i="0">
                <a:solidFill>
                  <a:srgbClr val="2E5496"/>
                </a:solidFill>
                <a:latin typeface="Calibri"/>
              </a:rPr>
              <a:t>•  </a:t>
            </a:r>
            <a:r>
              <a:rPr sz="1250" b="0" i="0">
                <a:solidFill>
                  <a:srgbClr val="202020"/>
                </a:solidFill>
                <a:latin typeface="Calibri"/>
              </a:rPr>
              <a:t>When you need the meaning of a setting, use </a:t>
            </a:r>
            <a:r>
              <a:rPr sz="1250" b="1" i="0">
                <a:solidFill>
                  <a:srgbClr val="202020"/>
                </a:solidFill>
                <a:latin typeface="Calibri"/>
              </a:rPr>
              <a:t>Section 13 (Configuration reference)</a:t>
            </a:r>
            <a:r>
              <a:rPr sz="1250" b="0" i="0">
                <a:solidFill>
                  <a:srgbClr val="202020"/>
                </a:solidFill>
                <a:latin typeface="Calibri"/>
              </a:rPr>
              <a:t>. When you need the meaning of a Clarizen-specific word, use </a:t>
            </a:r>
            <a:r>
              <a:rPr sz="1250" b="1" i="0">
                <a:solidFill>
                  <a:srgbClr val="202020"/>
                </a:solidFill>
                <a:latin typeface="Calibri"/>
              </a:rPr>
              <a:t>Section 14 (Glossary)</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302</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 What this guide is NOT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This is a connector-specific guide. It deliberately does not re-teach the concepts that every connector in this family shares. Those live in the </a:t>
            </a:r>
            <a:r>
              <a:rPr sz="1250" b="1" i="0">
                <a:solidFill>
                  <a:srgbClr val="202020"/>
                </a:solidFill>
                <a:latin typeface="Calibri"/>
              </a:rPr>
              <a:t>Tenant &amp; Common Concepts Guide (CONN-DOC-COMMON-01)</a:t>
            </a:r>
            <a:r>
              <a:rPr sz="1250" b="0" i="0">
                <a:solidFill>
                  <a:srgbClr val="202020"/>
                </a:solidFill>
                <a:latin typeface="Calibri"/>
              </a:rPr>
              <a:t>, referred to throughout as the </a:t>
            </a:r>
            <a:r>
              <a:rPr sz="1250" b="1" i="0">
                <a:solidFill>
                  <a:srgbClr val="202020"/>
                </a:solidFill>
                <a:latin typeface="Calibri"/>
              </a:rPr>
              <a:t>Common Guide</a:t>
            </a:r>
            <a:r>
              <a:rPr sz="1250" b="0" i="0">
                <a:solidFill>
                  <a:srgbClr val="202020"/>
                </a:solidFill>
                <a:latin typeface="Calibri"/>
              </a:rPr>
              <a:t>. Read it first.</a:t>
            </a:r>
          </a:p>
          <a:p>
            <a:pPr>
              <a:spcBef>
                <a:spcPts val="100"/>
              </a:spcBef>
              <a:spcAft>
                <a:spcPts val="400"/>
              </a:spcAft>
            </a:pPr>
            <a:r>
              <a:rPr sz="1250" b="0" i="0">
                <a:solidFill>
                  <a:srgbClr val="202020"/>
                </a:solidFill>
                <a:latin typeface="Calibri"/>
              </a:rPr>
              <a:t>The following are explained in the Common Guide and only referenced here: Microsoft Graph, external items, ACLs and Entra ID (Common Guide §5, Identity and access); the shared connector chassis — checkpointed crawls, the dead-letter queue, retry and back-off, connection sharding, high availability, circuit breakers, adaptive concurrency and content classification; deployment, monitoring and disaster recovery (Common Guide §6); and the shared vocabulary (Common Guide §13, Master glossary).</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303</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 What this guide is NOT</a:t>
            </a:r>
          </a:p>
        </p:txBody>
      </p:sp>
      <p:sp>
        <p:nvSpPr>
          <p:cNvPr id="5" name="Rectangle 4"/>
          <p:cNvSpPr/>
          <p:nvPr/>
        </p:nvSpPr>
        <p:spPr>
          <a:xfrm>
            <a:off x="502920" y="1463040"/>
            <a:ext cx="11185855" cy="3291840"/>
          </a:xfrm>
          <a:prstGeom prst="rect">
            <a:avLst/>
          </a:prstGeom>
          <a:solidFill>
            <a:srgbClr val="F0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6A3D9A"/>
                </a:solidFill>
                <a:latin typeface="Calibri"/>
              </a:rPr>
              <a:t>Information to request:  </a:t>
            </a:r>
            <a:r>
              <a:rPr sz="1400" b="1" i="0">
                <a:solidFill>
                  <a:srgbClr val="202020"/>
                </a:solidFill>
                <a:latin typeface="Calibri"/>
              </a:rPr>
              <a:t>Information to request: </a:t>
            </a:r>
            <a:r>
              <a:rPr sz="1400" b="0" i="0">
                <a:solidFill>
                  <a:srgbClr val="202020"/>
                </a:solidFill>
                <a:latin typeface="Calibri"/>
              </a:rPr>
              <a:t>Values that must come from another team are called out in a box like this one throughout the guide. Each names the value and the role that owns it — a </a:t>
            </a:r>
            <a:r>
              <a:rPr sz="1400" b="1" i="0">
                <a:solidFill>
                  <a:srgbClr val="202020"/>
                </a:solidFill>
                <a:latin typeface="Calibri"/>
              </a:rPr>
              <a:t>Clarizen/Planview administrator</a:t>
            </a:r>
            <a:r>
              <a:rPr sz="1400" b="0" i="0">
                <a:solidFill>
                  <a:srgbClr val="202020"/>
                </a:solidFill>
                <a:latin typeface="Calibri"/>
              </a:rPr>
              <a:t>, an </a:t>
            </a:r>
            <a:r>
              <a:rPr sz="1400" b="1" i="0">
                <a:solidFill>
                  <a:srgbClr val="202020"/>
                </a:solidFill>
                <a:latin typeface="Calibri"/>
              </a:rPr>
              <a:t>Entra tenant admin</a:t>
            </a:r>
            <a:r>
              <a:rPr sz="1400" b="0" i="0">
                <a:solidFill>
                  <a:srgbClr val="202020"/>
                </a:solidFill>
                <a:latin typeface="Calibri"/>
              </a:rPr>
              <a:t>, or your </a:t>
            </a:r>
            <a:r>
              <a:rPr sz="1400" b="1" i="0">
                <a:solidFill>
                  <a:srgbClr val="202020"/>
                </a:solidFill>
                <a:latin typeface="Calibri"/>
              </a:rPr>
              <a:t>network/firewall</a:t>
            </a:r>
            <a:r>
              <a:rPr sz="1400" b="0" i="0">
                <a:solidFill>
                  <a:srgbClr val="202020"/>
                </a:solidFill>
                <a:latin typeface="Calibri"/>
              </a:rPr>
              <a:t> team. Collect them using the checklist in Section 8 before you start.</a:t>
            </a:r>
          </a:p>
        </p:txBody>
      </p:sp>
      <p:sp>
        <p:nvSpPr>
          <p:cNvPr id="6" name="Rectangle 5"/>
          <p:cNvSpPr/>
          <p:nvPr/>
        </p:nvSpPr>
        <p:spPr>
          <a:xfrm>
            <a:off x="502920" y="1463040"/>
            <a:ext cx="128016" cy="3291840"/>
          </a:xfrm>
          <a:prstGeom prst="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304</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1.3 What changed in this release — safe defaults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1" i="0">
                <a:solidFill>
                  <a:srgbClr val="202020"/>
                </a:solidFill>
                <a:latin typeface="Calibri"/>
              </a:rPr>
              <a:t>Version 1.1 is a bank-grade hardening release.</a:t>
            </a:r>
            <a:r>
              <a:rPr sz="1250" b="0" i="0">
                <a:solidFill>
                  <a:srgbClr val="202020"/>
                </a:solidFill>
                <a:latin typeface="Calibri"/>
              </a:rPr>
              <a:t> Several defaults changed to safe-by-default values, and new opt-in controls were added. If you are upgrading an existing deployment, read this list before you restart — the behaviour changes even if you edit no configuration:</a:t>
            </a:r>
          </a:p>
          <a:p>
            <a:pPr>
              <a:spcBef>
                <a:spcPts val="100"/>
              </a:spcBef>
              <a:spcAft>
                <a:spcPts val="200"/>
              </a:spcAft>
            </a:pPr>
            <a:r>
              <a:rPr sz="1250" b="1" i="0">
                <a:solidFill>
                  <a:srgbClr val="2E5496"/>
                </a:solidFill>
                <a:latin typeface="Calibri"/>
              </a:rPr>
              <a:t>•  </a:t>
            </a:r>
            <a:r>
              <a:rPr sz="1250" b="1" i="0">
                <a:solidFill>
                  <a:srgbClr val="202020"/>
                </a:solidFill>
                <a:latin typeface="Calibri"/>
              </a:rPr>
              <a:t>Financial figures are now hidden by default.</a:t>
            </a:r>
            <a:r>
              <a:rPr sz="1250" b="0" i="0">
                <a:solidFill>
                  <a:srgbClr val="202020"/>
                </a:solidFill>
                <a:latin typeface="Calibri"/>
              </a:rPr>
              <a:t> </a:t>
            </a:r>
            <a:r>
              <a:rPr sz="1200" b="0" i="0">
                <a:solidFill>
                  <a:srgbClr val="202020"/>
                </a:solidFill>
                <a:latin typeface="Consolas"/>
              </a:rPr>
              <a:t>FINANCIAL_DATA_MODE</a:t>
            </a:r>
            <a:r>
              <a:rPr sz="1250" b="0" i="0">
                <a:solidFill>
                  <a:srgbClr val="202020"/>
                </a:solidFill>
                <a:latin typeface="Calibri"/>
              </a:rPr>
              <a:t> defaults to </a:t>
            </a:r>
            <a:r>
              <a:rPr sz="1200" b="1" i="0">
                <a:solidFill>
                  <a:srgbClr val="202020"/>
                </a:solidFill>
                <a:latin typeface="Consolas"/>
              </a:rPr>
              <a:t>filter</a:t>
            </a:r>
            <a:r>
              <a:rPr sz="1250" b="0" i="0">
                <a:solidFill>
                  <a:srgbClr val="202020"/>
                </a:solidFill>
                <a:latin typeface="Calibri"/>
              </a:rPr>
              <a:t> (was </a:t>
            </a:r>
            <a:r>
              <a:rPr sz="1200" b="0" i="0">
                <a:solidFill>
                  <a:srgbClr val="202020"/>
                </a:solidFill>
                <a:latin typeface="Consolas"/>
              </a:rPr>
              <a:t>tag</a:t>
            </a:r>
            <a:r>
              <a:rPr sz="1250" b="0" i="0">
                <a:solidFill>
                  <a:srgbClr val="202020"/>
                </a:solidFill>
                <a:latin typeface="Calibri"/>
              </a:rPr>
              <a:t>): financial field values (budget, cost, rates, revenue) are STRIPPED from every item, so no reader sees them through Copilot. The old </a:t>
            </a:r>
            <a:r>
              <a:rPr sz="1200" b="0" i="0">
                <a:solidFill>
                  <a:srgbClr val="202020"/>
                </a:solidFill>
                <a:latin typeface="Consolas"/>
              </a:rPr>
              <a:t>tag</a:t>
            </a:r>
            <a:r>
              <a:rPr sz="1250" b="0" i="0">
                <a:solidFill>
                  <a:srgbClr val="202020"/>
                </a:solidFill>
                <a:latin typeface="Calibri"/>
              </a:rPr>
              <a:t> default only labelled the data and left the figures visible to anyone with item access; </a:t>
            </a:r>
            <a:r>
              <a:rPr sz="1200" b="0" i="0">
                <a:solidFill>
                  <a:srgbClr val="202020"/>
                </a:solidFill>
                <a:latin typeface="Consolas"/>
              </a:rPr>
              <a:t>tag</a:t>
            </a:r>
            <a:r>
              <a:rPr sz="1250" b="0" i="0">
                <a:solidFill>
                  <a:srgbClr val="202020"/>
                </a:solidFill>
                <a:latin typeface="Calibri"/>
              </a:rPr>
              <a:t> now also emits a loud </a:t>
            </a:r>
            <a:r>
              <a:rPr sz="1200" b="0" i="0">
                <a:solidFill>
                  <a:srgbClr val="202020"/>
                </a:solidFill>
                <a:latin typeface="Consolas"/>
              </a:rPr>
              <a:t>validate-config</a:t>
            </a:r>
            <a:r>
              <a:rPr sz="1250" b="0" i="0">
                <a:solidFill>
                  <a:srgbClr val="202020"/>
                </a:solidFill>
                <a:latin typeface="Calibri"/>
              </a:rPr>
              <a:t> warning (Section 6). This is the headline change.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305</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1.3 What changed in this release — safe defaults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Dead-letter files are redacted by default.</a:t>
            </a:r>
            <a:r>
              <a:rPr sz="1250" b="0" i="0">
                <a:solidFill>
                  <a:srgbClr val="202020"/>
                </a:solidFill>
                <a:latin typeface="Calibri"/>
              </a:rPr>
              <a:t> </a:t>
            </a:r>
            <a:r>
              <a:rPr sz="1200" b="0" i="0">
                <a:solidFill>
                  <a:srgbClr val="202020"/>
                </a:solidFill>
                <a:latin typeface="Consolas"/>
              </a:rPr>
              <a:t>DEADLETTER_PAYLOAD_MODE</a:t>
            </a:r>
            <a:r>
              <a:rPr sz="1250" b="0" i="0">
                <a:solidFill>
                  <a:srgbClr val="202020"/>
                </a:solidFill>
                <a:latin typeface="Calibri"/>
              </a:rPr>
              <a:t> defaults to </a:t>
            </a:r>
            <a:r>
              <a:rPr sz="1200" b="1" i="0">
                <a:solidFill>
                  <a:srgbClr val="202020"/>
                </a:solidFill>
                <a:latin typeface="Consolas"/>
              </a:rPr>
              <a:t>redacted</a:t>
            </a:r>
            <a:r>
              <a:rPr sz="1250" b="0" i="0">
                <a:solidFill>
                  <a:srgbClr val="202020"/>
                </a:solidFill>
                <a:latin typeface="Calibri"/>
              </a:rPr>
              <a:t> (was </a:t>
            </a:r>
            <a:r>
              <a:rPr sz="1200" b="0" i="0">
                <a:solidFill>
                  <a:srgbClr val="202020"/>
                </a:solidFill>
                <a:latin typeface="Consolas"/>
              </a:rPr>
              <a:t>full</a:t>
            </a:r>
            <a:r>
              <a:rPr sz="1250" b="0" i="0">
                <a:solidFill>
                  <a:srgbClr val="202020"/>
                </a:solidFill>
                <a:latin typeface="Calibri"/>
              </a:rPr>
              <a:t>): raw property/content values never sit in a failed-record file. An unrecognised value now fails start-up instead of silently defaulting (Section 13).</a:t>
            </a:r>
          </a:p>
          <a:p>
            <a:pPr>
              <a:spcBef>
                <a:spcPts val="100"/>
              </a:spcBef>
              <a:spcAft>
                <a:spcPts val="200"/>
              </a:spcAft>
            </a:pPr>
            <a:r>
              <a:rPr sz="1250" b="1" i="0">
                <a:solidFill>
                  <a:srgbClr val="2E5496"/>
                </a:solidFill>
                <a:latin typeface="Calibri"/>
              </a:rPr>
              <a:t>•  </a:t>
            </a:r>
            <a:r>
              <a:rPr sz="1250" b="1" i="0">
                <a:solidFill>
                  <a:srgbClr val="202020"/>
                </a:solidFill>
                <a:latin typeface="Calibri"/>
              </a:rPr>
              <a:t>Entitlements re-sync on incremental crawls.</a:t>
            </a:r>
            <a:r>
              <a:rPr sz="1250" b="0" i="0">
                <a:solidFill>
                  <a:srgbClr val="202020"/>
                </a:solidFill>
                <a:latin typeface="Calibri"/>
              </a:rPr>
              <a:t> </a:t>
            </a:r>
            <a:r>
              <a:rPr sz="1200" b="0" i="0">
                <a:solidFill>
                  <a:srgbClr val="202020"/>
                </a:solidFill>
                <a:latin typeface="Consolas"/>
              </a:rPr>
              <a:t>IDENTITY_SYNC_ON_INCREMENTAL</a:t>
            </a:r>
            <a:r>
              <a:rPr sz="1250" b="0" i="0">
                <a:solidFill>
                  <a:srgbClr val="202020"/>
                </a:solidFill>
                <a:latin typeface="Calibri"/>
              </a:rPr>
              <a:t> defaults to </a:t>
            </a:r>
            <a:r>
              <a:rPr sz="1200" b="1" i="0">
                <a:solidFill>
                  <a:srgbClr val="202020"/>
                </a:solidFill>
                <a:latin typeface="Consolas"/>
              </a:rPr>
              <a:t>true</a:t>
            </a:r>
            <a:r>
              <a:rPr sz="1250" b="0" i="0">
                <a:solidFill>
                  <a:srgbClr val="202020"/>
                </a:solidFill>
                <a:latin typeface="Calibri"/>
              </a:rPr>
              <a:t> (was </a:t>
            </a:r>
            <a:r>
              <a:rPr sz="1200" b="0" i="0">
                <a:solidFill>
                  <a:srgbClr val="202020"/>
                </a:solidFill>
                <a:latin typeface="Consolas"/>
              </a:rPr>
              <a:t>false</a:t>
            </a:r>
            <a:r>
              <a:rPr sz="1250" b="0" i="0">
                <a:solidFill>
                  <a:srgbClr val="202020"/>
                </a:solidFill>
                <a:latin typeface="Calibri"/>
              </a:rPr>
              <a:t>): ACL changes propagate at the incremental cadence, not only on full crawls (Section 5.4).</a:t>
            </a:r>
          </a:p>
          <a:p>
            <a:pPr>
              <a:spcBef>
                <a:spcPts val="100"/>
              </a:spcBef>
              <a:spcAft>
                <a:spcPts val="200"/>
              </a:spcAft>
            </a:pPr>
            <a:r>
              <a:rPr sz="1250" b="1" i="0">
                <a:solidFill>
                  <a:srgbClr val="2E5496"/>
                </a:solidFill>
                <a:latin typeface="Calibri"/>
              </a:rPr>
              <a:t>•  </a:t>
            </a:r>
            <a:r>
              <a:rPr sz="1250" b="1" i="0">
                <a:solidFill>
                  <a:srgbClr val="202020"/>
                </a:solidFill>
                <a:latin typeface="Calibri"/>
              </a:rPr>
              <a:t>Webhooks require a signed timestamp.</a:t>
            </a:r>
            <a:r>
              <a:rPr sz="1250" b="0" i="0">
                <a:solidFill>
                  <a:srgbClr val="202020"/>
                </a:solidFill>
                <a:latin typeface="Calibri"/>
              </a:rPr>
              <a:t> </a:t>
            </a:r>
            <a:r>
              <a:rPr sz="1200" b="0" i="0">
                <a:solidFill>
                  <a:srgbClr val="202020"/>
                </a:solidFill>
                <a:latin typeface="Consolas"/>
              </a:rPr>
              <a:t>CLARIZEN_WEBHOOK_REQUIRE_TIMESTAMP</a:t>
            </a:r>
            <a:r>
              <a:rPr sz="1250" b="0" i="0">
                <a:solidFill>
                  <a:srgbClr val="202020"/>
                </a:solidFill>
                <a:latin typeface="Calibri"/>
              </a:rPr>
              <a:t> defaults to </a:t>
            </a:r>
            <a:r>
              <a:rPr sz="1200" b="1" i="0">
                <a:solidFill>
                  <a:srgbClr val="202020"/>
                </a:solidFill>
                <a:latin typeface="Consolas"/>
              </a:rPr>
              <a:t>true</a:t>
            </a:r>
            <a:r>
              <a:rPr sz="1250" b="0" i="0">
                <a:solidFill>
                  <a:srgbClr val="202020"/>
                </a:solidFill>
                <a:latin typeface="Calibri"/>
              </a:rPr>
              <a:t>: stale, future-dated, replayed or missing-timestamp posts are rejected fail-closed before parsing. Legacy body-only senders work only with it set to </a:t>
            </a:r>
            <a:r>
              <a:rPr sz="1200" b="0" i="0">
                <a:solidFill>
                  <a:srgbClr val="202020"/>
                </a:solidFill>
                <a:latin typeface="Consolas"/>
              </a:rPr>
              <a:t>false</a:t>
            </a:r>
            <a:r>
              <a:rPr sz="1250" b="0" i="0">
                <a:solidFill>
                  <a:srgbClr val="202020"/>
                </a:solidFill>
                <a:latin typeface="Calibri"/>
              </a:rPr>
              <a:t> (Section 7.2).</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306</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1.3 What changed in this release — safe defaults</a:t>
            </a:r>
          </a:p>
        </p:txBody>
      </p:sp>
      <p:sp>
        <p:nvSpPr>
          <p:cNvPr id="5" name="Rectangle 4"/>
          <p:cNvSpPr/>
          <p:nvPr/>
        </p:nvSpPr>
        <p:spPr>
          <a:xfrm>
            <a:off x="502920" y="1463040"/>
            <a:ext cx="11185855" cy="329184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5496"/>
                </a:solidFill>
                <a:latin typeface="Calibri"/>
              </a:rPr>
              <a:t>Note:  </a:t>
            </a:r>
            <a:r>
              <a:rPr sz="1400" b="1" i="0">
                <a:solidFill>
                  <a:srgbClr val="202020"/>
                </a:solidFill>
                <a:latin typeface="Calibri"/>
              </a:rPr>
              <a:t>Note: </a:t>
            </a:r>
            <a:r>
              <a:rPr sz="1400" b="0" i="0">
                <a:solidFill>
                  <a:srgbClr val="202020"/>
                </a:solidFill>
                <a:latin typeface="Calibri"/>
              </a:rPr>
              <a:t>Also new and ON by default for this connector: the tamper-evident </a:t>
            </a:r>
            <a:r>
              <a:rPr sz="1400" b="1" i="0">
                <a:solidFill>
                  <a:srgbClr val="202020"/>
                </a:solidFill>
                <a:latin typeface="Calibri"/>
              </a:rPr>
              <a:t>decision ledger</a:t>
            </a:r>
            <a:r>
              <a:rPr sz="1400" b="0" i="0">
                <a:solidFill>
                  <a:srgbClr val="202020"/>
                </a:solidFill>
                <a:latin typeface="Calibri"/>
              </a:rPr>
              <a:t> (</a:t>
            </a:r>
            <a:r>
              <a:rPr sz="1350" b="0" i="0">
                <a:solidFill>
                  <a:srgbClr val="202020"/>
                </a:solidFill>
                <a:latin typeface="Consolas"/>
              </a:rPr>
              <a:t>DECISION_LEDGER</a:t>
            </a:r>
            <a:r>
              <a:rPr sz="1400" b="0" i="0">
                <a:solidFill>
                  <a:srgbClr val="202020"/>
                </a:solidFill>
                <a:latin typeface="Calibri"/>
              </a:rPr>
              <a:t>) and </a:t>
            </a:r>
            <a:r>
              <a:rPr sz="1400" b="1" i="0">
                <a:solidFill>
                  <a:srgbClr val="202020"/>
                </a:solidFill>
                <a:latin typeface="Calibri"/>
              </a:rPr>
              <a:t>owner-only</a:t>
            </a:r>
            <a:r>
              <a:rPr sz="1400" b="0" i="0">
                <a:solidFill>
                  <a:srgbClr val="202020"/>
                </a:solidFill>
                <a:latin typeface="Calibri"/>
              </a:rPr>
              <a:t> logs/state/dead-letter directories. New opt-in controls — classification ACL enforcement, stale-index item TTL, and webhook back-pressure bounding — are in Section 13.8. Every change is detailed in the Configuration reference (Section 13) and the Glossary (Section 14).</a:t>
            </a:r>
          </a:p>
        </p:txBody>
      </p:sp>
      <p:sp>
        <p:nvSpPr>
          <p:cNvPr id="6" name="Rectangle 5"/>
          <p:cNvSpPr/>
          <p:nvPr/>
        </p:nvSpPr>
        <p:spPr>
          <a:xfrm>
            <a:off x="502920" y="1463040"/>
            <a:ext cx="128016" cy="329184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307</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Clarizen Connector</a:t>
            </a:r>
          </a:p>
          <a:p>
            <a:r>
              <a:rPr sz="3000" b="1" i="0">
                <a:solidFill>
                  <a:srgbClr val="1F3864"/>
                </a:solidFill>
                <a:latin typeface="Calibri"/>
              </a:rPr>
              <a:t>2. What is Clarizen (Planview AdaptiveWork), and what data will this connector index?</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308</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2. What is Clarizen (Planview AdaptiveWork), and what data will this connector index?</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Clarizen — now sold as Planview AdaptiveWork — is a cloud project- and portfolio-management (PPM) platform. Teams use it to plan and track work: projects and their tasks and milestones, the issues and risks against them, who is assigned, how many hours were logged, and the money involved.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309</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2.1 Who uses it and why we index it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In a bank, Clarizen is typically the system of record for the change portfolio: programme managers, project managers, the PMO, resource managers and finance analysts live in it. The information is valuable but scattered across thousands of records that most staff never open directly.</a:t>
            </a:r>
          </a:p>
          <a:p>
            <a:pPr>
              <a:spcBef>
                <a:spcPts val="100"/>
              </a:spcBef>
              <a:spcAft>
                <a:spcPts val="400"/>
              </a:spcAft>
            </a:pPr>
            <a:r>
              <a:rPr sz="1250" b="0" i="0">
                <a:solidFill>
                  <a:srgbClr val="202020"/>
                </a:solidFill>
                <a:latin typeface="Calibri"/>
              </a:rPr>
              <a:t>Indexing Clarizen into Copilot lets employees ask natural-language questions — "what is the status of the payments-modernisation project?", "which risks are open on my programme?", "who is assigned to this milestone?" — and get grounded answers, </a:t>
            </a:r>
            <a:r>
              <a:rPr sz="1250" b="1" i="0">
                <a:solidFill>
                  <a:srgbClr val="202020"/>
                </a:solidFill>
                <a:latin typeface="Calibri"/>
              </a:rPr>
              <a:t>only for the records that person is already allowed to see in Clarizen</a:t>
            </a:r>
            <a:r>
              <a:rPr sz="1250" b="0" i="0">
                <a:solidFill>
                  <a:srgbClr val="202020"/>
                </a:solidFill>
                <a:latin typeface="Calibri"/>
              </a:rPr>
              <a:t>. Enforcing that last point is the connector's most important job (Section 5).</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310</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2.2 The record types this connector indexes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set of Clarizen object types crawled is defined in </a:t>
            </a:r>
            <a:r>
              <a:rPr sz="1200" b="0" i="0">
                <a:solidFill>
                  <a:srgbClr val="202020"/>
                </a:solidFill>
                <a:latin typeface="Consolas"/>
              </a:rPr>
              <a:t>config/schema.json</a:t>
            </a:r>
            <a:r>
              <a:rPr sz="1250" b="0" i="0">
                <a:solidFill>
                  <a:srgbClr val="202020"/>
                </a:solidFill>
                <a:latin typeface="Calibri"/>
              </a:rPr>
              <a:t> and can be tuned to your org. The default set is: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311</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2.2 The record types this connector indexes</a:t>
            </a:r>
          </a:p>
        </p:txBody>
      </p:sp>
      <p:graphicFrame>
        <p:nvGraphicFramePr>
          <p:cNvPr id="5" name="Table 4"/>
          <p:cNvGraphicFramePr>
            <a:graphicFrameLocks noGrp="1"/>
          </p:cNvGraphicFramePr>
          <p:nvPr/>
        </p:nvGraphicFramePr>
        <p:xfrm>
          <a:off x="502920" y="1188720"/>
          <a:ext cx="11185855" cy="3840480"/>
        </p:xfrm>
        <a:graphic>
          <a:graphicData uri="http://schemas.openxmlformats.org/drawingml/2006/table">
            <a:tbl>
              <a:tblPr firstRow="1" bandRow="1">
                <a:tableStyleId>{5C22544A-7EE6-4342-B048-85BDC9FD1C3A}</a:tableStyleId>
              </a:tblPr>
              <a:tblGrid>
                <a:gridCol w="2796463"/>
                <a:gridCol w="2796463"/>
                <a:gridCol w="2796463"/>
                <a:gridCol w="2796466"/>
              </a:tblGrid>
              <a:tr h="384048">
                <a:tc>
                  <a:txBody>
                    <a:bodyPr wrap="square"/>
                    <a:lstStyle/>
                    <a:p>
                      <a:r>
                        <a:rPr sz="1050" b="1" i="0">
                          <a:solidFill>
                            <a:srgbClr val="FFFFFF"/>
                          </a:solidFill>
                          <a:latin typeface="Calibri"/>
                        </a:rPr>
                        <a:t>Clarizen object</a:t>
                      </a:r>
                    </a:p>
                  </a:txBody>
                  <a:tcPr marT="25400" marB="25400">
                    <a:solidFill>
                      <a:srgbClr val="2E5496"/>
                    </a:solidFill>
                  </a:tcPr>
                </a:tc>
                <a:tc>
                  <a:txBody>
                    <a:bodyPr wrap="square"/>
                    <a:lstStyle/>
                    <a:p>
                      <a:r>
                        <a:rPr sz="1050" b="1" i="0">
                          <a:solidFill>
                            <a:srgbClr val="FFFFFF"/>
                          </a:solidFill>
                          <a:latin typeface="Calibri"/>
                        </a:rPr>
                        <a:t>Shown in Copilot as</a:t>
                      </a:r>
                    </a:p>
                  </a:txBody>
                  <a:tcPr marT="25400" marB="25400">
                    <a:solidFill>
                      <a:srgbClr val="2E5496"/>
                    </a:solidFill>
                  </a:tcPr>
                </a:tc>
                <a:tc>
                  <a:txBody>
                    <a:bodyPr wrap="square"/>
                    <a:lstStyle/>
                    <a:p>
                      <a:r>
                        <a:rPr sz="1050" b="1" i="0">
                          <a:solidFill>
                            <a:srgbClr val="FFFFFF"/>
                          </a:solidFill>
                          <a:latin typeface="Calibri"/>
                        </a:rPr>
                        <a:t>What it represents</a:t>
                      </a:r>
                    </a:p>
                  </a:txBody>
                  <a:tcPr marT="25400" marB="25400">
                    <a:solidFill>
                      <a:srgbClr val="2E5496"/>
                    </a:solidFill>
                  </a:tcPr>
                </a:tc>
                <a:tc>
                  <a:txBody>
                    <a:bodyPr wrap="square"/>
                    <a:lstStyle/>
                    <a:p>
                      <a:r>
                        <a:rPr sz="1050" b="1" i="0">
                          <a:solidFill>
                            <a:srgbClr val="FFFFFF"/>
                          </a:solidFill>
                          <a:latin typeface="Calibri"/>
                        </a:rPr>
                        <a:t>Carries financial fields?</a:t>
                      </a:r>
                    </a:p>
                  </a:txBody>
                  <a:tcPr marT="25400" marB="25400">
                    <a:solidFill>
                      <a:srgbClr val="2E5496"/>
                    </a:solidFill>
                  </a:tcPr>
                </a:tc>
              </a:tr>
              <a:tr h="384048">
                <a:tc>
                  <a:txBody>
                    <a:bodyPr wrap="square"/>
                    <a:lstStyle/>
                    <a:p>
                      <a:r>
                        <a:rPr sz="950" b="0" i="0">
                          <a:solidFill>
                            <a:srgbClr val="202020"/>
                          </a:solidFill>
                          <a:latin typeface="Calibri"/>
                        </a:rPr>
                        <a:t>Project</a:t>
                      </a:r>
                    </a:p>
                  </a:txBody>
                  <a:tcPr marT="12700" marB="12700">
                    <a:solidFill>
                      <a:srgbClr val="FFFFFF"/>
                    </a:solidFill>
                  </a:tcPr>
                </a:tc>
                <a:tc>
                  <a:txBody>
                    <a:bodyPr wrap="square"/>
                    <a:lstStyle/>
                    <a:p>
                      <a:r>
                        <a:rPr sz="950" b="0" i="0">
                          <a:solidFill>
                            <a:srgbClr val="202020"/>
                          </a:solidFill>
                          <a:latin typeface="Calibri"/>
                        </a:rPr>
                        <a:t>Project</a:t>
                      </a:r>
                    </a:p>
                  </a:txBody>
                  <a:tcPr marT="12700" marB="12700">
                    <a:solidFill>
                      <a:srgbClr val="FFFFFF"/>
                    </a:solidFill>
                  </a:tcPr>
                </a:tc>
                <a:tc>
                  <a:txBody>
                    <a:bodyPr wrap="square"/>
                    <a:lstStyle/>
                    <a:p>
                      <a:r>
                        <a:rPr sz="950" b="0" i="0">
                          <a:solidFill>
                            <a:srgbClr val="202020"/>
                          </a:solidFill>
                          <a:latin typeface="Calibri"/>
                        </a:rPr>
                        <a:t>A project or programme: dates, manager, status, budget/cost/revenue.</a:t>
                      </a:r>
                    </a:p>
                  </a:txBody>
                  <a:tcPr marT="12700" marB="12700">
                    <a:solidFill>
                      <a:srgbClr val="FFFFFF"/>
                    </a:solidFill>
                  </a:tcPr>
                </a:tc>
                <a:tc>
                  <a:txBody>
                    <a:bodyPr wrap="square"/>
                    <a:lstStyle/>
                    <a:p>
                      <a:r>
                        <a:rPr sz="950" b="0" i="0">
                          <a:solidFill>
                            <a:srgbClr val="202020"/>
                          </a:solidFill>
                          <a:latin typeface="Calibri"/>
                        </a:rPr>
                        <a:t>Yes</a:t>
                      </a:r>
                    </a:p>
                  </a:txBody>
                  <a:tcPr marT="12700" marB="12700">
                    <a:solidFill>
                      <a:srgbClr val="FFFFFF"/>
                    </a:solidFill>
                  </a:tcPr>
                </a:tc>
              </a:tr>
              <a:tr h="384048">
                <a:tc>
                  <a:txBody>
                    <a:bodyPr wrap="square"/>
                    <a:lstStyle/>
                    <a:p>
                      <a:r>
                        <a:rPr sz="950" b="0" i="0">
                          <a:solidFill>
                            <a:srgbClr val="202020"/>
                          </a:solidFill>
                          <a:latin typeface="Calibri"/>
                        </a:rPr>
                        <a:t>Task</a:t>
                      </a:r>
                    </a:p>
                  </a:txBody>
                  <a:tcPr marT="12700" marB="12700">
                    <a:solidFill>
                      <a:srgbClr val="F7F9FC"/>
                    </a:solidFill>
                  </a:tcPr>
                </a:tc>
                <a:tc>
                  <a:txBody>
                    <a:bodyPr wrap="square"/>
                    <a:lstStyle/>
                    <a:p>
                      <a:r>
                        <a:rPr sz="950" b="0" i="0">
                          <a:solidFill>
                            <a:srgbClr val="202020"/>
                          </a:solidFill>
                          <a:latin typeface="Calibri"/>
                        </a:rPr>
                        <a:t>Task</a:t>
                      </a:r>
                    </a:p>
                  </a:txBody>
                  <a:tcPr marT="12700" marB="12700">
                    <a:solidFill>
                      <a:srgbClr val="F7F9FC"/>
                    </a:solidFill>
                  </a:tcPr>
                </a:tc>
                <a:tc>
                  <a:txBody>
                    <a:bodyPr wrap="square"/>
                    <a:lstStyle/>
                    <a:p>
                      <a:r>
                        <a:rPr sz="950" b="0" i="0">
                          <a:solidFill>
                            <a:srgbClr val="202020"/>
                          </a:solidFill>
                          <a:latin typeface="Calibri"/>
                        </a:rPr>
                        <a:t>A unit of work inside a project: owner, effort, percent complete.</a:t>
                      </a:r>
                    </a:p>
                  </a:txBody>
                  <a:tcPr marT="12700" marB="12700">
                    <a:solidFill>
                      <a:srgbClr val="F7F9FC"/>
                    </a:solidFill>
                  </a:tcPr>
                </a:tc>
                <a:tc>
                  <a:txBody>
                    <a:bodyPr wrap="square"/>
                    <a:lstStyle/>
                    <a:p>
                      <a:r>
                        <a:rPr sz="950" b="0" i="0">
                          <a:solidFill>
                            <a:srgbClr val="202020"/>
                          </a:solidFill>
                          <a:latin typeface="Calibri"/>
                        </a:rPr>
                        <a:t>Yes (actual cost)</a:t>
                      </a:r>
                    </a:p>
                  </a:txBody>
                  <a:tcPr marT="12700" marB="12700">
                    <a:solidFill>
                      <a:srgbClr val="F7F9FC"/>
                    </a:solidFill>
                  </a:tcPr>
                </a:tc>
              </a:tr>
              <a:tr h="384048">
                <a:tc>
                  <a:txBody>
                    <a:bodyPr wrap="square"/>
                    <a:lstStyle/>
                    <a:p>
                      <a:r>
                        <a:rPr sz="950" b="0" i="0">
                          <a:solidFill>
                            <a:srgbClr val="202020"/>
                          </a:solidFill>
                          <a:latin typeface="Calibri"/>
                        </a:rPr>
                        <a:t>Milestone</a:t>
                      </a:r>
                    </a:p>
                  </a:txBody>
                  <a:tcPr marT="12700" marB="12700">
                    <a:solidFill>
                      <a:srgbClr val="FFFFFF"/>
                    </a:solidFill>
                  </a:tcPr>
                </a:tc>
                <a:tc>
                  <a:txBody>
                    <a:bodyPr wrap="square"/>
                    <a:lstStyle/>
                    <a:p>
                      <a:r>
                        <a:rPr sz="950" b="0" i="0">
                          <a:solidFill>
                            <a:srgbClr val="202020"/>
                          </a:solidFill>
                          <a:latin typeface="Calibri"/>
                        </a:rPr>
                        <a:t>Milestone</a:t>
                      </a:r>
                    </a:p>
                  </a:txBody>
                  <a:tcPr marT="12700" marB="12700">
                    <a:solidFill>
                      <a:srgbClr val="FFFFFF"/>
                    </a:solidFill>
                  </a:tcPr>
                </a:tc>
                <a:tc>
                  <a:txBody>
                    <a:bodyPr wrap="square"/>
                    <a:lstStyle/>
                    <a:p>
                      <a:r>
                        <a:rPr sz="950" b="0" i="0">
                          <a:solidFill>
                            <a:srgbClr val="202020"/>
                          </a:solidFill>
                          <a:latin typeface="Calibri"/>
                        </a:rPr>
                        <a:t>A schedule checkpoint on a project.</a:t>
                      </a:r>
                    </a:p>
                  </a:txBody>
                  <a:tcPr marT="12700" marB="12700">
                    <a:solidFill>
                      <a:srgbClr val="FFFFFF"/>
                    </a:solidFill>
                  </a:tcPr>
                </a:tc>
                <a:tc>
                  <a:txBody>
                    <a:bodyPr wrap="square"/>
                    <a:lstStyle/>
                    <a:p>
                      <a:r>
                        <a:rPr sz="950" b="0" i="0">
                          <a:solidFill>
                            <a:srgbClr val="202020"/>
                          </a:solidFill>
                          <a:latin typeface="Calibri"/>
                        </a:rPr>
                        <a:t>Yes (actual cost)</a:t>
                      </a:r>
                    </a:p>
                  </a:txBody>
                  <a:tcPr marT="12700" marB="12700">
                    <a:solidFill>
                      <a:srgbClr val="FFFFFF"/>
                    </a:solidFill>
                  </a:tcPr>
                </a:tc>
              </a:tr>
              <a:tr h="384048">
                <a:tc>
                  <a:txBody>
                    <a:bodyPr wrap="square"/>
                    <a:lstStyle/>
                    <a:p>
                      <a:r>
                        <a:rPr sz="950" b="0" i="0">
                          <a:solidFill>
                            <a:srgbClr val="202020"/>
                          </a:solidFill>
                          <a:latin typeface="Calibri"/>
                        </a:rPr>
                        <a:t>Issue</a:t>
                      </a:r>
                    </a:p>
                  </a:txBody>
                  <a:tcPr marT="12700" marB="12700">
                    <a:solidFill>
                      <a:srgbClr val="F7F9FC"/>
                    </a:solidFill>
                  </a:tcPr>
                </a:tc>
                <a:tc>
                  <a:txBody>
                    <a:bodyPr wrap="square"/>
                    <a:lstStyle/>
                    <a:p>
                      <a:r>
                        <a:rPr sz="950" b="0" i="0">
                          <a:solidFill>
                            <a:srgbClr val="202020"/>
                          </a:solidFill>
                          <a:latin typeface="Calibri"/>
                        </a:rPr>
                        <a:t>Issue</a:t>
                      </a:r>
                    </a:p>
                  </a:txBody>
                  <a:tcPr marT="12700" marB="12700">
                    <a:solidFill>
                      <a:srgbClr val="F7F9FC"/>
                    </a:solidFill>
                  </a:tcPr>
                </a:tc>
                <a:tc>
                  <a:txBody>
                    <a:bodyPr wrap="square"/>
                    <a:lstStyle/>
                    <a:p>
                      <a:r>
                        <a:rPr sz="950" b="0" i="0">
                          <a:solidFill>
                            <a:srgbClr val="202020"/>
                          </a:solidFill>
                          <a:latin typeface="Calibri"/>
                        </a:rPr>
                        <a:t>A raised problem: severity, priority, reporter.</a:t>
                      </a:r>
                    </a:p>
                  </a:txBody>
                  <a:tcPr marT="12700" marB="12700">
                    <a:solidFill>
                      <a:srgbClr val="F7F9FC"/>
                    </a:solidFill>
                  </a:tcPr>
                </a:tc>
                <a:tc>
                  <a:txBody>
                    <a:bodyPr wrap="square"/>
                    <a:lstStyle/>
                    <a:p>
                      <a:r>
                        <a:rPr sz="950" b="0" i="0">
                          <a:solidFill>
                            <a:srgbClr val="202020"/>
                          </a:solidFill>
                          <a:latin typeface="Calibri"/>
                        </a:rPr>
                        <a:t>No</a:t>
                      </a:r>
                    </a:p>
                  </a:txBody>
                  <a:tcPr marT="12700" marB="12700">
                    <a:solidFill>
                      <a:srgbClr val="F7F9FC"/>
                    </a:solidFill>
                  </a:tcPr>
                </a:tc>
              </a:tr>
              <a:tr h="384048">
                <a:tc>
                  <a:txBody>
                    <a:bodyPr wrap="square"/>
                    <a:lstStyle/>
                    <a:p>
                      <a:r>
                        <a:rPr sz="950" b="0" i="0">
                          <a:solidFill>
                            <a:srgbClr val="202020"/>
                          </a:solidFill>
                          <a:latin typeface="Calibri"/>
                        </a:rPr>
                        <a:t>Risk</a:t>
                      </a:r>
                    </a:p>
                  </a:txBody>
                  <a:tcPr marT="12700" marB="12700">
                    <a:solidFill>
                      <a:srgbClr val="FFFFFF"/>
                    </a:solidFill>
                  </a:tcPr>
                </a:tc>
                <a:tc>
                  <a:txBody>
                    <a:bodyPr wrap="square"/>
                    <a:lstStyle/>
                    <a:p>
                      <a:r>
                        <a:rPr sz="950" b="0" i="0">
                          <a:solidFill>
                            <a:srgbClr val="202020"/>
                          </a:solidFill>
                          <a:latin typeface="Calibri"/>
                        </a:rPr>
                        <a:t>Risk</a:t>
                      </a:r>
                    </a:p>
                  </a:txBody>
                  <a:tcPr marT="12700" marB="12700">
                    <a:solidFill>
                      <a:srgbClr val="FFFFFF"/>
                    </a:solidFill>
                  </a:tcPr>
                </a:tc>
                <a:tc>
                  <a:txBody>
                    <a:bodyPr wrap="square"/>
                    <a:lstStyle/>
                    <a:p>
                      <a:r>
                        <a:rPr sz="950" b="0" i="0">
                          <a:solidFill>
                            <a:srgbClr val="202020"/>
                          </a:solidFill>
                          <a:latin typeface="Calibri"/>
                        </a:rPr>
                        <a:t>A tracked risk: probability, impact, mitigation plan.</a:t>
                      </a:r>
                    </a:p>
                  </a:txBody>
                  <a:tcPr marT="12700" marB="12700">
                    <a:solidFill>
                      <a:srgbClr val="FFFFFF"/>
                    </a:solidFill>
                  </a:tcPr>
                </a:tc>
                <a:tc>
                  <a:txBody>
                    <a:bodyPr wrap="square"/>
                    <a:lstStyle/>
                    <a:p>
                      <a:r>
                        <a:rPr sz="950" b="0" i="0">
                          <a:solidFill>
                            <a:srgbClr val="202020"/>
                          </a:solidFill>
                          <a:latin typeface="Calibri"/>
                        </a:rPr>
                        <a:t>No</a:t>
                      </a:r>
                    </a:p>
                  </a:txBody>
                  <a:tcPr marT="12700" marB="12700">
                    <a:solidFill>
                      <a:srgbClr val="FFFFFF"/>
                    </a:solidFill>
                  </a:tcPr>
                </a:tc>
              </a:tr>
              <a:tr h="384048">
                <a:tc>
                  <a:txBody>
                    <a:bodyPr wrap="square"/>
                    <a:lstStyle/>
                    <a:p>
                      <a:r>
                        <a:rPr sz="950" b="0" i="0">
                          <a:solidFill>
                            <a:srgbClr val="202020"/>
                          </a:solidFill>
                          <a:latin typeface="Calibri"/>
                        </a:rPr>
                        <a:t>Timesheet</a:t>
                      </a:r>
                    </a:p>
                  </a:txBody>
                  <a:tcPr marT="12700" marB="12700">
                    <a:solidFill>
                      <a:srgbClr val="F7F9FC"/>
                    </a:solidFill>
                  </a:tcPr>
                </a:tc>
                <a:tc>
                  <a:txBody>
                    <a:bodyPr wrap="square"/>
                    <a:lstStyle/>
                    <a:p>
                      <a:r>
                        <a:rPr sz="950" b="0" i="0">
                          <a:solidFill>
                            <a:srgbClr val="202020"/>
                          </a:solidFill>
                          <a:latin typeface="Calibri"/>
                        </a:rPr>
                        <a:t>Timesheet</a:t>
                      </a:r>
                    </a:p>
                  </a:txBody>
                  <a:tcPr marT="12700" marB="12700">
                    <a:solidFill>
                      <a:srgbClr val="F7F9FC"/>
                    </a:solidFill>
                  </a:tcPr>
                </a:tc>
                <a:tc>
                  <a:txBody>
                    <a:bodyPr wrap="square"/>
                    <a:lstStyle/>
                    <a:p>
                      <a:r>
                        <a:rPr sz="950" b="0" i="0">
                          <a:solidFill>
                            <a:srgbClr val="202020"/>
                          </a:solidFill>
                          <a:latin typeface="Calibri"/>
                        </a:rPr>
                        <a:t>A time entry: hours, billing rate, who reported it.</a:t>
                      </a:r>
                    </a:p>
                  </a:txBody>
                  <a:tcPr marT="12700" marB="12700">
                    <a:solidFill>
                      <a:srgbClr val="F7F9FC"/>
                    </a:solidFill>
                  </a:tcPr>
                </a:tc>
                <a:tc>
                  <a:txBody>
                    <a:bodyPr wrap="square"/>
                    <a:lstStyle/>
                    <a:p>
                      <a:r>
                        <a:rPr sz="950" b="0" i="0">
                          <a:solidFill>
                            <a:srgbClr val="202020"/>
                          </a:solidFill>
                          <a:latin typeface="Calibri"/>
                        </a:rPr>
                        <a:t>Yes (billing rate)</a:t>
                      </a:r>
                    </a:p>
                  </a:txBody>
                  <a:tcPr marT="12700" marB="12700">
                    <a:solidFill>
                      <a:srgbClr val="F7F9FC"/>
                    </a:solidFill>
                  </a:tcPr>
                </a:tc>
              </a:tr>
              <a:tr h="384048">
                <a:tc>
                  <a:txBody>
                    <a:bodyPr wrap="square"/>
                    <a:lstStyle/>
                    <a:p>
                      <a:r>
                        <a:rPr sz="950" b="0" i="0">
                          <a:solidFill>
                            <a:srgbClr val="202020"/>
                          </a:solidFill>
                          <a:latin typeface="Calibri"/>
                        </a:rPr>
                        <a:t>RegularResourceLink</a:t>
                      </a:r>
                    </a:p>
                  </a:txBody>
                  <a:tcPr marT="12700" marB="12700">
                    <a:solidFill>
                      <a:srgbClr val="FFFFFF"/>
                    </a:solidFill>
                  </a:tcPr>
                </a:tc>
                <a:tc>
                  <a:txBody>
                    <a:bodyPr wrap="square"/>
                    <a:lstStyle/>
                    <a:p>
                      <a:r>
                        <a:rPr sz="950" b="0" i="0">
                          <a:solidFill>
                            <a:srgbClr val="202020"/>
                          </a:solidFill>
                          <a:latin typeface="Calibri"/>
                        </a:rPr>
                        <a:t>Resource Assignment</a:t>
                      </a:r>
                    </a:p>
                  </a:txBody>
                  <a:tcPr marT="12700" marB="12700">
                    <a:solidFill>
                      <a:srgbClr val="FFFFFF"/>
                    </a:solidFill>
                  </a:tcPr>
                </a:tc>
                <a:tc>
                  <a:txBody>
                    <a:bodyPr wrap="square"/>
                    <a:lstStyle/>
                    <a:p>
                      <a:r>
                        <a:rPr sz="950" b="0" i="0">
                          <a:solidFill>
                            <a:srgbClr val="202020"/>
                          </a:solidFill>
                          <a:latin typeface="Calibri"/>
                        </a:rPr>
                        <a:t>A person assigned to a work item, with planned units.</a:t>
                      </a:r>
                    </a:p>
                  </a:txBody>
                  <a:tcPr marT="12700" marB="12700">
                    <a:solidFill>
                      <a:srgbClr val="FFFFFF"/>
                    </a:solidFill>
                  </a:tcPr>
                </a:tc>
                <a:tc>
                  <a:txBody>
                    <a:bodyPr wrap="square"/>
                    <a:lstStyle/>
                    <a:p>
                      <a:r>
                        <a:rPr sz="950" b="0" i="0">
                          <a:solidFill>
                            <a:srgbClr val="202020"/>
                          </a:solidFill>
                          <a:latin typeface="Calibri"/>
                        </a:rPr>
                        <a:t>No</a:t>
                      </a:r>
                    </a:p>
                  </a:txBody>
                  <a:tcPr marT="12700" marB="12700">
                    <a:solidFill>
                      <a:srgbClr val="FFFFFF"/>
                    </a:solidFill>
                  </a:tcPr>
                </a:tc>
              </a:tr>
              <a:tr h="384048">
                <a:tc>
                  <a:txBody>
                    <a:bodyPr wrap="square"/>
                    <a:lstStyle/>
                    <a:p>
                      <a:r>
                        <a:rPr sz="950" b="0" i="0">
                          <a:solidFill>
                            <a:srgbClr val="202020"/>
                          </a:solidFill>
                          <a:latin typeface="Calibri"/>
                        </a:rPr>
                        <a:t>Discussion</a:t>
                      </a:r>
                    </a:p>
                  </a:txBody>
                  <a:tcPr marT="12700" marB="12700">
                    <a:solidFill>
                      <a:srgbClr val="F7F9FC"/>
                    </a:solidFill>
                  </a:tcPr>
                </a:tc>
                <a:tc>
                  <a:txBody>
                    <a:bodyPr wrap="square"/>
                    <a:lstStyle/>
                    <a:p>
                      <a:r>
                        <a:rPr sz="950" b="0" i="0">
                          <a:solidFill>
                            <a:srgbClr val="202020"/>
                          </a:solidFill>
                          <a:latin typeface="Calibri"/>
                        </a:rPr>
                        <a:t>Discussion</a:t>
                      </a:r>
                    </a:p>
                  </a:txBody>
                  <a:tcPr marT="12700" marB="12700">
                    <a:solidFill>
                      <a:srgbClr val="F7F9FC"/>
                    </a:solidFill>
                  </a:tcPr>
                </a:tc>
                <a:tc>
                  <a:txBody>
                    <a:bodyPr wrap="square"/>
                    <a:lstStyle/>
                    <a:p>
                      <a:r>
                        <a:rPr sz="950" b="0" i="0">
                          <a:solidFill>
                            <a:srgbClr val="202020"/>
                          </a:solidFill>
                          <a:latin typeface="Calibri"/>
                        </a:rPr>
                        <a:t>A comment/discussion thread on a work item.</a:t>
                      </a:r>
                    </a:p>
                  </a:txBody>
                  <a:tcPr marT="12700" marB="12700">
                    <a:solidFill>
                      <a:srgbClr val="F7F9FC"/>
                    </a:solidFill>
                  </a:tcPr>
                </a:tc>
                <a:tc>
                  <a:txBody>
                    <a:bodyPr wrap="square"/>
                    <a:lstStyle/>
                    <a:p>
                      <a:r>
                        <a:rPr sz="950" b="0" i="0">
                          <a:solidFill>
                            <a:srgbClr val="202020"/>
                          </a:solidFill>
                          <a:latin typeface="Calibri"/>
                        </a:rPr>
                        <a:t>No</a:t>
                      </a:r>
                    </a:p>
                  </a:txBody>
                  <a:tcPr marT="12700" marB="12700">
                    <a:solidFill>
                      <a:srgbClr val="F7F9FC"/>
                    </a:solidFill>
                  </a:tcPr>
                </a:tc>
              </a:tr>
              <a:tr h="384048">
                <a:tc>
                  <a:txBody>
                    <a:bodyPr wrap="square"/>
                    <a:lstStyle/>
                    <a:p>
                      <a:r>
                        <a:rPr sz="950" b="0" i="0">
                          <a:solidFill>
                            <a:srgbClr val="202020"/>
                          </a:solidFill>
                          <a:latin typeface="Calibri"/>
                        </a:rPr>
                        <a:t>Attachment</a:t>
                      </a:r>
                    </a:p>
                  </a:txBody>
                  <a:tcPr marT="12700" marB="12700">
                    <a:solidFill>
                      <a:srgbClr val="FFFFFF"/>
                    </a:solidFill>
                  </a:tcPr>
                </a:tc>
                <a:tc>
                  <a:txBody>
                    <a:bodyPr wrap="square"/>
                    <a:lstStyle/>
                    <a:p>
                      <a:r>
                        <a:rPr sz="950" b="0" i="0">
                          <a:solidFill>
                            <a:srgbClr val="202020"/>
                          </a:solidFill>
                          <a:latin typeface="Calibri"/>
                        </a:rPr>
                        <a:t>Attachment</a:t>
                      </a:r>
                    </a:p>
                  </a:txBody>
                  <a:tcPr marT="12700" marB="12700">
                    <a:solidFill>
                      <a:srgbClr val="FFFFFF"/>
                    </a:solidFill>
                  </a:tcPr>
                </a:tc>
                <a:tc>
                  <a:txBody>
                    <a:bodyPr wrap="square"/>
                    <a:lstStyle/>
                    <a:p>
                      <a:r>
                        <a:rPr sz="950" b="0" i="0">
                          <a:solidFill>
                            <a:srgbClr val="202020"/>
                          </a:solidFill>
                          <a:latin typeface="Calibri"/>
                        </a:rPr>
                        <a:t>A file attached to a work item (metadata, and optionally its text).</a:t>
                      </a:r>
                    </a:p>
                  </a:txBody>
                  <a:tcPr marT="12700" marB="12700">
                    <a:solidFill>
                      <a:srgbClr val="FFFFFF"/>
                    </a:solidFill>
                  </a:tcPr>
                </a:tc>
                <a:tc>
                  <a:txBody>
                    <a:bodyPr wrap="square"/>
                    <a:lstStyle/>
                    <a:p>
                      <a:r>
                        <a:rPr sz="950" b="0" i="0">
                          <a:solidFill>
                            <a:srgbClr val="202020"/>
                          </a:solidFill>
                          <a:latin typeface="Calibri"/>
                        </a:rPr>
                        <a:t>No</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312</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2.2 The record types this connector indexes</a:t>
            </a:r>
          </a:p>
        </p:txBody>
      </p:sp>
      <p:sp>
        <p:nvSpPr>
          <p:cNvPr id="5" name="Rectangle 4"/>
          <p:cNvSpPr/>
          <p:nvPr/>
        </p:nvSpPr>
        <p:spPr>
          <a:xfrm>
            <a:off x="502920" y="1463040"/>
            <a:ext cx="11185855" cy="3291840"/>
          </a:xfrm>
          <a:prstGeom prst="rect">
            <a:avLst/>
          </a:prstGeom>
          <a:solidFill>
            <a:srgbClr val="E7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7D32"/>
                </a:solidFill>
                <a:latin typeface="Calibri"/>
              </a:rPr>
              <a:t>Tip:  </a:t>
            </a:r>
            <a:r>
              <a:rPr sz="1400" b="1" i="0">
                <a:solidFill>
                  <a:srgbClr val="202020"/>
                </a:solidFill>
                <a:latin typeface="Calibri"/>
              </a:rPr>
              <a:t>Tip: </a:t>
            </a:r>
            <a:r>
              <a:rPr sz="1400" b="0" i="0">
                <a:solidFill>
                  <a:srgbClr val="202020"/>
                </a:solidFill>
                <a:latin typeface="Calibri"/>
              </a:rPr>
              <a:t>The object list, the fields pulled from each, and which fields count as financial are all config-driven in </a:t>
            </a:r>
            <a:r>
              <a:rPr sz="1350" b="0" i="0">
                <a:solidFill>
                  <a:srgbClr val="202020"/>
                </a:solidFill>
                <a:latin typeface="Consolas"/>
              </a:rPr>
              <a:t>config/schema.json</a:t>
            </a:r>
            <a:r>
              <a:rPr sz="1400" b="0" i="0">
                <a:solidFill>
                  <a:srgbClr val="202020"/>
                </a:solidFill>
                <a:latin typeface="Calibri"/>
              </a:rPr>
              <a:t>. Custom Clarizen fields are fully supported — adding one is a config change, not a code change. Confirm the object and field list with your </a:t>
            </a:r>
            <a:r>
              <a:rPr sz="1400" b="1" i="0">
                <a:solidFill>
                  <a:srgbClr val="202020"/>
                </a:solidFill>
                <a:latin typeface="Calibri"/>
              </a:rPr>
              <a:t>Clarizen/Planview administrator</a:t>
            </a:r>
            <a:r>
              <a:rPr sz="1400" b="0" i="0">
                <a:solidFill>
                  <a:srgbClr val="202020"/>
                </a:solidFill>
                <a:latin typeface="Calibri"/>
              </a:rPr>
              <a:t> before first crawl.</a:t>
            </a:r>
          </a:p>
        </p:txBody>
      </p:sp>
      <p:sp>
        <p:nvSpPr>
          <p:cNvPr id="6" name="Rectangle 5"/>
          <p:cNvSpPr/>
          <p:nvPr/>
        </p:nvSpPr>
        <p:spPr>
          <a:xfrm>
            <a:off x="502920" y="1463040"/>
            <a:ext cx="128016" cy="32918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313</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Clarizen Connector</a:t>
            </a:r>
          </a:p>
          <a:p>
            <a:r>
              <a:rPr sz="3000" b="1" i="0">
                <a:solidFill>
                  <a:srgbClr val="1F3864"/>
                </a:solidFill>
                <a:latin typeface="Calibri"/>
              </a:rPr>
              <a:t>3. What this connector does</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314</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3. What this connector does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connector reads records from Clarizen, converts each one into a Microsoft Graph external item with the correct access list, and pushes it into a Copilot external connection. Copilot then searches that index and shows each user only the items their identity is allowed to see.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315</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3.1 The flow, end to end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Every crawl follows the same path:</a:t>
            </a:r>
          </a:p>
          <a:p>
            <a:pPr>
              <a:spcBef>
                <a:spcPts val="100"/>
              </a:spcBef>
              <a:spcAft>
                <a:spcPts val="200"/>
              </a:spcAft>
            </a:pPr>
            <a:r>
              <a:rPr sz="1250" b="1" i="0">
                <a:solidFill>
                  <a:srgbClr val="2E5496"/>
                </a:solidFill>
                <a:latin typeface="Calibri"/>
              </a:rPr>
              <a:t>1.  </a:t>
            </a:r>
            <a:r>
              <a:rPr sz="1250" b="1" i="0">
                <a:solidFill>
                  <a:srgbClr val="202020"/>
                </a:solidFill>
                <a:latin typeface="Calibri"/>
              </a:rPr>
              <a:t>Read from Clarizen.</a:t>
            </a:r>
            <a:r>
              <a:rPr sz="1250" b="0" i="0">
                <a:solidFill>
                  <a:srgbClr val="202020"/>
                </a:solidFill>
                <a:latin typeface="Calibri"/>
              </a:rPr>
              <a:t> A full crawl prefers the bulk </a:t>
            </a:r>
            <a:r>
              <a:rPr sz="1250" b="1" i="0">
                <a:solidFill>
                  <a:srgbClr val="202020"/>
                </a:solidFill>
                <a:latin typeface="Calibri"/>
              </a:rPr>
              <a:t>TDW export</a:t>
            </a:r>
            <a:r>
              <a:rPr sz="1250" b="0" i="0">
                <a:solidFill>
                  <a:srgbClr val="202020"/>
                </a:solidFill>
                <a:latin typeface="Calibri"/>
              </a:rPr>
              <a:t> files and falls back to the REST API v2 per object; an incremental crawl always uses the REST API with a "changed since last time" query (Section 4).</a:t>
            </a:r>
          </a:p>
          <a:p>
            <a:pPr>
              <a:spcBef>
                <a:spcPts val="100"/>
              </a:spcBef>
              <a:spcAft>
                <a:spcPts val="200"/>
              </a:spcAft>
            </a:pPr>
            <a:r>
              <a:rPr sz="1250" b="1" i="0">
                <a:solidFill>
                  <a:srgbClr val="2E5496"/>
                </a:solidFill>
                <a:latin typeface="Calibri"/>
              </a:rPr>
              <a:t>2.  </a:t>
            </a:r>
            <a:r>
              <a:rPr sz="1250" b="1" i="0">
                <a:solidFill>
                  <a:srgbClr val="202020"/>
                </a:solidFill>
                <a:latin typeface="Calibri"/>
              </a:rPr>
              <a:t>Resolve access.</a:t>
            </a:r>
            <a:r>
              <a:rPr sz="1250" b="0" i="0">
                <a:solidFill>
                  <a:srgbClr val="202020"/>
                </a:solidFill>
                <a:latin typeface="Calibri"/>
              </a:rPr>
              <a:t> For each record the connector works out who may see it — the owners plus the project team — and maps those Clarizen people and groups to Entra ID identities (Section 5).</a:t>
            </a:r>
          </a:p>
          <a:p>
            <a:pPr>
              <a:spcBef>
                <a:spcPts val="100"/>
              </a:spcBef>
              <a:spcAft>
                <a:spcPts val="200"/>
              </a:spcAft>
            </a:pPr>
            <a:r>
              <a:rPr sz="1250" b="1" i="0">
                <a:solidFill>
                  <a:srgbClr val="2E5496"/>
                </a:solidFill>
                <a:latin typeface="Calibri"/>
              </a:rPr>
              <a:t>3.  </a:t>
            </a:r>
            <a:r>
              <a:rPr sz="1250" b="1" i="0">
                <a:solidFill>
                  <a:srgbClr val="202020"/>
                </a:solidFill>
                <a:latin typeface="Calibri"/>
              </a:rPr>
              <a:t>Convert.</a:t>
            </a:r>
            <a:r>
              <a:rPr sz="1250" b="0" i="0">
                <a:solidFill>
                  <a:srgbClr val="202020"/>
                </a:solidFill>
                <a:latin typeface="Calibri"/>
              </a:rPr>
              <a:t> Each record becomes one external item: searchable text, a set of properties, a deep link back into Clarizen, and the access list from step 2. Financial fields are governed here (Section 6).</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316</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3.1 The flow, end to end</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4.  </a:t>
            </a:r>
            <a:r>
              <a:rPr sz="1250" b="1" i="0">
                <a:solidFill>
                  <a:srgbClr val="202020"/>
                </a:solidFill>
                <a:latin typeface="Calibri"/>
              </a:rPr>
              <a:t>Write to Graph.</a:t>
            </a:r>
            <a:r>
              <a:rPr sz="1250" b="0" i="0">
                <a:solidFill>
                  <a:srgbClr val="202020"/>
                </a:solidFill>
                <a:latin typeface="Calibri"/>
              </a:rPr>
              <a:t> Items are pushed to the Copilot external connection in batches, with checkpoints so an interrupted crawl resumes where it stopped.</a:t>
            </a:r>
          </a:p>
          <a:p>
            <a:pPr>
              <a:spcBef>
                <a:spcPts val="100"/>
              </a:spcBef>
              <a:spcAft>
                <a:spcPts val="200"/>
              </a:spcAft>
            </a:pPr>
            <a:r>
              <a:rPr sz="1250" b="1" i="0">
                <a:solidFill>
                  <a:srgbClr val="2E5496"/>
                </a:solidFill>
                <a:latin typeface="Calibri"/>
              </a:rPr>
              <a:t>5.  </a:t>
            </a:r>
            <a:r>
              <a:rPr sz="1250" b="1" i="0">
                <a:solidFill>
                  <a:srgbClr val="202020"/>
                </a:solidFill>
                <a:latin typeface="Calibri"/>
              </a:rPr>
              <a:t>Reconcile deletions.</a:t>
            </a:r>
            <a:r>
              <a:rPr sz="1250" b="0" i="0">
                <a:solidFill>
                  <a:srgbClr val="202020"/>
                </a:solidFill>
                <a:latin typeface="Calibri"/>
              </a:rPr>
              <a:t> After a full crawl, records that vanished from Clarizen are withdrawn from the index (Section 7).</a:t>
            </a:r>
          </a:p>
          <a:p>
            <a:pPr>
              <a:spcBef>
                <a:spcPts val="100"/>
              </a:spcBef>
              <a:spcAft>
                <a:spcPts val="400"/>
              </a:spcAft>
            </a:pPr>
            <a:r>
              <a:rPr sz="1250" b="0" i="0">
                <a:solidFill>
                  <a:srgbClr val="202020"/>
                </a:solidFill>
                <a:latin typeface="Calibri"/>
              </a:rPr>
              <a:t>The pipeline in the middle — checkpoints, the dead-letter queue for failed records, retry/back-off, sharding, high availability and the circuit breakers — is the shared chassis described in the Common Guide. This guide covers the Clarizen-specific ends of the flow and the two connector-specific signature features: </a:t>
            </a:r>
            <a:r>
              <a:rPr sz="1250" b="1" i="0">
                <a:solidFill>
                  <a:srgbClr val="202020"/>
                </a:solidFill>
                <a:latin typeface="Calibri"/>
              </a:rPr>
              <a:t>financial-field governance</a:t>
            </a:r>
            <a:r>
              <a:rPr sz="1250" b="0" i="0">
                <a:solidFill>
                  <a:srgbClr val="202020"/>
                </a:solidFill>
                <a:latin typeface="Calibri"/>
              </a:rPr>
              <a:t> (Section 6) and </a:t>
            </a:r>
            <a:r>
              <a:rPr sz="1250" b="1" i="0">
                <a:solidFill>
                  <a:srgbClr val="202020"/>
                </a:solidFill>
                <a:latin typeface="Calibri"/>
              </a:rPr>
              <a:t>HMAC-signed webhooks</a:t>
            </a:r>
            <a:r>
              <a:rPr sz="1250" b="0" i="0">
                <a:solidFill>
                  <a:srgbClr val="202020"/>
                </a:solidFill>
                <a:latin typeface="Calibri"/>
              </a:rPr>
              <a:t> (Section 7).</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317</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3.2 The picture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Clarizen (REST v2 + TDW export)  →  the connector (resolve ACLs, convert, govern financials)  →  Microsoft Graph external connection  →  the Microsoft 365 Copilot / Microsoft Search index  →  the end user's Copilot answer, access-trimmed to what they may see.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318</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3.2 The picture</a:t>
            </a:r>
          </a:p>
        </p:txBody>
      </p:sp>
      <p:sp>
        <p:nvSpPr>
          <p:cNvPr id="5" name="Rectangle 4"/>
          <p:cNvSpPr/>
          <p:nvPr/>
        </p:nvSpPr>
        <p:spPr>
          <a:xfrm>
            <a:off x="502920" y="1463040"/>
            <a:ext cx="11185855" cy="329184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5496"/>
                </a:solidFill>
                <a:latin typeface="Calibri"/>
              </a:rPr>
              <a:t>Note:  </a:t>
            </a:r>
            <a:r>
              <a:rPr sz="1400" b="1" i="0">
                <a:solidFill>
                  <a:srgbClr val="202020"/>
                </a:solidFill>
                <a:latin typeface="Calibri"/>
              </a:rPr>
              <a:t>Note: </a:t>
            </a:r>
            <a:r>
              <a:rPr sz="1400" b="0" i="0">
                <a:solidFill>
                  <a:srgbClr val="202020"/>
                </a:solidFill>
                <a:latin typeface="Calibri"/>
              </a:rPr>
              <a:t>The connector only ever writes to its own external connection (the Graph permissions are the </a:t>
            </a:r>
            <a:r>
              <a:rPr sz="1350" b="0" i="0">
                <a:solidFill>
                  <a:srgbClr val="202020"/>
                </a:solidFill>
                <a:latin typeface="Consolas"/>
              </a:rPr>
              <a:t>OwnedBy</a:t>
            </a:r>
            <a:r>
              <a:rPr sz="1400" b="0" i="0">
                <a:solidFill>
                  <a:srgbClr val="202020"/>
                </a:solidFill>
                <a:latin typeface="Calibri"/>
              </a:rPr>
              <a:t> variants). It cannot read or change mail, files, SharePoint sites or any other Copilot content — see the least-privilege permission set in Section 4.3.</a:t>
            </a:r>
          </a:p>
        </p:txBody>
      </p:sp>
      <p:sp>
        <p:nvSpPr>
          <p:cNvPr id="6" name="Rectangle 5"/>
          <p:cNvSpPr/>
          <p:nvPr/>
        </p:nvSpPr>
        <p:spPr>
          <a:xfrm>
            <a:off x="502920" y="1463040"/>
            <a:ext cx="128016" cy="329184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319</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Clarizen Connector</a:t>
            </a:r>
          </a:p>
          <a:p>
            <a:r>
              <a:rPr sz="3000" b="1" i="0">
                <a:solidFill>
                  <a:srgbClr val="1F3864"/>
                </a:solidFill>
                <a:latin typeface="Calibri"/>
              </a:rPr>
              <a:t>4. How the connector connects to Clarizen (the target system)</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320</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 How the connector connects to Clarizen (the target system)</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This section is about the left-hand side of the flow: how the connector authenticates to Clarizen, how it queries records, how it protects your Clarizen API quota, and what it needs to reach across the network.</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321</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4.1 REST API v2, session authentication and CZQL</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connector talks to the Clarizen </a:t>
            </a:r>
            <a:r>
              <a:rPr sz="1250" b="1" i="0">
                <a:solidFill>
                  <a:srgbClr val="202020"/>
                </a:solidFill>
                <a:latin typeface="Calibri"/>
              </a:rPr>
              <a:t>REST API v2</a:t>
            </a:r>
            <a:r>
              <a:rPr sz="1250" b="0" i="0">
                <a:solidFill>
                  <a:srgbClr val="202020"/>
                </a:solidFill>
                <a:latin typeface="Calibri"/>
              </a:rPr>
              <a:t> (default endpoint </a:t>
            </a:r>
            <a:r>
              <a:rPr sz="1200" b="0" i="0">
                <a:solidFill>
                  <a:srgbClr val="202020"/>
                </a:solidFill>
                <a:latin typeface="Consolas"/>
              </a:rPr>
              <a:t>https://api.clarizen.com/v2.0/services</a:t>
            </a:r>
            <a:r>
              <a:rPr sz="1250" b="0" i="0">
                <a:solidFill>
                  <a:srgbClr val="202020"/>
                </a:solidFill>
                <a:latin typeface="Calibri"/>
              </a:rPr>
              <a:t>; EU organisations use </a:t>
            </a:r>
            <a:r>
              <a:rPr sz="1200" b="0" i="0">
                <a:solidFill>
                  <a:srgbClr val="202020"/>
                </a:solidFill>
                <a:latin typeface="Consolas"/>
              </a:rPr>
              <a:t>https://api2.clarizen.com/v2.0/services</a:t>
            </a:r>
            <a:r>
              <a:rPr sz="1250" b="0" i="0">
                <a:solidFill>
                  <a:srgbClr val="202020"/>
                </a:solidFill>
                <a:latin typeface="Calibri"/>
              </a:rPr>
              <a:t>). It signs in with </a:t>
            </a:r>
            <a:r>
              <a:rPr sz="1250" b="1" i="0">
                <a:solidFill>
                  <a:srgbClr val="202020"/>
                </a:solidFill>
                <a:latin typeface="Calibri"/>
              </a:rPr>
              <a:t>session authentication</a:t>
            </a:r>
            <a:r>
              <a:rPr sz="1250" b="0" i="0">
                <a:solidFill>
                  <a:srgbClr val="202020"/>
                </a:solidFill>
                <a:latin typeface="Calibri"/>
              </a:rPr>
              <a:t>: it POSTs the API user's name and password to </a:t>
            </a:r>
            <a:r>
              <a:rPr sz="1200" b="0" i="0">
                <a:solidFill>
                  <a:srgbClr val="202020"/>
                </a:solidFill>
                <a:latin typeface="Consolas"/>
              </a:rPr>
              <a:t>authentication/login</a:t>
            </a:r>
            <a:r>
              <a:rPr sz="1250" b="0" i="0">
                <a:solidFill>
                  <a:srgbClr val="202020"/>
                </a:solidFill>
                <a:latin typeface="Calibri"/>
              </a:rPr>
              <a:t>, receives a </a:t>
            </a:r>
            <a:r>
              <a:rPr sz="1200" b="0" i="0">
                <a:solidFill>
                  <a:srgbClr val="202020"/>
                </a:solidFill>
                <a:latin typeface="Consolas"/>
              </a:rPr>
              <a:t>sessionId</a:t>
            </a:r>
            <a:r>
              <a:rPr sz="1250" b="0" i="0">
                <a:solidFill>
                  <a:srgbClr val="202020"/>
                </a:solidFill>
                <a:latin typeface="Calibri"/>
              </a:rPr>
              <a:t>, and sends that on every subsequent call as an </a:t>
            </a:r>
            <a:r>
              <a:rPr sz="1200" b="0" i="0">
                <a:solidFill>
                  <a:srgbClr val="202020"/>
                </a:solidFill>
                <a:latin typeface="Consolas"/>
              </a:rPr>
              <a:t>Authorization: Session &lt;id&gt;</a:t>
            </a:r>
            <a:r>
              <a:rPr sz="1250" b="0" i="0">
                <a:solidFill>
                  <a:srgbClr val="202020"/>
                </a:solidFill>
                <a:latin typeface="Calibri"/>
              </a:rPr>
              <a:t> header. If a session expires mid-crawl (an HTTP 401 or a </a:t>
            </a:r>
            <a:r>
              <a:rPr sz="1200" b="0" i="0">
                <a:solidFill>
                  <a:srgbClr val="202020"/>
                </a:solidFill>
                <a:latin typeface="Consolas"/>
              </a:rPr>
              <a:t>SessionTimeout</a:t>
            </a:r>
            <a:r>
              <a:rPr sz="1250" b="0" i="0">
                <a:solidFill>
                  <a:srgbClr val="202020"/>
                </a:solidFill>
                <a:latin typeface="Calibri"/>
              </a:rPr>
              <a:t> error), the connector logs in again once, transparently, and replays the call — you do nothing.</a:t>
            </a:r>
          </a:p>
          <a:p>
            <a:pPr>
              <a:spcBef>
                <a:spcPts val="100"/>
              </a:spcBef>
              <a:spcAft>
                <a:spcPts val="400"/>
              </a:spcAft>
            </a:pPr>
            <a:r>
              <a:rPr sz="1250" b="0" i="0">
                <a:solidFill>
                  <a:srgbClr val="202020"/>
                </a:solidFill>
                <a:latin typeface="Calibri"/>
              </a:rPr>
              <a:t>Records are read with </a:t>
            </a:r>
            <a:r>
              <a:rPr sz="1250" b="1" i="0">
                <a:solidFill>
                  <a:srgbClr val="202020"/>
                </a:solidFill>
                <a:latin typeface="Calibri"/>
              </a:rPr>
              <a:t>CZQL</a:t>
            </a:r>
            <a:r>
              <a:rPr sz="1250" b="0" i="0">
                <a:solidFill>
                  <a:srgbClr val="202020"/>
                </a:solidFill>
                <a:latin typeface="Calibri"/>
              </a:rPr>
              <a:t>, Clarizen's SQL-like query language, POSTed to </a:t>
            </a:r>
            <a:r>
              <a:rPr sz="1200" b="0" i="0">
                <a:solidFill>
                  <a:srgbClr val="202020"/>
                </a:solidFill>
                <a:latin typeface="Consolas"/>
              </a:rPr>
              <a:t>data/query</a:t>
            </a:r>
            <a:r>
              <a:rPr sz="1250" b="0" i="0">
                <a:solidFill>
                  <a:srgbClr val="202020"/>
                </a:solidFill>
                <a:latin typeface="Calibri"/>
              </a:rPr>
              <a:t> and paged until every row is returned. An incremental crawl adds a </a:t>
            </a:r>
            <a:r>
              <a:rPr sz="1200" b="0" i="0">
                <a:solidFill>
                  <a:srgbClr val="202020"/>
                </a:solidFill>
                <a:latin typeface="Consolas"/>
              </a:rPr>
              <a:t>LastUpdatedOn &gt; &lt;last-sync-time&gt;</a:t>
            </a:r>
            <a:r>
              <a:rPr sz="1250" b="0" i="0">
                <a:solidFill>
                  <a:srgbClr val="202020"/>
                </a:solidFill>
                <a:latin typeface="Calibri"/>
              </a:rPr>
              <a:t> condition so it only pulls records that changed since the previous run (the "delta cursor").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322</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4.2 The API-budget governor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Clarizen organisations have a per-day API quota shared by everyone who uses the API. To make sure the connector never starves interactive users, it enforces its own </a:t>
            </a:r>
            <a:r>
              <a:rPr sz="1250" b="1" i="0">
                <a:solidFill>
                  <a:srgbClr val="202020"/>
                </a:solidFill>
                <a:latin typeface="Calibri"/>
              </a:rPr>
              <a:t>client-side daily budget</a:t>
            </a:r>
            <a:r>
              <a:rPr sz="1250" b="0" i="0">
                <a:solidFill>
                  <a:srgbClr val="202020"/>
                </a:solidFill>
                <a:latin typeface="Calibri"/>
              </a:rPr>
              <a:t>:</a:t>
            </a:r>
          </a:p>
          <a:p>
            <a:pPr>
              <a:spcBef>
                <a:spcPts val="100"/>
              </a:spcBef>
              <a:spcAft>
                <a:spcPts val="200"/>
              </a:spcAft>
            </a:pPr>
            <a:r>
              <a:rPr sz="1250" b="1" i="0">
                <a:solidFill>
                  <a:srgbClr val="2E5496"/>
                </a:solidFill>
                <a:latin typeface="Calibri"/>
              </a:rPr>
              <a:t>•  </a:t>
            </a:r>
            <a:r>
              <a:rPr sz="1200" b="0" i="0">
                <a:solidFill>
                  <a:srgbClr val="202020"/>
                </a:solidFill>
                <a:latin typeface="Consolas"/>
              </a:rPr>
              <a:t>CLARIZEN_API_CALLS_PER_DAY</a:t>
            </a:r>
            <a:r>
              <a:rPr sz="1250" b="0" i="0">
                <a:solidFill>
                  <a:srgbClr val="202020"/>
                </a:solidFill>
                <a:latin typeface="Calibri"/>
              </a:rPr>
              <a:t> (default </a:t>
            </a:r>
            <a:r>
              <a:rPr sz="1250" b="1" i="0">
                <a:solidFill>
                  <a:srgbClr val="202020"/>
                </a:solidFill>
                <a:latin typeface="Calibri"/>
              </a:rPr>
              <a:t>25000</a:t>
            </a:r>
            <a:r>
              <a:rPr sz="1250" b="0" i="0">
                <a:solidFill>
                  <a:srgbClr val="202020"/>
                </a:solidFill>
                <a:latin typeface="Calibri"/>
              </a:rPr>
              <a:t>) is the connector's share of the org quota. Leave headroom below the org limit for other consumers.</a:t>
            </a:r>
          </a:p>
          <a:p>
            <a:pPr>
              <a:spcBef>
                <a:spcPts val="100"/>
              </a:spcBef>
              <a:spcAft>
                <a:spcPts val="200"/>
              </a:spcAft>
            </a:pPr>
            <a:r>
              <a:rPr sz="1250" b="1" i="0">
                <a:solidFill>
                  <a:srgbClr val="2E5496"/>
                </a:solidFill>
                <a:latin typeface="Calibri"/>
              </a:rPr>
              <a:t>•  </a:t>
            </a:r>
            <a:r>
              <a:rPr sz="1200" b="0" i="0">
                <a:solidFill>
                  <a:srgbClr val="202020"/>
                </a:solidFill>
                <a:latin typeface="Consolas"/>
              </a:rPr>
              <a:t>CLARIZEN_MAX_CALLS_PER_MINUTE</a:t>
            </a:r>
            <a:r>
              <a:rPr sz="1250" b="0" i="0">
                <a:solidFill>
                  <a:srgbClr val="202020"/>
                </a:solidFill>
                <a:latin typeface="Calibri"/>
              </a:rPr>
              <a:t> (default </a:t>
            </a:r>
            <a:r>
              <a:rPr sz="1250" b="1" i="0">
                <a:solidFill>
                  <a:srgbClr val="202020"/>
                </a:solidFill>
                <a:latin typeface="Calibri"/>
              </a:rPr>
              <a:t>60</a:t>
            </a:r>
            <a:r>
              <a:rPr sz="1250" b="0" i="0">
                <a:solidFill>
                  <a:srgbClr val="202020"/>
                </a:solidFill>
                <a:latin typeface="Calibri"/>
              </a:rPr>
              <a:t>) smooths bursts — the connector paces itself so it never spikes the API.</a:t>
            </a:r>
          </a:p>
          <a:p>
            <a:pPr>
              <a:spcBef>
                <a:spcPts val="100"/>
              </a:spcBef>
              <a:spcAft>
                <a:spcPts val="200"/>
              </a:spcAft>
            </a:pPr>
            <a:r>
              <a:rPr sz="1250" b="1" i="0">
                <a:solidFill>
                  <a:srgbClr val="2E5496"/>
                </a:solidFill>
                <a:latin typeface="Calibri"/>
              </a:rPr>
              <a:t>•  </a:t>
            </a:r>
            <a:r>
              <a:rPr sz="1250" b="0" i="0">
                <a:solidFill>
                  <a:srgbClr val="202020"/>
                </a:solidFill>
                <a:latin typeface="Calibri"/>
              </a:rPr>
              <a:t>The budget window resets at </a:t>
            </a:r>
            <a:r>
              <a:rPr sz="1250" b="1" i="0">
                <a:solidFill>
                  <a:srgbClr val="202020"/>
                </a:solidFill>
                <a:latin typeface="Calibri"/>
              </a:rPr>
              <a:t>UTC midnight</a:t>
            </a:r>
            <a:r>
              <a:rPr sz="1250" b="0" i="0">
                <a:solidFill>
                  <a:srgbClr val="202020"/>
                </a:solidFill>
                <a:latin typeface="Calibri"/>
              </a:rPr>
              <a:t>. When the budget is exhausted the crawl saves its checkpoint and pauses cleanly; the next scheduled cycle resumes exactly where it stopped. Nothing is lost and no error escalation is needed.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323</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4.2 The API-budget governor</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remaining budget is published live as the </a:t>
            </a:r>
            <a:r>
              <a:rPr sz="1200" b="0" i="0">
                <a:solidFill>
                  <a:srgbClr val="202020"/>
                </a:solidFill>
                <a:latin typeface="Consolas"/>
              </a:rPr>
              <a:t>api_budget_remaining</a:t>
            </a:r>
            <a:r>
              <a:rPr sz="1250" b="0" i="0">
                <a:solidFill>
                  <a:srgbClr val="202020"/>
                </a:solidFill>
                <a:latin typeface="Calibri"/>
              </a:rPr>
              <a:t> metric (Section 11), so you can watch it during a large crawl.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324</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4.3 TDW bulk export for full crawls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 full crawl of a large Clarizen org would burn a lot of API budget. To avoid that, the connector can read full crawls from Clarizen's </a:t>
            </a:r>
            <a:r>
              <a:rPr sz="1250" b="1" i="0">
                <a:solidFill>
                  <a:srgbClr val="202020"/>
                </a:solidFill>
                <a:latin typeface="Calibri"/>
              </a:rPr>
              <a:t>TDW (Torch Data Warehouse) bulk export</a:t>
            </a:r>
            <a:r>
              <a:rPr sz="1250" b="0" i="0">
                <a:solidFill>
                  <a:srgbClr val="202020"/>
                </a:solidFill>
                <a:latin typeface="Calibri"/>
              </a:rPr>
              <a:t> instead of the live API. When </a:t>
            </a:r>
            <a:r>
              <a:rPr sz="1200" b="0" i="0">
                <a:solidFill>
                  <a:srgbClr val="202020"/>
                </a:solidFill>
                <a:latin typeface="Consolas"/>
              </a:rPr>
              <a:t>TDW_EXPORT_PATH</a:t>
            </a:r>
            <a:r>
              <a:rPr sz="1250" b="0" i="0">
                <a:solidFill>
                  <a:srgbClr val="202020"/>
                </a:solidFill>
                <a:latin typeface="Calibri"/>
              </a:rPr>
              <a:t> points at a directory of nightly export files (one </a:t>
            </a:r>
            <a:r>
              <a:rPr sz="1200" b="0" i="0">
                <a:solidFill>
                  <a:srgbClr val="202020"/>
                </a:solidFill>
                <a:latin typeface="Consolas"/>
              </a:rPr>
              <a:t>{ObjectName}.csv</a:t>
            </a:r>
            <a:r>
              <a:rPr sz="1250" b="0" i="0">
                <a:solidFill>
                  <a:srgbClr val="202020"/>
                </a:solidFill>
                <a:latin typeface="Calibri"/>
              </a:rPr>
              <a:t> or </a:t>
            </a:r>
            <a:r>
              <a:rPr sz="1200" b="0" i="0">
                <a:solidFill>
                  <a:srgbClr val="202020"/>
                </a:solidFill>
                <a:latin typeface="Consolas"/>
              </a:rPr>
              <a:t>{ObjectName}.json</a:t>
            </a:r>
            <a:r>
              <a:rPr sz="1250" b="0" i="0">
                <a:solidFill>
                  <a:srgbClr val="202020"/>
                </a:solidFill>
                <a:latin typeface="Calibri"/>
              </a:rPr>
              <a:t> per object type), full crawls read records straight from those files and spend </a:t>
            </a:r>
            <a:r>
              <a:rPr sz="1250" b="1" i="0">
                <a:solidFill>
                  <a:srgbClr val="202020"/>
                </a:solidFill>
                <a:latin typeface="Calibri"/>
              </a:rPr>
              <a:t>zero</a:t>
            </a:r>
            <a:r>
              <a:rPr sz="1250" b="0" i="0">
                <a:solidFill>
                  <a:srgbClr val="202020"/>
                </a:solidFill>
                <a:latin typeface="Calibri"/>
              </a:rPr>
              <a:t> API budget on them.</a:t>
            </a:r>
          </a:p>
          <a:p>
            <a:pPr>
              <a:spcBef>
                <a:spcPts val="100"/>
              </a:spcBef>
              <a:spcAft>
                <a:spcPts val="200"/>
              </a:spcAft>
            </a:pPr>
            <a:r>
              <a:rPr sz="1250" b="1" i="0">
                <a:solidFill>
                  <a:srgbClr val="2E5496"/>
                </a:solidFill>
                <a:latin typeface="Calibri"/>
              </a:rPr>
              <a:t>•  </a:t>
            </a:r>
            <a:r>
              <a:rPr sz="1250" b="0" i="0">
                <a:solidFill>
                  <a:srgbClr val="202020"/>
                </a:solidFill>
                <a:latin typeface="Calibri"/>
              </a:rPr>
              <a:t>Only </a:t>
            </a:r>
            <a:r>
              <a:rPr sz="1250" b="1" i="0">
                <a:solidFill>
                  <a:srgbClr val="202020"/>
                </a:solidFill>
                <a:latin typeface="Calibri"/>
              </a:rPr>
              <a:t>full</a:t>
            </a:r>
            <a:r>
              <a:rPr sz="1250" b="0" i="0">
                <a:solidFill>
                  <a:srgbClr val="202020"/>
                </a:solidFill>
                <a:latin typeface="Calibri"/>
              </a:rPr>
              <a:t> crawls use TDW. Incremental crawls always use the live REST API (the export is a nightly snapshot and cannot see today's changes).</a:t>
            </a:r>
          </a:p>
          <a:p>
            <a:pPr>
              <a:spcBef>
                <a:spcPts val="100"/>
              </a:spcBef>
              <a:spcAft>
                <a:spcPts val="200"/>
              </a:spcAft>
            </a:pPr>
            <a:r>
              <a:rPr sz="1250" b="1" i="0">
                <a:solidFill>
                  <a:srgbClr val="2E5496"/>
                </a:solidFill>
                <a:latin typeface="Calibri"/>
              </a:rPr>
              <a:t>•  </a:t>
            </a:r>
            <a:r>
              <a:rPr sz="1250" b="0" i="0">
                <a:solidFill>
                  <a:srgbClr val="202020"/>
                </a:solidFill>
                <a:latin typeface="Calibri"/>
              </a:rPr>
              <a:t>Any object type without an export file automatically </a:t>
            </a:r>
            <a:r>
              <a:rPr sz="1250" b="1" i="0">
                <a:solidFill>
                  <a:srgbClr val="202020"/>
                </a:solidFill>
                <a:latin typeface="Calibri"/>
              </a:rPr>
              <a:t>falls back</a:t>
            </a:r>
            <a:r>
              <a:rPr sz="1250" b="0" i="0">
                <a:solidFill>
                  <a:srgbClr val="202020"/>
                </a:solidFill>
                <a:latin typeface="Calibri"/>
              </a:rPr>
              <a:t> to the REST API — mixing the two is fine.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325</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4.3 TDW bulk export for full crawls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0" i="0">
                <a:solidFill>
                  <a:srgbClr val="202020"/>
                </a:solidFill>
                <a:latin typeface="Calibri"/>
              </a:rPr>
              <a:t>Every export file must carry the entity id column (</a:t>
            </a:r>
            <a:r>
              <a:rPr sz="1200" b="0" i="0">
                <a:solidFill>
                  <a:srgbClr val="202020"/>
                </a:solidFill>
                <a:latin typeface="Consolas"/>
              </a:rPr>
              <a:t>id</a:t>
            </a:r>
            <a:r>
              <a:rPr sz="1250" b="0" i="0">
                <a:solidFill>
                  <a:srgbClr val="202020"/>
                </a:solidFill>
                <a:latin typeface="Calibri"/>
              </a:rPr>
              <a:t> or </a:t>
            </a:r>
            <a:r>
              <a:rPr sz="1200" b="0" i="0">
                <a:solidFill>
                  <a:srgbClr val="202020"/>
                </a:solidFill>
                <a:latin typeface="Consolas"/>
              </a:rPr>
              <a:t>Id</a:t>
            </a:r>
            <a:r>
              <a:rPr sz="1250" b="0" i="0">
                <a:solidFill>
                  <a:srgbClr val="202020"/>
                </a:solidFill>
                <a:latin typeface="Calibri"/>
              </a:rPr>
              <a:t>). An export with no recognised id column is </a:t>
            </a:r>
            <a:r>
              <a:rPr sz="1250" b="1" i="0">
                <a:solidFill>
                  <a:srgbClr val="202020"/>
                </a:solidFill>
                <a:latin typeface="Calibri"/>
              </a:rPr>
              <a:t>rejected with a hard error</a:t>
            </a:r>
            <a:r>
              <a:rPr sz="1250" b="0" i="0">
                <a:solidFill>
                  <a:srgbClr val="202020"/>
                </a:solidFill>
                <a:latin typeface="Calibri"/>
              </a:rPr>
              <a:t> (without ids the deletion sweep would misfire); individual rows with a blank id are dropped and logged.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326</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4.3 TDW bulk export for full crawls</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Make sure the upstream TDW export job finishes before the full crawl starts. A half-written or truncated export looks like a mass deletion to the connector — the deletion-sweep guards (Section 7) will catch it, but it is better to schedule a gap between the export job and the full crawl.</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327</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4.4 Connection parameters</a:t>
            </a:r>
          </a:p>
        </p:txBody>
      </p:sp>
      <p:graphicFrame>
        <p:nvGraphicFramePr>
          <p:cNvPr id="5" name="Table 4"/>
          <p:cNvGraphicFramePr>
            <a:graphicFrameLocks noGrp="1"/>
          </p:cNvGraphicFramePr>
          <p:nvPr/>
        </p:nvGraphicFramePr>
        <p:xfrm>
          <a:off x="502920" y="1188720"/>
          <a:ext cx="11185855" cy="3456432"/>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Setting</a:t>
                      </a:r>
                    </a:p>
                  </a:txBody>
                  <a:tcPr marT="25400" marB="25400">
                    <a:solidFill>
                      <a:srgbClr val="2E5496"/>
                    </a:solidFill>
                  </a:tcPr>
                </a:tc>
                <a:tc>
                  <a:txBody>
                    <a:bodyPr wrap="square"/>
                    <a:lstStyle/>
                    <a:p>
                      <a:r>
                        <a:rPr sz="1050" b="1" i="0">
                          <a:solidFill>
                            <a:srgbClr val="FFFFFF"/>
                          </a:solidFill>
                          <a:latin typeface="Calibri"/>
                        </a:rPr>
                        <a:t>Default</a:t>
                      </a:r>
                    </a:p>
                  </a:txBody>
                  <a:tcPr marT="25400" marB="25400">
                    <a:solidFill>
                      <a:srgbClr val="2E5496"/>
                    </a:solidFill>
                  </a:tcPr>
                </a:tc>
                <a:tc>
                  <a:txBody>
                    <a:bodyPr wrap="square"/>
                    <a:lstStyle/>
                    <a:p>
                      <a:r>
                        <a:rPr sz="1050" b="1" i="0">
                          <a:solidFill>
                            <a:srgbClr val="FFFFFF"/>
                          </a:solidFill>
                          <a:latin typeface="Calibri"/>
                        </a:rPr>
                        <a:t>What it is</a:t>
                      </a:r>
                    </a:p>
                  </a:txBody>
                  <a:tcPr marT="25400" marB="25400">
                    <a:solidFill>
                      <a:srgbClr val="2E5496"/>
                    </a:solidFill>
                  </a:tcPr>
                </a:tc>
              </a:tr>
              <a:tr h="384048">
                <a:tc>
                  <a:txBody>
                    <a:bodyPr wrap="square"/>
                    <a:lstStyle/>
                    <a:p>
                      <a:r>
                        <a:rPr sz="950" b="0" i="0">
                          <a:solidFill>
                            <a:srgbClr val="202020"/>
                          </a:solidFill>
                          <a:latin typeface="Consolas"/>
                        </a:rPr>
                        <a:t>CLARIZEN_BASE_URL</a:t>
                      </a:r>
                    </a:p>
                  </a:txBody>
                  <a:tcPr marT="12700" marB="12700">
                    <a:solidFill>
                      <a:srgbClr val="FFFFFF"/>
                    </a:solidFill>
                  </a:tcPr>
                </a:tc>
                <a:tc>
                  <a:txBody>
                    <a:bodyPr wrap="square"/>
                    <a:lstStyle/>
                    <a:p>
                      <a:r>
                        <a:rPr sz="950" b="0" i="0">
                          <a:solidFill>
                            <a:srgbClr val="202020"/>
                          </a:solidFill>
                          <a:latin typeface="Calibri"/>
                        </a:rPr>
                        <a:t>https://api.clarizen.com/v2.0/services</a:t>
                      </a:r>
                    </a:p>
                  </a:txBody>
                  <a:tcPr marT="12700" marB="12700">
                    <a:solidFill>
                      <a:srgbClr val="FFFFFF"/>
                    </a:solidFill>
                  </a:tcPr>
                </a:tc>
                <a:tc>
                  <a:txBody>
                    <a:bodyPr wrap="square"/>
                    <a:lstStyle/>
                    <a:p>
                      <a:r>
                        <a:rPr sz="950" b="0" i="0">
                          <a:solidFill>
                            <a:srgbClr val="202020"/>
                          </a:solidFill>
                          <a:latin typeface="Calibri"/>
                        </a:rPr>
                        <a:t>REST API v2 endpoint. EU orgs: https://api2.clarizen.com/v2.0/services.</a:t>
                      </a:r>
                    </a:p>
                  </a:txBody>
                  <a:tcPr marT="12700" marB="12700">
                    <a:solidFill>
                      <a:srgbClr val="FFFFFF"/>
                    </a:solidFill>
                  </a:tcPr>
                </a:tc>
              </a:tr>
              <a:tr h="384048">
                <a:tc>
                  <a:txBody>
                    <a:bodyPr wrap="square"/>
                    <a:lstStyle/>
                    <a:p>
                      <a:r>
                        <a:rPr sz="950" b="0" i="0">
                          <a:solidFill>
                            <a:srgbClr val="202020"/>
                          </a:solidFill>
                          <a:latin typeface="Consolas"/>
                        </a:rPr>
                        <a:t>CLARIZEN_USERNAME</a:t>
                      </a:r>
                    </a:p>
                  </a:txBody>
                  <a:tcPr marT="12700" marB="12700">
                    <a:solidFill>
                      <a:srgbClr val="F7F9FC"/>
                    </a:solidFill>
                  </a:tcPr>
                </a:tc>
                <a:tc>
                  <a:txBody>
                    <a:bodyPr wrap="square"/>
                    <a:lstStyle/>
                    <a:p>
                      <a:r>
                        <a:rPr sz="950" b="0" i="0">
                          <a:solidFill>
                            <a:srgbClr val="202020"/>
                          </a:solidFill>
                          <a:latin typeface="Calibri"/>
                        </a:rPr>
                        <a:t>(required)</a:t>
                      </a:r>
                    </a:p>
                  </a:txBody>
                  <a:tcPr marT="12700" marB="12700">
                    <a:solidFill>
                      <a:srgbClr val="F7F9FC"/>
                    </a:solidFill>
                  </a:tcPr>
                </a:tc>
                <a:tc>
                  <a:txBody>
                    <a:bodyPr wrap="square"/>
                    <a:lstStyle/>
                    <a:p>
                      <a:r>
                        <a:rPr sz="950" b="0" i="0">
                          <a:solidFill>
                            <a:srgbClr val="202020"/>
                          </a:solidFill>
                          <a:latin typeface="Calibri"/>
                        </a:rPr>
                        <a:t>Login of the Clarizen API service user.</a:t>
                      </a:r>
                    </a:p>
                  </a:txBody>
                  <a:tcPr marT="12700" marB="12700">
                    <a:solidFill>
                      <a:srgbClr val="F7F9FC"/>
                    </a:solidFill>
                  </a:tcPr>
                </a:tc>
              </a:tr>
              <a:tr h="384048">
                <a:tc>
                  <a:txBody>
                    <a:bodyPr wrap="square"/>
                    <a:lstStyle/>
                    <a:p>
                      <a:r>
                        <a:rPr sz="950" b="0" i="0">
                          <a:solidFill>
                            <a:srgbClr val="202020"/>
                          </a:solidFill>
                          <a:latin typeface="Consolas"/>
                        </a:rPr>
                        <a:t>SECRET_CLARIZEN_PASSWORD</a:t>
                      </a:r>
                    </a:p>
                  </a:txBody>
                  <a:tcPr marT="12700" marB="12700">
                    <a:solidFill>
                      <a:srgbClr val="FFFFFF"/>
                    </a:solidFill>
                  </a:tcPr>
                </a:tc>
                <a:tc>
                  <a:txBody>
                    <a:bodyPr wrap="square"/>
                    <a:lstStyle/>
                    <a:p>
                      <a:r>
                        <a:rPr sz="950" b="0" i="0">
                          <a:solidFill>
                            <a:srgbClr val="202020"/>
                          </a:solidFill>
                          <a:latin typeface="Calibri"/>
                        </a:rPr>
                        <a:t>(required, secret)</a:t>
                      </a:r>
                    </a:p>
                  </a:txBody>
                  <a:tcPr marT="12700" marB="12700">
                    <a:solidFill>
                      <a:srgbClr val="FFFFFF"/>
                    </a:solidFill>
                  </a:tcPr>
                </a:tc>
                <a:tc>
                  <a:txBody>
                    <a:bodyPr wrap="square"/>
                    <a:lstStyle/>
                    <a:p>
                      <a:r>
                        <a:rPr sz="950" b="0" i="0">
                          <a:solidFill>
                            <a:srgbClr val="202020"/>
                          </a:solidFill>
                          <a:latin typeface="Calibri"/>
                        </a:rPr>
                        <a:t>Password for that user. Lives in .env.local.user or Key Vault, never in the tracked config.</a:t>
                      </a:r>
                    </a:p>
                  </a:txBody>
                  <a:tcPr marT="12700" marB="12700">
                    <a:solidFill>
                      <a:srgbClr val="FFFFFF"/>
                    </a:solidFill>
                  </a:tcPr>
                </a:tc>
              </a:tr>
              <a:tr h="384048">
                <a:tc>
                  <a:txBody>
                    <a:bodyPr wrap="square"/>
                    <a:lstStyle/>
                    <a:p>
                      <a:r>
                        <a:rPr sz="950" b="0" i="0">
                          <a:solidFill>
                            <a:srgbClr val="202020"/>
                          </a:solidFill>
                          <a:latin typeface="Consolas"/>
                        </a:rPr>
                        <a:t>CLARIZEN_APP_URL</a:t>
                      </a:r>
                    </a:p>
                  </a:txBody>
                  <a:tcPr marT="12700" marB="12700">
                    <a:solidFill>
                      <a:srgbClr val="F7F9FC"/>
                    </a:solidFill>
                  </a:tcPr>
                </a:tc>
                <a:tc>
                  <a:txBody>
                    <a:bodyPr wrap="square"/>
                    <a:lstStyle/>
                    <a:p>
                      <a:r>
                        <a:rPr sz="950" b="0" i="0">
                          <a:solidFill>
                            <a:srgbClr val="202020"/>
                          </a:solidFill>
                          <a:latin typeface="Calibri"/>
                        </a:rPr>
                        <a:t>https://app.clarizen.com</a:t>
                      </a:r>
                    </a:p>
                  </a:txBody>
                  <a:tcPr marT="12700" marB="12700">
                    <a:solidFill>
                      <a:srgbClr val="F7F9FC"/>
                    </a:solidFill>
                  </a:tcPr>
                </a:tc>
                <a:tc>
                  <a:txBody>
                    <a:bodyPr wrap="square"/>
                    <a:lstStyle/>
                    <a:p>
                      <a:r>
                        <a:rPr sz="950" b="0" i="0">
                          <a:solidFill>
                            <a:srgbClr val="202020"/>
                          </a:solidFill>
                          <a:latin typeface="Calibri"/>
                        </a:rPr>
                        <a:t>Web-app base used to build the result deep links Copilot shows.</a:t>
                      </a:r>
                    </a:p>
                  </a:txBody>
                  <a:tcPr marT="12700" marB="12700">
                    <a:solidFill>
                      <a:srgbClr val="F7F9FC"/>
                    </a:solidFill>
                  </a:tcPr>
                </a:tc>
              </a:tr>
              <a:tr h="384048">
                <a:tc>
                  <a:txBody>
                    <a:bodyPr wrap="square"/>
                    <a:lstStyle/>
                    <a:p>
                      <a:r>
                        <a:rPr sz="950" b="0" i="0">
                          <a:solidFill>
                            <a:srgbClr val="202020"/>
                          </a:solidFill>
                          <a:latin typeface="Consolas"/>
                        </a:rPr>
                        <a:t>CLARIZEN_API_CALLS_PER_DAY</a:t>
                      </a:r>
                    </a:p>
                  </a:txBody>
                  <a:tcPr marT="12700" marB="12700">
                    <a:solidFill>
                      <a:srgbClr val="FFFFFF"/>
                    </a:solidFill>
                  </a:tcPr>
                </a:tc>
                <a:tc>
                  <a:txBody>
                    <a:bodyPr wrap="square"/>
                    <a:lstStyle/>
                    <a:p>
                      <a:r>
                        <a:rPr sz="950" b="0" i="0">
                          <a:solidFill>
                            <a:srgbClr val="202020"/>
                          </a:solidFill>
                          <a:latin typeface="Calibri"/>
                        </a:rPr>
                        <a:t>25000</a:t>
                      </a:r>
                    </a:p>
                  </a:txBody>
                  <a:tcPr marT="12700" marB="12700">
                    <a:solidFill>
                      <a:srgbClr val="FFFFFF"/>
                    </a:solidFill>
                  </a:tcPr>
                </a:tc>
                <a:tc>
                  <a:txBody>
                    <a:bodyPr wrap="square"/>
                    <a:lstStyle/>
                    <a:p>
                      <a:r>
                        <a:rPr sz="950" b="0" i="0">
                          <a:solidFill>
                            <a:srgbClr val="202020"/>
                          </a:solidFill>
                          <a:latin typeface="Calibri"/>
                        </a:rPr>
                        <a:t>Client-side daily API budget (the connector's share of the org quota).</a:t>
                      </a:r>
                    </a:p>
                  </a:txBody>
                  <a:tcPr marT="12700" marB="12700">
                    <a:solidFill>
                      <a:srgbClr val="FFFFFF"/>
                    </a:solidFill>
                  </a:tcPr>
                </a:tc>
              </a:tr>
              <a:tr h="384048">
                <a:tc>
                  <a:txBody>
                    <a:bodyPr wrap="square"/>
                    <a:lstStyle/>
                    <a:p>
                      <a:r>
                        <a:rPr sz="950" b="0" i="0">
                          <a:solidFill>
                            <a:srgbClr val="202020"/>
                          </a:solidFill>
                          <a:latin typeface="Consolas"/>
                        </a:rPr>
                        <a:t>CLARIZEN_MAX_CALLS_PER_MINUTE</a:t>
                      </a:r>
                    </a:p>
                  </a:txBody>
                  <a:tcPr marT="12700" marB="12700">
                    <a:solidFill>
                      <a:srgbClr val="F7F9FC"/>
                    </a:solidFill>
                  </a:tcPr>
                </a:tc>
                <a:tc>
                  <a:txBody>
                    <a:bodyPr wrap="square"/>
                    <a:lstStyle/>
                    <a:p>
                      <a:r>
                        <a:rPr sz="950" b="0" i="0">
                          <a:solidFill>
                            <a:srgbClr val="202020"/>
                          </a:solidFill>
                          <a:latin typeface="Calibri"/>
                        </a:rPr>
                        <a:t>60</a:t>
                      </a:r>
                    </a:p>
                  </a:txBody>
                  <a:tcPr marT="12700" marB="12700">
                    <a:solidFill>
                      <a:srgbClr val="F7F9FC"/>
                    </a:solidFill>
                  </a:tcPr>
                </a:tc>
                <a:tc>
                  <a:txBody>
                    <a:bodyPr wrap="square"/>
                    <a:lstStyle/>
                    <a:p>
                      <a:r>
                        <a:rPr sz="950" b="0" i="0">
                          <a:solidFill>
                            <a:srgbClr val="202020"/>
                          </a:solidFill>
                          <a:latin typeface="Calibri"/>
                        </a:rPr>
                        <a:t>Burst-smoothing rate limit.</a:t>
                      </a:r>
                    </a:p>
                  </a:txBody>
                  <a:tcPr marT="12700" marB="12700">
                    <a:solidFill>
                      <a:srgbClr val="F7F9FC"/>
                    </a:solidFill>
                  </a:tcPr>
                </a:tc>
              </a:tr>
              <a:tr h="384048">
                <a:tc>
                  <a:txBody>
                    <a:bodyPr wrap="square"/>
                    <a:lstStyle/>
                    <a:p>
                      <a:r>
                        <a:rPr sz="950" b="0" i="0">
                          <a:solidFill>
                            <a:srgbClr val="202020"/>
                          </a:solidFill>
                          <a:latin typeface="Consolas"/>
                        </a:rPr>
                        <a:t>CLARIZEN_PAGE_SIZE</a:t>
                      </a:r>
                    </a:p>
                  </a:txBody>
                  <a:tcPr marT="12700" marB="12700">
                    <a:solidFill>
                      <a:srgbClr val="FFFFFF"/>
                    </a:solidFill>
                  </a:tcPr>
                </a:tc>
                <a:tc>
                  <a:txBody>
                    <a:bodyPr wrap="square"/>
                    <a:lstStyle/>
                    <a:p>
                      <a:r>
                        <a:rPr sz="950" b="0" i="0">
                          <a:solidFill>
                            <a:srgbClr val="202020"/>
                          </a:solidFill>
                          <a:latin typeface="Calibri"/>
                        </a:rPr>
                        <a:t>500 (max 5000)</a:t>
                      </a:r>
                    </a:p>
                  </a:txBody>
                  <a:tcPr marT="12700" marB="12700">
                    <a:solidFill>
                      <a:srgbClr val="FFFFFF"/>
                    </a:solidFill>
                  </a:tcPr>
                </a:tc>
                <a:tc>
                  <a:txBody>
                    <a:bodyPr wrap="square"/>
                    <a:lstStyle/>
                    <a:p>
                      <a:r>
                        <a:rPr sz="950" b="0" i="0">
                          <a:solidFill>
                            <a:srgbClr val="202020"/>
                          </a:solidFill>
                          <a:latin typeface="Calibri"/>
                        </a:rPr>
                        <a:t>Rows fetched per CZQL page.</a:t>
                      </a:r>
                    </a:p>
                  </a:txBody>
                  <a:tcPr marT="12700" marB="12700">
                    <a:solidFill>
                      <a:srgbClr val="FFFFFF"/>
                    </a:solidFill>
                  </a:tcPr>
                </a:tc>
              </a:tr>
              <a:tr h="384048">
                <a:tc>
                  <a:txBody>
                    <a:bodyPr wrap="square"/>
                    <a:lstStyle/>
                    <a:p>
                      <a:r>
                        <a:rPr sz="950" b="0" i="0">
                          <a:solidFill>
                            <a:srgbClr val="202020"/>
                          </a:solidFill>
                          <a:latin typeface="Consolas"/>
                        </a:rPr>
                        <a:t>TDW_EXPORT_PATH</a:t>
                      </a:r>
                    </a:p>
                  </a:txBody>
                  <a:tcPr marT="12700" marB="12700">
                    <a:solidFill>
                      <a:srgbClr val="F7F9FC"/>
                    </a:solidFill>
                  </a:tcPr>
                </a:tc>
                <a:tc>
                  <a:txBody>
                    <a:bodyPr wrap="square"/>
                    <a:lstStyle/>
                    <a:p>
                      <a:r>
                        <a:rPr sz="950" b="0" i="0">
                          <a:solidFill>
                            <a:srgbClr val="202020"/>
                          </a:solidFill>
                          <a:latin typeface="Calibri"/>
                        </a:rPr>
                        <a:t>unset</a:t>
                      </a:r>
                    </a:p>
                  </a:txBody>
                  <a:tcPr marT="12700" marB="12700">
                    <a:solidFill>
                      <a:srgbClr val="F7F9FC"/>
                    </a:solidFill>
                  </a:tcPr>
                </a:tc>
                <a:tc>
                  <a:txBody>
                    <a:bodyPr wrap="square"/>
                    <a:lstStyle/>
                    <a:p>
                      <a:r>
                        <a:rPr sz="950" b="0" i="0">
                          <a:solidFill>
                            <a:srgbClr val="202020"/>
                          </a:solidFill>
                          <a:latin typeface="Calibri"/>
                        </a:rPr>
                        <a:t>Directory of TDW bulk export files for full crawls. Unset = always use the API.</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328</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4.4 Connection parameters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Transient errors (HTTP 429 and 5xx) are retried up to four times, honouring the server's </a:t>
            </a:r>
            <a:r>
              <a:rPr sz="1200" b="0" i="0">
                <a:solidFill>
                  <a:srgbClr val="202020"/>
                </a:solidFill>
                <a:latin typeface="Consolas"/>
              </a:rPr>
              <a:t>Retry-After</a:t>
            </a:r>
            <a:r>
              <a:rPr sz="1250" b="0" i="0">
                <a:solidFill>
                  <a:srgbClr val="202020"/>
                </a:solidFill>
                <a:latin typeface="Calibri"/>
              </a:rPr>
              <a:t> with every wait clamped to 60 seconds — the same hardening used on the Graph side (see the Common Guide on retry/back-off).</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329</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4.5 Network egress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connector makes only outbound HTTPS (port 443) calls. On a locked-down network, ask your </a:t>
            </a:r>
            <a:r>
              <a:rPr sz="1250" b="1" i="0">
                <a:solidFill>
                  <a:srgbClr val="202020"/>
                </a:solidFill>
                <a:latin typeface="Calibri"/>
              </a:rPr>
              <a:t>network/firewall</a:t>
            </a:r>
            <a:r>
              <a:rPr sz="1250" b="0" i="0">
                <a:solidFill>
                  <a:srgbClr val="202020"/>
                </a:solidFill>
                <a:latin typeface="Calibri"/>
              </a:rPr>
              <a:t> team to allow egress to the hosts you actually use:</a:t>
            </a:r>
          </a:p>
          <a:p>
            <a:pPr>
              <a:spcBef>
                <a:spcPts val="100"/>
              </a:spcBef>
              <a:spcAft>
                <a:spcPts val="200"/>
              </a:spcAft>
            </a:pPr>
            <a:r>
              <a:rPr sz="1250" b="1" i="0">
                <a:solidFill>
                  <a:srgbClr val="2E5496"/>
                </a:solidFill>
                <a:latin typeface="Calibri"/>
              </a:rPr>
              <a:t>•  </a:t>
            </a:r>
            <a:r>
              <a:rPr sz="1250" b="0" i="0">
                <a:solidFill>
                  <a:srgbClr val="202020"/>
                </a:solidFill>
                <a:latin typeface="Calibri"/>
              </a:rPr>
              <a:t>the </a:t>
            </a:r>
            <a:r>
              <a:rPr sz="1200" b="0" i="0">
                <a:solidFill>
                  <a:srgbClr val="202020"/>
                </a:solidFill>
                <a:latin typeface="Consolas"/>
              </a:rPr>
              <a:t>CLARIZEN_BASE_URL</a:t>
            </a:r>
            <a:r>
              <a:rPr sz="1250" b="0" i="0">
                <a:solidFill>
                  <a:srgbClr val="202020"/>
                </a:solidFill>
                <a:latin typeface="Calibri"/>
              </a:rPr>
              <a:t> host (Clarizen REST API);</a:t>
            </a:r>
          </a:p>
          <a:p>
            <a:pPr>
              <a:spcBef>
                <a:spcPts val="100"/>
              </a:spcBef>
              <a:spcAft>
                <a:spcPts val="200"/>
              </a:spcAft>
            </a:pPr>
            <a:r>
              <a:rPr sz="1250" b="1" i="0">
                <a:solidFill>
                  <a:srgbClr val="2E5496"/>
                </a:solidFill>
                <a:latin typeface="Calibri"/>
              </a:rPr>
              <a:t>•  </a:t>
            </a:r>
            <a:r>
              <a:rPr sz="1250" b="0" i="0">
                <a:solidFill>
                  <a:srgbClr val="202020"/>
                </a:solidFill>
                <a:latin typeface="Calibri"/>
              </a:rPr>
              <a:t>the </a:t>
            </a:r>
            <a:r>
              <a:rPr sz="1200" b="0" i="0">
                <a:solidFill>
                  <a:srgbClr val="202020"/>
                </a:solidFill>
                <a:latin typeface="Consolas"/>
              </a:rPr>
              <a:t>GRAPH_BASE_URL</a:t>
            </a:r>
            <a:r>
              <a:rPr sz="1250" b="0" i="0">
                <a:solidFill>
                  <a:srgbClr val="202020"/>
                </a:solidFill>
                <a:latin typeface="Calibri"/>
              </a:rPr>
              <a:t> host (Microsoft Graph, default </a:t>
            </a:r>
            <a:r>
              <a:rPr sz="1200" b="0" i="0">
                <a:solidFill>
                  <a:srgbClr val="202020"/>
                </a:solidFill>
                <a:latin typeface="Consolas"/>
              </a:rPr>
              <a:t>graph.microsoft.com</a:t>
            </a:r>
            <a:r>
              <a:rPr sz="1250" b="0" i="0">
                <a:solidFill>
                  <a:srgbClr val="202020"/>
                </a:solidFill>
                <a:latin typeface="Calibri"/>
              </a:rPr>
              <a:t>);</a:t>
            </a:r>
          </a:p>
          <a:p>
            <a:pPr>
              <a:spcBef>
                <a:spcPts val="100"/>
              </a:spcBef>
              <a:spcAft>
                <a:spcPts val="200"/>
              </a:spcAft>
            </a:pPr>
            <a:r>
              <a:rPr sz="1250" b="1" i="0">
                <a:solidFill>
                  <a:srgbClr val="2E5496"/>
                </a:solidFill>
                <a:latin typeface="Calibri"/>
              </a:rPr>
              <a:t>•  </a:t>
            </a:r>
            <a:r>
              <a:rPr sz="1250" b="0" i="0">
                <a:solidFill>
                  <a:srgbClr val="202020"/>
                </a:solidFill>
                <a:latin typeface="Calibri"/>
              </a:rPr>
              <a:t>the </a:t>
            </a:r>
            <a:r>
              <a:rPr sz="1200" b="0" i="0">
                <a:solidFill>
                  <a:srgbClr val="202020"/>
                </a:solidFill>
                <a:latin typeface="Consolas"/>
              </a:rPr>
              <a:t>AAD_APP_OAUTH_AUTHORITY_HOST</a:t>
            </a:r>
            <a:r>
              <a:rPr sz="1250" b="0" i="0">
                <a:solidFill>
                  <a:srgbClr val="202020"/>
                </a:solidFill>
                <a:latin typeface="Calibri"/>
              </a:rPr>
              <a:t> host (Entra token endpoint, default </a:t>
            </a:r>
            <a:r>
              <a:rPr sz="1200" b="0" i="0">
                <a:solidFill>
                  <a:srgbClr val="202020"/>
                </a:solidFill>
                <a:latin typeface="Consolas"/>
              </a:rPr>
              <a:t>login.microsoftonline.com</a:t>
            </a:r>
            <a:r>
              <a:rPr sz="1250" b="0" i="0">
                <a:solidFill>
                  <a:srgbClr val="202020"/>
                </a:solidFill>
                <a:latin typeface="Calibri"/>
              </a:rPr>
              <a:t>);</a:t>
            </a:r>
          </a:p>
          <a:p>
            <a:pPr>
              <a:spcBef>
                <a:spcPts val="100"/>
              </a:spcBef>
              <a:spcAft>
                <a:spcPts val="200"/>
              </a:spcAft>
            </a:pPr>
            <a:r>
              <a:rPr sz="1250" b="1" i="0">
                <a:solidFill>
                  <a:srgbClr val="2E5496"/>
                </a:solidFill>
                <a:latin typeface="Calibri"/>
              </a:rPr>
              <a:t>•  </a:t>
            </a:r>
            <a:r>
              <a:rPr sz="1250" b="0" i="0">
                <a:solidFill>
                  <a:srgbClr val="202020"/>
                </a:solidFill>
                <a:latin typeface="Calibri"/>
              </a:rPr>
              <a:t>the Key Vault, alert-webhook and OpenTelemetry hosts, only if you enable those optional features.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330</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4.5 Network egress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If outbound traffic goes through a proxy or a TLS-inspecting gateway, set </a:t>
            </a:r>
            <a:r>
              <a:rPr sz="1200" b="0" i="0">
                <a:solidFill>
                  <a:srgbClr val="202020"/>
                </a:solidFill>
                <a:latin typeface="Consolas"/>
              </a:rPr>
              <a:t>PROXY_URL</a:t>
            </a:r>
            <a:r>
              <a:rPr sz="1250" b="0" i="0">
                <a:solidFill>
                  <a:srgbClr val="202020"/>
                </a:solidFill>
                <a:latin typeface="Calibri"/>
              </a:rPr>
              <a:t> / </a:t>
            </a:r>
            <a:r>
              <a:rPr sz="1200" b="0" i="0">
                <a:solidFill>
                  <a:srgbClr val="202020"/>
                </a:solidFill>
                <a:latin typeface="Consolas"/>
              </a:rPr>
              <a:t>PROXY_BYPASS</a:t>
            </a:r>
            <a:r>
              <a:rPr sz="1250" b="0" i="0">
                <a:solidFill>
                  <a:srgbClr val="202020"/>
                </a:solidFill>
                <a:latin typeface="Calibri"/>
              </a:rPr>
              <a:t> / </a:t>
            </a:r>
            <a:r>
              <a:rPr sz="1200" b="0" i="0">
                <a:solidFill>
                  <a:srgbClr val="202020"/>
                </a:solidFill>
                <a:latin typeface="Consolas"/>
              </a:rPr>
              <a:t>CA_BUNDLE_PATH</a:t>
            </a:r>
            <a:r>
              <a:rPr sz="1250" b="0" i="0">
                <a:solidFill>
                  <a:srgbClr val="202020"/>
                </a:solidFill>
                <a:latin typeface="Calibri"/>
              </a:rPr>
              <a:t> (Section 13); all three fail fast at start-up with a clear message if misconfigured.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331</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4.5 Network egress</a:t>
            </a:r>
          </a:p>
        </p:txBody>
      </p:sp>
      <p:sp>
        <p:nvSpPr>
          <p:cNvPr id="5" name="Rectangle 4"/>
          <p:cNvSpPr/>
          <p:nvPr/>
        </p:nvSpPr>
        <p:spPr>
          <a:xfrm>
            <a:off x="502920" y="1463040"/>
            <a:ext cx="11185855" cy="3291840"/>
          </a:xfrm>
          <a:prstGeom prst="rect">
            <a:avLst/>
          </a:prstGeom>
          <a:solidFill>
            <a:srgbClr val="F0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6A3D9A"/>
                </a:solidFill>
                <a:latin typeface="Calibri"/>
              </a:rPr>
              <a:t>Information to request:  </a:t>
            </a:r>
            <a:r>
              <a:rPr sz="1400" b="1" i="0">
                <a:solidFill>
                  <a:srgbClr val="202020"/>
                </a:solidFill>
                <a:latin typeface="Calibri"/>
              </a:rPr>
              <a:t>Information to request: </a:t>
            </a:r>
            <a:r>
              <a:rPr sz="1400" b="0" i="0">
                <a:solidFill>
                  <a:srgbClr val="202020"/>
                </a:solidFill>
                <a:latin typeface="Calibri"/>
              </a:rPr>
              <a:t>Gather these before you start, and name the owning team for each: the </a:t>
            </a:r>
            <a:r>
              <a:rPr sz="1400" b="1" i="0">
                <a:solidFill>
                  <a:srgbClr val="202020"/>
                </a:solidFill>
                <a:latin typeface="Calibri"/>
              </a:rPr>
              <a:t>Clarizen org endpoint</a:t>
            </a:r>
            <a:r>
              <a:rPr sz="1400" b="0" i="0">
                <a:solidFill>
                  <a:srgbClr val="202020"/>
                </a:solidFill>
                <a:latin typeface="Calibri"/>
              </a:rPr>
              <a:t> (EU vs US) and the </a:t>
            </a:r>
            <a:r>
              <a:rPr sz="1400" b="1" i="0">
                <a:solidFill>
                  <a:srgbClr val="202020"/>
                </a:solidFill>
                <a:latin typeface="Calibri"/>
              </a:rPr>
              <a:t>API service account</a:t>
            </a:r>
            <a:r>
              <a:rPr sz="1400" b="0" i="0">
                <a:solidFill>
                  <a:srgbClr val="202020"/>
                </a:solidFill>
                <a:latin typeface="Calibri"/>
              </a:rPr>
              <a:t> username and password come from your </a:t>
            </a:r>
            <a:r>
              <a:rPr sz="1400" b="1" i="0">
                <a:solidFill>
                  <a:srgbClr val="202020"/>
                </a:solidFill>
                <a:latin typeface="Calibri"/>
              </a:rPr>
              <a:t>Clarizen/Planview administrator</a:t>
            </a:r>
            <a:r>
              <a:rPr sz="1400" b="0" i="0">
                <a:solidFill>
                  <a:srgbClr val="202020"/>
                </a:solidFill>
                <a:latin typeface="Calibri"/>
              </a:rPr>
              <a:t>; </a:t>
            </a:r>
            <a:r>
              <a:rPr sz="1400" b="1" i="0">
                <a:solidFill>
                  <a:srgbClr val="202020"/>
                </a:solidFill>
                <a:latin typeface="Calibri"/>
              </a:rPr>
              <a:t>TDW export access</a:t>
            </a:r>
            <a:r>
              <a:rPr sz="1400" b="0" i="0">
                <a:solidFill>
                  <a:srgbClr val="202020"/>
                </a:solidFill>
                <a:latin typeface="Calibri"/>
              </a:rPr>
              <a:t> (the share/path and that the nightly job runs) also comes from them; the Entra </a:t>
            </a:r>
            <a:r>
              <a:rPr sz="1400" b="1" i="0">
                <a:solidFill>
                  <a:srgbClr val="202020"/>
                </a:solidFill>
                <a:latin typeface="Calibri"/>
              </a:rPr>
              <a:t>tenant ID, application (client) ID and client secret/certificate</a:t>
            </a:r>
            <a:r>
              <a:rPr sz="1400" b="0" i="0">
                <a:solidFill>
                  <a:srgbClr val="202020"/>
                </a:solidFill>
                <a:latin typeface="Calibri"/>
              </a:rPr>
              <a:t> come from your </a:t>
            </a:r>
            <a:r>
              <a:rPr sz="1400" b="1" i="0">
                <a:solidFill>
                  <a:srgbClr val="202020"/>
                </a:solidFill>
                <a:latin typeface="Calibri"/>
              </a:rPr>
              <a:t>Entra tenant admin</a:t>
            </a:r>
            <a:r>
              <a:rPr sz="1400" b="0" i="0">
                <a:solidFill>
                  <a:srgbClr val="202020"/>
                </a:solidFill>
                <a:latin typeface="Calibri"/>
              </a:rPr>
              <a:t>; egress/proxy rules come from your </a:t>
            </a:r>
            <a:r>
              <a:rPr sz="1400" b="1" i="0">
                <a:solidFill>
                  <a:srgbClr val="202020"/>
                </a:solidFill>
                <a:latin typeface="Calibri"/>
              </a:rPr>
              <a:t>network/firewall</a:t>
            </a:r>
            <a:r>
              <a:rPr sz="1400" b="0" i="0">
                <a:solidFill>
                  <a:srgbClr val="202020"/>
                </a:solidFill>
                <a:latin typeface="Calibri"/>
              </a:rPr>
              <a:t> team. Also confirm with the Clarizen admin </a:t>
            </a:r>
            <a:r>
              <a:rPr sz="1400" b="1" i="0">
                <a:solidFill>
                  <a:srgbClr val="202020"/>
                </a:solidFill>
                <a:latin typeface="Calibri"/>
              </a:rPr>
              <a:t>which objects and fields</a:t>
            </a:r>
            <a:r>
              <a:rPr sz="1400" b="0" i="0">
                <a:solidFill>
                  <a:srgbClr val="202020"/>
                </a:solidFill>
                <a:latin typeface="Calibri"/>
              </a:rPr>
              <a:t> you are permitted to index.</a:t>
            </a:r>
          </a:p>
        </p:txBody>
      </p:sp>
      <p:sp>
        <p:nvSpPr>
          <p:cNvPr id="6" name="Rectangle 5"/>
          <p:cNvSpPr/>
          <p:nvPr/>
        </p:nvSpPr>
        <p:spPr>
          <a:xfrm>
            <a:off x="502920" y="1463040"/>
            <a:ext cx="128016" cy="3291840"/>
          </a:xfrm>
          <a:prstGeom prst="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332</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Clarizen Connector</a:t>
            </a:r>
          </a:p>
          <a:p>
            <a:r>
              <a:rPr sz="3000" b="1" i="0">
                <a:solidFill>
                  <a:srgbClr val="1F3864"/>
                </a:solidFill>
                <a:latin typeface="Calibri"/>
              </a:rPr>
              <a:t>5. How Clarizen data appears in the Copilot index</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333</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 How Clarizen data appears in the Copilot index</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Each Clarizen record becomes one Microsoft Graph external item. This section explains what that item looks like — its id, its text, its properties — and, crucially, how the connector decides who is allowed to see it.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334</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5.1 The external item</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Each item's id is a stable composite of the object type and the Clarizen system id, for example </a:t>
            </a:r>
            <a:r>
              <a:rPr sz="1200" b="0" i="0">
                <a:solidFill>
                  <a:srgbClr val="202020"/>
                </a:solidFill>
                <a:latin typeface="Consolas"/>
              </a:rPr>
              <a:t>Task_1234567</a:t>
            </a:r>
            <a:r>
              <a:rPr sz="1250" b="0" i="0">
                <a:solidFill>
                  <a:srgbClr val="202020"/>
                </a:solidFill>
                <a:latin typeface="Calibri"/>
              </a:rPr>
              <a:t>. Every item carries a </a:t>
            </a:r>
            <a:r>
              <a:rPr sz="1250" b="1" i="0">
                <a:solidFill>
                  <a:srgbClr val="202020"/>
                </a:solidFill>
                <a:latin typeface="Calibri"/>
              </a:rPr>
              <a:t>deep link</a:t>
            </a:r>
            <a:r>
              <a:rPr sz="1250" b="0" i="0">
                <a:solidFill>
                  <a:srgbClr val="202020"/>
                </a:solidFill>
                <a:latin typeface="Calibri"/>
              </a:rPr>
              <a:t> (</a:t>
            </a:r>
            <a:r>
              <a:rPr sz="1200" b="0" i="0">
                <a:solidFill>
                  <a:srgbClr val="202020"/>
                </a:solidFill>
                <a:latin typeface="Consolas"/>
              </a:rPr>
              <a:t>Url</a:t>
            </a:r>
            <a:r>
              <a:rPr sz="1250" b="0" i="0">
                <a:solidFill>
                  <a:srgbClr val="202020"/>
                </a:solidFill>
                <a:latin typeface="Calibri"/>
              </a:rPr>
              <a:t>) back to the record in the Clarizen web app, an </a:t>
            </a:r>
            <a:r>
              <a:rPr sz="1200" b="0" i="0">
                <a:solidFill>
                  <a:srgbClr val="202020"/>
                </a:solidFill>
                <a:latin typeface="Consolas"/>
              </a:rPr>
              <a:t>ObjectName</a:t>
            </a:r>
            <a:r>
              <a:rPr sz="1250" b="0" i="0">
                <a:solidFill>
                  <a:srgbClr val="202020"/>
                </a:solidFill>
                <a:latin typeface="Calibri"/>
              </a:rPr>
              <a:t> (the Clarizen entity type), a </a:t>
            </a:r>
            <a:r>
              <a:rPr sz="1200" b="0" i="0">
                <a:solidFill>
                  <a:srgbClr val="202020"/>
                </a:solidFill>
                <a:latin typeface="Consolas"/>
              </a:rPr>
              <a:t>Title</a:t>
            </a:r>
            <a:r>
              <a:rPr sz="1250" b="0" i="0">
                <a:solidFill>
                  <a:srgbClr val="202020"/>
                </a:solidFill>
                <a:latin typeface="Calibri"/>
              </a:rPr>
              <a:t>, and a </a:t>
            </a:r>
            <a:r>
              <a:rPr sz="1250" b="1" i="0">
                <a:solidFill>
                  <a:srgbClr val="202020"/>
                </a:solidFill>
                <a:latin typeface="Calibri"/>
              </a:rPr>
              <a:t>searchable content body</a:t>
            </a:r>
            <a:r>
              <a:rPr sz="1250" b="0" i="0">
                <a:solidFill>
                  <a:srgbClr val="202020"/>
                </a:solidFill>
                <a:latin typeface="Calibri"/>
              </a:rPr>
              <a:t> — the record's display name plus its description-style fields (description, mitigation plan, discussion body, comment), with any HTML stripped so Copilot grounds on clean text.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335</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5.2 Field-to-property mapping</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Fields listed in </a:t>
            </a:r>
            <a:r>
              <a:rPr sz="1200" b="0" i="0">
                <a:solidFill>
                  <a:srgbClr val="202020"/>
                </a:solidFill>
                <a:latin typeface="Consolas"/>
              </a:rPr>
              <a:t>config/schema.json</a:t>
            </a:r>
            <a:r>
              <a:rPr sz="1250" b="0" i="0">
                <a:solidFill>
                  <a:srgbClr val="202020"/>
                </a:solidFill>
                <a:latin typeface="Calibri"/>
              </a:rPr>
              <a:t> map to the Graph properties defined in </a:t>
            </a:r>
            <a:r>
              <a:rPr sz="1200" b="0" i="0">
                <a:solidFill>
                  <a:srgbClr val="202020"/>
                </a:solidFill>
                <a:latin typeface="Consolas"/>
              </a:rPr>
              <a:t>config/graph-schema.json</a:t>
            </a:r>
            <a:r>
              <a:rPr sz="1250" b="0" i="0">
                <a:solidFill>
                  <a:srgbClr val="202020"/>
                </a:solidFill>
                <a:latin typeface="Calibri"/>
              </a:rPr>
              <a:t>. Properties are what Copilot can filter and refine on. The common ones: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336</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5.2 Field-to-property mapping</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Graph property</a:t>
                      </a:r>
                    </a:p>
                  </a:txBody>
                  <a:tcPr marT="25400" marB="25400">
                    <a:solidFill>
                      <a:srgbClr val="2E5496"/>
                    </a:solidFill>
                  </a:tcPr>
                </a:tc>
                <a:tc>
                  <a:txBody>
                    <a:bodyPr wrap="square"/>
                    <a:lstStyle/>
                    <a:p>
                      <a:r>
                        <a:rPr sz="1050" b="1" i="0">
                          <a:solidFill>
                            <a:srgbClr val="FFFFFF"/>
                          </a:solidFill>
                          <a:latin typeface="Calibri"/>
                        </a:rPr>
                        <a:t>Type</a:t>
                      </a:r>
                    </a:p>
                  </a:txBody>
                  <a:tcPr marT="25400" marB="25400">
                    <a:solidFill>
                      <a:srgbClr val="2E5496"/>
                    </a:solidFill>
                  </a:tcPr>
                </a:tc>
                <a:tc>
                  <a:txBody>
                    <a:bodyPr wrap="square"/>
                    <a:lstStyle/>
                    <a:p>
                      <a:r>
                        <a:rPr sz="1050" b="1" i="0">
                          <a:solidFill>
                            <a:srgbClr val="FFFFFF"/>
                          </a:solidFill>
                          <a:latin typeface="Calibri"/>
                        </a:rPr>
                        <a:t>Meaning</a:t>
                      </a:r>
                    </a:p>
                  </a:txBody>
                  <a:tcPr marT="25400" marB="25400">
                    <a:solidFill>
                      <a:srgbClr val="2E5496"/>
                    </a:solidFill>
                  </a:tcPr>
                </a:tc>
              </a:tr>
              <a:tr h="384048">
                <a:tc>
                  <a:txBody>
                    <a:bodyPr wrap="square"/>
                    <a:lstStyle/>
                    <a:p>
                      <a:r>
                        <a:rPr sz="950" b="0" i="0">
                          <a:solidFill>
                            <a:srgbClr val="202020"/>
                          </a:solidFill>
                          <a:latin typeface="Calibri"/>
                        </a:rPr>
                        <a:t>ObjectName</a:t>
                      </a:r>
                    </a:p>
                  </a:txBody>
                  <a:tcPr marT="12700" marB="12700">
                    <a:solidFill>
                      <a:srgbClr val="FFFFFF"/>
                    </a:solidFill>
                  </a:tcPr>
                </a:tc>
                <a:tc>
                  <a:txBody>
                    <a:bodyPr wrap="square"/>
                    <a:lstStyle/>
                    <a:p>
                      <a:r>
                        <a:rPr sz="950" b="0" i="0">
                          <a:solidFill>
                            <a:srgbClr val="202020"/>
                          </a:solidFill>
                          <a:latin typeface="Calibri"/>
                        </a:rPr>
                        <a:t>String</a:t>
                      </a:r>
                    </a:p>
                  </a:txBody>
                  <a:tcPr marT="12700" marB="12700">
                    <a:solidFill>
                      <a:srgbClr val="FFFFFF"/>
                    </a:solidFill>
                  </a:tcPr>
                </a:tc>
                <a:tc>
                  <a:txBody>
                    <a:bodyPr wrap="square"/>
                    <a:lstStyle/>
                    <a:p>
                      <a:r>
                        <a:rPr sz="950" b="0" i="0">
                          <a:solidFill>
                            <a:srgbClr val="202020"/>
                          </a:solidFill>
                          <a:latin typeface="Calibri"/>
                        </a:rPr>
                        <a:t>Clarizen entity type (Project, Task, Milestone, ...).</a:t>
                      </a:r>
                    </a:p>
                  </a:txBody>
                  <a:tcPr marT="12700" marB="12700">
                    <a:solidFill>
                      <a:srgbClr val="FFFFFF"/>
                    </a:solidFill>
                  </a:tcPr>
                </a:tc>
              </a:tr>
              <a:tr h="384048">
                <a:tc>
                  <a:txBody>
                    <a:bodyPr wrap="square"/>
                    <a:lstStyle/>
                    <a:p>
                      <a:r>
                        <a:rPr sz="950" b="0" i="0">
                          <a:solidFill>
                            <a:srgbClr val="202020"/>
                          </a:solidFill>
                          <a:latin typeface="Calibri"/>
                        </a:rPr>
                        <a:t>Title</a:t>
                      </a:r>
                    </a:p>
                  </a:txBody>
                  <a:tcPr marT="12700" marB="12700">
                    <a:solidFill>
                      <a:srgbClr val="F7F9FC"/>
                    </a:solidFill>
                  </a:tcPr>
                </a:tc>
                <a:tc>
                  <a:txBody>
                    <a:bodyPr wrap="square"/>
                    <a:lstStyle/>
                    <a:p>
                      <a:r>
                        <a:rPr sz="950" b="0" i="0">
                          <a:solidFill>
                            <a:srgbClr val="202020"/>
                          </a:solidFill>
                          <a:latin typeface="Calibri"/>
                        </a:rPr>
                        <a:t>String</a:t>
                      </a:r>
                    </a:p>
                  </a:txBody>
                  <a:tcPr marT="12700" marB="12700">
                    <a:solidFill>
                      <a:srgbClr val="F7F9FC"/>
                    </a:solidFill>
                  </a:tcPr>
                </a:tc>
                <a:tc>
                  <a:txBody>
                    <a:bodyPr wrap="square"/>
                    <a:lstStyle/>
                    <a:p>
                      <a:r>
                        <a:rPr sz="950" b="0" i="0">
                          <a:solidFill>
                            <a:srgbClr val="202020"/>
                          </a:solidFill>
                          <a:latin typeface="Calibri"/>
                        </a:rPr>
                        <a:t>Record display name.</a:t>
                      </a:r>
                    </a:p>
                  </a:txBody>
                  <a:tcPr marT="12700" marB="12700">
                    <a:solidFill>
                      <a:srgbClr val="F7F9FC"/>
                    </a:solidFill>
                  </a:tcPr>
                </a:tc>
              </a:tr>
              <a:tr h="384048">
                <a:tc>
                  <a:txBody>
                    <a:bodyPr wrap="square"/>
                    <a:lstStyle/>
                    <a:p>
                      <a:r>
                        <a:rPr sz="950" b="0" i="0">
                          <a:solidFill>
                            <a:srgbClr val="202020"/>
                          </a:solidFill>
                          <a:latin typeface="Calibri"/>
                        </a:rPr>
                        <a:t>Url</a:t>
                      </a:r>
                    </a:p>
                  </a:txBody>
                  <a:tcPr marT="12700" marB="12700">
                    <a:solidFill>
                      <a:srgbClr val="FFFFFF"/>
                    </a:solidFill>
                  </a:tcPr>
                </a:tc>
                <a:tc>
                  <a:txBody>
                    <a:bodyPr wrap="square"/>
                    <a:lstStyle/>
                    <a:p>
                      <a:r>
                        <a:rPr sz="950" b="0" i="0">
                          <a:solidFill>
                            <a:srgbClr val="202020"/>
                          </a:solidFill>
                          <a:latin typeface="Calibri"/>
                        </a:rPr>
                        <a:t>String</a:t>
                      </a:r>
                    </a:p>
                  </a:txBody>
                  <a:tcPr marT="12700" marB="12700">
                    <a:solidFill>
                      <a:srgbClr val="FFFFFF"/>
                    </a:solidFill>
                  </a:tcPr>
                </a:tc>
                <a:tc>
                  <a:txBody>
                    <a:bodyPr wrap="square"/>
                    <a:lstStyle/>
                    <a:p>
                      <a:r>
                        <a:rPr sz="950" b="0" i="0">
                          <a:solidFill>
                            <a:srgbClr val="202020"/>
                          </a:solidFill>
                          <a:latin typeface="Calibri"/>
                        </a:rPr>
                        <a:t>Deep link into the Clarizen web app.</a:t>
                      </a:r>
                    </a:p>
                  </a:txBody>
                  <a:tcPr marT="12700" marB="12700">
                    <a:solidFill>
                      <a:srgbClr val="FFFFFF"/>
                    </a:solidFill>
                  </a:tcPr>
                </a:tc>
              </a:tr>
              <a:tr h="384048">
                <a:tc>
                  <a:txBody>
                    <a:bodyPr wrap="square"/>
                    <a:lstStyle/>
                    <a:p>
                      <a:r>
                        <a:rPr sz="950" b="0" i="0">
                          <a:solidFill>
                            <a:srgbClr val="202020"/>
                          </a:solidFill>
                          <a:latin typeface="Calibri"/>
                        </a:rPr>
                        <a:t>State</a:t>
                      </a:r>
                    </a:p>
                  </a:txBody>
                  <a:tcPr marT="12700" marB="12700">
                    <a:solidFill>
                      <a:srgbClr val="F7F9FC"/>
                    </a:solidFill>
                  </a:tcPr>
                </a:tc>
                <a:tc>
                  <a:txBody>
                    <a:bodyPr wrap="square"/>
                    <a:lstStyle/>
                    <a:p>
                      <a:r>
                        <a:rPr sz="950" b="0" i="0">
                          <a:solidFill>
                            <a:srgbClr val="202020"/>
                          </a:solidFill>
                          <a:latin typeface="Calibri"/>
                        </a:rPr>
                        <a:t>String</a:t>
                      </a:r>
                    </a:p>
                  </a:txBody>
                  <a:tcPr marT="12700" marB="12700">
                    <a:solidFill>
                      <a:srgbClr val="F7F9FC"/>
                    </a:solidFill>
                  </a:tcPr>
                </a:tc>
                <a:tc>
                  <a:txBody>
                    <a:bodyPr wrap="square"/>
                    <a:lstStyle/>
                    <a:p>
                      <a:r>
                        <a:rPr sz="950" b="0" i="0">
                          <a:solidFill>
                            <a:srgbClr val="202020"/>
                          </a:solidFill>
                          <a:latin typeface="Calibri"/>
                        </a:rPr>
                        <a:t>Lifecycle state (Draft, Active, On Hold, Completed, Cancelled).</a:t>
                      </a:r>
                    </a:p>
                  </a:txBody>
                  <a:tcPr marT="12700" marB="12700">
                    <a:solidFill>
                      <a:srgbClr val="F7F9FC"/>
                    </a:solidFill>
                  </a:tcPr>
                </a:tc>
              </a:tr>
              <a:tr h="384048">
                <a:tc>
                  <a:txBody>
                    <a:bodyPr wrap="square"/>
                    <a:lstStyle/>
                    <a:p>
                      <a:r>
                        <a:rPr sz="950" b="0" i="0">
                          <a:solidFill>
                            <a:srgbClr val="202020"/>
                          </a:solidFill>
                          <a:latin typeface="Calibri"/>
                        </a:rPr>
                        <a:t>TrackStatus</a:t>
                      </a:r>
                    </a:p>
                  </a:txBody>
                  <a:tcPr marT="12700" marB="12700">
                    <a:solidFill>
                      <a:srgbClr val="FFFFFF"/>
                    </a:solidFill>
                  </a:tcPr>
                </a:tc>
                <a:tc>
                  <a:txBody>
                    <a:bodyPr wrap="square"/>
                    <a:lstStyle/>
                    <a:p>
                      <a:r>
                        <a:rPr sz="950" b="0" i="0">
                          <a:solidFill>
                            <a:srgbClr val="202020"/>
                          </a:solidFill>
                          <a:latin typeface="Calibri"/>
                        </a:rPr>
                        <a:t>String</a:t>
                      </a:r>
                    </a:p>
                  </a:txBody>
                  <a:tcPr marT="12700" marB="12700">
                    <a:solidFill>
                      <a:srgbClr val="FFFFFF"/>
                    </a:solidFill>
                  </a:tcPr>
                </a:tc>
                <a:tc>
                  <a:txBody>
                    <a:bodyPr wrap="square"/>
                    <a:lstStyle/>
                    <a:p>
                      <a:r>
                        <a:rPr sz="950" b="0" i="0">
                          <a:solidFill>
                            <a:srgbClr val="202020"/>
                          </a:solidFill>
                          <a:latin typeface="Calibri"/>
                        </a:rPr>
                        <a:t>Health (On Track / At Risk / Off Track).</a:t>
                      </a:r>
                    </a:p>
                  </a:txBody>
                  <a:tcPr marT="12700" marB="12700">
                    <a:solidFill>
                      <a:srgbClr val="FFFFFF"/>
                    </a:solidFill>
                  </a:tcPr>
                </a:tc>
              </a:tr>
              <a:tr h="384048">
                <a:tc>
                  <a:txBody>
                    <a:bodyPr wrap="square"/>
                    <a:lstStyle/>
                    <a:p>
                      <a:r>
                        <a:rPr sz="950" b="0" i="0">
                          <a:solidFill>
                            <a:srgbClr val="202020"/>
                          </a:solidFill>
                          <a:latin typeface="Calibri"/>
                        </a:rPr>
                        <a:t>Manager / Owner</a:t>
                      </a:r>
                    </a:p>
                  </a:txBody>
                  <a:tcPr marT="12700" marB="12700">
                    <a:solidFill>
                      <a:srgbClr val="F7F9FC"/>
                    </a:solidFill>
                  </a:tcPr>
                </a:tc>
                <a:tc>
                  <a:txBody>
                    <a:bodyPr wrap="square"/>
                    <a:lstStyle/>
                    <a:p>
                      <a:r>
                        <a:rPr sz="950" b="0" i="0">
                          <a:solidFill>
                            <a:srgbClr val="202020"/>
                          </a:solidFill>
                          <a:latin typeface="Calibri"/>
                        </a:rPr>
                        <a:t>String</a:t>
                      </a:r>
                    </a:p>
                  </a:txBody>
                  <a:tcPr marT="12700" marB="12700">
                    <a:solidFill>
                      <a:srgbClr val="F7F9FC"/>
                    </a:solidFill>
                  </a:tcPr>
                </a:tc>
                <a:tc>
                  <a:txBody>
                    <a:bodyPr wrap="square"/>
                    <a:lstStyle/>
                    <a:p>
                      <a:r>
                        <a:rPr sz="950" b="0" i="0">
                          <a:solidFill>
                            <a:srgbClr val="202020"/>
                          </a:solidFill>
                          <a:latin typeface="Calibri"/>
                        </a:rPr>
                        <a:t>Project manager / work-item owner.</a:t>
                      </a:r>
                    </a:p>
                  </a:txBody>
                  <a:tcPr marT="12700" marB="12700">
                    <a:solidFill>
                      <a:srgbClr val="F7F9FC"/>
                    </a:solidFill>
                  </a:tcPr>
                </a:tc>
              </a:tr>
              <a:tr h="384048">
                <a:tc>
                  <a:txBody>
                    <a:bodyPr wrap="square"/>
                    <a:lstStyle/>
                    <a:p>
                      <a:r>
                        <a:rPr sz="950" b="0" i="0">
                          <a:solidFill>
                            <a:srgbClr val="202020"/>
                          </a:solidFill>
                          <a:latin typeface="Calibri"/>
                        </a:rPr>
                        <a:t>ProjectName</a:t>
                      </a:r>
                    </a:p>
                  </a:txBody>
                  <a:tcPr marT="12700" marB="12700">
                    <a:solidFill>
                      <a:srgbClr val="FFFFFF"/>
                    </a:solidFill>
                  </a:tcPr>
                </a:tc>
                <a:tc>
                  <a:txBody>
                    <a:bodyPr wrap="square"/>
                    <a:lstStyle/>
                    <a:p>
                      <a:r>
                        <a:rPr sz="950" b="0" i="0">
                          <a:solidFill>
                            <a:srgbClr val="202020"/>
                          </a:solidFill>
                          <a:latin typeface="Calibri"/>
                        </a:rPr>
                        <a:t>String</a:t>
                      </a:r>
                    </a:p>
                  </a:txBody>
                  <a:tcPr marT="12700" marB="12700">
                    <a:solidFill>
                      <a:srgbClr val="FFFFFF"/>
                    </a:solidFill>
                  </a:tcPr>
                </a:tc>
                <a:tc>
                  <a:txBody>
                    <a:bodyPr wrap="square"/>
                    <a:lstStyle/>
                    <a:p>
                      <a:r>
                        <a:rPr sz="950" b="0" i="0">
                          <a:solidFill>
                            <a:srgbClr val="202020"/>
                          </a:solidFill>
                          <a:latin typeface="Calibri"/>
                        </a:rPr>
                        <a:t>Parent project / work item name.</a:t>
                      </a:r>
                    </a:p>
                  </a:txBody>
                  <a:tcPr marT="12700" marB="12700">
                    <a:solidFill>
                      <a:srgbClr val="FFFFFF"/>
                    </a:solidFill>
                  </a:tcPr>
                </a:tc>
              </a:tr>
              <a:tr h="384048">
                <a:tc>
                  <a:txBody>
                    <a:bodyPr wrap="square"/>
                    <a:lstStyle/>
                    <a:p>
                      <a:r>
                        <a:rPr sz="950" b="0" i="0">
                          <a:solidFill>
                            <a:srgbClr val="202020"/>
                          </a:solidFill>
                          <a:latin typeface="Calibri"/>
                        </a:rPr>
                        <a:t>StartDate / DueDate</a:t>
                      </a:r>
                    </a:p>
                  </a:txBody>
                  <a:tcPr marT="12700" marB="12700">
                    <a:solidFill>
                      <a:srgbClr val="F7F9FC"/>
                    </a:solidFill>
                  </a:tcPr>
                </a:tc>
                <a:tc>
                  <a:txBody>
                    <a:bodyPr wrap="square"/>
                    <a:lstStyle/>
                    <a:p>
                      <a:r>
                        <a:rPr sz="950" b="0" i="0">
                          <a:solidFill>
                            <a:srgbClr val="202020"/>
                          </a:solidFill>
                          <a:latin typeface="Calibri"/>
                        </a:rPr>
                        <a:t>DateTime</a:t>
                      </a:r>
                    </a:p>
                  </a:txBody>
                  <a:tcPr marT="12700" marB="12700">
                    <a:solidFill>
                      <a:srgbClr val="F7F9FC"/>
                    </a:solidFill>
                  </a:tcPr>
                </a:tc>
                <a:tc>
                  <a:txBody>
                    <a:bodyPr wrap="square"/>
                    <a:lstStyle/>
                    <a:p>
                      <a:r>
                        <a:rPr sz="950" b="0" i="0">
                          <a:solidFill>
                            <a:srgbClr val="202020"/>
                          </a:solidFill>
                          <a:latin typeface="Calibri"/>
                        </a:rPr>
                        <a:t>Scheduled start and finish.</a:t>
                      </a:r>
                    </a:p>
                  </a:txBody>
                  <a:tcPr marT="12700" marB="12700">
                    <a:solidFill>
                      <a:srgbClr val="F7F9FC"/>
                    </a:solidFill>
                  </a:tcPr>
                </a:tc>
              </a:tr>
              <a:tr h="384048">
                <a:tc>
                  <a:txBody>
                    <a:bodyPr wrap="square"/>
                    <a:lstStyle/>
                    <a:p>
                      <a:r>
                        <a:rPr sz="950" b="0" i="0">
                          <a:solidFill>
                            <a:srgbClr val="202020"/>
                          </a:solidFill>
                          <a:latin typeface="Calibri"/>
                        </a:rPr>
                        <a:t>PercentCompleted</a:t>
                      </a:r>
                    </a:p>
                  </a:txBody>
                  <a:tcPr marT="12700" marB="12700">
                    <a:solidFill>
                      <a:srgbClr val="FFFFFF"/>
                    </a:solidFill>
                  </a:tcPr>
                </a:tc>
                <a:tc>
                  <a:txBody>
                    <a:bodyPr wrap="square"/>
                    <a:lstStyle/>
                    <a:p>
                      <a:r>
                        <a:rPr sz="950" b="0" i="0">
                          <a:solidFill>
                            <a:srgbClr val="202020"/>
                          </a:solidFill>
                          <a:latin typeface="Calibri"/>
                        </a:rPr>
                        <a:t>Double</a:t>
                      </a:r>
                    </a:p>
                  </a:txBody>
                  <a:tcPr marT="12700" marB="12700">
                    <a:solidFill>
                      <a:srgbClr val="FFFFFF"/>
                    </a:solidFill>
                  </a:tcPr>
                </a:tc>
                <a:tc>
                  <a:txBody>
                    <a:bodyPr wrap="square"/>
                    <a:lstStyle/>
                    <a:p>
                      <a:r>
                        <a:rPr sz="950" b="0" i="0">
                          <a:solidFill>
                            <a:srgbClr val="202020"/>
                          </a:solidFill>
                          <a:latin typeface="Calibri"/>
                        </a:rPr>
                        <a:t>Percent complete (0-100).</a:t>
                      </a:r>
                    </a:p>
                  </a:txBody>
                  <a:tcPr marT="12700" marB="12700">
                    <a:solidFill>
                      <a:srgbClr val="FFFFFF"/>
                    </a:solidFill>
                  </a:tcPr>
                </a:tc>
              </a:tr>
              <a:tr h="384048">
                <a:tc>
                  <a:txBody>
                    <a:bodyPr wrap="square"/>
                    <a:lstStyle/>
                    <a:p>
                      <a:r>
                        <a:rPr sz="950" b="0" i="0">
                          <a:solidFill>
                            <a:srgbClr val="202020"/>
                          </a:solidFill>
                          <a:latin typeface="Calibri"/>
                        </a:rPr>
                        <a:t>Priority / Severity</a:t>
                      </a:r>
                    </a:p>
                  </a:txBody>
                  <a:tcPr marT="12700" marB="12700">
                    <a:solidFill>
                      <a:srgbClr val="F7F9FC"/>
                    </a:solidFill>
                  </a:tcPr>
                </a:tc>
                <a:tc>
                  <a:txBody>
                    <a:bodyPr wrap="square"/>
                    <a:lstStyle/>
                    <a:p>
                      <a:r>
                        <a:rPr sz="950" b="0" i="0">
                          <a:solidFill>
                            <a:srgbClr val="202020"/>
                          </a:solidFill>
                          <a:latin typeface="Calibri"/>
                        </a:rPr>
                        <a:t>String</a:t>
                      </a:r>
                    </a:p>
                  </a:txBody>
                  <a:tcPr marT="12700" marB="12700">
                    <a:solidFill>
                      <a:srgbClr val="F7F9FC"/>
                    </a:solidFill>
                  </a:tcPr>
                </a:tc>
                <a:tc>
                  <a:txBody>
                    <a:bodyPr wrap="square"/>
                    <a:lstStyle/>
                    <a:p>
                      <a:r>
                        <a:rPr sz="950" b="0" i="0">
                          <a:solidFill>
                            <a:srgbClr val="202020"/>
                          </a:solidFill>
                          <a:latin typeface="Calibri"/>
                        </a:rPr>
                        <a:t>Priority; issue severity.</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337</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5.2 Field-to-property mapping (cont.)</a:t>
            </a:r>
          </a:p>
        </p:txBody>
      </p:sp>
      <p:graphicFrame>
        <p:nvGraphicFramePr>
          <p:cNvPr id="5" name="Table 4"/>
          <p:cNvGraphicFramePr>
            <a:graphicFrameLocks noGrp="1"/>
          </p:cNvGraphicFramePr>
          <p:nvPr/>
        </p:nvGraphicFramePr>
        <p:xfrm>
          <a:off x="502920" y="1188720"/>
          <a:ext cx="11185855" cy="768096"/>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Graph property</a:t>
                      </a:r>
                    </a:p>
                  </a:txBody>
                  <a:tcPr marT="25400" marB="25400">
                    <a:solidFill>
                      <a:srgbClr val="2E5496"/>
                    </a:solidFill>
                  </a:tcPr>
                </a:tc>
                <a:tc>
                  <a:txBody>
                    <a:bodyPr wrap="square"/>
                    <a:lstStyle/>
                    <a:p>
                      <a:r>
                        <a:rPr sz="1050" b="1" i="0">
                          <a:solidFill>
                            <a:srgbClr val="FFFFFF"/>
                          </a:solidFill>
                          <a:latin typeface="Calibri"/>
                        </a:rPr>
                        <a:t>Type</a:t>
                      </a:r>
                    </a:p>
                  </a:txBody>
                  <a:tcPr marT="25400" marB="25400">
                    <a:solidFill>
                      <a:srgbClr val="2E5496"/>
                    </a:solidFill>
                  </a:tcPr>
                </a:tc>
                <a:tc>
                  <a:txBody>
                    <a:bodyPr wrap="square"/>
                    <a:lstStyle/>
                    <a:p>
                      <a:r>
                        <a:rPr sz="1050" b="1" i="0">
                          <a:solidFill>
                            <a:srgbClr val="FFFFFF"/>
                          </a:solidFill>
                          <a:latin typeface="Calibri"/>
                        </a:rPr>
                        <a:t>Meaning</a:t>
                      </a:r>
                    </a:p>
                  </a:txBody>
                  <a:tcPr marT="25400" marB="25400">
                    <a:solidFill>
                      <a:srgbClr val="2E5496"/>
                    </a:solidFill>
                  </a:tcPr>
                </a:tc>
              </a:tr>
              <a:tr h="384048">
                <a:tc>
                  <a:txBody>
                    <a:bodyPr wrap="square"/>
                    <a:lstStyle/>
                    <a:p>
                      <a:r>
                        <a:rPr sz="950" b="0" i="0">
                          <a:solidFill>
                            <a:srgbClr val="202020"/>
                          </a:solidFill>
                          <a:latin typeface="Calibri"/>
                        </a:rPr>
                        <a:t>LastUpdatedOn</a:t>
                      </a:r>
                    </a:p>
                  </a:txBody>
                  <a:tcPr marT="12700" marB="12700">
                    <a:solidFill>
                      <a:srgbClr val="FFFFFF"/>
                    </a:solidFill>
                  </a:tcPr>
                </a:tc>
                <a:tc>
                  <a:txBody>
                    <a:bodyPr wrap="square"/>
                    <a:lstStyle/>
                    <a:p>
                      <a:r>
                        <a:rPr sz="950" b="0" i="0">
                          <a:solidFill>
                            <a:srgbClr val="202020"/>
                          </a:solidFill>
                          <a:latin typeface="Calibri"/>
                        </a:rPr>
                        <a:t>DateTime</a:t>
                      </a:r>
                    </a:p>
                  </a:txBody>
                  <a:tcPr marT="12700" marB="12700">
                    <a:solidFill>
                      <a:srgbClr val="FFFFFF"/>
                    </a:solidFill>
                  </a:tcPr>
                </a:tc>
                <a:tc>
                  <a:txBody>
                    <a:bodyPr wrap="square"/>
                    <a:lstStyle/>
                    <a:p>
                      <a:r>
                        <a:rPr sz="950" b="0" i="0">
                          <a:solidFill>
                            <a:srgbClr val="202020"/>
                          </a:solidFill>
                          <a:latin typeface="Calibri"/>
                        </a:rPr>
                        <a:t>Clarizen last-modified time — drives the incremental delta cursor.</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338</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5.2 Field-to-property mapping</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Financial properties (</a:t>
            </a:r>
            <a:r>
              <a:rPr sz="1200" b="0" i="0">
                <a:solidFill>
                  <a:srgbClr val="202020"/>
                </a:solidFill>
                <a:latin typeface="Consolas"/>
              </a:rPr>
              <a:t>PlannedCost</a:t>
            </a:r>
            <a:r>
              <a:rPr sz="1250" b="0" i="0">
                <a:solidFill>
                  <a:srgbClr val="202020"/>
                </a:solidFill>
                <a:latin typeface="Calibri"/>
              </a:rPr>
              <a:t>, </a:t>
            </a:r>
            <a:r>
              <a:rPr sz="1200" b="0" i="0">
                <a:solidFill>
                  <a:srgbClr val="202020"/>
                </a:solidFill>
                <a:latin typeface="Consolas"/>
              </a:rPr>
              <a:t>ActualCost</a:t>
            </a:r>
            <a:r>
              <a:rPr sz="1250" b="0" i="0">
                <a:solidFill>
                  <a:srgbClr val="202020"/>
                </a:solidFill>
                <a:latin typeface="Calibri"/>
              </a:rPr>
              <a:t>, </a:t>
            </a:r>
            <a:r>
              <a:rPr sz="1200" b="0" i="0">
                <a:solidFill>
                  <a:srgbClr val="202020"/>
                </a:solidFill>
                <a:latin typeface="Consolas"/>
              </a:rPr>
              <a:t>PlannedRevenue</a:t>
            </a:r>
            <a:r>
              <a:rPr sz="1250" b="0" i="0">
                <a:solidFill>
                  <a:srgbClr val="202020"/>
                </a:solidFill>
                <a:latin typeface="Calibri"/>
              </a:rPr>
              <a:t>, </a:t>
            </a:r>
            <a:r>
              <a:rPr sz="1200" b="0" i="0">
                <a:solidFill>
                  <a:srgbClr val="202020"/>
                </a:solidFill>
                <a:latin typeface="Consolas"/>
              </a:rPr>
              <a:t>ActualRevenue</a:t>
            </a:r>
            <a:r>
              <a:rPr sz="1250" b="0" i="0">
                <a:solidFill>
                  <a:srgbClr val="202020"/>
                </a:solidFill>
                <a:latin typeface="Calibri"/>
              </a:rPr>
              <a:t>, </a:t>
            </a:r>
            <a:r>
              <a:rPr sz="1200" b="0" i="0">
                <a:solidFill>
                  <a:srgbClr val="202020"/>
                </a:solidFill>
                <a:latin typeface="Consolas"/>
              </a:rPr>
              <a:t>BillingRate</a:t>
            </a:r>
            <a:r>
              <a:rPr sz="1250" b="0" i="0">
                <a:solidFill>
                  <a:srgbClr val="202020"/>
                </a:solidFill>
                <a:latin typeface="Calibri"/>
              </a:rPr>
              <a:t>) plus the classification flags </a:t>
            </a:r>
            <a:r>
              <a:rPr sz="1200" b="0" i="0">
                <a:solidFill>
                  <a:srgbClr val="202020"/>
                </a:solidFill>
                <a:latin typeface="Consolas"/>
              </a:rPr>
              <a:t>ContainsFinancialData</a:t>
            </a:r>
            <a:r>
              <a:rPr sz="1250" b="0" i="0">
                <a:solidFill>
                  <a:srgbClr val="202020"/>
                </a:solidFill>
                <a:latin typeface="Calibri"/>
              </a:rPr>
              <a:t> and </a:t>
            </a:r>
            <a:r>
              <a:rPr sz="1200" b="0" i="0">
                <a:solidFill>
                  <a:srgbClr val="202020"/>
                </a:solidFill>
                <a:latin typeface="Consolas"/>
              </a:rPr>
              <a:t>DataClassification</a:t>
            </a:r>
            <a:r>
              <a:rPr sz="1250" b="0" i="0">
                <a:solidFill>
                  <a:srgbClr val="202020"/>
                </a:solidFill>
                <a:latin typeface="Calibri"/>
              </a:rPr>
              <a:t> are covered in Section 6. Two optional properties, </a:t>
            </a:r>
            <a:r>
              <a:rPr sz="1200" b="0" i="0">
                <a:solidFill>
                  <a:srgbClr val="202020"/>
                </a:solidFill>
                <a:latin typeface="Consolas"/>
              </a:rPr>
              <a:t>SensitivityLabel</a:t>
            </a:r>
            <a:r>
              <a:rPr sz="1250" b="0" i="0">
                <a:solidFill>
                  <a:srgbClr val="202020"/>
                </a:solidFill>
                <a:latin typeface="Calibri"/>
              </a:rPr>
              <a:t> and </a:t>
            </a:r>
            <a:r>
              <a:rPr sz="1200" b="0" i="0">
                <a:solidFill>
                  <a:srgbClr val="202020"/>
                </a:solidFill>
                <a:latin typeface="Consolas"/>
              </a:rPr>
              <a:t>DetectedCategories</a:t>
            </a:r>
            <a:r>
              <a:rPr sz="1250" b="0" i="0">
                <a:solidFill>
                  <a:srgbClr val="202020"/>
                </a:solidFill>
                <a:latin typeface="Calibri"/>
              </a:rPr>
              <a:t>, are set only when the shared content-classification feature is enabled (</a:t>
            </a:r>
            <a:r>
              <a:rPr sz="1200" b="0" i="0">
                <a:solidFill>
                  <a:srgbClr val="202020"/>
                </a:solidFill>
                <a:latin typeface="Consolas"/>
              </a:rPr>
              <a:t>CLASSIFICATION=true</a:t>
            </a:r>
            <a:r>
              <a:rPr sz="1250" b="0" i="0">
                <a:solidFill>
                  <a:srgbClr val="202020"/>
                </a:solidFill>
                <a:latin typeface="Calibri"/>
              </a:rPr>
              <a:t>) — see the Common Guide.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339</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5.2 Field-to-property mapping</a:t>
            </a:r>
          </a:p>
        </p:txBody>
      </p:sp>
      <p:sp>
        <p:nvSpPr>
          <p:cNvPr id="5" name="Rectangle 4"/>
          <p:cNvSpPr/>
          <p:nvPr/>
        </p:nvSpPr>
        <p:spPr>
          <a:xfrm>
            <a:off x="502920" y="1463040"/>
            <a:ext cx="11185855" cy="329184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5496"/>
                </a:solidFill>
                <a:latin typeface="Calibri"/>
              </a:rPr>
              <a:t>Note:  </a:t>
            </a:r>
            <a:r>
              <a:rPr sz="1400" b="1" i="0">
                <a:solidFill>
                  <a:srgbClr val="202020"/>
                </a:solidFill>
                <a:latin typeface="Calibri"/>
              </a:rPr>
              <a:t>Note: </a:t>
            </a:r>
            <a:r>
              <a:rPr sz="1350" b="0" i="0">
                <a:solidFill>
                  <a:srgbClr val="202020"/>
                </a:solidFill>
                <a:latin typeface="Consolas"/>
              </a:rPr>
              <a:t>SensitivityLabel</a:t>
            </a:r>
            <a:r>
              <a:rPr sz="1400" b="0" i="0">
                <a:solidFill>
                  <a:srgbClr val="202020"/>
                </a:solidFill>
                <a:latin typeface="Calibri"/>
              </a:rPr>
              <a:t> is an </a:t>
            </a:r>
            <a:r>
              <a:rPr sz="1400" b="1" i="0">
                <a:solidFill>
                  <a:srgbClr val="202020"/>
                </a:solidFill>
                <a:latin typeface="Calibri"/>
              </a:rPr>
              <a:t>advisory, connector-applied classification tag</a:t>
            </a:r>
            <a:r>
              <a:rPr sz="1400" b="0" i="0">
                <a:solidFill>
                  <a:srgbClr val="202020"/>
                </a:solidFill>
                <a:latin typeface="Calibri"/>
              </a:rPr>
              <a:t>. Its values (</a:t>
            </a:r>
            <a:r>
              <a:rPr sz="1350" b="0" i="0">
                <a:solidFill>
                  <a:srgbClr val="202020"/>
                </a:solidFill>
                <a:latin typeface="Consolas"/>
              </a:rPr>
              <a:t>Public</a:t>
            </a:r>
            <a:r>
              <a:rPr sz="1400" b="0" i="0">
                <a:solidFill>
                  <a:srgbClr val="202020"/>
                </a:solidFill>
                <a:latin typeface="Calibri"/>
              </a:rPr>
              <a:t>/</a:t>
            </a:r>
            <a:r>
              <a:rPr sz="1350" b="0" i="0">
                <a:solidFill>
                  <a:srgbClr val="202020"/>
                </a:solidFill>
                <a:latin typeface="Consolas"/>
              </a:rPr>
              <a:t>Internal</a:t>
            </a:r>
            <a:r>
              <a:rPr sz="1400" b="0" i="0">
                <a:solidFill>
                  <a:srgbClr val="202020"/>
                </a:solidFill>
                <a:latin typeface="Calibri"/>
              </a:rPr>
              <a:t>/</a:t>
            </a:r>
            <a:r>
              <a:rPr sz="1350" b="0" i="0">
                <a:solidFill>
                  <a:srgbClr val="202020"/>
                </a:solidFill>
                <a:latin typeface="Consolas"/>
              </a:rPr>
              <a:t>Confidential</a:t>
            </a:r>
            <a:r>
              <a:rPr sz="1400" b="0" i="0">
                <a:solidFill>
                  <a:srgbClr val="202020"/>
                </a:solidFill>
                <a:latin typeface="Calibri"/>
              </a:rPr>
              <a:t>/</a:t>
            </a:r>
            <a:r>
              <a:rPr sz="1350" b="0" i="0">
                <a:solidFill>
                  <a:srgbClr val="202020"/>
                </a:solidFill>
                <a:latin typeface="Consolas"/>
              </a:rPr>
              <a:t>Restricted</a:t>
            </a:r>
            <a:r>
              <a:rPr sz="1400" b="0" i="0">
                <a:solidFill>
                  <a:srgbClr val="202020"/>
                </a:solidFill>
                <a:latin typeface="Calibri"/>
              </a:rPr>
              <a:t>) are aligned with Microsoft Purview *in naming only* — it is NOT a Purview / MIP sensitivity label and is NOT enforced by Purview, DLP or encryption. By itself it only informs search and downstream tooling. To make the top tier actually restrictive, turn on the opt-in </a:t>
            </a:r>
            <a:r>
              <a:rPr sz="1350" b="0" i="0">
                <a:solidFill>
                  <a:srgbClr val="202020"/>
                </a:solidFill>
                <a:latin typeface="Consolas"/>
              </a:rPr>
              <a:t>CLASSIFICATION_ENFORCE_ACL</a:t>
            </a:r>
            <a:r>
              <a:rPr sz="1400" b="0" i="0">
                <a:solidFill>
                  <a:srgbClr val="202020"/>
                </a:solidFill>
                <a:latin typeface="Calibri"/>
              </a:rPr>
              <a:t> (Section 13.8), which locks a </a:t>
            </a:r>
            <a:r>
              <a:rPr sz="1350" b="0" i="0">
                <a:solidFill>
                  <a:srgbClr val="202020"/>
                </a:solidFill>
                <a:latin typeface="Consolas"/>
              </a:rPr>
              <a:t>Restricted</a:t>
            </a:r>
            <a:r>
              <a:rPr sz="1400" b="0" i="0">
                <a:solidFill>
                  <a:srgbClr val="202020"/>
                </a:solidFill>
                <a:latin typeface="Calibri"/>
              </a:rPr>
              <a:t> item's Graph ACL to </a:t>
            </a:r>
            <a:r>
              <a:rPr sz="1350" b="0" i="0">
                <a:solidFill>
                  <a:srgbClr val="202020"/>
                </a:solidFill>
                <a:latin typeface="Consolas"/>
              </a:rPr>
              <a:t>CLASSIFICATION_RESTRICTED_GROUP_ID</a:t>
            </a:r>
            <a:r>
              <a:rPr sz="1400" b="0" i="0">
                <a:solidFill>
                  <a:srgbClr val="202020"/>
                </a:solidFill>
                <a:latin typeface="Calibri"/>
              </a:rPr>
              <a:t>.</a:t>
            </a:r>
          </a:p>
        </p:txBody>
      </p:sp>
      <p:sp>
        <p:nvSpPr>
          <p:cNvPr id="6" name="Rectangle 5"/>
          <p:cNvSpPr/>
          <p:nvPr/>
        </p:nvSpPr>
        <p:spPr>
          <a:xfrm>
            <a:off x="502920" y="1463040"/>
            <a:ext cx="128016" cy="329184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340</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5.3 The permission model and how it maps to ACLs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Copilot must never show a record to someone who cannot see it in Clarizen. The connector enforces this by attaching an </a:t>
            </a:r>
            <a:r>
              <a:rPr sz="1250" b="1" i="0">
                <a:solidFill>
                  <a:srgbClr val="202020"/>
                </a:solidFill>
                <a:latin typeface="Calibri"/>
              </a:rPr>
              <a:t>access control list (ACL)</a:t>
            </a:r>
            <a:r>
              <a:rPr sz="1250" b="0" i="0">
                <a:solidFill>
                  <a:srgbClr val="202020"/>
                </a:solidFill>
                <a:latin typeface="Calibri"/>
              </a:rPr>
              <a:t> to every item; Microsoft Search then </a:t>
            </a:r>
            <a:r>
              <a:rPr sz="1250" b="1" i="0">
                <a:solidFill>
                  <a:srgbClr val="202020"/>
                </a:solidFill>
                <a:latin typeface="Calibri"/>
              </a:rPr>
              <a:t>access-trims</a:t>
            </a:r>
            <a:r>
              <a:rPr sz="1250" b="0" i="0">
                <a:solidFill>
                  <a:srgbClr val="202020"/>
                </a:solidFill>
                <a:latin typeface="Calibri"/>
              </a:rPr>
              <a:t> results so each user sees only permitted items. The ACL is built per record from the object's </a:t>
            </a:r>
            <a:r>
              <a:rPr sz="1250" b="1" i="0">
                <a:solidFill>
                  <a:srgbClr val="202020"/>
                </a:solidFill>
                <a:latin typeface="Calibri"/>
              </a:rPr>
              <a:t>ACL mode</a:t>
            </a:r>
            <a:r>
              <a:rPr sz="1250" b="0" i="0">
                <a:solidFill>
                  <a:srgbClr val="202020"/>
                </a:solidFill>
                <a:latin typeface="Calibri"/>
              </a:rPr>
              <a:t>, set per object in </a:t>
            </a:r>
            <a:r>
              <a:rPr sz="1200" b="0" i="0">
                <a:solidFill>
                  <a:srgbClr val="202020"/>
                </a:solidFill>
                <a:latin typeface="Consolas"/>
              </a:rPr>
              <a:t>config/schema.json</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341</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5.3 The permission model and how it maps to ACLs</a:t>
            </a:r>
          </a:p>
        </p:txBody>
      </p:sp>
      <p:graphicFrame>
        <p:nvGraphicFramePr>
          <p:cNvPr id="5" name="Table 4"/>
          <p:cNvGraphicFramePr>
            <a:graphicFrameLocks noGrp="1"/>
          </p:cNvGraphicFramePr>
          <p:nvPr/>
        </p:nvGraphicFramePr>
        <p:xfrm>
          <a:off x="502920" y="1188720"/>
          <a:ext cx="11185855" cy="1536192"/>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ACL mode</a:t>
                      </a:r>
                    </a:p>
                  </a:txBody>
                  <a:tcPr marT="25400" marB="25400">
                    <a:solidFill>
                      <a:srgbClr val="2E5496"/>
                    </a:solidFill>
                  </a:tcPr>
                </a:tc>
                <a:tc>
                  <a:txBody>
                    <a:bodyPr wrap="square"/>
                    <a:lstStyle/>
                    <a:p>
                      <a:r>
                        <a:rPr sz="1050" b="1" i="0">
                          <a:solidFill>
                            <a:srgbClr val="FFFFFF"/>
                          </a:solidFill>
                          <a:latin typeface="Calibri"/>
                        </a:rPr>
                        <a:t>Who is granted</a:t>
                      </a:r>
                    </a:p>
                  </a:txBody>
                  <a:tcPr marT="25400" marB="25400">
                    <a:solidFill>
                      <a:srgbClr val="2E5496"/>
                    </a:solidFill>
                  </a:tcPr>
                </a:tc>
                <a:tc>
                  <a:txBody>
                    <a:bodyPr wrap="square"/>
                    <a:lstStyle/>
                    <a:p>
                      <a:r>
                        <a:rPr sz="1050" b="1" i="0">
                          <a:solidFill>
                            <a:srgbClr val="FFFFFF"/>
                          </a:solidFill>
                          <a:latin typeface="Calibri"/>
                        </a:rPr>
                        <a:t>Used for (default)</a:t>
                      </a:r>
                    </a:p>
                  </a:txBody>
                  <a:tcPr marT="25400" marB="25400">
                    <a:solidFill>
                      <a:srgbClr val="2E5496"/>
                    </a:solidFill>
                  </a:tcPr>
                </a:tc>
              </a:tr>
              <a:tr h="384048">
                <a:tc>
                  <a:txBody>
                    <a:bodyPr wrap="square"/>
                    <a:lstStyle/>
                    <a:p>
                      <a:r>
                        <a:rPr sz="950" b="0" i="0">
                          <a:solidFill>
                            <a:srgbClr val="202020"/>
                          </a:solidFill>
                          <a:latin typeface="Calibri"/>
                        </a:rPr>
                        <a:t>projectMembers</a:t>
                      </a:r>
                    </a:p>
                  </a:txBody>
                  <a:tcPr marT="12700" marB="12700">
                    <a:solidFill>
                      <a:srgbClr val="FFFFFF"/>
                    </a:solidFill>
                  </a:tcPr>
                </a:tc>
                <a:tc>
                  <a:txBody>
                    <a:bodyPr wrap="square"/>
                    <a:lstStyle/>
                    <a:p>
                      <a:r>
                        <a:rPr sz="950" b="0" i="0">
                          <a:solidFill>
                            <a:srgbClr val="202020"/>
                          </a:solidFill>
                          <a:latin typeface="Calibri"/>
                        </a:rPr>
                        <a:t>The record's owner fields PLUS everyone on the parent project's team (users and groups). This is Clarizen's normal work-item visibility model.</a:t>
                      </a:r>
                    </a:p>
                  </a:txBody>
                  <a:tcPr marT="12700" marB="12700">
                    <a:solidFill>
                      <a:srgbClr val="FFFFFF"/>
                    </a:solidFill>
                  </a:tcPr>
                </a:tc>
                <a:tc>
                  <a:txBody>
                    <a:bodyPr wrap="square"/>
                    <a:lstStyle/>
                    <a:p>
                      <a:r>
                        <a:rPr sz="950" b="0" i="0">
                          <a:solidFill>
                            <a:srgbClr val="202020"/>
                          </a:solidFill>
                          <a:latin typeface="Calibri"/>
                        </a:rPr>
                        <a:t>Project, Task, Milestone, Issue, Risk, Resource Assignment, Discussion, Attachment</a:t>
                      </a:r>
                    </a:p>
                  </a:txBody>
                  <a:tcPr marT="12700" marB="12700">
                    <a:solidFill>
                      <a:srgbClr val="FFFFFF"/>
                    </a:solidFill>
                  </a:tcPr>
                </a:tc>
              </a:tr>
              <a:tr h="384048">
                <a:tc>
                  <a:txBody>
                    <a:bodyPr wrap="square"/>
                    <a:lstStyle/>
                    <a:p>
                      <a:r>
                        <a:rPr sz="950" b="0" i="0">
                          <a:solidFill>
                            <a:srgbClr val="202020"/>
                          </a:solidFill>
                          <a:latin typeface="Calibri"/>
                        </a:rPr>
                        <a:t>ownerOnly</a:t>
                      </a:r>
                    </a:p>
                  </a:txBody>
                  <a:tcPr marT="12700" marB="12700">
                    <a:solidFill>
                      <a:srgbClr val="F7F9FC"/>
                    </a:solidFill>
                  </a:tcPr>
                </a:tc>
                <a:tc>
                  <a:txBody>
                    <a:bodyPr wrap="square"/>
                    <a:lstStyle/>
                    <a:p>
                      <a:r>
                        <a:rPr sz="950" b="0" i="0">
                          <a:solidFill>
                            <a:srgbClr val="202020"/>
                          </a:solidFill>
                          <a:latin typeface="Calibri"/>
                        </a:rPr>
                        <a:t>Only the record's owner-type users (creator, owner, manager, assignee, reporter).</a:t>
                      </a:r>
                    </a:p>
                  </a:txBody>
                  <a:tcPr marT="12700" marB="12700">
                    <a:solidFill>
                      <a:srgbClr val="F7F9FC"/>
                    </a:solidFill>
                  </a:tcPr>
                </a:tc>
                <a:tc>
                  <a:txBody>
                    <a:bodyPr wrap="square"/>
                    <a:lstStyle/>
                    <a:p>
                      <a:r>
                        <a:rPr sz="950" b="0" i="0">
                          <a:solidFill>
                            <a:srgbClr val="202020"/>
                          </a:solidFill>
                          <a:latin typeface="Calibri"/>
                        </a:rPr>
                        <a:t>Timesheet</a:t>
                      </a:r>
                    </a:p>
                  </a:txBody>
                  <a:tcPr marT="12700" marB="12700">
                    <a:solidFill>
                      <a:srgbClr val="F7F9FC"/>
                    </a:solidFill>
                  </a:tcPr>
                </a:tc>
              </a:tr>
              <a:tr h="384048">
                <a:tc>
                  <a:txBody>
                    <a:bodyPr wrap="square"/>
                    <a:lstStyle/>
                    <a:p>
                      <a:r>
                        <a:rPr sz="950" b="0" i="0">
                          <a:solidFill>
                            <a:srgbClr val="202020"/>
                          </a:solidFill>
                          <a:latin typeface="Calibri"/>
                        </a:rPr>
                        <a:t>public</a:t>
                      </a:r>
                    </a:p>
                  </a:txBody>
                  <a:tcPr marT="12700" marB="12700">
                    <a:solidFill>
                      <a:srgbClr val="FFFFFF"/>
                    </a:solidFill>
                  </a:tcPr>
                </a:tc>
                <a:tc>
                  <a:txBody>
                    <a:bodyPr wrap="square"/>
                    <a:lstStyle/>
                    <a:p>
                      <a:r>
                        <a:rPr sz="950" b="0" i="0">
                          <a:solidFill>
                            <a:srgbClr val="202020"/>
                          </a:solidFill>
                          <a:latin typeface="Calibri"/>
                        </a:rPr>
                        <a:t>Everyone in the tenant except guests.</a:t>
                      </a:r>
                    </a:p>
                  </a:txBody>
                  <a:tcPr marT="12700" marB="12700">
                    <a:solidFill>
                      <a:srgbClr val="FFFFFF"/>
                    </a:solidFill>
                  </a:tcPr>
                </a:tc>
                <a:tc>
                  <a:txBody>
                    <a:bodyPr wrap="square"/>
                    <a:lstStyle/>
                    <a:p>
                      <a:r>
                        <a:rPr sz="950" b="0" i="0">
                          <a:solidFill>
                            <a:srgbClr val="202020"/>
                          </a:solidFill>
                          <a:latin typeface="Calibri"/>
                        </a:rPr>
                        <a:t>(available; used only where data is genuinely org-wide)</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342</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5.3 The permission model and how it maps to ACLs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owner-type fields recognised on any record are </a:t>
            </a:r>
            <a:r>
              <a:rPr sz="1200" b="0" i="0">
                <a:solidFill>
                  <a:srgbClr val="202020"/>
                </a:solidFill>
                <a:latin typeface="Consolas"/>
              </a:rPr>
              <a:t>CreatedBy</a:t>
            </a:r>
            <a:r>
              <a:rPr sz="1250" b="0" i="0">
                <a:solidFill>
                  <a:srgbClr val="202020"/>
                </a:solidFill>
                <a:latin typeface="Calibri"/>
              </a:rPr>
              <a:t>, </a:t>
            </a:r>
            <a:r>
              <a:rPr sz="1200" b="0" i="0">
                <a:solidFill>
                  <a:srgbClr val="202020"/>
                </a:solidFill>
                <a:latin typeface="Consolas"/>
              </a:rPr>
              <a:t>Owner</a:t>
            </a:r>
            <a:r>
              <a:rPr sz="1250" b="0" i="0">
                <a:solidFill>
                  <a:srgbClr val="202020"/>
                </a:solidFill>
                <a:latin typeface="Calibri"/>
              </a:rPr>
              <a:t>, </a:t>
            </a:r>
            <a:r>
              <a:rPr sz="1200" b="0" i="0">
                <a:solidFill>
                  <a:srgbClr val="202020"/>
                </a:solidFill>
                <a:latin typeface="Consolas"/>
              </a:rPr>
              <a:t>Manager</a:t>
            </a:r>
            <a:r>
              <a:rPr sz="1250" b="0" i="0">
                <a:solidFill>
                  <a:srgbClr val="202020"/>
                </a:solidFill>
                <a:latin typeface="Calibri"/>
              </a:rPr>
              <a:t>, </a:t>
            </a:r>
            <a:r>
              <a:rPr sz="1200" b="0" i="0">
                <a:solidFill>
                  <a:srgbClr val="202020"/>
                </a:solidFill>
                <a:latin typeface="Consolas"/>
              </a:rPr>
              <a:t>AssignedTo</a:t>
            </a:r>
            <a:r>
              <a:rPr sz="1250" b="0" i="0">
                <a:solidFill>
                  <a:srgbClr val="202020"/>
                </a:solidFill>
                <a:latin typeface="Calibri"/>
              </a:rPr>
              <a:t> and </a:t>
            </a:r>
            <a:r>
              <a:rPr sz="1200" b="0" i="0">
                <a:solidFill>
                  <a:srgbClr val="202020"/>
                </a:solidFill>
                <a:latin typeface="Consolas"/>
              </a:rPr>
              <a:t>ReportedBy</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343</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5.4 Mapping Clarizen people to Entra identities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An ACL is only useful if the connector can turn a Clarizen person or group into the Entra identity Copilot understands. During identity sync the connector loads Clarizen users, groups (with membership) and project resource links, then:</a:t>
            </a:r>
          </a:p>
          <a:p>
            <a:pPr>
              <a:spcBef>
                <a:spcPts val="100"/>
              </a:spcBef>
              <a:spcAft>
                <a:spcPts val="200"/>
              </a:spcAft>
            </a:pPr>
            <a:r>
              <a:rPr sz="1250" b="1" i="0">
                <a:solidFill>
                  <a:srgbClr val="2E5496"/>
                </a:solidFill>
                <a:latin typeface="Calibri"/>
              </a:rPr>
              <a:t>•  </a:t>
            </a:r>
            <a:r>
              <a:rPr sz="1250" b="0" i="0">
                <a:solidFill>
                  <a:srgbClr val="202020"/>
                </a:solidFill>
                <a:latin typeface="Calibri"/>
              </a:rPr>
              <a:t>resolves each Clarizen user to an Entra identity by </a:t>
            </a:r>
            <a:r>
              <a:rPr sz="1250" b="1" i="0">
                <a:solidFill>
                  <a:srgbClr val="202020"/>
                </a:solidFill>
                <a:latin typeface="Calibri"/>
              </a:rPr>
              <a:t>email / UPN</a:t>
            </a:r>
            <a:r>
              <a:rPr sz="1250" b="0" i="0">
                <a:solidFill>
                  <a:srgbClr val="202020"/>
                </a:solidFill>
                <a:latin typeface="Calibri"/>
              </a:rPr>
              <a:t>, and persists the mapping in the identity store;</a:t>
            </a:r>
          </a:p>
          <a:p>
            <a:pPr>
              <a:spcBef>
                <a:spcPts val="100"/>
              </a:spcBef>
              <a:spcAft>
                <a:spcPts val="200"/>
              </a:spcAft>
            </a:pPr>
            <a:r>
              <a:rPr sz="1250" b="1" i="0">
                <a:solidFill>
                  <a:srgbClr val="2E5496"/>
                </a:solidFill>
                <a:latin typeface="Calibri"/>
              </a:rPr>
              <a:t>•  </a:t>
            </a:r>
            <a:r>
              <a:rPr sz="1250" b="0" i="0">
                <a:solidFill>
                  <a:srgbClr val="202020"/>
                </a:solidFill>
                <a:latin typeface="Calibri"/>
              </a:rPr>
              <a:t>maps Clarizen groups to Entra groups through </a:t>
            </a:r>
            <a:r>
              <a:rPr sz="1200" b="0" i="0">
                <a:solidFill>
                  <a:srgbClr val="202020"/>
                </a:solidFill>
                <a:latin typeface="Consolas"/>
              </a:rPr>
              <a:t>CLARIZEN_GROUP_MAPPING</a:t>
            </a:r>
            <a:r>
              <a:rPr sz="1250" b="0" i="0">
                <a:solidFill>
                  <a:srgbClr val="202020"/>
                </a:solidFill>
                <a:latin typeface="Calibri"/>
              </a:rPr>
              <a:t>, or, for an unmapped group, </a:t>
            </a:r>
            <a:r>
              <a:rPr sz="1250" b="1" i="0">
                <a:solidFill>
                  <a:srgbClr val="202020"/>
                </a:solidFill>
                <a:latin typeface="Calibri"/>
              </a:rPr>
              <a:t>expands it to its member users</a:t>
            </a:r>
            <a:r>
              <a:rPr sz="1250" b="0" i="0">
                <a:solidFill>
                  <a:srgbClr val="202020"/>
                </a:solidFill>
                <a:latin typeface="Calibri"/>
              </a:rPr>
              <a:t> so access is never silently dropped;</a:t>
            </a:r>
          </a:p>
          <a:p>
            <a:pPr>
              <a:spcBef>
                <a:spcPts val="100"/>
              </a:spcBef>
              <a:spcAft>
                <a:spcPts val="200"/>
              </a:spcAft>
            </a:pPr>
            <a:r>
              <a:rPr sz="1250" b="1" i="0">
                <a:solidFill>
                  <a:srgbClr val="2E5496"/>
                </a:solidFill>
                <a:latin typeface="Calibri"/>
              </a:rPr>
              <a:t>•  </a:t>
            </a:r>
            <a:r>
              <a:rPr sz="1250" b="0" i="0">
                <a:solidFill>
                  <a:srgbClr val="202020"/>
                </a:solidFill>
                <a:latin typeface="Calibri"/>
              </a:rPr>
              <a:t>optionally grants a super-user group on every item via </a:t>
            </a:r>
            <a:r>
              <a:rPr sz="1200" b="0" i="0">
                <a:solidFill>
                  <a:srgbClr val="202020"/>
                </a:solidFill>
                <a:latin typeface="Consolas"/>
              </a:rPr>
              <a:t>CLARIZEN_ADMIN_GROUP_ID</a:t>
            </a:r>
            <a:r>
              <a:rPr sz="1250" b="0" i="0">
                <a:solidFill>
                  <a:srgbClr val="202020"/>
                </a:solidFill>
                <a:latin typeface="Calibri"/>
              </a:rPr>
              <a:t> (the Clarizen administrator equivalent).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344</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5.4 Mapping Clarizen people to Entra identities</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A record that resolves to </a:t>
            </a:r>
            <a:r>
              <a:rPr sz="1400" b="1" i="0">
                <a:solidFill>
                  <a:srgbClr val="202020"/>
                </a:solidFill>
                <a:latin typeface="Calibri"/>
              </a:rPr>
              <a:t>zero</a:t>
            </a:r>
            <a:r>
              <a:rPr sz="1400" b="0" i="0">
                <a:solidFill>
                  <a:srgbClr val="202020"/>
                </a:solidFill>
                <a:latin typeface="Calibri"/>
              </a:rPr>
              <a:t> Entra principals is </a:t>
            </a:r>
            <a:r>
              <a:rPr sz="1400" b="1" i="0">
                <a:solidFill>
                  <a:srgbClr val="202020"/>
                </a:solidFill>
                <a:latin typeface="Calibri"/>
              </a:rPr>
              <a:t>skipped, never ingested world-readable</a:t>
            </a:r>
            <a:r>
              <a:rPr sz="1400" b="0" i="0">
                <a:solidFill>
                  <a:srgbClr val="202020"/>
                </a:solidFill>
                <a:latin typeface="Calibri"/>
              </a:rPr>
              <a:t>. If you would rather such records go to a default group than be skipped, set </a:t>
            </a:r>
            <a:r>
              <a:rPr sz="1350" b="0" i="0">
                <a:solidFill>
                  <a:srgbClr val="202020"/>
                </a:solidFill>
                <a:latin typeface="Consolas"/>
              </a:rPr>
              <a:t>FALLBACK_ACL_GROUP_ID</a:t>
            </a:r>
            <a:r>
              <a:rPr sz="1400" b="0" i="0">
                <a:solidFill>
                  <a:srgbClr val="202020"/>
                </a:solidFill>
                <a:latin typeface="Calibri"/>
              </a:rPr>
              <a:t> to that Entra group. This fail-safe is why a mis-mapped identity causes missing results, not a data leak.</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345</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5.4 Mapping Clarizen people to Entra identities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Graph, external items, ACLs and Entra concepts in general are covered in the Common Guide §5 (Identity and access).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346</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5.4 Mapping Clarizen people to Entra identities</a:t>
            </a:r>
          </a:p>
        </p:txBody>
      </p:sp>
      <p:sp>
        <p:nvSpPr>
          <p:cNvPr id="5" name="Rectangle 4"/>
          <p:cNvSpPr/>
          <p:nvPr/>
        </p:nvSpPr>
        <p:spPr>
          <a:xfrm>
            <a:off x="502920" y="1463040"/>
            <a:ext cx="11185855" cy="329184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5496"/>
                </a:solidFill>
                <a:latin typeface="Calibri"/>
              </a:rPr>
              <a:t>Note:  </a:t>
            </a:r>
            <a:r>
              <a:rPr sz="1400" b="1" i="0">
                <a:solidFill>
                  <a:srgbClr val="202020"/>
                </a:solidFill>
                <a:latin typeface="Calibri"/>
              </a:rPr>
              <a:t>Note: </a:t>
            </a:r>
            <a:r>
              <a:rPr sz="1400" b="1" i="0">
                <a:solidFill>
                  <a:srgbClr val="202020"/>
                </a:solidFill>
                <a:latin typeface="Calibri"/>
              </a:rPr>
              <a:t>Entitlement freshness (changed in v1.1).</a:t>
            </a:r>
            <a:r>
              <a:rPr sz="1400" b="0" i="0">
                <a:solidFill>
                  <a:srgbClr val="202020"/>
                </a:solidFill>
                <a:latin typeface="Calibri"/>
              </a:rPr>
              <a:t> </a:t>
            </a:r>
            <a:r>
              <a:rPr sz="1350" b="0" i="0">
                <a:solidFill>
                  <a:srgbClr val="202020"/>
                </a:solidFill>
                <a:latin typeface="Consolas"/>
              </a:rPr>
              <a:t>IDENTITY_SYNC_ON_INCREMENTAL</a:t>
            </a:r>
            <a:r>
              <a:rPr sz="1400" b="0" i="0">
                <a:solidFill>
                  <a:srgbClr val="202020"/>
                </a:solidFill>
                <a:latin typeface="Calibri"/>
              </a:rPr>
              <a:t> now defaults to </a:t>
            </a:r>
            <a:r>
              <a:rPr sz="1350" b="1" i="0">
                <a:solidFill>
                  <a:srgbClr val="202020"/>
                </a:solidFill>
                <a:latin typeface="Consolas"/>
              </a:rPr>
              <a:t>true</a:t>
            </a:r>
            <a:r>
              <a:rPr sz="1400" b="0" i="0">
                <a:solidFill>
                  <a:srgbClr val="202020"/>
                </a:solidFill>
                <a:latin typeface="Calibri"/>
              </a:rPr>
              <a:t>, so Clarizen-to-Entra entitlement changes are re-resolved on every incremental crawl instead of only on full crawls, shrinking ACL staleness to the incremental cadence. A residual, </a:t>
            </a:r>
            <a:r>
              <a:rPr sz="1400" b="1" i="0">
                <a:solidFill>
                  <a:srgbClr val="202020"/>
                </a:solidFill>
                <a:latin typeface="Calibri"/>
              </a:rPr>
              <a:t>non-real-time</a:t>
            </a:r>
            <a:r>
              <a:rPr sz="1400" b="0" i="0">
                <a:solidFill>
                  <a:srgbClr val="202020"/>
                </a:solidFill>
                <a:latin typeface="Calibri"/>
              </a:rPr>
              <a:t> lag still remains between an entitlement change and the next incremental crawl; unchanged content is re-ACL'd on the re-ACL cadence (a periodic full crawl re-applies every item's ACL). To bound the lag tighter, run incrementals on a short cadence and schedule a full crawl matched to your entitlement SLA. Set it to </a:t>
            </a:r>
            <a:r>
              <a:rPr sz="1350" b="0" i="0">
                <a:solidFill>
                  <a:srgbClr val="202020"/>
                </a:solidFill>
                <a:latin typeface="Consolas"/>
              </a:rPr>
              <a:t>false</a:t>
            </a:r>
            <a:r>
              <a:rPr sz="1400" b="0" i="0">
                <a:solidFill>
                  <a:srgbClr val="202020"/>
                </a:solidFill>
                <a:latin typeface="Calibri"/>
              </a:rPr>
              <a:t> to restore the old full-crawl-only behaviour.</a:t>
            </a:r>
          </a:p>
        </p:txBody>
      </p:sp>
      <p:sp>
        <p:nvSpPr>
          <p:cNvPr id="6" name="Rectangle 5"/>
          <p:cNvSpPr/>
          <p:nvPr/>
        </p:nvSpPr>
        <p:spPr>
          <a:xfrm>
            <a:off x="502920" y="1463040"/>
            <a:ext cx="128016" cy="329184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347</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Clarizen Connector</a:t>
            </a:r>
          </a:p>
          <a:p>
            <a:r>
              <a:rPr sz="3000" b="1" i="0">
                <a:solidFill>
                  <a:srgbClr val="1F3864"/>
                </a:solidFill>
                <a:latin typeface="Calibri"/>
              </a:rPr>
              <a:t>6. Financial-field governance</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348</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 Financial-field governance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Clarizen holds budgets, costs, billing rates and revenue. In a bank, that financial data usually has a tighter audience than the project record it sits on. Financial-field governance is the connector's built-in control for exactly that — and it is a signature feature of this connector.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349</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6.1 Why banks need it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 project manager may legitimately see a project's status and schedule but not its planned revenue or a colleague's billing rate. Without governance, indexing the record would expose those figures to everyone on the project team. Governance lets you tag, hide, or lock down the financial figures independently of the rest of the record.</a:t>
            </a:r>
          </a:p>
          <a:p>
            <a:pPr>
              <a:spcBef>
                <a:spcPts val="100"/>
              </a:spcBef>
              <a:spcAft>
                <a:spcPts val="400"/>
              </a:spcAft>
            </a:pPr>
            <a:r>
              <a:rPr sz="1250" b="0" i="0">
                <a:solidFill>
                  <a:srgbClr val="202020"/>
                </a:solidFill>
                <a:latin typeface="Calibri"/>
              </a:rPr>
              <a:t>The connector marks financial fields (defined per object in </a:t>
            </a:r>
            <a:r>
              <a:rPr sz="1200" b="0" i="0">
                <a:solidFill>
                  <a:srgbClr val="202020"/>
                </a:solidFill>
                <a:latin typeface="Consolas"/>
              </a:rPr>
              <a:t>config/schema.json</a:t>
            </a:r>
            <a:r>
              <a:rPr sz="1250" b="0" i="0">
                <a:solidFill>
                  <a:srgbClr val="202020"/>
                </a:solidFill>
                <a:latin typeface="Calibri"/>
              </a:rPr>
              <a:t> — budget, cost, rates, actuals, revenue) and, on any item that actually carries one, sets two properties: </a:t>
            </a:r>
            <a:r>
              <a:rPr sz="1200" b="0" i="0">
                <a:solidFill>
                  <a:srgbClr val="202020"/>
                </a:solidFill>
                <a:latin typeface="Consolas"/>
              </a:rPr>
              <a:t>ContainsFinancialData=true</a:t>
            </a:r>
            <a:r>
              <a:rPr sz="1250" b="0" i="0">
                <a:solidFill>
                  <a:srgbClr val="202020"/>
                </a:solidFill>
                <a:latin typeface="Calibri"/>
              </a:rPr>
              <a:t> and </a:t>
            </a:r>
            <a:r>
              <a:rPr sz="1200" b="0" i="0">
                <a:solidFill>
                  <a:srgbClr val="202020"/>
                </a:solidFill>
                <a:latin typeface="Consolas"/>
              </a:rPr>
              <a:t>DataClassification="financial"</a:t>
            </a:r>
            <a:r>
              <a:rPr sz="1250" b="0" i="0">
                <a:solidFill>
                  <a:srgbClr val="202020"/>
                </a:solidFill>
                <a:latin typeface="Calibri"/>
              </a:rPr>
              <a:t>. What happens to the figures themselves is decided by one setting, </a:t>
            </a:r>
            <a:r>
              <a:rPr sz="1200" b="0" i="0">
                <a:solidFill>
                  <a:srgbClr val="202020"/>
                </a:solidFill>
                <a:latin typeface="Consolas"/>
              </a:rPr>
              <a:t>FINANCIAL_DATA_MODE</a:t>
            </a:r>
            <a:r>
              <a:rPr sz="1250" b="0" i="0">
                <a:solidFill>
                  <a:srgbClr val="202020"/>
                </a:solidFill>
                <a:latin typeface="Calibri"/>
              </a:rPr>
              <a:t>, which now defaults to the protective </a:t>
            </a:r>
            <a:r>
              <a:rPr sz="1200" b="0" i="0">
                <a:solidFill>
                  <a:srgbClr val="202020"/>
                </a:solidFill>
                <a:latin typeface="Consolas"/>
              </a:rPr>
              <a:t>filter</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350</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6.2 The three modes</a:t>
            </a:r>
          </a:p>
        </p:txBody>
      </p:sp>
      <p:graphicFrame>
        <p:nvGraphicFramePr>
          <p:cNvPr id="5" name="Table 4"/>
          <p:cNvGraphicFramePr>
            <a:graphicFrameLocks noGrp="1"/>
          </p:cNvGraphicFramePr>
          <p:nvPr/>
        </p:nvGraphicFramePr>
        <p:xfrm>
          <a:off x="502920" y="1188720"/>
          <a:ext cx="11185855" cy="1536192"/>
        </p:xfrm>
        <a:graphic>
          <a:graphicData uri="http://schemas.openxmlformats.org/drawingml/2006/table">
            <a:tbl>
              <a:tblPr firstRow="1" bandRow="1">
                <a:tableStyleId>{5C22544A-7EE6-4342-B048-85BDC9FD1C3A}</a:tableStyleId>
              </a:tblPr>
              <a:tblGrid>
                <a:gridCol w="2796463"/>
                <a:gridCol w="2796463"/>
                <a:gridCol w="2796463"/>
                <a:gridCol w="2796466"/>
              </a:tblGrid>
              <a:tr h="384048">
                <a:tc>
                  <a:txBody>
                    <a:bodyPr wrap="square"/>
                    <a:lstStyle/>
                    <a:p>
                      <a:r>
                        <a:rPr sz="1050" b="1" i="0">
                          <a:solidFill>
                            <a:srgbClr val="FFFFFF"/>
                          </a:solidFill>
                          <a:latin typeface="Calibri"/>
                        </a:rPr>
                        <a:t>Mode</a:t>
                      </a:r>
                    </a:p>
                  </a:txBody>
                  <a:tcPr marT="25400" marB="25400">
                    <a:solidFill>
                      <a:srgbClr val="2E5496"/>
                    </a:solidFill>
                  </a:tcPr>
                </a:tc>
                <a:tc>
                  <a:txBody>
                    <a:bodyPr wrap="square"/>
                    <a:lstStyle/>
                    <a:p>
                      <a:r>
                        <a:rPr sz="1050" b="1" i="0">
                          <a:solidFill>
                            <a:srgbClr val="FFFFFF"/>
                          </a:solidFill>
                          <a:latin typeface="Calibri"/>
                        </a:rPr>
                        <a:t>What happens to the financial figures</a:t>
                      </a:r>
                    </a:p>
                  </a:txBody>
                  <a:tcPr marT="25400" marB="25400">
                    <a:solidFill>
                      <a:srgbClr val="2E5496"/>
                    </a:solidFill>
                  </a:tcPr>
                </a:tc>
                <a:tc>
                  <a:txBody>
                    <a:bodyPr wrap="square"/>
                    <a:lstStyle/>
                    <a:p>
                      <a:r>
                        <a:rPr sz="1050" b="1" i="0">
                          <a:solidFill>
                            <a:srgbClr val="FFFFFF"/>
                          </a:solidFill>
                          <a:latin typeface="Calibri"/>
                        </a:rPr>
                        <a:t>Who can see financial items</a:t>
                      </a:r>
                    </a:p>
                  </a:txBody>
                  <a:tcPr marT="25400" marB="25400">
                    <a:solidFill>
                      <a:srgbClr val="2E5496"/>
                    </a:solidFill>
                  </a:tcPr>
                </a:tc>
                <a:tc>
                  <a:txBody>
                    <a:bodyPr wrap="square"/>
                    <a:lstStyle/>
                    <a:p>
                      <a:r>
                        <a:rPr sz="1050" b="1" i="0">
                          <a:solidFill>
                            <a:srgbClr val="FFFFFF"/>
                          </a:solidFill>
                          <a:latin typeface="Calibri"/>
                        </a:rPr>
                        <a:t>When to choose it</a:t>
                      </a:r>
                    </a:p>
                  </a:txBody>
                  <a:tcPr marT="25400" marB="25400">
                    <a:solidFill>
                      <a:srgbClr val="2E5496"/>
                    </a:solidFill>
                  </a:tcPr>
                </a:tc>
              </a:tr>
              <a:tr h="384048">
                <a:tc>
                  <a:txBody>
                    <a:bodyPr wrap="square"/>
                    <a:lstStyle/>
                    <a:p>
                      <a:r>
                        <a:rPr sz="950" b="0" i="0">
                          <a:solidFill>
                            <a:srgbClr val="202020"/>
                          </a:solidFill>
                          <a:latin typeface="Calibri"/>
                        </a:rPr>
                        <a:t>filter (default)</a:t>
                      </a:r>
                    </a:p>
                  </a:txBody>
                  <a:tcPr marT="12700" marB="12700">
                    <a:solidFill>
                      <a:srgbClr val="FFFFFF"/>
                    </a:solidFill>
                  </a:tcPr>
                </a:tc>
                <a:tc>
                  <a:txBody>
                    <a:bodyPr wrap="square"/>
                    <a:lstStyle/>
                    <a:p>
                      <a:r>
                        <a:rPr sz="950" b="0" i="0">
                          <a:solidFill>
                            <a:srgbClr val="202020"/>
                          </a:solidFill>
                          <a:latin typeface="Calibri"/>
                        </a:rPr>
                        <a:t>The values are STRIPPED from the item before it is sent — from both properties and the searchable content body. Classification properties are still set.</a:t>
                      </a:r>
                    </a:p>
                  </a:txBody>
                  <a:tcPr marT="12700" marB="12700">
                    <a:solidFill>
                      <a:srgbClr val="FFFFFF"/>
                    </a:solidFill>
                  </a:tcPr>
                </a:tc>
                <a:tc>
                  <a:txBody>
                    <a:bodyPr wrap="square"/>
                    <a:lstStyle/>
                    <a:p>
                      <a:r>
                        <a:rPr sz="950" b="0" i="0">
                          <a:solidFill>
                            <a:srgbClr val="202020"/>
                          </a:solidFill>
                          <a:latin typeface="Calibri"/>
                        </a:rPr>
                        <a:t>Nobody sees figures through Copilot, at any ACL.</a:t>
                      </a:r>
                    </a:p>
                  </a:txBody>
                  <a:tcPr marT="12700" marB="12700">
                    <a:solidFill>
                      <a:srgbClr val="FFFFFF"/>
                    </a:solidFill>
                  </a:tcPr>
                </a:tc>
                <a:tc>
                  <a:txBody>
                    <a:bodyPr wrap="square"/>
                    <a:lstStyle/>
                    <a:p>
                      <a:r>
                        <a:rPr sz="950" b="0" i="0">
                          <a:solidFill>
                            <a:srgbClr val="202020"/>
                          </a:solidFill>
                          <a:latin typeface="Calibri"/>
                        </a:rPr>
                        <a:t>The safe default: Copilot should never surface the numbers, but the records themselves should still be findable.</a:t>
                      </a:r>
                    </a:p>
                  </a:txBody>
                  <a:tcPr marT="12700" marB="12700">
                    <a:solidFill>
                      <a:srgbClr val="FFFFFF"/>
                    </a:solidFill>
                  </a:tcPr>
                </a:tc>
              </a:tr>
              <a:tr h="384048">
                <a:tc>
                  <a:txBody>
                    <a:bodyPr wrap="square"/>
                    <a:lstStyle/>
                    <a:p>
                      <a:r>
                        <a:rPr sz="950" b="0" i="0">
                          <a:solidFill>
                            <a:srgbClr val="202020"/>
                          </a:solidFill>
                          <a:latin typeface="Calibri"/>
                        </a:rPr>
                        <a:t>tag</a:t>
                      </a:r>
                    </a:p>
                  </a:txBody>
                  <a:tcPr marT="12700" marB="12700">
                    <a:solidFill>
                      <a:srgbClr val="F7F9FC"/>
                    </a:solidFill>
                  </a:tcPr>
                </a:tc>
                <a:tc>
                  <a:txBody>
                    <a:bodyPr wrap="square"/>
                    <a:lstStyle/>
                    <a:p>
                      <a:r>
                        <a:rPr sz="950" b="0" i="0">
                          <a:solidFill>
                            <a:srgbClr val="202020"/>
                          </a:solidFill>
                          <a:latin typeface="Calibri"/>
                        </a:rPr>
                        <a:t>Ingested normally. The item just gets the two classification properties — the figures are NOT hidden or restricted.</a:t>
                      </a:r>
                    </a:p>
                  </a:txBody>
                  <a:tcPr marT="12700" marB="12700">
                    <a:solidFill>
                      <a:srgbClr val="F7F9FC"/>
                    </a:solidFill>
                  </a:tcPr>
                </a:tc>
                <a:tc>
                  <a:txBody>
                    <a:bodyPr wrap="square"/>
                    <a:lstStyle/>
                    <a:p>
                      <a:r>
                        <a:rPr sz="950" b="0" i="0">
                          <a:solidFill>
                            <a:srgbClr val="202020"/>
                          </a:solidFill>
                          <a:latin typeface="Calibri"/>
                        </a:rPr>
                        <a:t>Same audience as the rest of the record (its normal ACL): every project member with item access sees the figures.</a:t>
                      </a:r>
                    </a:p>
                  </a:txBody>
                  <a:tcPr marT="12700" marB="12700">
                    <a:solidFill>
                      <a:srgbClr val="F7F9FC"/>
                    </a:solidFill>
                  </a:tcPr>
                </a:tc>
                <a:tc>
                  <a:txBody>
                    <a:bodyPr wrap="square"/>
                    <a:lstStyle/>
                    <a:p>
                      <a:r>
                        <a:rPr sz="950" b="0" i="0">
                          <a:solidFill>
                            <a:srgbClr val="202020"/>
                          </a:solidFill>
                          <a:latin typeface="Calibri"/>
                        </a:rPr>
                        <a:t>You only need to label/report on financial data (e.g. for DLP or a search vertical) AND accept that readers see the numbers. validate-config emits a loud warning in this mode.</a:t>
                      </a:r>
                    </a:p>
                  </a:txBody>
                  <a:tcPr marT="12700" marB="12700">
                    <a:solidFill>
                      <a:srgbClr val="F7F9FC"/>
                    </a:solidFill>
                  </a:tcPr>
                </a:tc>
              </a:tr>
              <a:tr h="384048">
                <a:tc>
                  <a:txBody>
                    <a:bodyPr wrap="square"/>
                    <a:lstStyle/>
                    <a:p>
                      <a:r>
                        <a:rPr sz="950" b="0" i="0">
                          <a:solidFill>
                            <a:srgbClr val="202020"/>
                          </a:solidFill>
                          <a:latin typeface="Calibri"/>
                        </a:rPr>
                        <a:t>acl</a:t>
                      </a:r>
                    </a:p>
                  </a:txBody>
                  <a:tcPr marT="12700" marB="12700">
                    <a:solidFill>
                      <a:srgbClr val="FFFFFF"/>
                    </a:solidFill>
                  </a:tcPr>
                </a:tc>
                <a:tc>
                  <a:txBody>
                    <a:bodyPr wrap="square"/>
                    <a:lstStyle/>
                    <a:p>
                      <a:r>
                        <a:rPr sz="950" b="0" i="0">
                          <a:solidFill>
                            <a:srgbClr val="202020"/>
                          </a:solidFill>
                          <a:latin typeface="Calibri"/>
                        </a:rPr>
                        <a:t>Values are ingested, but the item's grants are REPLACED with a single grant to the finance group (existing deny entries are kept).</a:t>
                      </a:r>
                    </a:p>
                  </a:txBody>
                  <a:tcPr marT="12700" marB="12700">
                    <a:solidFill>
                      <a:srgbClr val="FFFFFF"/>
                    </a:solidFill>
                  </a:tcPr>
                </a:tc>
                <a:tc>
                  <a:txBody>
                    <a:bodyPr wrap="square"/>
                    <a:lstStyle/>
                    <a:p>
                      <a:r>
                        <a:rPr sz="950" b="0" i="0">
                          <a:solidFill>
                            <a:srgbClr val="202020"/>
                          </a:solidFill>
                          <a:latin typeface="Calibri"/>
                        </a:rPr>
                        <a:t>Only members of FINANCIAL_DATA_GROUP_ID.</a:t>
                      </a:r>
                    </a:p>
                  </a:txBody>
                  <a:tcPr marT="12700" marB="12700">
                    <a:solidFill>
                      <a:srgbClr val="FFFFFF"/>
                    </a:solidFill>
                  </a:tcPr>
                </a:tc>
                <a:tc>
                  <a:txBody>
                    <a:bodyPr wrap="square"/>
                    <a:lstStyle/>
                    <a:p>
                      <a:r>
                        <a:rPr sz="950" b="0" i="0">
                          <a:solidFill>
                            <a:srgbClr val="202020"/>
                          </a:solidFill>
                          <a:latin typeface="Calibri"/>
                        </a:rPr>
                        <a:t>Only the finance team may see any record that carries financial data.</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351</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6.2 The three modes</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1" i="0">
                <a:solidFill>
                  <a:srgbClr val="202020"/>
                </a:solidFill>
                <a:latin typeface="Calibri"/>
              </a:rPr>
              <a:t>Changed in v1.1.</a:t>
            </a:r>
            <a:r>
              <a:rPr sz="1400" b="0" i="0">
                <a:solidFill>
                  <a:srgbClr val="202020"/>
                </a:solidFill>
                <a:latin typeface="Calibri"/>
              </a:rPr>
              <a:t> </a:t>
            </a:r>
            <a:r>
              <a:rPr sz="1350" b="0" i="0">
                <a:solidFill>
                  <a:srgbClr val="202020"/>
                </a:solidFill>
                <a:latin typeface="Consolas"/>
              </a:rPr>
              <a:t>FINANCIAL_DATA_MODE</a:t>
            </a:r>
            <a:r>
              <a:rPr sz="1400" b="0" i="0">
                <a:solidFill>
                  <a:srgbClr val="202020"/>
                </a:solidFill>
                <a:latin typeface="Calibri"/>
              </a:rPr>
              <a:t> now defaults to </a:t>
            </a:r>
            <a:r>
              <a:rPr sz="1350" b="1" i="0">
                <a:solidFill>
                  <a:srgbClr val="202020"/>
                </a:solidFill>
                <a:latin typeface="Consolas"/>
              </a:rPr>
              <a:t>filter</a:t>
            </a:r>
            <a:r>
              <a:rPr sz="1400" b="0" i="0">
                <a:solidFill>
                  <a:srgbClr val="202020"/>
                </a:solidFill>
                <a:latin typeface="Calibri"/>
              </a:rPr>
              <a:t> (it was </a:t>
            </a:r>
            <a:r>
              <a:rPr sz="1350" b="0" i="0">
                <a:solidFill>
                  <a:srgbClr val="202020"/>
                </a:solidFill>
                <a:latin typeface="Consolas"/>
              </a:rPr>
              <a:t>tag</a:t>
            </a:r>
            <a:r>
              <a:rPr sz="1400" b="0" i="0">
                <a:solidFill>
                  <a:srgbClr val="202020"/>
                </a:solidFill>
                <a:latin typeface="Calibri"/>
              </a:rPr>
              <a:t>). On upgrade, financial figures are stripped from Copilot by default with no configuration change. If you deliberately want the old label-only behaviour, set </a:t>
            </a:r>
            <a:r>
              <a:rPr sz="1350" b="0" i="0">
                <a:solidFill>
                  <a:srgbClr val="202020"/>
                </a:solidFill>
                <a:latin typeface="Consolas"/>
              </a:rPr>
              <a:t>FINANCIAL_DATA_MODE=tag</a:t>
            </a:r>
            <a:r>
              <a:rPr sz="1400" b="0" i="0">
                <a:solidFill>
                  <a:srgbClr val="202020"/>
                </a:solidFill>
                <a:latin typeface="Calibri"/>
              </a:rPr>
              <a:t> explicitly and expect a </a:t>
            </a:r>
            <a:r>
              <a:rPr sz="1350" b="0" i="0">
                <a:solidFill>
                  <a:srgbClr val="202020"/>
                </a:solidFill>
                <a:latin typeface="Consolas"/>
              </a:rPr>
              <a:t>validate-config</a:t>
            </a:r>
            <a:r>
              <a:rPr sz="1400" b="0" i="0">
                <a:solidFill>
                  <a:srgbClr val="202020"/>
                </a:solidFill>
                <a:latin typeface="Calibri"/>
              </a:rPr>
              <a:t> warning — </a:t>
            </a:r>
            <a:r>
              <a:rPr sz="1350" b="0" i="0">
                <a:solidFill>
                  <a:srgbClr val="202020"/>
                </a:solidFill>
                <a:latin typeface="Consolas"/>
              </a:rPr>
              <a:t>tag</a:t>
            </a:r>
            <a:r>
              <a:rPr sz="1400" b="0" i="0">
                <a:solidFill>
                  <a:srgbClr val="202020"/>
                </a:solidFill>
                <a:latin typeface="Calibri"/>
              </a:rPr>
              <a:t> classifies but does NOT restrict who sees the figures.</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352</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6.2 The three modes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Governance also covers financial fields that flow into the searchable content body rather than into a property: in </a:t>
            </a:r>
            <a:r>
              <a:rPr sz="1200" b="0" i="0">
                <a:solidFill>
                  <a:srgbClr val="202020"/>
                </a:solidFill>
                <a:latin typeface="Consolas"/>
              </a:rPr>
              <a:t>filter</a:t>
            </a:r>
            <a:r>
              <a:rPr sz="1250" b="0" i="0">
                <a:solidFill>
                  <a:srgbClr val="202020"/>
                </a:solidFill>
                <a:latin typeface="Calibri"/>
              </a:rPr>
              <a:t> mode their values are redacted from the content, and in every mode a record carrying one is still classified (and, in </a:t>
            </a:r>
            <a:r>
              <a:rPr sz="1200" b="0" i="0">
                <a:solidFill>
                  <a:srgbClr val="202020"/>
                </a:solidFill>
                <a:latin typeface="Consolas"/>
              </a:rPr>
              <a:t>acl</a:t>
            </a:r>
            <a:r>
              <a:rPr sz="1250" b="0" i="0">
                <a:solidFill>
                  <a:srgbClr val="202020"/>
                </a:solidFill>
                <a:latin typeface="Calibri"/>
              </a:rPr>
              <a:t> mode, restricted).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353</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6.2 The three modes</a:t>
            </a:r>
          </a:p>
        </p:txBody>
      </p:sp>
      <p:sp>
        <p:nvSpPr>
          <p:cNvPr id="5" name="Rectangle 4"/>
          <p:cNvSpPr/>
          <p:nvPr/>
        </p:nvSpPr>
        <p:spPr>
          <a:xfrm>
            <a:off x="502920" y="1463040"/>
            <a:ext cx="11185855" cy="3291840"/>
          </a:xfrm>
          <a:prstGeom prst="rect">
            <a:avLst/>
          </a:prstGeom>
          <a:solidFill>
            <a:srgbClr val="F0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6A3D9A"/>
                </a:solidFill>
                <a:latin typeface="Calibri"/>
              </a:rPr>
              <a:t>Information to request:  </a:t>
            </a:r>
            <a:r>
              <a:rPr sz="1400" b="1" i="0">
                <a:solidFill>
                  <a:srgbClr val="202020"/>
                </a:solidFill>
                <a:latin typeface="Calibri"/>
              </a:rPr>
              <a:t>Information to request: </a:t>
            </a:r>
            <a:r>
              <a:rPr sz="1350" b="0" i="0">
                <a:solidFill>
                  <a:srgbClr val="202020"/>
                </a:solidFill>
                <a:latin typeface="Consolas"/>
              </a:rPr>
              <a:t>FINANCIAL_DATA_MODE=acl</a:t>
            </a:r>
            <a:r>
              <a:rPr sz="1400" b="0" i="0">
                <a:solidFill>
                  <a:srgbClr val="202020"/>
                </a:solidFill>
                <a:latin typeface="Calibri"/>
              </a:rPr>
              <a:t> </a:t>
            </a:r>
            <a:r>
              <a:rPr sz="1400" b="1" i="0">
                <a:solidFill>
                  <a:srgbClr val="202020"/>
                </a:solidFill>
                <a:latin typeface="Calibri"/>
              </a:rPr>
              <a:t>requires</a:t>
            </a:r>
            <a:r>
              <a:rPr sz="1400" b="0" i="0">
                <a:solidFill>
                  <a:srgbClr val="202020"/>
                </a:solidFill>
                <a:latin typeface="Calibri"/>
              </a:rPr>
              <a:t> </a:t>
            </a:r>
            <a:r>
              <a:rPr sz="1350" b="0" i="0">
                <a:solidFill>
                  <a:srgbClr val="202020"/>
                </a:solidFill>
                <a:latin typeface="Consolas"/>
              </a:rPr>
              <a:t>FINANCIAL_DATA_GROUP_ID</a:t>
            </a:r>
            <a:r>
              <a:rPr sz="1400" b="0" i="0">
                <a:solidFill>
                  <a:srgbClr val="202020"/>
                </a:solidFill>
                <a:latin typeface="Calibri"/>
              </a:rPr>
              <a:t> to be set to the Entra group object id of the finance audience. Start-up fails fast with a clear message if it is missing. Ask your </a:t>
            </a:r>
            <a:r>
              <a:rPr sz="1400" b="1" i="0">
                <a:solidFill>
                  <a:srgbClr val="202020"/>
                </a:solidFill>
                <a:latin typeface="Calibri"/>
              </a:rPr>
              <a:t>Entra tenant admin</a:t>
            </a:r>
            <a:r>
              <a:rPr sz="1400" b="0" i="0">
                <a:solidFill>
                  <a:srgbClr val="202020"/>
                </a:solidFill>
                <a:latin typeface="Calibri"/>
              </a:rPr>
              <a:t> for that group id.</a:t>
            </a:r>
          </a:p>
        </p:txBody>
      </p:sp>
      <p:sp>
        <p:nvSpPr>
          <p:cNvPr id="6" name="Rectangle 5"/>
          <p:cNvSpPr/>
          <p:nvPr/>
        </p:nvSpPr>
        <p:spPr>
          <a:xfrm>
            <a:off x="502920" y="1463040"/>
            <a:ext cx="128016" cy="3291840"/>
          </a:xfrm>
          <a:prstGeom prst="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354</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6.3 How to choose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0" i="0">
                <a:solidFill>
                  <a:srgbClr val="202020"/>
                </a:solidFill>
                <a:latin typeface="Calibri"/>
              </a:rPr>
              <a:t>Regulator or policy says the figures must not leave the finance team → </a:t>
            </a:r>
            <a:r>
              <a:rPr sz="1250" b="1" i="0">
                <a:solidFill>
                  <a:srgbClr val="202020"/>
                </a:solidFill>
                <a:latin typeface="Calibri"/>
              </a:rPr>
              <a:t>acl</a:t>
            </a:r>
            <a:r>
              <a:rPr sz="1250" b="0" i="0">
                <a:solidFill>
                  <a:srgbClr val="202020"/>
                </a:solidFill>
                <a:latin typeface="Calibri"/>
              </a:rPr>
              <a:t>.</a:t>
            </a:r>
          </a:p>
          <a:p>
            <a:pPr>
              <a:spcBef>
                <a:spcPts val="100"/>
              </a:spcBef>
              <a:spcAft>
                <a:spcPts val="200"/>
              </a:spcAft>
            </a:pPr>
            <a:r>
              <a:rPr sz="1250" b="1" i="0">
                <a:solidFill>
                  <a:srgbClr val="2E5496"/>
                </a:solidFill>
                <a:latin typeface="Calibri"/>
              </a:rPr>
              <a:t>•  </a:t>
            </a:r>
            <a:r>
              <a:rPr sz="1250" b="0" i="0">
                <a:solidFill>
                  <a:srgbClr val="202020"/>
                </a:solidFill>
                <a:latin typeface="Calibri"/>
              </a:rPr>
              <a:t>Figures must not appear in Copilot answers at all, but the project records should stay searchable → </a:t>
            </a:r>
            <a:r>
              <a:rPr sz="1250" b="1" i="0">
                <a:solidFill>
                  <a:srgbClr val="202020"/>
                </a:solidFill>
                <a:latin typeface="Calibri"/>
              </a:rPr>
              <a:t>filter</a:t>
            </a:r>
            <a:r>
              <a:rPr sz="1250" b="0" i="0">
                <a:solidFill>
                  <a:srgbClr val="202020"/>
                </a:solidFill>
                <a:latin typeface="Calibri"/>
              </a:rPr>
              <a:t>.</a:t>
            </a:r>
          </a:p>
          <a:p>
            <a:pPr>
              <a:spcBef>
                <a:spcPts val="100"/>
              </a:spcBef>
              <a:spcAft>
                <a:spcPts val="200"/>
              </a:spcAft>
            </a:pPr>
            <a:r>
              <a:rPr sz="1250" b="1" i="0">
                <a:solidFill>
                  <a:srgbClr val="2E5496"/>
                </a:solidFill>
                <a:latin typeface="Calibri"/>
              </a:rPr>
              <a:t>•  </a:t>
            </a:r>
            <a:r>
              <a:rPr sz="1250" b="0" i="0">
                <a:solidFill>
                  <a:srgbClr val="202020"/>
                </a:solidFill>
                <a:latin typeface="Calibri"/>
              </a:rPr>
              <a:t>You only need the data labelled for reporting or a DLP policy → </a:t>
            </a:r>
            <a:r>
              <a:rPr sz="1250" b="1" i="0">
                <a:solidFill>
                  <a:srgbClr val="202020"/>
                </a:solidFill>
                <a:latin typeface="Calibri"/>
              </a:rPr>
              <a:t>tag</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355</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6.4 How to verify it is working</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1.  </a:t>
            </a:r>
            <a:r>
              <a:rPr sz="1250" b="0" i="0">
                <a:solidFill>
                  <a:srgbClr val="202020"/>
                </a:solidFill>
                <a:latin typeface="Calibri"/>
              </a:rPr>
              <a:t>Run </a:t>
            </a:r>
            <a:r>
              <a:rPr sz="1200" b="0" i="0">
                <a:solidFill>
                  <a:srgbClr val="202020"/>
                </a:solidFill>
                <a:latin typeface="Consolas"/>
              </a:rPr>
              <a:t>validate-config</a:t>
            </a:r>
            <a:r>
              <a:rPr sz="1250" b="0" i="0">
                <a:solidFill>
                  <a:srgbClr val="202020"/>
                </a:solidFill>
                <a:latin typeface="Calibri"/>
              </a:rPr>
              <a:t> and confirm it reports the mode you intend (and, for </a:t>
            </a:r>
            <a:r>
              <a:rPr sz="1200" b="0" i="0">
                <a:solidFill>
                  <a:srgbClr val="202020"/>
                </a:solidFill>
                <a:latin typeface="Consolas"/>
              </a:rPr>
              <a:t>acl</a:t>
            </a:r>
            <a:r>
              <a:rPr sz="1250" b="0" i="0">
                <a:solidFill>
                  <a:srgbClr val="202020"/>
                </a:solidFill>
                <a:latin typeface="Calibri"/>
              </a:rPr>
              <a:t>, that the finance group id is present).</a:t>
            </a:r>
          </a:p>
          <a:p>
            <a:pPr>
              <a:spcBef>
                <a:spcPts val="100"/>
              </a:spcBef>
              <a:spcAft>
                <a:spcPts val="200"/>
              </a:spcAft>
            </a:pPr>
            <a:r>
              <a:rPr sz="1250" b="1" i="0">
                <a:solidFill>
                  <a:srgbClr val="2E5496"/>
                </a:solidFill>
                <a:latin typeface="Calibri"/>
              </a:rPr>
              <a:t>2.  </a:t>
            </a:r>
            <a:r>
              <a:rPr sz="1250" b="0" i="0">
                <a:solidFill>
                  <a:srgbClr val="202020"/>
                </a:solidFill>
                <a:latin typeface="Calibri"/>
              </a:rPr>
              <a:t>After a crawl, inspect a known financial record (a Project) in the Graph connection: in </a:t>
            </a:r>
            <a:r>
              <a:rPr sz="1200" b="0" i="0">
                <a:solidFill>
                  <a:srgbClr val="202020"/>
                </a:solidFill>
                <a:latin typeface="Consolas"/>
              </a:rPr>
              <a:t>tag</a:t>
            </a:r>
            <a:r>
              <a:rPr sz="1250" b="0" i="0">
                <a:solidFill>
                  <a:srgbClr val="202020"/>
                </a:solidFill>
                <a:latin typeface="Calibri"/>
              </a:rPr>
              <a:t> mode the </a:t>
            </a:r>
            <a:r>
              <a:rPr sz="1200" b="0" i="0">
                <a:solidFill>
                  <a:srgbClr val="202020"/>
                </a:solidFill>
                <a:latin typeface="Consolas"/>
              </a:rPr>
              <a:t>PlannedCost</a:t>
            </a:r>
            <a:r>
              <a:rPr sz="1250" b="0" i="0">
                <a:solidFill>
                  <a:srgbClr val="202020"/>
                </a:solidFill>
                <a:latin typeface="Calibri"/>
              </a:rPr>
              <a:t> etc. properties are present; in </a:t>
            </a:r>
            <a:r>
              <a:rPr sz="1200" b="0" i="0">
                <a:solidFill>
                  <a:srgbClr val="202020"/>
                </a:solidFill>
                <a:latin typeface="Consolas"/>
              </a:rPr>
              <a:t>filter</a:t>
            </a:r>
            <a:r>
              <a:rPr sz="1250" b="0" i="0">
                <a:solidFill>
                  <a:srgbClr val="202020"/>
                </a:solidFill>
                <a:latin typeface="Calibri"/>
              </a:rPr>
              <a:t> mode they are absent but </a:t>
            </a:r>
            <a:r>
              <a:rPr sz="1200" b="0" i="0">
                <a:solidFill>
                  <a:srgbClr val="202020"/>
                </a:solidFill>
                <a:latin typeface="Consolas"/>
              </a:rPr>
              <a:t>ContainsFinancialData=true</a:t>
            </a:r>
            <a:r>
              <a:rPr sz="1250" b="0" i="0">
                <a:solidFill>
                  <a:srgbClr val="202020"/>
                </a:solidFill>
                <a:latin typeface="Calibri"/>
              </a:rPr>
              <a:t> remains; in </a:t>
            </a:r>
            <a:r>
              <a:rPr sz="1200" b="0" i="0">
                <a:solidFill>
                  <a:srgbClr val="202020"/>
                </a:solidFill>
                <a:latin typeface="Consolas"/>
              </a:rPr>
              <a:t>acl</a:t>
            </a:r>
            <a:r>
              <a:rPr sz="1250" b="0" i="0">
                <a:solidFill>
                  <a:srgbClr val="202020"/>
                </a:solidFill>
                <a:latin typeface="Calibri"/>
              </a:rPr>
              <a:t> mode the item's ACL is the single finance-group grant.</a:t>
            </a:r>
          </a:p>
          <a:p>
            <a:pPr>
              <a:spcBef>
                <a:spcPts val="100"/>
              </a:spcBef>
              <a:spcAft>
                <a:spcPts val="200"/>
              </a:spcAft>
            </a:pPr>
            <a:r>
              <a:rPr sz="1250" b="1" i="0">
                <a:solidFill>
                  <a:srgbClr val="2E5496"/>
                </a:solidFill>
                <a:latin typeface="Calibri"/>
              </a:rPr>
              <a:t>3.  </a:t>
            </a:r>
            <a:r>
              <a:rPr sz="1250" b="0" i="0">
                <a:solidFill>
                  <a:srgbClr val="202020"/>
                </a:solidFill>
                <a:latin typeface="Calibri"/>
              </a:rPr>
              <a:t>Confirm from two test users (Section 9.7): a finance user and a non-finance project member. In </a:t>
            </a:r>
            <a:r>
              <a:rPr sz="1200" b="0" i="0">
                <a:solidFill>
                  <a:srgbClr val="202020"/>
                </a:solidFill>
                <a:latin typeface="Consolas"/>
              </a:rPr>
              <a:t>acl</a:t>
            </a:r>
            <a:r>
              <a:rPr sz="1250" b="0" i="0">
                <a:solidFill>
                  <a:srgbClr val="202020"/>
                </a:solidFill>
                <a:latin typeface="Calibri"/>
              </a:rPr>
              <a:t> mode only the finance user should retrieve the record at all; in </a:t>
            </a:r>
            <a:r>
              <a:rPr sz="1200" b="0" i="0">
                <a:solidFill>
                  <a:srgbClr val="202020"/>
                </a:solidFill>
                <a:latin typeface="Consolas"/>
              </a:rPr>
              <a:t>filter</a:t>
            </a:r>
            <a:r>
              <a:rPr sz="1250" b="0" i="0">
                <a:solidFill>
                  <a:srgbClr val="202020"/>
                </a:solidFill>
                <a:latin typeface="Calibri"/>
              </a:rPr>
              <a:t> mode both find the record but neither sees figures.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356</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6.4 How to verify it is working</a:t>
            </a:r>
          </a:p>
        </p:txBody>
      </p:sp>
      <p:sp>
        <p:nvSpPr>
          <p:cNvPr id="5" name="Rectangle 4"/>
          <p:cNvSpPr/>
          <p:nvPr/>
        </p:nvSpPr>
        <p:spPr>
          <a:xfrm>
            <a:off x="502920" y="1463040"/>
            <a:ext cx="11185855" cy="3291840"/>
          </a:xfrm>
          <a:prstGeom prst="rect">
            <a:avLst/>
          </a:prstGeom>
          <a:solidFill>
            <a:srgbClr val="E7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7D32"/>
                </a:solidFill>
                <a:latin typeface="Calibri"/>
              </a:rPr>
              <a:t>Tip:  </a:t>
            </a:r>
            <a:r>
              <a:rPr sz="1400" b="1" i="0">
                <a:solidFill>
                  <a:srgbClr val="202020"/>
                </a:solidFill>
                <a:latin typeface="Calibri"/>
              </a:rPr>
              <a:t>Tip: </a:t>
            </a:r>
            <a:r>
              <a:rPr sz="1400" b="0" i="0">
                <a:solidFill>
                  <a:srgbClr val="202020"/>
                </a:solidFill>
                <a:latin typeface="Calibri"/>
              </a:rPr>
              <a:t>On tenants using financial governance, keep </a:t>
            </a:r>
            <a:r>
              <a:rPr sz="1350" b="0" i="0">
                <a:solidFill>
                  <a:srgbClr val="202020"/>
                </a:solidFill>
                <a:latin typeface="Consolas"/>
              </a:rPr>
              <a:t>DEADLETTER_PAYLOAD_MODE=redacted</a:t>
            </a:r>
            <a:r>
              <a:rPr sz="1400" b="0" i="0">
                <a:solidFill>
                  <a:srgbClr val="202020"/>
                </a:solidFill>
                <a:latin typeface="Calibri"/>
              </a:rPr>
              <a:t> (now the default, Section 13) so figures never sit in a failed-record file. </a:t>
            </a:r>
            <a:r>
              <a:rPr sz="1350" b="0" i="0">
                <a:solidFill>
                  <a:srgbClr val="202020"/>
                </a:solidFill>
                <a:latin typeface="Consolas"/>
              </a:rPr>
              <a:t>retry-failed</a:t>
            </a:r>
            <a:r>
              <a:rPr sz="1400" b="0" i="0">
                <a:solidFill>
                  <a:srgbClr val="202020"/>
                </a:solidFill>
                <a:latin typeface="Calibri"/>
              </a:rPr>
              <a:t> re-fetches from source, so redaction costs you nothing operationally.</a:t>
            </a:r>
          </a:p>
        </p:txBody>
      </p:sp>
      <p:sp>
        <p:nvSpPr>
          <p:cNvPr id="6" name="Rectangle 5"/>
          <p:cNvSpPr/>
          <p:nvPr/>
        </p:nvSpPr>
        <p:spPr>
          <a:xfrm>
            <a:off x="502920" y="1463040"/>
            <a:ext cx="128016" cy="32918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357</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Clarizen Connector</a:t>
            </a:r>
          </a:p>
          <a:p>
            <a:r>
              <a:rPr sz="3000" b="1" i="0">
                <a:solidFill>
                  <a:srgbClr val="1F3864"/>
                </a:solidFill>
                <a:latin typeface="Calibri"/>
              </a:rPr>
              <a:t>7. Near-real-time updates: webhooks &amp; the deletion sweep</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358</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 Near-real-time updates: webhooks &amp; the deletion sweep</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By default the connector is poll-driven: full crawls on a long cycle and incremental crawls on a short one. Two mechanisms sit on top of that: optional webhooks for near-real-time updates, and the deletion sweep that keeps the index from holding records that no longer exist.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359</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7.1 Webhooks: how they work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With a webhook receiver enabled (only in </a:t>
            </a:r>
            <a:r>
              <a:rPr sz="1200" b="0" i="0">
                <a:solidFill>
                  <a:srgbClr val="202020"/>
                </a:solidFill>
                <a:latin typeface="Consolas"/>
              </a:rPr>
              <a:t>--continuous</a:t>
            </a:r>
            <a:r>
              <a:rPr sz="1250" b="0" i="0">
                <a:solidFill>
                  <a:srgbClr val="202020"/>
                </a:solidFill>
                <a:latin typeface="Calibri"/>
              </a:rPr>
              <a:t> mode), Clarizen change notifications become </a:t>
            </a:r>
            <a:r>
              <a:rPr sz="1250" b="1" i="0">
                <a:solidFill>
                  <a:srgbClr val="202020"/>
                </a:solidFill>
                <a:latin typeface="Calibri"/>
              </a:rPr>
              <a:t>targeted</a:t>
            </a:r>
            <a:r>
              <a:rPr sz="1250" b="0" i="0">
                <a:solidFill>
                  <a:srgbClr val="202020"/>
                </a:solidFill>
                <a:latin typeface="Calibri"/>
              </a:rPr>
              <a:t> work in near-real-time instead of waiting for the next incremental poll. A </a:t>
            </a:r>
            <a:r>
              <a:rPr sz="1200" b="0" i="0">
                <a:solidFill>
                  <a:srgbClr val="202020"/>
                </a:solidFill>
                <a:latin typeface="Consolas"/>
              </a:rPr>
              <a:t>created</a:t>
            </a:r>
            <a:r>
              <a:rPr sz="1250" b="0" i="0">
                <a:solidFill>
                  <a:srgbClr val="202020"/>
                </a:solidFill>
                <a:latin typeface="Calibri"/>
              </a:rPr>
              <a:t>/</a:t>
            </a:r>
            <a:r>
              <a:rPr sz="1200" b="0" i="0">
                <a:solidFill>
                  <a:srgbClr val="202020"/>
                </a:solidFill>
                <a:latin typeface="Consolas"/>
              </a:rPr>
              <a:t>updated</a:t>
            </a:r>
            <a:r>
              <a:rPr sz="1250" b="0" i="0">
                <a:solidFill>
                  <a:srgbClr val="202020"/>
                </a:solidFill>
                <a:latin typeface="Calibri"/>
              </a:rPr>
              <a:t> event re-ingests that one record by id; a </a:t>
            </a:r>
            <a:r>
              <a:rPr sz="1200" b="0" i="0">
                <a:solidFill>
                  <a:srgbClr val="202020"/>
                </a:solidFill>
                <a:latin typeface="Consolas"/>
              </a:rPr>
              <a:t>deleted</a:t>
            </a:r>
            <a:r>
              <a:rPr sz="1250" b="0" i="0">
                <a:solidFill>
                  <a:srgbClr val="202020"/>
                </a:solidFill>
                <a:latin typeface="Calibri"/>
              </a:rPr>
              <a:t> event withdraws it. Bursts for the same record within a short window are coalesced to a single ingest (last writer wins). The debouncer is </a:t>
            </a:r>
            <a:r>
              <a:rPr sz="1250" b="1" i="0">
                <a:solidFill>
                  <a:srgbClr val="202020"/>
                </a:solidFill>
                <a:latin typeface="Calibri"/>
              </a:rPr>
              <a:t>bounded</a:t>
            </a:r>
            <a:r>
              <a:rPr sz="1250" b="0" i="0">
                <a:solidFill>
                  <a:srgbClr val="202020"/>
                </a:solidFill>
                <a:latin typeface="Calibri"/>
              </a:rPr>
              <a:t>: it holds at most </a:t>
            </a:r>
            <a:r>
              <a:rPr sz="1200" b="0" i="0">
                <a:solidFill>
                  <a:srgbClr val="202020"/>
                </a:solidFill>
                <a:latin typeface="Consolas"/>
              </a:rPr>
              <a:t>CLARIZEN_WEBHOOK_MAX_PENDING</a:t>
            </a:r>
            <a:r>
              <a:rPr sz="1250" b="0" i="0">
                <a:solidFill>
                  <a:srgbClr val="202020"/>
                </a:solidFill>
                <a:latin typeface="Calibri"/>
              </a:rPr>
              <a:t> distinct pending entities (default 100000) and evicts the oldest under a flood (drop-oldest back-pressure), so a burst of distinct events cannot exhaust memory — the polling cursor reconciles anything dropped.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360</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7.1 Webhooks: how they work</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Webhooks are an </a:t>
            </a:r>
            <a:r>
              <a:rPr sz="1250" b="1" i="0">
                <a:solidFill>
                  <a:srgbClr val="202020"/>
                </a:solidFill>
                <a:latin typeface="Calibri"/>
              </a:rPr>
              <a:t>accelerator, not a replacement</a:t>
            </a:r>
            <a:r>
              <a:rPr sz="1250" b="0" i="0">
                <a:solidFill>
                  <a:srgbClr val="202020"/>
                </a:solidFill>
                <a:latin typeface="Calibri"/>
              </a:rPr>
              <a:t>. The polling delta cursor stays the source of truth and the backstop: anything the receiver misses — during a restart, a network blip, or a signature it could not validate — is picked up by the next incremental crawl, because the cursor never advances past unprocessed changes.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361</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7.2 Webhook security: validate before parse, fail closed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receiver is an inbound endpoint, so its security is strict and worth understanding:</a:t>
            </a:r>
          </a:p>
          <a:p>
            <a:pPr>
              <a:spcBef>
                <a:spcPts val="100"/>
              </a:spcBef>
              <a:spcAft>
                <a:spcPts val="200"/>
              </a:spcAft>
            </a:pPr>
            <a:r>
              <a:rPr sz="1250" b="1" i="0">
                <a:solidFill>
                  <a:srgbClr val="2E5496"/>
                </a:solidFill>
                <a:latin typeface="Calibri"/>
              </a:rPr>
              <a:t>•  </a:t>
            </a:r>
            <a:r>
              <a:rPr sz="1250" b="1" i="0">
                <a:solidFill>
                  <a:srgbClr val="202020"/>
                </a:solidFill>
                <a:latin typeface="Calibri"/>
              </a:rPr>
              <a:t>HMAC-SHA256 over a signed timestamp, validated before parsing.</a:t>
            </a:r>
            <a:r>
              <a:rPr sz="1250" b="0" i="0">
                <a:solidFill>
                  <a:srgbClr val="202020"/>
                </a:solidFill>
                <a:latin typeface="Calibri"/>
              </a:rPr>
              <a:t> The sender signs </a:t>
            </a:r>
            <a:r>
              <a:rPr sz="1200" b="0" i="0">
                <a:solidFill>
                  <a:srgbClr val="202020"/>
                </a:solidFill>
                <a:latin typeface="Consolas"/>
              </a:rPr>
              <a:t>{timestamp}.{raw body}</a:t>
            </a:r>
            <a:r>
              <a:rPr sz="1250" b="0" i="0">
                <a:solidFill>
                  <a:srgbClr val="202020"/>
                </a:solidFill>
                <a:latin typeface="Calibri"/>
              </a:rPr>
              <a:t> with the shared secret </a:t>
            </a:r>
            <a:r>
              <a:rPr sz="1200" b="0" i="0">
                <a:solidFill>
                  <a:srgbClr val="202020"/>
                </a:solidFill>
                <a:latin typeface="Consolas"/>
              </a:rPr>
              <a:t>CLARIZEN_WEBHOOK_SECRET</a:t>
            </a:r>
            <a:r>
              <a:rPr sz="1250" b="0" i="0">
                <a:solidFill>
                  <a:srgbClr val="202020"/>
                </a:solidFill>
                <a:latin typeface="Calibri"/>
              </a:rPr>
              <a:t> and sends the signature in a header (default </a:t>
            </a:r>
            <a:r>
              <a:rPr sz="1200" b="0" i="0">
                <a:solidFill>
                  <a:srgbClr val="202020"/>
                </a:solidFill>
                <a:latin typeface="Consolas"/>
              </a:rPr>
              <a:t>X-Clarizen-Signature</a:t>
            </a:r>
            <a:r>
              <a:rPr sz="1250" b="0" i="0">
                <a:solidFill>
                  <a:srgbClr val="202020"/>
                </a:solidFill>
                <a:latin typeface="Calibri"/>
              </a:rPr>
              <a:t>) alongside the timestamp in </a:t>
            </a:r>
            <a:r>
              <a:rPr sz="1200" b="0" i="0">
                <a:solidFill>
                  <a:srgbClr val="202020"/>
                </a:solidFill>
                <a:latin typeface="Consolas"/>
              </a:rPr>
              <a:t>CLARIZEN_WEBHOOK_TIMESTAMP_HEADER</a:t>
            </a:r>
            <a:r>
              <a:rPr sz="1250" b="0" i="0">
                <a:solidFill>
                  <a:srgbClr val="202020"/>
                </a:solidFill>
                <a:latin typeface="Calibri"/>
              </a:rPr>
              <a:t> (default </a:t>
            </a:r>
            <a:r>
              <a:rPr sz="1200" b="0" i="0">
                <a:solidFill>
                  <a:srgbClr val="202020"/>
                </a:solidFill>
                <a:latin typeface="Consolas"/>
              </a:rPr>
              <a:t>X-Clarizen-Timestamp</a:t>
            </a:r>
            <a:r>
              <a:rPr sz="1250" b="0" i="0">
                <a:solidFill>
                  <a:srgbClr val="202020"/>
                </a:solidFill>
                <a:latin typeface="Calibri"/>
              </a:rPr>
              <a:t>, Unix seconds or ISO-8601). The connector recomputes the MAC over the exact raw bytes and compares it in constant time </a:t>
            </a:r>
            <a:r>
              <a:rPr sz="1250" b="1" i="0">
                <a:solidFill>
                  <a:srgbClr val="202020"/>
                </a:solidFill>
                <a:latin typeface="Calibri"/>
              </a:rPr>
              <a:t>before any JSON is parsed or enqueued</a:t>
            </a:r>
            <a:r>
              <a:rPr sz="1250" b="0" i="0">
                <a:solidFill>
                  <a:srgbClr val="202020"/>
                </a:solidFill>
                <a:latin typeface="Calibri"/>
              </a:rPr>
              <a:t>. A bad or missing signature is rejected with 401 and nothing is interpreted.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362</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7.2 Webhook security: validate before parse, fail closed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Anti-replay (new in v1.1).</a:t>
            </a:r>
            <a:r>
              <a:rPr sz="1250" b="0" i="0">
                <a:solidFill>
                  <a:srgbClr val="202020"/>
                </a:solidFill>
                <a:latin typeface="Calibri"/>
              </a:rPr>
              <a:t> Because the timestamp is bound INTO the HMAC it cannot be altered. With </a:t>
            </a:r>
            <a:r>
              <a:rPr sz="1200" b="0" i="0">
                <a:solidFill>
                  <a:srgbClr val="202020"/>
                </a:solidFill>
                <a:latin typeface="Consolas"/>
              </a:rPr>
              <a:t>CLARIZEN_WEBHOOK_REQUIRE_TIMESTAMP=true</a:t>
            </a:r>
            <a:r>
              <a:rPr sz="1250" b="0" i="0">
                <a:solidFill>
                  <a:srgbClr val="202020"/>
                </a:solidFill>
                <a:latin typeface="Calibri"/>
              </a:rPr>
              <a:t> (the default) a post whose timestamp is outside </a:t>
            </a:r>
            <a:r>
              <a:rPr sz="1200" b="0" i="0">
                <a:solidFill>
                  <a:srgbClr val="202020"/>
                </a:solidFill>
                <a:latin typeface="Consolas"/>
              </a:rPr>
              <a:t>CLARIZEN_WEBHOOK_TIMESTAMP_TOLERANCE_SECONDS</a:t>
            </a:r>
            <a:r>
              <a:rPr sz="1250" b="0" i="0">
                <a:solidFill>
                  <a:srgbClr val="202020"/>
                </a:solidFill>
                <a:latin typeface="Calibri"/>
              </a:rPr>
              <a:t> (default 300) — stale, future-dated or missing — is rejected fail-closed, as is a duplicate signature replayed within that window. Set </a:t>
            </a:r>
            <a:r>
              <a:rPr sz="1200" b="0" i="0">
                <a:solidFill>
                  <a:srgbClr val="202020"/>
                </a:solidFill>
                <a:latin typeface="Consolas"/>
              </a:rPr>
              <a:t>REQUIRE_TIMESTAMP=false</a:t>
            </a:r>
            <a:r>
              <a:rPr sz="1250" b="0" i="0">
                <a:solidFill>
                  <a:srgbClr val="202020"/>
                </a:solidFill>
                <a:latin typeface="Calibri"/>
              </a:rPr>
              <a:t> only to migrate legacy senders that cannot yet send a timestamp; they then fall back to body-only HMAC with NO replay protection.</a:t>
            </a:r>
          </a:p>
          <a:p>
            <a:pPr>
              <a:spcBef>
                <a:spcPts val="100"/>
              </a:spcBef>
              <a:spcAft>
                <a:spcPts val="200"/>
              </a:spcAft>
            </a:pPr>
            <a:r>
              <a:rPr sz="1250" b="1" i="0">
                <a:solidFill>
                  <a:srgbClr val="2E5496"/>
                </a:solidFill>
                <a:latin typeface="Calibri"/>
              </a:rPr>
              <a:t>•  </a:t>
            </a:r>
            <a:r>
              <a:rPr sz="1250" b="1" i="0">
                <a:solidFill>
                  <a:srgbClr val="202020"/>
                </a:solidFill>
                <a:latin typeface="Calibri"/>
              </a:rPr>
              <a:t>Fail closed.</a:t>
            </a:r>
            <a:r>
              <a:rPr sz="1250" b="0" i="0">
                <a:solidFill>
                  <a:srgbClr val="202020"/>
                </a:solidFill>
                <a:latin typeface="Calibri"/>
              </a:rPr>
              <a:t> If the webhook port is set but the secret is missing, the receiver </a:t>
            </a:r>
            <a:r>
              <a:rPr sz="1250" b="1" i="0">
                <a:solidFill>
                  <a:srgbClr val="202020"/>
                </a:solidFill>
                <a:latin typeface="Calibri"/>
              </a:rPr>
              <a:t>refuses to start</a:t>
            </a:r>
            <a:r>
              <a:rPr sz="1250" b="0" i="0">
                <a:solidFill>
                  <a:srgbClr val="202020"/>
                </a:solidFill>
                <a:latin typeface="Calibri"/>
              </a:rPr>
              <a:t> — an unauthenticated endpoint is never exposed. The connector falls back to polling and </a:t>
            </a:r>
            <a:r>
              <a:rPr sz="1200" b="0" i="0">
                <a:solidFill>
                  <a:srgbClr val="202020"/>
                </a:solidFill>
                <a:latin typeface="Consolas"/>
              </a:rPr>
              <a:t>validate-config</a:t>
            </a:r>
            <a:r>
              <a:rPr sz="1250" b="0" i="0">
                <a:solidFill>
                  <a:srgbClr val="202020"/>
                </a:solidFill>
                <a:latin typeface="Calibri"/>
              </a:rPr>
              <a:t> flags it as an error.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363</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7.2 Webhook security: validate before parse, fail closed</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Bounded and sanitised.</a:t>
            </a:r>
            <a:r>
              <a:rPr sz="1250" b="0" i="0">
                <a:solidFill>
                  <a:srgbClr val="202020"/>
                </a:solidFill>
                <a:latin typeface="Calibri"/>
              </a:rPr>
              <a:t> Only </a:t>
            </a:r>
            <a:r>
              <a:rPr sz="1200" b="0" i="0">
                <a:solidFill>
                  <a:srgbClr val="202020"/>
                </a:solidFill>
                <a:latin typeface="Consolas"/>
              </a:rPr>
              <a:t>POST</a:t>
            </a:r>
            <a:r>
              <a:rPr sz="1250" b="0" i="0">
                <a:solidFill>
                  <a:srgbClr val="202020"/>
                </a:solidFill>
                <a:latin typeface="Calibri"/>
              </a:rPr>
              <a:t> to the configured path is accepted (else 405); bodies over 1 MiB are rejected (413); the record id in an event must be a plain safe token before it is used.</a:t>
            </a:r>
          </a:p>
          <a:p>
            <a:pPr>
              <a:spcBef>
                <a:spcPts val="100"/>
              </a:spcBef>
              <a:spcAft>
                <a:spcPts val="200"/>
              </a:spcAft>
            </a:pPr>
            <a:r>
              <a:rPr sz="1250" b="1" i="0">
                <a:solidFill>
                  <a:srgbClr val="2E5496"/>
                </a:solidFill>
                <a:latin typeface="Calibri"/>
              </a:rPr>
              <a:t>•  </a:t>
            </a:r>
            <a:r>
              <a:rPr sz="1250" b="1" i="0">
                <a:solidFill>
                  <a:srgbClr val="202020"/>
                </a:solidFill>
                <a:latin typeface="Calibri"/>
              </a:rPr>
              <a:t>Plain HTTP by design.</a:t>
            </a:r>
            <a:r>
              <a:rPr sz="1250" b="0" i="0">
                <a:solidFill>
                  <a:srgbClr val="202020"/>
                </a:solidFill>
                <a:latin typeface="Calibri"/>
              </a:rPr>
              <a:t> The receiver terminates plain HTTP; put TLS on your ingress/reverse proxy in front of it, exactly like the health endpoint.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364</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7.3 What to configure for webhooks</a:t>
            </a:r>
          </a:p>
        </p:txBody>
      </p:sp>
      <p:graphicFrame>
        <p:nvGraphicFramePr>
          <p:cNvPr id="5" name="Table 4"/>
          <p:cNvGraphicFramePr>
            <a:graphicFrameLocks noGrp="1"/>
          </p:cNvGraphicFramePr>
          <p:nvPr/>
        </p:nvGraphicFramePr>
        <p:xfrm>
          <a:off x="502920" y="1188720"/>
          <a:ext cx="11185855" cy="3840480"/>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Setting</a:t>
                      </a:r>
                    </a:p>
                  </a:txBody>
                  <a:tcPr marT="25400" marB="25400">
                    <a:solidFill>
                      <a:srgbClr val="2E5496"/>
                    </a:solidFill>
                  </a:tcPr>
                </a:tc>
                <a:tc>
                  <a:txBody>
                    <a:bodyPr wrap="square"/>
                    <a:lstStyle/>
                    <a:p>
                      <a:r>
                        <a:rPr sz="1050" b="1" i="0">
                          <a:solidFill>
                            <a:srgbClr val="FFFFFF"/>
                          </a:solidFill>
                          <a:latin typeface="Calibri"/>
                        </a:rPr>
                        <a:t>Default</a:t>
                      </a:r>
                    </a:p>
                  </a:txBody>
                  <a:tcPr marT="25400" marB="25400">
                    <a:solidFill>
                      <a:srgbClr val="2E5496"/>
                    </a:solidFill>
                  </a:tcPr>
                </a:tc>
                <a:tc>
                  <a:txBody>
                    <a:bodyPr wrap="square"/>
                    <a:lstStyle/>
                    <a:p>
                      <a:r>
                        <a:rPr sz="1050" b="1" i="0">
                          <a:solidFill>
                            <a:srgbClr val="FFFFFF"/>
                          </a:solidFill>
                          <a:latin typeface="Calibri"/>
                        </a:rPr>
                        <a:t>Meaning</a:t>
                      </a:r>
                    </a:p>
                  </a:txBody>
                  <a:tcPr marT="25400" marB="25400">
                    <a:solidFill>
                      <a:srgbClr val="2E5496"/>
                    </a:solidFill>
                  </a:tcPr>
                </a:tc>
              </a:tr>
              <a:tr h="384048">
                <a:tc>
                  <a:txBody>
                    <a:bodyPr wrap="square"/>
                    <a:lstStyle/>
                    <a:p>
                      <a:r>
                        <a:rPr sz="950" b="0" i="0">
                          <a:solidFill>
                            <a:srgbClr val="202020"/>
                          </a:solidFill>
                          <a:latin typeface="Consolas"/>
                        </a:rPr>
                        <a:t>CLARIZEN_WEBHOOK_PORT</a:t>
                      </a:r>
                    </a:p>
                  </a:txBody>
                  <a:tcPr marT="12700" marB="12700">
                    <a:solidFill>
                      <a:srgbClr val="FFFFFF"/>
                    </a:solidFill>
                  </a:tcPr>
                </a:tc>
                <a:tc>
                  <a:txBody>
                    <a:bodyPr wrap="square"/>
                    <a:lstStyle/>
                    <a:p>
                      <a:r>
                        <a:rPr sz="950" b="0" i="0">
                          <a:solidFill>
                            <a:srgbClr val="202020"/>
                          </a:solidFill>
                          <a:latin typeface="Calibri"/>
                        </a:rPr>
                        <a:t>unset (off)</a:t>
                      </a:r>
                    </a:p>
                  </a:txBody>
                  <a:tcPr marT="12700" marB="12700">
                    <a:solidFill>
                      <a:srgbClr val="FFFFFF"/>
                    </a:solidFill>
                  </a:tcPr>
                </a:tc>
                <a:tc>
                  <a:txBody>
                    <a:bodyPr wrap="square"/>
                    <a:lstStyle/>
                    <a:p>
                      <a:r>
                        <a:rPr sz="950" b="0" i="0">
                          <a:solidFill>
                            <a:srgbClr val="202020"/>
                          </a:solidFill>
                          <a:latin typeface="Calibri"/>
                        </a:rPr>
                        <a:t>Port to listen on. &gt;0 enables the receiver in --continuous.</a:t>
                      </a:r>
                    </a:p>
                  </a:txBody>
                  <a:tcPr marT="12700" marB="12700">
                    <a:solidFill>
                      <a:srgbClr val="FFFFFF"/>
                    </a:solidFill>
                  </a:tcPr>
                </a:tc>
              </a:tr>
              <a:tr h="384048">
                <a:tc>
                  <a:txBody>
                    <a:bodyPr wrap="square"/>
                    <a:lstStyle/>
                    <a:p>
                      <a:r>
                        <a:rPr sz="950" b="0" i="0">
                          <a:solidFill>
                            <a:srgbClr val="202020"/>
                          </a:solidFill>
                          <a:latin typeface="Consolas"/>
                        </a:rPr>
                        <a:t>CLARIZEN_WEBHOOK_SECRET</a:t>
                      </a:r>
                    </a:p>
                  </a:txBody>
                  <a:tcPr marT="12700" marB="12700">
                    <a:solidFill>
                      <a:srgbClr val="F7F9FC"/>
                    </a:solidFill>
                  </a:tcPr>
                </a:tc>
                <a:tc>
                  <a:txBody>
                    <a:bodyPr wrap="square"/>
                    <a:lstStyle/>
                    <a:p>
                      <a:r>
                        <a:rPr sz="950" b="0" i="0">
                          <a:solidFill>
                            <a:srgbClr val="202020"/>
                          </a:solidFill>
                          <a:latin typeface="Calibri"/>
                        </a:rPr>
                        <a:t>unset</a:t>
                      </a:r>
                    </a:p>
                  </a:txBody>
                  <a:tcPr marT="12700" marB="12700">
                    <a:solidFill>
                      <a:srgbClr val="F7F9FC"/>
                    </a:solidFill>
                  </a:tcPr>
                </a:tc>
                <a:tc>
                  <a:txBody>
                    <a:bodyPr wrap="square"/>
                    <a:lstStyle/>
                    <a:p>
                      <a:r>
                        <a:rPr sz="950" b="0" i="0">
                          <a:solidFill>
                            <a:srgbClr val="202020"/>
                          </a:solidFill>
                          <a:latin typeface="Calibri"/>
                        </a:rPr>
                        <a:t>HMAC shared secret. Required when the port is set; fail-closed if missing. Keep it in .env.local.user.</a:t>
                      </a:r>
                    </a:p>
                  </a:txBody>
                  <a:tcPr marT="12700" marB="12700">
                    <a:solidFill>
                      <a:srgbClr val="F7F9FC"/>
                    </a:solidFill>
                  </a:tcPr>
                </a:tc>
              </a:tr>
              <a:tr h="384048">
                <a:tc>
                  <a:txBody>
                    <a:bodyPr wrap="square"/>
                    <a:lstStyle/>
                    <a:p>
                      <a:r>
                        <a:rPr sz="950" b="0" i="0">
                          <a:solidFill>
                            <a:srgbClr val="202020"/>
                          </a:solidFill>
                          <a:latin typeface="Consolas"/>
                        </a:rPr>
                        <a:t>CLARIZEN_WEBHOOK_PATH</a:t>
                      </a:r>
                    </a:p>
                  </a:txBody>
                  <a:tcPr marT="12700" marB="12700">
                    <a:solidFill>
                      <a:srgbClr val="FFFFFF"/>
                    </a:solidFill>
                  </a:tcPr>
                </a:tc>
                <a:tc>
                  <a:txBody>
                    <a:bodyPr wrap="square"/>
                    <a:lstStyle/>
                    <a:p>
                      <a:r>
                        <a:rPr sz="950" b="0" i="0">
                          <a:solidFill>
                            <a:srgbClr val="202020"/>
                          </a:solidFill>
                          <a:latin typeface="Consolas"/>
                        </a:rPr>
                        <a:t>/webhook</a:t>
                      </a:r>
                    </a:p>
                  </a:txBody>
                  <a:tcPr marT="12700" marB="12700">
                    <a:solidFill>
                      <a:srgbClr val="FFFFFF"/>
                    </a:solidFill>
                  </a:tcPr>
                </a:tc>
                <a:tc>
                  <a:txBody>
                    <a:bodyPr wrap="square"/>
                    <a:lstStyle/>
                    <a:p>
                      <a:r>
                        <a:rPr sz="950" b="0" i="0">
                          <a:solidFill>
                            <a:srgbClr val="202020"/>
                          </a:solidFill>
                          <a:latin typeface="Calibri"/>
                        </a:rPr>
                        <a:t>The POST path the receiver accepts.</a:t>
                      </a:r>
                    </a:p>
                  </a:txBody>
                  <a:tcPr marT="12700" marB="12700">
                    <a:solidFill>
                      <a:srgbClr val="FFFFFF"/>
                    </a:solidFill>
                  </a:tcPr>
                </a:tc>
              </a:tr>
              <a:tr h="384048">
                <a:tc>
                  <a:txBody>
                    <a:bodyPr wrap="square"/>
                    <a:lstStyle/>
                    <a:p>
                      <a:r>
                        <a:rPr sz="950" b="0" i="0">
                          <a:solidFill>
                            <a:srgbClr val="202020"/>
                          </a:solidFill>
                          <a:latin typeface="Consolas"/>
                        </a:rPr>
                        <a:t>CLARIZEN_WEBHOOK_SIGNATURE_HEADER</a:t>
                      </a:r>
                    </a:p>
                  </a:txBody>
                  <a:tcPr marT="12700" marB="12700">
                    <a:solidFill>
                      <a:srgbClr val="F7F9FC"/>
                    </a:solidFill>
                  </a:tcPr>
                </a:tc>
                <a:tc>
                  <a:txBody>
                    <a:bodyPr wrap="square"/>
                    <a:lstStyle/>
                    <a:p>
                      <a:r>
                        <a:rPr sz="950" b="0" i="0">
                          <a:solidFill>
                            <a:srgbClr val="202020"/>
                          </a:solidFill>
                          <a:latin typeface="Calibri"/>
                        </a:rPr>
                        <a:t>X-Clarizen-Signature</a:t>
                      </a:r>
                    </a:p>
                  </a:txBody>
                  <a:tcPr marT="12700" marB="12700">
                    <a:solidFill>
                      <a:srgbClr val="F7F9FC"/>
                    </a:solidFill>
                  </a:tcPr>
                </a:tc>
                <a:tc>
                  <a:txBody>
                    <a:bodyPr wrap="square"/>
                    <a:lstStyle/>
                    <a:p>
                      <a:r>
                        <a:rPr sz="950" b="0" i="0">
                          <a:solidFill>
                            <a:srgbClr val="202020"/>
                          </a:solidFill>
                          <a:latin typeface="Calibri"/>
                        </a:rPr>
                        <a:t>Header carrying the signature.</a:t>
                      </a:r>
                    </a:p>
                  </a:txBody>
                  <a:tcPr marT="12700" marB="12700">
                    <a:solidFill>
                      <a:srgbClr val="F7F9FC"/>
                    </a:solidFill>
                  </a:tcPr>
                </a:tc>
              </a:tr>
              <a:tr h="384048">
                <a:tc>
                  <a:txBody>
                    <a:bodyPr wrap="square"/>
                    <a:lstStyle/>
                    <a:p>
                      <a:r>
                        <a:rPr sz="950" b="0" i="0">
                          <a:solidFill>
                            <a:srgbClr val="202020"/>
                          </a:solidFill>
                          <a:latin typeface="Consolas"/>
                        </a:rPr>
                        <a:t>CLARIZEN_WEBHOOK_TIMESTAMP_HEADER</a:t>
                      </a:r>
                    </a:p>
                  </a:txBody>
                  <a:tcPr marT="12700" marB="12700">
                    <a:solidFill>
                      <a:srgbClr val="FFFFFF"/>
                    </a:solidFill>
                  </a:tcPr>
                </a:tc>
                <a:tc>
                  <a:txBody>
                    <a:bodyPr wrap="square"/>
                    <a:lstStyle/>
                    <a:p>
                      <a:r>
                        <a:rPr sz="950" b="0" i="0">
                          <a:solidFill>
                            <a:srgbClr val="202020"/>
                          </a:solidFill>
                          <a:latin typeface="Calibri"/>
                        </a:rPr>
                        <a:t>X-Clarizen-Timestamp</a:t>
                      </a:r>
                    </a:p>
                  </a:txBody>
                  <a:tcPr marT="12700" marB="12700">
                    <a:solidFill>
                      <a:srgbClr val="FFFFFF"/>
                    </a:solidFill>
                  </a:tcPr>
                </a:tc>
                <a:tc>
                  <a:txBody>
                    <a:bodyPr wrap="square"/>
                    <a:lstStyle/>
                    <a:p>
                      <a:r>
                        <a:rPr sz="950" b="0" i="0">
                          <a:solidFill>
                            <a:srgbClr val="202020"/>
                          </a:solidFill>
                          <a:latin typeface="Calibri"/>
                        </a:rPr>
                        <a:t>Header carrying the signed timestamp (Unix seconds or ISO-8601).</a:t>
                      </a:r>
                    </a:p>
                  </a:txBody>
                  <a:tcPr marT="12700" marB="12700">
                    <a:solidFill>
                      <a:srgbClr val="FFFFFF"/>
                    </a:solidFill>
                  </a:tcPr>
                </a:tc>
              </a:tr>
              <a:tr h="384048">
                <a:tc>
                  <a:txBody>
                    <a:bodyPr wrap="square"/>
                    <a:lstStyle/>
                    <a:p>
                      <a:r>
                        <a:rPr sz="950" b="0" i="0">
                          <a:solidFill>
                            <a:srgbClr val="202020"/>
                          </a:solidFill>
                          <a:latin typeface="Consolas"/>
                        </a:rPr>
                        <a:t>CLARIZEN_WEBHOOK_REQUIRE_TIMESTAMP</a:t>
                      </a:r>
                    </a:p>
                  </a:txBody>
                  <a:tcPr marT="12700" marB="12700">
                    <a:solidFill>
                      <a:srgbClr val="F7F9FC"/>
                    </a:solidFill>
                  </a:tcPr>
                </a:tc>
                <a:tc>
                  <a:txBody>
                    <a:bodyPr wrap="square"/>
                    <a:lstStyle/>
                    <a:p>
                      <a:r>
                        <a:rPr sz="950" b="0" i="0">
                          <a:solidFill>
                            <a:srgbClr val="202020"/>
                          </a:solidFill>
                          <a:latin typeface="Calibri"/>
                        </a:rPr>
                        <a:t>true</a:t>
                      </a:r>
                    </a:p>
                  </a:txBody>
                  <a:tcPr marT="12700" marB="12700">
                    <a:solidFill>
                      <a:srgbClr val="F7F9FC"/>
                    </a:solidFill>
                  </a:tcPr>
                </a:tc>
                <a:tc>
                  <a:txBody>
                    <a:bodyPr wrap="square"/>
                    <a:lstStyle/>
                    <a:p>
                      <a:r>
                        <a:rPr sz="950" b="0" i="0">
                          <a:solidFill>
                            <a:srgbClr val="202020"/>
                          </a:solidFill>
                          <a:latin typeface="Calibri"/>
                        </a:rPr>
                        <a:t>Strict anti-replay: reject posts with no timestamp. false = legacy body-only migration mode, no replay protection.</a:t>
                      </a:r>
                    </a:p>
                  </a:txBody>
                  <a:tcPr marT="12700" marB="12700">
                    <a:solidFill>
                      <a:srgbClr val="F7F9FC"/>
                    </a:solidFill>
                  </a:tcPr>
                </a:tc>
              </a:tr>
              <a:tr h="384048">
                <a:tc>
                  <a:txBody>
                    <a:bodyPr wrap="square"/>
                    <a:lstStyle/>
                    <a:p>
                      <a:r>
                        <a:rPr sz="950" b="0" i="0">
                          <a:solidFill>
                            <a:srgbClr val="202020"/>
                          </a:solidFill>
                          <a:latin typeface="Consolas"/>
                        </a:rPr>
                        <a:t>CLARIZEN_WEBHOOK_TIMESTAMP_TOLERANCE_SECONDS</a:t>
                      </a:r>
                    </a:p>
                  </a:txBody>
                  <a:tcPr marT="12700" marB="12700">
                    <a:solidFill>
                      <a:srgbClr val="FFFFFF"/>
                    </a:solidFill>
                  </a:tcPr>
                </a:tc>
                <a:tc>
                  <a:txBody>
                    <a:bodyPr wrap="square"/>
                    <a:lstStyle/>
                    <a:p>
                      <a:r>
                        <a:rPr sz="950" b="0" i="0">
                          <a:solidFill>
                            <a:srgbClr val="202020"/>
                          </a:solidFill>
                          <a:latin typeface="Calibri"/>
                        </a:rPr>
                        <a:t>300</a:t>
                      </a:r>
                    </a:p>
                  </a:txBody>
                  <a:tcPr marT="12700" marB="12700">
                    <a:solidFill>
                      <a:srgbClr val="FFFFFF"/>
                    </a:solidFill>
                  </a:tcPr>
                </a:tc>
                <a:tc>
                  <a:txBody>
                    <a:bodyPr wrap="square"/>
                    <a:lstStyle/>
                    <a:p>
                      <a:r>
                        <a:rPr sz="950" b="0" i="0">
                          <a:solidFill>
                            <a:srgbClr val="202020"/>
                          </a:solidFill>
                          <a:latin typeface="Calibri"/>
                        </a:rPr>
                        <a:t>Freshness window; older/newer requests are rejected fail-closed.</a:t>
                      </a:r>
                    </a:p>
                  </a:txBody>
                  <a:tcPr marT="12700" marB="12700">
                    <a:solidFill>
                      <a:srgbClr val="FFFFFF"/>
                    </a:solidFill>
                  </a:tcPr>
                </a:tc>
              </a:tr>
              <a:tr h="384048">
                <a:tc>
                  <a:txBody>
                    <a:bodyPr wrap="square"/>
                    <a:lstStyle/>
                    <a:p>
                      <a:r>
                        <a:rPr sz="950" b="0" i="0">
                          <a:solidFill>
                            <a:srgbClr val="202020"/>
                          </a:solidFill>
                          <a:latin typeface="Consolas"/>
                        </a:rPr>
                        <a:t>CLARIZEN_WEBHOOK_DEBOUNCE_MS</a:t>
                      </a:r>
                    </a:p>
                  </a:txBody>
                  <a:tcPr marT="12700" marB="12700">
                    <a:solidFill>
                      <a:srgbClr val="F7F9FC"/>
                    </a:solidFill>
                  </a:tcPr>
                </a:tc>
                <a:tc>
                  <a:txBody>
                    <a:bodyPr wrap="square"/>
                    <a:lstStyle/>
                    <a:p>
                      <a:r>
                        <a:rPr sz="950" b="0" i="0">
                          <a:solidFill>
                            <a:srgbClr val="202020"/>
                          </a:solidFill>
                          <a:latin typeface="Calibri"/>
                        </a:rPr>
                        <a:t>2000</a:t>
                      </a:r>
                    </a:p>
                  </a:txBody>
                  <a:tcPr marT="12700" marB="12700">
                    <a:solidFill>
                      <a:srgbClr val="F7F9FC"/>
                    </a:solidFill>
                  </a:tcPr>
                </a:tc>
                <a:tc>
                  <a:txBody>
                    <a:bodyPr wrap="square"/>
                    <a:lstStyle/>
                    <a:p>
                      <a:r>
                        <a:rPr sz="950" b="0" i="0">
                          <a:solidFill>
                            <a:srgbClr val="202020"/>
                          </a:solidFill>
                          <a:latin typeface="Calibri"/>
                        </a:rPr>
                        <a:t>Coalesce window per record.</a:t>
                      </a:r>
                    </a:p>
                  </a:txBody>
                  <a:tcPr marT="12700" marB="12700">
                    <a:solidFill>
                      <a:srgbClr val="F7F9FC"/>
                    </a:solidFill>
                  </a:tcPr>
                </a:tc>
              </a:tr>
              <a:tr h="384048">
                <a:tc>
                  <a:txBody>
                    <a:bodyPr wrap="square"/>
                    <a:lstStyle/>
                    <a:p>
                      <a:r>
                        <a:rPr sz="950" b="0" i="0">
                          <a:solidFill>
                            <a:srgbClr val="202020"/>
                          </a:solidFill>
                          <a:latin typeface="Consolas"/>
                        </a:rPr>
                        <a:t>CLARIZEN_WEBHOOK_MAX_PENDING</a:t>
                      </a:r>
                    </a:p>
                  </a:txBody>
                  <a:tcPr marT="12700" marB="12700">
                    <a:solidFill>
                      <a:srgbClr val="FFFFFF"/>
                    </a:solidFill>
                  </a:tcPr>
                </a:tc>
                <a:tc>
                  <a:txBody>
                    <a:bodyPr wrap="square"/>
                    <a:lstStyle/>
                    <a:p>
                      <a:r>
                        <a:rPr sz="950" b="0" i="0">
                          <a:solidFill>
                            <a:srgbClr val="202020"/>
                          </a:solidFill>
                          <a:latin typeface="Calibri"/>
                        </a:rPr>
                        <a:t>100000</a:t>
                      </a:r>
                    </a:p>
                  </a:txBody>
                  <a:tcPr marT="12700" marB="12700">
                    <a:solidFill>
                      <a:srgbClr val="FFFFFF"/>
                    </a:solidFill>
                  </a:tcPr>
                </a:tc>
                <a:tc>
                  <a:txBody>
                    <a:bodyPr wrap="square"/>
                    <a:lstStyle/>
                    <a:p>
                      <a:r>
                        <a:rPr sz="950" b="0" i="0">
                          <a:solidFill>
                            <a:srgbClr val="202020"/>
                          </a:solidFill>
                          <a:latin typeface="Calibri"/>
                        </a:rPr>
                        <a:t>Cap on distinct pending entities in the debouncer (drop-oldest back-pressure).</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365</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7.3 What to configure for webhooks</a:t>
            </a:r>
          </a:p>
        </p:txBody>
      </p:sp>
      <p:sp>
        <p:nvSpPr>
          <p:cNvPr id="5" name="Rectangle 4"/>
          <p:cNvSpPr/>
          <p:nvPr/>
        </p:nvSpPr>
        <p:spPr>
          <a:xfrm>
            <a:off x="502920" y="1463040"/>
            <a:ext cx="11185855" cy="3291840"/>
          </a:xfrm>
          <a:prstGeom prst="rect">
            <a:avLst/>
          </a:prstGeom>
          <a:solidFill>
            <a:srgbClr val="F0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6A3D9A"/>
                </a:solidFill>
                <a:latin typeface="Calibri"/>
              </a:rPr>
              <a:t>Information to request:  </a:t>
            </a:r>
            <a:r>
              <a:rPr sz="1400" b="1" i="0">
                <a:solidFill>
                  <a:srgbClr val="202020"/>
                </a:solidFill>
                <a:latin typeface="Calibri"/>
              </a:rPr>
              <a:t>Information to request: </a:t>
            </a:r>
            <a:r>
              <a:rPr sz="1400" b="0" i="0">
                <a:solidFill>
                  <a:srgbClr val="202020"/>
                </a:solidFill>
                <a:latin typeface="Calibri"/>
              </a:rPr>
              <a:t>The webhook secret is a shared value both the sender and the connector hold. Get the </a:t>
            </a:r>
            <a:r>
              <a:rPr sz="1400" b="1" i="0">
                <a:solidFill>
                  <a:srgbClr val="202020"/>
                </a:solidFill>
                <a:latin typeface="Calibri"/>
              </a:rPr>
              <a:t>inbound URL and port</a:t>
            </a:r>
            <a:r>
              <a:rPr sz="1400" b="0" i="0">
                <a:solidFill>
                  <a:srgbClr val="202020"/>
                </a:solidFill>
                <a:latin typeface="Calibri"/>
              </a:rPr>
              <a:t> (and the TLS ingress) agreed with your </a:t>
            </a:r>
            <a:r>
              <a:rPr sz="1400" b="1" i="0">
                <a:solidFill>
                  <a:srgbClr val="202020"/>
                </a:solidFill>
                <a:latin typeface="Calibri"/>
              </a:rPr>
              <a:t>network/firewall</a:t>
            </a:r>
            <a:r>
              <a:rPr sz="1400" b="0" i="0">
                <a:solidFill>
                  <a:srgbClr val="202020"/>
                </a:solidFill>
                <a:latin typeface="Calibri"/>
              </a:rPr>
              <a:t> team, and have the </a:t>
            </a:r>
            <a:r>
              <a:rPr sz="1400" b="1" i="0">
                <a:solidFill>
                  <a:srgbClr val="202020"/>
                </a:solidFill>
                <a:latin typeface="Calibri"/>
              </a:rPr>
              <a:t>webhook secret</a:t>
            </a:r>
            <a:r>
              <a:rPr sz="1400" b="0" i="0">
                <a:solidFill>
                  <a:srgbClr val="202020"/>
                </a:solidFill>
                <a:latin typeface="Calibri"/>
              </a:rPr>
              <a:t> generated (at least 32 random bytes) and configured on the Clarizen side by your </a:t>
            </a:r>
            <a:r>
              <a:rPr sz="1400" b="1" i="0">
                <a:solidFill>
                  <a:srgbClr val="202020"/>
                </a:solidFill>
                <a:latin typeface="Calibri"/>
              </a:rPr>
              <a:t>Clarizen/Planview administrator</a:t>
            </a:r>
            <a:r>
              <a:rPr sz="1400" b="0" i="0">
                <a:solidFill>
                  <a:srgbClr val="202020"/>
                </a:solidFill>
                <a:latin typeface="Calibri"/>
              </a:rPr>
              <a:t>.</a:t>
            </a:r>
          </a:p>
        </p:txBody>
      </p:sp>
      <p:sp>
        <p:nvSpPr>
          <p:cNvPr id="6" name="Rectangle 5"/>
          <p:cNvSpPr/>
          <p:nvPr/>
        </p:nvSpPr>
        <p:spPr>
          <a:xfrm>
            <a:off x="502920" y="1463040"/>
            <a:ext cx="128016" cy="3291840"/>
          </a:xfrm>
          <a:prstGeom prst="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366</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7.4 The deletion sweep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Clarizen has no deletion feed, and the incremental delta cursor never sees removed records — so the connector tracks every confirmed item in an </a:t>
            </a:r>
            <a:r>
              <a:rPr sz="1250" b="1" i="0">
                <a:solidFill>
                  <a:srgbClr val="202020"/>
                </a:solidFill>
                <a:latin typeface="Calibri"/>
              </a:rPr>
              <a:t>inventory</a:t>
            </a:r>
            <a:r>
              <a:rPr sz="1250" b="0" i="0">
                <a:solidFill>
                  <a:srgbClr val="202020"/>
                </a:solidFill>
                <a:latin typeface="Calibri"/>
              </a:rPr>
              <a:t> (</a:t>
            </a:r>
            <a:r>
              <a:rPr sz="1200" b="0" i="0">
                <a:solidFill>
                  <a:srgbClr val="202020"/>
                </a:solidFill>
                <a:latin typeface="Consolas"/>
              </a:rPr>
              <a:t>data/{CONNECTOR_ID}_inventory.db</a:t>
            </a:r>
            <a:r>
              <a:rPr sz="1250" b="0" i="0">
                <a:solidFill>
                  <a:srgbClr val="202020"/>
                </a:solidFill>
                <a:latin typeface="Calibri"/>
              </a:rPr>
              <a:t>, or </a:t>
            </a:r>
            <a:r>
              <a:rPr sz="1200" b="0" i="0">
                <a:solidFill>
                  <a:srgbClr val="202020"/>
                </a:solidFill>
                <a:latin typeface="Consolas"/>
              </a:rPr>
              <a:t>dbo.ItemInventory</a:t>
            </a:r>
            <a:r>
              <a:rPr sz="1250" b="0" i="0">
                <a:solidFill>
                  <a:srgbClr val="202020"/>
                </a:solidFill>
                <a:latin typeface="Calibri"/>
              </a:rPr>
              <a:t> on SQL Server) and reconciles deletions with an </a:t>
            </a:r>
            <a:r>
              <a:rPr sz="1250" b="1" i="0">
                <a:solidFill>
                  <a:srgbClr val="202020"/>
                </a:solidFill>
                <a:latin typeface="Calibri"/>
              </a:rPr>
              <a:t>existence sweep</a:t>
            </a:r>
            <a:r>
              <a:rPr sz="1250" b="0" i="0">
                <a:solidFill>
                  <a:srgbClr val="202020"/>
                </a:solidFill>
                <a:latin typeface="Calibri"/>
              </a:rPr>
              <a:t>.</a:t>
            </a:r>
          </a:p>
          <a:p>
            <a:pPr>
              <a:spcBef>
                <a:spcPts val="100"/>
              </a:spcBef>
              <a:spcAft>
                <a:spcPts val="200"/>
              </a:spcAft>
            </a:pPr>
            <a:r>
              <a:rPr sz="1250" b="1" i="0">
                <a:solidFill>
                  <a:srgbClr val="2E5496"/>
                </a:solidFill>
                <a:latin typeface="Calibri"/>
              </a:rPr>
              <a:t>•  </a:t>
            </a:r>
            <a:r>
              <a:rPr sz="1250" b="0" i="0">
                <a:solidFill>
                  <a:srgbClr val="202020"/>
                </a:solidFill>
                <a:latin typeface="Calibri"/>
              </a:rPr>
              <a:t>After a </a:t>
            </a:r>
            <a:r>
              <a:rPr sz="1250" b="1" i="0">
                <a:solidFill>
                  <a:srgbClr val="202020"/>
                </a:solidFill>
                <a:latin typeface="Calibri"/>
              </a:rPr>
              <a:t>full</a:t>
            </a:r>
            <a:r>
              <a:rPr sz="1250" b="0" i="0">
                <a:solidFill>
                  <a:srgbClr val="202020"/>
                </a:solidFill>
                <a:latin typeface="Calibri"/>
              </a:rPr>
              <a:t> crawl finishes an object type, the connector compares the inventory against the ids it just fetched. Ids in the inventory but absent from the source were deleted in Clarizen, so they are DELETEd from the Graph connection and dropped from the inventory. Incremental crawls never sweep.</a:t>
            </a:r>
          </a:p>
          <a:p>
            <a:pPr>
              <a:spcBef>
                <a:spcPts val="100"/>
              </a:spcBef>
              <a:spcAft>
                <a:spcPts val="200"/>
              </a:spcAft>
            </a:pPr>
            <a:r>
              <a:rPr sz="1250" b="1" i="0">
                <a:solidFill>
                  <a:srgbClr val="2E5496"/>
                </a:solidFill>
                <a:latin typeface="Calibri"/>
              </a:rPr>
              <a:t>•  </a:t>
            </a:r>
            <a:r>
              <a:rPr sz="1250" b="0" i="0">
                <a:solidFill>
                  <a:srgbClr val="202020"/>
                </a:solidFill>
                <a:latin typeface="Calibri"/>
              </a:rPr>
              <a:t>A </a:t>
            </a:r>
            <a:r>
              <a:rPr sz="1200" b="0" i="0">
                <a:solidFill>
                  <a:srgbClr val="202020"/>
                </a:solidFill>
                <a:latin typeface="Consolas"/>
              </a:rPr>
              <a:t>delete</a:t>
            </a:r>
            <a:r>
              <a:rPr sz="1250" b="0" i="0">
                <a:solidFill>
                  <a:srgbClr val="202020"/>
                </a:solidFill>
                <a:latin typeface="Calibri"/>
              </a:rPr>
              <a:t> webhook event withdraws a record immediately; anything missed is caught by the next full-crawl sweep.</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367</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7.4 The deletion sweep</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00" b="0" i="0">
                <a:solidFill>
                  <a:srgbClr val="202020"/>
                </a:solidFill>
                <a:latin typeface="Consolas"/>
              </a:rPr>
              <a:t>reconcile</a:t>
            </a:r>
            <a:r>
              <a:rPr sz="1250" b="0" i="0">
                <a:solidFill>
                  <a:srgbClr val="202020"/>
                </a:solidFill>
                <a:latin typeface="Calibri"/>
              </a:rPr>
              <a:t> audits index-versus-source drift on demand and, with </a:t>
            </a:r>
            <a:r>
              <a:rPr sz="1200" b="0" i="0">
                <a:solidFill>
                  <a:srgbClr val="202020"/>
                </a:solidFill>
                <a:latin typeface="Consolas"/>
              </a:rPr>
              <a:t>--fix</a:t>
            </a:r>
            <a:r>
              <a:rPr sz="1250" b="0" i="0">
                <a:solidFill>
                  <a:srgbClr val="202020"/>
                </a:solidFill>
                <a:latin typeface="Calibri"/>
              </a:rPr>
              <a:t>, deletes the stale items (Section 10).</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368</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7.4.1 Mass-deletion safety guards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 source outage or a truncated TDW export could make the whole index look stale. Two guards protect the sweep; if either trips, the sweep is </a:t>
            </a:r>
            <a:r>
              <a:rPr sz="1250" b="1" i="0">
                <a:solidFill>
                  <a:srgbClr val="202020"/>
                </a:solidFill>
                <a:latin typeface="Calibri"/>
              </a:rPr>
              <a:t>skipped</a:t>
            </a:r>
            <a:r>
              <a:rPr sz="1250" b="0" i="0">
                <a:solidFill>
                  <a:srgbClr val="202020"/>
                </a:solidFill>
                <a:latin typeface="Calibri"/>
              </a:rPr>
              <a:t>, a warning is logged, and a </a:t>
            </a:r>
            <a:r>
              <a:rPr sz="1200" b="0" i="0">
                <a:solidFill>
                  <a:srgbClr val="202020"/>
                </a:solidFill>
                <a:latin typeface="Consolas"/>
              </a:rPr>
              <a:t>deletion_sweep_skipped</a:t>
            </a:r>
            <a:r>
              <a:rPr sz="1250" b="0" i="0">
                <a:solidFill>
                  <a:srgbClr val="202020"/>
                </a:solidFill>
                <a:latin typeface="Calibri"/>
              </a:rPr>
              <a:t> alert fires: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369</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7.4.1 Mass-deletion safety guards</a:t>
            </a:r>
          </a:p>
        </p:txBody>
      </p:sp>
      <p:graphicFrame>
        <p:nvGraphicFramePr>
          <p:cNvPr id="5" name="Table 4"/>
          <p:cNvGraphicFramePr>
            <a:graphicFrameLocks noGrp="1"/>
          </p:cNvGraphicFramePr>
          <p:nvPr/>
        </p:nvGraphicFramePr>
        <p:xfrm>
          <a:off x="502920" y="1188720"/>
          <a:ext cx="11185855" cy="1536192"/>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Guard</a:t>
                      </a:r>
                    </a:p>
                  </a:txBody>
                  <a:tcPr marT="25400" marB="25400">
                    <a:solidFill>
                      <a:srgbClr val="2E5496"/>
                    </a:solidFill>
                  </a:tcPr>
                </a:tc>
                <a:tc>
                  <a:txBody>
                    <a:bodyPr wrap="square"/>
                    <a:lstStyle/>
                    <a:p>
                      <a:r>
                        <a:rPr sz="1050" b="1" i="0">
                          <a:solidFill>
                            <a:srgbClr val="FFFFFF"/>
                          </a:solidFill>
                          <a:latin typeface="Calibri"/>
                        </a:rPr>
                        <a:t>Default</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r>
              <a:tr h="384048">
                <a:tc>
                  <a:txBody>
                    <a:bodyPr wrap="square"/>
                    <a:lstStyle/>
                    <a:p>
                      <a:r>
                        <a:rPr sz="950" b="0" i="0">
                          <a:solidFill>
                            <a:srgbClr val="202020"/>
                          </a:solidFill>
                          <a:latin typeface="Consolas"/>
                        </a:rPr>
                        <a:t>DELETION_SYNC_MAX_ITEMS</a:t>
                      </a:r>
                    </a:p>
                  </a:txBody>
                  <a:tcPr marT="12700" marB="12700">
                    <a:solidFill>
                      <a:srgbClr val="FFFFFF"/>
                    </a:solidFill>
                  </a:tcPr>
                </a:tc>
                <a:tc>
                  <a:txBody>
                    <a:bodyPr wrap="square"/>
                    <a:lstStyle/>
                    <a:p>
                      <a:r>
                        <a:rPr sz="950" b="0" i="0">
                          <a:solidFill>
                            <a:srgbClr val="202020"/>
                          </a:solidFill>
                          <a:latin typeface="Calibri"/>
                        </a:rPr>
                        <a:t>1000</a:t>
                      </a:r>
                    </a:p>
                  </a:txBody>
                  <a:tcPr marT="12700" marB="12700">
                    <a:solidFill>
                      <a:srgbClr val="FFFFFF"/>
                    </a:solidFill>
                  </a:tcPr>
                </a:tc>
                <a:tc>
                  <a:txBody>
                    <a:bodyPr wrap="square"/>
                    <a:lstStyle/>
                    <a:p>
                      <a:r>
                        <a:rPr sz="950" b="0" i="0">
                          <a:solidFill>
                            <a:srgbClr val="202020"/>
                          </a:solidFill>
                          <a:latin typeface="Calibri"/>
                        </a:rPr>
                        <a:t>Absolute cap: never auto-delete more than this many items of one object type in a single sweep, whatever the inventory size. Also covers small object types.</a:t>
                      </a:r>
                    </a:p>
                  </a:txBody>
                  <a:tcPr marT="12700" marB="12700">
                    <a:solidFill>
                      <a:srgbClr val="FFFFFF"/>
                    </a:solidFill>
                  </a:tcPr>
                </a:tc>
              </a:tr>
              <a:tr h="384048">
                <a:tc>
                  <a:txBody>
                    <a:bodyPr wrap="square"/>
                    <a:lstStyle/>
                    <a:p>
                      <a:r>
                        <a:rPr sz="950" b="0" i="0">
                          <a:solidFill>
                            <a:srgbClr val="202020"/>
                          </a:solidFill>
                          <a:latin typeface="Consolas"/>
                        </a:rPr>
                        <a:t>DELETION_SYNC_MAX_PERCENT</a:t>
                      </a:r>
                    </a:p>
                  </a:txBody>
                  <a:tcPr marT="12700" marB="12700">
                    <a:solidFill>
                      <a:srgbClr val="F7F9FC"/>
                    </a:solidFill>
                  </a:tcPr>
                </a:tc>
                <a:tc>
                  <a:txBody>
                    <a:bodyPr wrap="square"/>
                    <a:lstStyle/>
                    <a:p>
                      <a:r>
                        <a:rPr sz="950" b="0" i="0">
                          <a:solidFill>
                            <a:srgbClr val="202020"/>
                          </a:solidFill>
                          <a:latin typeface="Calibri"/>
                        </a:rPr>
                        <a:t>25</a:t>
                      </a:r>
                    </a:p>
                  </a:txBody>
                  <a:tcPr marT="12700" marB="12700">
                    <a:solidFill>
                      <a:srgbClr val="F7F9FC"/>
                    </a:solidFill>
                  </a:tcPr>
                </a:tc>
                <a:tc>
                  <a:txBody>
                    <a:bodyPr wrap="square"/>
                    <a:lstStyle/>
                    <a:p>
                      <a:r>
                        <a:rPr sz="950" b="0" i="0">
                          <a:solidFill>
                            <a:srgbClr val="202020"/>
                          </a:solidFill>
                          <a:latin typeface="Calibri"/>
                        </a:rPr>
                        <a:t>Percentage guard: skip the sweep if more than this share of an object type's inventory would be deleted. Engages once the inventory holds &gt;=20 items, or at any size when the source returned zero rows (the classic outage / truncated-export signature).</a:t>
                      </a:r>
                    </a:p>
                  </a:txBody>
                  <a:tcPr marT="12700" marB="12700">
                    <a:solidFill>
                      <a:srgbClr val="F7F9FC"/>
                    </a:solidFill>
                  </a:tcPr>
                </a:tc>
              </a:tr>
              <a:tr h="384048">
                <a:tc>
                  <a:txBody>
                    <a:bodyPr wrap="square"/>
                    <a:lstStyle/>
                    <a:p>
                      <a:r>
                        <a:rPr sz="950" b="0" i="0">
                          <a:solidFill>
                            <a:srgbClr val="202020"/>
                          </a:solidFill>
                          <a:latin typeface="Consolas"/>
                        </a:rPr>
                        <a:t>DELETION_SYNC</a:t>
                      </a:r>
                    </a:p>
                  </a:txBody>
                  <a:tcPr marT="12700" marB="12700">
                    <a:solidFill>
                      <a:srgbClr val="FFFFFF"/>
                    </a:solidFill>
                  </a:tcPr>
                </a:tc>
                <a:tc>
                  <a:txBody>
                    <a:bodyPr wrap="square"/>
                    <a:lstStyle/>
                    <a:p>
                      <a:r>
                        <a:rPr sz="950" b="0" i="0">
                          <a:solidFill>
                            <a:srgbClr val="202020"/>
                          </a:solidFill>
                          <a:latin typeface="Calibri"/>
                        </a:rPr>
                        <a:t>true</a:t>
                      </a:r>
                    </a:p>
                  </a:txBody>
                  <a:tcPr marT="12700" marB="12700">
                    <a:solidFill>
                      <a:srgbClr val="FFFFFF"/>
                    </a:solidFill>
                  </a:tcPr>
                </a:tc>
                <a:tc>
                  <a:txBody>
                    <a:bodyPr wrap="square"/>
                    <a:lstStyle/>
                    <a:p>
                      <a:r>
                        <a:rPr sz="950" b="0" i="0">
                          <a:solidFill>
                            <a:srgbClr val="202020"/>
                          </a:solidFill>
                          <a:latin typeface="Calibri"/>
                        </a:rPr>
                        <a:t>Master switch. false disables deletion entirely; the inventory is still maintained so reconcile keeps working.</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370</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7.4.1 Mass-deletion safety guards</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A tripped guard is doing its job. Diagnose whether the drop is real (a genuine mass archive) or a false signal (outage, truncated export) BEFORE loosening a guard — see Section 12. </a:t>
            </a:r>
            <a:r>
              <a:rPr sz="1350" b="0" i="0">
                <a:solidFill>
                  <a:srgbClr val="202020"/>
                </a:solidFill>
                <a:latin typeface="Consolas"/>
              </a:rPr>
              <a:t>reconcile --fix</a:t>
            </a:r>
            <a:r>
              <a:rPr sz="1400" b="0" i="0">
                <a:solidFill>
                  <a:srgbClr val="202020"/>
                </a:solidFill>
                <a:latin typeface="Calibri"/>
              </a:rPr>
              <a:t> intentionally bypasses the guards because it is an explicit operator action.</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371</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Clarizen Connector</a:t>
            </a:r>
          </a:p>
          <a:p>
            <a:r>
              <a:rPr sz="3000" b="1" i="0">
                <a:solidFill>
                  <a:srgbClr val="1F3864"/>
                </a:solidFill>
                <a:latin typeface="Calibri"/>
              </a:rPr>
              <a:t>8. Before you start: prerequisites &amp; intake checklist</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372</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8. Before you start: prerequisites &amp; intake checklist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Collect everything below before the first install. Each row names who owns the value. Fill in the right-hand column as you gather them; do not start the install until every required row is complete.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373</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8. Before you start: prerequisites &amp; intake checklist</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What to obtain</a:t>
                      </a:r>
                    </a:p>
                  </a:txBody>
                  <a:tcPr marT="25400" marB="25400">
                    <a:solidFill>
                      <a:srgbClr val="2E5496"/>
                    </a:solidFill>
                  </a:tcPr>
                </a:tc>
                <a:tc>
                  <a:txBody>
                    <a:bodyPr wrap="square"/>
                    <a:lstStyle/>
                    <a:p>
                      <a:r>
                        <a:rPr sz="1050" b="1" i="0">
                          <a:solidFill>
                            <a:srgbClr val="FFFFFF"/>
                          </a:solidFill>
                          <a:latin typeface="Calibri"/>
                        </a:rPr>
                        <a:t>Detail / who provides it</a:t>
                      </a:r>
                    </a:p>
                  </a:txBody>
                  <a:tcPr marT="25400" marB="25400">
                    <a:solidFill>
                      <a:srgbClr val="2E5496"/>
                    </a:solidFill>
                  </a:tcPr>
                </a:tc>
                <a:tc>
                  <a:txBody>
                    <a:bodyPr wrap="square"/>
                    <a:lstStyle/>
                    <a:p>
                      <a:r>
                        <a:rPr sz="1050" b="1" i="0">
                          <a:solidFill>
                            <a:srgbClr val="FFFFFF"/>
                          </a:solidFill>
                          <a:latin typeface="Calibri"/>
                        </a:rPr>
                        <a:t>Value / provided by</a:t>
                      </a:r>
                    </a:p>
                  </a:txBody>
                  <a:tcPr marT="25400" marB="25400">
                    <a:solidFill>
                      <a:srgbClr val="2E5496"/>
                    </a:solidFill>
                  </a:tcPr>
                </a:tc>
              </a:tr>
              <a:tr h="384048">
                <a:tc>
                  <a:txBody>
                    <a:bodyPr wrap="square"/>
                    <a:lstStyle/>
                    <a:p>
                      <a:r>
                        <a:rPr sz="950" b="0" i="0">
                          <a:solidFill>
                            <a:srgbClr val="202020"/>
                          </a:solidFill>
                          <a:latin typeface="Calibri"/>
                        </a:rPr>
                        <a:t>Entra tenant ID</a:t>
                      </a:r>
                    </a:p>
                  </a:txBody>
                  <a:tcPr marT="12700" marB="12700">
                    <a:solidFill>
                      <a:srgbClr val="FFFFFF"/>
                    </a:solidFill>
                  </a:tcPr>
                </a:tc>
                <a:tc>
                  <a:txBody>
                    <a:bodyPr wrap="square"/>
                    <a:lstStyle/>
                    <a:p>
                      <a:r>
                        <a:rPr sz="950" b="0" i="0">
                          <a:solidFill>
                            <a:srgbClr val="202020"/>
                          </a:solidFill>
                          <a:latin typeface="Calibri"/>
                        </a:rPr>
                        <a:t>GUID of your Microsoft Entra tenant. Entra tenant admin.</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Entra app (client) ID</a:t>
                      </a:r>
                    </a:p>
                  </a:txBody>
                  <a:tcPr marT="12700" marB="12700">
                    <a:solidFill>
                      <a:srgbClr val="F7F9FC"/>
                    </a:solidFill>
                  </a:tcPr>
                </a:tc>
                <a:tc>
                  <a:txBody>
                    <a:bodyPr wrap="square"/>
                    <a:lstStyle/>
                    <a:p>
                      <a:r>
                        <a:rPr sz="950" b="0" i="0">
                          <a:solidFill>
                            <a:srgbClr val="202020"/>
                          </a:solidFill>
                          <a:latin typeface="Calibri"/>
                        </a:rPr>
                        <a:t>Application (client) ID of the app registration created for this connector. Entra tenant admin.</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App credential</a:t>
                      </a:r>
                    </a:p>
                  </a:txBody>
                  <a:tcPr marT="12700" marB="12700">
                    <a:solidFill>
                      <a:srgbClr val="FFFFFF"/>
                    </a:solidFill>
                  </a:tcPr>
                </a:tc>
                <a:tc>
                  <a:txBody>
                    <a:bodyPr wrap="square"/>
                    <a:lstStyle/>
                    <a:p>
                      <a:r>
                        <a:rPr sz="950" b="0" i="0">
                          <a:solidFill>
                            <a:srgbClr val="202020"/>
                          </a:solidFill>
                          <a:latin typeface="Calibri"/>
                        </a:rPr>
                        <a:t>Client secret value, OR a certificate (PFX/PEM path, or Windows-store thumbprint). Certificate preferred. Entra tenant admin.</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Graph API permissions consented</a:t>
                      </a:r>
                    </a:p>
                  </a:txBody>
                  <a:tcPr marT="12700" marB="12700">
                    <a:solidFill>
                      <a:srgbClr val="F7F9FC"/>
                    </a:solidFill>
                  </a:tcPr>
                </a:tc>
                <a:tc>
                  <a:txBody>
                    <a:bodyPr wrap="square"/>
                    <a:lstStyle/>
                    <a:p>
                      <a:r>
                        <a:rPr sz="950" b="0" i="0">
                          <a:solidFill>
                            <a:srgbClr val="202020"/>
                          </a:solidFill>
                          <a:latin typeface="Calibri"/>
                        </a:rPr>
                        <a:t>ExternalConnection.ReadWrite.OwnedBy, ExternalItem.ReadWrite.OwnedBy, User.Read.All — application permissions, admin-consented. Entra tenant admin.</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Key Vault (optional)</a:t>
                      </a:r>
                    </a:p>
                  </a:txBody>
                  <a:tcPr marT="12700" marB="12700">
                    <a:solidFill>
                      <a:srgbClr val="FFFFFF"/>
                    </a:solidFill>
                  </a:tcPr>
                </a:tc>
                <a:tc>
                  <a:txBody>
                    <a:bodyPr wrap="square"/>
                    <a:lstStyle/>
                    <a:p>
                      <a:r>
                        <a:rPr sz="950" b="0" i="0">
                          <a:solidFill>
                            <a:srgbClr val="202020"/>
                          </a:solidFill>
                          <a:latin typeface="Calibri"/>
                        </a:rPr>
                        <a:t>Vault URI if secrets are resolved from Azure Key Vault (USE_KEY_VAULT). Entra tenant admin / platform.</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Clarizen API endpoint</a:t>
                      </a:r>
                    </a:p>
                  </a:txBody>
                  <a:tcPr marT="12700" marB="12700">
                    <a:solidFill>
                      <a:srgbClr val="F7F9FC"/>
                    </a:solidFill>
                  </a:tcPr>
                </a:tc>
                <a:tc>
                  <a:txBody>
                    <a:bodyPr wrap="square"/>
                    <a:lstStyle/>
                    <a:p>
                      <a:r>
                        <a:rPr sz="950" b="0" i="0">
                          <a:solidFill>
                            <a:srgbClr val="202020"/>
                          </a:solidFill>
                          <a:latin typeface="Calibri"/>
                        </a:rPr>
                        <a:t>US (api.clarizen.com) or EU (api2.clarizen.com). Clarizen/Planview administrator.</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Clarizen service account</a:t>
                      </a:r>
                    </a:p>
                  </a:txBody>
                  <a:tcPr marT="12700" marB="12700">
                    <a:solidFill>
                      <a:srgbClr val="FFFFFF"/>
                    </a:solidFill>
                  </a:tcPr>
                </a:tc>
                <a:tc>
                  <a:txBody>
                    <a:bodyPr wrap="square"/>
                    <a:lstStyle/>
                    <a:p>
                      <a:r>
                        <a:rPr sz="950" b="0" i="0">
                          <a:solidFill>
                            <a:srgbClr val="202020"/>
                          </a:solidFill>
                          <a:latin typeface="Calibri"/>
                        </a:rPr>
                        <a:t>API username + password for a dedicated service user. Clarizen/Planview administrator.</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TDW export access</a:t>
                      </a:r>
                    </a:p>
                  </a:txBody>
                  <a:tcPr marT="12700" marB="12700">
                    <a:solidFill>
                      <a:srgbClr val="F7F9FC"/>
                    </a:solidFill>
                  </a:tcPr>
                </a:tc>
                <a:tc>
                  <a:txBody>
                    <a:bodyPr wrap="square"/>
                    <a:lstStyle/>
                    <a:p>
                      <a:r>
                        <a:rPr sz="950" b="0" i="0">
                          <a:solidFill>
                            <a:srgbClr val="202020"/>
                          </a:solidFill>
                          <a:latin typeface="Calibri"/>
                        </a:rPr>
                        <a:t>Path/share of the nightly TDW export files, and confirmation the job runs. Clarizen/Planview administrator.</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Permitted objects &amp; fields</a:t>
                      </a:r>
                    </a:p>
                  </a:txBody>
                  <a:tcPr marT="12700" marB="12700">
                    <a:solidFill>
                      <a:srgbClr val="FFFFFF"/>
                    </a:solidFill>
                  </a:tcPr>
                </a:tc>
                <a:tc>
                  <a:txBody>
                    <a:bodyPr wrap="square"/>
                    <a:lstStyle/>
                    <a:p>
                      <a:r>
                        <a:rPr sz="950" b="0" i="0">
                          <a:solidFill>
                            <a:srgbClr val="202020"/>
                          </a:solidFill>
                          <a:latin typeface="Calibri"/>
                        </a:rPr>
                        <a:t>Which Clarizen objects/fields you may index; the financial fields list. Clarizen/Planview administrator.</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Webhook secret (optional)</a:t>
                      </a:r>
                    </a:p>
                  </a:txBody>
                  <a:tcPr marT="12700" marB="12700">
                    <a:solidFill>
                      <a:srgbClr val="F7F9FC"/>
                    </a:solidFill>
                  </a:tcPr>
                </a:tc>
                <a:tc>
                  <a:txBody>
                    <a:bodyPr wrap="square"/>
                    <a:lstStyle/>
                    <a:p>
                      <a:r>
                        <a:rPr sz="950" b="0" i="0">
                          <a:solidFill>
                            <a:srgbClr val="202020"/>
                          </a:solidFill>
                          <a:latin typeface="Calibri"/>
                        </a:rPr>
                        <a:t>Shared HMAC secret (&gt;=32 random bytes) if using webhooks. Clarizen/Planview administrator.</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374</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8. Before you start: prerequisites &amp; intake checklist (cont.)</a:t>
            </a:r>
          </a:p>
        </p:txBody>
      </p:sp>
      <p:graphicFrame>
        <p:nvGraphicFramePr>
          <p:cNvPr id="5" name="Table 4"/>
          <p:cNvGraphicFramePr>
            <a:graphicFrameLocks noGrp="1"/>
          </p:cNvGraphicFramePr>
          <p:nvPr/>
        </p:nvGraphicFramePr>
        <p:xfrm>
          <a:off x="502920" y="1188720"/>
          <a:ext cx="11185855" cy="1920240"/>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What to obtain</a:t>
                      </a:r>
                    </a:p>
                  </a:txBody>
                  <a:tcPr marT="25400" marB="25400">
                    <a:solidFill>
                      <a:srgbClr val="2E5496"/>
                    </a:solidFill>
                  </a:tcPr>
                </a:tc>
                <a:tc>
                  <a:txBody>
                    <a:bodyPr wrap="square"/>
                    <a:lstStyle/>
                    <a:p>
                      <a:r>
                        <a:rPr sz="1050" b="1" i="0">
                          <a:solidFill>
                            <a:srgbClr val="FFFFFF"/>
                          </a:solidFill>
                          <a:latin typeface="Calibri"/>
                        </a:rPr>
                        <a:t>Detail / who provides it</a:t>
                      </a:r>
                    </a:p>
                  </a:txBody>
                  <a:tcPr marT="25400" marB="25400">
                    <a:solidFill>
                      <a:srgbClr val="2E5496"/>
                    </a:solidFill>
                  </a:tcPr>
                </a:tc>
                <a:tc>
                  <a:txBody>
                    <a:bodyPr wrap="square"/>
                    <a:lstStyle/>
                    <a:p>
                      <a:r>
                        <a:rPr sz="1050" b="1" i="0">
                          <a:solidFill>
                            <a:srgbClr val="FFFFFF"/>
                          </a:solidFill>
                          <a:latin typeface="Calibri"/>
                        </a:rPr>
                        <a:t>Value / provided by</a:t>
                      </a:r>
                    </a:p>
                  </a:txBody>
                  <a:tcPr marT="25400" marB="25400">
                    <a:solidFill>
                      <a:srgbClr val="2E5496"/>
                    </a:solidFill>
                  </a:tcPr>
                </a:tc>
              </a:tr>
              <a:tr h="384048">
                <a:tc>
                  <a:txBody>
                    <a:bodyPr wrap="square"/>
                    <a:lstStyle/>
                    <a:p>
                      <a:r>
                        <a:rPr sz="950" b="0" i="0">
                          <a:solidFill>
                            <a:srgbClr val="202020"/>
                          </a:solidFill>
                          <a:latin typeface="Calibri"/>
                        </a:rPr>
                        <a:t>Webhook inbound URL/port (optional)</a:t>
                      </a:r>
                    </a:p>
                  </a:txBody>
                  <a:tcPr marT="12700" marB="12700">
                    <a:solidFill>
                      <a:srgbClr val="FFFFFF"/>
                    </a:solidFill>
                  </a:tcPr>
                </a:tc>
                <a:tc>
                  <a:txBody>
                    <a:bodyPr wrap="square"/>
                    <a:lstStyle/>
                    <a:p>
                      <a:r>
                        <a:rPr sz="950" b="0" i="0">
                          <a:solidFill>
                            <a:srgbClr val="202020"/>
                          </a:solidFill>
                          <a:latin typeface="Calibri"/>
                        </a:rPr>
                        <a:t>The public URL, TLS ingress and port that reach the receiver. Network/firewall.</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Service account (Windows)</a:t>
                      </a:r>
                    </a:p>
                  </a:txBody>
                  <a:tcPr marT="12700" marB="12700">
                    <a:solidFill>
                      <a:srgbClr val="F7F9FC"/>
                    </a:solidFill>
                  </a:tcPr>
                </a:tc>
                <a:tc>
                  <a:txBody>
                    <a:bodyPr wrap="square"/>
                    <a:lstStyle/>
                    <a:p>
                      <a:r>
                        <a:rPr sz="950" b="0" i="0">
                          <a:solidFill>
                            <a:srgbClr val="202020"/>
                          </a:solidFill>
                          <a:latin typeface="Calibri"/>
                        </a:rPr>
                        <a:t>gMSA or virtual service account to run the service; not LocalSystem in production. Windows/platform.</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Proxy / CA bundle (optional)</a:t>
                      </a:r>
                    </a:p>
                  </a:txBody>
                  <a:tcPr marT="12700" marB="12700">
                    <a:solidFill>
                      <a:srgbClr val="FFFFFF"/>
                    </a:solidFill>
                  </a:tcPr>
                </a:tc>
                <a:tc>
                  <a:txBody>
                    <a:bodyPr wrap="square"/>
                    <a:lstStyle/>
                    <a:p>
                      <a:r>
                        <a:rPr sz="950" b="0" i="0">
                          <a:solidFill>
                            <a:srgbClr val="202020"/>
                          </a:solidFill>
                          <a:latin typeface="Calibri"/>
                        </a:rPr>
                        <a:t>PROXY_URL, bypass list, and a CA bundle for TLS inspection. Network/firewall.</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SQL Server (optional)</a:t>
                      </a:r>
                    </a:p>
                  </a:txBody>
                  <a:tcPr marT="12700" marB="12700">
                    <a:solidFill>
                      <a:srgbClr val="F7F9FC"/>
                    </a:solidFill>
                  </a:tcPr>
                </a:tc>
                <a:tc>
                  <a:txBody>
                    <a:bodyPr wrap="square"/>
                    <a:lstStyle/>
                    <a:p>
                      <a:r>
                        <a:rPr sz="950" b="0" i="0">
                          <a:solidFill>
                            <a:srgbClr val="202020"/>
                          </a:solidFill>
                          <a:latin typeface="Calibri"/>
                        </a:rPr>
                        <a:t>Connection string / AG listener if using the SQL state backend or HA. DBA / platform.</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375</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8. Before you start: prerequisites &amp; intake checklist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Installing the runtime and the service itself, and the shared prerequisites, are covered in the Common Guide §6 (deployment).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376</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Clarizen Connector</a:t>
            </a:r>
          </a:p>
          <a:p>
            <a:r>
              <a:rPr sz="3000" b="1" i="0">
                <a:solidFill>
                  <a:srgbClr val="1F3864"/>
                </a:solidFill>
                <a:latin typeface="Calibri"/>
              </a:rPr>
              <a:t>9. Setting it up, step by step</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377</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 Setting it up, step by step</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This is the first-run sequence. Run each command from the connector's home directory so that </a:t>
            </a:r>
            <a:r>
              <a:rPr sz="1200" b="0" i="0">
                <a:solidFill>
                  <a:srgbClr val="202020"/>
                </a:solidFill>
                <a:latin typeface="Consolas"/>
              </a:rPr>
              <a:t>config/</a:t>
            </a:r>
            <a:r>
              <a:rPr sz="1250" b="0" i="0">
                <a:solidFill>
                  <a:srgbClr val="202020"/>
                </a:solidFill>
                <a:latin typeface="Calibri"/>
              </a:rPr>
              <a:t>, </a:t>
            </a:r>
            <a:r>
              <a:rPr sz="1200" b="0" i="0">
                <a:solidFill>
                  <a:srgbClr val="202020"/>
                </a:solidFill>
                <a:latin typeface="Consolas"/>
              </a:rPr>
              <a:t>env/</a:t>
            </a:r>
            <a:r>
              <a:rPr sz="1250" b="0" i="0">
                <a:solidFill>
                  <a:srgbClr val="202020"/>
                </a:solidFill>
                <a:latin typeface="Calibri"/>
              </a:rPr>
              <a:t>, </a:t>
            </a:r>
            <a:r>
              <a:rPr sz="1200" b="0" i="0">
                <a:solidFill>
                  <a:srgbClr val="202020"/>
                </a:solidFill>
                <a:latin typeface="Consolas"/>
              </a:rPr>
              <a:t>logs/</a:t>
            </a:r>
            <a:r>
              <a:rPr sz="1250" b="0" i="0">
                <a:solidFill>
                  <a:srgbClr val="202020"/>
                </a:solidFill>
                <a:latin typeface="Calibri"/>
              </a:rPr>
              <a:t> and </a:t>
            </a:r>
            <a:r>
              <a:rPr sz="1200" b="0" i="0">
                <a:solidFill>
                  <a:srgbClr val="202020"/>
                </a:solidFill>
                <a:latin typeface="Consolas"/>
              </a:rPr>
              <a:t>data/</a:t>
            </a:r>
            <a:r>
              <a:rPr sz="1250" b="0" i="0">
                <a:solidFill>
                  <a:srgbClr val="202020"/>
                </a:solidFill>
                <a:latin typeface="Calibri"/>
              </a:rPr>
              <a:t> resolve correctly. The program name is </a:t>
            </a:r>
            <a:r>
              <a:rPr sz="1200" b="0" i="0">
                <a:solidFill>
                  <a:srgbClr val="202020"/>
                </a:solidFill>
                <a:latin typeface="Consolas"/>
              </a:rPr>
              <a:t>ClarizenConnector</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378</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9.1 Confirm prerequisites and install</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Complete the Section 8 checklist. Install the .NET 10 runtime and lay down the connector files/service as described in the Common Guide §6 (deployment) and the project README's "Running as a Windows service" steps. Do not start the service yet.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379</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9.2 Set the environment variables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Copy </a:t>
            </a:r>
            <a:r>
              <a:rPr sz="1200" b="0" i="0">
                <a:solidFill>
                  <a:srgbClr val="202020"/>
                </a:solidFill>
                <a:latin typeface="Consolas"/>
              </a:rPr>
              <a:t>env/.env.local.example</a:t>
            </a:r>
            <a:r>
              <a:rPr sz="1250" b="0" i="0">
                <a:solidFill>
                  <a:srgbClr val="202020"/>
                </a:solidFill>
                <a:latin typeface="Calibri"/>
              </a:rPr>
              <a:t> to </a:t>
            </a:r>
            <a:r>
              <a:rPr sz="1200" b="0" i="0">
                <a:solidFill>
                  <a:srgbClr val="202020"/>
                </a:solidFill>
                <a:latin typeface="Consolas"/>
              </a:rPr>
              <a:t>env/.env.local</a:t>
            </a:r>
            <a:r>
              <a:rPr sz="1250" b="0" i="0">
                <a:solidFill>
                  <a:srgbClr val="202020"/>
                </a:solidFill>
                <a:latin typeface="Calibri"/>
              </a:rPr>
              <a:t> for non-secret settings, and put every </a:t>
            </a:r>
            <a:r>
              <a:rPr sz="1200" b="0" i="0">
                <a:solidFill>
                  <a:srgbClr val="202020"/>
                </a:solidFill>
                <a:latin typeface="Consolas"/>
              </a:rPr>
              <a:t>SECRET_*</a:t>
            </a:r>
            <a:r>
              <a:rPr sz="1250" b="0" i="0">
                <a:solidFill>
                  <a:srgbClr val="202020"/>
                </a:solidFill>
                <a:latin typeface="Calibri"/>
              </a:rPr>
              <a:t> value (</a:t>
            </a:r>
            <a:r>
              <a:rPr sz="1200" b="0" i="0">
                <a:solidFill>
                  <a:srgbClr val="202020"/>
                </a:solidFill>
                <a:latin typeface="Consolas"/>
              </a:rPr>
              <a:t>SECRET_CLARIZEN_PASSWORD</a:t>
            </a:r>
            <a:r>
              <a:rPr sz="1250" b="0" i="0">
                <a:solidFill>
                  <a:srgbClr val="202020"/>
                </a:solidFill>
                <a:latin typeface="Calibri"/>
              </a:rPr>
              <a:t>, </a:t>
            </a:r>
            <a:r>
              <a:rPr sz="1200" b="0" i="0">
                <a:solidFill>
                  <a:srgbClr val="202020"/>
                </a:solidFill>
                <a:latin typeface="Consolas"/>
              </a:rPr>
              <a:t>SECRET_AAD_APP_CLIENT_SECRET</a:t>
            </a:r>
            <a:r>
              <a:rPr sz="1250" b="0" i="0">
                <a:solidFill>
                  <a:srgbClr val="202020"/>
                </a:solidFill>
                <a:latin typeface="Calibri"/>
              </a:rPr>
              <a:t>, </a:t>
            </a:r>
            <a:r>
              <a:rPr sz="1200" b="0" i="0">
                <a:solidFill>
                  <a:srgbClr val="202020"/>
                </a:solidFill>
                <a:latin typeface="Consolas"/>
              </a:rPr>
              <a:t>CLARIZEN_WEBHOOK_SECRET</a:t>
            </a:r>
            <a:r>
              <a:rPr sz="1250" b="0" i="0">
                <a:solidFill>
                  <a:srgbClr val="202020"/>
                </a:solidFill>
                <a:latin typeface="Calibri"/>
              </a:rPr>
              <a:t>) in </a:t>
            </a:r>
            <a:r>
              <a:rPr sz="1200" b="0" i="0">
                <a:solidFill>
                  <a:srgbClr val="202020"/>
                </a:solidFill>
                <a:latin typeface="Consolas"/>
              </a:rPr>
              <a:t>env/.env.local.user</a:t>
            </a:r>
            <a:r>
              <a:rPr sz="1250" b="0" i="0">
                <a:solidFill>
                  <a:srgbClr val="202020"/>
                </a:solidFill>
                <a:latin typeface="Calibri"/>
              </a:rPr>
              <a:t>, which is never committed. At minimum set </a:t>
            </a:r>
            <a:r>
              <a:rPr sz="1200" b="0" i="0">
                <a:solidFill>
                  <a:srgbClr val="202020"/>
                </a:solidFill>
                <a:latin typeface="Consolas"/>
              </a:rPr>
              <a:t>CONNECTOR_ID</a:t>
            </a:r>
            <a:r>
              <a:rPr sz="1250" b="0" i="0">
                <a:solidFill>
                  <a:srgbClr val="202020"/>
                </a:solidFill>
                <a:latin typeface="Calibri"/>
              </a:rPr>
              <a:t>, the Clarizen and Entra credentials, and your intended </a:t>
            </a:r>
            <a:r>
              <a:rPr sz="1200" b="0" i="0">
                <a:solidFill>
                  <a:srgbClr val="202020"/>
                </a:solidFill>
                <a:latin typeface="Consolas"/>
              </a:rPr>
              <a:t>FINANCIAL_DATA_MODE</a:t>
            </a:r>
            <a:r>
              <a:rPr sz="1250" b="0" i="0">
                <a:solidFill>
                  <a:srgbClr val="202020"/>
                </a:solidFill>
                <a:latin typeface="Calibri"/>
              </a:rPr>
              <a:t>. Full list in Section 13.</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380</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9.3 Validate before you touch anything</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Run </a:t>
            </a:r>
            <a:r>
              <a:rPr sz="1200" b="0" i="0">
                <a:solidFill>
                  <a:srgbClr val="202020"/>
                </a:solidFill>
                <a:latin typeface="Consolas"/>
              </a:rPr>
              <a:t>validate-config --strict</a:t>
            </a:r>
            <a:r>
              <a:rPr sz="1250" b="0" i="0">
                <a:solidFill>
                  <a:srgbClr val="202020"/>
                </a:solidFill>
                <a:latin typeface="Calibri"/>
              </a:rPr>
              <a:t>. It checks the environment variables, config files, schema shape and — in strict mode — live connectivity to both Clarizen and Graph. Fix everything it reports before continuing. Then run </a:t>
            </a:r>
            <a:r>
              <a:rPr sz="1200" b="0" i="0">
                <a:solidFill>
                  <a:srgbClr val="202020"/>
                </a:solidFill>
                <a:latin typeface="Consolas"/>
              </a:rPr>
              <a:t>identity-dry-run --save --verbose</a:t>
            </a:r>
            <a:r>
              <a:rPr sz="1250" b="0" i="0">
                <a:solidFill>
                  <a:srgbClr val="202020"/>
                </a:solidFill>
                <a:latin typeface="Calibri"/>
              </a:rPr>
              <a:t> to confirm Clarizen users and groups resolve to Entra identities and to seed the identity store.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381</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9.4 Create the connection and schema</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Run </a:t>
            </a:r>
            <a:r>
              <a:rPr sz="1200" b="0" i="0">
                <a:solidFill>
                  <a:srgbClr val="202020"/>
                </a:solidFill>
                <a:latin typeface="Consolas"/>
              </a:rPr>
              <a:t>setup-connection</a:t>
            </a:r>
            <a:r>
              <a:rPr sz="1250" b="0" i="0">
                <a:solidFill>
                  <a:srgbClr val="202020"/>
                </a:solidFill>
                <a:latin typeface="Calibri"/>
              </a:rPr>
              <a:t>. This creates (or verifies) the Graph external connection and registers the schema from </a:t>
            </a:r>
            <a:r>
              <a:rPr sz="1200" b="0" i="0">
                <a:solidFill>
                  <a:srgbClr val="202020"/>
                </a:solidFill>
                <a:latin typeface="Consolas"/>
              </a:rPr>
              <a:t>config/graph-schema.json</a:t>
            </a:r>
            <a:r>
              <a:rPr sz="1250" b="0" i="0">
                <a:solidFill>
                  <a:srgbClr val="202020"/>
                </a:solidFill>
                <a:latin typeface="Calibri"/>
              </a:rPr>
              <a:t>. No records are ingested yet. This is the step that needs the </a:t>
            </a:r>
            <a:r>
              <a:rPr sz="1200" b="0" i="0">
                <a:solidFill>
                  <a:srgbClr val="202020"/>
                </a:solidFill>
                <a:latin typeface="Consolas"/>
              </a:rPr>
              <a:t>ExternalConnection</a:t>
            </a:r>
            <a:r>
              <a:rPr sz="1250" b="0" i="0">
                <a:solidFill>
                  <a:srgbClr val="202020"/>
                </a:solidFill>
                <a:latin typeface="Calibri"/>
              </a:rPr>
              <a:t> Graph permission.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382</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9.5 Run the first full crawl (via TDW)</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Run </a:t>
            </a:r>
            <a:r>
              <a:rPr sz="1200" b="0" i="0">
                <a:solidFill>
                  <a:srgbClr val="202020"/>
                </a:solidFill>
                <a:latin typeface="Consolas"/>
              </a:rPr>
              <a:t>full-deployment</a:t>
            </a:r>
            <a:r>
              <a:rPr sz="1250" b="0" i="0">
                <a:solidFill>
                  <a:srgbClr val="202020"/>
                </a:solidFill>
                <a:latin typeface="Calibri"/>
              </a:rPr>
              <a:t>. The first cycle is always a full crawl and includes identity sync. With </a:t>
            </a:r>
            <a:r>
              <a:rPr sz="1200" b="0" i="0">
                <a:solidFill>
                  <a:srgbClr val="202020"/>
                </a:solidFill>
                <a:latin typeface="Consolas"/>
              </a:rPr>
              <a:t>TDW_EXPORT_PATH</a:t>
            </a:r>
            <a:r>
              <a:rPr sz="1250" b="0" i="0">
                <a:solidFill>
                  <a:srgbClr val="202020"/>
                </a:solidFill>
                <a:latin typeface="Calibri"/>
              </a:rPr>
              <a:t> set, the full crawl reads from the bulk export and spends little or no API budget; object types without an export file fall back to the API. Watch </a:t>
            </a:r>
            <a:r>
              <a:rPr sz="1200" b="0" i="0">
                <a:solidFill>
                  <a:srgbClr val="202020"/>
                </a:solidFill>
                <a:latin typeface="Consolas"/>
              </a:rPr>
              <a:t>logs/</a:t>
            </a:r>
            <a:r>
              <a:rPr sz="1250" b="0" i="0">
                <a:solidFill>
                  <a:srgbClr val="202020"/>
                </a:solidFill>
                <a:latin typeface="Calibri"/>
              </a:rPr>
              <a:t> and the metrics — </a:t>
            </a:r>
            <a:r>
              <a:rPr sz="1200" b="0" i="0">
                <a:solidFill>
                  <a:srgbClr val="202020"/>
                </a:solidFill>
                <a:latin typeface="Consolas"/>
              </a:rPr>
              <a:t>items_ingested_total</a:t>
            </a:r>
            <a:r>
              <a:rPr sz="1250" b="0" i="0">
                <a:solidFill>
                  <a:srgbClr val="202020"/>
                </a:solidFill>
                <a:latin typeface="Calibri"/>
              </a:rPr>
              <a:t> should climb and </a:t>
            </a:r>
            <a:r>
              <a:rPr sz="1200" b="0" i="0">
                <a:solidFill>
                  <a:srgbClr val="202020"/>
                </a:solidFill>
                <a:latin typeface="Consolas"/>
              </a:rPr>
              <a:t>crawls_completed_total</a:t>
            </a:r>
            <a:r>
              <a:rPr sz="1250" b="0" i="0">
                <a:solidFill>
                  <a:srgbClr val="202020"/>
                </a:solidFill>
                <a:latin typeface="Calibri"/>
              </a:rPr>
              <a:t> should reach 1.</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383</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9.6 Enable webhooks (optional)</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If you are using near-real-time updates, set </a:t>
            </a:r>
            <a:r>
              <a:rPr sz="1200" b="0" i="0">
                <a:solidFill>
                  <a:srgbClr val="202020"/>
                </a:solidFill>
                <a:latin typeface="Consolas"/>
              </a:rPr>
              <a:t>CLARIZEN_WEBHOOK_PORT</a:t>
            </a:r>
            <a:r>
              <a:rPr sz="1250" b="0" i="0">
                <a:solidFill>
                  <a:srgbClr val="202020"/>
                </a:solidFill>
                <a:latin typeface="Calibri"/>
              </a:rPr>
              <a:t> and </a:t>
            </a:r>
            <a:r>
              <a:rPr sz="1200" b="0" i="0">
                <a:solidFill>
                  <a:srgbClr val="202020"/>
                </a:solidFill>
                <a:latin typeface="Consolas"/>
              </a:rPr>
              <a:t>CLARIZEN_WEBHOOK_SECRET</a:t>
            </a:r>
            <a:r>
              <a:rPr sz="1250" b="0" i="0">
                <a:solidFill>
                  <a:srgbClr val="202020"/>
                </a:solidFill>
                <a:latin typeface="Calibri"/>
              </a:rPr>
              <a:t>, put the receiver behind your TLS ingress, and run in </a:t>
            </a:r>
            <a:r>
              <a:rPr sz="1200" b="0" i="0">
                <a:solidFill>
                  <a:srgbClr val="202020"/>
                </a:solidFill>
                <a:latin typeface="Consolas"/>
              </a:rPr>
              <a:t>--continuous</a:t>
            </a:r>
            <a:r>
              <a:rPr sz="1250" b="0" i="0">
                <a:solidFill>
                  <a:srgbClr val="202020"/>
                </a:solidFill>
                <a:latin typeface="Calibri"/>
              </a:rPr>
              <a:t> mode (Section 10). Confirm </a:t>
            </a:r>
            <a:r>
              <a:rPr sz="1200" b="0" i="0">
                <a:solidFill>
                  <a:srgbClr val="202020"/>
                </a:solidFill>
                <a:latin typeface="Consolas"/>
              </a:rPr>
              <a:t>webhook_receiver_up</a:t>
            </a:r>
            <a:r>
              <a:rPr sz="1250" b="0" i="0">
                <a:solidFill>
                  <a:srgbClr val="202020"/>
                </a:solidFill>
                <a:latin typeface="Calibri"/>
              </a:rPr>
              <a:t> is 1 and send a test change in Clarizen; </a:t>
            </a:r>
            <a:r>
              <a:rPr sz="1200" b="0" i="0">
                <a:solidFill>
                  <a:srgbClr val="202020"/>
                </a:solidFill>
                <a:latin typeface="Consolas"/>
              </a:rPr>
              <a:t>webhook_events_accepted_total</a:t>
            </a:r>
            <a:r>
              <a:rPr sz="1250" b="0" i="0">
                <a:solidFill>
                  <a:srgbClr val="202020"/>
                </a:solidFill>
                <a:latin typeface="Calibri"/>
              </a:rPr>
              <a:t> should increment.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384</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9.7 Verify in Copilot with two differently-permissioned users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single most important acceptance test is that access trimming works. Pick </a:t>
            </a:r>
            <a:r>
              <a:rPr sz="1250" b="1" i="0">
                <a:solidFill>
                  <a:srgbClr val="202020"/>
                </a:solidFill>
                <a:latin typeface="Calibri"/>
              </a:rPr>
              <a:t>two</a:t>
            </a:r>
            <a:r>
              <a:rPr sz="1250" b="0" i="0">
                <a:solidFill>
                  <a:srgbClr val="202020"/>
                </a:solidFill>
                <a:latin typeface="Calibri"/>
              </a:rPr>
              <a:t> test users:</a:t>
            </a:r>
          </a:p>
          <a:p>
            <a:pPr>
              <a:spcBef>
                <a:spcPts val="100"/>
              </a:spcBef>
              <a:spcAft>
                <a:spcPts val="200"/>
              </a:spcAft>
            </a:pPr>
            <a:r>
              <a:rPr sz="1250" b="1" i="0">
                <a:solidFill>
                  <a:srgbClr val="2E5496"/>
                </a:solidFill>
                <a:latin typeface="Calibri"/>
              </a:rPr>
              <a:t>1.  </a:t>
            </a:r>
            <a:r>
              <a:rPr sz="1250" b="0" i="0">
                <a:solidFill>
                  <a:srgbClr val="202020"/>
                </a:solidFill>
                <a:latin typeface="Calibri"/>
              </a:rPr>
              <a:t>a user who is a member of a specific project in Clarizen, and</a:t>
            </a:r>
          </a:p>
          <a:p>
            <a:pPr>
              <a:spcBef>
                <a:spcPts val="100"/>
              </a:spcBef>
              <a:spcAft>
                <a:spcPts val="200"/>
              </a:spcAft>
            </a:pPr>
            <a:r>
              <a:rPr sz="1250" b="1" i="0">
                <a:solidFill>
                  <a:srgbClr val="2E5496"/>
                </a:solidFill>
                <a:latin typeface="Calibri"/>
              </a:rPr>
              <a:t>2.  </a:t>
            </a:r>
            <a:r>
              <a:rPr sz="1250" b="0" i="0">
                <a:solidFill>
                  <a:srgbClr val="202020"/>
                </a:solidFill>
                <a:latin typeface="Calibri"/>
              </a:rPr>
              <a:t>a user who is not on that project (and, if you use </a:t>
            </a:r>
            <a:r>
              <a:rPr sz="1200" b="0" i="0">
                <a:solidFill>
                  <a:srgbClr val="202020"/>
                </a:solidFill>
                <a:latin typeface="Consolas"/>
              </a:rPr>
              <a:t>acl</a:t>
            </a:r>
            <a:r>
              <a:rPr sz="1250" b="0" i="0">
                <a:solidFill>
                  <a:srgbClr val="202020"/>
                </a:solidFill>
                <a:latin typeface="Calibri"/>
              </a:rPr>
              <a:t> financial mode, one finance user and one non-finance user).</a:t>
            </a:r>
          </a:p>
          <a:p>
            <a:pPr>
              <a:spcBef>
                <a:spcPts val="100"/>
              </a:spcBef>
              <a:spcAft>
                <a:spcPts val="400"/>
              </a:spcAft>
            </a:pPr>
            <a:r>
              <a:rPr sz="1250" b="0" i="0">
                <a:solidFill>
                  <a:srgbClr val="202020"/>
                </a:solidFill>
                <a:latin typeface="Calibri"/>
              </a:rPr>
              <a:t>In Copilot / Microsoft Search, confirm the project member can find that project's records and the non-member cannot; and, under </a:t>
            </a:r>
            <a:r>
              <a:rPr sz="1200" b="0" i="0">
                <a:solidFill>
                  <a:srgbClr val="202020"/>
                </a:solidFill>
                <a:latin typeface="Consolas"/>
              </a:rPr>
              <a:t>acl</a:t>
            </a:r>
            <a:r>
              <a:rPr sz="1250" b="0" i="0">
                <a:solidFill>
                  <a:srgbClr val="202020"/>
                </a:solidFill>
                <a:latin typeface="Calibri"/>
              </a:rPr>
              <a:t> financial mode, that only the finance user retrieves records carrying financial data. If a non-member sees a record, stop and re-check identity mapping (Section 5.4) before going wider.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385</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9.7 Verify in Copilot with two differently-permissioned users</a:t>
            </a:r>
          </a:p>
        </p:txBody>
      </p:sp>
      <p:sp>
        <p:nvSpPr>
          <p:cNvPr id="5" name="Rectangle 4"/>
          <p:cNvSpPr/>
          <p:nvPr/>
        </p:nvSpPr>
        <p:spPr>
          <a:xfrm>
            <a:off x="502920" y="1463040"/>
            <a:ext cx="11185855" cy="329184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5496"/>
                </a:solidFill>
                <a:latin typeface="Calibri"/>
              </a:rPr>
              <a:t>Note:  </a:t>
            </a:r>
            <a:r>
              <a:rPr sz="1400" b="1" i="0">
                <a:solidFill>
                  <a:srgbClr val="202020"/>
                </a:solidFill>
                <a:latin typeface="Calibri"/>
              </a:rPr>
              <a:t>Note: </a:t>
            </a:r>
            <a:r>
              <a:rPr sz="1400" b="0" i="0">
                <a:solidFill>
                  <a:srgbClr val="202020"/>
                </a:solidFill>
                <a:latin typeface="Calibri"/>
              </a:rPr>
              <a:t>Newly ingested items can take a little time to appear in search while Microsoft indexes them. Give it a few minutes before concluding something is wrong.</a:t>
            </a:r>
          </a:p>
        </p:txBody>
      </p:sp>
      <p:sp>
        <p:nvSpPr>
          <p:cNvPr id="6" name="Rectangle 5"/>
          <p:cNvSpPr/>
          <p:nvPr/>
        </p:nvSpPr>
        <p:spPr>
          <a:xfrm>
            <a:off x="502920" y="1463040"/>
            <a:ext cx="128016" cy="329184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386</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Clarizen Connector</a:t>
            </a:r>
          </a:p>
          <a:p>
            <a:r>
              <a:rPr sz="3000" b="1" i="0">
                <a:solidFill>
                  <a:srgbClr val="1F3864"/>
                </a:solidFill>
                <a:latin typeface="Calibri"/>
              </a:rPr>
              <a:t>10. Running it day to day</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387</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 Running it day to day</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Once deployed as a continuous service, the connector runs itself. Here is what normal operation looks like and the handful of commands you will use.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388</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10.1 Continuous crawls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In </a:t>
            </a:r>
            <a:r>
              <a:rPr sz="1200" b="0" i="0">
                <a:solidFill>
                  <a:srgbClr val="202020"/>
                </a:solidFill>
                <a:latin typeface="Consolas"/>
              </a:rPr>
              <a:t>--continuous</a:t>
            </a:r>
            <a:r>
              <a:rPr sz="1250" b="0" i="0">
                <a:solidFill>
                  <a:srgbClr val="202020"/>
                </a:solidFill>
                <a:latin typeface="Calibri"/>
              </a:rPr>
              <a:t> mode the service runs scheduled </a:t>
            </a:r>
            <a:r>
              <a:rPr sz="1250" b="1" i="0">
                <a:solidFill>
                  <a:srgbClr val="202020"/>
                </a:solidFill>
                <a:latin typeface="Calibri"/>
              </a:rPr>
              <a:t>full</a:t>
            </a:r>
            <a:r>
              <a:rPr sz="1250" b="0" i="0">
                <a:solidFill>
                  <a:srgbClr val="202020"/>
                </a:solidFill>
                <a:latin typeface="Calibri"/>
              </a:rPr>
              <a:t> crawls on </a:t>
            </a:r>
            <a:r>
              <a:rPr sz="1200" b="0" i="0">
                <a:solidFill>
                  <a:srgbClr val="202020"/>
                </a:solidFill>
                <a:latin typeface="Consolas"/>
              </a:rPr>
              <a:t>--full-crawl-hours</a:t>
            </a:r>
            <a:r>
              <a:rPr sz="1250" b="0" i="0">
                <a:solidFill>
                  <a:srgbClr val="202020"/>
                </a:solidFill>
                <a:latin typeface="Calibri"/>
              </a:rPr>
              <a:t> (12-168, default 24) and </a:t>
            </a:r>
            <a:r>
              <a:rPr sz="1250" b="1" i="0">
                <a:solidFill>
                  <a:srgbClr val="202020"/>
                </a:solidFill>
                <a:latin typeface="Calibri"/>
              </a:rPr>
              <a:t>incremental</a:t>
            </a:r>
            <a:r>
              <a:rPr sz="1250" b="0" i="0">
                <a:solidFill>
                  <a:srgbClr val="202020"/>
                </a:solidFill>
                <a:latin typeface="Calibri"/>
              </a:rPr>
              <a:t> crawls on </a:t>
            </a:r>
            <a:r>
              <a:rPr sz="1200" b="0" i="0">
                <a:solidFill>
                  <a:srgbClr val="202020"/>
                </a:solidFill>
                <a:latin typeface="Consolas"/>
              </a:rPr>
              <a:t>--incremental-hours</a:t>
            </a:r>
            <a:r>
              <a:rPr sz="1250" b="0" i="0">
                <a:solidFill>
                  <a:srgbClr val="202020"/>
                </a:solidFill>
                <a:latin typeface="Calibri"/>
              </a:rPr>
              <a:t> (1-168, default 4). The default service command is </a:t>
            </a:r>
            <a:r>
              <a:rPr sz="1200" b="0" i="0">
                <a:solidFill>
                  <a:srgbClr val="202020"/>
                </a:solidFill>
                <a:latin typeface="Consolas"/>
              </a:rPr>
              <a:t>full-deployment --continuous --full-crawl-hours 24 --incremental-hours 4</a:t>
            </a:r>
            <a:r>
              <a:rPr sz="1250" b="0" i="0">
                <a:solidFill>
                  <a:srgbClr val="202020"/>
                </a:solidFill>
                <a:latin typeface="Calibri"/>
              </a:rPr>
              <a:t>. Incremental crawls use the delta cursor; full crawls refresh identity, run the deletion sweep, and refresh the snapshot webhooks use for ACLs. A graceful stop (service stop or Ctrl+C) finishes the in-flight chunk, saves the checkpoint and exits; the next start resumes cleanly.</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389</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10.2 The commands you will actually run</a:t>
            </a:r>
          </a:p>
        </p:txBody>
      </p:sp>
      <p:graphicFrame>
        <p:nvGraphicFramePr>
          <p:cNvPr id="5" name="Table 4"/>
          <p:cNvGraphicFramePr>
            <a:graphicFrameLocks noGrp="1"/>
          </p:cNvGraphicFramePr>
          <p:nvPr/>
        </p:nvGraphicFramePr>
        <p:xfrm>
          <a:off x="502920" y="1188720"/>
          <a:ext cx="11185854" cy="3072384"/>
        </p:xfrm>
        <a:graphic>
          <a:graphicData uri="http://schemas.openxmlformats.org/drawingml/2006/table">
            <a:tbl>
              <a:tblPr firstRow="1" bandRow="1">
                <a:tableStyleId>{5C22544A-7EE6-4342-B048-85BDC9FD1C3A}</a:tableStyleId>
              </a:tblPr>
              <a:tblGrid>
                <a:gridCol w="3803190"/>
                <a:gridCol w="7382664"/>
              </a:tblGrid>
              <a:tr h="384048">
                <a:tc>
                  <a:txBody>
                    <a:bodyPr wrap="square"/>
                    <a:lstStyle/>
                    <a:p>
                      <a:r>
                        <a:rPr sz="1050" b="1" i="0">
                          <a:solidFill>
                            <a:srgbClr val="FFFFFF"/>
                          </a:solidFill>
                          <a:latin typeface="Calibri"/>
                        </a:rPr>
                        <a:t>Command</a:t>
                      </a:r>
                    </a:p>
                  </a:txBody>
                  <a:tcPr marT="25400" marB="25400">
                    <a:solidFill>
                      <a:srgbClr val="2E5496"/>
                    </a:solidFill>
                  </a:tcPr>
                </a:tc>
                <a:tc>
                  <a:txBody>
                    <a:bodyPr wrap="square"/>
                    <a:lstStyle/>
                    <a:p>
                      <a:r>
                        <a:rPr sz="1050" b="1" i="0">
                          <a:solidFill>
                            <a:srgbClr val="FFFFFF"/>
                          </a:solidFill>
                          <a:latin typeface="Calibri"/>
                        </a:rPr>
                        <a:t>When you run it</a:t>
                      </a:r>
                    </a:p>
                  </a:txBody>
                  <a:tcPr marT="25400" marB="25400">
                    <a:solidFill>
                      <a:srgbClr val="2E5496"/>
                    </a:solidFill>
                  </a:tcPr>
                </a:tc>
              </a:tr>
              <a:tr h="384048">
                <a:tc>
                  <a:txBody>
                    <a:bodyPr wrap="square"/>
                    <a:lstStyle/>
                    <a:p>
                      <a:r>
                        <a:rPr sz="950" b="0" i="0">
                          <a:solidFill>
                            <a:srgbClr val="202020"/>
                          </a:solidFill>
                          <a:latin typeface="Calibri"/>
                        </a:rPr>
                        <a:t>ingest --verbose</a:t>
                      </a:r>
                    </a:p>
                  </a:txBody>
                  <a:tcPr marT="12700" marB="12700">
                    <a:solidFill>
                      <a:srgbClr val="FFFFFF"/>
                    </a:solidFill>
                  </a:tcPr>
                </a:tc>
                <a:tc>
                  <a:txBody>
                    <a:bodyPr wrap="square"/>
                    <a:lstStyle/>
                    <a:p>
                      <a:r>
                        <a:rPr sz="950" b="0" i="0">
                          <a:solidFill>
                            <a:srgbClr val="202020"/>
                          </a:solidFill>
                          <a:latin typeface="Calibri"/>
                        </a:rPr>
                        <a:t>Kick a one-off content crawl (connection &amp; schema already exist).</a:t>
                      </a:r>
                    </a:p>
                  </a:txBody>
                  <a:tcPr marT="12700" marB="12700">
                    <a:solidFill>
                      <a:srgbClr val="FFFFFF"/>
                    </a:solidFill>
                  </a:tcPr>
                </a:tc>
              </a:tr>
              <a:tr h="384048">
                <a:tc>
                  <a:txBody>
                    <a:bodyPr wrap="square"/>
                    <a:lstStyle/>
                    <a:p>
                      <a:r>
                        <a:rPr sz="950" b="0" i="0">
                          <a:solidFill>
                            <a:srgbClr val="202020"/>
                          </a:solidFill>
                          <a:latin typeface="Calibri"/>
                        </a:rPr>
                        <a:t>ingest-object --type Project</a:t>
                      </a:r>
                    </a:p>
                  </a:txBody>
                  <a:tcPr marT="12700" marB="12700">
                    <a:solidFill>
                      <a:srgbClr val="F7F9FC"/>
                    </a:solidFill>
                  </a:tcPr>
                </a:tc>
                <a:tc>
                  <a:txBody>
                    <a:bodyPr wrap="square"/>
                    <a:lstStyle/>
                    <a:p>
                      <a:r>
                        <a:rPr sz="950" b="0" i="0">
                          <a:solidFill>
                            <a:srgbClr val="202020"/>
                          </a:solidFill>
                          <a:latin typeface="Calibri"/>
                        </a:rPr>
                        <a:t>Re-crawl a single object type, e.g. after a schema tweak.</a:t>
                      </a:r>
                    </a:p>
                  </a:txBody>
                  <a:tcPr marT="12700" marB="12700">
                    <a:solidFill>
                      <a:srgbClr val="F7F9FC"/>
                    </a:solidFill>
                  </a:tcPr>
                </a:tc>
              </a:tr>
              <a:tr h="384048">
                <a:tc>
                  <a:txBody>
                    <a:bodyPr wrap="square"/>
                    <a:lstStyle/>
                    <a:p>
                      <a:r>
                        <a:rPr sz="950" b="0" i="0">
                          <a:solidFill>
                            <a:srgbClr val="202020"/>
                          </a:solidFill>
                          <a:latin typeface="Calibri"/>
                        </a:rPr>
                        <a:t>ingest-item --id /Task/1234567</a:t>
                      </a:r>
                    </a:p>
                  </a:txBody>
                  <a:tcPr marT="12700" marB="12700">
                    <a:solidFill>
                      <a:srgbClr val="FFFFFF"/>
                    </a:solidFill>
                  </a:tcPr>
                </a:tc>
                <a:tc>
                  <a:txBody>
                    <a:bodyPr wrap="square"/>
                    <a:lstStyle/>
                    <a:p>
                      <a:r>
                        <a:rPr sz="950" b="0" i="0">
                          <a:solidFill>
                            <a:srgbClr val="202020"/>
                          </a:solidFill>
                          <a:latin typeface="Calibri"/>
                        </a:rPr>
                        <a:t>Re-ingest one record on demand.</a:t>
                      </a:r>
                    </a:p>
                  </a:txBody>
                  <a:tcPr marT="12700" marB="12700">
                    <a:solidFill>
                      <a:srgbClr val="FFFFFF"/>
                    </a:solidFill>
                  </a:tcPr>
                </a:tc>
              </a:tr>
              <a:tr h="384048">
                <a:tc>
                  <a:txBody>
                    <a:bodyPr wrap="square"/>
                    <a:lstStyle/>
                    <a:p>
                      <a:r>
                        <a:rPr sz="950" b="0" i="0">
                          <a:solidFill>
                            <a:srgbClr val="202020"/>
                          </a:solidFill>
                          <a:latin typeface="Calibri"/>
                        </a:rPr>
                        <a:t>reconcile</a:t>
                      </a:r>
                    </a:p>
                  </a:txBody>
                  <a:tcPr marT="12700" marB="12700">
                    <a:solidFill>
                      <a:srgbClr val="F7F9FC"/>
                    </a:solidFill>
                  </a:tcPr>
                </a:tc>
                <a:tc>
                  <a:txBody>
                    <a:bodyPr wrap="square"/>
                    <a:lstStyle/>
                    <a:p>
                      <a:r>
                        <a:rPr sz="950" b="0" i="0">
                          <a:solidFill>
                            <a:srgbClr val="202020"/>
                          </a:solidFill>
                          <a:latin typeface="Calibri"/>
                        </a:rPr>
                        <a:t>Report index-vs-source drift; exit code 1 if any drift (good for a monitoring cron).</a:t>
                      </a:r>
                    </a:p>
                  </a:txBody>
                  <a:tcPr marT="12700" marB="12700">
                    <a:solidFill>
                      <a:srgbClr val="F7F9FC"/>
                    </a:solidFill>
                  </a:tcPr>
                </a:tc>
              </a:tr>
              <a:tr h="384048">
                <a:tc>
                  <a:txBody>
                    <a:bodyPr wrap="square"/>
                    <a:lstStyle/>
                    <a:p>
                      <a:r>
                        <a:rPr sz="950" b="0" i="0">
                          <a:solidFill>
                            <a:srgbClr val="202020"/>
                          </a:solidFill>
                          <a:latin typeface="Calibri"/>
                        </a:rPr>
                        <a:t>reconcile --type Project --fix</a:t>
                      </a:r>
                    </a:p>
                  </a:txBody>
                  <a:tcPr marT="12700" marB="12700">
                    <a:solidFill>
                      <a:srgbClr val="FFFFFF"/>
                    </a:solidFill>
                  </a:tcPr>
                </a:tc>
                <a:tc>
                  <a:txBody>
                    <a:bodyPr wrap="square"/>
                    <a:lstStyle/>
                    <a:p>
                      <a:r>
                        <a:rPr sz="950" b="0" i="0">
                          <a:solidFill>
                            <a:srgbClr val="202020"/>
                          </a:solidFill>
                          <a:latin typeface="Calibri"/>
                        </a:rPr>
                        <a:t>Delete stale items for one object type (bypasses the mass-deletion guards).</a:t>
                      </a:r>
                    </a:p>
                  </a:txBody>
                  <a:tcPr marT="12700" marB="12700">
                    <a:solidFill>
                      <a:srgbClr val="FFFFFF"/>
                    </a:solidFill>
                  </a:tcPr>
                </a:tc>
              </a:tr>
              <a:tr h="384048">
                <a:tc>
                  <a:txBody>
                    <a:bodyPr wrap="square"/>
                    <a:lstStyle/>
                    <a:p>
                      <a:r>
                        <a:rPr sz="950" b="0" i="0">
                          <a:solidFill>
                            <a:srgbClr val="202020"/>
                          </a:solidFill>
                          <a:latin typeface="Calibri"/>
                        </a:rPr>
                        <a:t>retry-failed --clear-on-success</a:t>
                      </a:r>
                    </a:p>
                  </a:txBody>
                  <a:tcPr marT="12700" marB="12700">
                    <a:solidFill>
                      <a:srgbClr val="F7F9FC"/>
                    </a:solidFill>
                  </a:tcPr>
                </a:tc>
                <a:tc>
                  <a:txBody>
                    <a:bodyPr wrap="square"/>
                    <a:lstStyle/>
                    <a:p>
                      <a:r>
                        <a:rPr sz="950" b="0" i="0">
                          <a:solidFill>
                            <a:srgbClr val="202020"/>
                          </a:solidFill>
                          <a:latin typeface="Calibri"/>
                        </a:rPr>
                        <a:t>Re-ingest dead-lettered records after you have fixed the cause.</a:t>
                      </a:r>
                    </a:p>
                  </a:txBody>
                  <a:tcPr marT="12700" marB="12700">
                    <a:solidFill>
                      <a:srgbClr val="F7F9FC"/>
                    </a:solidFill>
                  </a:tcPr>
                </a:tc>
              </a:tr>
              <a:tr h="384048">
                <a:tc>
                  <a:txBody>
                    <a:bodyPr wrap="square"/>
                    <a:lstStyle/>
                    <a:p>
                      <a:r>
                        <a:rPr sz="950" b="0" i="0">
                          <a:solidFill>
                            <a:srgbClr val="202020"/>
                          </a:solidFill>
                          <a:latin typeface="Calibri"/>
                        </a:rPr>
                        <a:t>validate-config --strict</a:t>
                      </a:r>
                    </a:p>
                  </a:txBody>
                  <a:tcPr marT="12700" marB="12700">
                    <a:solidFill>
                      <a:srgbClr val="FFFFFF"/>
                    </a:solidFill>
                  </a:tcPr>
                </a:tc>
                <a:tc>
                  <a:txBody>
                    <a:bodyPr wrap="square"/>
                    <a:lstStyle/>
                    <a:p>
                      <a:r>
                        <a:rPr sz="950" b="0" i="0">
                          <a:solidFill>
                            <a:srgbClr val="202020"/>
                          </a:solidFill>
                          <a:latin typeface="Calibri"/>
                        </a:rPr>
                        <a:t>Prove config + connectivity before restarting after any change.</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390</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10.3 Reconciling and retrying</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Run </a:t>
            </a:r>
            <a:r>
              <a:rPr sz="1200" b="0" i="0">
                <a:solidFill>
                  <a:srgbClr val="202020"/>
                </a:solidFill>
                <a:latin typeface="Consolas"/>
              </a:rPr>
              <a:t>reconcile</a:t>
            </a:r>
            <a:r>
              <a:rPr sz="1250" b="0" i="0">
                <a:solidFill>
                  <a:srgbClr val="202020"/>
                </a:solidFill>
                <a:latin typeface="Calibri"/>
              </a:rPr>
              <a:t> on a schedule to catch drift between Clarizen and the index. It reports </a:t>
            </a:r>
            <a:r>
              <a:rPr sz="1250" b="1" i="0">
                <a:solidFill>
                  <a:srgbClr val="202020"/>
                </a:solidFill>
                <a:latin typeface="Calibri"/>
              </a:rPr>
              <a:t>MISSING</a:t>
            </a:r>
            <a:r>
              <a:rPr sz="1250" b="0" i="0">
                <a:solidFill>
                  <a:srgbClr val="202020"/>
                </a:solidFill>
                <a:latin typeface="Calibri"/>
              </a:rPr>
              <a:t> items (in Clarizen, not indexed — the next crawl or </a:t>
            </a:r>
            <a:r>
              <a:rPr sz="1200" b="0" i="0">
                <a:solidFill>
                  <a:srgbClr val="202020"/>
                </a:solidFill>
                <a:latin typeface="Consolas"/>
              </a:rPr>
              <a:t>retry-failed</a:t>
            </a:r>
            <a:r>
              <a:rPr sz="1250" b="0" i="0">
                <a:solidFill>
                  <a:srgbClr val="202020"/>
                </a:solidFill>
                <a:latin typeface="Calibri"/>
              </a:rPr>
              <a:t> picks them up) and </a:t>
            </a:r>
            <a:r>
              <a:rPr sz="1250" b="1" i="0">
                <a:solidFill>
                  <a:srgbClr val="202020"/>
                </a:solidFill>
                <a:latin typeface="Calibri"/>
              </a:rPr>
              <a:t>STALE</a:t>
            </a:r>
            <a:r>
              <a:rPr sz="1250" b="0" i="0">
                <a:solidFill>
                  <a:srgbClr val="202020"/>
                </a:solidFill>
                <a:latin typeface="Calibri"/>
              </a:rPr>
              <a:t> items (indexed, gone from Clarizen — removed with </a:t>
            </a:r>
            <a:r>
              <a:rPr sz="1200" b="0" i="0">
                <a:solidFill>
                  <a:srgbClr val="202020"/>
                </a:solidFill>
                <a:latin typeface="Consolas"/>
              </a:rPr>
              <a:t>--fix</a:t>
            </a:r>
            <a:r>
              <a:rPr sz="1250" b="0" i="0">
                <a:solidFill>
                  <a:srgbClr val="202020"/>
                </a:solidFill>
                <a:latin typeface="Calibri"/>
              </a:rPr>
              <a:t>). When records fail to ingest they land in the dead-letter queue; fix the root cause, then run </a:t>
            </a:r>
            <a:r>
              <a:rPr sz="1200" b="0" i="0">
                <a:solidFill>
                  <a:srgbClr val="202020"/>
                </a:solidFill>
                <a:latin typeface="Consolas"/>
              </a:rPr>
              <a:t>retry-failed --clear-on-success</a:t>
            </a:r>
            <a:r>
              <a:rPr sz="1250" b="0" i="0">
                <a:solidFill>
                  <a:srgbClr val="202020"/>
                </a:solidFill>
                <a:latin typeface="Calibri"/>
              </a:rPr>
              <a:t>, which re-fetches each record fresh from Clarizen.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391</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10.4 Changing the financial mode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To change </a:t>
            </a:r>
            <a:r>
              <a:rPr sz="1200" b="0" i="0">
                <a:solidFill>
                  <a:srgbClr val="202020"/>
                </a:solidFill>
                <a:latin typeface="Consolas"/>
              </a:rPr>
              <a:t>FINANCIAL_DATA_MODE</a:t>
            </a:r>
            <a:r>
              <a:rPr sz="1250" b="0" i="0">
                <a:solidFill>
                  <a:srgbClr val="202020"/>
                </a:solidFill>
                <a:latin typeface="Calibri"/>
              </a:rPr>
              <a:t>, update the setting, run </a:t>
            </a:r>
            <a:r>
              <a:rPr sz="1200" b="0" i="0">
                <a:solidFill>
                  <a:srgbClr val="202020"/>
                </a:solidFill>
                <a:latin typeface="Consolas"/>
              </a:rPr>
              <a:t>validate-config</a:t>
            </a:r>
            <a:r>
              <a:rPr sz="1250" b="0" i="0">
                <a:solidFill>
                  <a:srgbClr val="202020"/>
                </a:solidFill>
                <a:latin typeface="Calibri"/>
              </a:rPr>
              <a:t> (especially to confirm </a:t>
            </a:r>
            <a:r>
              <a:rPr sz="1200" b="0" i="0">
                <a:solidFill>
                  <a:srgbClr val="202020"/>
                </a:solidFill>
                <a:latin typeface="Consolas"/>
              </a:rPr>
              <a:t>FINANCIAL_DATA_GROUP_ID</a:t>
            </a:r>
            <a:r>
              <a:rPr sz="1250" b="0" i="0">
                <a:solidFill>
                  <a:srgbClr val="202020"/>
                </a:solidFill>
                <a:latin typeface="Calibri"/>
              </a:rPr>
              <a:t> when moving to </a:t>
            </a:r>
            <a:r>
              <a:rPr sz="1200" b="0" i="0">
                <a:solidFill>
                  <a:srgbClr val="202020"/>
                </a:solidFill>
                <a:latin typeface="Consolas"/>
              </a:rPr>
              <a:t>acl</a:t>
            </a:r>
            <a:r>
              <a:rPr sz="1250" b="0" i="0">
                <a:solidFill>
                  <a:srgbClr val="202020"/>
                </a:solidFill>
                <a:latin typeface="Calibri"/>
              </a:rPr>
              <a:t>), then run a </a:t>
            </a:r>
            <a:r>
              <a:rPr sz="1250" b="1" i="0">
                <a:solidFill>
                  <a:srgbClr val="202020"/>
                </a:solidFill>
                <a:latin typeface="Calibri"/>
              </a:rPr>
              <a:t>full</a:t>
            </a:r>
            <a:r>
              <a:rPr sz="1250" b="0" i="0">
                <a:solidFill>
                  <a:srgbClr val="202020"/>
                </a:solidFill>
                <a:latin typeface="Calibri"/>
              </a:rPr>
              <a:t> crawl. Items are re-written idempotently with the corrected properties and ACLs — no need to delete and recreate the connection.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392</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10.4 Changing the financial mode</a:t>
            </a:r>
          </a:p>
        </p:txBody>
      </p:sp>
      <p:sp>
        <p:nvSpPr>
          <p:cNvPr id="5" name="Rectangle 4"/>
          <p:cNvSpPr/>
          <p:nvPr/>
        </p:nvSpPr>
        <p:spPr>
          <a:xfrm>
            <a:off x="502920" y="1463040"/>
            <a:ext cx="11185855" cy="3291840"/>
          </a:xfrm>
          <a:prstGeom prst="rect">
            <a:avLst/>
          </a:prstGeom>
          <a:solidFill>
            <a:srgbClr val="E7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7D32"/>
                </a:solidFill>
                <a:latin typeface="Calibri"/>
              </a:rPr>
              <a:t>Tip:  </a:t>
            </a:r>
            <a:r>
              <a:rPr sz="1400" b="1" i="0">
                <a:solidFill>
                  <a:srgbClr val="202020"/>
                </a:solidFill>
                <a:latin typeface="Calibri"/>
              </a:rPr>
              <a:t>Tip: </a:t>
            </a:r>
            <a:r>
              <a:rPr sz="1400" b="0" i="0">
                <a:solidFill>
                  <a:srgbClr val="202020"/>
                </a:solidFill>
                <a:latin typeface="Calibri"/>
              </a:rPr>
              <a:t>Tightening governance (for example </a:t>
            </a:r>
            <a:r>
              <a:rPr sz="1350" b="0" i="0">
                <a:solidFill>
                  <a:srgbClr val="202020"/>
                </a:solidFill>
                <a:latin typeface="Consolas"/>
              </a:rPr>
              <a:t>tag</a:t>
            </a:r>
            <a:r>
              <a:rPr sz="1400" b="0" i="0">
                <a:solidFill>
                  <a:srgbClr val="202020"/>
                </a:solidFill>
                <a:latin typeface="Calibri"/>
              </a:rPr>
              <a:t> to </a:t>
            </a:r>
            <a:r>
              <a:rPr sz="1350" b="0" i="0">
                <a:solidFill>
                  <a:srgbClr val="202020"/>
                </a:solidFill>
                <a:latin typeface="Consolas"/>
              </a:rPr>
              <a:t>acl</a:t>
            </a:r>
            <a:r>
              <a:rPr sz="1400" b="0" i="0">
                <a:solidFill>
                  <a:srgbClr val="202020"/>
                </a:solidFill>
                <a:latin typeface="Calibri"/>
              </a:rPr>
              <a:t>) only takes full effect once every affected item has been re-crawled. Run a full crawl promptly after the change rather than waiting for the scheduled one.</a:t>
            </a:r>
          </a:p>
        </p:txBody>
      </p:sp>
      <p:sp>
        <p:nvSpPr>
          <p:cNvPr id="6" name="Rectangle 5"/>
          <p:cNvSpPr/>
          <p:nvPr/>
        </p:nvSpPr>
        <p:spPr>
          <a:xfrm>
            <a:off x="502920" y="1463040"/>
            <a:ext cx="128016" cy="32918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393</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Clarizen Connector</a:t>
            </a:r>
          </a:p>
          <a:p>
            <a:r>
              <a:rPr sz="3000" b="1" i="0">
                <a:solidFill>
                  <a:srgbClr val="1F3864"/>
                </a:solidFill>
                <a:latin typeface="Calibri"/>
              </a:rPr>
              <a:t>11. Monitoring this connector</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394</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 Monitoring this connector</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Set </a:t>
            </a:r>
            <a:r>
              <a:rPr sz="1200" b="0" i="0">
                <a:solidFill>
                  <a:srgbClr val="202020"/>
                </a:solidFill>
                <a:latin typeface="Consolas"/>
              </a:rPr>
              <a:t>HEALTH_PORT</a:t>
            </a:r>
            <a:r>
              <a:rPr sz="1250" b="0" i="0">
                <a:solidFill>
                  <a:srgbClr val="202020"/>
                </a:solidFill>
                <a:latin typeface="Calibri"/>
              </a:rPr>
              <a:t> and the connector serves health, readiness and Prometheus metrics on a background thread. Ready-made Grafana, Prometheus and Azure Monitor assets ship in the repository's </a:t>
            </a:r>
            <a:r>
              <a:rPr sz="1200" b="0" i="0">
                <a:solidFill>
                  <a:srgbClr val="202020"/>
                </a:solidFill>
                <a:latin typeface="Consolas"/>
              </a:rPr>
              <a:t>ops/</a:t>
            </a:r>
            <a:r>
              <a:rPr sz="1250" b="0" i="0">
                <a:solidFill>
                  <a:srgbClr val="202020"/>
                </a:solidFill>
                <a:latin typeface="Calibri"/>
              </a:rPr>
              <a:t> directory.</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395</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11.1 Health endpoints</a:t>
            </a:r>
          </a:p>
        </p:txBody>
      </p:sp>
      <p:graphicFrame>
        <p:nvGraphicFramePr>
          <p:cNvPr id="5" name="Table 4"/>
          <p:cNvGraphicFramePr>
            <a:graphicFrameLocks noGrp="1"/>
          </p:cNvGraphicFramePr>
          <p:nvPr/>
        </p:nvGraphicFramePr>
        <p:xfrm>
          <a:off x="502920" y="1188720"/>
          <a:ext cx="11185854" cy="1536192"/>
        </p:xfrm>
        <a:graphic>
          <a:graphicData uri="http://schemas.openxmlformats.org/drawingml/2006/table">
            <a:tbl>
              <a:tblPr firstRow="1" bandRow="1">
                <a:tableStyleId>{5C22544A-7EE6-4342-B048-85BDC9FD1C3A}</a:tableStyleId>
              </a:tblPr>
              <a:tblGrid>
                <a:gridCol w="3803190"/>
                <a:gridCol w="7382664"/>
              </a:tblGrid>
              <a:tr h="384048">
                <a:tc>
                  <a:txBody>
                    <a:bodyPr wrap="square"/>
                    <a:lstStyle/>
                    <a:p>
                      <a:r>
                        <a:rPr sz="1050" b="1" i="0">
                          <a:solidFill>
                            <a:srgbClr val="FFFFFF"/>
                          </a:solidFill>
                          <a:latin typeface="Calibri"/>
                        </a:rPr>
                        <a:t>Route</a:t>
                      </a:r>
                    </a:p>
                  </a:txBody>
                  <a:tcPr marT="25400" marB="25400">
                    <a:solidFill>
                      <a:srgbClr val="2E5496"/>
                    </a:solidFill>
                  </a:tcPr>
                </a:tc>
                <a:tc>
                  <a:txBody>
                    <a:bodyPr wrap="square"/>
                    <a:lstStyle/>
                    <a:p>
                      <a:r>
                        <a:rPr sz="1050" b="1" i="0">
                          <a:solidFill>
                            <a:srgbClr val="FFFFFF"/>
                          </a:solidFill>
                          <a:latin typeface="Calibri"/>
                        </a:rPr>
                        <a:t>Response and meaning</a:t>
                      </a:r>
                    </a:p>
                  </a:txBody>
                  <a:tcPr marT="25400" marB="25400">
                    <a:solidFill>
                      <a:srgbClr val="2E5496"/>
                    </a:solidFill>
                  </a:tcPr>
                </a:tc>
              </a:tr>
              <a:tr h="384048">
                <a:tc>
                  <a:txBody>
                    <a:bodyPr wrap="square"/>
                    <a:lstStyle/>
                    <a:p>
                      <a:r>
                        <a:rPr sz="950" b="0" i="0">
                          <a:solidFill>
                            <a:srgbClr val="202020"/>
                          </a:solidFill>
                          <a:latin typeface="Calibri"/>
                        </a:rPr>
                        <a:t>GET /health</a:t>
                      </a:r>
                    </a:p>
                  </a:txBody>
                  <a:tcPr marT="12700" marB="12700">
                    <a:solidFill>
                      <a:srgbClr val="FFFFFF"/>
                    </a:solidFill>
                  </a:tcPr>
                </a:tc>
                <a:tc>
                  <a:txBody>
                    <a:bodyPr wrap="square"/>
                    <a:lstStyle/>
                    <a:p>
                      <a:r>
                        <a:rPr sz="950" b="0" i="0">
                          <a:solidFill>
                            <a:srgbClr val="202020"/>
                          </a:solidFill>
                          <a:latin typeface="Calibri"/>
                        </a:rPr>
                        <a:t>200 OK — liveness. Stays 200 even in degraded mode, so an orchestrator does not kill a connector that is merely waiting out a dependency outage.</a:t>
                      </a:r>
                    </a:p>
                  </a:txBody>
                  <a:tcPr marT="12700" marB="12700">
                    <a:solidFill>
                      <a:srgbClr val="FFFFFF"/>
                    </a:solidFill>
                  </a:tcPr>
                </a:tc>
              </a:tr>
              <a:tr h="384048">
                <a:tc>
                  <a:txBody>
                    <a:bodyPr wrap="square"/>
                    <a:lstStyle/>
                    <a:p>
                      <a:r>
                        <a:rPr sz="950" b="0" i="0">
                          <a:solidFill>
                            <a:srgbClr val="202020"/>
                          </a:solidFill>
                          <a:latin typeface="Calibri"/>
                        </a:rPr>
                        <a:t>GET /ready</a:t>
                      </a:r>
                    </a:p>
                  </a:txBody>
                  <a:tcPr marT="12700" marB="12700">
                    <a:solidFill>
                      <a:srgbClr val="F7F9FC"/>
                    </a:solidFill>
                  </a:tcPr>
                </a:tc>
                <a:tc>
                  <a:txBody>
                    <a:bodyPr wrap="square"/>
                    <a:lstStyle/>
                    <a:p>
                      <a:r>
                        <a:rPr sz="950" b="0" i="0">
                          <a:solidFill>
                            <a:srgbClr val="202020"/>
                          </a:solidFill>
                          <a:latin typeface="Calibri"/>
                        </a:rPr>
                        <a:t>200 READY normally; 503 DEGRADED while a critical circuit breaker is open (names the dependency).</a:t>
                      </a:r>
                    </a:p>
                  </a:txBody>
                  <a:tcPr marT="12700" marB="12700">
                    <a:solidFill>
                      <a:srgbClr val="F7F9FC"/>
                    </a:solidFill>
                  </a:tcPr>
                </a:tc>
              </a:tr>
              <a:tr h="384048">
                <a:tc>
                  <a:txBody>
                    <a:bodyPr wrap="square"/>
                    <a:lstStyle/>
                    <a:p>
                      <a:r>
                        <a:rPr sz="950" b="0" i="0">
                          <a:solidFill>
                            <a:srgbClr val="202020"/>
                          </a:solidFill>
                          <a:latin typeface="Calibri"/>
                        </a:rPr>
                        <a:t>GET /metrics</a:t>
                      </a:r>
                    </a:p>
                  </a:txBody>
                  <a:tcPr marT="12700" marB="12700">
                    <a:solidFill>
                      <a:srgbClr val="FFFFFF"/>
                    </a:solidFill>
                  </a:tcPr>
                </a:tc>
                <a:tc>
                  <a:txBody>
                    <a:bodyPr wrap="square"/>
                    <a:lstStyle/>
                    <a:p>
                      <a:r>
                        <a:rPr sz="950" b="0" i="0">
                          <a:solidFill>
                            <a:srgbClr val="202020"/>
                          </a:solidFill>
                          <a:latin typeface="Calibri"/>
                        </a:rPr>
                        <a:t>Prometheus text exposition, including the live dead-letter depth.</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396</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11.2 Metrics that matter</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All metrics are prefixed </a:t>
            </a:r>
            <a:r>
              <a:rPr sz="1200" b="0" i="0">
                <a:solidFill>
                  <a:srgbClr val="202020"/>
                </a:solidFill>
                <a:latin typeface="Consolas"/>
              </a:rPr>
              <a:t>clarizen_connector_</a:t>
            </a:r>
            <a:r>
              <a:rPr sz="1250" b="0" i="0">
                <a:solidFill>
                  <a:srgbClr val="202020"/>
                </a:solidFill>
                <a:latin typeface="Calibri"/>
              </a:rPr>
              <a:t>. The ones to watch:</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397</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11.2 Metrics that matter</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Metric</a:t>
                      </a:r>
                    </a:p>
                  </a:txBody>
                  <a:tcPr marT="25400" marB="25400">
                    <a:solidFill>
                      <a:srgbClr val="2E5496"/>
                    </a:solidFill>
                  </a:tcPr>
                </a:tc>
                <a:tc>
                  <a:txBody>
                    <a:bodyPr wrap="square"/>
                    <a:lstStyle/>
                    <a:p>
                      <a:r>
                        <a:rPr sz="1050" b="1" i="0">
                          <a:solidFill>
                            <a:srgbClr val="FFFFFF"/>
                          </a:solidFill>
                          <a:latin typeface="Calibri"/>
                        </a:rPr>
                        <a:t>Type</a:t>
                      </a:r>
                    </a:p>
                  </a:txBody>
                  <a:tcPr marT="25400" marB="25400">
                    <a:solidFill>
                      <a:srgbClr val="2E5496"/>
                    </a:solidFill>
                  </a:tcPr>
                </a:tc>
                <a:tc>
                  <a:txBody>
                    <a:bodyPr wrap="square"/>
                    <a:lstStyle/>
                    <a:p>
                      <a:r>
                        <a:rPr sz="1050" b="1" i="0">
                          <a:solidFill>
                            <a:srgbClr val="FFFFFF"/>
                          </a:solidFill>
                          <a:latin typeface="Calibri"/>
                        </a:rPr>
                        <a:t>What it tells you</a:t>
                      </a:r>
                    </a:p>
                  </a:txBody>
                  <a:tcPr marT="25400" marB="25400">
                    <a:solidFill>
                      <a:srgbClr val="2E5496"/>
                    </a:solidFill>
                  </a:tcPr>
                </a:tc>
              </a:tr>
              <a:tr h="384048">
                <a:tc>
                  <a:txBody>
                    <a:bodyPr wrap="square"/>
                    <a:lstStyle/>
                    <a:p>
                      <a:r>
                        <a:rPr sz="950" b="0" i="0">
                          <a:solidFill>
                            <a:srgbClr val="202020"/>
                          </a:solidFill>
                          <a:latin typeface="Calibri"/>
                        </a:rPr>
                        <a:t>items_ingested_total</a:t>
                      </a:r>
                    </a:p>
                  </a:txBody>
                  <a:tcPr marT="12700" marB="12700">
                    <a:solidFill>
                      <a:srgbClr val="FFFFFF"/>
                    </a:solidFill>
                  </a:tcPr>
                </a:tc>
                <a:tc>
                  <a:txBody>
                    <a:bodyPr wrap="square"/>
                    <a:lstStyle/>
                    <a:p>
                      <a:r>
                        <a:rPr sz="950" b="0" i="0">
                          <a:solidFill>
                            <a:srgbClr val="202020"/>
                          </a:solidFill>
                          <a:latin typeface="Calibri"/>
                        </a:rPr>
                        <a:t>counter</a:t>
                      </a:r>
                    </a:p>
                  </a:txBody>
                  <a:tcPr marT="12700" marB="12700">
                    <a:solidFill>
                      <a:srgbClr val="FFFFFF"/>
                    </a:solidFill>
                  </a:tcPr>
                </a:tc>
                <a:tc>
                  <a:txBody>
                    <a:bodyPr wrap="square"/>
                    <a:lstStyle/>
                    <a:p>
                      <a:r>
                        <a:rPr sz="950" b="0" i="0">
                          <a:solidFill>
                            <a:srgbClr val="202020"/>
                          </a:solidFill>
                          <a:latin typeface="Calibri"/>
                        </a:rPr>
                        <a:t>External items successfully written. Should climb during a crawl.</a:t>
                      </a:r>
                    </a:p>
                  </a:txBody>
                  <a:tcPr marT="12700" marB="12700">
                    <a:solidFill>
                      <a:srgbClr val="FFFFFF"/>
                    </a:solidFill>
                  </a:tcPr>
                </a:tc>
              </a:tr>
              <a:tr h="384048">
                <a:tc>
                  <a:txBody>
                    <a:bodyPr wrap="square"/>
                    <a:lstStyle/>
                    <a:p>
                      <a:r>
                        <a:rPr sz="950" b="0" i="0">
                          <a:solidFill>
                            <a:srgbClr val="202020"/>
                          </a:solidFill>
                          <a:latin typeface="Calibri"/>
                        </a:rPr>
                        <a:t>items_failed_total</a:t>
                      </a:r>
                    </a:p>
                  </a:txBody>
                  <a:tcPr marT="12700" marB="12700">
                    <a:solidFill>
                      <a:srgbClr val="F7F9FC"/>
                    </a:solidFill>
                  </a:tcPr>
                </a:tc>
                <a:tc>
                  <a:txBody>
                    <a:bodyPr wrap="square"/>
                    <a:lstStyle/>
                    <a:p>
                      <a:r>
                        <a:rPr sz="950" b="0" i="0">
                          <a:solidFill>
                            <a:srgbClr val="202020"/>
                          </a:solidFill>
                          <a:latin typeface="Calibri"/>
                        </a:rPr>
                        <a:t>counter</a:t>
                      </a:r>
                    </a:p>
                  </a:txBody>
                  <a:tcPr marT="12700" marB="12700">
                    <a:solidFill>
                      <a:srgbClr val="F7F9FC"/>
                    </a:solidFill>
                  </a:tcPr>
                </a:tc>
                <a:tc>
                  <a:txBody>
                    <a:bodyPr wrap="square"/>
                    <a:lstStyle/>
                    <a:p>
                      <a:r>
                        <a:rPr sz="950" b="0" i="0">
                          <a:solidFill>
                            <a:srgbClr val="202020"/>
                          </a:solidFill>
                          <a:latin typeface="Calibri"/>
                        </a:rPr>
                        <a:t>Items that failed and were dead-lettered.</a:t>
                      </a:r>
                    </a:p>
                  </a:txBody>
                  <a:tcPr marT="12700" marB="12700">
                    <a:solidFill>
                      <a:srgbClr val="F7F9FC"/>
                    </a:solidFill>
                  </a:tcPr>
                </a:tc>
              </a:tr>
              <a:tr h="384048">
                <a:tc>
                  <a:txBody>
                    <a:bodyPr wrap="square"/>
                    <a:lstStyle/>
                    <a:p>
                      <a:r>
                        <a:rPr sz="950" b="0" i="0">
                          <a:solidFill>
                            <a:srgbClr val="202020"/>
                          </a:solidFill>
                          <a:latin typeface="Calibri"/>
                        </a:rPr>
                        <a:t>items_deleted_total</a:t>
                      </a:r>
                    </a:p>
                  </a:txBody>
                  <a:tcPr marT="12700" marB="12700">
                    <a:solidFill>
                      <a:srgbClr val="FFFFFF"/>
                    </a:solidFill>
                  </a:tcPr>
                </a:tc>
                <a:tc>
                  <a:txBody>
                    <a:bodyPr wrap="square"/>
                    <a:lstStyle/>
                    <a:p>
                      <a:r>
                        <a:rPr sz="950" b="0" i="0">
                          <a:solidFill>
                            <a:srgbClr val="202020"/>
                          </a:solidFill>
                          <a:latin typeface="Calibri"/>
                        </a:rPr>
                        <a:t>counter</a:t>
                      </a:r>
                    </a:p>
                  </a:txBody>
                  <a:tcPr marT="12700" marB="12700">
                    <a:solidFill>
                      <a:srgbClr val="FFFFFF"/>
                    </a:solidFill>
                  </a:tcPr>
                </a:tc>
                <a:tc>
                  <a:txBody>
                    <a:bodyPr wrap="square"/>
                    <a:lstStyle/>
                    <a:p>
                      <a:r>
                        <a:rPr sz="950" b="0" i="0">
                          <a:solidFill>
                            <a:srgbClr val="202020"/>
                          </a:solidFill>
                          <a:latin typeface="Calibri"/>
                        </a:rPr>
                        <a:t>Items withdrawn by the deletion sweep / reconcile.</a:t>
                      </a:r>
                    </a:p>
                  </a:txBody>
                  <a:tcPr marT="12700" marB="12700">
                    <a:solidFill>
                      <a:srgbClr val="FFFFFF"/>
                    </a:solidFill>
                  </a:tcPr>
                </a:tc>
              </a:tr>
              <a:tr h="384048">
                <a:tc>
                  <a:txBody>
                    <a:bodyPr wrap="square"/>
                    <a:lstStyle/>
                    <a:p>
                      <a:r>
                        <a:rPr sz="950" b="0" i="0">
                          <a:solidFill>
                            <a:srgbClr val="202020"/>
                          </a:solidFill>
                          <a:latin typeface="Calibri"/>
                        </a:rPr>
                        <a:t>crawls_started_total / crawls_completed_total</a:t>
                      </a:r>
                    </a:p>
                  </a:txBody>
                  <a:tcPr marT="12700" marB="12700">
                    <a:solidFill>
                      <a:srgbClr val="F7F9FC"/>
                    </a:solidFill>
                  </a:tcPr>
                </a:tc>
                <a:tc>
                  <a:txBody>
                    <a:bodyPr wrap="square"/>
                    <a:lstStyle/>
                    <a:p>
                      <a:r>
                        <a:rPr sz="950" b="0" i="0">
                          <a:solidFill>
                            <a:srgbClr val="202020"/>
                          </a:solidFill>
                          <a:latin typeface="Calibri"/>
                        </a:rPr>
                        <a:t>counter</a:t>
                      </a:r>
                    </a:p>
                  </a:txBody>
                  <a:tcPr marT="12700" marB="12700">
                    <a:solidFill>
                      <a:srgbClr val="F7F9FC"/>
                    </a:solidFill>
                  </a:tcPr>
                </a:tc>
                <a:tc>
                  <a:txBody>
                    <a:bodyPr wrap="square"/>
                    <a:lstStyle/>
                    <a:p>
                      <a:r>
                        <a:rPr sz="950" b="0" i="0">
                          <a:solidFill>
                            <a:srgbClr val="202020"/>
                          </a:solidFill>
                          <a:latin typeface="Calibri"/>
                        </a:rPr>
                        <a:t>Crawl cycles started vs finished.</a:t>
                      </a:r>
                    </a:p>
                  </a:txBody>
                  <a:tcPr marT="12700" marB="12700">
                    <a:solidFill>
                      <a:srgbClr val="F7F9FC"/>
                    </a:solidFill>
                  </a:tcPr>
                </a:tc>
              </a:tr>
              <a:tr h="384048">
                <a:tc>
                  <a:txBody>
                    <a:bodyPr wrap="square"/>
                    <a:lstStyle/>
                    <a:p>
                      <a:r>
                        <a:rPr sz="950" b="0" i="0">
                          <a:solidFill>
                            <a:srgbClr val="202020"/>
                          </a:solidFill>
                          <a:latin typeface="Calibri"/>
                        </a:rPr>
                        <a:t>clarizen_api_calls_total</a:t>
                      </a:r>
                    </a:p>
                  </a:txBody>
                  <a:tcPr marT="12700" marB="12700">
                    <a:solidFill>
                      <a:srgbClr val="FFFFFF"/>
                    </a:solidFill>
                  </a:tcPr>
                </a:tc>
                <a:tc>
                  <a:txBody>
                    <a:bodyPr wrap="square"/>
                    <a:lstStyle/>
                    <a:p>
                      <a:r>
                        <a:rPr sz="950" b="0" i="0">
                          <a:solidFill>
                            <a:srgbClr val="202020"/>
                          </a:solidFill>
                          <a:latin typeface="Calibri"/>
                        </a:rPr>
                        <a:t>counter</a:t>
                      </a:r>
                    </a:p>
                  </a:txBody>
                  <a:tcPr marT="12700" marB="12700">
                    <a:solidFill>
                      <a:srgbClr val="FFFFFF"/>
                    </a:solidFill>
                  </a:tcPr>
                </a:tc>
                <a:tc>
                  <a:txBody>
                    <a:bodyPr wrap="square"/>
                    <a:lstStyle/>
                    <a:p>
                      <a:r>
                        <a:rPr sz="950" b="0" i="0">
                          <a:solidFill>
                            <a:srgbClr val="202020"/>
                          </a:solidFill>
                          <a:latin typeface="Calibri"/>
                        </a:rPr>
                        <a:t>Clarizen REST calls issued by this process.</a:t>
                      </a:r>
                    </a:p>
                  </a:txBody>
                  <a:tcPr marT="12700" marB="12700">
                    <a:solidFill>
                      <a:srgbClr val="FFFFFF"/>
                    </a:solidFill>
                  </a:tcPr>
                </a:tc>
              </a:tr>
              <a:tr h="384048">
                <a:tc>
                  <a:txBody>
                    <a:bodyPr wrap="square"/>
                    <a:lstStyle/>
                    <a:p>
                      <a:r>
                        <a:rPr sz="950" b="0" i="0">
                          <a:solidFill>
                            <a:srgbClr val="202020"/>
                          </a:solidFill>
                          <a:latin typeface="Calibri"/>
                        </a:rPr>
                        <a:t>api_budget_remaining</a:t>
                      </a:r>
                    </a:p>
                  </a:txBody>
                  <a:tcPr marT="12700" marB="12700">
                    <a:solidFill>
                      <a:srgbClr val="F7F9FC"/>
                    </a:solidFill>
                  </a:tcPr>
                </a:tc>
                <a:tc>
                  <a:txBody>
                    <a:bodyPr wrap="square"/>
                    <a:lstStyle/>
                    <a:p>
                      <a:r>
                        <a:rPr sz="950" b="0" i="0">
                          <a:solidFill>
                            <a:srgbClr val="202020"/>
                          </a:solidFill>
                          <a:latin typeface="Calibri"/>
                        </a:rPr>
                        <a:t>gauge</a:t>
                      </a:r>
                    </a:p>
                  </a:txBody>
                  <a:tcPr marT="12700" marB="12700">
                    <a:solidFill>
                      <a:srgbClr val="F7F9FC"/>
                    </a:solidFill>
                  </a:tcPr>
                </a:tc>
                <a:tc>
                  <a:txBody>
                    <a:bodyPr wrap="square"/>
                    <a:lstStyle/>
                    <a:p>
                      <a:r>
                        <a:rPr sz="950" b="0" i="0">
                          <a:solidFill>
                            <a:srgbClr val="202020"/>
                          </a:solidFill>
                          <a:latin typeface="Calibri"/>
                        </a:rPr>
                        <a:t>Remaining daily Clarizen API budget. 0 during business hours is a problem.</a:t>
                      </a:r>
                    </a:p>
                  </a:txBody>
                  <a:tcPr marT="12700" marB="12700">
                    <a:solidFill>
                      <a:srgbClr val="F7F9FC"/>
                    </a:solidFill>
                  </a:tcPr>
                </a:tc>
              </a:tr>
              <a:tr h="384048">
                <a:tc>
                  <a:txBody>
                    <a:bodyPr wrap="square"/>
                    <a:lstStyle/>
                    <a:p>
                      <a:r>
                        <a:rPr sz="950" b="0" i="0">
                          <a:solidFill>
                            <a:srgbClr val="202020"/>
                          </a:solidFill>
                          <a:latin typeface="Calibri"/>
                        </a:rPr>
                        <a:t>throttled_429_total</a:t>
                      </a:r>
                    </a:p>
                  </a:txBody>
                  <a:tcPr marT="12700" marB="12700">
                    <a:solidFill>
                      <a:srgbClr val="FFFFFF"/>
                    </a:solidFill>
                  </a:tcPr>
                </a:tc>
                <a:tc>
                  <a:txBody>
                    <a:bodyPr wrap="square"/>
                    <a:lstStyle/>
                    <a:p>
                      <a:r>
                        <a:rPr sz="950" b="0" i="0">
                          <a:solidFill>
                            <a:srgbClr val="202020"/>
                          </a:solidFill>
                          <a:latin typeface="Calibri"/>
                        </a:rPr>
                        <a:t>counter</a:t>
                      </a:r>
                    </a:p>
                  </a:txBody>
                  <a:tcPr marT="12700" marB="12700">
                    <a:solidFill>
                      <a:srgbClr val="FFFFFF"/>
                    </a:solidFill>
                  </a:tcPr>
                </a:tc>
                <a:tc>
                  <a:txBody>
                    <a:bodyPr wrap="square"/>
                    <a:lstStyle/>
                    <a:p>
                      <a:r>
                        <a:rPr sz="950" b="0" i="0">
                          <a:solidFill>
                            <a:srgbClr val="202020"/>
                          </a:solidFill>
                          <a:latin typeface="Calibri"/>
                        </a:rPr>
                        <a:t>Graph 429 (throttling) responses observed.</a:t>
                      </a:r>
                    </a:p>
                  </a:txBody>
                  <a:tcPr marT="12700" marB="12700">
                    <a:solidFill>
                      <a:srgbClr val="FFFFFF"/>
                    </a:solidFill>
                  </a:tcPr>
                </a:tc>
              </a:tr>
              <a:tr h="384048">
                <a:tc>
                  <a:txBody>
                    <a:bodyPr wrap="square"/>
                    <a:lstStyle/>
                    <a:p>
                      <a:r>
                        <a:rPr sz="950" b="0" i="0">
                          <a:solidFill>
                            <a:srgbClr val="202020"/>
                          </a:solidFill>
                          <a:latin typeface="Calibri"/>
                        </a:rPr>
                        <a:t>webhook_events_received_total</a:t>
                      </a:r>
                    </a:p>
                  </a:txBody>
                  <a:tcPr marT="12700" marB="12700">
                    <a:solidFill>
                      <a:srgbClr val="F7F9FC"/>
                    </a:solidFill>
                  </a:tcPr>
                </a:tc>
                <a:tc>
                  <a:txBody>
                    <a:bodyPr wrap="square"/>
                    <a:lstStyle/>
                    <a:p>
                      <a:r>
                        <a:rPr sz="950" b="0" i="0">
                          <a:solidFill>
                            <a:srgbClr val="202020"/>
                          </a:solidFill>
                          <a:latin typeface="Calibri"/>
                        </a:rPr>
                        <a:t>counter</a:t>
                      </a:r>
                    </a:p>
                  </a:txBody>
                  <a:tcPr marT="12700" marB="12700">
                    <a:solidFill>
                      <a:srgbClr val="F7F9FC"/>
                    </a:solidFill>
                  </a:tcPr>
                </a:tc>
                <a:tc>
                  <a:txBody>
                    <a:bodyPr wrap="square"/>
                    <a:lstStyle/>
                    <a:p>
                      <a:r>
                        <a:rPr sz="950" b="0" i="0">
                          <a:solidFill>
                            <a:srgbClr val="202020"/>
                          </a:solidFill>
                          <a:latin typeface="Calibri"/>
                        </a:rPr>
                        <a:t>Webhook posts received (before validation).</a:t>
                      </a:r>
                    </a:p>
                  </a:txBody>
                  <a:tcPr marT="12700" marB="12700">
                    <a:solidFill>
                      <a:srgbClr val="F7F9FC"/>
                    </a:solidFill>
                  </a:tcPr>
                </a:tc>
              </a:tr>
              <a:tr h="384048">
                <a:tc>
                  <a:txBody>
                    <a:bodyPr wrap="square"/>
                    <a:lstStyle/>
                    <a:p>
                      <a:r>
                        <a:rPr sz="950" b="0" i="0">
                          <a:solidFill>
                            <a:srgbClr val="202020"/>
                          </a:solidFill>
                          <a:latin typeface="Calibri"/>
                        </a:rPr>
                        <a:t>webhook_events_accepted_total</a:t>
                      </a:r>
                    </a:p>
                  </a:txBody>
                  <a:tcPr marT="12700" marB="12700">
                    <a:solidFill>
                      <a:srgbClr val="FFFFFF"/>
                    </a:solidFill>
                  </a:tcPr>
                </a:tc>
                <a:tc>
                  <a:txBody>
                    <a:bodyPr wrap="square"/>
                    <a:lstStyle/>
                    <a:p>
                      <a:r>
                        <a:rPr sz="950" b="0" i="0">
                          <a:solidFill>
                            <a:srgbClr val="202020"/>
                          </a:solidFill>
                          <a:latin typeface="Calibri"/>
                        </a:rPr>
                        <a:t>counter</a:t>
                      </a:r>
                    </a:p>
                  </a:txBody>
                  <a:tcPr marT="12700" marB="12700">
                    <a:solidFill>
                      <a:srgbClr val="FFFFFF"/>
                    </a:solidFill>
                  </a:tcPr>
                </a:tc>
                <a:tc>
                  <a:txBody>
                    <a:bodyPr wrap="square"/>
                    <a:lstStyle/>
                    <a:p>
                      <a:r>
                        <a:rPr sz="950" b="0" i="0">
                          <a:solidFill>
                            <a:srgbClr val="202020"/>
                          </a:solidFill>
                          <a:latin typeface="Calibri"/>
                        </a:rPr>
                        <a:t>Validated webhook events enqueued.</a:t>
                      </a:r>
                    </a:p>
                  </a:txBody>
                  <a:tcPr marT="12700" marB="12700">
                    <a:solidFill>
                      <a:srgbClr val="FFFFFF"/>
                    </a:solidFill>
                  </a:tcPr>
                </a:tc>
              </a:tr>
              <a:tr h="384048">
                <a:tc>
                  <a:txBody>
                    <a:bodyPr wrap="square"/>
                    <a:lstStyle/>
                    <a:p>
                      <a:r>
                        <a:rPr sz="950" b="0" i="0">
                          <a:solidFill>
                            <a:srgbClr val="202020"/>
                          </a:solidFill>
                          <a:latin typeface="Calibri"/>
                        </a:rPr>
                        <a:t>webhook_events_rejected_total</a:t>
                      </a:r>
                    </a:p>
                  </a:txBody>
                  <a:tcPr marT="12700" marB="12700">
                    <a:solidFill>
                      <a:srgbClr val="F7F9FC"/>
                    </a:solidFill>
                  </a:tcPr>
                </a:tc>
                <a:tc>
                  <a:txBody>
                    <a:bodyPr wrap="square"/>
                    <a:lstStyle/>
                    <a:p>
                      <a:r>
                        <a:rPr sz="950" b="0" i="0">
                          <a:solidFill>
                            <a:srgbClr val="202020"/>
                          </a:solidFill>
                          <a:latin typeface="Calibri"/>
                        </a:rPr>
                        <a:t>counter</a:t>
                      </a:r>
                    </a:p>
                  </a:txBody>
                  <a:tcPr marT="12700" marB="12700">
                    <a:solidFill>
                      <a:srgbClr val="F7F9FC"/>
                    </a:solidFill>
                  </a:tcPr>
                </a:tc>
                <a:tc>
                  <a:txBody>
                    <a:bodyPr wrap="square"/>
                    <a:lstStyle/>
                    <a:p>
                      <a:r>
                        <a:rPr sz="950" b="0" i="0">
                          <a:solidFill>
                            <a:srgbClr val="202020"/>
                          </a:solidFill>
                          <a:latin typeface="Calibri"/>
                        </a:rPr>
                        <a:t>Webhook posts rejected: bad/missing signature, missing/stale timestamp, replay, malformed, or oversize.</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398</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11.2 Metrics that matter (cont.)</a:t>
            </a:r>
          </a:p>
        </p:txBody>
      </p:sp>
      <p:graphicFrame>
        <p:nvGraphicFramePr>
          <p:cNvPr id="5" name="Table 4"/>
          <p:cNvGraphicFramePr>
            <a:graphicFrameLocks noGrp="1"/>
          </p:cNvGraphicFramePr>
          <p:nvPr/>
        </p:nvGraphicFramePr>
        <p:xfrm>
          <a:off x="502920" y="1188720"/>
          <a:ext cx="11185855" cy="2688336"/>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Metric</a:t>
                      </a:r>
                    </a:p>
                  </a:txBody>
                  <a:tcPr marT="25400" marB="25400">
                    <a:solidFill>
                      <a:srgbClr val="2E5496"/>
                    </a:solidFill>
                  </a:tcPr>
                </a:tc>
                <a:tc>
                  <a:txBody>
                    <a:bodyPr wrap="square"/>
                    <a:lstStyle/>
                    <a:p>
                      <a:r>
                        <a:rPr sz="1050" b="1" i="0">
                          <a:solidFill>
                            <a:srgbClr val="FFFFFF"/>
                          </a:solidFill>
                          <a:latin typeface="Calibri"/>
                        </a:rPr>
                        <a:t>Type</a:t>
                      </a:r>
                    </a:p>
                  </a:txBody>
                  <a:tcPr marT="25400" marB="25400">
                    <a:solidFill>
                      <a:srgbClr val="2E5496"/>
                    </a:solidFill>
                  </a:tcPr>
                </a:tc>
                <a:tc>
                  <a:txBody>
                    <a:bodyPr wrap="square"/>
                    <a:lstStyle/>
                    <a:p>
                      <a:r>
                        <a:rPr sz="1050" b="1" i="0">
                          <a:solidFill>
                            <a:srgbClr val="FFFFFF"/>
                          </a:solidFill>
                          <a:latin typeface="Calibri"/>
                        </a:rPr>
                        <a:t>What it tells you</a:t>
                      </a:r>
                    </a:p>
                  </a:txBody>
                  <a:tcPr marT="25400" marB="25400">
                    <a:solidFill>
                      <a:srgbClr val="2E5496"/>
                    </a:solidFill>
                  </a:tcPr>
                </a:tc>
              </a:tr>
              <a:tr h="384048">
                <a:tc>
                  <a:txBody>
                    <a:bodyPr wrap="square"/>
                    <a:lstStyle/>
                    <a:p>
                      <a:r>
                        <a:rPr sz="950" b="0" i="0">
                          <a:solidFill>
                            <a:srgbClr val="202020"/>
                          </a:solidFill>
                          <a:latin typeface="Calibri"/>
                        </a:rPr>
                        <a:t>webhook_receiver_up</a:t>
                      </a:r>
                    </a:p>
                  </a:txBody>
                  <a:tcPr marT="12700" marB="12700">
                    <a:solidFill>
                      <a:srgbClr val="FFFFFF"/>
                    </a:solidFill>
                  </a:tcPr>
                </a:tc>
                <a:tc>
                  <a:txBody>
                    <a:bodyPr wrap="square"/>
                    <a:lstStyle/>
                    <a:p>
                      <a:r>
                        <a:rPr sz="950" b="0" i="0">
                          <a:solidFill>
                            <a:srgbClr val="202020"/>
                          </a:solidFill>
                          <a:latin typeface="Calibri"/>
                        </a:rPr>
                        <a:t>gauge</a:t>
                      </a:r>
                    </a:p>
                  </a:txBody>
                  <a:tcPr marT="12700" marB="12700">
                    <a:solidFill>
                      <a:srgbClr val="FFFFFF"/>
                    </a:solidFill>
                  </a:tcPr>
                </a:tc>
                <a:tc>
                  <a:txBody>
                    <a:bodyPr wrap="square"/>
                    <a:lstStyle/>
                    <a:p>
                      <a:r>
                        <a:rPr sz="950" b="0" i="0">
                          <a:solidFill>
                            <a:srgbClr val="202020"/>
                          </a:solidFill>
                          <a:latin typeface="Calibri"/>
                        </a:rPr>
                        <a:t>1 while the webhook receiver is bound and listening.</a:t>
                      </a:r>
                    </a:p>
                  </a:txBody>
                  <a:tcPr marT="12700" marB="12700">
                    <a:solidFill>
                      <a:srgbClr val="FFFFFF"/>
                    </a:solidFill>
                  </a:tcPr>
                </a:tc>
              </a:tr>
              <a:tr h="384048">
                <a:tc>
                  <a:txBody>
                    <a:bodyPr wrap="square"/>
                    <a:lstStyle/>
                    <a:p>
                      <a:r>
                        <a:rPr sz="950" b="0" i="0">
                          <a:solidFill>
                            <a:srgbClr val="202020"/>
                          </a:solidFill>
                          <a:latin typeface="Calibri"/>
                        </a:rPr>
                        <a:t>circuit_breaker_state{dependency="clarizen"}</a:t>
                      </a:r>
                    </a:p>
                  </a:txBody>
                  <a:tcPr marT="12700" marB="12700">
                    <a:solidFill>
                      <a:srgbClr val="F7F9FC"/>
                    </a:solidFill>
                  </a:tcPr>
                </a:tc>
                <a:tc>
                  <a:txBody>
                    <a:bodyPr wrap="square"/>
                    <a:lstStyle/>
                    <a:p>
                      <a:r>
                        <a:rPr sz="950" b="0" i="0">
                          <a:solidFill>
                            <a:srgbClr val="202020"/>
                          </a:solidFill>
                          <a:latin typeface="Calibri"/>
                        </a:rPr>
                        <a:t>gauge</a:t>
                      </a:r>
                    </a:p>
                  </a:txBody>
                  <a:tcPr marT="12700" marB="12700">
                    <a:solidFill>
                      <a:srgbClr val="F7F9FC"/>
                    </a:solidFill>
                  </a:tcPr>
                </a:tc>
                <a:tc>
                  <a:txBody>
                    <a:bodyPr wrap="square"/>
                    <a:lstStyle/>
                    <a:p>
                      <a:r>
                        <a:rPr sz="950" b="0" i="0">
                          <a:solidFill>
                            <a:srgbClr val="202020"/>
                          </a:solidFill>
                          <a:latin typeface="Calibri"/>
                        </a:rPr>
                        <a:t>Source breaker: 0 closed, 1 half-open, 2 open.</a:t>
                      </a:r>
                    </a:p>
                  </a:txBody>
                  <a:tcPr marT="12700" marB="12700">
                    <a:solidFill>
                      <a:srgbClr val="F7F9FC"/>
                    </a:solidFill>
                  </a:tcPr>
                </a:tc>
              </a:tr>
              <a:tr h="384048">
                <a:tc>
                  <a:txBody>
                    <a:bodyPr wrap="square"/>
                    <a:lstStyle/>
                    <a:p>
                      <a:r>
                        <a:rPr sz="950" b="0" i="0">
                          <a:solidFill>
                            <a:srgbClr val="202020"/>
                          </a:solidFill>
                          <a:latin typeface="Calibri"/>
                        </a:rPr>
                        <a:t>circuit_breaker_state{dependency="graph"}</a:t>
                      </a:r>
                    </a:p>
                  </a:txBody>
                  <a:tcPr marT="12700" marB="12700">
                    <a:solidFill>
                      <a:srgbClr val="FFFFFF"/>
                    </a:solidFill>
                  </a:tcPr>
                </a:tc>
                <a:tc>
                  <a:txBody>
                    <a:bodyPr wrap="square"/>
                    <a:lstStyle/>
                    <a:p>
                      <a:r>
                        <a:rPr sz="950" b="0" i="0">
                          <a:solidFill>
                            <a:srgbClr val="202020"/>
                          </a:solidFill>
                          <a:latin typeface="Calibri"/>
                        </a:rPr>
                        <a:t>gauge</a:t>
                      </a:r>
                    </a:p>
                  </a:txBody>
                  <a:tcPr marT="12700" marB="12700">
                    <a:solidFill>
                      <a:srgbClr val="FFFFFF"/>
                    </a:solidFill>
                  </a:tcPr>
                </a:tc>
                <a:tc>
                  <a:txBody>
                    <a:bodyPr wrap="square"/>
                    <a:lstStyle/>
                    <a:p>
                      <a:r>
                        <a:rPr sz="950" b="0" i="0">
                          <a:solidFill>
                            <a:srgbClr val="202020"/>
                          </a:solidFill>
                          <a:latin typeface="Calibri"/>
                        </a:rPr>
                        <a:t>Graph breaker: 0 closed, 1 half-open, 2 open.</a:t>
                      </a:r>
                    </a:p>
                  </a:txBody>
                  <a:tcPr marT="12700" marB="12700">
                    <a:solidFill>
                      <a:srgbClr val="FFFFFF"/>
                    </a:solidFill>
                  </a:tcPr>
                </a:tc>
              </a:tr>
              <a:tr h="384048">
                <a:tc>
                  <a:txBody>
                    <a:bodyPr wrap="square"/>
                    <a:lstStyle/>
                    <a:p>
                      <a:r>
                        <a:rPr sz="950" b="0" i="0">
                          <a:solidFill>
                            <a:srgbClr val="202020"/>
                          </a:solidFill>
                          <a:latin typeface="Calibri"/>
                        </a:rPr>
                        <a:t>circuit_breaker_trips_total{dependency}</a:t>
                      </a:r>
                    </a:p>
                  </a:txBody>
                  <a:tcPr marT="12700" marB="12700">
                    <a:solidFill>
                      <a:srgbClr val="F7F9FC"/>
                    </a:solidFill>
                  </a:tcPr>
                </a:tc>
                <a:tc>
                  <a:txBody>
                    <a:bodyPr wrap="square"/>
                    <a:lstStyle/>
                    <a:p>
                      <a:r>
                        <a:rPr sz="950" b="0" i="0">
                          <a:solidFill>
                            <a:srgbClr val="202020"/>
                          </a:solidFill>
                          <a:latin typeface="Calibri"/>
                        </a:rPr>
                        <a:t>counter</a:t>
                      </a:r>
                    </a:p>
                  </a:txBody>
                  <a:tcPr marT="12700" marB="12700">
                    <a:solidFill>
                      <a:srgbClr val="F7F9FC"/>
                    </a:solidFill>
                  </a:tcPr>
                </a:tc>
                <a:tc>
                  <a:txBody>
                    <a:bodyPr wrap="square"/>
                    <a:lstStyle/>
                    <a:p>
                      <a:r>
                        <a:rPr sz="950" b="0" i="0">
                          <a:solidFill>
                            <a:srgbClr val="202020"/>
                          </a:solidFill>
                          <a:latin typeface="Calibri"/>
                        </a:rPr>
                        <a:t>How often each breaker has tripped — flapping shows here.</a:t>
                      </a:r>
                    </a:p>
                  </a:txBody>
                  <a:tcPr marT="12700" marB="12700">
                    <a:solidFill>
                      <a:srgbClr val="F7F9FC"/>
                    </a:solidFill>
                  </a:tcPr>
                </a:tc>
              </a:tr>
              <a:tr h="384048">
                <a:tc>
                  <a:txBody>
                    <a:bodyPr wrap="square"/>
                    <a:lstStyle/>
                    <a:p>
                      <a:r>
                        <a:rPr sz="950" b="0" i="0">
                          <a:solidFill>
                            <a:srgbClr val="202020"/>
                          </a:solidFill>
                          <a:latin typeface="Calibri"/>
                        </a:rPr>
                        <a:t>dead_letter_depth</a:t>
                      </a:r>
                    </a:p>
                  </a:txBody>
                  <a:tcPr marT="12700" marB="12700">
                    <a:solidFill>
                      <a:srgbClr val="FFFFFF"/>
                    </a:solidFill>
                  </a:tcPr>
                </a:tc>
                <a:tc>
                  <a:txBody>
                    <a:bodyPr wrap="square"/>
                    <a:lstStyle/>
                    <a:p>
                      <a:r>
                        <a:rPr sz="950" b="0" i="0">
                          <a:solidFill>
                            <a:srgbClr val="202020"/>
                          </a:solidFill>
                          <a:latin typeface="Calibri"/>
                        </a:rPr>
                        <a:t>gauge</a:t>
                      </a:r>
                    </a:p>
                  </a:txBody>
                  <a:tcPr marT="12700" marB="12700">
                    <a:solidFill>
                      <a:srgbClr val="FFFFFF"/>
                    </a:solidFill>
                  </a:tcPr>
                </a:tc>
                <a:tc>
                  <a:txBody>
                    <a:bodyPr wrap="square"/>
                    <a:lstStyle/>
                    <a:p>
                      <a:r>
                        <a:rPr sz="950" b="0" i="0">
                          <a:solidFill>
                            <a:srgbClr val="202020"/>
                          </a:solidFill>
                          <a:latin typeface="Calibri"/>
                        </a:rPr>
                        <a:t>Live dead-letter queue depth.</a:t>
                      </a:r>
                    </a:p>
                  </a:txBody>
                  <a:tcPr marT="12700" marB="12700">
                    <a:solidFill>
                      <a:srgbClr val="FFFFFF"/>
                    </a:solidFill>
                  </a:tcPr>
                </a:tc>
              </a:tr>
              <a:tr h="384048">
                <a:tc>
                  <a:txBody>
                    <a:bodyPr wrap="square"/>
                    <a:lstStyle/>
                    <a:p>
                      <a:r>
                        <a:rPr sz="950" b="0" i="0">
                          <a:solidFill>
                            <a:srgbClr val="202020"/>
                          </a:solidFill>
                          <a:latin typeface="Calibri"/>
                        </a:rPr>
                        <a:t>last_crawl_completed_timestamp_seconds</a:t>
                      </a:r>
                    </a:p>
                  </a:txBody>
                  <a:tcPr marT="12700" marB="12700">
                    <a:solidFill>
                      <a:srgbClr val="F7F9FC"/>
                    </a:solidFill>
                  </a:tcPr>
                </a:tc>
                <a:tc>
                  <a:txBody>
                    <a:bodyPr wrap="square"/>
                    <a:lstStyle/>
                    <a:p>
                      <a:r>
                        <a:rPr sz="950" b="0" i="0">
                          <a:solidFill>
                            <a:srgbClr val="202020"/>
                          </a:solidFill>
                          <a:latin typeface="Calibri"/>
                        </a:rPr>
                        <a:t>gauge</a:t>
                      </a:r>
                    </a:p>
                  </a:txBody>
                  <a:tcPr marT="12700" marB="12700">
                    <a:solidFill>
                      <a:srgbClr val="F7F9FC"/>
                    </a:solidFill>
                  </a:tcPr>
                </a:tc>
                <a:tc>
                  <a:txBody>
                    <a:bodyPr wrap="square"/>
                    <a:lstStyle/>
                    <a:p>
                      <a:r>
                        <a:rPr sz="950" b="0" i="0">
                          <a:solidFill>
                            <a:srgbClr val="202020"/>
                          </a:solidFill>
                          <a:latin typeface="Calibri"/>
                        </a:rPr>
                        <a:t>Unix time of the last completed crawl (crawl-liveness alerts key off this).</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399</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11.3 Dashboard panels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shipped Grafana dashboard (</a:t>
            </a:r>
            <a:r>
              <a:rPr sz="1200" b="0" i="0">
                <a:solidFill>
                  <a:srgbClr val="202020"/>
                </a:solidFill>
                <a:latin typeface="Consolas"/>
              </a:rPr>
              <a:t>ops/grafana-dashboard.json</a:t>
            </a:r>
            <a:r>
              <a:rPr sz="1250" b="0" i="0">
                <a:solidFill>
                  <a:srgbClr val="202020"/>
                </a:solidFill>
                <a:latin typeface="Calibri"/>
              </a:rPr>
              <a:t>) is the reference layout. Useful panels: ingest / delete / fail throughput; the two </a:t>
            </a:r>
            <a:r>
              <a:rPr sz="1200" b="0" i="0">
                <a:solidFill>
                  <a:srgbClr val="202020"/>
                </a:solidFill>
                <a:latin typeface="Consolas"/>
              </a:rPr>
              <a:t>circuit_breaker_state</a:t>
            </a:r>
            <a:r>
              <a:rPr sz="1250" b="0" i="0">
                <a:solidFill>
                  <a:srgbClr val="202020"/>
                </a:solidFill>
                <a:latin typeface="Calibri"/>
              </a:rPr>
              <a:t> gauges side by side; </a:t>
            </a:r>
            <a:r>
              <a:rPr sz="1200" b="0" i="0">
                <a:solidFill>
                  <a:srgbClr val="202020"/>
                </a:solidFill>
                <a:latin typeface="Consolas"/>
              </a:rPr>
              <a:t>api_budget_remaining</a:t>
            </a:r>
            <a:r>
              <a:rPr sz="1250" b="0" i="0">
                <a:solidFill>
                  <a:srgbClr val="202020"/>
                </a:solidFill>
                <a:latin typeface="Calibri"/>
              </a:rPr>
              <a:t>; </a:t>
            </a:r>
            <a:r>
              <a:rPr sz="1200" b="0" i="0">
                <a:solidFill>
                  <a:srgbClr val="202020"/>
                </a:solidFill>
                <a:latin typeface="Consolas"/>
              </a:rPr>
              <a:t>dead_letter_depth</a:t>
            </a:r>
            <a:r>
              <a:rPr sz="1250" b="0" i="0">
                <a:solidFill>
                  <a:srgbClr val="202020"/>
                </a:solidFill>
                <a:latin typeface="Calibri"/>
              </a:rPr>
              <a:t>; the webhook accepted-vs-rejected pair; and time since last completed crawl. Throughput counters, budget, uptime and HA lease counts are for the dashboard; the items in the next table are what you alert on.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400</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11.4 Key alerts</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Alert</a:t>
                      </a:r>
                    </a:p>
                  </a:txBody>
                  <a:tcPr marT="25400" marB="25400">
                    <a:solidFill>
                      <a:srgbClr val="2E5496"/>
                    </a:solidFill>
                  </a:tcPr>
                </a:tc>
                <a:tc>
                  <a:txBody>
                    <a:bodyPr wrap="square"/>
                    <a:lstStyle/>
                    <a:p>
                      <a:r>
                        <a:rPr sz="1050" b="1" i="0">
                          <a:solidFill>
                            <a:srgbClr val="FFFFFF"/>
                          </a:solidFill>
                          <a:latin typeface="Calibri"/>
                        </a:rPr>
                        <a:t>Fires when</a:t>
                      </a:r>
                    </a:p>
                  </a:txBody>
                  <a:tcPr marT="25400" marB="25400">
                    <a:solidFill>
                      <a:srgbClr val="2E5496"/>
                    </a:solidFill>
                  </a:tcPr>
                </a:tc>
                <a:tc>
                  <a:txBody>
                    <a:bodyPr wrap="square"/>
                    <a:lstStyle/>
                    <a:p>
                      <a:r>
                        <a:rPr sz="1050" b="1" i="0">
                          <a:solidFill>
                            <a:srgbClr val="FFFFFF"/>
                          </a:solidFill>
                          <a:latin typeface="Calibri"/>
                        </a:rPr>
                        <a:t>Severity</a:t>
                      </a:r>
                    </a:p>
                  </a:txBody>
                  <a:tcPr marT="25400" marB="25400">
                    <a:solidFill>
                      <a:srgbClr val="2E5496"/>
                    </a:solidFill>
                  </a:tcPr>
                </a:tc>
              </a:tr>
              <a:tr h="384048">
                <a:tc>
                  <a:txBody>
                    <a:bodyPr wrap="square"/>
                    <a:lstStyle/>
                    <a:p>
                      <a:r>
                        <a:rPr sz="950" b="0" i="0">
                          <a:solidFill>
                            <a:srgbClr val="202020"/>
                          </a:solidFill>
                          <a:latin typeface="Calibri"/>
                        </a:rPr>
                        <a:t>Clarizen breaker open</a:t>
                      </a:r>
                    </a:p>
                  </a:txBody>
                  <a:tcPr marT="12700" marB="12700">
                    <a:solidFill>
                      <a:srgbClr val="FFFFFF"/>
                    </a:solidFill>
                  </a:tcPr>
                </a:tc>
                <a:tc>
                  <a:txBody>
                    <a:bodyPr wrap="square"/>
                    <a:lstStyle/>
                    <a:p>
                      <a:r>
                        <a:rPr sz="950" b="0" i="0">
                          <a:solidFill>
                            <a:srgbClr val="202020"/>
                          </a:solidFill>
                          <a:latin typeface="Calibri"/>
                        </a:rPr>
                        <a:t>circuit_breaker_state{dependency="clarizen"} == 2 for 5m</a:t>
                      </a:r>
                    </a:p>
                  </a:txBody>
                  <a:tcPr marT="12700" marB="12700">
                    <a:solidFill>
                      <a:srgbClr val="FFFFFF"/>
                    </a:solidFill>
                  </a:tcPr>
                </a:tc>
                <a:tc>
                  <a:txBody>
                    <a:bodyPr wrap="square"/>
                    <a:lstStyle/>
                    <a:p>
                      <a:r>
                        <a:rPr sz="950" b="0" i="0">
                          <a:solidFill>
                            <a:srgbClr val="202020"/>
                          </a:solidFill>
                          <a:latin typeface="Calibri"/>
                        </a:rPr>
                        <a:t>warning</a:t>
                      </a:r>
                    </a:p>
                  </a:txBody>
                  <a:tcPr marT="12700" marB="12700">
                    <a:solidFill>
                      <a:srgbClr val="FFFFFF"/>
                    </a:solidFill>
                  </a:tcPr>
                </a:tc>
              </a:tr>
              <a:tr h="384048">
                <a:tc>
                  <a:txBody>
                    <a:bodyPr wrap="square"/>
                    <a:lstStyle/>
                    <a:p>
                      <a:r>
                        <a:rPr sz="950" b="0" i="0">
                          <a:solidFill>
                            <a:srgbClr val="202020"/>
                          </a:solidFill>
                          <a:latin typeface="Calibri"/>
                        </a:rPr>
                        <a:t>Graph breaker open</a:t>
                      </a:r>
                    </a:p>
                  </a:txBody>
                  <a:tcPr marT="12700" marB="12700">
                    <a:solidFill>
                      <a:srgbClr val="F7F9FC"/>
                    </a:solidFill>
                  </a:tcPr>
                </a:tc>
                <a:tc>
                  <a:txBody>
                    <a:bodyPr wrap="square"/>
                    <a:lstStyle/>
                    <a:p>
                      <a:r>
                        <a:rPr sz="950" b="0" i="0">
                          <a:solidFill>
                            <a:srgbClr val="202020"/>
                          </a:solidFill>
                          <a:latin typeface="Calibri"/>
                        </a:rPr>
                        <a:t>circuit_breaker_state{dependency="graph"} == 2 for 5m</a:t>
                      </a:r>
                    </a:p>
                  </a:txBody>
                  <a:tcPr marT="12700" marB="12700">
                    <a:solidFill>
                      <a:srgbClr val="F7F9FC"/>
                    </a:solidFill>
                  </a:tcPr>
                </a:tc>
                <a:tc>
                  <a:txBody>
                    <a:bodyPr wrap="square"/>
                    <a:lstStyle/>
                    <a:p>
                      <a:r>
                        <a:rPr sz="950" b="0" i="0">
                          <a:solidFill>
                            <a:srgbClr val="202020"/>
                          </a:solidFill>
                          <a:latin typeface="Calibri"/>
                        </a:rPr>
                        <a:t>warning</a:t>
                      </a:r>
                    </a:p>
                  </a:txBody>
                  <a:tcPr marT="12700" marB="12700">
                    <a:solidFill>
                      <a:srgbClr val="F7F9FC"/>
                    </a:solidFill>
                  </a:tcPr>
                </a:tc>
              </a:tr>
              <a:tr h="384048">
                <a:tc>
                  <a:txBody>
                    <a:bodyPr wrap="square"/>
                    <a:lstStyle/>
                    <a:p>
                      <a:r>
                        <a:rPr sz="950" b="0" i="0">
                          <a:solidFill>
                            <a:srgbClr val="202020"/>
                          </a:solidFill>
                          <a:latin typeface="Calibri"/>
                        </a:rPr>
                        <a:t>Degraded over an hour</a:t>
                      </a:r>
                    </a:p>
                  </a:txBody>
                  <a:tcPr marT="12700" marB="12700">
                    <a:solidFill>
                      <a:srgbClr val="FFFFFF"/>
                    </a:solidFill>
                  </a:tcPr>
                </a:tc>
                <a:tc>
                  <a:txBody>
                    <a:bodyPr wrap="square"/>
                    <a:lstStyle/>
                    <a:p>
                      <a:r>
                        <a:rPr sz="950" b="0" i="0">
                          <a:solidFill>
                            <a:srgbClr val="202020"/>
                          </a:solidFill>
                          <a:latin typeface="Calibri"/>
                        </a:rPr>
                        <a:t>any circuit_breaker_state == 2 for 1h</a:t>
                      </a:r>
                    </a:p>
                  </a:txBody>
                  <a:tcPr marT="12700" marB="12700">
                    <a:solidFill>
                      <a:srgbClr val="FFFFFF"/>
                    </a:solidFill>
                  </a:tcPr>
                </a:tc>
                <a:tc>
                  <a:txBody>
                    <a:bodyPr wrap="square"/>
                    <a:lstStyle/>
                    <a:p>
                      <a:r>
                        <a:rPr sz="950" b="0" i="0">
                          <a:solidFill>
                            <a:srgbClr val="202020"/>
                          </a:solidFill>
                          <a:latin typeface="Calibri"/>
                        </a:rPr>
                        <a:t>critical</a:t>
                      </a:r>
                    </a:p>
                  </a:txBody>
                  <a:tcPr marT="12700" marB="12700">
                    <a:solidFill>
                      <a:srgbClr val="FFFFFF"/>
                    </a:solidFill>
                  </a:tcPr>
                </a:tc>
              </a:tr>
              <a:tr h="384048">
                <a:tc>
                  <a:txBody>
                    <a:bodyPr wrap="square"/>
                    <a:lstStyle/>
                    <a:p>
                      <a:r>
                        <a:rPr sz="950" b="0" i="0">
                          <a:solidFill>
                            <a:srgbClr val="202020"/>
                          </a:solidFill>
                          <a:latin typeface="Calibri"/>
                        </a:rPr>
                        <a:t>Dead-letter growth</a:t>
                      </a:r>
                    </a:p>
                  </a:txBody>
                  <a:tcPr marT="12700" marB="12700">
                    <a:solidFill>
                      <a:srgbClr val="F7F9FC"/>
                    </a:solidFill>
                  </a:tcPr>
                </a:tc>
                <a:tc>
                  <a:txBody>
                    <a:bodyPr wrap="square"/>
                    <a:lstStyle/>
                    <a:p>
                      <a:r>
                        <a:rPr sz="950" b="0" i="0">
                          <a:solidFill>
                            <a:srgbClr val="202020"/>
                          </a:solidFill>
                          <a:latin typeface="Calibri"/>
                        </a:rPr>
                        <a:t>dead_letter_depth &gt; 50 for 15m</a:t>
                      </a:r>
                    </a:p>
                  </a:txBody>
                  <a:tcPr marT="12700" marB="12700">
                    <a:solidFill>
                      <a:srgbClr val="F7F9FC"/>
                    </a:solidFill>
                  </a:tcPr>
                </a:tc>
                <a:tc>
                  <a:txBody>
                    <a:bodyPr wrap="square"/>
                    <a:lstStyle/>
                    <a:p>
                      <a:r>
                        <a:rPr sz="950" b="0" i="0">
                          <a:solidFill>
                            <a:srgbClr val="202020"/>
                          </a:solidFill>
                          <a:latin typeface="Calibri"/>
                        </a:rPr>
                        <a:t>warning</a:t>
                      </a:r>
                    </a:p>
                  </a:txBody>
                  <a:tcPr marT="12700" marB="12700">
                    <a:solidFill>
                      <a:srgbClr val="F7F9FC"/>
                    </a:solidFill>
                  </a:tcPr>
                </a:tc>
              </a:tr>
              <a:tr h="384048">
                <a:tc>
                  <a:txBody>
                    <a:bodyPr wrap="square"/>
                    <a:lstStyle/>
                    <a:p>
                      <a:r>
                        <a:rPr sz="950" b="0" i="0">
                          <a:solidFill>
                            <a:srgbClr val="202020"/>
                          </a:solidFill>
                          <a:latin typeface="Calibri"/>
                        </a:rPr>
                        <a:t>Item-failure surge</a:t>
                      </a:r>
                    </a:p>
                  </a:txBody>
                  <a:tcPr marT="12700" marB="12700">
                    <a:solidFill>
                      <a:srgbClr val="FFFFFF"/>
                    </a:solidFill>
                  </a:tcPr>
                </a:tc>
                <a:tc>
                  <a:txBody>
                    <a:bodyPr wrap="square"/>
                    <a:lstStyle/>
                    <a:p>
                      <a:r>
                        <a:rPr sz="950" b="0" i="0">
                          <a:solidFill>
                            <a:srgbClr val="202020"/>
                          </a:solidFill>
                          <a:latin typeface="Calibri"/>
                        </a:rPr>
                        <a:t>increase in items_failed_total &gt; 500 in 1h</a:t>
                      </a:r>
                    </a:p>
                  </a:txBody>
                  <a:tcPr marT="12700" marB="12700">
                    <a:solidFill>
                      <a:srgbClr val="FFFFFF"/>
                    </a:solidFill>
                  </a:tcPr>
                </a:tc>
                <a:tc>
                  <a:txBody>
                    <a:bodyPr wrap="square"/>
                    <a:lstStyle/>
                    <a:p>
                      <a:r>
                        <a:rPr sz="950" b="0" i="0">
                          <a:solidFill>
                            <a:srgbClr val="202020"/>
                          </a:solidFill>
                          <a:latin typeface="Calibri"/>
                        </a:rPr>
                        <a:t>critical</a:t>
                      </a:r>
                    </a:p>
                  </a:txBody>
                  <a:tcPr marT="12700" marB="12700">
                    <a:solidFill>
                      <a:srgbClr val="FFFFFF"/>
                    </a:solidFill>
                  </a:tcPr>
                </a:tc>
              </a:tr>
              <a:tr h="384048">
                <a:tc>
                  <a:txBody>
                    <a:bodyPr wrap="square"/>
                    <a:lstStyle/>
                    <a:p>
                      <a:r>
                        <a:rPr sz="950" b="0" i="0">
                          <a:solidFill>
                            <a:srgbClr val="202020"/>
                          </a:solidFill>
                          <a:latin typeface="Calibri"/>
                        </a:rPr>
                        <a:t>Graph 429 storm</a:t>
                      </a:r>
                    </a:p>
                  </a:txBody>
                  <a:tcPr marT="12700" marB="12700">
                    <a:solidFill>
                      <a:srgbClr val="F7F9FC"/>
                    </a:solidFill>
                  </a:tcPr>
                </a:tc>
                <a:tc>
                  <a:txBody>
                    <a:bodyPr wrap="square"/>
                    <a:lstStyle/>
                    <a:p>
                      <a:r>
                        <a:rPr sz="950" b="0" i="0">
                          <a:solidFill>
                            <a:srgbClr val="202020"/>
                          </a:solidFill>
                          <a:latin typeface="Calibri"/>
                        </a:rPr>
                        <a:t>sustained throttled_429_total rate for 15m</a:t>
                      </a:r>
                    </a:p>
                  </a:txBody>
                  <a:tcPr marT="12700" marB="12700">
                    <a:solidFill>
                      <a:srgbClr val="F7F9FC"/>
                    </a:solidFill>
                  </a:tcPr>
                </a:tc>
                <a:tc>
                  <a:txBody>
                    <a:bodyPr wrap="square"/>
                    <a:lstStyle/>
                    <a:p>
                      <a:r>
                        <a:rPr sz="950" b="0" i="0">
                          <a:solidFill>
                            <a:srgbClr val="202020"/>
                          </a:solidFill>
                          <a:latin typeface="Calibri"/>
                        </a:rPr>
                        <a:t>warning</a:t>
                      </a:r>
                    </a:p>
                  </a:txBody>
                  <a:tcPr marT="12700" marB="12700">
                    <a:solidFill>
                      <a:srgbClr val="F7F9FC"/>
                    </a:solidFill>
                  </a:tcPr>
                </a:tc>
              </a:tr>
              <a:tr h="384048">
                <a:tc>
                  <a:txBody>
                    <a:bodyPr wrap="square"/>
                    <a:lstStyle/>
                    <a:p>
                      <a:r>
                        <a:rPr sz="950" b="0" i="0">
                          <a:solidFill>
                            <a:srgbClr val="202020"/>
                          </a:solidFill>
                          <a:latin typeface="Calibri"/>
                        </a:rPr>
                        <a:t>Webhook rejection spike</a:t>
                      </a:r>
                    </a:p>
                  </a:txBody>
                  <a:tcPr marT="12700" marB="12700">
                    <a:solidFill>
                      <a:srgbClr val="FFFFFF"/>
                    </a:solidFill>
                  </a:tcPr>
                </a:tc>
                <a:tc>
                  <a:txBody>
                    <a:bodyPr wrap="square"/>
                    <a:lstStyle/>
                    <a:p>
                      <a:r>
                        <a:rPr sz="950" b="0" i="0">
                          <a:solidFill>
                            <a:srgbClr val="202020"/>
                          </a:solidFill>
                          <a:latin typeface="Calibri"/>
                        </a:rPr>
                        <a:t>increase in webhook_events_rejected_total &gt; 20 in 10m</a:t>
                      </a:r>
                    </a:p>
                  </a:txBody>
                  <a:tcPr marT="12700" marB="12700">
                    <a:solidFill>
                      <a:srgbClr val="FFFFFF"/>
                    </a:solidFill>
                  </a:tcPr>
                </a:tc>
                <a:tc>
                  <a:txBody>
                    <a:bodyPr wrap="square"/>
                    <a:lstStyle/>
                    <a:p>
                      <a:r>
                        <a:rPr sz="950" b="0" i="0">
                          <a:solidFill>
                            <a:srgbClr val="202020"/>
                          </a:solidFill>
                          <a:latin typeface="Calibri"/>
                        </a:rPr>
                        <a:t>warning</a:t>
                      </a:r>
                    </a:p>
                  </a:txBody>
                  <a:tcPr marT="12700" marB="12700">
                    <a:solidFill>
                      <a:srgbClr val="FFFFFF"/>
                    </a:solidFill>
                  </a:tcPr>
                </a:tc>
              </a:tr>
              <a:tr h="384048">
                <a:tc>
                  <a:txBody>
                    <a:bodyPr wrap="square"/>
                    <a:lstStyle/>
                    <a:p>
                      <a:r>
                        <a:rPr sz="950" b="0" i="0">
                          <a:solidFill>
                            <a:srgbClr val="202020"/>
                          </a:solidFill>
                          <a:latin typeface="Calibri"/>
                        </a:rPr>
                        <a:t>Webhook receiver down</a:t>
                      </a:r>
                    </a:p>
                  </a:txBody>
                  <a:tcPr marT="12700" marB="12700">
                    <a:solidFill>
                      <a:srgbClr val="F7F9FC"/>
                    </a:solidFill>
                  </a:tcPr>
                </a:tc>
                <a:tc>
                  <a:txBody>
                    <a:bodyPr wrap="square"/>
                    <a:lstStyle/>
                    <a:p>
                      <a:r>
                        <a:rPr sz="950" b="0" i="0">
                          <a:solidFill>
                            <a:srgbClr val="202020"/>
                          </a:solidFill>
                          <a:latin typeface="Calibri"/>
                        </a:rPr>
                        <a:t>webhook_receiver_up == 0 for 10m (only where webhooks are enabled)</a:t>
                      </a:r>
                    </a:p>
                  </a:txBody>
                  <a:tcPr marT="12700" marB="12700">
                    <a:solidFill>
                      <a:srgbClr val="F7F9FC"/>
                    </a:solidFill>
                  </a:tcPr>
                </a:tc>
                <a:tc>
                  <a:txBody>
                    <a:bodyPr wrap="square"/>
                    <a:lstStyle/>
                    <a:p>
                      <a:r>
                        <a:rPr sz="950" b="0" i="0">
                          <a:solidFill>
                            <a:srgbClr val="202020"/>
                          </a:solidFill>
                          <a:latin typeface="Calibri"/>
                        </a:rPr>
                        <a:t>info</a:t>
                      </a:r>
                    </a:p>
                  </a:txBody>
                  <a:tcPr marT="12700" marB="12700">
                    <a:solidFill>
                      <a:srgbClr val="F7F9FC"/>
                    </a:solidFill>
                  </a:tcPr>
                </a:tc>
              </a:tr>
              <a:tr h="384048">
                <a:tc>
                  <a:txBody>
                    <a:bodyPr wrap="square"/>
                    <a:lstStyle/>
                    <a:p>
                      <a:r>
                        <a:rPr sz="950" b="0" i="0">
                          <a:solidFill>
                            <a:srgbClr val="202020"/>
                          </a:solidFill>
                          <a:latin typeface="Calibri"/>
                        </a:rPr>
                        <a:t>Crawl stale</a:t>
                      </a:r>
                    </a:p>
                  </a:txBody>
                  <a:tcPr marT="12700" marB="12700">
                    <a:solidFill>
                      <a:srgbClr val="FFFFFF"/>
                    </a:solidFill>
                  </a:tcPr>
                </a:tc>
                <a:tc>
                  <a:txBody>
                    <a:bodyPr wrap="square"/>
                    <a:lstStyle/>
                    <a:p>
                      <a:r>
                        <a:rPr sz="950" b="0" i="0">
                          <a:solidFill>
                            <a:srgbClr val="202020"/>
                          </a:solidFill>
                          <a:latin typeface="Calibri"/>
                        </a:rPr>
                        <a:t>no completed crawl in 36h (with a 24h full-crawl schedule)</a:t>
                      </a:r>
                    </a:p>
                  </a:txBody>
                  <a:tcPr marT="12700" marB="12700">
                    <a:solidFill>
                      <a:srgbClr val="FFFFFF"/>
                    </a:solidFill>
                  </a:tcPr>
                </a:tc>
                <a:tc>
                  <a:txBody>
                    <a:bodyPr wrap="square"/>
                    <a:lstStyle/>
                    <a:p>
                      <a:r>
                        <a:rPr sz="950" b="0" i="0">
                          <a:solidFill>
                            <a:srgbClr val="202020"/>
                          </a:solidFill>
                          <a:latin typeface="Calibri"/>
                        </a:rPr>
                        <a:t>critical</a:t>
                      </a:r>
                    </a:p>
                  </a:txBody>
                  <a:tcPr marT="12700" marB="12700">
                    <a:solidFill>
                      <a:srgbClr val="FFFFFF"/>
                    </a:solidFill>
                  </a:tcPr>
                </a:tc>
              </a:tr>
              <a:tr h="384048">
                <a:tc>
                  <a:txBody>
                    <a:bodyPr wrap="square"/>
                    <a:lstStyle/>
                    <a:p>
                      <a:r>
                        <a:rPr sz="950" b="0" i="0">
                          <a:solidFill>
                            <a:srgbClr val="202020"/>
                          </a:solidFill>
                          <a:latin typeface="Calibri"/>
                        </a:rPr>
                        <a:t>Process down</a:t>
                      </a:r>
                    </a:p>
                  </a:txBody>
                  <a:tcPr marT="12700" marB="12700">
                    <a:solidFill>
                      <a:srgbClr val="F7F9FC"/>
                    </a:solidFill>
                  </a:tcPr>
                </a:tc>
                <a:tc>
                  <a:txBody>
                    <a:bodyPr wrap="square"/>
                    <a:lstStyle/>
                    <a:p>
                      <a:r>
                        <a:rPr sz="950" b="0" i="0">
                          <a:solidFill>
                            <a:srgbClr val="202020"/>
                          </a:solidFill>
                          <a:latin typeface="Calibri"/>
                        </a:rPr>
                        <a:t>the scrape target up == 0 for 5m</a:t>
                      </a:r>
                    </a:p>
                  </a:txBody>
                  <a:tcPr marT="12700" marB="12700">
                    <a:solidFill>
                      <a:srgbClr val="F7F9FC"/>
                    </a:solidFill>
                  </a:tcPr>
                </a:tc>
                <a:tc>
                  <a:txBody>
                    <a:bodyPr wrap="square"/>
                    <a:lstStyle/>
                    <a:p>
                      <a:r>
                        <a:rPr sz="950" b="0" i="0">
                          <a:solidFill>
                            <a:srgbClr val="202020"/>
                          </a:solidFill>
                          <a:latin typeface="Calibri"/>
                        </a:rPr>
                        <a:t>critical</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401</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11.5 What good looks like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0" i="0">
                <a:solidFill>
                  <a:srgbClr val="202020"/>
                </a:solidFill>
                <a:latin typeface="Calibri"/>
              </a:rPr>
              <a:t>Both </a:t>
            </a:r>
            <a:r>
              <a:rPr sz="1200" b="0" i="0">
                <a:solidFill>
                  <a:srgbClr val="202020"/>
                </a:solidFill>
                <a:latin typeface="Consolas"/>
              </a:rPr>
              <a:t>circuit_breaker_state</a:t>
            </a:r>
            <a:r>
              <a:rPr sz="1250" b="0" i="0">
                <a:solidFill>
                  <a:srgbClr val="202020"/>
                </a:solidFill>
                <a:latin typeface="Calibri"/>
              </a:rPr>
              <a:t> gauges read 0 (closed); </a:t>
            </a:r>
            <a:r>
              <a:rPr sz="1200" b="0" i="0">
                <a:solidFill>
                  <a:srgbClr val="202020"/>
                </a:solidFill>
                <a:latin typeface="Consolas"/>
              </a:rPr>
              <a:t>/ready</a:t>
            </a:r>
            <a:r>
              <a:rPr sz="1250" b="0" i="0">
                <a:solidFill>
                  <a:srgbClr val="202020"/>
                </a:solidFill>
                <a:latin typeface="Calibri"/>
              </a:rPr>
              <a:t> returns 200.</a:t>
            </a:r>
          </a:p>
          <a:p>
            <a:pPr>
              <a:spcBef>
                <a:spcPts val="100"/>
              </a:spcBef>
              <a:spcAft>
                <a:spcPts val="200"/>
              </a:spcAft>
            </a:pPr>
            <a:r>
              <a:rPr sz="1250" b="1" i="0">
                <a:solidFill>
                  <a:srgbClr val="2E5496"/>
                </a:solidFill>
                <a:latin typeface="Calibri"/>
              </a:rPr>
              <a:t>•  </a:t>
            </a:r>
            <a:r>
              <a:rPr sz="1200" b="0" i="0">
                <a:solidFill>
                  <a:srgbClr val="202020"/>
                </a:solidFill>
                <a:latin typeface="Consolas"/>
              </a:rPr>
              <a:t>crawls_completed_total</a:t>
            </a:r>
            <a:r>
              <a:rPr sz="1250" b="0" i="0">
                <a:solidFill>
                  <a:srgbClr val="202020"/>
                </a:solidFill>
                <a:latin typeface="Calibri"/>
              </a:rPr>
              <a:t> advances on schedule and </a:t>
            </a:r>
            <a:r>
              <a:rPr sz="1200" b="0" i="0">
                <a:solidFill>
                  <a:srgbClr val="202020"/>
                </a:solidFill>
                <a:latin typeface="Consolas"/>
              </a:rPr>
              <a:t>last_crawl_completed_timestamp_seconds</a:t>
            </a:r>
            <a:r>
              <a:rPr sz="1250" b="0" i="0">
                <a:solidFill>
                  <a:srgbClr val="202020"/>
                </a:solidFill>
                <a:latin typeface="Calibri"/>
              </a:rPr>
              <a:t> is recent.</a:t>
            </a:r>
          </a:p>
          <a:p>
            <a:pPr>
              <a:spcBef>
                <a:spcPts val="100"/>
              </a:spcBef>
              <a:spcAft>
                <a:spcPts val="200"/>
              </a:spcAft>
            </a:pPr>
            <a:r>
              <a:rPr sz="1250" b="1" i="0">
                <a:solidFill>
                  <a:srgbClr val="2E5496"/>
                </a:solidFill>
                <a:latin typeface="Calibri"/>
              </a:rPr>
              <a:t>•  </a:t>
            </a:r>
            <a:r>
              <a:rPr sz="1200" b="0" i="0">
                <a:solidFill>
                  <a:srgbClr val="202020"/>
                </a:solidFill>
                <a:latin typeface="Consolas"/>
              </a:rPr>
              <a:t>dead_letter_depth</a:t>
            </a:r>
            <a:r>
              <a:rPr sz="1250" b="0" i="0">
                <a:solidFill>
                  <a:srgbClr val="202020"/>
                </a:solidFill>
                <a:latin typeface="Calibri"/>
              </a:rPr>
              <a:t> is 0 (or steady and small with a known cause).</a:t>
            </a:r>
          </a:p>
          <a:p>
            <a:pPr>
              <a:spcBef>
                <a:spcPts val="100"/>
              </a:spcBef>
              <a:spcAft>
                <a:spcPts val="200"/>
              </a:spcAft>
            </a:pPr>
            <a:r>
              <a:rPr sz="1250" b="1" i="0">
                <a:solidFill>
                  <a:srgbClr val="2E5496"/>
                </a:solidFill>
                <a:latin typeface="Calibri"/>
              </a:rPr>
              <a:t>•  </a:t>
            </a:r>
            <a:r>
              <a:rPr sz="1200" b="0" i="0">
                <a:solidFill>
                  <a:srgbClr val="202020"/>
                </a:solidFill>
                <a:latin typeface="Consolas"/>
              </a:rPr>
              <a:t>api_budget_remaining</a:t>
            </a:r>
            <a:r>
              <a:rPr sz="1250" b="0" i="0">
                <a:solidFill>
                  <a:srgbClr val="202020"/>
                </a:solidFill>
                <a:latin typeface="Calibri"/>
              </a:rPr>
              <a:t> stays comfortably above zero through the business day.</a:t>
            </a:r>
          </a:p>
          <a:p>
            <a:pPr>
              <a:spcBef>
                <a:spcPts val="100"/>
              </a:spcBef>
              <a:spcAft>
                <a:spcPts val="200"/>
              </a:spcAft>
            </a:pPr>
            <a:r>
              <a:rPr sz="1250" b="1" i="0">
                <a:solidFill>
                  <a:srgbClr val="2E5496"/>
                </a:solidFill>
                <a:latin typeface="Calibri"/>
              </a:rPr>
              <a:t>•  </a:t>
            </a:r>
            <a:r>
              <a:rPr sz="1250" b="0" i="0">
                <a:solidFill>
                  <a:srgbClr val="202020"/>
                </a:solidFill>
                <a:latin typeface="Calibri"/>
              </a:rPr>
              <a:t>If webhooks are on: </a:t>
            </a:r>
            <a:r>
              <a:rPr sz="1200" b="0" i="0">
                <a:solidFill>
                  <a:srgbClr val="202020"/>
                </a:solidFill>
                <a:latin typeface="Consolas"/>
              </a:rPr>
              <a:t>webhook_receiver_up</a:t>
            </a:r>
            <a:r>
              <a:rPr sz="1250" b="0" i="0">
                <a:solidFill>
                  <a:srgbClr val="202020"/>
                </a:solidFill>
                <a:latin typeface="Calibri"/>
              </a:rPr>
              <a:t> is 1 and rejections stay flat at ~0.</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402</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11.5 What good looks like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connector also mirrors warnings/errors and service lifecycle to the Windows Event Log (</a:t>
            </a:r>
            <a:r>
              <a:rPr sz="1200" b="0" i="0">
                <a:solidFill>
                  <a:srgbClr val="202020"/>
                </a:solidFill>
                <a:latin typeface="Consolas"/>
              </a:rPr>
              <a:t>EVENTLOG_ENABLED=true</a:t>
            </a:r>
            <a:r>
              <a:rPr sz="1250" b="0" i="0">
                <a:solidFill>
                  <a:srgbClr val="202020"/>
                </a:solidFill>
                <a:latin typeface="Calibri"/>
              </a:rPr>
              <a:t>, source </a:t>
            </a:r>
            <a:r>
              <a:rPr sz="1200" b="0" i="0">
                <a:solidFill>
                  <a:srgbClr val="202020"/>
                </a:solidFill>
                <a:latin typeface="Consolas"/>
              </a:rPr>
              <a:t>ClarizenConnector</a:t>
            </a:r>
            <a:r>
              <a:rPr sz="1250" b="0" i="0">
                <a:solidFill>
                  <a:srgbClr val="202020"/>
                </a:solidFill>
                <a:latin typeface="Calibri"/>
              </a:rPr>
              <a:t>, stable event ids 1000/1001/1002/2000/3000) and emits structured JSON logs (</a:t>
            </a:r>
            <a:r>
              <a:rPr sz="1200" b="0" i="0">
                <a:solidFill>
                  <a:srgbClr val="202020"/>
                </a:solidFill>
                <a:latin typeface="Consolas"/>
              </a:rPr>
              <a:t>LOG_FORMAT=json</a:t>
            </a:r>
            <a:r>
              <a:rPr sz="1250" b="0" i="0">
                <a:solidFill>
                  <a:srgbClr val="202020"/>
                </a:solidFill>
                <a:latin typeface="Calibri"/>
              </a:rPr>
              <a:t>) with a </a:t>
            </a:r>
            <a:r>
              <a:rPr sz="1200" b="0" i="0">
                <a:solidFill>
                  <a:srgbClr val="202020"/>
                </a:solidFill>
                <a:latin typeface="Consolas"/>
              </a:rPr>
              <a:t>correlation_id</a:t>
            </a:r>
            <a:r>
              <a:rPr sz="1250" b="0" i="0">
                <a:solidFill>
                  <a:srgbClr val="202020"/>
                </a:solidFill>
                <a:latin typeface="Calibri"/>
              </a:rPr>
              <a:t> that ties one crawl together across logs, dead-letter records and traces. SIEM wiring is in the Common Guide and the project's SIEM doc.</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403</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Clarizen Connector</a:t>
            </a:r>
          </a:p>
          <a:p>
            <a:r>
              <a:rPr sz="3000" b="1" i="0">
                <a:solidFill>
                  <a:srgbClr val="1F3864"/>
                </a:solidFill>
                <a:latin typeface="Calibri"/>
              </a:rPr>
              <a:t>12. Troubleshooting</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404</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 Troubleshooting</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Symptom to action. Symptoms are the exact log line, alert kind or metric the connector emits. The escalation ladder is L1 operator → L2 connector owner → L3 vendor (Planview for Clarizen-side, Microsoft for Graph-side).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405</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 Troubleshooting</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Symptom</a:t>
                      </a:r>
                    </a:p>
                  </a:txBody>
                  <a:tcPr marT="25400" marB="25400">
                    <a:solidFill>
                      <a:srgbClr val="2E5496"/>
                    </a:solidFill>
                  </a:tcPr>
                </a:tc>
                <a:tc>
                  <a:txBody>
                    <a:bodyPr wrap="square"/>
                    <a:lstStyle/>
                    <a:p>
                      <a:r>
                        <a:rPr sz="1050" b="1" i="0">
                          <a:solidFill>
                            <a:srgbClr val="FFFFFF"/>
                          </a:solidFill>
                          <a:latin typeface="Calibri"/>
                        </a:rPr>
                        <a:t>Likely cause</a:t>
                      </a:r>
                    </a:p>
                  </a:txBody>
                  <a:tcPr marT="25400" marB="25400">
                    <a:solidFill>
                      <a:srgbClr val="2E5496"/>
                    </a:solidFill>
                  </a:tcPr>
                </a:tc>
                <a:tc>
                  <a:txBody>
                    <a:bodyPr wrap="square"/>
                    <a:lstStyle/>
                    <a:p>
                      <a:r>
                        <a:rPr sz="1050" b="1" i="0">
                          <a:solidFill>
                            <a:srgbClr val="FFFFFF"/>
                          </a:solidFill>
                          <a:latin typeface="Calibri"/>
                        </a:rPr>
                        <a:t>Action</a:t>
                      </a:r>
                    </a:p>
                  </a:txBody>
                  <a:tcPr marT="25400" marB="25400">
                    <a:solidFill>
                      <a:srgbClr val="2E5496"/>
                    </a:solidFill>
                  </a:tcPr>
                </a:tc>
              </a:tr>
              <a:tr h="384048">
                <a:tc>
                  <a:txBody>
                    <a:bodyPr wrap="square"/>
                    <a:lstStyle/>
                    <a:p>
                      <a:r>
                        <a:rPr sz="950" b="0" i="0">
                          <a:solidFill>
                            <a:srgbClr val="202020"/>
                          </a:solidFill>
                          <a:latin typeface="Calibri"/>
                        </a:rPr>
                        <a:t>Log Circuit 'clarizen': TRIPPED (open); circuit_breaker_state{dependency="clarizen"} == 2.</a:t>
                      </a:r>
                    </a:p>
                  </a:txBody>
                  <a:tcPr marT="12700" marB="12700">
                    <a:solidFill>
                      <a:srgbClr val="FFFFFF"/>
                    </a:solidFill>
                  </a:tcPr>
                </a:tc>
                <a:tc>
                  <a:txBody>
                    <a:bodyPr wrap="square"/>
                    <a:lstStyle/>
                    <a:p>
                      <a:r>
                        <a:rPr sz="950" b="0" i="0">
                          <a:solidFill>
                            <a:srgbClr val="202020"/>
                          </a:solidFill>
                          <a:latin typeface="Calibri"/>
                        </a:rPr>
                        <a:t>Sustained Clarizen 5xx/timeouts (4xx and honoured 429 never trip it).</a:t>
                      </a:r>
                    </a:p>
                  </a:txBody>
                  <a:tcPr marT="12700" marB="12700">
                    <a:solidFill>
                      <a:srgbClr val="FFFFFF"/>
                    </a:solidFill>
                  </a:tcPr>
                </a:tc>
                <a:tc>
                  <a:txBody>
                    <a:bodyPr wrap="square"/>
                    <a:lstStyle/>
                    <a:p>
                      <a:r>
                        <a:rPr sz="950" b="0" i="0">
                          <a:solidFill>
                            <a:srgbClr val="202020"/>
                          </a:solidFill>
                          <a:latin typeface="Calibri"/>
                        </a:rPr>
                        <a:t>Nothing on the connector — it fails fast, keeps the checkpoint, does not advance the cursor, and half-open probes auto-recover. Fix any local network/proxy fault. Do NOT set CIRCUIT_BREAKER=false. Over 1h open → L2; Planview outage → L3.</a:t>
                      </a:r>
                    </a:p>
                  </a:txBody>
                  <a:tcPr marT="12700" marB="12700">
                    <a:solidFill>
                      <a:srgbClr val="FFFFFF"/>
                    </a:solidFill>
                  </a:tcPr>
                </a:tc>
              </a:tr>
              <a:tr h="384048">
                <a:tc>
                  <a:txBody>
                    <a:bodyPr wrap="square"/>
                    <a:lstStyle/>
                    <a:p>
                      <a:r>
                        <a:rPr sz="950" b="0" i="0">
                          <a:solidFill>
                            <a:srgbClr val="202020"/>
                          </a:solidFill>
                          <a:latin typeface="Calibri"/>
                        </a:rPr>
                        <a:t>Log Circuit 'graph': TRIPPED (open); ingest logs circuit open (Graph); failing fast.</a:t>
                      </a:r>
                    </a:p>
                  </a:txBody>
                  <a:tcPr marT="12700" marB="12700">
                    <a:solidFill>
                      <a:srgbClr val="F7F9FC"/>
                    </a:solidFill>
                  </a:tcPr>
                </a:tc>
                <a:tc>
                  <a:txBody>
                    <a:bodyPr wrap="square"/>
                    <a:lstStyle/>
                    <a:p>
                      <a:r>
                        <a:rPr sz="950" b="0" i="0">
                          <a:solidFill>
                            <a:srgbClr val="202020"/>
                          </a:solidFill>
                          <a:latin typeface="Calibri"/>
                        </a:rPr>
                        <a:t>Sustained Graph API or Entra token-endpoint 5xx (a 5xx token error counts as a Graph failure).</a:t>
                      </a:r>
                    </a:p>
                  </a:txBody>
                  <a:tcPr marT="12700" marB="12700">
                    <a:solidFill>
                      <a:srgbClr val="F7F9FC"/>
                    </a:solidFill>
                  </a:tcPr>
                </a:tc>
                <a:tc>
                  <a:txBody>
                    <a:bodyPr wrap="square"/>
                    <a:lstStyle/>
                    <a:p>
                      <a:r>
                        <a:rPr sz="950" b="0" i="0">
                          <a:solidFill>
                            <a:srgbClr val="202020"/>
                          </a:solidFill>
                          <a:latin typeface="Calibri"/>
                        </a:rPr>
                        <a:t>In-flight items are neither lost nor dead-lettered; the crawl resumes from checkpoint when the breaker closes. If the token endpoint returns 4xx (not 5xx) it is auth, not an outage — see token/auth row. Over 1h with healthy M365 → L2 (suspect proxy/TLS).</a:t>
                      </a:r>
                    </a:p>
                  </a:txBody>
                  <a:tcPr marT="12700" marB="12700">
                    <a:solidFill>
                      <a:srgbClr val="F7F9FC"/>
                    </a:solidFill>
                  </a:tcPr>
                </a:tc>
              </a:tr>
              <a:tr h="384048">
                <a:tc>
                  <a:txBody>
                    <a:bodyPr wrap="square"/>
                    <a:lstStyle/>
                    <a:p>
                      <a:r>
                        <a:rPr sz="950" b="0" i="0">
                          <a:solidFill>
                            <a:srgbClr val="202020"/>
                          </a:solidFill>
                          <a:latin typeface="Calibri"/>
                        </a:rPr>
                        <a:t>Alert degraded_mode; /ready returns 503 DEGRADED.</a:t>
                      </a:r>
                    </a:p>
                  </a:txBody>
                  <a:tcPr marT="12700" marB="12700">
                    <a:solidFill>
                      <a:srgbClr val="FFFFFF"/>
                    </a:solidFill>
                  </a:tcPr>
                </a:tc>
                <a:tc>
                  <a:txBody>
                    <a:bodyPr wrap="square"/>
                    <a:lstStyle/>
                    <a:p>
                      <a:r>
                        <a:rPr sz="950" b="0" i="0">
                          <a:solidFill>
                            <a:srgbClr val="202020"/>
                          </a:solidFill>
                          <a:latin typeface="Calibri"/>
                        </a:rPr>
                        <a:t>One of the two breakers is open (the alert names it).</a:t>
                      </a:r>
                    </a:p>
                  </a:txBody>
                  <a:tcPr marT="12700" marB="12700">
                    <a:solidFill>
                      <a:srgbClr val="FFFFFF"/>
                    </a:solidFill>
                  </a:tcPr>
                </a:tc>
                <a:tc>
                  <a:txBody>
                    <a:bodyPr wrap="square"/>
                    <a:lstStyle/>
                    <a:p>
                      <a:r>
                        <a:rPr sz="950" b="0" i="0">
                          <a:solidFill>
                            <a:srgbClr val="202020"/>
                          </a:solidFill>
                          <a:latin typeface="Calibri"/>
                        </a:rPr>
                        <a:t>No pipeline action needed: checkpoint retained, cursor not advanced, next cycle auto-recovers on a bounded backoff. Verify /ready back to 200 and crawls_completed_total advancing. Repeated flapping → L2 with the trip/reset counters.</a:t>
                      </a:r>
                    </a:p>
                  </a:txBody>
                  <a:tcPr marT="12700" marB="12700">
                    <a:solidFill>
                      <a:srgbClr val="FFFFFF"/>
                    </a:solidFill>
                  </a:tcPr>
                </a:tc>
              </a:tr>
              <a:tr h="384048">
                <a:tc>
                  <a:txBody>
                    <a:bodyPr wrap="square"/>
                    <a:lstStyle/>
                    <a:p>
                      <a:r>
                        <a:rPr sz="950" b="0" i="0">
                          <a:solidFill>
                            <a:srgbClr val="202020"/>
                          </a:solidFill>
                          <a:latin typeface="Calibri"/>
                        </a:rPr>
                        <a:t>Alert dead_letter; dead_letter_depth and items_failed_total rising.</a:t>
                      </a:r>
                    </a:p>
                  </a:txBody>
                  <a:tcPr marT="12700" marB="12700">
                    <a:solidFill>
                      <a:srgbClr val="F7F9FC"/>
                    </a:solidFill>
                  </a:tcPr>
                </a:tc>
                <a:tc>
                  <a:txBody>
                    <a:bodyPr wrap="square"/>
                    <a:lstStyle/>
                    <a:p>
                      <a:r>
                        <a:rPr sz="950" b="0" i="0">
                          <a:solidFill>
                            <a:srgbClr val="202020"/>
                          </a:solidFill>
                          <a:latin typeface="Calibri"/>
                        </a:rPr>
                        <a:t>Records failing to ingest — schema mismatch (HTTP 400 naming a property), a transform/source-data issue, or auth (401/403).</a:t>
                      </a:r>
                    </a:p>
                  </a:txBody>
                  <a:tcPr marT="12700" marB="12700">
                    <a:solidFill>
                      <a:srgbClr val="F7F9FC"/>
                    </a:solidFill>
                  </a:tcPr>
                </a:tc>
                <a:tc>
                  <a:txBody>
                    <a:bodyPr wrap="square"/>
                    <a:lstStyle/>
                    <a:p>
                      <a:r>
                        <a:rPr sz="950" b="0" i="0">
                          <a:solidFill>
                            <a:srgbClr val="202020"/>
                          </a:solidFill>
                          <a:latin typeface="Calibri"/>
                        </a:rPr>
                        <a:t>Group logs/failed_records_&lt;CONNECTOR_ID&gt;.jsonl by error; fix the cause (e.g. correct config/graph-schema.json); run retry-failed --clear-on-success. Records whose source row is gone drop automatically.</a:t>
                      </a:r>
                    </a:p>
                  </a:txBody>
                  <a:tcPr marT="12700" marB="12700">
                    <a:solidFill>
                      <a:srgbClr val="F7F9FC"/>
                    </a:solidFill>
                  </a:tcPr>
                </a:tc>
              </a:tr>
              <a:tr h="384048">
                <a:tc>
                  <a:txBody>
                    <a:bodyPr wrap="square"/>
                    <a:lstStyle/>
                    <a:p>
                      <a:r>
                        <a:rPr sz="950" b="0" i="0">
                          <a:solidFill>
                            <a:srgbClr val="202020"/>
                          </a:solidFill>
                          <a:latin typeface="Calibri"/>
                        </a:rPr>
                        <a:t>Alert deletion_sweep_skipped; log deletion sweep SKIPPED ... safety cap/guard.</a:t>
                      </a:r>
                    </a:p>
                  </a:txBody>
                  <a:tcPr marT="12700" marB="12700">
                    <a:solidFill>
                      <a:srgbClr val="FFFFFF"/>
                    </a:solidFill>
                  </a:tcPr>
                </a:tc>
                <a:tc>
                  <a:txBody>
                    <a:bodyPr wrap="square"/>
                    <a:lstStyle/>
                    <a:p>
                      <a:r>
                        <a:rPr sz="950" b="0" i="0">
                          <a:solidFill>
                            <a:srgbClr val="202020"/>
                          </a:solidFill>
                          <a:latin typeface="Calibri"/>
                        </a:rPr>
                        <a:t>A sweep would have deleted too many items — a real mass change, OR a false signal (source outage, truncated TDW export; an empty source is the classic sign).</a:t>
                      </a:r>
                    </a:p>
                  </a:txBody>
                  <a:tcPr marT="12700" marB="12700">
                    <a:solidFill>
                      <a:srgbClr val="FFFFFF"/>
                    </a:solidFill>
                  </a:tcPr>
                </a:tc>
                <a:tc>
                  <a:txBody>
                    <a:bodyPr wrap="square"/>
                    <a:lstStyle/>
                    <a:p>
                      <a:r>
                        <a:rPr sz="950" b="0" i="0">
                          <a:solidFill>
                            <a:srgbClr val="202020"/>
                          </a:solidFill>
                          <a:latin typeface="Calibri"/>
                        </a:rPr>
                        <a:t>Decide real vs false BEFORE loosening a guard. Real → raise/relax the guard for one run, re-crawl, restore it. False → fix the source (TDW path, API health) and re-run; nothing was deleted. Uncertain → L2 first.</a:t>
                      </a:r>
                    </a:p>
                  </a:txBody>
                  <a:tcPr marT="12700" marB="12700">
                    <a:solidFill>
                      <a:srgbClr val="FFFFFF"/>
                    </a:solidFill>
                  </a:tcPr>
                </a:tc>
              </a:tr>
              <a:tr h="384048">
                <a:tc>
                  <a:txBody>
                    <a:bodyPr wrap="square"/>
                    <a:lstStyle/>
                    <a:p>
                      <a:r>
                        <a:rPr sz="950" b="0" i="0">
                          <a:solidFill>
                            <a:srgbClr val="202020"/>
                          </a:solidFill>
                          <a:latin typeface="Calibri"/>
                        </a:rPr>
                        <a:t>webhook_events_rejected_total climbing; log rejected a post with an invalid or missing 'X-Clarizen-Signature'.</a:t>
                      </a:r>
                    </a:p>
                  </a:txBody>
                  <a:tcPr marT="12700" marB="12700">
                    <a:solidFill>
                      <a:srgbClr val="F7F9FC"/>
                    </a:solidFill>
                  </a:tcPr>
                </a:tc>
                <a:tc>
                  <a:txBody>
                    <a:bodyPr wrap="square"/>
                    <a:lstStyle/>
                    <a:p>
                      <a:r>
                        <a:rPr sz="950" b="0" i="0">
                          <a:solidFill>
                            <a:srgbClr val="202020"/>
                          </a:solidFill>
                          <a:latin typeface="Calibri"/>
                        </a:rPr>
                        <a:t>401 spike: either a secret mismatch mid-rotation (from the legitimate sender) or forgery/probing (from unknown IPs).</a:t>
                      </a:r>
                    </a:p>
                  </a:txBody>
                  <a:tcPr marT="12700" marB="12700">
                    <a:solidFill>
                      <a:srgbClr val="F7F9FC"/>
                    </a:solidFill>
                  </a:tcPr>
                </a:tc>
                <a:tc>
                  <a:txBody>
                    <a:bodyPr wrap="square"/>
                    <a:lstStyle/>
                    <a:p>
                      <a:r>
                        <a:rPr sz="950" b="0" i="0">
                          <a:solidFill>
                            <a:srgbClr val="202020"/>
                          </a:solidFill>
                          <a:latin typeface="Calibri"/>
                        </a:rPr>
                        <a:t>Rotation mismatch → finish the rotation; polling reconciles anything missed. Forgery/flood → block the source at the ingress/firewall (no built-in rate limiter); nothing was parsed or enqueued. Sustained targeted forgery → security team; rotate the secret.</a:t>
                      </a:r>
                    </a:p>
                  </a:txBody>
                  <a:tcPr marT="12700" marB="12700">
                    <a:solidFill>
                      <a:srgbClr val="F7F9FC"/>
                    </a:solidFill>
                  </a:tcPr>
                </a:tc>
              </a:tr>
              <a:tr h="384048">
                <a:tc>
                  <a:txBody>
                    <a:bodyPr wrap="square"/>
                    <a:lstStyle/>
                    <a:p>
                      <a:r>
                        <a:rPr sz="950" b="0" i="0">
                          <a:solidFill>
                            <a:srgbClr val="202020"/>
                          </a:solidFill>
                          <a:latin typeface="Calibri"/>
                        </a:rPr>
                        <a:t>webhook_receiver_up == 0 where webhooks should be on.</a:t>
                      </a:r>
                    </a:p>
                  </a:txBody>
                  <a:tcPr marT="12700" marB="12700">
                    <a:solidFill>
                      <a:srgbClr val="FFFFFF"/>
                    </a:solidFill>
                  </a:tcPr>
                </a:tc>
                <a:tc>
                  <a:txBody>
                    <a:bodyPr wrap="square"/>
                    <a:lstStyle/>
                    <a:p>
                      <a:r>
                        <a:rPr sz="950" b="0" i="0">
                          <a:solidFill>
                            <a:srgbClr val="202020"/>
                          </a:solidFill>
                          <a:latin typeface="Calibri"/>
                        </a:rPr>
                        <a:t>Receiver failed to bind (URL ACL, port collision) or fail-closed on a missing secret.</a:t>
                      </a:r>
                    </a:p>
                  </a:txBody>
                  <a:tcPr marT="12700" marB="12700">
                    <a:solidFill>
                      <a:srgbClr val="FFFFFF"/>
                    </a:solidFill>
                  </a:tcPr>
                </a:tc>
                <a:tc>
                  <a:txBody>
                    <a:bodyPr wrap="square"/>
                    <a:lstStyle/>
                    <a:p>
                      <a:r>
                        <a:rPr sz="950" b="0" i="0">
                          <a:solidFill>
                            <a:srgbClr val="202020"/>
                          </a:solidFill>
                          <a:latin typeface="Calibri"/>
                        </a:rPr>
                        <a:t>Check could not bind / refusing to start logs; reserve a URL ACL or fix the secret. Polling remains the correctness backstop meanwhile.</a:t>
                      </a:r>
                    </a:p>
                  </a:txBody>
                  <a:tcPr marT="12700" marB="12700">
                    <a:solidFill>
                      <a:srgbClr val="FFFFFF"/>
                    </a:solidFill>
                  </a:tcPr>
                </a:tc>
              </a:tr>
              <a:tr h="384048">
                <a:tc>
                  <a:txBody>
                    <a:bodyPr wrap="square"/>
                    <a:lstStyle/>
                    <a:p>
                      <a:r>
                        <a:rPr sz="950" b="0" i="0">
                          <a:solidFill>
                            <a:srgbClr val="202020"/>
                          </a:solidFill>
                          <a:latin typeface="Calibri"/>
                        </a:rPr>
                        <a:t>Log TDW export '&lt;path&gt;' for object '&lt;Object&gt;' failed to parse (crawl continues via REST).</a:t>
                      </a:r>
                    </a:p>
                  </a:txBody>
                  <a:tcPr marT="12700" marB="12700">
                    <a:solidFill>
                      <a:srgbClr val="F7F9FC"/>
                    </a:solidFill>
                  </a:tcPr>
                </a:tc>
                <a:tc>
                  <a:txBody>
                    <a:bodyPr wrap="square"/>
                    <a:lstStyle/>
                    <a:p>
                      <a:r>
                        <a:rPr sz="950" b="0" i="0">
                          <a:solidFill>
                            <a:srgbClr val="202020"/>
                          </a:solidFill>
                          <a:latin typeface="Calibri"/>
                        </a:rPr>
                        <a:t>Truncated/partial export, encoding, or renamed columns.</a:t>
                      </a:r>
                    </a:p>
                  </a:txBody>
                  <a:tcPr marT="12700" marB="12700">
                    <a:solidFill>
                      <a:srgbClr val="F7F9FC"/>
                    </a:solidFill>
                  </a:tcPr>
                </a:tc>
                <a:tc>
                  <a:txBody>
                    <a:bodyPr wrap="square"/>
                    <a:lstStyle/>
                    <a:p>
                      <a:r>
                        <a:rPr sz="950" b="0" i="0">
                          <a:solidFill>
                            <a:srgbClr val="202020"/>
                          </a:solidFill>
                          <a:latin typeface="Calibri"/>
                        </a:rPr>
                        <a:t>Inspect the file (size vs last run, header drift); re-run the upstream export and schedule a gap before the crawl. REST fallback already kept the crawl correct, only slower/budget-heavier. Recurring → export-job owner; column drift → L2.</a:t>
                      </a:r>
                    </a:p>
                  </a:txBody>
                  <a:tcPr marT="12700" marB="12700">
                    <a:solidFill>
                      <a:srgbClr val="F7F9FC"/>
                    </a:solidFill>
                  </a:tcPr>
                </a:tc>
              </a:tr>
              <a:tr h="384048">
                <a:tc>
                  <a:txBody>
                    <a:bodyPr wrap="square"/>
                    <a:lstStyle/>
                    <a:p>
                      <a:r>
                        <a:rPr sz="950" b="0" i="0">
                          <a:solidFill>
                            <a:srgbClr val="202020"/>
                          </a:solidFill>
                          <a:latin typeface="Calibri"/>
                        </a:rPr>
                        <a:t>Startup FINANCIAL_DATA_MODE=acl requires FINANCIAL_DATA_GROUP_ID / must be one of tag | filter | acl; or financial values visible to the wrong audience.</a:t>
                      </a:r>
                    </a:p>
                  </a:txBody>
                  <a:tcPr marT="12700" marB="12700">
                    <a:solidFill>
                      <a:srgbClr val="FFFFFF"/>
                    </a:solidFill>
                  </a:tcPr>
                </a:tc>
                <a:tc>
                  <a:txBody>
                    <a:bodyPr wrap="square"/>
                    <a:lstStyle/>
                    <a:p>
                      <a:r>
                        <a:rPr sz="950" b="0" i="0">
                          <a:solidFill>
                            <a:srgbClr val="202020"/>
                          </a:solidFill>
                          <a:latin typeface="Calibri"/>
                        </a:rPr>
                        <a:t>Config error (fail-fast, names the setting), or a field not listed in financialFields, or the wrong finance group.</a:t>
                      </a:r>
                    </a:p>
                  </a:txBody>
                  <a:tcPr marT="12700" marB="12700">
                    <a:solidFill>
                      <a:srgbClr val="FFFFFF"/>
                    </a:solidFill>
                  </a:tcPr>
                </a:tc>
                <a:tc>
                  <a:txBody>
                    <a:bodyPr wrap="square"/>
                    <a:lstStyle/>
                    <a:p>
                      <a:r>
                        <a:rPr sz="950" b="0" i="0">
                          <a:solidFill>
                            <a:srgbClr val="202020"/>
                          </a:solidFill>
                          <a:latin typeface="Calibri"/>
                        </a:rPr>
                        <a:t>Fix the mode/group; confirm the field is in financialFields in config/schema.json (an unlisted field is not governed); re-run a full crawl (idempotent). Any confirmed exposure → security/compliance immediately with the crawl window and object types.</a:t>
                      </a:r>
                    </a:p>
                  </a:txBody>
                  <a:tcPr marT="12700" marB="12700">
                    <a:solidFill>
                      <a:srgbClr val="FFFFFF"/>
                    </a:solidFill>
                  </a:tcPr>
                </a:tc>
              </a:tr>
              <a:tr h="384048">
                <a:tc>
                  <a:txBody>
                    <a:bodyPr wrap="square"/>
                    <a:lstStyle/>
                    <a:p>
                      <a:r>
                        <a:rPr sz="950" b="0" i="0">
                          <a:solidFill>
                            <a:srgbClr val="202020"/>
                          </a:solidFill>
                          <a:latin typeface="Calibri"/>
                        </a:rPr>
                        <a:t>throttled_429_total climbing fast; logs Graph API transient error 429 ... retrying.</a:t>
                      </a:r>
                    </a:p>
                  </a:txBody>
                  <a:tcPr marT="12700" marB="12700">
                    <a:solidFill>
                      <a:srgbClr val="F7F9FC"/>
                    </a:solidFill>
                  </a:tcPr>
                </a:tc>
                <a:tc>
                  <a:txBody>
                    <a:bodyPr wrap="square"/>
                    <a:lstStyle/>
                    <a:p>
                      <a:r>
                        <a:rPr sz="950" b="0" i="0">
                          <a:solidFill>
                            <a:srgbClr val="202020"/>
                          </a:solidFill>
                          <a:latin typeface="Calibri"/>
                        </a:rPr>
                        <a:t>Throughput exceeds the tenant's Graph budget (first full crawl, raised concurrency, or a co-tenant workload).</a:t>
                      </a:r>
                    </a:p>
                  </a:txBody>
                  <a:tcPr marT="12700" marB="12700">
                    <a:solidFill>
                      <a:srgbClr val="F7F9FC"/>
                    </a:solidFill>
                  </a:tcPr>
                </a:tc>
                <a:tc>
                  <a:txBody>
                    <a:bodyPr wrap="square"/>
                    <a:lstStyle/>
                    <a:p>
                      <a:r>
                        <a:rPr sz="950" b="0" i="0">
                          <a:solidFill>
                            <a:srgbClr val="202020"/>
                          </a:solidFill>
                          <a:latin typeface="Calibri"/>
                        </a:rPr>
                        <a:t>The connector self-heals (honoured Retry-After, 60s clamp, adaptive dial-down). Persistent → lower GRAPH_CONCURRENT_BATCHES, enable GRAPH_RETRY_JITTER=true, spread schedules. 429 never trips the breaker — do not treat it with breaker knobs.</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406</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 Troubleshooting (cont.)</a:t>
            </a:r>
          </a:p>
        </p:txBody>
      </p:sp>
      <p:graphicFrame>
        <p:nvGraphicFramePr>
          <p:cNvPr id="5" name="Table 4"/>
          <p:cNvGraphicFramePr>
            <a:graphicFrameLocks noGrp="1"/>
          </p:cNvGraphicFramePr>
          <p:nvPr/>
        </p:nvGraphicFramePr>
        <p:xfrm>
          <a:off x="502920" y="1188720"/>
          <a:ext cx="11185855" cy="1536192"/>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Symptom</a:t>
                      </a:r>
                    </a:p>
                  </a:txBody>
                  <a:tcPr marT="25400" marB="25400">
                    <a:solidFill>
                      <a:srgbClr val="2E5496"/>
                    </a:solidFill>
                  </a:tcPr>
                </a:tc>
                <a:tc>
                  <a:txBody>
                    <a:bodyPr wrap="square"/>
                    <a:lstStyle/>
                    <a:p>
                      <a:r>
                        <a:rPr sz="1050" b="1" i="0">
                          <a:solidFill>
                            <a:srgbClr val="FFFFFF"/>
                          </a:solidFill>
                          <a:latin typeface="Calibri"/>
                        </a:rPr>
                        <a:t>Likely cause</a:t>
                      </a:r>
                    </a:p>
                  </a:txBody>
                  <a:tcPr marT="25400" marB="25400">
                    <a:solidFill>
                      <a:srgbClr val="2E5496"/>
                    </a:solidFill>
                  </a:tcPr>
                </a:tc>
                <a:tc>
                  <a:txBody>
                    <a:bodyPr wrap="square"/>
                    <a:lstStyle/>
                    <a:p>
                      <a:r>
                        <a:rPr sz="1050" b="1" i="0">
                          <a:solidFill>
                            <a:srgbClr val="FFFFFF"/>
                          </a:solidFill>
                          <a:latin typeface="Calibri"/>
                        </a:rPr>
                        <a:t>Action</a:t>
                      </a:r>
                    </a:p>
                  </a:txBody>
                  <a:tcPr marT="25400" marB="25400">
                    <a:solidFill>
                      <a:srgbClr val="2E5496"/>
                    </a:solidFill>
                  </a:tcPr>
                </a:tc>
              </a:tr>
              <a:tr h="384048">
                <a:tc>
                  <a:txBody>
                    <a:bodyPr wrap="square"/>
                    <a:lstStyle/>
                    <a:p>
                      <a:r>
                        <a:rPr sz="950" b="0" i="0">
                          <a:solidFill>
                            <a:srgbClr val="202020"/>
                          </a:solidFill>
                          <a:latin typeface="Calibri"/>
                        </a:rPr>
                        <a:t>Log Failed to acquire Graph token (HTTP 400/401) or Clarizen login failed (HTTP 401); startup Missing SECRET_....</a:t>
                      </a:r>
                    </a:p>
                  </a:txBody>
                  <a:tcPr marT="12700" marB="12700">
                    <a:solidFill>
                      <a:srgbClr val="FFFFFF"/>
                    </a:solidFill>
                  </a:tcPr>
                </a:tc>
                <a:tc>
                  <a:txBody>
                    <a:bodyPr wrap="square"/>
                    <a:lstStyle/>
                    <a:p>
                      <a:r>
                        <a:rPr sz="950" b="0" i="0">
                          <a:solidFill>
                            <a:srgbClr val="202020"/>
                          </a:solidFill>
                          <a:latin typeface="Calibri"/>
                        </a:rPr>
                        <a:t>Credentials/config: expired secret, revoked cert, wrong tenant id, rotated Clarizen password, lost Key Vault access.</a:t>
                      </a:r>
                    </a:p>
                  </a:txBody>
                  <a:tcPr marT="12700" marB="12700">
                    <a:solidFill>
                      <a:srgbClr val="FFFFFF"/>
                    </a:solidFill>
                  </a:tcPr>
                </a:tc>
                <a:tc>
                  <a:txBody>
                    <a:bodyPr wrap="square"/>
                    <a:lstStyle/>
                    <a:p>
                      <a:r>
                        <a:rPr sz="950" b="0" i="0">
                          <a:solidFill>
                            <a:srgbClr val="202020"/>
                          </a:solidFill>
                          <a:latin typeface="Calibri"/>
                        </a:rPr>
                        <a:t>The logged Graph auth mode tells you which credential is in play. Rotate/replace per the security runbooks; prove with validate-config --strict before restart. Verified-correct-but-rejected → L2, then vendor (conditional-access/service-principal policy).</a:t>
                      </a:r>
                    </a:p>
                  </a:txBody>
                  <a:tcPr marT="12700" marB="12700">
                    <a:solidFill>
                      <a:srgbClr val="FFFFFF"/>
                    </a:solidFill>
                  </a:tcPr>
                </a:tc>
              </a:tr>
              <a:tr h="384048">
                <a:tc>
                  <a:txBody>
                    <a:bodyPr wrap="square"/>
                    <a:lstStyle/>
                    <a:p>
                      <a:r>
                        <a:rPr sz="950" b="0" i="0">
                          <a:solidFill>
                            <a:srgbClr val="202020"/>
                          </a:solidFill>
                          <a:latin typeface="Calibri"/>
                        </a:rPr>
                        <a:t>Log State file '&lt;path&gt;' exists but could not be parsed; dead-letter reader logs a torn line.</a:t>
                      </a:r>
                    </a:p>
                  </a:txBody>
                  <a:tcPr marT="12700" marB="12700">
                    <a:solidFill>
                      <a:srgbClr val="F7F9FC"/>
                    </a:solidFill>
                  </a:tcPr>
                </a:tc>
                <a:tc>
                  <a:txBody>
                    <a:bodyPr wrap="square"/>
                    <a:lstStyle/>
                    <a:p>
                      <a:r>
                        <a:rPr sz="950" b="0" i="0">
                          <a:solidFill>
                            <a:srgbClr val="202020"/>
                          </a:solidFill>
                          <a:latin typeface="Calibri"/>
                        </a:rPr>
                        <a:t>Crash mid-write or disk-full; corruption is contained by design.</a:t>
                      </a:r>
                    </a:p>
                  </a:txBody>
                  <a:tcPr marT="12700" marB="12700">
                    <a:solidFill>
                      <a:srgbClr val="F7F9FC"/>
                    </a:solidFill>
                  </a:tcPr>
                </a:tc>
                <a:tc>
                  <a:txBody>
                    <a:bodyPr wrap="square"/>
                    <a:lstStyle/>
                    <a:p>
                      <a:r>
                        <a:rPr sz="950" b="0" i="0">
                          <a:solidFill>
                            <a:srgbClr val="202020"/>
                          </a:solidFill>
                          <a:latin typeface="Calibri"/>
                        </a:rPr>
                        <a:t>Free disk / fix the volume; optionally restore state from backup (see DR in the Common Guide). A lost delta cursor just makes the next incremental behave like a first run (idempotent PUTs — cost, not correctness). Corruption without a crash/disk event → L2 (suspect two processes sharing one state dir).</a:t>
                      </a:r>
                    </a:p>
                  </a:txBody>
                  <a:tcPr marT="12700" marB="12700">
                    <a:solidFill>
                      <a:srgbClr val="F7F9FC"/>
                    </a:solidFill>
                  </a:tcPr>
                </a:tc>
              </a:tr>
              <a:tr h="384048">
                <a:tc>
                  <a:txBody>
                    <a:bodyPr wrap="square"/>
                    <a:lstStyle/>
                    <a:p>
                      <a:r>
                        <a:rPr sz="950" b="0" i="0">
                          <a:solidFill>
                            <a:srgbClr val="202020"/>
                          </a:solidFill>
                          <a:latin typeface="Calibri"/>
                        </a:rPr>
                        <a:t>HA: a node stops heartbeating; survivors take over claims; crawl still closes.</a:t>
                      </a:r>
                    </a:p>
                  </a:txBody>
                  <a:tcPr marT="12700" marB="12700">
                    <a:solidFill>
                      <a:srgbClr val="FFFFFF"/>
                    </a:solidFill>
                  </a:tcPr>
                </a:tc>
                <a:tc>
                  <a:txBody>
                    <a:bodyPr wrap="square"/>
                    <a:lstStyle/>
                    <a:p>
                      <a:r>
                        <a:rPr sz="950" b="0" i="0">
                          <a:solidFill>
                            <a:srgbClr val="202020"/>
                          </a:solidFill>
                          <a:latin typeface="Calibri"/>
                        </a:rPr>
                        <a:t>Designed failover — a dead node's claims expire after HA_CLAIM_TIMEOUT_SECONDS and survivors resume from its checkpoint.</a:t>
                      </a:r>
                    </a:p>
                  </a:txBody>
                  <a:tcPr marT="12700" marB="12700">
                    <a:solidFill>
                      <a:srgbClr val="FFFFFF"/>
                    </a:solidFill>
                  </a:tcPr>
                </a:tc>
                <a:tc>
                  <a:txBody>
                    <a:bodyPr wrap="square"/>
                    <a:lstStyle/>
                    <a:p>
                      <a:r>
                        <a:rPr sz="950" b="0" i="0">
                          <a:solidFill>
                            <a:srgbClr val="202020"/>
                          </a:solidFill>
                          <a:latin typeface="Calibri"/>
                        </a:rPr>
                        <a:t>Restart/replace the dead node; it rejoins next cycle, nothing to clean up. If a crawl never closes with a pinned claim and no checkpoint progress, that is a wedged lease — stop the node gracefully so the lease expires; never hand-edit the claims table while nodes run.</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407</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Clarizen Connector</a:t>
            </a:r>
          </a:p>
          <a:p>
            <a:r>
              <a:rPr sz="3000" b="1" i="0">
                <a:solidFill>
                  <a:srgbClr val="1F3864"/>
                </a:solidFill>
                <a:latin typeface="Calibri"/>
              </a:rPr>
              <a:t>13. Configuration reference</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408</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13. Configuration reference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Every environment variable, grouped. Required variables fail start-up with "Invalid configuration: Missing &lt;NAME&gt;". Optional variables show their built-in default; every operational knob is off by default. Booleans are true for true / 1 / yes. Secrets (</a:t>
            </a:r>
            <a:r>
              <a:rPr sz="1200" b="0" i="0">
                <a:solidFill>
                  <a:srgbClr val="202020"/>
                </a:solidFill>
                <a:latin typeface="Consolas"/>
              </a:rPr>
              <a:t>SECRET_*</a:t>
            </a:r>
            <a:r>
              <a:rPr sz="1250" b="0" i="0">
                <a:solidFill>
                  <a:srgbClr val="202020"/>
                </a:solidFill>
                <a:latin typeface="Calibri"/>
              </a:rPr>
              <a:t> and the webhook secret) belong in </a:t>
            </a:r>
            <a:r>
              <a:rPr sz="1200" b="0" i="0">
                <a:solidFill>
                  <a:srgbClr val="202020"/>
                </a:solidFill>
                <a:latin typeface="Consolas"/>
              </a:rPr>
              <a:t>env/.env.local.user</a:t>
            </a:r>
            <a:r>
              <a:rPr sz="1250" b="0" i="0">
                <a:solidFill>
                  <a:srgbClr val="202020"/>
                </a:solidFill>
                <a:latin typeface="Calibri"/>
              </a:rPr>
              <a:t> or Key Vault, never in tracked config.</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409</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13.1 Core / identity</a:t>
            </a:r>
          </a:p>
        </p:txBody>
      </p:sp>
      <p:graphicFrame>
        <p:nvGraphicFramePr>
          <p:cNvPr id="5" name="Table 4"/>
          <p:cNvGraphicFramePr>
            <a:graphicFrameLocks noGrp="1"/>
          </p:cNvGraphicFramePr>
          <p:nvPr/>
        </p:nvGraphicFramePr>
        <p:xfrm>
          <a:off x="502920" y="1188720"/>
          <a:ext cx="11185855" cy="1536192"/>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Default</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r>
              <a:tr h="384048">
                <a:tc>
                  <a:txBody>
                    <a:bodyPr wrap="square"/>
                    <a:lstStyle/>
                    <a:p>
                      <a:r>
                        <a:rPr sz="950" b="0" i="0">
                          <a:solidFill>
                            <a:srgbClr val="202020"/>
                          </a:solidFill>
                          <a:latin typeface="Consolas"/>
                        </a:rPr>
                        <a:t>CONNECTOR_ID</a:t>
                      </a:r>
                    </a:p>
                  </a:txBody>
                  <a:tcPr marT="12700" marB="12700">
                    <a:solidFill>
                      <a:srgbClr val="FFFFFF"/>
                    </a:solidFill>
                  </a:tcPr>
                </a:tc>
                <a:tc>
                  <a:txBody>
                    <a:bodyPr wrap="square"/>
                    <a:lstStyle/>
                    <a:p>
                      <a:r>
                        <a:rPr sz="950" b="0" i="0">
                          <a:solidFill>
                            <a:srgbClr val="202020"/>
                          </a:solidFill>
                          <a:latin typeface="Calibri"/>
                        </a:rPr>
                        <a:t>(required)</a:t>
                      </a:r>
                    </a:p>
                  </a:txBody>
                  <a:tcPr marT="12700" marB="12700">
                    <a:solidFill>
                      <a:srgbClr val="FFFFFF"/>
                    </a:solidFill>
                  </a:tcPr>
                </a:tc>
                <a:tc>
                  <a:txBody>
                    <a:bodyPr wrap="square"/>
                    <a:lstStyle/>
                    <a:p>
                      <a:r>
                        <a:rPr sz="950" b="0" i="0">
                          <a:solidFill>
                            <a:srgbClr val="202020"/>
                          </a:solidFill>
                          <a:latin typeface="Calibri"/>
                        </a:rPr>
                        <a:t>Unique id of the Graph external connection; 3-32 alphanumeric, no reserved Microsoft prefix. Also the on-disk state key.</a:t>
                      </a:r>
                    </a:p>
                  </a:txBody>
                  <a:tcPr marT="12700" marB="12700">
                    <a:solidFill>
                      <a:srgbClr val="FFFFFF"/>
                    </a:solidFill>
                  </a:tcPr>
                </a:tc>
              </a:tr>
              <a:tr h="384048">
                <a:tc>
                  <a:txBody>
                    <a:bodyPr wrap="square"/>
                    <a:lstStyle/>
                    <a:p>
                      <a:r>
                        <a:rPr sz="950" b="0" i="0">
                          <a:solidFill>
                            <a:srgbClr val="202020"/>
                          </a:solidFill>
                          <a:latin typeface="Consolas"/>
                        </a:rPr>
                        <a:t>CONNECTOR_NAME</a:t>
                      </a:r>
                    </a:p>
                  </a:txBody>
                  <a:tcPr marT="12700" marB="12700">
                    <a:solidFill>
                      <a:srgbClr val="F7F9FC"/>
                    </a:solidFill>
                  </a:tcPr>
                </a:tc>
                <a:tc>
                  <a:txBody>
                    <a:bodyPr wrap="square"/>
                    <a:lstStyle/>
                    <a:p>
                      <a:r>
                        <a:rPr sz="950" b="0" i="0">
                          <a:solidFill>
                            <a:srgbClr val="202020"/>
                          </a:solidFill>
                          <a:latin typeface="Calibri"/>
                        </a:rPr>
                        <a:t>Clarizen AdaptiveWork</a:t>
                      </a:r>
                    </a:p>
                  </a:txBody>
                  <a:tcPr marT="12700" marB="12700">
                    <a:solidFill>
                      <a:srgbClr val="F7F9FC"/>
                    </a:solidFill>
                  </a:tcPr>
                </a:tc>
                <a:tc>
                  <a:txBody>
                    <a:bodyPr wrap="square"/>
                    <a:lstStyle/>
                    <a:p>
                      <a:r>
                        <a:rPr sz="950" b="0" i="0">
                          <a:solidFill>
                            <a:srgbClr val="202020"/>
                          </a:solidFill>
                          <a:latin typeface="Calibri"/>
                        </a:rPr>
                        <a:t>Display name in the admin UI.</a:t>
                      </a:r>
                    </a:p>
                  </a:txBody>
                  <a:tcPr marT="12700" marB="12700">
                    <a:solidFill>
                      <a:srgbClr val="F7F9FC"/>
                    </a:solidFill>
                  </a:tcPr>
                </a:tc>
              </a:tr>
              <a:tr h="384048">
                <a:tc>
                  <a:txBody>
                    <a:bodyPr wrap="square"/>
                    <a:lstStyle/>
                    <a:p>
                      <a:r>
                        <a:rPr sz="950" b="0" i="0">
                          <a:solidFill>
                            <a:srgbClr val="202020"/>
                          </a:solidFill>
                          <a:latin typeface="Consolas"/>
                        </a:rPr>
                        <a:t>CONNECTOR_DESCRIPTION</a:t>
                      </a:r>
                    </a:p>
                  </a:txBody>
                  <a:tcPr marT="12700" marB="12700">
                    <a:solidFill>
                      <a:srgbClr val="FFFFFF"/>
                    </a:solidFill>
                  </a:tcPr>
                </a:tc>
                <a:tc>
                  <a:txBody>
                    <a:bodyPr wrap="square"/>
                    <a:lstStyle/>
                    <a:p>
                      <a:r>
                        <a:rPr sz="950" b="0" i="0">
                          <a:solidFill>
                            <a:srgbClr val="202020"/>
                          </a:solidFill>
                          <a:latin typeface="Calibri"/>
                        </a:rPr>
                        <a:t>(see example)</a:t>
                      </a:r>
                    </a:p>
                  </a:txBody>
                  <a:tcPr marT="12700" marB="12700">
                    <a:solidFill>
                      <a:srgbClr val="FFFFFF"/>
                    </a:solidFill>
                  </a:tcPr>
                </a:tc>
                <a:tc>
                  <a:txBody>
                    <a:bodyPr wrap="square"/>
                    <a:lstStyle/>
                    <a:p>
                      <a:r>
                        <a:rPr sz="950" b="0" i="0">
                          <a:solidFill>
                            <a:srgbClr val="202020"/>
                          </a:solidFill>
                          <a:latin typeface="Calibri"/>
                        </a:rPr>
                        <a:t>Description shown in Microsoft Search.</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410</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13.2 Clarizen</a:t>
            </a:r>
          </a:p>
        </p:txBody>
      </p:sp>
      <p:graphicFrame>
        <p:nvGraphicFramePr>
          <p:cNvPr id="5" name="Table 4"/>
          <p:cNvGraphicFramePr>
            <a:graphicFrameLocks noGrp="1"/>
          </p:cNvGraphicFramePr>
          <p:nvPr/>
        </p:nvGraphicFramePr>
        <p:xfrm>
          <a:off x="502920" y="1188720"/>
          <a:ext cx="11185855" cy="3840480"/>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Default</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r>
              <a:tr h="384048">
                <a:tc>
                  <a:txBody>
                    <a:bodyPr wrap="square"/>
                    <a:lstStyle/>
                    <a:p>
                      <a:r>
                        <a:rPr sz="950" b="0" i="0">
                          <a:solidFill>
                            <a:srgbClr val="202020"/>
                          </a:solidFill>
                          <a:latin typeface="Consolas"/>
                        </a:rPr>
                        <a:t>CLARIZEN_BASE_URL</a:t>
                      </a:r>
                    </a:p>
                  </a:txBody>
                  <a:tcPr marT="12700" marB="12700">
                    <a:solidFill>
                      <a:srgbClr val="FFFFFF"/>
                    </a:solidFill>
                  </a:tcPr>
                </a:tc>
                <a:tc>
                  <a:txBody>
                    <a:bodyPr wrap="square"/>
                    <a:lstStyle/>
                    <a:p>
                      <a:r>
                        <a:rPr sz="950" b="0" i="0">
                          <a:solidFill>
                            <a:srgbClr val="202020"/>
                          </a:solidFill>
                          <a:latin typeface="Calibri"/>
                        </a:rPr>
                        <a:t>api.clarizen.com/v2.0/services</a:t>
                      </a:r>
                    </a:p>
                  </a:txBody>
                  <a:tcPr marT="12700" marB="12700">
                    <a:solidFill>
                      <a:srgbClr val="FFFFFF"/>
                    </a:solidFill>
                  </a:tcPr>
                </a:tc>
                <a:tc>
                  <a:txBody>
                    <a:bodyPr wrap="square"/>
                    <a:lstStyle/>
                    <a:p>
                      <a:r>
                        <a:rPr sz="950" b="0" i="0">
                          <a:solidFill>
                            <a:srgbClr val="202020"/>
                          </a:solidFill>
                          <a:latin typeface="Calibri"/>
                        </a:rPr>
                        <a:t>REST API v2 endpoint (EU: api2.clarizen.com).</a:t>
                      </a:r>
                    </a:p>
                  </a:txBody>
                  <a:tcPr marT="12700" marB="12700">
                    <a:solidFill>
                      <a:srgbClr val="FFFFFF"/>
                    </a:solidFill>
                  </a:tcPr>
                </a:tc>
              </a:tr>
              <a:tr h="384048">
                <a:tc>
                  <a:txBody>
                    <a:bodyPr wrap="square"/>
                    <a:lstStyle/>
                    <a:p>
                      <a:r>
                        <a:rPr sz="950" b="0" i="0">
                          <a:solidFill>
                            <a:srgbClr val="202020"/>
                          </a:solidFill>
                          <a:latin typeface="Consolas"/>
                        </a:rPr>
                        <a:t>CLARIZEN_USERNAME</a:t>
                      </a:r>
                    </a:p>
                  </a:txBody>
                  <a:tcPr marT="12700" marB="12700">
                    <a:solidFill>
                      <a:srgbClr val="F7F9FC"/>
                    </a:solidFill>
                  </a:tcPr>
                </a:tc>
                <a:tc>
                  <a:txBody>
                    <a:bodyPr wrap="square"/>
                    <a:lstStyle/>
                    <a:p>
                      <a:r>
                        <a:rPr sz="950" b="0" i="0">
                          <a:solidFill>
                            <a:srgbClr val="202020"/>
                          </a:solidFill>
                          <a:latin typeface="Calibri"/>
                        </a:rPr>
                        <a:t>(required)</a:t>
                      </a:r>
                    </a:p>
                  </a:txBody>
                  <a:tcPr marT="12700" marB="12700">
                    <a:solidFill>
                      <a:srgbClr val="F7F9FC"/>
                    </a:solidFill>
                  </a:tcPr>
                </a:tc>
                <a:tc>
                  <a:txBody>
                    <a:bodyPr wrap="square"/>
                    <a:lstStyle/>
                    <a:p>
                      <a:r>
                        <a:rPr sz="950" b="0" i="0">
                          <a:solidFill>
                            <a:srgbClr val="202020"/>
                          </a:solidFill>
                          <a:latin typeface="Calibri"/>
                        </a:rPr>
                        <a:t>API service-user login.</a:t>
                      </a:r>
                    </a:p>
                  </a:txBody>
                  <a:tcPr marT="12700" marB="12700">
                    <a:solidFill>
                      <a:srgbClr val="F7F9FC"/>
                    </a:solidFill>
                  </a:tcPr>
                </a:tc>
              </a:tr>
              <a:tr h="384048">
                <a:tc>
                  <a:txBody>
                    <a:bodyPr wrap="square"/>
                    <a:lstStyle/>
                    <a:p>
                      <a:r>
                        <a:rPr sz="950" b="0" i="0">
                          <a:solidFill>
                            <a:srgbClr val="202020"/>
                          </a:solidFill>
                          <a:latin typeface="Consolas"/>
                        </a:rPr>
                        <a:t>SECRET_CLARIZEN_PASSWORD</a:t>
                      </a:r>
                    </a:p>
                  </a:txBody>
                  <a:tcPr marT="12700" marB="12700">
                    <a:solidFill>
                      <a:srgbClr val="FFFFFF"/>
                    </a:solidFill>
                  </a:tcPr>
                </a:tc>
                <a:tc>
                  <a:txBody>
                    <a:bodyPr wrap="square"/>
                    <a:lstStyle/>
                    <a:p>
                      <a:r>
                        <a:rPr sz="950" b="0" i="0">
                          <a:solidFill>
                            <a:srgbClr val="202020"/>
                          </a:solidFill>
                          <a:latin typeface="Calibri"/>
                        </a:rPr>
                        <a:t>(required)</a:t>
                      </a:r>
                    </a:p>
                  </a:txBody>
                  <a:tcPr marT="12700" marB="12700">
                    <a:solidFill>
                      <a:srgbClr val="FFFFFF"/>
                    </a:solidFill>
                  </a:tcPr>
                </a:tc>
                <a:tc>
                  <a:txBody>
                    <a:bodyPr wrap="square"/>
                    <a:lstStyle/>
                    <a:p>
                      <a:r>
                        <a:rPr sz="950" b="0" i="0">
                          <a:solidFill>
                            <a:srgbClr val="202020"/>
                          </a:solidFill>
                          <a:latin typeface="Calibri"/>
                        </a:rPr>
                        <a:t>API user password. Secret.</a:t>
                      </a:r>
                    </a:p>
                  </a:txBody>
                  <a:tcPr marT="12700" marB="12700">
                    <a:solidFill>
                      <a:srgbClr val="FFFFFF"/>
                    </a:solidFill>
                  </a:tcPr>
                </a:tc>
              </a:tr>
              <a:tr h="384048">
                <a:tc>
                  <a:txBody>
                    <a:bodyPr wrap="square"/>
                    <a:lstStyle/>
                    <a:p>
                      <a:r>
                        <a:rPr sz="950" b="0" i="0">
                          <a:solidFill>
                            <a:srgbClr val="202020"/>
                          </a:solidFill>
                          <a:latin typeface="Consolas"/>
                        </a:rPr>
                        <a:t>CLARIZEN_APP_URL</a:t>
                      </a:r>
                    </a:p>
                  </a:txBody>
                  <a:tcPr marT="12700" marB="12700">
                    <a:solidFill>
                      <a:srgbClr val="F7F9FC"/>
                    </a:solidFill>
                  </a:tcPr>
                </a:tc>
                <a:tc>
                  <a:txBody>
                    <a:bodyPr wrap="square"/>
                    <a:lstStyle/>
                    <a:p>
                      <a:r>
                        <a:rPr sz="950" b="0" i="0">
                          <a:solidFill>
                            <a:srgbClr val="202020"/>
                          </a:solidFill>
                          <a:latin typeface="Calibri"/>
                        </a:rPr>
                        <a:t>app.clarizen.com</a:t>
                      </a:r>
                    </a:p>
                  </a:txBody>
                  <a:tcPr marT="12700" marB="12700">
                    <a:solidFill>
                      <a:srgbClr val="F7F9FC"/>
                    </a:solidFill>
                  </a:tcPr>
                </a:tc>
                <a:tc>
                  <a:txBody>
                    <a:bodyPr wrap="square"/>
                    <a:lstStyle/>
                    <a:p>
                      <a:r>
                        <a:rPr sz="950" b="0" i="0">
                          <a:solidFill>
                            <a:srgbClr val="202020"/>
                          </a:solidFill>
                          <a:latin typeface="Calibri"/>
                        </a:rPr>
                        <a:t>Web-app base for deep links.</a:t>
                      </a:r>
                    </a:p>
                  </a:txBody>
                  <a:tcPr marT="12700" marB="12700">
                    <a:solidFill>
                      <a:srgbClr val="F7F9FC"/>
                    </a:solidFill>
                  </a:tcPr>
                </a:tc>
              </a:tr>
              <a:tr h="384048">
                <a:tc>
                  <a:txBody>
                    <a:bodyPr wrap="square"/>
                    <a:lstStyle/>
                    <a:p>
                      <a:r>
                        <a:rPr sz="950" b="0" i="0">
                          <a:solidFill>
                            <a:srgbClr val="202020"/>
                          </a:solidFill>
                          <a:latin typeface="Consolas"/>
                        </a:rPr>
                        <a:t>CLARIZEN_API_CALLS_PER_DAY</a:t>
                      </a:r>
                    </a:p>
                  </a:txBody>
                  <a:tcPr marT="12700" marB="12700">
                    <a:solidFill>
                      <a:srgbClr val="FFFFFF"/>
                    </a:solidFill>
                  </a:tcPr>
                </a:tc>
                <a:tc>
                  <a:txBody>
                    <a:bodyPr wrap="square"/>
                    <a:lstStyle/>
                    <a:p>
                      <a:r>
                        <a:rPr sz="950" b="0" i="0">
                          <a:solidFill>
                            <a:srgbClr val="202020"/>
                          </a:solidFill>
                          <a:latin typeface="Calibri"/>
                        </a:rPr>
                        <a:t>25000</a:t>
                      </a:r>
                    </a:p>
                  </a:txBody>
                  <a:tcPr marT="12700" marB="12700">
                    <a:solidFill>
                      <a:srgbClr val="FFFFFF"/>
                    </a:solidFill>
                  </a:tcPr>
                </a:tc>
                <a:tc>
                  <a:txBody>
                    <a:bodyPr wrap="square"/>
                    <a:lstStyle/>
                    <a:p>
                      <a:r>
                        <a:rPr sz="950" b="0" i="0">
                          <a:solidFill>
                            <a:srgbClr val="202020"/>
                          </a:solidFill>
                          <a:latin typeface="Calibri"/>
                        </a:rPr>
                        <a:t>Client-side daily API budget.</a:t>
                      </a:r>
                    </a:p>
                  </a:txBody>
                  <a:tcPr marT="12700" marB="12700">
                    <a:solidFill>
                      <a:srgbClr val="FFFFFF"/>
                    </a:solidFill>
                  </a:tcPr>
                </a:tc>
              </a:tr>
              <a:tr h="384048">
                <a:tc>
                  <a:txBody>
                    <a:bodyPr wrap="square"/>
                    <a:lstStyle/>
                    <a:p>
                      <a:r>
                        <a:rPr sz="950" b="0" i="0">
                          <a:solidFill>
                            <a:srgbClr val="202020"/>
                          </a:solidFill>
                          <a:latin typeface="Consolas"/>
                        </a:rPr>
                        <a:t>CLARIZEN_MAX_CALLS_PER_MINUTE</a:t>
                      </a:r>
                    </a:p>
                  </a:txBody>
                  <a:tcPr marT="12700" marB="12700">
                    <a:solidFill>
                      <a:srgbClr val="F7F9FC"/>
                    </a:solidFill>
                  </a:tcPr>
                </a:tc>
                <a:tc>
                  <a:txBody>
                    <a:bodyPr wrap="square"/>
                    <a:lstStyle/>
                    <a:p>
                      <a:r>
                        <a:rPr sz="950" b="0" i="0">
                          <a:solidFill>
                            <a:srgbClr val="202020"/>
                          </a:solidFill>
                          <a:latin typeface="Calibri"/>
                        </a:rPr>
                        <a:t>60</a:t>
                      </a:r>
                    </a:p>
                  </a:txBody>
                  <a:tcPr marT="12700" marB="12700">
                    <a:solidFill>
                      <a:srgbClr val="F7F9FC"/>
                    </a:solidFill>
                  </a:tcPr>
                </a:tc>
                <a:tc>
                  <a:txBody>
                    <a:bodyPr wrap="square"/>
                    <a:lstStyle/>
                    <a:p>
                      <a:r>
                        <a:rPr sz="950" b="0" i="0">
                          <a:solidFill>
                            <a:srgbClr val="202020"/>
                          </a:solidFill>
                          <a:latin typeface="Calibri"/>
                        </a:rPr>
                        <a:t>Burst-smoothing rate.</a:t>
                      </a:r>
                    </a:p>
                  </a:txBody>
                  <a:tcPr marT="12700" marB="12700">
                    <a:solidFill>
                      <a:srgbClr val="F7F9FC"/>
                    </a:solidFill>
                  </a:tcPr>
                </a:tc>
              </a:tr>
              <a:tr h="384048">
                <a:tc>
                  <a:txBody>
                    <a:bodyPr wrap="square"/>
                    <a:lstStyle/>
                    <a:p>
                      <a:r>
                        <a:rPr sz="950" b="0" i="0">
                          <a:solidFill>
                            <a:srgbClr val="202020"/>
                          </a:solidFill>
                          <a:latin typeface="Consolas"/>
                        </a:rPr>
                        <a:t>CLARIZEN_PAGE_SIZE</a:t>
                      </a:r>
                    </a:p>
                  </a:txBody>
                  <a:tcPr marT="12700" marB="12700">
                    <a:solidFill>
                      <a:srgbClr val="FFFFFF"/>
                    </a:solidFill>
                  </a:tcPr>
                </a:tc>
                <a:tc>
                  <a:txBody>
                    <a:bodyPr wrap="square"/>
                    <a:lstStyle/>
                    <a:p>
                      <a:r>
                        <a:rPr sz="950" b="0" i="0">
                          <a:solidFill>
                            <a:srgbClr val="202020"/>
                          </a:solidFill>
                          <a:latin typeface="Calibri"/>
                        </a:rPr>
                        <a:t>500 (max 5000)</a:t>
                      </a:r>
                    </a:p>
                  </a:txBody>
                  <a:tcPr marT="12700" marB="12700">
                    <a:solidFill>
                      <a:srgbClr val="FFFFFF"/>
                    </a:solidFill>
                  </a:tcPr>
                </a:tc>
                <a:tc>
                  <a:txBody>
                    <a:bodyPr wrap="square"/>
                    <a:lstStyle/>
                    <a:p>
                      <a:r>
                        <a:rPr sz="950" b="0" i="0">
                          <a:solidFill>
                            <a:srgbClr val="202020"/>
                          </a:solidFill>
                          <a:latin typeface="Calibri"/>
                        </a:rPr>
                        <a:t>Rows per CZQL page.</a:t>
                      </a:r>
                    </a:p>
                  </a:txBody>
                  <a:tcPr marT="12700" marB="12700">
                    <a:solidFill>
                      <a:srgbClr val="FFFFFF"/>
                    </a:solidFill>
                  </a:tcPr>
                </a:tc>
              </a:tr>
              <a:tr h="384048">
                <a:tc>
                  <a:txBody>
                    <a:bodyPr wrap="square"/>
                    <a:lstStyle/>
                    <a:p>
                      <a:r>
                        <a:rPr sz="950" b="0" i="0">
                          <a:solidFill>
                            <a:srgbClr val="202020"/>
                          </a:solidFill>
                          <a:latin typeface="Consolas"/>
                        </a:rPr>
                        <a:t>CLARIZEN_QUERY_LIMIT</a:t>
                      </a:r>
                    </a:p>
                  </a:txBody>
                  <a:tcPr marT="12700" marB="12700">
                    <a:solidFill>
                      <a:srgbClr val="F7F9FC"/>
                    </a:solidFill>
                  </a:tcPr>
                </a:tc>
                <a:tc>
                  <a:txBody>
                    <a:bodyPr wrap="square"/>
                    <a:lstStyle/>
                    <a:p>
                      <a:r>
                        <a:rPr sz="950" b="0" i="0">
                          <a:solidFill>
                            <a:srgbClr val="202020"/>
                          </a:solidFill>
                          <a:latin typeface="Calibri"/>
                        </a:rPr>
                        <a:t>0 (unlimited)</a:t>
                      </a:r>
                    </a:p>
                  </a:txBody>
                  <a:tcPr marT="12700" marB="12700">
                    <a:solidFill>
                      <a:srgbClr val="F7F9FC"/>
                    </a:solidFill>
                  </a:tcPr>
                </a:tc>
                <a:tc>
                  <a:txBody>
                    <a:bodyPr wrap="square"/>
                    <a:lstStyle/>
                    <a:p>
                      <a:r>
                        <a:rPr sz="950" b="0" i="0">
                          <a:solidFill>
                            <a:srgbClr val="202020"/>
                          </a:solidFill>
                          <a:latin typeface="Calibri"/>
                        </a:rPr>
                        <a:t>Cap rows per object type — dev/debug only.</a:t>
                      </a:r>
                    </a:p>
                  </a:txBody>
                  <a:tcPr marT="12700" marB="12700">
                    <a:solidFill>
                      <a:srgbClr val="F7F9FC"/>
                    </a:solidFill>
                  </a:tcPr>
                </a:tc>
              </a:tr>
              <a:tr h="384048">
                <a:tc>
                  <a:txBody>
                    <a:bodyPr wrap="square"/>
                    <a:lstStyle/>
                    <a:p>
                      <a:r>
                        <a:rPr sz="950" b="0" i="0">
                          <a:solidFill>
                            <a:srgbClr val="202020"/>
                          </a:solidFill>
                          <a:latin typeface="Consolas"/>
                        </a:rPr>
                        <a:t>TDW_EXPORT_PATH</a:t>
                      </a:r>
                    </a:p>
                  </a:txBody>
                  <a:tcPr marT="12700" marB="12700">
                    <a:solidFill>
                      <a:srgbClr val="FFFFFF"/>
                    </a:solidFill>
                  </a:tcPr>
                </a:tc>
                <a:tc>
                  <a:txBody>
                    <a:bodyPr wrap="square"/>
                    <a:lstStyle/>
                    <a:p>
                      <a:r>
                        <a:rPr sz="950" b="0" i="0">
                          <a:solidFill>
                            <a:srgbClr val="202020"/>
                          </a:solidFill>
                          <a:latin typeface="Calibri"/>
                        </a:rPr>
                        <a:t>unset</a:t>
                      </a:r>
                    </a:p>
                  </a:txBody>
                  <a:tcPr marT="12700" marB="12700">
                    <a:solidFill>
                      <a:srgbClr val="FFFFFF"/>
                    </a:solidFill>
                  </a:tcPr>
                </a:tc>
                <a:tc>
                  <a:txBody>
                    <a:bodyPr wrap="square"/>
                    <a:lstStyle/>
                    <a:p>
                      <a:r>
                        <a:rPr sz="950" b="0" i="0">
                          <a:solidFill>
                            <a:srgbClr val="202020"/>
                          </a:solidFill>
                          <a:latin typeface="Calibri"/>
                        </a:rPr>
                        <a:t>Directory of TDW bulk exports for full crawls.</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411</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13.3 Microsoft Graph / Entra</a:t>
            </a:r>
          </a:p>
        </p:txBody>
      </p:sp>
      <p:graphicFrame>
        <p:nvGraphicFramePr>
          <p:cNvPr id="5" name="Table 4"/>
          <p:cNvGraphicFramePr>
            <a:graphicFrameLocks noGrp="1"/>
          </p:cNvGraphicFramePr>
          <p:nvPr/>
        </p:nvGraphicFramePr>
        <p:xfrm>
          <a:off x="502920" y="1188720"/>
          <a:ext cx="11185855" cy="3456432"/>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Default</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r>
              <a:tr h="384048">
                <a:tc>
                  <a:txBody>
                    <a:bodyPr wrap="square"/>
                    <a:lstStyle/>
                    <a:p>
                      <a:r>
                        <a:rPr sz="950" b="0" i="0">
                          <a:solidFill>
                            <a:srgbClr val="202020"/>
                          </a:solidFill>
                          <a:latin typeface="Consolas"/>
                        </a:rPr>
                        <a:t>AAD_APP_TENANT_ID</a:t>
                      </a:r>
                    </a:p>
                  </a:txBody>
                  <a:tcPr marT="12700" marB="12700">
                    <a:solidFill>
                      <a:srgbClr val="FFFFFF"/>
                    </a:solidFill>
                  </a:tcPr>
                </a:tc>
                <a:tc>
                  <a:txBody>
                    <a:bodyPr wrap="square"/>
                    <a:lstStyle/>
                    <a:p>
                      <a:r>
                        <a:rPr sz="950" b="0" i="0">
                          <a:solidFill>
                            <a:srgbClr val="202020"/>
                          </a:solidFill>
                          <a:latin typeface="Calibri"/>
                        </a:rPr>
                        <a:t>(required)</a:t>
                      </a:r>
                    </a:p>
                  </a:txBody>
                  <a:tcPr marT="12700" marB="12700">
                    <a:solidFill>
                      <a:srgbClr val="FFFFFF"/>
                    </a:solidFill>
                  </a:tcPr>
                </a:tc>
                <a:tc>
                  <a:txBody>
                    <a:bodyPr wrap="square"/>
                    <a:lstStyle/>
                    <a:p>
                      <a:r>
                        <a:rPr sz="950" b="0" i="0">
                          <a:solidFill>
                            <a:srgbClr val="202020"/>
                          </a:solidFill>
                          <a:latin typeface="Calibri"/>
                        </a:rPr>
                        <a:t>Entra tenant id.</a:t>
                      </a:r>
                    </a:p>
                  </a:txBody>
                  <a:tcPr marT="12700" marB="12700">
                    <a:solidFill>
                      <a:srgbClr val="FFFFFF"/>
                    </a:solidFill>
                  </a:tcPr>
                </a:tc>
              </a:tr>
              <a:tr h="384048">
                <a:tc>
                  <a:txBody>
                    <a:bodyPr wrap="square"/>
                    <a:lstStyle/>
                    <a:p>
                      <a:r>
                        <a:rPr sz="950" b="0" i="0">
                          <a:solidFill>
                            <a:srgbClr val="202020"/>
                          </a:solidFill>
                          <a:latin typeface="Consolas"/>
                        </a:rPr>
                        <a:t>AAD_APP_CLIENT_ID</a:t>
                      </a:r>
                    </a:p>
                  </a:txBody>
                  <a:tcPr marT="12700" marB="12700">
                    <a:solidFill>
                      <a:srgbClr val="F7F9FC"/>
                    </a:solidFill>
                  </a:tcPr>
                </a:tc>
                <a:tc>
                  <a:txBody>
                    <a:bodyPr wrap="square"/>
                    <a:lstStyle/>
                    <a:p>
                      <a:r>
                        <a:rPr sz="950" b="0" i="0">
                          <a:solidFill>
                            <a:srgbClr val="202020"/>
                          </a:solidFill>
                          <a:latin typeface="Calibri"/>
                        </a:rPr>
                        <a:t>(required)</a:t>
                      </a:r>
                    </a:p>
                  </a:txBody>
                  <a:tcPr marT="12700" marB="12700">
                    <a:solidFill>
                      <a:srgbClr val="F7F9FC"/>
                    </a:solidFill>
                  </a:tcPr>
                </a:tc>
                <a:tc>
                  <a:txBody>
                    <a:bodyPr wrap="square"/>
                    <a:lstStyle/>
                    <a:p>
                      <a:r>
                        <a:rPr sz="950" b="0" i="0">
                          <a:solidFill>
                            <a:srgbClr val="202020"/>
                          </a:solidFill>
                          <a:latin typeface="Calibri"/>
                        </a:rPr>
                        <a:t>Entra application (client) id.</a:t>
                      </a:r>
                    </a:p>
                  </a:txBody>
                  <a:tcPr marT="12700" marB="12700">
                    <a:solidFill>
                      <a:srgbClr val="F7F9FC"/>
                    </a:solidFill>
                  </a:tcPr>
                </a:tc>
              </a:tr>
              <a:tr h="384048">
                <a:tc>
                  <a:txBody>
                    <a:bodyPr wrap="square"/>
                    <a:lstStyle/>
                    <a:p>
                      <a:r>
                        <a:rPr sz="950" b="0" i="0">
                          <a:solidFill>
                            <a:srgbClr val="202020"/>
                          </a:solidFill>
                          <a:latin typeface="Consolas"/>
                        </a:rPr>
                        <a:t>SECRET_AAD_APP_CLIENT_SECRET</a:t>
                      </a:r>
                    </a:p>
                  </a:txBody>
                  <a:tcPr marT="12700" marB="12700">
                    <a:solidFill>
                      <a:srgbClr val="FFFFFF"/>
                    </a:solidFill>
                  </a:tcPr>
                </a:tc>
                <a:tc>
                  <a:txBody>
                    <a:bodyPr wrap="square"/>
                    <a:lstStyle/>
                    <a:p>
                      <a:r>
                        <a:rPr sz="950" b="0" i="0">
                          <a:solidFill>
                            <a:srgbClr val="202020"/>
                          </a:solidFill>
                          <a:latin typeface="Calibri"/>
                        </a:rPr>
                        <a:t>(required*)</a:t>
                      </a:r>
                    </a:p>
                  </a:txBody>
                  <a:tcPr marT="12700" marB="12700">
                    <a:solidFill>
                      <a:srgbClr val="FFFFFF"/>
                    </a:solidFill>
                  </a:tcPr>
                </a:tc>
                <a:tc>
                  <a:txBody>
                    <a:bodyPr wrap="square"/>
                    <a:lstStyle/>
                    <a:p>
                      <a:r>
                        <a:rPr sz="950" b="0" i="0">
                          <a:solidFill>
                            <a:srgbClr val="202020"/>
                          </a:solidFill>
                          <a:latin typeface="Calibri"/>
                        </a:rPr>
                        <a:t>Client secret. *Not required if a certificate is configured. Secret.</a:t>
                      </a:r>
                    </a:p>
                  </a:txBody>
                  <a:tcPr marT="12700" marB="12700">
                    <a:solidFill>
                      <a:srgbClr val="FFFFFF"/>
                    </a:solidFill>
                  </a:tcPr>
                </a:tc>
              </a:tr>
              <a:tr h="384048">
                <a:tc>
                  <a:txBody>
                    <a:bodyPr wrap="square"/>
                    <a:lstStyle/>
                    <a:p>
                      <a:r>
                        <a:rPr sz="950" b="0" i="0">
                          <a:solidFill>
                            <a:srgbClr val="202020"/>
                          </a:solidFill>
                          <a:latin typeface="Consolas"/>
                        </a:rPr>
                        <a:t>GRAPH_CLIENT_CERT_PATH / _PASSWORD / _THUMBPRINT</a:t>
                      </a:r>
                    </a:p>
                  </a:txBody>
                  <a:tcPr marT="12700" marB="12700">
                    <a:solidFill>
                      <a:srgbClr val="F7F9FC"/>
                    </a:solidFill>
                  </a:tcPr>
                </a:tc>
                <a:tc>
                  <a:txBody>
                    <a:bodyPr wrap="square"/>
                    <a:lstStyle/>
                    <a:p>
                      <a:r>
                        <a:rPr sz="950" b="0" i="0">
                          <a:solidFill>
                            <a:srgbClr val="202020"/>
                          </a:solidFill>
                          <a:latin typeface="Calibri"/>
                        </a:rPr>
                        <a:t>unset</a:t>
                      </a:r>
                    </a:p>
                  </a:txBody>
                  <a:tcPr marT="12700" marB="12700">
                    <a:solidFill>
                      <a:srgbClr val="F7F9FC"/>
                    </a:solidFill>
                  </a:tcPr>
                </a:tc>
                <a:tc>
                  <a:txBody>
                    <a:bodyPr wrap="square"/>
                    <a:lstStyle/>
                    <a:p>
                      <a:r>
                        <a:rPr sz="950" b="0" i="0">
                          <a:solidFill>
                            <a:srgbClr val="202020"/>
                          </a:solidFill>
                          <a:latin typeface="Calibri"/>
                        </a:rPr>
                        <a:t>Certificate credential (RS256 assertion) — wins over the secret. Thumbprint is Windows-store only.</a:t>
                      </a:r>
                    </a:p>
                  </a:txBody>
                  <a:tcPr marT="12700" marB="12700">
                    <a:solidFill>
                      <a:srgbClr val="F7F9FC"/>
                    </a:solidFill>
                  </a:tcPr>
                </a:tc>
              </a:tr>
              <a:tr h="384048">
                <a:tc>
                  <a:txBody>
                    <a:bodyPr wrap="square"/>
                    <a:lstStyle/>
                    <a:p>
                      <a:r>
                        <a:rPr sz="950" b="0" i="0">
                          <a:solidFill>
                            <a:srgbClr val="202020"/>
                          </a:solidFill>
                          <a:latin typeface="Consolas"/>
                        </a:rPr>
                        <a:t>GRAPH_BASE_URL / GRAPH_SCOPE / GRAPH_API_VERSION</a:t>
                      </a:r>
                    </a:p>
                  </a:txBody>
                  <a:tcPr marT="12700" marB="12700">
                    <a:solidFill>
                      <a:srgbClr val="FFFFFF"/>
                    </a:solidFill>
                  </a:tcPr>
                </a:tc>
                <a:tc>
                  <a:txBody>
                    <a:bodyPr wrap="square"/>
                    <a:lstStyle/>
                    <a:p>
                      <a:r>
                        <a:rPr sz="950" b="0" i="0">
                          <a:solidFill>
                            <a:srgbClr val="202020"/>
                          </a:solidFill>
                          <a:latin typeface="Calibri"/>
                        </a:rPr>
                        <a:t>graph.microsoft.com / .default / v1.0</a:t>
                      </a:r>
                    </a:p>
                  </a:txBody>
                  <a:tcPr marT="12700" marB="12700">
                    <a:solidFill>
                      <a:srgbClr val="FFFFFF"/>
                    </a:solidFill>
                  </a:tcPr>
                </a:tc>
                <a:tc>
                  <a:txBody>
                    <a:bodyPr wrap="square"/>
                    <a:lstStyle/>
                    <a:p>
                      <a:r>
                        <a:rPr sz="950" b="0" i="0">
                          <a:solidFill>
                            <a:srgbClr val="202020"/>
                          </a:solidFill>
                          <a:latin typeface="Calibri"/>
                        </a:rPr>
                        <a:t>Sovereign-cloud endpoint, token audience and API version.</a:t>
                      </a:r>
                    </a:p>
                  </a:txBody>
                  <a:tcPr marT="12700" marB="12700">
                    <a:solidFill>
                      <a:srgbClr val="FFFFFF"/>
                    </a:solidFill>
                  </a:tcPr>
                </a:tc>
              </a:tr>
              <a:tr h="384048">
                <a:tc>
                  <a:txBody>
                    <a:bodyPr wrap="square"/>
                    <a:lstStyle/>
                    <a:p>
                      <a:r>
                        <a:rPr sz="950" b="0" i="0">
                          <a:solidFill>
                            <a:srgbClr val="202020"/>
                          </a:solidFill>
                          <a:latin typeface="Consolas"/>
                        </a:rPr>
                        <a:t>AAD_APP_OAUTH_AUTHORITY_HOST</a:t>
                      </a:r>
                    </a:p>
                  </a:txBody>
                  <a:tcPr marT="12700" marB="12700">
                    <a:solidFill>
                      <a:srgbClr val="F7F9FC"/>
                    </a:solidFill>
                  </a:tcPr>
                </a:tc>
                <a:tc>
                  <a:txBody>
                    <a:bodyPr wrap="square"/>
                    <a:lstStyle/>
                    <a:p>
                      <a:r>
                        <a:rPr sz="950" b="0" i="0">
                          <a:solidFill>
                            <a:srgbClr val="202020"/>
                          </a:solidFill>
                          <a:latin typeface="Calibri"/>
                        </a:rPr>
                        <a:t>login.microsoftonline.com</a:t>
                      </a:r>
                    </a:p>
                  </a:txBody>
                  <a:tcPr marT="12700" marB="12700">
                    <a:solidFill>
                      <a:srgbClr val="F7F9FC"/>
                    </a:solidFill>
                  </a:tcPr>
                </a:tc>
                <a:tc>
                  <a:txBody>
                    <a:bodyPr wrap="square"/>
                    <a:lstStyle/>
                    <a:p>
                      <a:r>
                        <a:rPr sz="950" b="0" i="0">
                          <a:solidFill>
                            <a:srgbClr val="202020"/>
                          </a:solidFill>
                          <a:latin typeface="Calibri"/>
                        </a:rPr>
                        <a:t>Token authority host (sovereign clouds move this).</a:t>
                      </a:r>
                    </a:p>
                  </a:txBody>
                  <a:tcPr marT="12700" marB="12700">
                    <a:solidFill>
                      <a:srgbClr val="F7F9FC"/>
                    </a:solidFill>
                  </a:tcPr>
                </a:tc>
              </a:tr>
              <a:tr h="384048">
                <a:tc>
                  <a:txBody>
                    <a:bodyPr wrap="square"/>
                    <a:lstStyle/>
                    <a:p>
                      <a:r>
                        <a:rPr sz="950" b="0" i="0">
                          <a:solidFill>
                            <a:srgbClr val="202020"/>
                          </a:solidFill>
                          <a:latin typeface="Consolas"/>
                        </a:rPr>
                        <a:t>GRAPH_MAX_RETRIES / GRAPH_RETRY_BACKOFF_BASE</a:t>
                      </a:r>
                    </a:p>
                  </a:txBody>
                  <a:tcPr marT="12700" marB="12700">
                    <a:solidFill>
                      <a:srgbClr val="FFFFFF"/>
                    </a:solidFill>
                  </a:tcPr>
                </a:tc>
                <a:tc>
                  <a:txBody>
                    <a:bodyPr wrap="square"/>
                    <a:lstStyle/>
                    <a:p>
                      <a:r>
                        <a:rPr sz="950" b="0" i="0">
                          <a:solidFill>
                            <a:srgbClr val="202020"/>
                          </a:solidFill>
                          <a:latin typeface="Calibri"/>
                        </a:rPr>
                        <a:t>4 / 2</a:t>
                      </a:r>
                    </a:p>
                  </a:txBody>
                  <a:tcPr marT="12700" marB="12700">
                    <a:solidFill>
                      <a:srgbClr val="FFFFFF"/>
                    </a:solidFill>
                  </a:tcPr>
                </a:tc>
                <a:tc>
                  <a:txBody>
                    <a:bodyPr wrap="square"/>
                    <a:lstStyle/>
                    <a:p>
                      <a:r>
                        <a:rPr sz="950" b="0" i="0">
                          <a:solidFill>
                            <a:srgbClr val="202020"/>
                          </a:solidFill>
                          <a:latin typeface="Calibri"/>
                        </a:rPr>
                        <a:t>Retry count and back-off base for 429/5xx.</a:t>
                      </a:r>
                    </a:p>
                  </a:txBody>
                  <a:tcPr marT="12700" marB="12700">
                    <a:solidFill>
                      <a:srgbClr val="FFFFFF"/>
                    </a:solidFill>
                  </a:tcPr>
                </a:tc>
              </a:tr>
              <a:tr h="384048">
                <a:tc>
                  <a:txBody>
                    <a:bodyPr wrap="square"/>
                    <a:lstStyle/>
                    <a:p>
                      <a:r>
                        <a:rPr sz="950" b="0" i="0">
                          <a:solidFill>
                            <a:srgbClr val="202020"/>
                          </a:solidFill>
                          <a:latin typeface="Consolas"/>
                        </a:rPr>
                        <a:t>GRAPH_RETRY_JITTER</a:t>
                      </a:r>
                    </a:p>
                  </a:txBody>
                  <a:tcPr marT="12700" marB="12700">
                    <a:solidFill>
                      <a:srgbClr val="F7F9FC"/>
                    </a:solidFill>
                  </a:tcPr>
                </a:tc>
                <a:tc>
                  <a:txBody>
                    <a:bodyPr wrap="square"/>
                    <a:lstStyle/>
                    <a:p>
                      <a:r>
                        <a:rPr sz="950" b="0" i="0">
                          <a:solidFill>
                            <a:srgbClr val="202020"/>
                          </a:solidFill>
                          <a:latin typeface="Calibri"/>
                        </a:rPr>
                        <a:t>false</a:t>
                      </a:r>
                    </a:p>
                  </a:txBody>
                  <a:tcPr marT="12700" marB="12700">
                    <a:solidFill>
                      <a:srgbClr val="F7F9FC"/>
                    </a:solidFill>
                  </a:tcPr>
                </a:tc>
                <a:tc>
                  <a:txBody>
                    <a:bodyPr wrap="square"/>
                    <a:lstStyle/>
                    <a:p>
                      <a:r>
                        <a:rPr sz="950" b="0" i="0">
                          <a:solidFill>
                            <a:srgbClr val="202020"/>
                          </a:solidFill>
                          <a:latin typeface="Calibri"/>
                        </a:rPr>
                        <a:t>Add ±20% jitter to computed back-off. Recommended in HA.</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412</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13.4 Batching, ACL, financial governance</a:t>
            </a:r>
          </a:p>
        </p:txBody>
      </p:sp>
      <p:graphicFrame>
        <p:nvGraphicFramePr>
          <p:cNvPr id="5" name="Table 4"/>
          <p:cNvGraphicFramePr>
            <a:graphicFrameLocks noGrp="1"/>
          </p:cNvGraphicFramePr>
          <p:nvPr/>
        </p:nvGraphicFramePr>
        <p:xfrm>
          <a:off x="502920" y="1188720"/>
          <a:ext cx="11185855" cy="3456432"/>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Default</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r>
              <a:tr h="384048">
                <a:tc>
                  <a:txBody>
                    <a:bodyPr wrap="square"/>
                    <a:lstStyle/>
                    <a:p>
                      <a:r>
                        <a:rPr sz="950" b="0" i="0">
                          <a:solidFill>
                            <a:srgbClr val="202020"/>
                          </a:solidFill>
                          <a:latin typeface="Consolas"/>
                        </a:rPr>
                        <a:t>INGEST_CHUNK_SIZE</a:t>
                      </a:r>
                    </a:p>
                  </a:txBody>
                  <a:tcPr marT="12700" marB="12700">
                    <a:solidFill>
                      <a:srgbClr val="FFFFFF"/>
                    </a:solidFill>
                  </a:tcPr>
                </a:tc>
                <a:tc>
                  <a:txBody>
                    <a:bodyPr wrap="square"/>
                    <a:lstStyle/>
                    <a:p>
                      <a:r>
                        <a:rPr sz="950" b="0" i="0">
                          <a:solidFill>
                            <a:srgbClr val="202020"/>
                          </a:solidFill>
                          <a:latin typeface="Calibri"/>
                        </a:rPr>
                        <a:t>200</a:t>
                      </a:r>
                    </a:p>
                  </a:txBody>
                  <a:tcPr marT="12700" marB="12700">
                    <a:solidFill>
                      <a:srgbClr val="FFFFFF"/>
                    </a:solidFill>
                  </a:tcPr>
                </a:tc>
                <a:tc>
                  <a:txBody>
                    <a:bodyPr wrap="square"/>
                    <a:lstStyle/>
                    <a:p>
                      <a:r>
                        <a:rPr sz="950" b="0" i="0">
                          <a:solidFill>
                            <a:srgbClr val="202020"/>
                          </a:solidFill>
                          <a:latin typeface="Calibri"/>
                        </a:rPr>
                        <a:t>Records per checkpointed chunk.</a:t>
                      </a:r>
                    </a:p>
                  </a:txBody>
                  <a:tcPr marT="12700" marB="12700">
                    <a:solidFill>
                      <a:srgbClr val="FFFFFF"/>
                    </a:solidFill>
                  </a:tcPr>
                </a:tc>
              </a:tr>
              <a:tr h="384048">
                <a:tc>
                  <a:txBody>
                    <a:bodyPr wrap="square"/>
                    <a:lstStyle/>
                    <a:p>
                      <a:r>
                        <a:rPr sz="950" b="0" i="0">
                          <a:solidFill>
                            <a:srgbClr val="202020"/>
                          </a:solidFill>
                          <a:latin typeface="Calibri"/>
                        </a:rPr>
                        <a:t>INGEST_GRAPH_BATCH_SIZE (alias GRAPH_BATCH_SIZE)</a:t>
                      </a:r>
                    </a:p>
                  </a:txBody>
                  <a:tcPr marT="12700" marB="12700">
                    <a:solidFill>
                      <a:srgbClr val="F7F9FC"/>
                    </a:solidFill>
                  </a:tcPr>
                </a:tc>
                <a:tc>
                  <a:txBody>
                    <a:bodyPr wrap="square"/>
                    <a:lstStyle/>
                    <a:p>
                      <a:r>
                        <a:rPr sz="950" b="0" i="0">
                          <a:solidFill>
                            <a:srgbClr val="202020"/>
                          </a:solidFill>
                          <a:latin typeface="Calibri"/>
                        </a:rPr>
                        <a:t>20</a:t>
                      </a:r>
                    </a:p>
                  </a:txBody>
                  <a:tcPr marT="12700" marB="12700">
                    <a:solidFill>
                      <a:srgbClr val="F7F9FC"/>
                    </a:solidFill>
                  </a:tcPr>
                </a:tc>
                <a:tc>
                  <a:txBody>
                    <a:bodyPr wrap="square"/>
                    <a:lstStyle/>
                    <a:p>
                      <a:r>
                        <a:rPr sz="950" b="0" i="0">
                          <a:solidFill>
                            <a:srgbClr val="202020"/>
                          </a:solidFill>
                          <a:latin typeface="Calibri"/>
                        </a:rPr>
                        <a:t>Requests per Graph $batch POST (API cap 20).</a:t>
                      </a:r>
                    </a:p>
                  </a:txBody>
                  <a:tcPr marT="12700" marB="12700">
                    <a:solidFill>
                      <a:srgbClr val="F7F9FC"/>
                    </a:solidFill>
                  </a:tcPr>
                </a:tc>
              </a:tr>
              <a:tr h="384048">
                <a:tc>
                  <a:txBody>
                    <a:bodyPr wrap="square"/>
                    <a:lstStyle/>
                    <a:p>
                      <a:r>
                        <a:rPr sz="950" b="0" i="0">
                          <a:solidFill>
                            <a:srgbClr val="202020"/>
                          </a:solidFill>
                          <a:latin typeface="Consolas"/>
                        </a:rPr>
                        <a:t>GRAPH_BATCH_WORKERS (alias GRAPH_CONCURRENT_BATCHES)</a:t>
                      </a:r>
                    </a:p>
                  </a:txBody>
                  <a:tcPr marT="12700" marB="12700">
                    <a:solidFill>
                      <a:srgbClr val="FFFFFF"/>
                    </a:solidFill>
                  </a:tcPr>
                </a:tc>
                <a:tc>
                  <a:txBody>
                    <a:bodyPr wrap="square"/>
                    <a:lstStyle/>
                    <a:p>
                      <a:r>
                        <a:rPr sz="950" b="0" i="0">
                          <a:solidFill>
                            <a:srgbClr val="202020"/>
                          </a:solidFill>
                          <a:latin typeface="Calibri"/>
                        </a:rPr>
                        <a:t>8</a:t>
                      </a:r>
                    </a:p>
                  </a:txBody>
                  <a:tcPr marT="12700" marB="12700">
                    <a:solidFill>
                      <a:srgbClr val="FFFFFF"/>
                    </a:solidFill>
                  </a:tcPr>
                </a:tc>
                <a:tc>
                  <a:txBody>
                    <a:bodyPr wrap="square"/>
                    <a:lstStyle/>
                    <a:p>
                      <a:r>
                        <a:rPr sz="950" b="0" i="0">
                          <a:solidFill>
                            <a:srgbClr val="202020"/>
                          </a:solidFill>
                          <a:latin typeface="Calibri"/>
                        </a:rPr>
                        <a:t>Concurrent $batch workers; adaptive on 429s.</a:t>
                      </a:r>
                    </a:p>
                  </a:txBody>
                  <a:tcPr marT="12700" marB="12700">
                    <a:solidFill>
                      <a:srgbClr val="FFFFFF"/>
                    </a:solidFill>
                  </a:tcPr>
                </a:tc>
              </a:tr>
              <a:tr h="384048">
                <a:tc>
                  <a:txBody>
                    <a:bodyPr wrap="square"/>
                    <a:lstStyle/>
                    <a:p>
                      <a:r>
                        <a:rPr sz="950" b="0" i="0">
                          <a:solidFill>
                            <a:srgbClr val="202020"/>
                          </a:solidFill>
                          <a:latin typeface="Consolas"/>
                        </a:rPr>
                        <a:t>CLARIZEN_GROUP_MAPPING</a:t>
                      </a:r>
                    </a:p>
                  </a:txBody>
                  <a:tcPr marT="12700" marB="12700">
                    <a:solidFill>
                      <a:srgbClr val="F7F9FC"/>
                    </a:solidFill>
                  </a:tcPr>
                </a:tc>
                <a:tc>
                  <a:txBody>
                    <a:bodyPr wrap="square"/>
                    <a:lstStyle/>
                    <a:p>
                      <a:r>
                        <a:rPr sz="950" b="0" i="0">
                          <a:solidFill>
                            <a:srgbClr val="202020"/>
                          </a:solidFill>
                          <a:latin typeface="Calibri"/>
                        </a:rPr>
                        <a:t>unset</a:t>
                      </a:r>
                    </a:p>
                  </a:txBody>
                  <a:tcPr marT="12700" marB="12700">
                    <a:solidFill>
                      <a:srgbClr val="F7F9FC"/>
                    </a:solidFill>
                  </a:tcPr>
                </a:tc>
                <a:tc>
                  <a:txBody>
                    <a:bodyPr wrap="square"/>
                    <a:lstStyle/>
                    <a:p>
                      <a:r>
                        <a:rPr sz="950" b="0" i="0">
                          <a:solidFill>
                            <a:srgbClr val="202020"/>
                          </a:solidFill>
                          <a:latin typeface="Calibri"/>
                        </a:rPr>
                        <a:t>JSON map of Clarizen group ids to Entra group ids; unmapped groups expand to members.</a:t>
                      </a:r>
                    </a:p>
                  </a:txBody>
                  <a:tcPr marT="12700" marB="12700">
                    <a:solidFill>
                      <a:srgbClr val="F7F9FC"/>
                    </a:solidFill>
                  </a:tcPr>
                </a:tc>
              </a:tr>
              <a:tr h="384048">
                <a:tc>
                  <a:txBody>
                    <a:bodyPr wrap="square"/>
                    <a:lstStyle/>
                    <a:p>
                      <a:r>
                        <a:rPr sz="950" b="0" i="0">
                          <a:solidFill>
                            <a:srgbClr val="202020"/>
                          </a:solidFill>
                          <a:latin typeface="Consolas"/>
                        </a:rPr>
                        <a:t>CLARIZEN_ADMIN_GROUP_ID</a:t>
                      </a:r>
                    </a:p>
                  </a:txBody>
                  <a:tcPr marT="12700" marB="12700">
                    <a:solidFill>
                      <a:srgbClr val="FFFFFF"/>
                    </a:solidFill>
                  </a:tcPr>
                </a:tc>
                <a:tc>
                  <a:txBody>
                    <a:bodyPr wrap="square"/>
                    <a:lstStyle/>
                    <a:p>
                      <a:r>
                        <a:rPr sz="950" b="0" i="0">
                          <a:solidFill>
                            <a:srgbClr val="202020"/>
                          </a:solidFill>
                          <a:latin typeface="Calibri"/>
                        </a:rPr>
                        <a:t>unset</a:t>
                      </a:r>
                    </a:p>
                  </a:txBody>
                  <a:tcPr marT="12700" marB="12700">
                    <a:solidFill>
                      <a:srgbClr val="FFFFFF"/>
                    </a:solidFill>
                  </a:tcPr>
                </a:tc>
                <a:tc>
                  <a:txBody>
                    <a:bodyPr wrap="square"/>
                    <a:lstStyle/>
                    <a:p>
                      <a:r>
                        <a:rPr sz="950" b="0" i="0">
                          <a:solidFill>
                            <a:srgbClr val="202020"/>
                          </a:solidFill>
                          <a:latin typeface="Calibri"/>
                        </a:rPr>
                        <a:t>Entra group granted on every item (super-user equivalent).</a:t>
                      </a:r>
                    </a:p>
                  </a:txBody>
                  <a:tcPr marT="12700" marB="12700">
                    <a:solidFill>
                      <a:srgbClr val="FFFFFF"/>
                    </a:solidFill>
                  </a:tcPr>
                </a:tc>
              </a:tr>
              <a:tr h="384048">
                <a:tc>
                  <a:txBody>
                    <a:bodyPr wrap="square"/>
                    <a:lstStyle/>
                    <a:p>
                      <a:r>
                        <a:rPr sz="950" b="0" i="0">
                          <a:solidFill>
                            <a:srgbClr val="202020"/>
                          </a:solidFill>
                          <a:latin typeface="Consolas"/>
                        </a:rPr>
                        <a:t>FALLBACK_ACL_GROUP_ID</a:t>
                      </a:r>
                    </a:p>
                  </a:txBody>
                  <a:tcPr marT="12700" marB="12700">
                    <a:solidFill>
                      <a:srgbClr val="F7F9FC"/>
                    </a:solidFill>
                  </a:tcPr>
                </a:tc>
                <a:tc>
                  <a:txBody>
                    <a:bodyPr wrap="square"/>
                    <a:lstStyle/>
                    <a:p>
                      <a:r>
                        <a:rPr sz="950" b="0" i="0">
                          <a:solidFill>
                            <a:srgbClr val="202020"/>
                          </a:solidFill>
                          <a:latin typeface="Calibri"/>
                        </a:rPr>
                        <a:t>unset</a:t>
                      </a:r>
                    </a:p>
                  </a:txBody>
                  <a:tcPr marT="12700" marB="12700">
                    <a:solidFill>
                      <a:srgbClr val="F7F9FC"/>
                    </a:solidFill>
                  </a:tcPr>
                </a:tc>
                <a:tc>
                  <a:txBody>
                    <a:bodyPr wrap="square"/>
                    <a:lstStyle/>
                    <a:p>
                      <a:r>
                        <a:rPr sz="950" b="0" i="0">
                          <a:solidFill>
                            <a:srgbClr val="202020"/>
                          </a:solidFill>
                          <a:latin typeface="Calibri"/>
                        </a:rPr>
                        <a:t>Entra group granted when a record resolves to zero principals; unset = skip the record.</a:t>
                      </a:r>
                    </a:p>
                  </a:txBody>
                  <a:tcPr marT="12700" marB="12700">
                    <a:solidFill>
                      <a:srgbClr val="F7F9FC"/>
                    </a:solidFill>
                  </a:tcPr>
                </a:tc>
              </a:tr>
              <a:tr h="384048">
                <a:tc>
                  <a:txBody>
                    <a:bodyPr wrap="square"/>
                    <a:lstStyle/>
                    <a:p>
                      <a:r>
                        <a:rPr sz="950" b="0" i="0">
                          <a:solidFill>
                            <a:srgbClr val="202020"/>
                          </a:solidFill>
                          <a:latin typeface="Consolas"/>
                        </a:rPr>
                        <a:t>FINANCIAL_DATA_MODE</a:t>
                      </a:r>
                    </a:p>
                  </a:txBody>
                  <a:tcPr marT="12700" marB="12700">
                    <a:solidFill>
                      <a:srgbClr val="FFFFFF"/>
                    </a:solidFill>
                  </a:tcPr>
                </a:tc>
                <a:tc>
                  <a:txBody>
                    <a:bodyPr wrap="square"/>
                    <a:lstStyle/>
                    <a:p>
                      <a:r>
                        <a:rPr sz="950" b="0" i="0">
                          <a:solidFill>
                            <a:srgbClr val="202020"/>
                          </a:solidFill>
                          <a:latin typeface="Calibri"/>
                        </a:rPr>
                        <a:t>filter</a:t>
                      </a:r>
                    </a:p>
                  </a:txBody>
                  <a:tcPr marT="12700" marB="12700">
                    <a:solidFill>
                      <a:srgbClr val="FFFFFF"/>
                    </a:solidFill>
                  </a:tcPr>
                </a:tc>
                <a:tc>
                  <a:txBody>
                    <a:bodyPr wrap="square"/>
                    <a:lstStyle/>
                    <a:p>
                      <a:r>
                        <a:rPr sz="950" b="0" i="0">
                          <a:solidFill>
                            <a:srgbClr val="202020"/>
                          </a:solidFill>
                          <a:latin typeface="Calibri"/>
                        </a:rPr>
                        <a:t>filter | tag | acl (Section 6). Default filter strips financial values; tag classifies but does NOT restrict (validate-config warns); acl restricts to the finance group.</a:t>
                      </a:r>
                    </a:p>
                  </a:txBody>
                  <a:tcPr marT="12700" marB="12700">
                    <a:solidFill>
                      <a:srgbClr val="FFFFFF"/>
                    </a:solidFill>
                  </a:tcPr>
                </a:tc>
              </a:tr>
              <a:tr h="384048">
                <a:tc>
                  <a:txBody>
                    <a:bodyPr wrap="square"/>
                    <a:lstStyle/>
                    <a:p>
                      <a:r>
                        <a:rPr sz="950" b="0" i="0">
                          <a:solidFill>
                            <a:srgbClr val="202020"/>
                          </a:solidFill>
                          <a:latin typeface="Consolas"/>
                        </a:rPr>
                        <a:t>FINANCIAL_DATA_GROUP_ID</a:t>
                      </a:r>
                    </a:p>
                  </a:txBody>
                  <a:tcPr marT="12700" marB="12700">
                    <a:solidFill>
                      <a:srgbClr val="F7F9FC"/>
                    </a:solidFill>
                  </a:tcPr>
                </a:tc>
                <a:tc>
                  <a:txBody>
                    <a:bodyPr wrap="square"/>
                    <a:lstStyle/>
                    <a:p>
                      <a:r>
                        <a:rPr sz="950" b="0" i="0">
                          <a:solidFill>
                            <a:srgbClr val="202020"/>
                          </a:solidFill>
                          <a:latin typeface="Calibri"/>
                        </a:rPr>
                        <a:t>unset</a:t>
                      </a:r>
                    </a:p>
                  </a:txBody>
                  <a:tcPr marT="12700" marB="12700">
                    <a:solidFill>
                      <a:srgbClr val="F7F9FC"/>
                    </a:solidFill>
                  </a:tcPr>
                </a:tc>
                <a:tc>
                  <a:txBody>
                    <a:bodyPr wrap="square"/>
                    <a:lstStyle/>
                    <a:p>
                      <a:r>
                        <a:rPr sz="950" b="0" i="0">
                          <a:solidFill>
                            <a:srgbClr val="202020"/>
                          </a:solidFill>
                          <a:latin typeface="Calibri"/>
                        </a:rPr>
                        <a:t>Finance Entra group; required when mode = acl.</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413</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13.5 Webhooks &amp; deletion sync</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Default</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r>
              <a:tr h="384048">
                <a:tc>
                  <a:txBody>
                    <a:bodyPr wrap="square"/>
                    <a:lstStyle/>
                    <a:p>
                      <a:r>
                        <a:rPr sz="950" b="0" i="0">
                          <a:solidFill>
                            <a:srgbClr val="202020"/>
                          </a:solidFill>
                          <a:latin typeface="Consolas"/>
                        </a:rPr>
                        <a:t>CLARIZEN_WEBHOOK_PORT</a:t>
                      </a:r>
                    </a:p>
                  </a:txBody>
                  <a:tcPr marT="12700" marB="12700">
                    <a:solidFill>
                      <a:srgbClr val="FFFFFF"/>
                    </a:solidFill>
                  </a:tcPr>
                </a:tc>
                <a:tc>
                  <a:txBody>
                    <a:bodyPr wrap="square"/>
                    <a:lstStyle/>
                    <a:p>
                      <a:r>
                        <a:rPr sz="950" b="0" i="0">
                          <a:solidFill>
                            <a:srgbClr val="202020"/>
                          </a:solidFill>
                          <a:latin typeface="Calibri"/>
                        </a:rPr>
                        <a:t>unset (off)</a:t>
                      </a:r>
                    </a:p>
                  </a:txBody>
                  <a:tcPr marT="12700" marB="12700">
                    <a:solidFill>
                      <a:srgbClr val="FFFFFF"/>
                    </a:solidFill>
                  </a:tcPr>
                </a:tc>
                <a:tc>
                  <a:txBody>
                    <a:bodyPr wrap="square"/>
                    <a:lstStyle/>
                    <a:p>
                      <a:r>
                        <a:rPr sz="950" b="0" i="0">
                          <a:solidFill>
                            <a:srgbClr val="202020"/>
                          </a:solidFill>
                          <a:latin typeface="Calibri"/>
                        </a:rPr>
                        <a:t>Enable the receiver (in --continuous).</a:t>
                      </a:r>
                    </a:p>
                  </a:txBody>
                  <a:tcPr marT="12700" marB="12700">
                    <a:solidFill>
                      <a:srgbClr val="FFFFFF"/>
                    </a:solidFill>
                  </a:tcPr>
                </a:tc>
              </a:tr>
              <a:tr h="384048">
                <a:tc>
                  <a:txBody>
                    <a:bodyPr wrap="square"/>
                    <a:lstStyle/>
                    <a:p>
                      <a:r>
                        <a:rPr sz="950" b="0" i="0">
                          <a:solidFill>
                            <a:srgbClr val="202020"/>
                          </a:solidFill>
                          <a:latin typeface="Consolas"/>
                        </a:rPr>
                        <a:t>CLARIZEN_WEBHOOK_SECRET</a:t>
                      </a:r>
                    </a:p>
                  </a:txBody>
                  <a:tcPr marT="12700" marB="12700">
                    <a:solidFill>
                      <a:srgbClr val="F7F9FC"/>
                    </a:solidFill>
                  </a:tcPr>
                </a:tc>
                <a:tc>
                  <a:txBody>
                    <a:bodyPr wrap="square"/>
                    <a:lstStyle/>
                    <a:p>
                      <a:r>
                        <a:rPr sz="950" b="0" i="0">
                          <a:solidFill>
                            <a:srgbClr val="202020"/>
                          </a:solidFill>
                          <a:latin typeface="Calibri"/>
                        </a:rPr>
                        <a:t>unset</a:t>
                      </a:r>
                    </a:p>
                  </a:txBody>
                  <a:tcPr marT="12700" marB="12700">
                    <a:solidFill>
                      <a:srgbClr val="F7F9FC"/>
                    </a:solidFill>
                  </a:tcPr>
                </a:tc>
                <a:tc>
                  <a:txBody>
                    <a:bodyPr wrap="square"/>
                    <a:lstStyle/>
                    <a:p>
                      <a:r>
                        <a:rPr sz="950" b="0" i="0">
                          <a:solidFill>
                            <a:srgbClr val="202020"/>
                          </a:solidFill>
                          <a:latin typeface="Calibri"/>
                        </a:rPr>
                        <a:t>HMAC shared secret; required when the port is set (fail-closed). Secret.</a:t>
                      </a:r>
                    </a:p>
                  </a:txBody>
                  <a:tcPr marT="12700" marB="12700">
                    <a:solidFill>
                      <a:srgbClr val="F7F9FC"/>
                    </a:solidFill>
                  </a:tcPr>
                </a:tc>
              </a:tr>
              <a:tr h="384048">
                <a:tc>
                  <a:txBody>
                    <a:bodyPr wrap="square"/>
                    <a:lstStyle/>
                    <a:p>
                      <a:r>
                        <a:rPr sz="950" b="0" i="0">
                          <a:solidFill>
                            <a:srgbClr val="202020"/>
                          </a:solidFill>
                          <a:latin typeface="Consolas"/>
                        </a:rPr>
                        <a:t>CLARIZEN_WEBHOOK_PATH / _SIGNATURE_HEADER</a:t>
                      </a:r>
                    </a:p>
                  </a:txBody>
                  <a:tcPr marT="12700" marB="12700">
                    <a:solidFill>
                      <a:srgbClr val="FFFFFF"/>
                    </a:solidFill>
                  </a:tcPr>
                </a:tc>
                <a:tc>
                  <a:txBody>
                    <a:bodyPr wrap="square"/>
                    <a:lstStyle/>
                    <a:p>
                      <a:r>
                        <a:rPr sz="950" b="0" i="0">
                          <a:solidFill>
                            <a:srgbClr val="202020"/>
                          </a:solidFill>
                          <a:latin typeface="Consolas"/>
                        </a:rPr>
                        <a:t>/webhook / X-Clarizen-Signature</a:t>
                      </a:r>
                    </a:p>
                  </a:txBody>
                  <a:tcPr marT="12700" marB="12700">
                    <a:solidFill>
                      <a:srgbClr val="FFFFFF"/>
                    </a:solidFill>
                  </a:tcPr>
                </a:tc>
                <a:tc>
                  <a:txBody>
                    <a:bodyPr wrap="square"/>
                    <a:lstStyle/>
                    <a:p>
                      <a:r>
                        <a:rPr sz="950" b="0" i="0">
                          <a:solidFill>
                            <a:srgbClr val="202020"/>
                          </a:solidFill>
                          <a:latin typeface="Calibri"/>
                        </a:rPr>
                        <a:t>Accepted POST path and signature header.</a:t>
                      </a:r>
                    </a:p>
                  </a:txBody>
                  <a:tcPr marT="12700" marB="12700">
                    <a:solidFill>
                      <a:srgbClr val="FFFFFF"/>
                    </a:solidFill>
                  </a:tcPr>
                </a:tc>
              </a:tr>
              <a:tr h="384048">
                <a:tc>
                  <a:txBody>
                    <a:bodyPr wrap="square"/>
                    <a:lstStyle/>
                    <a:p>
                      <a:r>
                        <a:rPr sz="950" b="0" i="0">
                          <a:solidFill>
                            <a:srgbClr val="202020"/>
                          </a:solidFill>
                          <a:latin typeface="Consolas"/>
                        </a:rPr>
                        <a:t>CLARIZEN_WEBHOOK_TIMESTAMP_HEADER</a:t>
                      </a:r>
                    </a:p>
                  </a:txBody>
                  <a:tcPr marT="12700" marB="12700">
                    <a:solidFill>
                      <a:srgbClr val="F7F9FC"/>
                    </a:solidFill>
                  </a:tcPr>
                </a:tc>
                <a:tc>
                  <a:txBody>
                    <a:bodyPr wrap="square"/>
                    <a:lstStyle/>
                    <a:p>
                      <a:r>
                        <a:rPr sz="950" b="0" i="0">
                          <a:solidFill>
                            <a:srgbClr val="202020"/>
                          </a:solidFill>
                          <a:latin typeface="Calibri"/>
                        </a:rPr>
                        <a:t>X-Clarizen-Timestamp</a:t>
                      </a:r>
                    </a:p>
                  </a:txBody>
                  <a:tcPr marT="12700" marB="12700">
                    <a:solidFill>
                      <a:srgbClr val="F7F9FC"/>
                    </a:solidFill>
                  </a:tcPr>
                </a:tc>
                <a:tc>
                  <a:txBody>
                    <a:bodyPr wrap="square"/>
                    <a:lstStyle/>
                    <a:p>
                      <a:r>
                        <a:rPr sz="950" b="0" i="0">
                          <a:solidFill>
                            <a:srgbClr val="202020"/>
                          </a:solidFill>
                          <a:latin typeface="Calibri"/>
                        </a:rPr>
                        <a:t>Header carrying the signed timestamp (Unix seconds or ISO-8601).</a:t>
                      </a:r>
                    </a:p>
                  </a:txBody>
                  <a:tcPr marT="12700" marB="12700">
                    <a:solidFill>
                      <a:srgbClr val="F7F9FC"/>
                    </a:solidFill>
                  </a:tcPr>
                </a:tc>
              </a:tr>
              <a:tr h="384048">
                <a:tc>
                  <a:txBody>
                    <a:bodyPr wrap="square"/>
                    <a:lstStyle/>
                    <a:p>
                      <a:r>
                        <a:rPr sz="950" b="0" i="0">
                          <a:solidFill>
                            <a:srgbClr val="202020"/>
                          </a:solidFill>
                          <a:latin typeface="Consolas"/>
                        </a:rPr>
                        <a:t>CLARIZEN_WEBHOOK_REQUIRE_TIMESTAMP</a:t>
                      </a:r>
                    </a:p>
                  </a:txBody>
                  <a:tcPr marT="12700" marB="12700">
                    <a:solidFill>
                      <a:srgbClr val="FFFFFF"/>
                    </a:solidFill>
                  </a:tcPr>
                </a:tc>
                <a:tc>
                  <a:txBody>
                    <a:bodyPr wrap="square"/>
                    <a:lstStyle/>
                    <a:p>
                      <a:r>
                        <a:rPr sz="950" b="0" i="0">
                          <a:solidFill>
                            <a:srgbClr val="202020"/>
                          </a:solidFill>
                          <a:latin typeface="Calibri"/>
                        </a:rPr>
                        <a:t>true</a:t>
                      </a:r>
                    </a:p>
                  </a:txBody>
                  <a:tcPr marT="12700" marB="12700">
                    <a:solidFill>
                      <a:srgbClr val="FFFFFF"/>
                    </a:solidFill>
                  </a:tcPr>
                </a:tc>
                <a:tc>
                  <a:txBody>
                    <a:bodyPr wrap="square"/>
                    <a:lstStyle/>
                    <a:p>
                      <a:r>
                        <a:rPr sz="950" b="0" i="0">
                          <a:solidFill>
                            <a:srgbClr val="202020"/>
                          </a:solidFill>
                          <a:latin typeface="Calibri"/>
                        </a:rPr>
                        <a:t>Strict anti-replay; false = legacy body-only migration mode (no replay protection).</a:t>
                      </a:r>
                    </a:p>
                  </a:txBody>
                  <a:tcPr marT="12700" marB="12700">
                    <a:solidFill>
                      <a:srgbClr val="FFFFFF"/>
                    </a:solidFill>
                  </a:tcPr>
                </a:tc>
              </a:tr>
              <a:tr h="384048">
                <a:tc>
                  <a:txBody>
                    <a:bodyPr wrap="square"/>
                    <a:lstStyle/>
                    <a:p>
                      <a:r>
                        <a:rPr sz="950" b="0" i="0">
                          <a:solidFill>
                            <a:srgbClr val="202020"/>
                          </a:solidFill>
                          <a:latin typeface="Consolas"/>
                        </a:rPr>
                        <a:t>CLARIZEN_WEBHOOK_TIMESTAMP_TOLERANCE_SECONDS</a:t>
                      </a:r>
                    </a:p>
                  </a:txBody>
                  <a:tcPr marT="12700" marB="12700">
                    <a:solidFill>
                      <a:srgbClr val="F7F9FC"/>
                    </a:solidFill>
                  </a:tcPr>
                </a:tc>
                <a:tc>
                  <a:txBody>
                    <a:bodyPr wrap="square"/>
                    <a:lstStyle/>
                    <a:p>
                      <a:r>
                        <a:rPr sz="950" b="0" i="0">
                          <a:solidFill>
                            <a:srgbClr val="202020"/>
                          </a:solidFill>
                          <a:latin typeface="Calibri"/>
                        </a:rPr>
                        <a:t>300</a:t>
                      </a:r>
                    </a:p>
                  </a:txBody>
                  <a:tcPr marT="12700" marB="12700">
                    <a:solidFill>
                      <a:srgbClr val="F7F9FC"/>
                    </a:solidFill>
                  </a:tcPr>
                </a:tc>
                <a:tc>
                  <a:txBody>
                    <a:bodyPr wrap="square"/>
                    <a:lstStyle/>
                    <a:p>
                      <a:r>
                        <a:rPr sz="950" b="0" i="0">
                          <a:solidFill>
                            <a:srgbClr val="202020"/>
                          </a:solidFill>
                          <a:latin typeface="Calibri"/>
                        </a:rPr>
                        <a:t>Freshness window; stale/future posts rejected fail-closed.</a:t>
                      </a:r>
                    </a:p>
                  </a:txBody>
                  <a:tcPr marT="12700" marB="12700">
                    <a:solidFill>
                      <a:srgbClr val="F7F9FC"/>
                    </a:solidFill>
                  </a:tcPr>
                </a:tc>
              </a:tr>
              <a:tr h="384048">
                <a:tc>
                  <a:txBody>
                    <a:bodyPr wrap="square"/>
                    <a:lstStyle/>
                    <a:p>
                      <a:r>
                        <a:rPr sz="950" b="0" i="0">
                          <a:solidFill>
                            <a:srgbClr val="202020"/>
                          </a:solidFill>
                          <a:latin typeface="Consolas"/>
                        </a:rPr>
                        <a:t>CLARIZEN_WEBHOOK_DEBOUNCE_MS</a:t>
                      </a:r>
                    </a:p>
                  </a:txBody>
                  <a:tcPr marT="12700" marB="12700">
                    <a:solidFill>
                      <a:srgbClr val="FFFFFF"/>
                    </a:solidFill>
                  </a:tcPr>
                </a:tc>
                <a:tc>
                  <a:txBody>
                    <a:bodyPr wrap="square"/>
                    <a:lstStyle/>
                    <a:p>
                      <a:r>
                        <a:rPr sz="950" b="0" i="0">
                          <a:solidFill>
                            <a:srgbClr val="202020"/>
                          </a:solidFill>
                          <a:latin typeface="Calibri"/>
                        </a:rPr>
                        <a:t>2000</a:t>
                      </a:r>
                    </a:p>
                  </a:txBody>
                  <a:tcPr marT="12700" marB="12700">
                    <a:solidFill>
                      <a:srgbClr val="FFFFFF"/>
                    </a:solidFill>
                  </a:tcPr>
                </a:tc>
                <a:tc>
                  <a:txBody>
                    <a:bodyPr wrap="square"/>
                    <a:lstStyle/>
                    <a:p>
                      <a:r>
                        <a:rPr sz="950" b="0" i="0">
                          <a:solidFill>
                            <a:srgbClr val="202020"/>
                          </a:solidFill>
                          <a:latin typeface="Calibri"/>
                        </a:rPr>
                        <a:t>Per-record coalesce window.</a:t>
                      </a:r>
                    </a:p>
                  </a:txBody>
                  <a:tcPr marT="12700" marB="12700">
                    <a:solidFill>
                      <a:srgbClr val="FFFFFF"/>
                    </a:solidFill>
                  </a:tcPr>
                </a:tc>
              </a:tr>
              <a:tr h="384048">
                <a:tc>
                  <a:txBody>
                    <a:bodyPr wrap="square"/>
                    <a:lstStyle/>
                    <a:p>
                      <a:r>
                        <a:rPr sz="950" b="0" i="0">
                          <a:solidFill>
                            <a:srgbClr val="202020"/>
                          </a:solidFill>
                          <a:latin typeface="Consolas"/>
                        </a:rPr>
                        <a:t>CLARIZEN_WEBHOOK_MAX_PENDING</a:t>
                      </a:r>
                    </a:p>
                  </a:txBody>
                  <a:tcPr marT="12700" marB="12700">
                    <a:solidFill>
                      <a:srgbClr val="F7F9FC"/>
                    </a:solidFill>
                  </a:tcPr>
                </a:tc>
                <a:tc>
                  <a:txBody>
                    <a:bodyPr wrap="square"/>
                    <a:lstStyle/>
                    <a:p>
                      <a:r>
                        <a:rPr sz="950" b="0" i="0">
                          <a:solidFill>
                            <a:srgbClr val="202020"/>
                          </a:solidFill>
                          <a:latin typeface="Calibri"/>
                        </a:rPr>
                        <a:t>100000</a:t>
                      </a:r>
                    </a:p>
                  </a:txBody>
                  <a:tcPr marT="12700" marB="12700">
                    <a:solidFill>
                      <a:srgbClr val="F7F9FC"/>
                    </a:solidFill>
                  </a:tcPr>
                </a:tc>
                <a:tc>
                  <a:txBody>
                    <a:bodyPr wrap="square"/>
                    <a:lstStyle/>
                    <a:p>
                      <a:r>
                        <a:rPr sz="950" b="0" i="0">
                          <a:solidFill>
                            <a:srgbClr val="202020"/>
                          </a:solidFill>
                          <a:latin typeface="Calibri"/>
                        </a:rPr>
                        <a:t>Cap on distinct pending entities in the debouncer (drop-oldest).</a:t>
                      </a:r>
                    </a:p>
                  </a:txBody>
                  <a:tcPr marT="12700" marB="12700">
                    <a:solidFill>
                      <a:srgbClr val="F7F9FC"/>
                    </a:solidFill>
                  </a:tcPr>
                </a:tc>
              </a:tr>
              <a:tr h="384048">
                <a:tc>
                  <a:txBody>
                    <a:bodyPr wrap="square"/>
                    <a:lstStyle/>
                    <a:p>
                      <a:r>
                        <a:rPr sz="950" b="0" i="0">
                          <a:solidFill>
                            <a:srgbClr val="202020"/>
                          </a:solidFill>
                          <a:latin typeface="Consolas"/>
                        </a:rPr>
                        <a:t>DELETION_SYNC</a:t>
                      </a:r>
                    </a:p>
                  </a:txBody>
                  <a:tcPr marT="12700" marB="12700">
                    <a:solidFill>
                      <a:srgbClr val="FFFFFF"/>
                    </a:solidFill>
                  </a:tcPr>
                </a:tc>
                <a:tc>
                  <a:txBody>
                    <a:bodyPr wrap="square"/>
                    <a:lstStyle/>
                    <a:p>
                      <a:r>
                        <a:rPr sz="950" b="0" i="0">
                          <a:solidFill>
                            <a:srgbClr val="202020"/>
                          </a:solidFill>
                          <a:latin typeface="Calibri"/>
                        </a:rPr>
                        <a:t>true</a:t>
                      </a:r>
                    </a:p>
                  </a:txBody>
                  <a:tcPr marT="12700" marB="12700">
                    <a:solidFill>
                      <a:srgbClr val="FFFFFF"/>
                    </a:solidFill>
                  </a:tcPr>
                </a:tc>
                <a:tc>
                  <a:txBody>
                    <a:bodyPr wrap="square"/>
                    <a:lstStyle/>
                    <a:p>
                      <a:r>
                        <a:rPr sz="950" b="0" i="0">
                          <a:solidFill>
                            <a:srgbClr val="202020"/>
                          </a:solidFill>
                          <a:latin typeface="Calibri"/>
                        </a:rPr>
                        <a:t>Full-crawl existence sweep master switch.</a:t>
                      </a:r>
                    </a:p>
                  </a:txBody>
                  <a:tcPr marT="12700" marB="12700">
                    <a:solidFill>
                      <a:srgbClr val="FFFFFF"/>
                    </a:solidFill>
                  </a:tcPr>
                </a:tc>
              </a:tr>
              <a:tr h="384048">
                <a:tc>
                  <a:txBody>
                    <a:bodyPr wrap="square"/>
                    <a:lstStyle/>
                    <a:p>
                      <a:r>
                        <a:rPr sz="950" b="0" i="0">
                          <a:solidFill>
                            <a:srgbClr val="202020"/>
                          </a:solidFill>
                          <a:latin typeface="Consolas"/>
                        </a:rPr>
                        <a:t>DELETION_SYNC_MAX_ITEMS</a:t>
                      </a:r>
                    </a:p>
                  </a:txBody>
                  <a:tcPr marT="12700" marB="12700">
                    <a:solidFill>
                      <a:srgbClr val="F7F9FC"/>
                    </a:solidFill>
                  </a:tcPr>
                </a:tc>
                <a:tc>
                  <a:txBody>
                    <a:bodyPr wrap="square"/>
                    <a:lstStyle/>
                    <a:p>
                      <a:r>
                        <a:rPr sz="950" b="0" i="0">
                          <a:solidFill>
                            <a:srgbClr val="202020"/>
                          </a:solidFill>
                          <a:latin typeface="Calibri"/>
                        </a:rPr>
                        <a:t>1000</a:t>
                      </a:r>
                    </a:p>
                  </a:txBody>
                  <a:tcPr marT="12700" marB="12700">
                    <a:solidFill>
                      <a:srgbClr val="F7F9FC"/>
                    </a:solidFill>
                  </a:tcPr>
                </a:tc>
                <a:tc>
                  <a:txBody>
                    <a:bodyPr wrap="square"/>
                    <a:lstStyle/>
                    <a:p>
                      <a:r>
                        <a:rPr sz="950" b="0" i="0">
                          <a:solidFill>
                            <a:srgbClr val="202020"/>
                          </a:solidFill>
                          <a:latin typeface="Calibri"/>
                        </a:rPr>
                        <a:t>Absolute mass-deletion cap per object type per sweep.</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414</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13.5 Webhooks &amp; deletion sync (cont.)</a:t>
            </a:r>
          </a:p>
        </p:txBody>
      </p:sp>
      <p:graphicFrame>
        <p:nvGraphicFramePr>
          <p:cNvPr id="5" name="Table 4"/>
          <p:cNvGraphicFramePr>
            <a:graphicFrameLocks noGrp="1"/>
          </p:cNvGraphicFramePr>
          <p:nvPr/>
        </p:nvGraphicFramePr>
        <p:xfrm>
          <a:off x="502920" y="1188720"/>
          <a:ext cx="11185855" cy="768096"/>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Default</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r>
              <a:tr h="384048">
                <a:tc>
                  <a:txBody>
                    <a:bodyPr wrap="square"/>
                    <a:lstStyle/>
                    <a:p>
                      <a:r>
                        <a:rPr sz="950" b="0" i="0">
                          <a:solidFill>
                            <a:srgbClr val="202020"/>
                          </a:solidFill>
                          <a:latin typeface="Consolas"/>
                        </a:rPr>
                        <a:t>DELETION_SYNC_MAX_PERCENT</a:t>
                      </a:r>
                    </a:p>
                  </a:txBody>
                  <a:tcPr marT="12700" marB="12700">
                    <a:solidFill>
                      <a:srgbClr val="FFFFFF"/>
                    </a:solidFill>
                  </a:tcPr>
                </a:tc>
                <a:tc>
                  <a:txBody>
                    <a:bodyPr wrap="square"/>
                    <a:lstStyle/>
                    <a:p>
                      <a:r>
                        <a:rPr sz="950" b="0" i="0">
                          <a:solidFill>
                            <a:srgbClr val="202020"/>
                          </a:solidFill>
                          <a:latin typeface="Calibri"/>
                        </a:rPr>
                        <a:t>25</a:t>
                      </a:r>
                    </a:p>
                  </a:txBody>
                  <a:tcPr marT="12700" marB="12700">
                    <a:solidFill>
                      <a:srgbClr val="FFFFFF"/>
                    </a:solidFill>
                  </a:tcPr>
                </a:tc>
                <a:tc>
                  <a:txBody>
                    <a:bodyPr wrap="square"/>
                    <a:lstStyle/>
                    <a:p>
                      <a:r>
                        <a:rPr sz="950" b="0" i="0">
                          <a:solidFill>
                            <a:srgbClr val="202020"/>
                          </a:solidFill>
                          <a:latin typeface="Calibri"/>
                        </a:rPr>
                        <a:t>Percentage mass-deletion guard.</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415</a:t>
            </a: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13.6 State backend, HA &amp; observability</a:t>
            </a:r>
          </a:p>
        </p:txBody>
      </p:sp>
      <p:graphicFrame>
        <p:nvGraphicFramePr>
          <p:cNvPr id="5" name="Table 4"/>
          <p:cNvGraphicFramePr>
            <a:graphicFrameLocks noGrp="1"/>
          </p:cNvGraphicFramePr>
          <p:nvPr/>
        </p:nvGraphicFramePr>
        <p:xfrm>
          <a:off x="502920" y="1188720"/>
          <a:ext cx="11185855" cy="3456432"/>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Default</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r>
              <a:tr h="384048">
                <a:tc>
                  <a:txBody>
                    <a:bodyPr wrap="square"/>
                    <a:lstStyle/>
                    <a:p>
                      <a:r>
                        <a:rPr sz="950" b="0" i="0">
                          <a:solidFill>
                            <a:srgbClr val="202020"/>
                          </a:solidFill>
                          <a:latin typeface="Consolas"/>
                        </a:rPr>
                        <a:t>USE_SQL_SERVER / SQL_CONNECTION_STRING</a:t>
                      </a:r>
                    </a:p>
                  </a:txBody>
                  <a:tcPr marT="12700" marB="12700">
                    <a:solidFill>
                      <a:srgbClr val="FFFFFF"/>
                    </a:solidFill>
                  </a:tcPr>
                </a:tc>
                <a:tc>
                  <a:txBody>
                    <a:bodyPr wrap="square"/>
                    <a:lstStyle/>
                    <a:p>
                      <a:r>
                        <a:rPr sz="950" b="0" i="0">
                          <a:solidFill>
                            <a:srgbClr val="202020"/>
                          </a:solidFill>
                          <a:latin typeface="Calibri"/>
                        </a:rPr>
                        <a:t>false</a:t>
                      </a:r>
                    </a:p>
                  </a:txBody>
                  <a:tcPr marT="12700" marB="12700">
                    <a:solidFill>
                      <a:srgbClr val="FFFFFF"/>
                    </a:solidFill>
                  </a:tcPr>
                </a:tc>
                <a:tc>
                  <a:txBody>
                    <a:bodyPr wrap="square"/>
                    <a:lstStyle/>
                    <a:p>
                      <a:r>
                        <a:rPr sz="950" b="0" i="0">
                          <a:solidFill>
                            <a:srgbClr val="202020"/>
                          </a:solidFill>
                          <a:latin typeface="Calibri"/>
                        </a:rPr>
                        <a:t>Move state to SQL Server (required for HA).</a:t>
                      </a:r>
                    </a:p>
                  </a:txBody>
                  <a:tcPr marT="12700" marB="12700">
                    <a:solidFill>
                      <a:srgbClr val="FFFFFF"/>
                    </a:solidFill>
                  </a:tcPr>
                </a:tc>
              </a:tr>
              <a:tr h="384048">
                <a:tc>
                  <a:txBody>
                    <a:bodyPr wrap="square"/>
                    <a:lstStyle/>
                    <a:p>
                      <a:r>
                        <a:rPr sz="950" b="0" i="0">
                          <a:solidFill>
                            <a:srgbClr val="202020"/>
                          </a:solidFill>
                          <a:latin typeface="Consolas"/>
                        </a:rPr>
                        <a:t>SQL_USE_MANAGED_IDENTITY / SQL_MAX_RETRIES</a:t>
                      </a:r>
                    </a:p>
                  </a:txBody>
                  <a:tcPr marT="12700" marB="12700">
                    <a:solidFill>
                      <a:srgbClr val="F7F9FC"/>
                    </a:solidFill>
                  </a:tcPr>
                </a:tc>
                <a:tc>
                  <a:txBody>
                    <a:bodyPr wrap="square"/>
                    <a:lstStyle/>
                    <a:p>
                      <a:r>
                        <a:rPr sz="950" b="0" i="0">
                          <a:solidFill>
                            <a:srgbClr val="202020"/>
                          </a:solidFill>
                          <a:latin typeface="Calibri"/>
                        </a:rPr>
                        <a:t>false / 5</a:t>
                      </a:r>
                    </a:p>
                  </a:txBody>
                  <a:tcPr marT="12700" marB="12700">
                    <a:solidFill>
                      <a:srgbClr val="F7F9FC"/>
                    </a:solidFill>
                  </a:tcPr>
                </a:tc>
                <a:tc>
                  <a:txBody>
                    <a:bodyPr wrap="square"/>
                    <a:lstStyle/>
                    <a:p>
                      <a:r>
                        <a:rPr sz="950" b="0" i="0">
                          <a:solidFill>
                            <a:srgbClr val="202020"/>
                          </a:solidFill>
                          <a:latin typeface="Calibri"/>
                        </a:rPr>
                        <a:t>Entra auth for SQL; transient-fault retry (AG failover).</a:t>
                      </a:r>
                    </a:p>
                  </a:txBody>
                  <a:tcPr marT="12700" marB="12700">
                    <a:solidFill>
                      <a:srgbClr val="F7F9FC"/>
                    </a:solidFill>
                  </a:tcPr>
                </a:tc>
              </a:tr>
              <a:tr h="384048">
                <a:tc>
                  <a:txBody>
                    <a:bodyPr wrap="square"/>
                    <a:lstStyle/>
                    <a:p>
                      <a:r>
                        <a:rPr sz="950" b="0" i="0">
                          <a:solidFill>
                            <a:srgbClr val="202020"/>
                          </a:solidFill>
                          <a:latin typeface="Consolas"/>
                        </a:rPr>
                        <a:t>HA_MODE (+ NODE_ID, HA_CLAIM_TIMEOUT_SECONDS, HA_HEARTBEAT_SECONDS)</a:t>
                      </a:r>
                    </a:p>
                  </a:txBody>
                  <a:tcPr marT="12700" marB="12700">
                    <a:solidFill>
                      <a:srgbClr val="FFFFFF"/>
                    </a:solidFill>
                  </a:tcPr>
                </a:tc>
                <a:tc>
                  <a:txBody>
                    <a:bodyPr wrap="square"/>
                    <a:lstStyle/>
                    <a:p>
                      <a:r>
                        <a:rPr sz="950" b="0" i="0">
                          <a:solidFill>
                            <a:srgbClr val="202020"/>
                          </a:solidFill>
                          <a:latin typeface="Calibri"/>
                        </a:rPr>
                        <a:t>false</a:t>
                      </a:r>
                    </a:p>
                  </a:txBody>
                  <a:tcPr marT="12700" marB="12700">
                    <a:solidFill>
                      <a:srgbClr val="FFFFFF"/>
                    </a:solidFill>
                  </a:tcPr>
                </a:tc>
                <a:tc>
                  <a:txBody>
                    <a:bodyPr wrap="square"/>
                    <a:lstStyle/>
                    <a:p>
                      <a:r>
                        <a:rPr sz="950" b="0" i="0">
                          <a:solidFill>
                            <a:srgbClr val="202020"/>
                          </a:solidFill>
                          <a:latin typeface="Calibri"/>
                        </a:rPr>
                        <a:t>Active-active multi-node crawling (needs SQL).</a:t>
                      </a:r>
                    </a:p>
                  </a:txBody>
                  <a:tcPr marT="12700" marB="12700">
                    <a:solidFill>
                      <a:srgbClr val="FFFFFF"/>
                    </a:solidFill>
                  </a:tcPr>
                </a:tc>
              </a:tr>
              <a:tr h="384048">
                <a:tc>
                  <a:txBody>
                    <a:bodyPr wrap="square"/>
                    <a:lstStyle/>
                    <a:p>
                      <a:r>
                        <a:rPr sz="950" b="0" i="0">
                          <a:solidFill>
                            <a:srgbClr val="202020"/>
                          </a:solidFill>
                          <a:latin typeface="Consolas"/>
                        </a:rPr>
                        <a:t>USE_KEY_VAULT / KEY_VAULT_URI</a:t>
                      </a:r>
                    </a:p>
                  </a:txBody>
                  <a:tcPr marT="12700" marB="12700">
                    <a:solidFill>
                      <a:srgbClr val="F7F9FC"/>
                    </a:solidFill>
                  </a:tcPr>
                </a:tc>
                <a:tc>
                  <a:txBody>
                    <a:bodyPr wrap="square"/>
                    <a:lstStyle/>
                    <a:p>
                      <a:r>
                        <a:rPr sz="950" b="0" i="0">
                          <a:solidFill>
                            <a:srgbClr val="202020"/>
                          </a:solidFill>
                          <a:latin typeface="Calibri"/>
                        </a:rPr>
                        <a:t>false</a:t>
                      </a:r>
                    </a:p>
                  </a:txBody>
                  <a:tcPr marT="12700" marB="12700">
                    <a:solidFill>
                      <a:srgbClr val="F7F9FC"/>
                    </a:solidFill>
                  </a:tcPr>
                </a:tc>
                <a:tc>
                  <a:txBody>
                    <a:bodyPr wrap="square"/>
                    <a:lstStyle/>
                    <a:p>
                      <a:r>
                        <a:rPr sz="950" b="0" i="0">
                          <a:solidFill>
                            <a:srgbClr val="202020"/>
                          </a:solidFill>
                          <a:latin typeface="Calibri"/>
                        </a:rPr>
                        <a:t>Resolve SECRET_* from Azure Key Vault.</a:t>
                      </a:r>
                    </a:p>
                  </a:txBody>
                  <a:tcPr marT="12700" marB="12700">
                    <a:solidFill>
                      <a:srgbClr val="F7F9FC"/>
                    </a:solidFill>
                  </a:tcPr>
                </a:tc>
              </a:tr>
              <a:tr h="384048">
                <a:tc>
                  <a:txBody>
                    <a:bodyPr wrap="square"/>
                    <a:lstStyle/>
                    <a:p>
                      <a:r>
                        <a:rPr sz="950" b="0" i="0">
                          <a:solidFill>
                            <a:srgbClr val="202020"/>
                          </a:solidFill>
                          <a:latin typeface="Consolas"/>
                        </a:rPr>
                        <a:t>HEALTH_PORT</a:t>
                      </a:r>
                    </a:p>
                  </a:txBody>
                  <a:tcPr marT="12700" marB="12700">
                    <a:solidFill>
                      <a:srgbClr val="FFFFFF"/>
                    </a:solidFill>
                  </a:tcPr>
                </a:tc>
                <a:tc>
                  <a:txBody>
                    <a:bodyPr wrap="square"/>
                    <a:lstStyle/>
                    <a:p>
                      <a:r>
                        <a:rPr sz="950" b="0" i="0">
                          <a:solidFill>
                            <a:srgbClr val="202020"/>
                          </a:solidFill>
                          <a:latin typeface="Calibri"/>
                        </a:rPr>
                        <a:t>unset</a:t>
                      </a:r>
                    </a:p>
                  </a:txBody>
                  <a:tcPr marT="12700" marB="12700">
                    <a:solidFill>
                      <a:srgbClr val="FFFFFF"/>
                    </a:solidFill>
                  </a:tcPr>
                </a:tc>
                <a:tc>
                  <a:txBody>
                    <a:bodyPr wrap="square"/>
                    <a:lstStyle/>
                    <a:p>
                      <a:r>
                        <a:rPr sz="950" b="0" i="0">
                          <a:solidFill>
                            <a:srgbClr val="202020"/>
                          </a:solidFill>
                          <a:latin typeface="Calibri"/>
                        </a:rPr>
                        <a:t>&gt;0 serves /health, /ready, /metrics.</a:t>
                      </a:r>
                    </a:p>
                  </a:txBody>
                  <a:tcPr marT="12700" marB="12700">
                    <a:solidFill>
                      <a:srgbClr val="FFFFFF"/>
                    </a:solidFill>
                  </a:tcPr>
                </a:tc>
              </a:tr>
              <a:tr h="384048">
                <a:tc>
                  <a:txBody>
                    <a:bodyPr wrap="square"/>
                    <a:lstStyle/>
                    <a:p>
                      <a:r>
                        <a:rPr sz="950" b="0" i="0">
                          <a:solidFill>
                            <a:srgbClr val="202020"/>
                          </a:solidFill>
                          <a:latin typeface="Consolas"/>
                        </a:rPr>
                        <a:t>LOG_FORMAT / LOG_LEVEL / LOG_RETENTION_DAYS</a:t>
                      </a:r>
                    </a:p>
                  </a:txBody>
                  <a:tcPr marT="12700" marB="12700">
                    <a:solidFill>
                      <a:srgbClr val="F7F9FC"/>
                    </a:solidFill>
                  </a:tcPr>
                </a:tc>
                <a:tc>
                  <a:txBody>
                    <a:bodyPr wrap="square"/>
                    <a:lstStyle/>
                    <a:p>
                      <a:r>
                        <a:rPr sz="950" b="0" i="0">
                          <a:solidFill>
                            <a:srgbClr val="202020"/>
                          </a:solidFill>
                          <a:latin typeface="Calibri"/>
                        </a:rPr>
                        <a:t>text / DEBUG / 0</a:t>
                      </a:r>
                    </a:p>
                  </a:txBody>
                  <a:tcPr marT="12700" marB="12700">
                    <a:solidFill>
                      <a:srgbClr val="F7F9FC"/>
                    </a:solidFill>
                  </a:tcPr>
                </a:tc>
                <a:tc>
                  <a:txBody>
                    <a:bodyPr wrap="square"/>
                    <a:lstStyle/>
                    <a:p>
                      <a:r>
                        <a:rPr sz="950" b="0" i="0">
                          <a:solidFill>
                            <a:srgbClr val="202020"/>
                          </a:solidFill>
                          <a:latin typeface="Calibri"/>
                        </a:rPr>
                        <a:t>Structured JSON logs; log-level floor; prune old run dirs.</a:t>
                      </a:r>
                    </a:p>
                  </a:txBody>
                  <a:tcPr marT="12700" marB="12700">
                    <a:solidFill>
                      <a:srgbClr val="F7F9FC"/>
                    </a:solidFill>
                  </a:tcPr>
                </a:tc>
              </a:tr>
              <a:tr h="384048">
                <a:tc>
                  <a:txBody>
                    <a:bodyPr wrap="square"/>
                    <a:lstStyle/>
                    <a:p>
                      <a:r>
                        <a:rPr sz="950" b="0" i="0">
                          <a:solidFill>
                            <a:srgbClr val="202020"/>
                          </a:solidFill>
                          <a:latin typeface="Consolas"/>
                        </a:rPr>
                        <a:t>ALERT_WEBHOOK_URL / ALERT_DEADLETTER_THRESHOLD</a:t>
                      </a:r>
                    </a:p>
                  </a:txBody>
                  <a:tcPr marT="12700" marB="12700">
                    <a:solidFill>
                      <a:srgbClr val="FFFFFF"/>
                    </a:solidFill>
                  </a:tcPr>
                </a:tc>
                <a:tc>
                  <a:txBody>
                    <a:bodyPr wrap="square"/>
                    <a:lstStyle/>
                    <a:p>
                      <a:r>
                        <a:rPr sz="950" b="0" i="0">
                          <a:solidFill>
                            <a:srgbClr val="202020"/>
                          </a:solidFill>
                          <a:latin typeface="Calibri"/>
                        </a:rPr>
                        <a:t>unset / 0</a:t>
                      </a:r>
                    </a:p>
                  </a:txBody>
                  <a:tcPr marT="12700" marB="12700">
                    <a:solidFill>
                      <a:srgbClr val="FFFFFF"/>
                    </a:solidFill>
                  </a:tcPr>
                </a:tc>
                <a:tc>
                  <a:txBody>
                    <a:bodyPr wrap="square"/>
                    <a:lstStyle/>
                    <a:p>
                      <a:r>
                        <a:rPr sz="950" b="0" i="0">
                          <a:solidFill>
                            <a:srgbClr val="202020"/>
                          </a:solidFill>
                          <a:latin typeface="Calibri"/>
                        </a:rPr>
                        <a:t>POST alerts on failures / dead-letter growth.</a:t>
                      </a:r>
                    </a:p>
                  </a:txBody>
                  <a:tcPr marT="12700" marB="12700">
                    <a:solidFill>
                      <a:srgbClr val="FFFFFF"/>
                    </a:solidFill>
                  </a:tcPr>
                </a:tc>
              </a:tr>
              <a:tr h="384048">
                <a:tc>
                  <a:txBody>
                    <a:bodyPr wrap="square"/>
                    <a:lstStyle/>
                    <a:p>
                      <a:r>
                        <a:rPr sz="950" b="0" i="0">
                          <a:solidFill>
                            <a:srgbClr val="202020"/>
                          </a:solidFill>
                          <a:latin typeface="Consolas"/>
                        </a:rPr>
                        <a:t>IDENTITY_SYNC_ON_INCREMENTAL</a:t>
                      </a:r>
                    </a:p>
                  </a:txBody>
                  <a:tcPr marT="12700" marB="12700">
                    <a:solidFill>
                      <a:srgbClr val="F7F9FC"/>
                    </a:solidFill>
                  </a:tcPr>
                </a:tc>
                <a:tc>
                  <a:txBody>
                    <a:bodyPr wrap="square"/>
                    <a:lstStyle/>
                    <a:p>
                      <a:r>
                        <a:rPr sz="950" b="0" i="0">
                          <a:solidFill>
                            <a:srgbClr val="202020"/>
                          </a:solidFill>
                          <a:latin typeface="Calibri"/>
                        </a:rPr>
                        <a:t>true</a:t>
                      </a:r>
                    </a:p>
                  </a:txBody>
                  <a:tcPr marT="12700" marB="12700">
                    <a:solidFill>
                      <a:srgbClr val="F7F9FC"/>
                    </a:solidFill>
                  </a:tcPr>
                </a:tc>
                <a:tc>
                  <a:txBody>
                    <a:bodyPr wrap="square"/>
                    <a:lstStyle/>
                    <a:p>
                      <a:r>
                        <a:rPr sz="950" b="0" i="0">
                          <a:solidFill>
                            <a:srgbClr val="202020"/>
                          </a:solidFill>
                          <a:latin typeface="Calibri"/>
                        </a:rPr>
                        <a:t>Re-sync Clarizen-to-Entra entitlements on incremental crawls too (not only full crawls). false restores full-crawl-only.</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416</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13.7 Attachments, tracing, enterprise hardening</a:t>
            </a:r>
          </a:p>
        </p:txBody>
      </p:sp>
      <p:graphicFrame>
        <p:nvGraphicFramePr>
          <p:cNvPr id="5" name="Table 4"/>
          <p:cNvGraphicFramePr>
            <a:graphicFrameLocks noGrp="1"/>
          </p:cNvGraphicFramePr>
          <p:nvPr/>
        </p:nvGraphicFramePr>
        <p:xfrm>
          <a:off x="502920" y="1188720"/>
          <a:ext cx="11185855" cy="2688336"/>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Default</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r>
              <a:tr h="384048">
                <a:tc>
                  <a:txBody>
                    <a:bodyPr wrap="square"/>
                    <a:lstStyle/>
                    <a:p>
                      <a:r>
                        <a:rPr sz="950" b="0" i="0">
                          <a:solidFill>
                            <a:srgbClr val="202020"/>
                          </a:solidFill>
                          <a:latin typeface="Consolas"/>
                        </a:rPr>
                        <a:t>ATTACHMENT_INGESTION (+ ATTACHMENT_MAX_BYTES, ATTACHMENT_ALLOWED_TYPES)</a:t>
                      </a:r>
                    </a:p>
                  </a:txBody>
                  <a:tcPr marT="12700" marB="12700">
                    <a:solidFill>
                      <a:srgbClr val="FFFFFF"/>
                    </a:solidFill>
                  </a:tcPr>
                </a:tc>
                <a:tc>
                  <a:txBody>
                    <a:bodyPr wrap="square"/>
                    <a:lstStyle/>
                    <a:p>
                      <a:r>
                        <a:rPr sz="950" b="0" i="0">
                          <a:solidFill>
                            <a:srgbClr val="202020"/>
                          </a:solidFill>
                          <a:latin typeface="Calibri"/>
                        </a:rPr>
                        <a:t>false / 10 MiB / (allowlist)</a:t>
                      </a:r>
                    </a:p>
                  </a:txBody>
                  <a:tcPr marT="12700" marB="12700">
                    <a:solidFill>
                      <a:srgbClr val="FFFFFF"/>
                    </a:solidFill>
                  </a:tcPr>
                </a:tc>
                <a:tc>
                  <a:txBody>
                    <a:bodyPr wrap="square"/>
                    <a:lstStyle/>
                    <a:p>
                      <a:r>
                        <a:rPr sz="950" b="0" i="0">
                          <a:solidFill>
                            <a:srgbClr val="202020"/>
                          </a:solidFill>
                          <a:latin typeface="Calibri"/>
                        </a:rPr>
                        <a:t>Download and extract attachment text into the item content.</a:t>
                      </a:r>
                    </a:p>
                  </a:txBody>
                  <a:tcPr marT="12700" marB="12700">
                    <a:solidFill>
                      <a:srgbClr val="FFFFFF"/>
                    </a:solidFill>
                  </a:tcPr>
                </a:tc>
              </a:tr>
              <a:tr h="384048">
                <a:tc>
                  <a:txBody>
                    <a:bodyPr wrap="square"/>
                    <a:lstStyle/>
                    <a:p>
                      <a:r>
                        <a:rPr sz="950" b="0" i="0">
                          <a:solidFill>
                            <a:srgbClr val="202020"/>
                          </a:solidFill>
                          <a:latin typeface="Calibri"/>
                        </a:rPr>
                        <a:t>OTEL_EXPORTER_OTLP_ENDPOINT (+ other OTEL_*)</a:t>
                      </a:r>
                    </a:p>
                  </a:txBody>
                  <a:tcPr marT="12700" marB="12700">
                    <a:solidFill>
                      <a:srgbClr val="F7F9FC"/>
                    </a:solidFill>
                  </a:tcPr>
                </a:tc>
                <a:tc>
                  <a:txBody>
                    <a:bodyPr wrap="square"/>
                    <a:lstStyle/>
                    <a:p>
                      <a:r>
                        <a:rPr sz="950" b="0" i="0">
                          <a:solidFill>
                            <a:srgbClr val="202020"/>
                          </a:solidFill>
                          <a:latin typeface="Calibri"/>
                        </a:rPr>
                        <a:t>unset</a:t>
                      </a:r>
                    </a:p>
                  </a:txBody>
                  <a:tcPr marT="12700" marB="12700">
                    <a:solidFill>
                      <a:srgbClr val="F7F9FC"/>
                    </a:solidFill>
                  </a:tcPr>
                </a:tc>
                <a:tc>
                  <a:txBody>
                    <a:bodyPr wrap="square"/>
                    <a:lstStyle/>
                    <a:p>
                      <a:r>
                        <a:rPr sz="950" b="0" i="0">
                          <a:solidFill>
                            <a:srgbClr val="202020"/>
                          </a:solidFill>
                          <a:latin typeface="Calibri"/>
                        </a:rPr>
                        <a:t>Enable OpenTelemetry span export; unset = a true no-op.</a:t>
                      </a:r>
                    </a:p>
                  </a:txBody>
                  <a:tcPr marT="12700" marB="12700">
                    <a:solidFill>
                      <a:srgbClr val="F7F9FC"/>
                    </a:solidFill>
                  </a:tcPr>
                </a:tc>
              </a:tr>
              <a:tr h="384048">
                <a:tc>
                  <a:txBody>
                    <a:bodyPr wrap="square"/>
                    <a:lstStyle/>
                    <a:p>
                      <a:r>
                        <a:rPr sz="950" b="0" i="0">
                          <a:solidFill>
                            <a:srgbClr val="202020"/>
                          </a:solidFill>
                          <a:latin typeface="Consolas"/>
                        </a:rPr>
                        <a:t>CIRCUIT_BREAKER (+ _FAILURE_THRESHOLD, _WINDOW_SECONDS, _OPEN_SECONDS, _HALF_OPEN_TRIALS)</a:t>
                      </a:r>
                    </a:p>
                  </a:txBody>
                  <a:tcPr marT="12700" marB="12700">
                    <a:solidFill>
                      <a:srgbClr val="FFFFFF"/>
                    </a:solidFill>
                  </a:tcPr>
                </a:tc>
                <a:tc>
                  <a:txBody>
                    <a:bodyPr wrap="square"/>
                    <a:lstStyle/>
                    <a:p>
                      <a:r>
                        <a:rPr sz="950" b="0" i="0">
                          <a:solidFill>
                            <a:srgbClr val="202020"/>
                          </a:solidFill>
                          <a:latin typeface="Calibri"/>
                        </a:rPr>
                        <a:t>true / 5 / 60 / 30 / 2</a:t>
                      </a:r>
                    </a:p>
                  </a:txBody>
                  <a:tcPr marT="12700" marB="12700">
                    <a:solidFill>
                      <a:srgbClr val="FFFFFF"/>
                    </a:solidFill>
                  </a:tcPr>
                </a:tc>
                <a:tc>
                  <a:txBody>
                    <a:bodyPr wrap="square"/>
                    <a:lstStyle/>
                    <a:p>
                      <a:r>
                        <a:rPr sz="950" b="0" i="0">
                          <a:solidFill>
                            <a:srgbClr val="202020"/>
                          </a:solidFill>
                          <a:latin typeface="Calibri"/>
                        </a:rPr>
                        <a:t>Per-dependency circuit breakers; false = pure passthrough.</a:t>
                      </a:r>
                    </a:p>
                  </a:txBody>
                  <a:tcPr marT="12700" marB="12700">
                    <a:solidFill>
                      <a:srgbClr val="FFFFFF"/>
                    </a:solidFill>
                  </a:tcPr>
                </a:tc>
              </a:tr>
              <a:tr h="384048">
                <a:tc>
                  <a:txBody>
                    <a:bodyPr wrap="square"/>
                    <a:lstStyle/>
                    <a:p>
                      <a:r>
                        <a:rPr sz="950" b="0" i="0">
                          <a:solidFill>
                            <a:srgbClr val="202020"/>
                          </a:solidFill>
                          <a:latin typeface="Consolas"/>
                        </a:rPr>
                        <a:t>EVENTLOG_ENABLED / EVENTLOG_LEVEL</a:t>
                      </a:r>
                    </a:p>
                  </a:txBody>
                  <a:tcPr marT="12700" marB="12700">
                    <a:solidFill>
                      <a:srgbClr val="F7F9FC"/>
                    </a:solidFill>
                  </a:tcPr>
                </a:tc>
                <a:tc>
                  <a:txBody>
                    <a:bodyPr wrap="square"/>
                    <a:lstStyle/>
                    <a:p>
                      <a:r>
                        <a:rPr sz="950" b="0" i="0">
                          <a:solidFill>
                            <a:srgbClr val="202020"/>
                          </a:solidFill>
                          <a:latin typeface="Calibri"/>
                        </a:rPr>
                        <a:t>false / (warn+error)</a:t>
                      </a:r>
                    </a:p>
                  </a:txBody>
                  <a:tcPr marT="12700" marB="12700">
                    <a:solidFill>
                      <a:srgbClr val="F7F9FC"/>
                    </a:solidFill>
                  </a:tcPr>
                </a:tc>
                <a:tc>
                  <a:txBody>
                    <a:bodyPr wrap="square"/>
                    <a:lstStyle/>
                    <a:p>
                      <a:r>
                        <a:rPr sz="950" b="0" i="0">
                          <a:solidFill>
                            <a:srgbClr val="202020"/>
                          </a:solidFill>
                          <a:latin typeface="Calibri"/>
                        </a:rPr>
                        <a:t>Mirror logs to the Windows Event Log (source ClarizenConnector).</a:t>
                      </a:r>
                    </a:p>
                  </a:txBody>
                  <a:tcPr marT="12700" marB="12700">
                    <a:solidFill>
                      <a:srgbClr val="F7F9FC"/>
                    </a:solidFill>
                  </a:tcPr>
                </a:tc>
              </a:tr>
              <a:tr h="384048">
                <a:tc>
                  <a:txBody>
                    <a:bodyPr wrap="square"/>
                    <a:lstStyle/>
                    <a:p>
                      <a:r>
                        <a:rPr sz="950" b="0" i="0">
                          <a:solidFill>
                            <a:srgbClr val="202020"/>
                          </a:solidFill>
                          <a:latin typeface="Consolas"/>
                        </a:rPr>
                        <a:t>PROXY_URL / PROXY_BYPASS / CA_BUNDLE_PATH</a:t>
                      </a:r>
                    </a:p>
                  </a:txBody>
                  <a:tcPr marT="12700" marB="12700">
                    <a:solidFill>
                      <a:srgbClr val="FFFFFF"/>
                    </a:solidFill>
                  </a:tcPr>
                </a:tc>
                <a:tc>
                  <a:txBody>
                    <a:bodyPr wrap="square"/>
                    <a:lstStyle/>
                    <a:p>
                      <a:r>
                        <a:rPr sz="950" b="0" i="0">
                          <a:solidFill>
                            <a:srgbClr val="202020"/>
                          </a:solidFill>
                          <a:latin typeface="Calibri"/>
                        </a:rPr>
                        <a:t>unset</a:t>
                      </a:r>
                    </a:p>
                  </a:txBody>
                  <a:tcPr marT="12700" marB="12700">
                    <a:solidFill>
                      <a:srgbClr val="FFFFFF"/>
                    </a:solidFill>
                  </a:tcPr>
                </a:tc>
                <a:tc>
                  <a:txBody>
                    <a:bodyPr wrap="square"/>
                    <a:lstStyle/>
                    <a:p>
                      <a:r>
                        <a:rPr sz="950" b="0" i="0">
                          <a:solidFill>
                            <a:srgbClr val="202020"/>
                          </a:solidFill>
                          <a:latin typeface="Calibri"/>
                        </a:rPr>
                        <a:t>Outbound proxy and additional trusted roots for TLS inspection.</a:t>
                      </a:r>
                    </a:p>
                  </a:txBody>
                  <a:tcPr marT="12700" marB="12700">
                    <a:solidFill>
                      <a:srgbClr val="FFFFFF"/>
                    </a:solidFill>
                  </a:tcPr>
                </a:tc>
              </a:tr>
              <a:tr h="384048">
                <a:tc>
                  <a:txBody>
                    <a:bodyPr wrap="square"/>
                    <a:lstStyle/>
                    <a:p>
                      <a:r>
                        <a:rPr sz="950" b="0" i="0">
                          <a:solidFill>
                            <a:srgbClr val="202020"/>
                          </a:solidFill>
                          <a:latin typeface="Consolas"/>
                        </a:rPr>
                        <a:t>DEADLETTER_PAYLOAD_MODE</a:t>
                      </a:r>
                    </a:p>
                  </a:txBody>
                  <a:tcPr marT="12700" marB="12700">
                    <a:solidFill>
                      <a:srgbClr val="F7F9FC"/>
                    </a:solidFill>
                  </a:tcPr>
                </a:tc>
                <a:tc>
                  <a:txBody>
                    <a:bodyPr wrap="square"/>
                    <a:lstStyle/>
                    <a:p>
                      <a:r>
                        <a:rPr sz="950" b="0" i="0">
                          <a:solidFill>
                            <a:srgbClr val="202020"/>
                          </a:solidFill>
                          <a:latin typeface="Calibri"/>
                        </a:rPr>
                        <a:t>redacted</a:t>
                      </a:r>
                    </a:p>
                  </a:txBody>
                  <a:tcPr marT="12700" marB="12700">
                    <a:solidFill>
                      <a:srgbClr val="F7F9FC"/>
                    </a:solidFill>
                  </a:tcPr>
                </a:tc>
                <a:tc>
                  <a:txBody>
                    <a:bodyPr wrap="square"/>
                    <a:lstStyle/>
                    <a:p>
                      <a:r>
                        <a:rPr sz="950" b="0" i="0">
                          <a:solidFill>
                            <a:srgbClr val="202020"/>
                          </a:solidFill>
                          <a:latin typeface="Calibri"/>
                        </a:rPr>
                        <a:t>redacted (default) strips property/content values (incl. financial), ACL entries and response bodies from dead-letter records, keeping ids/error/SHA-256 field hashes; full keeps raw payloads (opt-in, ACL the queue tightly). An unrecognised value fails start-up.</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417</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13.8 Data governance &amp; compliance controls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controls new to the v1.1 hardening release, grouped together. Classification enforcement and the item TTL are opt-in; the decision ledger is on by default for this connector.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418</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13.8 Data governance &amp; compliance controls</a:t>
            </a:r>
          </a:p>
        </p:txBody>
      </p:sp>
      <p:graphicFrame>
        <p:nvGraphicFramePr>
          <p:cNvPr id="5" name="Table 4"/>
          <p:cNvGraphicFramePr>
            <a:graphicFrameLocks noGrp="1"/>
          </p:cNvGraphicFramePr>
          <p:nvPr/>
        </p:nvGraphicFramePr>
        <p:xfrm>
          <a:off x="502920" y="1188720"/>
          <a:ext cx="11185855" cy="2688336"/>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Default</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r>
              <a:tr h="384048">
                <a:tc>
                  <a:txBody>
                    <a:bodyPr wrap="square"/>
                    <a:lstStyle/>
                    <a:p>
                      <a:r>
                        <a:rPr sz="950" b="0" i="0">
                          <a:solidFill>
                            <a:srgbClr val="202020"/>
                          </a:solidFill>
                          <a:latin typeface="Consolas"/>
                        </a:rPr>
                        <a:t>CLASSIFICATION</a:t>
                      </a:r>
                    </a:p>
                  </a:txBody>
                  <a:tcPr marT="12700" marB="12700">
                    <a:solidFill>
                      <a:srgbClr val="FFFFFF"/>
                    </a:solidFill>
                  </a:tcPr>
                </a:tc>
                <a:tc>
                  <a:txBody>
                    <a:bodyPr wrap="square"/>
                    <a:lstStyle/>
                    <a:p>
                      <a:r>
                        <a:rPr sz="950" b="0" i="0">
                          <a:solidFill>
                            <a:srgbClr val="202020"/>
                          </a:solidFill>
                          <a:latin typeface="Calibri"/>
                        </a:rPr>
                        <a:t>off</a:t>
                      </a:r>
                    </a:p>
                  </a:txBody>
                  <a:tcPr marT="12700" marB="12700">
                    <a:solidFill>
                      <a:srgbClr val="FFFFFF"/>
                    </a:solidFill>
                  </a:tcPr>
                </a:tc>
                <a:tc>
                  <a:txBody>
                    <a:bodyPr wrap="square"/>
                    <a:lstStyle/>
                    <a:p>
                      <a:r>
                        <a:rPr sz="950" b="0" i="0">
                          <a:solidFill>
                            <a:srgbClr val="202020"/>
                          </a:solidFill>
                          <a:latin typeface="Calibri"/>
                        </a:rPr>
                        <a:t>Derive a SensitivityLabel (Public|Internal|Confidential|Restricted) + DetectedCategories per item. Advisory tag only — NOT a Purview/MIP label, not enforced by Purview/DLP/encryption.</a:t>
                      </a:r>
                    </a:p>
                  </a:txBody>
                  <a:tcPr marT="12700" marB="12700">
                    <a:solidFill>
                      <a:srgbClr val="FFFFFF"/>
                    </a:solidFill>
                  </a:tcPr>
                </a:tc>
              </a:tr>
              <a:tr h="384048">
                <a:tc>
                  <a:txBody>
                    <a:bodyPr wrap="square"/>
                    <a:lstStyle/>
                    <a:p>
                      <a:r>
                        <a:rPr sz="950" b="0" i="0">
                          <a:solidFill>
                            <a:srgbClr val="202020"/>
                          </a:solidFill>
                          <a:latin typeface="Consolas"/>
                        </a:rPr>
                        <a:t>CLASSIFICATION_MANIFEST</a:t>
                      </a:r>
                    </a:p>
                  </a:txBody>
                  <a:tcPr marT="12700" marB="12700">
                    <a:solidFill>
                      <a:srgbClr val="F7F9FC"/>
                    </a:solidFill>
                  </a:tcPr>
                </a:tc>
                <a:tc>
                  <a:txBody>
                    <a:bodyPr wrap="square"/>
                    <a:lstStyle/>
                    <a:p>
                      <a:r>
                        <a:rPr sz="950" b="0" i="0">
                          <a:solidFill>
                            <a:srgbClr val="202020"/>
                          </a:solidFill>
                          <a:latin typeface="Calibri"/>
                        </a:rPr>
                        <a:t>off</a:t>
                      </a:r>
                    </a:p>
                  </a:txBody>
                  <a:tcPr marT="12700" marB="12700">
                    <a:solidFill>
                      <a:srgbClr val="F7F9FC"/>
                    </a:solidFill>
                  </a:tcPr>
                </a:tc>
                <a:tc>
                  <a:txBody>
                    <a:bodyPr wrap="square"/>
                    <a:lstStyle/>
                    <a:p>
                      <a:r>
                        <a:rPr sz="950" b="0" i="0">
                          <a:solidFill>
                            <a:srgbClr val="202020"/>
                          </a:solidFill>
                          <a:latin typeface="Calibri"/>
                        </a:rPr>
                        <a:t>Also write a per-crawl classification JSONL (logs/classification_*.jsonl) for catalog/DLP ingestion. No Purview API call.</a:t>
                      </a:r>
                    </a:p>
                  </a:txBody>
                  <a:tcPr marT="12700" marB="12700">
                    <a:solidFill>
                      <a:srgbClr val="F7F9FC"/>
                    </a:solidFill>
                  </a:tcPr>
                </a:tc>
              </a:tr>
              <a:tr h="384048">
                <a:tc>
                  <a:txBody>
                    <a:bodyPr wrap="square"/>
                    <a:lstStyle/>
                    <a:p>
                      <a:r>
                        <a:rPr sz="950" b="0" i="0">
                          <a:solidFill>
                            <a:srgbClr val="202020"/>
                          </a:solidFill>
                          <a:latin typeface="Consolas"/>
                        </a:rPr>
                        <a:t>CLASSIFICATION_ENFORCE_ACL</a:t>
                      </a:r>
                    </a:p>
                  </a:txBody>
                  <a:tcPr marT="12700" marB="12700">
                    <a:solidFill>
                      <a:srgbClr val="FFFFFF"/>
                    </a:solidFill>
                  </a:tcPr>
                </a:tc>
                <a:tc>
                  <a:txBody>
                    <a:bodyPr wrap="square"/>
                    <a:lstStyle/>
                    <a:p>
                      <a:r>
                        <a:rPr sz="950" b="0" i="0">
                          <a:solidFill>
                            <a:srgbClr val="202020"/>
                          </a:solidFill>
                          <a:latin typeface="Calibri"/>
                        </a:rPr>
                        <a:t>off</a:t>
                      </a:r>
                    </a:p>
                  </a:txBody>
                  <a:tcPr marT="12700" marB="12700">
                    <a:solidFill>
                      <a:srgbClr val="FFFFFF"/>
                    </a:solidFill>
                  </a:tcPr>
                </a:tc>
                <a:tc>
                  <a:txBody>
                    <a:bodyPr wrap="square"/>
                    <a:lstStyle/>
                    <a:p>
                      <a:r>
                        <a:rPr sz="950" b="0" i="0">
                          <a:solidFill>
                            <a:srgbClr val="202020"/>
                          </a:solidFill>
                          <a:latin typeface="Calibri"/>
                        </a:rPr>
                        <a:t>Opt-in enforcement: replace a Restricted item's ACL grants with a single grant to CLASSIFICATION_RESTRICTED_GROUP_ID (denies preserved). Requires CLASSIFICATION=true; fails start-up if on without the group.</a:t>
                      </a:r>
                    </a:p>
                  </a:txBody>
                  <a:tcPr marT="12700" marB="12700">
                    <a:solidFill>
                      <a:srgbClr val="FFFFFF"/>
                    </a:solidFill>
                  </a:tcPr>
                </a:tc>
              </a:tr>
              <a:tr h="384048">
                <a:tc>
                  <a:txBody>
                    <a:bodyPr wrap="square"/>
                    <a:lstStyle/>
                    <a:p>
                      <a:r>
                        <a:rPr sz="950" b="0" i="0">
                          <a:solidFill>
                            <a:srgbClr val="202020"/>
                          </a:solidFill>
                          <a:latin typeface="Consolas"/>
                        </a:rPr>
                        <a:t>CLASSIFICATION_RESTRICTED_GROUP_ID</a:t>
                      </a:r>
                    </a:p>
                  </a:txBody>
                  <a:tcPr marT="12700" marB="12700">
                    <a:solidFill>
                      <a:srgbClr val="F7F9FC"/>
                    </a:solidFill>
                  </a:tcPr>
                </a:tc>
                <a:tc>
                  <a:txBody>
                    <a:bodyPr wrap="square"/>
                    <a:lstStyle/>
                    <a:p>
                      <a:r>
                        <a:rPr sz="950" b="0" i="0">
                          <a:solidFill>
                            <a:srgbClr val="202020"/>
                          </a:solidFill>
                          <a:latin typeface="Calibri"/>
                        </a:rPr>
                        <a:t>unset</a:t>
                      </a:r>
                    </a:p>
                  </a:txBody>
                  <a:tcPr marT="12700" marB="12700">
                    <a:solidFill>
                      <a:srgbClr val="F7F9FC"/>
                    </a:solidFill>
                  </a:tcPr>
                </a:tc>
                <a:tc>
                  <a:txBody>
                    <a:bodyPr wrap="square"/>
                    <a:lstStyle/>
                    <a:p>
                      <a:r>
                        <a:rPr sz="950" b="0" i="0">
                          <a:solidFill>
                            <a:srgbClr val="202020"/>
                          </a:solidFill>
                          <a:latin typeface="Calibri"/>
                        </a:rPr>
                        <a:t>Entra group object id that Restricted items are locked to; required when CLASSIFICATION_ENFORCE_ACL=true.</a:t>
                      </a:r>
                    </a:p>
                  </a:txBody>
                  <a:tcPr marT="12700" marB="12700">
                    <a:solidFill>
                      <a:srgbClr val="F7F9FC"/>
                    </a:solidFill>
                  </a:tcPr>
                </a:tc>
              </a:tr>
              <a:tr h="384048">
                <a:tc>
                  <a:txBody>
                    <a:bodyPr wrap="square"/>
                    <a:lstStyle/>
                    <a:p>
                      <a:r>
                        <a:rPr sz="950" b="0" i="0">
                          <a:solidFill>
                            <a:srgbClr val="202020"/>
                          </a:solidFill>
                          <a:latin typeface="Consolas"/>
                        </a:rPr>
                        <a:t>DECISION_LEDGER</a:t>
                      </a:r>
                    </a:p>
                  </a:txBody>
                  <a:tcPr marT="12700" marB="12700">
                    <a:solidFill>
                      <a:srgbClr val="FFFFFF"/>
                    </a:solidFill>
                  </a:tcPr>
                </a:tc>
                <a:tc>
                  <a:txBody>
                    <a:bodyPr wrap="square"/>
                    <a:lstStyle/>
                    <a:p>
                      <a:r>
                        <a:rPr sz="950" b="0" i="0">
                          <a:solidFill>
                            <a:srgbClr val="202020"/>
                          </a:solidFill>
                          <a:latin typeface="Calibri"/>
                        </a:rPr>
                        <a:t>true</a:t>
                      </a:r>
                    </a:p>
                  </a:txBody>
                  <a:tcPr marT="12700" marB="12700">
                    <a:solidFill>
                      <a:srgbClr val="FFFFFF"/>
                    </a:solidFill>
                  </a:tcPr>
                </a:tc>
                <a:tc>
                  <a:txBody>
                    <a:bodyPr wrap="square"/>
                    <a:lstStyle/>
                    <a:p>
                      <a:r>
                        <a:rPr sz="950" b="0" i="0">
                          <a:solidFill>
                            <a:srgbClr val="202020"/>
                          </a:solidFill>
                          <a:latin typeface="Calibri"/>
                        </a:rPr>
                        <a:t>Append-only, SHA-256 hash-chained audit of governance DECISIONS — item exclusions (no resolvable ACL) and ACL restrictions (financial acl, classification enforcement). Ids/reasons only, no content/PII. logs/decisions_&lt;CONNECTOR_ID&gt;.jsonl; tamper/reorder/removal breaks the chain.</a:t>
                      </a:r>
                    </a:p>
                  </a:txBody>
                  <a:tcPr marT="12700" marB="12700">
                    <a:solidFill>
                      <a:srgbClr val="FFFFFF"/>
                    </a:solidFill>
                  </a:tcPr>
                </a:tc>
              </a:tr>
              <a:tr h="384048">
                <a:tc>
                  <a:txBody>
                    <a:bodyPr wrap="square"/>
                    <a:lstStyle/>
                    <a:p>
                      <a:r>
                        <a:rPr sz="950" b="0" i="0">
                          <a:solidFill>
                            <a:srgbClr val="202020"/>
                          </a:solidFill>
                          <a:latin typeface="Consolas"/>
                        </a:rPr>
                        <a:t>GRAPH_ITEM_TTL_DAYS</a:t>
                      </a:r>
                    </a:p>
                  </a:txBody>
                  <a:tcPr marT="12700" marB="12700">
                    <a:solidFill>
                      <a:srgbClr val="F7F9FC"/>
                    </a:solidFill>
                  </a:tcPr>
                </a:tc>
                <a:tc>
                  <a:txBody>
                    <a:bodyPr wrap="square"/>
                    <a:lstStyle/>
                    <a:p>
                      <a:r>
                        <a:rPr sz="950" b="0" i="0">
                          <a:solidFill>
                            <a:srgbClr val="202020"/>
                          </a:solidFill>
                          <a:latin typeface="Calibri"/>
                        </a:rPr>
                        <a:t>unset (0 = no expiry)</a:t>
                      </a:r>
                    </a:p>
                  </a:txBody>
                  <a:tcPr marT="12700" marB="12700">
                    <a:solidFill>
                      <a:srgbClr val="F7F9FC"/>
                    </a:solidFill>
                  </a:tcPr>
                </a:tc>
                <a:tc>
                  <a:txBody>
                    <a:bodyPr wrap="square"/>
                    <a:lstStyle/>
                    <a:p>
                      <a:r>
                        <a:rPr sz="950" b="0" i="0">
                          <a:solidFill>
                            <a:srgbClr val="202020"/>
                          </a:solidFill>
                          <a:latin typeface="Calibri"/>
                        </a:rPr>
                        <a:t>When &gt;0, stamp each ingested item with expirationDateTime = now + TTL so the index self-expires if crawling stops after an outage; a healthy crawl re-stamps. Set comfortably above the full-crawl cadence.</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419</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13.8 Data governance &amp; compliance controls</a:t>
            </a:r>
          </a:p>
        </p:txBody>
      </p:sp>
      <p:sp>
        <p:nvSpPr>
          <p:cNvPr id="5" name="Rectangle 4"/>
          <p:cNvSpPr/>
          <p:nvPr/>
        </p:nvSpPr>
        <p:spPr>
          <a:xfrm>
            <a:off x="502920" y="1463040"/>
            <a:ext cx="11185855" cy="329184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5496"/>
                </a:solidFill>
                <a:latin typeface="Calibri"/>
              </a:rPr>
              <a:t>Note:  </a:t>
            </a:r>
            <a:r>
              <a:rPr sz="1400" b="1" i="0">
                <a:solidFill>
                  <a:srgbClr val="202020"/>
                </a:solidFill>
                <a:latin typeface="Calibri"/>
              </a:rPr>
              <a:t>Note: </a:t>
            </a:r>
            <a:r>
              <a:rPr sz="1400" b="0" i="0">
                <a:solidFill>
                  <a:srgbClr val="202020"/>
                </a:solidFill>
                <a:latin typeface="Calibri"/>
              </a:rPr>
              <a:t>The connector also creates </a:t>
            </a:r>
            <a:r>
              <a:rPr sz="1350" b="0" i="0">
                <a:solidFill>
                  <a:srgbClr val="202020"/>
                </a:solidFill>
                <a:latin typeface="Consolas"/>
              </a:rPr>
              <a:t>logs/</a:t>
            </a:r>
            <a:r>
              <a:rPr sz="1400" b="0" i="0">
                <a:solidFill>
                  <a:srgbClr val="202020"/>
                </a:solidFill>
                <a:latin typeface="Calibri"/>
              </a:rPr>
              <a:t>, </a:t>
            </a:r>
            <a:r>
              <a:rPr sz="1350" b="0" i="0">
                <a:solidFill>
                  <a:srgbClr val="202020"/>
                </a:solidFill>
                <a:latin typeface="Consolas"/>
              </a:rPr>
              <a:t>data/</a:t>
            </a:r>
            <a:r>
              <a:rPr sz="1400" b="0" i="0">
                <a:solidFill>
                  <a:srgbClr val="202020"/>
                </a:solidFill>
                <a:latin typeface="Calibri"/>
              </a:rPr>
              <a:t> and the dead-letter directory </a:t>
            </a:r>
            <a:r>
              <a:rPr sz="1400" b="1" i="0">
                <a:solidFill>
                  <a:srgbClr val="202020"/>
                </a:solidFill>
                <a:latin typeface="Calibri"/>
              </a:rPr>
              <a:t>owner-only</a:t>
            </a:r>
            <a:r>
              <a:rPr sz="1400" b="0" i="0">
                <a:solidFill>
                  <a:srgbClr val="202020"/>
                </a:solidFill>
                <a:latin typeface="Calibri"/>
              </a:rPr>
              <a:t> at start-up (POSIX </a:t>
            </a:r>
            <a:r>
              <a:rPr sz="1350" b="0" i="0">
                <a:solidFill>
                  <a:srgbClr val="202020"/>
                </a:solidFill>
                <a:latin typeface="Consolas"/>
              </a:rPr>
              <a:t>chmod 0700</a:t>
            </a:r>
            <a:r>
              <a:rPr sz="1400" b="0" i="0">
                <a:solidFill>
                  <a:srgbClr val="202020"/>
                </a:solidFill>
                <a:latin typeface="Calibri"/>
              </a:rPr>
              <a:t>; Windows best-effort owner+Administrators+SYSTEM via </a:t>
            </a:r>
            <a:r>
              <a:rPr sz="1350" b="0" i="0">
                <a:solidFill>
                  <a:srgbClr val="202020"/>
                </a:solidFill>
                <a:latin typeface="Consolas"/>
              </a:rPr>
              <a:t>icacls</a:t>
            </a:r>
            <a:r>
              <a:rPr sz="1400" b="0" i="0">
                <a:solidFill>
                  <a:srgbClr val="202020"/>
                </a:solidFill>
                <a:latin typeface="Calibri"/>
              </a:rPr>
              <a:t>). This is best-effort and never fatal — on a shared host it stops the state, logs and any </a:t>
            </a:r>
            <a:r>
              <a:rPr sz="1350" b="0" i="0">
                <a:solidFill>
                  <a:srgbClr val="202020"/>
                </a:solidFill>
                <a:latin typeface="Consolas"/>
              </a:rPr>
              <a:t>full</a:t>
            </a:r>
            <a:r>
              <a:rPr sz="1400" b="0" i="0">
                <a:solidFill>
                  <a:srgbClr val="202020"/>
                </a:solidFill>
                <a:latin typeface="Calibri"/>
              </a:rPr>
              <a:t>-mode dead-letter payloads being world-readable. Env files remain the trust root; ACL them as before.</a:t>
            </a:r>
          </a:p>
        </p:txBody>
      </p:sp>
      <p:sp>
        <p:nvSpPr>
          <p:cNvPr id="6" name="Rectangle 5"/>
          <p:cNvSpPr/>
          <p:nvPr/>
        </p:nvSpPr>
        <p:spPr>
          <a:xfrm>
            <a:off x="502920" y="1463040"/>
            <a:ext cx="128016" cy="329184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420</a:t>
            </a: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13.8 Data governance &amp; compliance controls</a:t>
            </a:r>
          </a:p>
        </p:txBody>
      </p:sp>
      <p:sp>
        <p:nvSpPr>
          <p:cNvPr id="5" name="Rectangle 4"/>
          <p:cNvSpPr/>
          <p:nvPr/>
        </p:nvSpPr>
        <p:spPr>
          <a:xfrm>
            <a:off x="502920" y="1463040"/>
            <a:ext cx="11185855" cy="329184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5496"/>
                </a:solidFill>
                <a:latin typeface="Calibri"/>
              </a:rPr>
              <a:t>Note:  </a:t>
            </a:r>
            <a:r>
              <a:rPr sz="1400" b="1" i="0">
                <a:solidFill>
                  <a:srgbClr val="202020"/>
                </a:solidFill>
                <a:latin typeface="Calibri"/>
              </a:rPr>
              <a:t>Note: </a:t>
            </a:r>
            <a:r>
              <a:rPr sz="1400" b="0" i="0">
                <a:solidFill>
                  <a:srgbClr val="202020"/>
                </a:solidFill>
                <a:latin typeface="Calibri"/>
              </a:rPr>
              <a:t>The shared chassis settings — SQL backend, HA, sharding, tracing, circuit breakers, classification, Key Vault, proxy/CA — behave identically across every connector in this family. The Common Guide is the authority on them; the table above lists only what you need to recognise them here.</a:t>
            </a:r>
          </a:p>
        </p:txBody>
      </p:sp>
      <p:sp>
        <p:nvSpPr>
          <p:cNvPr id="6" name="Rectangle 5"/>
          <p:cNvSpPr/>
          <p:nvPr/>
        </p:nvSpPr>
        <p:spPr>
          <a:xfrm>
            <a:off x="502920" y="1463040"/>
            <a:ext cx="128016" cy="329184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421</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Clarizen Connector</a:t>
            </a:r>
          </a:p>
          <a:p>
            <a:r>
              <a:rPr sz="3000" b="1" i="0">
                <a:solidFill>
                  <a:srgbClr val="1F3864"/>
                </a:solidFill>
                <a:latin typeface="Calibri"/>
              </a:rPr>
              <a:t>14. Glossary</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422</a:t>
            </a: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Planview AdaptiveWork (Clarizen)</a:t>
            </a:r>
          </a:p>
          <a:p>
            <a:pPr>
              <a:spcAft>
                <a:spcPts val="0"/>
              </a:spcAft>
            </a:pPr>
            <a:r>
              <a:rPr sz="1000" b="1" i="0">
                <a:solidFill>
                  <a:srgbClr val="595959"/>
                </a:solidFill>
                <a:latin typeface="Calibri"/>
              </a:rPr>
              <a:t>What it is  </a:t>
            </a:r>
            <a:r>
              <a:rPr sz="1100" b="0" i="0">
                <a:solidFill>
                  <a:srgbClr val="202020"/>
                </a:solidFill>
                <a:latin typeface="Calibri"/>
              </a:rPr>
              <a:t>The cloud project- and portfolio-management platform this connector reads from. "Clarizen" is the older product name; "Planview AdaptiveWork" is the current one — the same system, and both names appear in the tooling.</a:t>
            </a:r>
          </a:p>
          <a:p>
            <a:pPr>
              <a:spcAft>
                <a:spcPts val="200"/>
              </a:spcAft>
            </a:pPr>
            <a:r>
              <a:rPr sz="1000" b="1" i="0">
                <a:solidFill>
                  <a:srgbClr val="595959"/>
                </a:solidFill>
                <a:latin typeface="Calibri"/>
              </a:rPr>
              <a:t>Why it matters  </a:t>
            </a:r>
            <a:r>
              <a:rPr sz="1100" b="0" i="0">
                <a:solidFill>
                  <a:srgbClr val="202020"/>
                </a:solidFill>
                <a:latin typeface="Calibri"/>
              </a:rPr>
              <a:t>It is the source of every record the connector indexes; knowing it is a PPM tool tells you what the data is about (projects, tasks, financials).</a:t>
            </a:r>
          </a:p>
          <a:p>
            <a:pPr>
              <a:spcBef>
                <a:spcPts val="600"/>
              </a:spcBef>
              <a:spcAft>
                <a:spcPts val="100"/>
              </a:spcAft>
            </a:pPr>
            <a:r>
              <a:rPr sz="1400" b="1" i="0">
                <a:solidFill>
                  <a:srgbClr val="1F3864"/>
                </a:solidFill>
                <a:latin typeface="Calibri"/>
              </a:rPr>
              <a:t>CZQL (Clarizen Query Language)</a:t>
            </a:r>
          </a:p>
          <a:p>
            <a:pPr>
              <a:spcAft>
                <a:spcPts val="0"/>
              </a:spcAft>
            </a:pPr>
            <a:r>
              <a:rPr sz="1000" b="1" i="0">
                <a:solidFill>
                  <a:srgbClr val="595959"/>
                </a:solidFill>
                <a:latin typeface="Calibri"/>
              </a:rPr>
              <a:t>What it is  </a:t>
            </a:r>
            <a:r>
              <a:rPr sz="1100" b="0" i="0">
                <a:solidFill>
                  <a:srgbClr val="202020"/>
                </a:solidFill>
                <a:latin typeface="Calibri"/>
              </a:rPr>
              <a:t>Clarizen's SQL-like query language. The connector uses it (via the REST API's data/query endpoint) to select fields and page through records, adding a LastUpdatedOn condition for incremental crawls.</a:t>
            </a:r>
          </a:p>
          <a:p>
            <a:pPr>
              <a:spcAft>
                <a:spcPts val="200"/>
              </a:spcAft>
            </a:pPr>
            <a:r>
              <a:rPr sz="1000" b="1" i="0">
                <a:solidFill>
                  <a:srgbClr val="595959"/>
                </a:solidFill>
                <a:latin typeface="Calibri"/>
              </a:rPr>
              <a:t>Why it matters  </a:t>
            </a:r>
            <a:r>
              <a:rPr sz="1100" b="0" i="0">
                <a:solidFill>
                  <a:srgbClr val="202020"/>
                </a:solidFill>
                <a:latin typeface="Calibri"/>
              </a:rPr>
              <a:t>It is how the connector reads live data; a CZQL or paging error in the logs points at the source-read stage, not at Graph.</a:t>
            </a:r>
          </a:p>
          <a:p>
            <a:pPr>
              <a:spcBef>
                <a:spcPts val="600"/>
              </a:spcBef>
              <a:spcAft>
                <a:spcPts val="100"/>
              </a:spcAft>
            </a:pPr>
            <a:r>
              <a:rPr sz="1400" b="1" i="0">
                <a:solidFill>
                  <a:srgbClr val="1F3864"/>
                </a:solidFill>
                <a:latin typeface="Calibri"/>
              </a:rPr>
              <a:t>TDW / Torch Data Warehouse</a:t>
            </a:r>
          </a:p>
          <a:p>
            <a:pPr>
              <a:spcAft>
                <a:spcPts val="0"/>
              </a:spcAft>
            </a:pPr>
            <a:r>
              <a:rPr sz="1000" b="1" i="0">
                <a:solidFill>
                  <a:srgbClr val="595959"/>
                </a:solidFill>
                <a:latin typeface="Calibri"/>
              </a:rPr>
              <a:t>What it is  </a:t>
            </a:r>
            <a:r>
              <a:rPr sz="1100" b="0" i="0">
                <a:solidFill>
                  <a:srgbClr val="202020"/>
                </a:solidFill>
                <a:latin typeface="Calibri"/>
              </a:rPr>
              <a:t>Clarizen's data-warehouse bulk export — nightly CSV/JSON files, one per object type. When TDW_EXPORT_PATH is set, full crawls read these files instead of the live API.</a:t>
            </a:r>
          </a:p>
          <a:p>
            <a:pPr>
              <a:spcAft>
                <a:spcPts val="200"/>
              </a:spcAft>
            </a:pPr>
            <a:r>
              <a:rPr sz="1000" b="1" i="0">
                <a:solidFill>
                  <a:srgbClr val="595959"/>
                </a:solidFill>
                <a:latin typeface="Calibri"/>
              </a:rPr>
              <a:t>Why it matters  </a:t>
            </a:r>
            <a:r>
              <a:rPr sz="1100" b="0" i="0">
                <a:solidFill>
                  <a:srgbClr val="202020"/>
                </a:solidFill>
                <a:latin typeface="Calibri"/>
              </a:rPr>
              <a:t>It lets a full crawl of a large org run without spending API budget; a truncated or missing export is a common cause of a skipped deletion sweep.</a:t>
            </a:r>
          </a:p>
          <a:p>
            <a:pPr>
              <a:spcBef>
                <a:spcPts val="600"/>
              </a:spcBef>
              <a:spcAft>
                <a:spcPts val="100"/>
              </a:spcAft>
            </a:pPr>
            <a:r>
              <a:rPr sz="1400" b="1" i="0">
                <a:solidFill>
                  <a:srgbClr val="1F3864"/>
                </a:solidFill>
                <a:latin typeface="Calibri"/>
              </a:rPr>
              <a:t>API-budget governor</a:t>
            </a:r>
          </a:p>
          <a:p>
            <a:pPr>
              <a:spcAft>
                <a:spcPts val="0"/>
              </a:spcAft>
            </a:pPr>
            <a:r>
              <a:rPr sz="1000" b="1" i="0">
                <a:solidFill>
                  <a:srgbClr val="595959"/>
                </a:solidFill>
                <a:latin typeface="Calibri"/>
              </a:rPr>
              <a:t>What it is  </a:t>
            </a:r>
            <a:r>
              <a:rPr sz="1100" b="0" i="0">
                <a:solidFill>
                  <a:srgbClr val="202020"/>
                </a:solidFill>
                <a:latin typeface="Calibri"/>
              </a:rPr>
              <a:t>The connector's client-side daily budget (CLARIZEN_API_CALLS_PER_DAY) plus per-minute pacing. On exhaustion the crawl checkpoints and pauses until the UTC-midnight reset.</a:t>
            </a:r>
          </a:p>
          <a:p>
            <a:pPr>
              <a:spcAft>
                <a:spcPts val="200"/>
              </a:spcAft>
            </a:pPr>
            <a:r>
              <a:rPr sz="1000" b="1" i="0">
                <a:solidFill>
                  <a:srgbClr val="595959"/>
                </a:solidFill>
                <a:latin typeface="Calibri"/>
              </a:rPr>
              <a:t>Why it matters  </a:t>
            </a:r>
            <a:r>
              <a:rPr sz="1100" b="0" i="0">
                <a:solidFill>
                  <a:srgbClr val="202020"/>
                </a:solidFill>
                <a:latin typeface="Calibri"/>
              </a:rPr>
              <a:t>It stops the connector from starving interactive Clarizen users of the shared org API quota; api_budget_remaining hitting 0 in business hours is your signal to raise the budget or shift the schedule.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423</a:t>
            </a: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Financial-field governance</a:t>
            </a:r>
          </a:p>
          <a:p>
            <a:pPr>
              <a:spcAft>
                <a:spcPts val="0"/>
              </a:spcAft>
            </a:pPr>
            <a:r>
              <a:rPr sz="1000" b="1" i="0">
                <a:solidFill>
                  <a:srgbClr val="595959"/>
                </a:solidFill>
                <a:latin typeface="Calibri"/>
              </a:rPr>
              <a:t>What it is  </a:t>
            </a:r>
            <a:r>
              <a:rPr sz="1100" b="0" i="0">
                <a:solidFill>
                  <a:srgbClr val="202020"/>
                </a:solidFill>
                <a:latin typeface="Calibri"/>
              </a:rPr>
              <a:t>The connector control that tags, hides or restricts Clarizen financial fields (budget, cost, rates, actuals, revenue) independently of the record they sit on.</a:t>
            </a:r>
          </a:p>
          <a:p>
            <a:pPr>
              <a:spcAft>
                <a:spcPts val="200"/>
              </a:spcAft>
            </a:pPr>
            <a:r>
              <a:rPr sz="1000" b="1" i="0">
                <a:solidFill>
                  <a:srgbClr val="595959"/>
                </a:solidFill>
                <a:latin typeface="Calibri"/>
              </a:rPr>
              <a:t>Why it matters  </a:t>
            </a:r>
            <a:r>
              <a:rPr sz="1100" b="0" i="0">
                <a:solidFill>
                  <a:srgbClr val="202020"/>
                </a:solidFill>
                <a:latin typeface="Calibri"/>
              </a:rPr>
              <a:t>It is how a bank keeps money figures out of the wrong hands while still indexing the project records; a signature feature of this connector.</a:t>
            </a:r>
          </a:p>
          <a:p>
            <a:pPr>
              <a:spcBef>
                <a:spcPts val="600"/>
              </a:spcBef>
              <a:spcAft>
                <a:spcPts val="100"/>
              </a:spcAft>
            </a:pPr>
            <a:r>
              <a:rPr sz="1400" b="1" i="0">
                <a:solidFill>
                  <a:srgbClr val="1F3864"/>
                </a:solidFill>
                <a:latin typeface="Calibri"/>
              </a:rPr>
              <a:t>FINANCIAL_DATA_MODE</a:t>
            </a:r>
          </a:p>
          <a:p>
            <a:pPr>
              <a:spcAft>
                <a:spcPts val="0"/>
              </a:spcAft>
            </a:pPr>
            <a:r>
              <a:rPr sz="1000" b="1" i="0">
                <a:solidFill>
                  <a:srgbClr val="595959"/>
                </a:solidFill>
                <a:latin typeface="Calibri"/>
              </a:rPr>
              <a:t>What it is  </a:t>
            </a:r>
            <a:r>
              <a:rPr sz="1100" b="0" i="0">
                <a:solidFill>
                  <a:srgbClr val="202020"/>
                </a:solidFill>
                <a:latin typeface="Calibri"/>
              </a:rPr>
              <a:t>The single setting that selects the governance policy: filter (the default — strip the values), tag (label only; does NOT restrict — validate-config warns), or acl (restrict items to the finance group). acl requires FINANCIAL_DATA_GROUP_ID.</a:t>
            </a:r>
          </a:p>
          <a:p>
            <a:pPr>
              <a:spcAft>
                <a:spcPts val="200"/>
              </a:spcAft>
            </a:pPr>
            <a:r>
              <a:rPr sz="1000" b="1" i="0">
                <a:solidFill>
                  <a:srgbClr val="595959"/>
                </a:solidFill>
                <a:latin typeface="Calibri"/>
              </a:rPr>
              <a:t>Why it matters  </a:t>
            </a:r>
            <a:r>
              <a:rPr sz="1100" b="0" i="0">
                <a:solidFill>
                  <a:srgbClr val="202020"/>
                </a:solidFill>
                <a:latin typeface="Calibri"/>
              </a:rPr>
              <a:t>It is the one knob you change to move between hiding, labelling and locking down financial data; verify it with validate-config after any change.</a:t>
            </a:r>
          </a:p>
          <a:p>
            <a:pPr>
              <a:spcBef>
                <a:spcPts val="600"/>
              </a:spcBef>
              <a:spcAft>
                <a:spcPts val="100"/>
              </a:spcAft>
            </a:pPr>
            <a:r>
              <a:rPr sz="1400" b="1" i="0">
                <a:solidFill>
                  <a:srgbClr val="1F3864"/>
                </a:solidFill>
                <a:latin typeface="Calibri"/>
              </a:rPr>
              <a:t>Financial-data filter mode</a:t>
            </a:r>
          </a:p>
          <a:p>
            <a:pPr>
              <a:spcAft>
                <a:spcPts val="0"/>
              </a:spcAft>
            </a:pPr>
            <a:r>
              <a:rPr sz="1000" b="1" i="0">
                <a:solidFill>
                  <a:srgbClr val="595959"/>
                </a:solidFill>
                <a:latin typeface="Calibri"/>
              </a:rPr>
              <a:t>What it is  </a:t>
            </a:r>
            <a:r>
              <a:rPr sz="1100" b="0" i="0">
                <a:solidFill>
                  <a:srgbClr val="202020"/>
                </a:solidFill>
                <a:latin typeface="Calibri"/>
              </a:rPr>
              <a:t>The default FINANCIAL_DATA_MODE=filter behaviour: financial field values are stripped from every item — from both Graph properties and the searchable content body — before it is sent, while the classification properties stay set.</a:t>
            </a:r>
          </a:p>
          <a:p>
            <a:pPr>
              <a:spcAft>
                <a:spcPts val="200"/>
              </a:spcAft>
            </a:pPr>
            <a:r>
              <a:rPr sz="1000" b="1" i="0">
                <a:solidFill>
                  <a:srgbClr val="595959"/>
                </a:solidFill>
                <a:latin typeface="Calibri"/>
              </a:rPr>
              <a:t>Why it matters  </a:t>
            </a:r>
            <a:r>
              <a:rPr sz="1100" b="0" i="0">
                <a:solidFill>
                  <a:srgbClr val="202020"/>
                </a:solidFill>
                <a:latin typeface="Calibri"/>
              </a:rPr>
              <a:t>It is why, out of the box in v1.1, Copilot never surfaces budgets, costs, rates or revenue even though the project records remain findable.</a:t>
            </a:r>
          </a:p>
          <a:p>
            <a:pPr>
              <a:spcBef>
                <a:spcPts val="600"/>
              </a:spcBef>
              <a:spcAft>
                <a:spcPts val="100"/>
              </a:spcAft>
            </a:pPr>
            <a:r>
              <a:rPr sz="1400" b="1" i="0">
                <a:solidFill>
                  <a:srgbClr val="1F3864"/>
                </a:solidFill>
                <a:latin typeface="Calibri"/>
              </a:rPr>
              <a:t>HMAC webhook</a:t>
            </a:r>
          </a:p>
          <a:p>
            <a:pPr>
              <a:spcAft>
                <a:spcPts val="0"/>
              </a:spcAft>
            </a:pPr>
            <a:r>
              <a:rPr sz="1000" b="1" i="0">
                <a:solidFill>
                  <a:srgbClr val="595959"/>
                </a:solidFill>
                <a:latin typeface="Calibri"/>
              </a:rPr>
              <a:t>What it is  </a:t>
            </a:r>
            <a:r>
              <a:rPr sz="1100" b="0" i="0">
                <a:solidFill>
                  <a:srgbClr val="202020"/>
                </a:solidFill>
                <a:latin typeface="Calibri"/>
              </a:rPr>
              <a:t>An inbound change notification whose authenticity is proven by an HMAC-SHA256 signature over {timestamp}.{raw body}, validated (constant-time) before the payload is parsed. A configured port with no secret fails closed.</a:t>
            </a:r>
          </a:p>
          <a:p>
            <a:pPr>
              <a:spcAft>
                <a:spcPts val="200"/>
              </a:spcAft>
            </a:pPr>
            <a:r>
              <a:rPr sz="1000" b="1" i="0">
                <a:solidFill>
                  <a:srgbClr val="595959"/>
                </a:solidFill>
                <a:latin typeface="Calibri"/>
              </a:rPr>
              <a:t>Why it matters  </a:t>
            </a:r>
            <a:r>
              <a:rPr sz="1100" b="0" i="0">
                <a:solidFill>
                  <a:srgbClr val="202020"/>
                </a:solidFill>
                <a:latin typeface="Calibri"/>
              </a:rPr>
              <a:t>It gives near-real-time updates safely; a rise in rejected events means a secret-rotation mismatch, a stale/replayed post or a forgery attempt, not a data problem.</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424</a:t>
            </a: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Webhook anti-replay / signed timestamp</a:t>
            </a:r>
          </a:p>
          <a:p>
            <a:pPr>
              <a:spcAft>
                <a:spcPts val="0"/>
              </a:spcAft>
            </a:pPr>
            <a:r>
              <a:rPr sz="1000" b="1" i="0">
                <a:solidFill>
                  <a:srgbClr val="595959"/>
                </a:solidFill>
                <a:latin typeface="Calibri"/>
              </a:rPr>
              <a:t>What it is  </a:t>
            </a:r>
            <a:r>
              <a:rPr sz="1100" b="0" i="0">
                <a:solidFill>
                  <a:srgbClr val="202020"/>
                </a:solidFill>
                <a:latin typeface="Calibri"/>
              </a:rPr>
              <a:t>The v1.1 replay protection: the sender binds a timestamp into the HMAC by signing {timestamp}.{body} and sends it in CLARIZEN_WEBHOOK_TIMESTAMP_HEADER. With CLARIZEN_WEBHOOK_REQUIRE_TIMESTAMP=true (default), a post that is stale, future-dated, missing its timestamp, or a duplicate replayed within ..._TIMESTAMP_TOLERANCE_SECONDS (default 300) is rejected fail-closed before parsing.</a:t>
            </a:r>
          </a:p>
          <a:p>
            <a:pPr>
              <a:spcAft>
                <a:spcPts val="200"/>
              </a:spcAft>
            </a:pPr>
            <a:r>
              <a:rPr sz="1000" b="1" i="0">
                <a:solidFill>
                  <a:srgbClr val="595959"/>
                </a:solidFill>
                <a:latin typeface="Calibri"/>
              </a:rPr>
              <a:t>Why it matters  </a:t>
            </a:r>
            <a:r>
              <a:rPr sz="1100" b="0" i="0">
                <a:solidFill>
                  <a:srgbClr val="202020"/>
                </a:solidFill>
                <a:latin typeface="Calibri"/>
              </a:rPr>
              <a:t>It stops a captured valid post being replayed to burn API budget or re-drive work; set REQUIRE_TIMESTAMP=false only to migrate senders that cannot send a timestamp (no replay protection then).</a:t>
            </a:r>
          </a:p>
          <a:p>
            <a:pPr>
              <a:spcBef>
                <a:spcPts val="600"/>
              </a:spcBef>
              <a:spcAft>
                <a:spcPts val="100"/>
              </a:spcAft>
            </a:pPr>
            <a:r>
              <a:rPr sz="1400" b="1" i="0">
                <a:solidFill>
                  <a:srgbClr val="1F3864"/>
                </a:solidFill>
                <a:latin typeface="Calibri"/>
              </a:rPr>
              <a:t>Deletion sweep</a:t>
            </a:r>
          </a:p>
          <a:p>
            <a:pPr>
              <a:spcAft>
                <a:spcPts val="0"/>
              </a:spcAft>
            </a:pPr>
            <a:r>
              <a:rPr sz="1000" b="1" i="0">
                <a:solidFill>
                  <a:srgbClr val="595959"/>
                </a:solidFill>
                <a:latin typeface="Calibri"/>
              </a:rPr>
              <a:t>What it is  </a:t>
            </a:r>
            <a:r>
              <a:rPr sz="1100" b="0" i="0">
                <a:solidFill>
                  <a:srgbClr val="202020"/>
                </a:solidFill>
                <a:latin typeface="Calibri"/>
              </a:rPr>
              <a:t>The full-crawl existence check that compares the ingested-item inventory against the source and withdraws records that no longer exist in Clarizen (Clarizen has no deletion feed), protected by two mass-deletion guards.</a:t>
            </a:r>
          </a:p>
          <a:p>
            <a:pPr>
              <a:spcAft>
                <a:spcPts val="200"/>
              </a:spcAft>
            </a:pPr>
            <a:r>
              <a:rPr sz="1000" b="1" i="0">
                <a:solidFill>
                  <a:srgbClr val="595959"/>
                </a:solidFill>
                <a:latin typeface="Calibri"/>
              </a:rPr>
              <a:t>Why it matters  </a:t>
            </a:r>
            <a:r>
              <a:rPr sz="1100" b="0" i="0">
                <a:solidFill>
                  <a:srgbClr val="202020"/>
                </a:solidFill>
                <a:latin typeface="Calibri"/>
              </a:rPr>
              <a:t>It is why deletions in Clarizen eventually disappear from Copilot; a deletion_sweep_skipped alert means a guard caught an implausibly large delete.</a:t>
            </a:r>
          </a:p>
          <a:p>
            <a:pPr>
              <a:spcBef>
                <a:spcPts val="600"/>
              </a:spcBef>
              <a:spcAft>
                <a:spcPts val="100"/>
              </a:spcAft>
            </a:pPr>
            <a:r>
              <a:rPr sz="1400" b="1" i="0">
                <a:solidFill>
                  <a:srgbClr val="1F3864"/>
                </a:solidFill>
                <a:latin typeface="Calibri"/>
              </a:rPr>
              <a:t>Delta cursor</a:t>
            </a:r>
          </a:p>
          <a:p>
            <a:pPr>
              <a:spcAft>
                <a:spcPts val="0"/>
              </a:spcAft>
            </a:pPr>
            <a:r>
              <a:rPr sz="1000" b="1" i="0">
                <a:solidFill>
                  <a:srgbClr val="595959"/>
                </a:solidFill>
                <a:latin typeface="Calibri"/>
              </a:rPr>
              <a:t>What it is  </a:t>
            </a:r>
            <a:r>
              <a:rPr sz="1100" b="0" i="0">
                <a:solidFill>
                  <a:srgbClr val="202020"/>
                </a:solidFill>
                <a:latin typeface="Calibri"/>
              </a:rPr>
              <a:t>The LastUpdatedOn &gt; &lt;last-sync&gt; condition an incremental crawl adds so it only fetches records changed since the previous run.</a:t>
            </a:r>
          </a:p>
          <a:p>
            <a:pPr>
              <a:spcAft>
                <a:spcPts val="200"/>
              </a:spcAft>
            </a:pPr>
            <a:r>
              <a:rPr sz="1000" b="1" i="0">
                <a:solidFill>
                  <a:srgbClr val="595959"/>
                </a:solidFill>
                <a:latin typeface="Calibri"/>
              </a:rPr>
              <a:t>Why it matters  </a:t>
            </a:r>
            <a:r>
              <a:rPr sz="1100" b="0" i="0">
                <a:solidFill>
                  <a:srgbClr val="202020"/>
                </a:solidFill>
                <a:latin typeface="Calibri"/>
              </a:rPr>
              <a:t>It keeps incremental crawls cheap and fast; a lost cursor (state corruption) just makes the next incremental behave like a first run.</a:t>
            </a:r>
          </a:p>
          <a:p>
            <a:pPr>
              <a:spcBef>
                <a:spcPts val="600"/>
              </a:spcBef>
              <a:spcAft>
                <a:spcPts val="100"/>
              </a:spcAft>
            </a:pPr>
            <a:r>
              <a:rPr sz="1400" b="1" i="0">
                <a:solidFill>
                  <a:srgbClr val="1F3864"/>
                </a:solidFill>
                <a:latin typeface="Calibri"/>
              </a:rPr>
              <a:t>Dead-letter redaction</a:t>
            </a:r>
          </a:p>
          <a:p>
            <a:pPr>
              <a:spcAft>
                <a:spcPts val="0"/>
              </a:spcAft>
            </a:pPr>
            <a:r>
              <a:rPr sz="1000" b="1" i="0">
                <a:solidFill>
                  <a:srgbClr val="595959"/>
                </a:solidFill>
                <a:latin typeface="Calibri"/>
              </a:rPr>
              <a:t>What it is  </a:t>
            </a:r>
            <a:r>
              <a:rPr sz="1100" b="0" i="0">
                <a:solidFill>
                  <a:srgbClr val="202020"/>
                </a:solidFill>
                <a:latin typeface="Calibri"/>
              </a:rPr>
              <a:t>The default DEADLETTER_PAYLOAD_MODE=redacted behaviour: when a record fails to ingest, its failed-record file keeps the id, object type, error and per-field SHA-256 hashes but strips property/content values, ACL entries and response bodies (including the financial-classification paths). An unrecognised mode value fails start-up.</a:t>
            </a:r>
          </a:p>
          <a:p>
            <a:pPr>
              <a:spcAft>
                <a:spcPts val="200"/>
              </a:spcAft>
            </a:pPr>
            <a:r>
              <a:rPr sz="1000" b="1" i="0">
                <a:solidFill>
                  <a:srgbClr val="595959"/>
                </a:solidFill>
                <a:latin typeface="Calibri"/>
              </a:rPr>
              <a:t>Why it matters  </a:t>
            </a:r>
            <a:r>
              <a:rPr sz="1100" b="0" i="0">
                <a:solidFill>
                  <a:srgbClr val="202020"/>
                </a:solidFill>
                <a:latin typeface="Calibri"/>
              </a:rPr>
              <a:t>It keeps raw source data — including financial values and PII — off disk by default; retry-failed re-fetches from source, so redaction costs nothing operationally. Use full only where the queue is tightly ACL'd for diagnosis.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425</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Decision ledger</a:t>
            </a:r>
          </a:p>
          <a:p>
            <a:pPr>
              <a:spcAft>
                <a:spcPts val="0"/>
              </a:spcAft>
            </a:pPr>
            <a:r>
              <a:rPr sz="1000" b="1" i="0">
                <a:solidFill>
                  <a:srgbClr val="595959"/>
                </a:solidFill>
                <a:latin typeface="Calibri"/>
              </a:rPr>
              <a:t>What it is  </a:t>
            </a:r>
            <a:r>
              <a:rPr sz="1100" b="0" i="0">
                <a:solidFill>
                  <a:srgbClr val="202020"/>
                </a:solidFill>
                <a:latin typeface="Calibri"/>
              </a:rPr>
              <a:t>An append-only, SHA-256 hash-chained record (logs/decisions_&lt;CONNECTOR_ID&gt;.jsonl) of governance DECISIONS — items excluded (no resolvable ACL) and items ACL-restricted (financial acl mode, classification enforcement). Ids and reasons only, never content or PII. On by default (DECISION_LEDGER=true).</a:t>
            </a:r>
          </a:p>
          <a:p>
            <a:pPr>
              <a:spcAft>
                <a:spcPts val="200"/>
              </a:spcAft>
            </a:pPr>
            <a:r>
              <a:rPr sz="1000" b="1" i="0">
                <a:solidFill>
                  <a:srgbClr val="595959"/>
                </a:solidFill>
                <a:latin typeface="Calibri"/>
              </a:rPr>
              <a:t>Why it matters  </a:t>
            </a:r>
            <a:r>
              <a:rPr sz="1100" b="0" i="0">
                <a:solidFill>
                  <a:srgbClr val="202020"/>
                </a:solidFill>
                <a:latin typeface="Calibri"/>
              </a:rPr>
              <a:t>It gives you a tamper-evident answer to "why was this item hidden or restricted?": any edit, reorder or deletion breaks the chain and is detectable by the verify step. Store it off-host for strong non-repudiation.</a:t>
            </a:r>
          </a:p>
          <a:p>
            <a:pPr>
              <a:spcBef>
                <a:spcPts val="600"/>
              </a:spcBef>
              <a:spcAft>
                <a:spcPts val="100"/>
              </a:spcAft>
            </a:pPr>
            <a:r>
              <a:rPr sz="1400" b="1" i="0">
                <a:solidFill>
                  <a:srgbClr val="1F3864"/>
                </a:solidFill>
                <a:latin typeface="Calibri"/>
              </a:rPr>
              <a:t>Classification enforcement (advisory tag to ACL)</a:t>
            </a:r>
          </a:p>
          <a:p>
            <a:pPr>
              <a:spcAft>
                <a:spcPts val="0"/>
              </a:spcAft>
            </a:pPr>
            <a:r>
              <a:rPr sz="1000" b="1" i="0">
                <a:solidFill>
                  <a:srgbClr val="595959"/>
                </a:solidFill>
                <a:latin typeface="Calibri"/>
              </a:rPr>
              <a:t>What it is  </a:t>
            </a:r>
            <a:r>
              <a:rPr sz="1100" b="0" i="0">
                <a:solidFill>
                  <a:srgbClr val="202020"/>
                </a:solidFill>
                <a:latin typeface="Calibri"/>
              </a:rPr>
              <a:t>The opt-in CLASSIFICATION_ENFORCE_ACL: it turns the advisory SensitivityLabel tag into a real connector-layer ACL restriction by locking every Restricted item to CLASSIFICATION_RESTRICTED_GROUP_ID (grants replaced, denies kept). Off by default; requires CLASSIFICATION=true and the group.</a:t>
            </a:r>
          </a:p>
          <a:p>
            <a:pPr>
              <a:spcAft>
                <a:spcPts val="200"/>
              </a:spcAft>
            </a:pPr>
            <a:r>
              <a:rPr sz="1000" b="1" i="0">
                <a:solidFill>
                  <a:srgbClr val="595959"/>
                </a:solidFill>
                <a:latin typeface="Calibri"/>
              </a:rPr>
              <a:t>Why it matters  </a:t>
            </a:r>
            <a:r>
              <a:rPr sz="1100" b="0" i="0">
                <a:solidFill>
                  <a:srgbClr val="202020"/>
                </a:solidFill>
                <a:latin typeface="Calibri"/>
              </a:rPr>
              <a:t>It is the bridge between labelling (advisory only, honoured by nothing on its own) and actually restricting who can retrieve the most sensitive items through Copilot.</a:t>
            </a:r>
          </a:p>
          <a:p>
            <a:pPr>
              <a:spcBef>
                <a:spcPts val="600"/>
              </a:spcBef>
              <a:spcAft>
                <a:spcPts val="100"/>
              </a:spcAft>
            </a:pPr>
            <a:r>
              <a:rPr sz="1400" b="1" i="0">
                <a:solidFill>
                  <a:srgbClr val="1F3864"/>
                </a:solidFill>
                <a:latin typeface="Calibri"/>
              </a:rPr>
              <a:t>Stale-index item TTL / expirationDateTime</a:t>
            </a:r>
          </a:p>
          <a:p>
            <a:pPr>
              <a:spcAft>
                <a:spcPts val="0"/>
              </a:spcAft>
            </a:pPr>
            <a:r>
              <a:rPr sz="1000" b="1" i="0">
                <a:solidFill>
                  <a:srgbClr val="595959"/>
                </a:solidFill>
                <a:latin typeface="Calibri"/>
              </a:rPr>
              <a:t>What it is  </a:t>
            </a:r>
            <a:r>
              <a:rPr sz="1100" b="0" i="0">
                <a:solidFill>
                  <a:srgbClr val="202020"/>
                </a:solidFill>
                <a:latin typeface="Calibri"/>
              </a:rPr>
              <a:t>The opt-in GRAPH_ITEM_TTL_DAYS: when &gt;0, every ingested item is stamped with a top-level expirationDateTime = now + TTL, so the Graph index self-expires if crawling stops after an outage. A healthy connector re-stamps each crawl.</a:t>
            </a:r>
          </a:p>
          <a:p>
            <a:pPr>
              <a:spcAft>
                <a:spcPts val="200"/>
              </a:spcAft>
            </a:pPr>
            <a:r>
              <a:rPr sz="1000" b="1" i="0">
                <a:solidFill>
                  <a:srgbClr val="595959"/>
                </a:solidFill>
                <a:latin typeface="Calibri"/>
              </a:rPr>
              <a:t>Why it matters  </a:t>
            </a:r>
            <a:r>
              <a:rPr sz="1100" b="0" i="0">
                <a:solidFill>
                  <a:srgbClr val="202020"/>
                </a:solidFill>
                <a:latin typeface="Calibri"/>
              </a:rPr>
              <a:t>It is a defence-in-depth backstop for the case where crawling itself stops (a wedged host, a prolonged outage) — deletion sync needs a running crawl to act, the TTL does not. Set it comfortably above your full-crawl cadence so live items never expire between crawls.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Clarizen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426</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182880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331720"/>
            <a:ext cx="11185855" cy="1737360"/>
          </a:xfrm>
          <a:prstGeom prst="rect">
            <a:avLst/>
          </a:prstGeom>
          <a:noFill/>
        </p:spPr>
        <p:txBody>
          <a:bodyPr wrap="square" anchor="ctr" lIns="0" rIns="0" tIns="0" bIns="0">
            <a:spAutoFit/>
          </a:bodyPr>
          <a:lstStyle/>
          <a:p>
            <a:r>
              <a:rPr sz="2000" b="1" i="0">
                <a:solidFill>
                  <a:srgbClr val="C7D3EA"/>
                </a:solidFill>
                <a:latin typeface="Calibri"/>
              </a:rPr>
              <a:t>Part 3</a:t>
            </a:r>
          </a:p>
          <a:p>
            <a:r>
              <a:rPr sz="3400" b="1" i="0">
                <a:solidFill>
                  <a:srgbClr val="FFFFFF"/>
                </a:solidFill>
                <a:latin typeface="Calibri"/>
              </a:rPr>
              <a:t>Seismic Connector</a:t>
            </a:r>
          </a:p>
          <a:p>
            <a:r>
              <a:rPr sz="1600" b="0" i="0">
                <a:solidFill>
                  <a:srgbClr val="E0E8F5"/>
                </a:solidFill>
                <a:latin typeface="Calibri"/>
              </a:rPr>
              <a:t>Sales enablement — version-aware, No-MNE fail-closed</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Seismic Connector</a:t>
            </a:r>
          </a:p>
          <a:p>
            <a:r>
              <a:rPr sz="3000" b="1" i="0">
                <a:solidFill>
                  <a:srgbClr val="1F3864"/>
                </a:solidFill>
                <a:latin typeface="Calibri"/>
              </a:rPr>
              <a:t>1. About this guide</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428</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 About this guide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This is the day-to-day operator's manual for the Seismic connector — the piece of software that copies your bank's Seismic sales-enablement content into the Microsoft 365 Copilot search index so Copilot can answer questions from it, while respecting who is allowed to see what.</a:t>
            </a:r>
          </a:p>
          <a:p>
            <a:pPr>
              <a:spcBef>
                <a:spcPts val="100"/>
              </a:spcBef>
              <a:spcAft>
                <a:spcPts val="400"/>
              </a:spcAft>
            </a:pPr>
            <a:r>
              <a:rPr sz="1250" b="0" i="0">
                <a:solidFill>
                  <a:srgbClr val="202020"/>
                </a:solidFill>
                <a:latin typeface="Calibri"/>
              </a:rPr>
              <a:t>It is written for an IT operator who runs, watches, and supports the connector. You do not need to have built it, and you do not need to be a senior engineer. Every Seismic-specific term is explained the first time it appears; deeper definitions are collected in the </a:t>
            </a:r>
            <a:r>
              <a:rPr sz="1250" b="1" i="0">
                <a:solidFill>
                  <a:srgbClr val="202020"/>
                </a:solidFill>
                <a:latin typeface="Calibri"/>
              </a:rPr>
              <a:t>Glossary</a:t>
            </a:r>
            <a:r>
              <a:rPr sz="1250" b="0" i="0">
                <a:solidFill>
                  <a:srgbClr val="202020"/>
                </a:solidFill>
                <a:latin typeface="Calibri"/>
              </a:rPr>
              <a:t> (section 16).</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429</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 About this guide</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1" i="0">
                <a:solidFill>
                  <a:srgbClr val="202020"/>
                </a:solidFill>
                <a:latin typeface="Calibri"/>
              </a:rPr>
              <a:t>What changed in this release — safe defaults (v1.1, bank-grade hardening).</a:t>
            </a:r>
            <a:r>
              <a:rPr sz="1400" b="0" i="0">
                <a:solidFill>
                  <a:srgbClr val="202020"/>
                </a:solidFill>
                <a:latin typeface="Calibri"/>
              </a:rPr>
              <a:t> This release changes several defaults so the connector is safe out of the box. The behaviour-changing flips that affect Seismic are: (1) </a:t>
            </a:r>
            <a:r>
              <a:rPr sz="1400" b="1" i="0">
                <a:solidFill>
                  <a:srgbClr val="202020"/>
                </a:solidFill>
                <a:latin typeface="Calibri"/>
              </a:rPr>
              <a:t>MNPI / exclusion fail-closed</a:t>
            </a:r>
            <a:r>
              <a:rPr sz="1400" b="0" i="0">
                <a:solidFill>
                  <a:srgbClr val="202020"/>
                </a:solidFill>
                <a:latin typeface="Calibri"/>
              </a:rPr>
              <a:t> — a missing, empty, </a:t>
            </a:r>
            <a:r>
              <a:rPr sz="1350" b="0" i="0">
                <a:solidFill>
                  <a:srgbClr val="202020"/>
                </a:solidFill>
                <a:latin typeface="Consolas"/>
              </a:rPr>
              <a:t>{}</a:t>
            </a:r>
            <a:r>
              <a:rPr sz="1400" b="0" i="0">
                <a:solidFill>
                  <a:srgbClr val="202020"/>
                </a:solidFill>
                <a:latin typeface="Calibri"/>
              </a:rPr>
              <a:t>, </a:t>
            </a:r>
            <a:r>
              <a:rPr sz="1350" b="0" i="0">
                <a:solidFill>
                  <a:srgbClr val="202020"/>
                </a:solidFill>
                <a:latin typeface="Consolas"/>
              </a:rPr>
              <a:t>null</a:t>
            </a:r>
            <a:r>
              <a:rPr sz="1400" b="0" i="0">
                <a:solidFill>
                  <a:srgbClr val="202020"/>
                </a:solidFill>
                <a:latin typeface="Calibri"/>
              </a:rPr>
              <a:t>, malformed, or rule-less </a:t>
            </a:r>
            <a:r>
              <a:rPr sz="1350" b="0" i="0">
                <a:solidFill>
                  <a:srgbClr val="202020"/>
                </a:solidFill>
                <a:latin typeface="Consolas"/>
              </a:rPr>
              <a:t>config/exclusions.json</a:t>
            </a:r>
            <a:r>
              <a:rPr sz="1400" b="0" i="0">
                <a:solidFill>
                  <a:srgbClr val="202020"/>
                </a:solidFill>
                <a:latin typeface="Calibri"/>
              </a:rPr>
              <a:t> is now a </a:t>
            </a:r>
            <a:r>
              <a:rPr sz="1400" b="1" i="0">
                <a:solidFill>
                  <a:srgbClr val="202020"/>
                </a:solidFill>
                <a:latin typeface="Calibri"/>
              </a:rPr>
              <a:t>hard startup error</a:t>
            </a:r>
            <a:r>
              <a:rPr sz="1400" b="0" i="0">
                <a:solidFill>
                  <a:srgbClr val="202020"/>
                </a:solidFill>
                <a:latin typeface="Calibri"/>
              </a:rPr>
              <a:t>, no longer a silent "no rules" (section 7); (2) </a:t>
            </a:r>
            <a:r>
              <a:rPr sz="1400" b="1" i="0">
                <a:solidFill>
                  <a:srgbClr val="202020"/>
                </a:solidFill>
                <a:latin typeface="Calibri"/>
              </a:rPr>
              <a:t>dead-letter records are redacted by default</a:t>
            </a:r>
            <a:r>
              <a:rPr sz="1400" b="0" i="0">
                <a:solidFill>
                  <a:srgbClr val="202020"/>
                </a:solidFill>
                <a:latin typeface="Calibri"/>
              </a:rPr>
              <a:t> (</a:t>
            </a:r>
            <a:r>
              <a:rPr sz="1350" b="0" i="0">
                <a:solidFill>
                  <a:srgbClr val="202020"/>
                </a:solidFill>
                <a:latin typeface="Consolas"/>
              </a:rPr>
              <a:t>DEADLETTER_PAYLOAD_MODE=redacted</a:t>
            </a:r>
            <a:r>
              <a:rPr sz="1400" b="0" i="0">
                <a:solidFill>
                  <a:srgbClr val="202020"/>
                </a:solidFill>
                <a:latin typeface="Calibri"/>
              </a:rPr>
              <a:t>) — raw content and PII no longer hit disk unless you explicitly opt into </a:t>
            </a:r>
            <a:r>
              <a:rPr sz="1350" b="0" i="0">
                <a:solidFill>
                  <a:srgbClr val="202020"/>
                </a:solidFill>
                <a:latin typeface="Consolas"/>
              </a:rPr>
              <a:t>full</a:t>
            </a:r>
            <a:r>
              <a:rPr sz="1400" b="0" i="0">
                <a:solidFill>
                  <a:srgbClr val="202020"/>
                </a:solidFill>
                <a:latin typeface="Calibri"/>
              </a:rPr>
              <a:t> (section 15); (3) </a:t>
            </a:r>
            <a:r>
              <a:rPr sz="1400" b="1" i="0">
                <a:solidFill>
                  <a:srgbClr val="202020"/>
                </a:solidFill>
                <a:latin typeface="Calibri"/>
              </a:rPr>
              <a:t>identity re-syncs on incremental crawls</a:t>
            </a:r>
            <a:r>
              <a:rPr sz="1400" b="0" i="0">
                <a:solidFill>
                  <a:srgbClr val="202020"/>
                </a:solidFill>
                <a:latin typeface="Calibri"/>
              </a:rPr>
              <a:t> (</a:t>
            </a:r>
            <a:r>
              <a:rPr sz="1350" b="0" i="0">
                <a:solidFill>
                  <a:srgbClr val="202020"/>
                </a:solidFill>
                <a:latin typeface="Consolas"/>
              </a:rPr>
              <a:t>IDENTITY_SYNC_ON_INCREMENTAL=true</a:t>
            </a:r>
            <a:r>
              <a:rPr sz="1400" b="0" i="0">
                <a:solidFill>
                  <a:srgbClr val="202020"/>
                </a:solidFill>
                <a:latin typeface="Calibri"/>
              </a:rPr>
              <a:t>) so ACL staleness shrinks to the incremental cadence (section 8/15); and (4) </a:t>
            </a:r>
            <a:r>
              <a:rPr sz="1400" b="1" i="0">
                <a:solidFill>
                  <a:srgbClr val="202020"/>
                </a:solidFill>
                <a:latin typeface="Calibri"/>
              </a:rPr>
              <a:t>webhooks require a signed timestamp</a:t>
            </a:r>
            <a:r>
              <a:rPr sz="1400" b="0" i="0">
                <a:solidFill>
                  <a:srgbClr val="202020"/>
                </a:solidFill>
                <a:latin typeface="Calibri"/>
              </a:rPr>
              <a:t> (</a:t>
            </a:r>
            <a:r>
              <a:rPr sz="1350" b="0" i="0">
                <a:solidFill>
                  <a:srgbClr val="202020"/>
                </a:solidFill>
                <a:latin typeface="Consolas"/>
              </a:rPr>
              <a:t>SEISMIC_WEBHOOK_REQUIRE_TIMESTAMP=true</a:t>
            </a:r>
            <a:r>
              <a:rPr sz="1400" b="0" i="0">
                <a:solidFill>
                  <a:srgbClr val="202020"/>
                </a:solidFill>
                <a:latin typeface="Calibri"/>
              </a:rPr>
              <a:t>) so replayed/stale requests are rejected before parse (section 9). If you are upgrading from v1.0, read section 7 first and confirm a reviewed </a:t>
            </a:r>
            <a:r>
              <a:rPr sz="1350" b="0" i="0">
                <a:solidFill>
                  <a:srgbClr val="202020"/>
                </a:solidFill>
                <a:latin typeface="Consolas"/>
              </a:rPr>
              <a:t>exclusions.json</a:t>
            </a:r>
            <a:r>
              <a:rPr sz="1400" b="0" i="0">
                <a:solidFill>
                  <a:srgbClr val="202020"/>
                </a:solidFill>
                <a:latin typeface="Calibri"/>
              </a:rPr>
              <a:t> is in place before the connector will start.</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430</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Who should read this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Operations &amp; monitoring</a:t>
            </a:r>
            <a:r>
              <a:rPr sz="1250" b="0" i="0">
                <a:solidFill>
                  <a:srgbClr val="202020"/>
                </a:solidFill>
                <a:latin typeface="Calibri"/>
              </a:rPr>
              <a:t> — you keep the connector running, watch its dashboards, and respond to alerts.</a:t>
            </a:r>
          </a:p>
          <a:p>
            <a:pPr>
              <a:spcBef>
                <a:spcPts val="100"/>
              </a:spcBef>
              <a:spcAft>
                <a:spcPts val="200"/>
              </a:spcAft>
            </a:pPr>
            <a:r>
              <a:rPr sz="1250" b="1" i="0">
                <a:solidFill>
                  <a:srgbClr val="2E5496"/>
                </a:solidFill>
                <a:latin typeface="Calibri"/>
              </a:rPr>
              <a:t>•  </a:t>
            </a:r>
            <a:r>
              <a:rPr sz="1250" b="1" i="0">
                <a:solidFill>
                  <a:srgbClr val="202020"/>
                </a:solidFill>
                <a:latin typeface="Calibri"/>
              </a:rPr>
              <a:t>Support / on-call (L1)</a:t>
            </a:r>
            <a:r>
              <a:rPr sz="1250" b="0" i="0">
                <a:solidFill>
                  <a:srgbClr val="202020"/>
                </a:solidFill>
                <a:latin typeface="Calibri"/>
              </a:rPr>
              <a:t> — you take the first call when something looks wrong and follow the troubleshooting steps in section 14.</a:t>
            </a:r>
          </a:p>
          <a:p>
            <a:pPr>
              <a:spcBef>
                <a:spcPts val="100"/>
              </a:spcBef>
              <a:spcAft>
                <a:spcPts val="200"/>
              </a:spcAft>
            </a:pPr>
            <a:r>
              <a:rPr sz="1250" b="1" i="0">
                <a:solidFill>
                  <a:srgbClr val="2E5496"/>
                </a:solidFill>
                <a:latin typeface="Calibri"/>
              </a:rPr>
              <a:t>•  </a:t>
            </a:r>
            <a:r>
              <a:rPr sz="1250" b="1" i="0">
                <a:solidFill>
                  <a:srgbClr val="202020"/>
                </a:solidFill>
                <a:latin typeface="Calibri"/>
              </a:rPr>
              <a:t>Whoever performs the first install</a:t>
            </a:r>
            <a:r>
              <a:rPr sz="1250" b="0" i="0">
                <a:solidFill>
                  <a:srgbClr val="202020"/>
                </a:solidFill>
                <a:latin typeface="Calibri"/>
              </a:rPr>
              <a:t> — sections 10 and 11 walk the initial setup end to end.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431</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What this guide is not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It does not re-teach the concepts that are the same for every connector in the set — what a Microsoft Graph connector is, what an </a:t>
            </a:r>
            <a:r>
              <a:rPr sz="1250" b="1" i="0">
                <a:solidFill>
                  <a:srgbClr val="202020"/>
                </a:solidFill>
                <a:latin typeface="Calibri"/>
              </a:rPr>
              <a:t>external item</a:t>
            </a:r>
            <a:r>
              <a:rPr sz="1250" b="0" i="0">
                <a:solidFill>
                  <a:srgbClr val="202020"/>
                </a:solidFill>
                <a:latin typeface="Calibri"/>
              </a:rPr>
              <a:t> and an </a:t>
            </a:r>
            <a:r>
              <a:rPr sz="1250" b="1" i="0">
                <a:solidFill>
                  <a:srgbClr val="202020"/>
                </a:solidFill>
                <a:latin typeface="Calibri"/>
              </a:rPr>
              <a:t>ACL</a:t>
            </a:r>
            <a:r>
              <a:rPr sz="1250" b="0" i="0">
                <a:solidFill>
                  <a:srgbClr val="202020"/>
                </a:solidFill>
                <a:latin typeface="Calibri"/>
              </a:rPr>
              <a:t> are, how the shared runtime (the "chassis") is installed, how authentication and Key Vault work, tenant quotas, backup and disaster recovery, and the shared glossary. Those live in the </a:t>
            </a:r>
            <a:r>
              <a:rPr sz="1250" b="1" i="0">
                <a:solidFill>
                  <a:srgbClr val="202020"/>
                </a:solidFill>
                <a:latin typeface="Calibri"/>
              </a:rPr>
              <a:t>Tenant &amp; Common Concepts Guide (CONN-DOC-COMMON-01)</a:t>
            </a:r>
            <a:r>
              <a:rPr sz="1250" b="0" i="0">
                <a:solidFill>
                  <a:srgbClr val="202020"/>
                </a:solidFill>
                <a:latin typeface="Calibri"/>
              </a:rPr>
              <a:t>, referred to throughout as the "Common Guide". Read that guide first; this one only covers what is specific to Seismic.</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432</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What this guide is not</a:t>
            </a:r>
          </a:p>
        </p:txBody>
      </p:sp>
      <p:sp>
        <p:nvSpPr>
          <p:cNvPr id="5" name="Rectangle 4"/>
          <p:cNvSpPr/>
          <p:nvPr/>
        </p:nvSpPr>
        <p:spPr>
          <a:xfrm>
            <a:off x="502920" y="1463040"/>
            <a:ext cx="11185855" cy="329184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5496"/>
                </a:solidFill>
                <a:latin typeface="Calibri"/>
              </a:rPr>
              <a:t>Note:  </a:t>
            </a:r>
            <a:r>
              <a:rPr sz="1400" b="1" i="0">
                <a:solidFill>
                  <a:srgbClr val="202020"/>
                </a:solidFill>
                <a:latin typeface="Calibri"/>
              </a:rPr>
              <a:t>Note: </a:t>
            </a:r>
            <a:r>
              <a:rPr sz="1400" b="0" i="0">
                <a:solidFill>
                  <a:srgbClr val="202020"/>
                </a:solidFill>
                <a:latin typeface="Calibri"/>
              </a:rPr>
              <a:t>Cross-references use the form "Common Guide §5". When you see a shared concept mentioned in passing here (Graph connection, external item, ACL, Entra ID, chassis install, monitoring stack, DR), the authoritative explanation is in the Common Guide.</a:t>
            </a:r>
          </a:p>
        </p:txBody>
      </p:sp>
      <p:sp>
        <p:nvSpPr>
          <p:cNvPr id="6" name="Rectangle 5"/>
          <p:cNvSpPr/>
          <p:nvPr/>
        </p:nvSpPr>
        <p:spPr>
          <a:xfrm>
            <a:off x="502920" y="1463040"/>
            <a:ext cx="128016" cy="329184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433</a:t>
            </a: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How to use it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Setting up for the first time?</a:t>
            </a:r>
            <a:r>
              <a:rPr sz="1250" b="0" i="0">
                <a:solidFill>
                  <a:srgbClr val="202020"/>
                </a:solidFill>
                <a:latin typeface="Calibri"/>
              </a:rPr>
              <a:t> Work through section 10 (intake checklist) then section 11 (step-by-step).</a:t>
            </a:r>
          </a:p>
          <a:p>
            <a:pPr>
              <a:spcBef>
                <a:spcPts val="100"/>
              </a:spcBef>
              <a:spcAft>
                <a:spcPts val="200"/>
              </a:spcAft>
            </a:pPr>
            <a:r>
              <a:rPr sz="1250" b="1" i="0">
                <a:solidFill>
                  <a:srgbClr val="2E5496"/>
                </a:solidFill>
                <a:latin typeface="Calibri"/>
              </a:rPr>
              <a:t>•  </a:t>
            </a:r>
            <a:r>
              <a:rPr sz="1250" b="1" i="0">
                <a:solidFill>
                  <a:srgbClr val="202020"/>
                </a:solidFill>
                <a:latin typeface="Calibri"/>
              </a:rPr>
              <a:t>Running it day to day?</a:t>
            </a:r>
            <a:r>
              <a:rPr sz="1250" b="0" i="0">
                <a:solidFill>
                  <a:srgbClr val="202020"/>
                </a:solidFill>
                <a:latin typeface="Calibri"/>
              </a:rPr>
              <a:t> Sections 12 and 13 are your routine.</a:t>
            </a:r>
          </a:p>
          <a:p>
            <a:pPr>
              <a:spcBef>
                <a:spcPts val="100"/>
              </a:spcBef>
              <a:spcAft>
                <a:spcPts val="200"/>
              </a:spcAft>
            </a:pPr>
            <a:r>
              <a:rPr sz="1250" b="1" i="0">
                <a:solidFill>
                  <a:srgbClr val="2E5496"/>
                </a:solidFill>
                <a:latin typeface="Calibri"/>
              </a:rPr>
              <a:t>•  </a:t>
            </a:r>
            <a:r>
              <a:rPr sz="1250" b="1" i="0">
                <a:solidFill>
                  <a:srgbClr val="202020"/>
                </a:solidFill>
                <a:latin typeface="Calibri"/>
              </a:rPr>
              <a:t>Something is wrong?</a:t>
            </a:r>
            <a:r>
              <a:rPr sz="1250" b="0" i="0">
                <a:solidFill>
                  <a:srgbClr val="202020"/>
                </a:solidFill>
                <a:latin typeface="Calibri"/>
              </a:rPr>
              <a:t> Go straight to section 14 (troubleshooting), matched to the same runbooks the platform team uses.</a:t>
            </a:r>
          </a:p>
          <a:p>
            <a:pPr>
              <a:spcBef>
                <a:spcPts val="100"/>
              </a:spcBef>
              <a:spcAft>
                <a:spcPts val="200"/>
              </a:spcAft>
            </a:pPr>
            <a:r>
              <a:rPr sz="1250" b="1" i="0">
                <a:solidFill>
                  <a:srgbClr val="2E5496"/>
                </a:solidFill>
                <a:latin typeface="Calibri"/>
              </a:rPr>
              <a:t>•  </a:t>
            </a:r>
            <a:r>
              <a:rPr sz="1250" b="1" i="0">
                <a:solidFill>
                  <a:srgbClr val="202020"/>
                </a:solidFill>
                <a:latin typeface="Calibri"/>
              </a:rPr>
              <a:t>Need to look up a setting?</a:t>
            </a:r>
            <a:r>
              <a:rPr sz="1250" b="0" i="0">
                <a:solidFill>
                  <a:srgbClr val="202020"/>
                </a:solidFill>
                <a:latin typeface="Calibri"/>
              </a:rPr>
              <a:t> Section 15 is the full configuration reference.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434</a:t>
            </a:r>
          </a:p>
        </p:txBody>
      </p:sp>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Seismic Connector</a:t>
            </a:r>
          </a:p>
          <a:p>
            <a:r>
              <a:rPr sz="3000" b="1" i="0">
                <a:solidFill>
                  <a:srgbClr val="1F3864"/>
                </a:solidFill>
                <a:latin typeface="Calibri"/>
              </a:rPr>
              <a:t>2. What is Seismic, and what data will this connector index?</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435</a:t>
            </a:r>
          </a:p>
        </p:txBody>
      </p:sp>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2. What is Seismic, and what data will this connector index?</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Seismic is a </a:t>
            </a:r>
            <a:r>
              <a:rPr sz="1250" b="1" i="0">
                <a:solidFill>
                  <a:srgbClr val="202020"/>
                </a:solidFill>
                <a:latin typeface="Calibri"/>
              </a:rPr>
              <a:t>sales-enablement</a:t>
            </a:r>
            <a:r>
              <a:rPr sz="1250" b="0" i="0">
                <a:solidFill>
                  <a:srgbClr val="202020"/>
                </a:solidFill>
                <a:latin typeface="Calibri"/>
              </a:rPr>
              <a:t> platform: a managed library of the approved material your client-facing staff use — pitch decks, product one-pagers, fact sheets, proposal templates, and so on. This connector indexes that library into Microsoft 365 Copilot.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436</a:t>
            </a:r>
          </a:p>
        </p:txBody>
      </p:sp>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The Seismic content library, in plain terms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Seismic organises content into </a:t>
            </a:r>
            <a:r>
              <a:rPr sz="1250" b="1" i="0">
                <a:solidFill>
                  <a:srgbClr val="202020"/>
                </a:solidFill>
                <a:latin typeface="Calibri"/>
              </a:rPr>
              <a:t>teamsites</a:t>
            </a:r>
            <a:r>
              <a:rPr sz="1250" b="0" i="0">
                <a:solidFill>
                  <a:srgbClr val="202020"/>
                </a:solidFill>
                <a:latin typeface="Calibri"/>
              </a:rPr>
              <a:t> (also called libraries). A teamsite is a container — think of it as a department's or product line's shared folder — with its own membership and permissions. Inside each teamsite are </a:t>
            </a:r>
            <a:r>
              <a:rPr sz="1250" b="1" i="0">
                <a:solidFill>
                  <a:srgbClr val="202020"/>
                </a:solidFill>
                <a:latin typeface="Calibri"/>
              </a:rPr>
              <a:t>content items</a:t>
            </a:r>
            <a:r>
              <a:rPr sz="1250" b="0" i="0">
                <a:solidFill>
                  <a:srgbClr val="202020"/>
                </a:solidFill>
                <a:latin typeface="Calibri"/>
              </a:rPr>
              <a:t>: individual documents and assets. The connector indexes three broad kinds of content item:</a:t>
            </a:r>
          </a:p>
          <a:p>
            <a:pPr>
              <a:spcBef>
                <a:spcPts val="100"/>
              </a:spcBef>
              <a:spcAft>
                <a:spcPts val="200"/>
              </a:spcAft>
            </a:pPr>
            <a:r>
              <a:rPr sz="1250" b="1" i="0">
                <a:solidFill>
                  <a:srgbClr val="2E5496"/>
                </a:solidFill>
                <a:latin typeface="Calibri"/>
              </a:rPr>
              <a:t>•  </a:t>
            </a:r>
            <a:r>
              <a:rPr sz="1250" b="1" i="0">
                <a:solidFill>
                  <a:srgbClr val="202020"/>
                </a:solidFill>
                <a:latin typeface="Calibri"/>
              </a:rPr>
              <a:t>Documents</a:t>
            </a:r>
            <a:r>
              <a:rPr sz="1250" b="0" i="0">
                <a:solidFill>
                  <a:srgbClr val="202020"/>
                </a:solidFill>
                <a:latin typeface="Calibri"/>
              </a:rPr>
              <a:t> — ordinary files: Word, PowerPoint (including slide notes), Excel, PDF, plain text and HTML, plus other formats indexed by name and description only.</a:t>
            </a:r>
          </a:p>
          <a:p>
            <a:pPr>
              <a:spcBef>
                <a:spcPts val="100"/>
              </a:spcBef>
              <a:spcAft>
                <a:spcPts val="200"/>
              </a:spcAft>
            </a:pPr>
            <a:r>
              <a:rPr sz="1250" b="1" i="0">
                <a:solidFill>
                  <a:srgbClr val="2E5496"/>
                </a:solidFill>
                <a:latin typeface="Calibri"/>
              </a:rPr>
              <a:t>•  </a:t>
            </a:r>
            <a:r>
              <a:rPr sz="1250" b="1" i="0">
                <a:solidFill>
                  <a:srgbClr val="202020"/>
                </a:solidFill>
                <a:latin typeface="Calibri"/>
              </a:rPr>
              <a:t>Pages</a:t>
            </a:r>
            <a:r>
              <a:rPr sz="1250" b="0" i="0">
                <a:solidFill>
                  <a:srgbClr val="202020"/>
                </a:solidFill>
                <a:latin typeface="Calibri"/>
              </a:rPr>
              <a:t> — Seismic's own composed content surfaces, treated as content items like any other.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437</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The Seismic content library, in plain terms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LiveDocs</a:t>
            </a:r>
            <a:r>
              <a:rPr sz="1250" b="0" i="0">
                <a:solidFill>
                  <a:srgbClr val="202020"/>
                </a:solidFill>
                <a:latin typeface="Calibri"/>
              </a:rPr>
              <a:t> — document *templates* that a salesperson personalises at generation time by filling in fields such as "client name", "product", or "region". The connector can index the names of those input fields so a template is findable by what it can be tailored to.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438</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Versions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Every content item in Seismic has </a:t>
            </a:r>
            <a:r>
              <a:rPr sz="1250" b="1" i="0">
                <a:solidFill>
                  <a:srgbClr val="202020"/>
                </a:solidFill>
                <a:latin typeface="Calibri"/>
              </a:rPr>
              <a:t>versions</a:t>
            </a:r>
            <a:r>
              <a:rPr sz="1250" b="0" i="0">
                <a:solidFill>
                  <a:srgbClr val="202020"/>
                </a:solidFill>
                <a:latin typeface="Calibri"/>
              </a:rPr>
              <a:t> — as collateral is revised, Seismic keeps a history and marks one version as the </a:t>
            </a:r>
            <a:r>
              <a:rPr sz="1250" b="1" i="0">
                <a:solidFill>
                  <a:srgbClr val="202020"/>
                </a:solidFill>
                <a:latin typeface="Calibri"/>
              </a:rPr>
              <a:t>current published</a:t>
            </a:r>
            <a:r>
              <a:rPr sz="1250" b="0" i="0">
                <a:solidFill>
                  <a:srgbClr val="202020"/>
                </a:solidFill>
                <a:latin typeface="Calibri"/>
              </a:rPr>
              <a:t> version. This connector only ever indexes the current published version of an item. When a newer version is published it </a:t>
            </a:r>
            <a:r>
              <a:rPr sz="1250" b="1" i="0">
                <a:solidFill>
                  <a:srgbClr val="202020"/>
                </a:solidFill>
                <a:latin typeface="Calibri"/>
              </a:rPr>
              <a:t>supersedes</a:t>
            </a:r>
            <a:r>
              <a:rPr sz="1250" b="0" i="0">
                <a:solidFill>
                  <a:srgbClr val="202020"/>
                </a:solidFill>
                <a:latin typeface="Calibri"/>
              </a:rPr>
              <a:t> the old one in the index; when an item is unpublished or expires it is </a:t>
            </a:r>
            <a:r>
              <a:rPr sz="1250" b="1" i="0">
                <a:solidFill>
                  <a:srgbClr val="202020"/>
                </a:solidFill>
                <a:latin typeface="Calibri"/>
              </a:rPr>
              <a:t>withdrawn</a:t>
            </a:r>
            <a:r>
              <a:rPr sz="1250" b="0" i="0">
                <a:solidFill>
                  <a:srgbClr val="202020"/>
                </a:solidFill>
                <a:latin typeface="Calibri"/>
              </a:rPr>
              <a:t>. Versioning is central to how the connector behaves and is covered in detail in section 6.</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439</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Who uses it, and why index it for the bank</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Seismic is used by relationship managers, sales and coverage teams, and the marketing / product-marketing groups that publish into it. Indexing it into Copilot means staff can ask Copilot natural-language questions — "what is our latest FX hedging one-pager?", "which deck covers the new deposit product for mid-market?" — and get answers grounded in the bank's </a:t>
            </a:r>
            <a:r>
              <a:rPr sz="1250" b="1" i="0">
                <a:solidFill>
                  <a:srgbClr val="202020"/>
                </a:solidFill>
                <a:latin typeface="Calibri"/>
              </a:rPr>
              <a:t>approved</a:t>
            </a:r>
            <a:r>
              <a:rPr sz="1250" b="0" i="0">
                <a:solidFill>
                  <a:srgbClr val="202020"/>
                </a:solidFill>
                <a:latin typeface="Calibri"/>
              </a:rPr>
              <a:t> collateral rather than a stale copy on someone's laptop.</a:t>
            </a:r>
          </a:p>
          <a:p>
            <a:pPr>
              <a:spcBef>
                <a:spcPts val="100"/>
              </a:spcBef>
              <a:spcAft>
                <a:spcPts val="400"/>
              </a:spcAft>
            </a:pPr>
            <a:r>
              <a:rPr sz="1250" b="0" i="0">
                <a:solidFill>
                  <a:srgbClr val="202020"/>
                </a:solidFill>
                <a:latin typeface="Calibri"/>
              </a:rPr>
              <a:t>Two things make this valuable </a:t>
            </a:r>
            <a:r>
              <a:rPr sz="1250" b="1" i="0">
                <a:solidFill>
                  <a:srgbClr val="202020"/>
                </a:solidFill>
                <a:latin typeface="Calibri"/>
              </a:rPr>
              <a:t>and</a:t>
            </a:r>
            <a:r>
              <a:rPr sz="1250" b="0" i="0">
                <a:solidFill>
                  <a:srgbClr val="202020"/>
                </a:solidFill>
                <a:latin typeface="Calibri"/>
              </a:rPr>
              <a:t> safe for a bank, and both are enforced by this connector: Copilot only surfaces an item to a user who is </a:t>
            </a:r>
            <a:r>
              <a:rPr sz="1250" b="1" i="0">
                <a:solidFill>
                  <a:srgbClr val="202020"/>
                </a:solidFill>
                <a:latin typeface="Calibri"/>
              </a:rPr>
              <a:t>already permitted</a:t>
            </a:r>
            <a:r>
              <a:rPr sz="1250" b="0" i="0">
                <a:solidFill>
                  <a:srgbClr val="202020"/>
                </a:solidFill>
                <a:latin typeface="Calibri"/>
              </a:rPr>
              <a:t> to see it in Seismic (access trimming, section 5), and content that is compliance-sensitive — for example material non-public information tied to a live deal — is </a:t>
            </a:r>
            <a:r>
              <a:rPr sz="1250" b="1" i="0">
                <a:solidFill>
                  <a:srgbClr val="202020"/>
                </a:solidFill>
                <a:latin typeface="Calibri"/>
              </a:rPr>
              <a:t>never</a:t>
            </a:r>
            <a:r>
              <a:rPr sz="1250" b="0" i="0">
                <a:solidFill>
                  <a:srgbClr val="202020"/>
                </a:solidFill>
                <a:latin typeface="Calibri"/>
              </a:rPr>
              <a:t> indexed at all (the No-MNE filter, section 7).</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440</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Seismic Connector</a:t>
            </a:r>
          </a:p>
          <a:p>
            <a:r>
              <a:rPr sz="3000" b="1" i="0">
                <a:solidFill>
                  <a:srgbClr val="1F3864"/>
                </a:solidFill>
                <a:latin typeface="Calibri"/>
              </a:rPr>
              <a:t>3. What this connector does</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441</a:t>
            </a:r>
          </a:p>
        </p:txBody>
      </p:sp>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3. What this connector does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connector is a standalone service that logs in to Seismic, reads the approved content, and keeps a matching set of </a:t>
            </a:r>
            <a:r>
              <a:rPr sz="1250" b="1" i="0">
                <a:solidFill>
                  <a:srgbClr val="202020"/>
                </a:solidFill>
                <a:latin typeface="Calibri"/>
              </a:rPr>
              <a:t>external items</a:t>
            </a:r>
            <a:r>
              <a:rPr sz="1250" b="0" i="0">
                <a:solidFill>
                  <a:srgbClr val="202020"/>
                </a:solidFill>
                <a:latin typeface="Calibri"/>
              </a:rPr>
              <a:t> in a Microsoft 365 Copilot </a:t>
            </a:r>
            <a:r>
              <a:rPr sz="1250" b="1" i="0">
                <a:solidFill>
                  <a:srgbClr val="202020"/>
                </a:solidFill>
                <a:latin typeface="Calibri"/>
              </a:rPr>
              <a:t>Graph connection</a:t>
            </a:r>
            <a:r>
              <a:rPr sz="1250" b="0" i="0">
                <a:solidFill>
                  <a:srgbClr val="202020"/>
                </a:solidFill>
                <a:latin typeface="Calibri"/>
              </a:rPr>
              <a:t> up to date — additions, updates, and removals — with the correct permissions on each one.</a:t>
            </a:r>
          </a:p>
          <a:p>
            <a:pPr>
              <a:spcBef>
                <a:spcPts val="100"/>
              </a:spcBef>
              <a:spcAft>
                <a:spcPts val="400"/>
              </a:spcAft>
            </a:pPr>
            <a:r>
              <a:rPr sz="1250" b="0" i="0">
                <a:solidFill>
                  <a:srgbClr val="202020"/>
                </a:solidFill>
                <a:latin typeface="Calibri"/>
              </a:rPr>
              <a:t>It is built on the shared connector runtime (the "chassis") described in the Common Guide, so its install, health endpoints, logging, Key Vault integration, retry/backoff, SQL/HA backend, and disaster-recovery model are the same as every other connector in the set. What follows is the Seismic-specific behaviour layered on top.</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442</a:t>
            </a: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3. What this connector does</a:t>
            </a:r>
          </a:p>
        </p:txBody>
      </p:sp>
      <p:sp>
        <p:nvSpPr>
          <p:cNvPr id="5" name="Rectangle 4"/>
          <p:cNvSpPr/>
          <p:nvPr/>
        </p:nvSpPr>
        <p:spPr>
          <a:xfrm>
            <a:off x="502920" y="1463040"/>
            <a:ext cx="11185855" cy="329184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5496"/>
                </a:solidFill>
                <a:latin typeface="Calibri"/>
              </a:rPr>
              <a:t>Note:  </a:t>
            </a:r>
            <a:r>
              <a:rPr sz="1400" b="1" i="0">
                <a:solidFill>
                  <a:srgbClr val="202020"/>
                </a:solidFill>
                <a:latin typeface="Calibri"/>
              </a:rPr>
              <a:t>Note: </a:t>
            </a:r>
            <a:r>
              <a:rPr sz="1400" b="0" i="0">
                <a:solidFill>
                  <a:srgbClr val="202020"/>
                </a:solidFill>
                <a:latin typeface="Calibri"/>
              </a:rPr>
              <a:t>Assurance: the connector is a </a:t>
            </a:r>
            <a:r>
              <a:rPr sz="1400" b="1" i="0">
                <a:solidFill>
                  <a:srgbClr val="202020"/>
                </a:solidFill>
                <a:latin typeface="Calibri"/>
              </a:rPr>
              <a:t>.NET 10</a:t>
            </a:r>
            <a:r>
              <a:rPr sz="1400" b="0" i="0">
                <a:solidFill>
                  <a:srgbClr val="202020"/>
                </a:solidFill>
                <a:latin typeface="Calibri"/>
              </a:rPr>
              <a:t> service validated by </a:t>
            </a:r>
            <a:r>
              <a:rPr sz="1400" b="1" i="0">
                <a:solidFill>
                  <a:srgbClr val="202020"/>
                </a:solidFill>
                <a:latin typeface="Calibri"/>
              </a:rPr>
              <a:t>1,025 automated tests</a:t>
            </a:r>
            <a:r>
              <a:rPr sz="1400" b="0" i="0">
                <a:solidFill>
                  <a:srgbClr val="202020"/>
                </a:solidFill>
                <a:latin typeface="Calibri"/>
              </a:rPr>
              <a:t> covering the ingest pipeline, the No-MNE exclusion filter, ACL mapping and the never-widen guarantee, version supersede and withdrawal, permission re-ACL, and webhook signature validation. Its runtime, install and monitoring are shared with the rest of the connector set (Common Guide §6).</a:t>
            </a:r>
          </a:p>
        </p:txBody>
      </p:sp>
      <p:sp>
        <p:nvSpPr>
          <p:cNvPr id="6" name="Rectangle 5"/>
          <p:cNvSpPr/>
          <p:nvPr/>
        </p:nvSpPr>
        <p:spPr>
          <a:xfrm>
            <a:off x="502920" y="1463040"/>
            <a:ext cx="128016" cy="329184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443</a:t>
            </a:r>
          </a:p>
        </p:txBody>
      </p:sp>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The signature Seismic behaviours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Four capabilities are specific to this connector and are each given their own section:</a:t>
            </a:r>
          </a:p>
          <a:p>
            <a:pPr>
              <a:spcBef>
                <a:spcPts val="100"/>
              </a:spcBef>
              <a:spcAft>
                <a:spcPts val="200"/>
              </a:spcAft>
            </a:pPr>
            <a:r>
              <a:rPr sz="1250" b="1" i="0">
                <a:solidFill>
                  <a:srgbClr val="2E5496"/>
                </a:solidFill>
                <a:latin typeface="Calibri"/>
              </a:rPr>
              <a:t>•  </a:t>
            </a:r>
            <a:r>
              <a:rPr sz="1250" b="1" i="0">
                <a:solidFill>
                  <a:srgbClr val="202020"/>
                </a:solidFill>
                <a:latin typeface="Calibri"/>
              </a:rPr>
              <a:t>Version-aware ingest</a:t>
            </a:r>
            <a:r>
              <a:rPr sz="1250" b="0" i="0">
                <a:solidFill>
                  <a:srgbClr val="202020"/>
                </a:solidFill>
                <a:latin typeface="Calibri"/>
              </a:rPr>
              <a:t> (section 6) — a new published version supersedes the old one in place; unpublished or expired content is automatically withdrawn.</a:t>
            </a:r>
          </a:p>
          <a:p>
            <a:pPr>
              <a:spcBef>
                <a:spcPts val="100"/>
              </a:spcBef>
              <a:spcAft>
                <a:spcPts val="200"/>
              </a:spcAft>
            </a:pPr>
            <a:r>
              <a:rPr sz="1250" b="1" i="0">
                <a:solidFill>
                  <a:srgbClr val="2E5496"/>
                </a:solidFill>
                <a:latin typeface="Calibri"/>
              </a:rPr>
              <a:t>•  </a:t>
            </a:r>
            <a:r>
              <a:rPr sz="1250" b="1" i="0">
                <a:solidFill>
                  <a:srgbClr val="202020"/>
                </a:solidFill>
                <a:latin typeface="Calibri"/>
              </a:rPr>
              <a:t>The No-MNE exclusion filter</a:t>
            </a:r>
            <a:r>
              <a:rPr sz="1250" b="0" i="0">
                <a:solidFill>
                  <a:srgbClr val="202020"/>
                </a:solidFill>
                <a:latin typeface="Calibri"/>
              </a:rPr>
              <a:t> (section 7) — material non-public / restricted content is excluded at ingest time and never reaches Copilot; content flagged after the fact is withdrawn.</a:t>
            </a:r>
          </a:p>
          <a:p>
            <a:pPr>
              <a:spcBef>
                <a:spcPts val="100"/>
              </a:spcBef>
              <a:spcAft>
                <a:spcPts val="200"/>
              </a:spcAft>
            </a:pPr>
            <a:r>
              <a:rPr sz="1250" b="1" i="0">
                <a:solidFill>
                  <a:srgbClr val="2E5496"/>
                </a:solidFill>
                <a:latin typeface="Calibri"/>
              </a:rPr>
              <a:t>•  </a:t>
            </a:r>
            <a:r>
              <a:rPr sz="1250" b="1" i="0">
                <a:solidFill>
                  <a:srgbClr val="202020"/>
                </a:solidFill>
                <a:latin typeface="Calibri"/>
              </a:rPr>
              <a:t>Permission-change re-ACL by fingerprint</a:t>
            </a:r>
            <a:r>
              <a:rPr sz="1250" b="0" i="0">
                <a:solidFill>
                  <a:srgbClr val="202020"/>
                </a:solidFill>
                <a:latin typeface="Calibri"/>
              </a:rPr>
              <a:t> (section 8) — when only the permissions on an item change, the connector refreshes access without re-sending the content, and never widens access when an identity cannot be resolved.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444</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The signature Seismic behaviours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Near-real-time webhooks</a:t>
            </a:r>
            <a:r>
              <a:rPr sz="1250" b="0" i="0">
                <a:solidFill>
                  <a:srgbClr val="202020"/>
                </a:solidFill>
                <a:latin typeface="Calibri"/>
              </a:rPr>
              <a:t> (section 9) — an authenticated inbound channel for immediate updates, with scheduled polling as the always-on safety net.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445</a:t>
            </a: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The flow of one crawl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 </a:t>
            </a:r>
            <a:r>
              <a:rPr sz="1250" b="1" i="0">
                <a:solidFill>
                  <a:srgbClr val="202020"/>
                </a:solidFill>
                <a:latin typeface="Calibri"/>
              </a:rPr>
              <a:t>crawl</a:t>
            </a:r>
            <a:r>
              <a:rPr sz="1250" b="0" i="0">
                <a:solidFill>
                  <a:srgbClr val="202020"/>
                </a:solidFill>
                <a:latin typeface="Calibri"/>
              </a:rPr>
              <a:t> is one pass over the source. The connector runs two shapes of crawl on a schedule (a big </a:t>
            </a:r>
            <a:r>
              <a:rPr sz="1250" b="1" i="0">
                <a:solidFill>
                  <a:srgbClr val="202020"/>
                </a:solidFill>
                <a:latin typeface="Calibri"/>
              </a:rPr>
              <a:t>full crawl</a:t>
            </a:r>
            <a:r>
              <a:rPr sz="1250" b="0" i="0">
                <a:solidFill>
                  <a:srgbClr val="202020"/>
                </a:solidFill>
                <a:latin typeface="Calibri"/>
              </a:rPr>
              <a:t> periodically, and cheap </a:t>
            </a:r>
            <a:r>
              <a:rPr sz="1250" b="1" i="0">
                <a:solidFill>
                  <a:srgbClr val="202020"/>
                </a:solidFill>
                <a:latin typeface="Calibri"/>
              </a:rPr>
              <a:t>incremental crawls</a:t>
            </a:r>
            <a:r>
              <a:rPr sz="1250" b="0" i="0">
                <a:solidFill>
                  <a:srgbClr val="202020"/>
                </a:solidFill>
                <a:latin typeface="Calibri"/>
              </a:rPr>
              <a:t> in between), plus targeted single-item updates from webhooks. A crawl proceeds roughly as follows:</a:t>
            </a:r>
          </a:p>
          <a:p>
            <a:pPr>
              <a:spcBef>
                <a:spcPts val="100"/>
              </a:spcBef>
              <a:spcAft>
                <a:spcPts val="200"/>
              </a:spcAft>
            </a:pPr>
            <a:r>
              <a:rPr sz="1250" b="1" i="0">
                <a:solidFill>
                  <a:srgbClr val="2E5496"/>
                </a:solidFill>
                <a:latin typeface="Calibri"/>
              </a:rPr>
              <a:t>1.  </a:t>
            </a:r>
            <a:r>
              <a:rPr sz="1250" b="1" i="0">
                <a:solidFill>
                  <a:srgbClr val="202020"/>
                </a:solidFill>
                <a:latin typeface="Calibri"/>
              </a:rPr>
              <a:t>Sign in to Seismic</a:t>
            </a:r>
            <a:r>
              <a:rPr sz="1250" b="0" i="0">
                <a:solidFill>
                  <a:srgbClr val="202020"/>
                </a:solidFill>
                <a:latin typeface="Calibri"/>
              </a:rPr>
              <a:t> using an OAuth2 client-credentials token (section 4).</a:t>
            </a:r>
          </a:p>
          <a:p>
            <a:pPr>
              <a:spcBef>
                <a:spcPts val="100"/>
              </a:spcBef>
              <a:spcAft>
                <a:spcPts val="200"/>
              </a:spcAft>
            </a:pPr>
            <a:r>
              <a:rPr sz="1250" b="1" i="0">
                <a:solidFill>
                  <a:srgbClr val="2E5496"/>
                </a:solidFill>
                <a:latin typeface="Calibri"/>
              </a:rPr>
              <a:t>2.  </a:t>
            </a:r>
            <a:r>
              <a:rPr sz="1250" b="1" i="0">
                <a:solidFill>
                  <a:srgbClr val="202020"/>
                </a:solidFill>
                <a:latin typeface="Calibri"/>
              </a:rPr>
              <a:t>Sync identities</a:t>
            </a:r>
            <a:r>
              <a:rPr sz="1250" b="0" i="0">
                <a:solidFill>
                  <a:srgbClr val="202020"/>
                </a:solidFill>
                <a:latin typeface="Calibri"/>
              </a:rPr>
              <a:t> — read Seismic users and groups and map them to Entra ID (Microsoft Entra, your Microsoft 365 directory) so permissions can be translated later.</a:t>
            </a:r>
          </a:p>
          <a:p>
            <a:pPr>
              <a:spcBef>
                <a:spcPts val="100"/>
              </a:spcBef>
              <a:spcAft>
                <a:spcPts val="200"/>
              </a:spcAft>
            </a:pPr>
            <a:r>
              <a:rPr sz="1250" b="1" i="0">
                <a:solidFill>
                  <a:srgbClr val="2E5496"/>
                </a:solidFill>
                <a:latin typeface="Calibri"/>
              </a:rPr>
              <a:t>3.  </a:t>
            </a:r>
            <a:r>
              <a:rPr sz="1250" b="1" i="0">
                <a:solidFill>
                  <a:srgbClr val="202020"/>
                </a:solidFill>
                <a:latin typeface="Calibri"/>
              </a:rPr>
              <a:t>List teamsites</a:t>
            </a:r>
            <a:r>
              <a:rPr sz="1250" b="0" i="0">
                <a:solidFill>
                  <a:srgbClr val="202020"/>
                </a:solidFill>
                <a:latin typeface="Calibri"/>
              </a:rPr>
              <a:t>, skipping any that the No-MNE rules mark restricted.</a:t>
            </a:r>
          </a:p>
          <a:p>
            <a:pPr>
              <a:spcBef>
                <a:spcPts val="100"/>
              </a:spcBef>
              <a:spcAft>
                <a:spcPts val="200"/>
              </a:spcAft>
            </a:pPr>
            <a:r>
              <a:rPr sz="1250" b="1" i="0">
                <a:solidFill>
                  <a:srgbClr val="2E5496"/>
                </a:solidFill>
                <a:latin typeface="Calibri"/>
              </a:rPr>
              <a:t>4.  </a:t>
            </a:r>
            <a:r>
              <a:rPr sz="1250" b="1" i="0">
                <a:solidFill>
                  <a:srgbClr val="202020"/>
                </a:solidFill>
                <a:latin typeface="Calibri"/>
              </a:rPr>
              <a:t>For each content item</a:t>
            </a:r>
            <a:r>
              <a:rPr sz="1250" b="0" i="0">
                <a:solidFill>
                  <a:srgbClr val="202020"/>
                </a:solidFill>
                <a:latin typeface="Calibri"/>
              </a:rPr>
              <a:t>: apply the No-MNE exclusion gate first; skip items whose version has not changed; otherwise resolve its permissions, download and extract text, and build the external item.</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446</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The flow of one crawl</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5.  </a:t>
            </a:r>
            <a:r>
              <a:rPr sz="1250" b="1" i="0">
                <a:solidFill>
                  <a:srgbClr val="202020"/>
                </a:solidFill>
                <a:latin typeface="Calibri"/>
              </a:rPr>
              <a:t>Send items to Copilot</a:t>
            </a:r>
            <a:r>
              <a:rPr sz="1250" b="0" i="0">
                <a:solidFill>
                  <a:srgbClr val="202020"/>
                </a:solidFill>
                <a:latin typeface="Calibri"/>
              </a:rPr>
              <a:t> in batches, checkpointing progress so a crash or restart resumes where it left off.</a:t>
            </a:r>
          </a:p>
          <a:p>
            <a:pPr>
              <a:spcBef>
                <a:spcPts val="100"/>
              </a:spcBef>
              <a:spcAft>
                <a:spcPts val="200"/>
              </a:spcAft>
            </a:pPr>
            <a:r>
              <a:rPr sz="1250" b="1" i="0">
                <a:solidFill>
                  <a:srgbClr val="2E5496"/>
                </a:solidFill>
                <a:latin typeface="Calibri"/>
              </a:rPr>
              <a:t>6.  </a:t>
            </a:r>
            <a:r>
              <a:rPr sz="1250" b="1" i="0">
                <a:solidFill>
                  <a:srgbClr val="202020"/>
                </a:solidFill>
                <a:latin typeface="Calibri"/>
              </a:rPr>
              <a:t>Withdrawal / reconciliation pass</a:t>
            </a:r>
            <a:r>
              <a:rPr sz="1250" b="0" i="0">
                <a:solidFill>
                  <a:srgbClr val="202020"/>
                </a:solidFill>
                <a:latin typeface="Calibri"/>
              </a:rPr>
              <a:t> — remove items that expired, were unpublished, were deleted, or became restricted.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447</a:t>
            </a: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The flow of one crawl</a:t>
            </a:r>
          </a:p>
        </p:txBody>
      </p:sp>
      <p:sp>
        <p:nvSpPr>
          <p:cNvPr id="5" name="Rectangle 4"/>
          <p:cNvSpPr/>
          <p:nvPr/>
        </p:nvSpPr>
        <p:spPr>
          <a:xfrm>
            <a:off x="502920" y="1463040"/>
            <a:ext cx="11185855" cy="329184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5496"/>
                </a:solidFill>
                <a:latin typeface="Calibri"/>
              </a:rPr>
              <a:t>Note:  </a:t>
            </a:r>
            <a:r>
              <a:rPr sz="1400" b="1" i="0">
                <a:solidFill>
                  <a:srgbClr val="202020"/>
                </a:solidFill>
                <a:latin typeface="Calibri"/>
              </a:rPr>
              <a:t>Note: </a:t>
            </a:r>
            <a:r>
              <a:rPr sz="1400" b="0" i="0">
                <a:solidFill>
                  <a:srgbClr val="202020"/>
                </a:solidFill>
                <a:latin typeface="Calibri"/>
              </a:rPr>
              <a:t>Everything the connector sends to Copilot is a Microsoft Graph </a:t>
            </a:r>
            <a:r>
              <a:rPr sz="1400" b="1" i="0">
                <a:solidFill>
                  <a:srgbClr val="202020"/>
                </a:solidFill>
                <a:latin typeface="Calibri"/>
              </a:rPr>
              <a:t>external item</a:t>
            </a:r>
            <a:r>
              <a:rPr sz="1400" b="0" i="0">
                <a:solidFill>
                  <a:srgbClr val="202020"/>
                </a:solidFill>
                <a:latin typeface="Calibri"/>
              </a:rPr>
              <a:t> with an attached </a:t>
            </a:r>
            <a:r>
              <a:rPr sz="1400" b="1" i="0">
                <a:solidFill>
                  <a:srgbClr val="202020"/>
                </a:solidFill>
                <a:latin typeface="Calibri"/>
              </a:rPr>
              <a:t>ACL</a:t>
            </a:r>
            <a:r>
              <a:rPr sz="1400" b="0" i="0">
                <a:solidFill>
                  <a:srgbClr val="202020"/>
                </a:solidFill>
                <a:latin typeface="Calibri"/>
              </a:rPr>
              <a:t> (access control list). If those terms are new to you, read Common Guide §5 before section 5 of this guide.</a:t>
            </a:r>
          </a:p>
        </p:txBody>
      </p:sp>
      <p:sp>
        <p:nvSpPr>
          <p:cNvPr id="6" name="Rectangle 5"/>
          <p:cNvSpPr/>
          <p:nvPr/>
        </p:nvSpPr>
        <p:spPr>
          <a:xfrm>
            <a:off x="502920" y="1463040"/>
            <a:ext cx="128016" cy="329184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448</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Seismic Connector</a:t>
            </a:r>
          </a:p>
          <a:p>
            <a:r>
              <a:rPr sz="3000" b="1" i="0">
                <a:solidFill>
                  <a:srgbClr val="1F3864"/>
                </a:solidFill>
                <a:latin typeface="Calibri"/>
              </a:rPr>
              <a:t>4. How the connector connects to Seismic (target system)</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449</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 How the connector connects to Seismic (target system)</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connector talks to Seismic over HTTPS using its REST integration API. It authenticates with </a:t>
            </a:r>
            <a:r>
              <a:rPr sz="1250" b="1" i="0">
                <a:solidFill>
                  <a:srgbClr val="202020"/>
                </a:solidFill>
                <a:latin typeface="Calibri"/>
              </a:rPr>
              <a:t>OAuth2 client-credentials</a:t>
            </a:r>
            <a:r>
              <a:rPr sz="1250" b="0" i="0">
                <a:solidFill>
                  <a:srgbClr val="202020"/>
                </a:solidFill>
                <a:latin typeface="Calibri"/>
              </a:rPr>
              <a:t> — a machine-to-machine login where the connector presents a client id and secret and receives a short-lived access token. No human signs in.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450</a:t>
            </a:r>
          </a:p>
        </p:txBody>
      </p:sp>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How the login works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On each cycle the connector requests a token from your Seismic tenant's token endpoint, then attaches it as a bearer token to every API call. The token is cached and automatically refreshed about 60 seconds before it expires, so a normal crawl performs one login and reuses the token. The connector requests read-only scopes only: </a:t>
            </a:r>
            <a:r>
              <a:rPr sz="1200" b="0" i="0">
                <a:solidFill>
                  <a:srgbClr val="202020"/>
                </a:solidFill>
                <a:latin typeface="Consolas"/>
              </a:rPr>
              <a:t>seismic.library.view</a:t>
            </a:r>
            <a:r>
              <a:rPr sz="1250" b="0" i="0">
                <a:solidFill>
                  <a:srgbClr val="202020"/>
                </a:solidFill>
                <a:latin typeface="Calibri"/>
              </a:rPr>
              <a:t>, </a:t>
            </a:r>
            <a:r>
              <a:rPr sz="1200" b="0" i="0">
                <a:solidFill>
                  <a:srgbClr val="202020"/>
                </a:solidFill>
                <a:latin typeface="Consolas"/>
              </a:rPr>
              <a:t>seismic.teamsite.view</a:t>
            </a:r>
            <a:r>
              <a:rPr sz="1250" b="0" i="0">
                <a:solidFill>
                  <a:srgbClr val="202020"/>
                </a:solidFill>
                <a:latin typeface="Calibri"/>
              </a:rPr>
              <a:t>, and </a:t>
            </a:r>
            <a:r>
              <a:rPr sz="1200" b="0" i="0">
                <a:solidFill>
                  <a:srgbClr val="202020"/>
                </a:solidFill>
                <a:latin typeface="Consolas"/>
              </a:rPr>
              <a:t>seismic.user.view</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451</a:t>
            </a:r>
          </a:p>
        </p:txBody>
      </p:sp>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Connection parameters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These are the values that point the connector at your Seismic tenant. They live in the environment configuration (section 15); the table shows the parameter, its variable name, and a typical value.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452</a:t>
            </a:r>
          </a:p>
        </p:txBody>
      </p:sp>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Connection parameters</a:t>
            </a:r>
          </a:p>
        </p:txBody>
      </p:sp>
      <p:graphicFrame>
        <p:nvGraphicFramePr>
          <p:cNvPr id="5" name="Table 4"/>
          <p:cNvGraphicFramePr>
            <a:graphicFrameLocks noGrp="1"/>
          </p:cNvGraphicFramePr>
          <p:nvPr/>
        </p:nvGraphicFramePr>
        <p:xfrm>
          <a:off x="502920" y="1188720"/>
          <a:ext cx="11185855" cy="3456432"/>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Parameter</a:t>
                      </a:r>
                    </a:p>
                  </a:txBody>
                  <a:tcPr marT="25400" marB="25400">
                    <a:solidFill>
                      <a:srgbClr val="2E5496"/>
                    </a:solidFill>
                  </a:tcPr>
                </a:tc>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Example / notes</a:t>
                      </a:r>
                    </a:p>
                  </a:txBody>
                  <a:tcPr marT="25400" marB="25400">
                    <a:solidFill>
                      <a:srgbClr val="2E5496"/>
                    </a:solidFill>
                  </a:tcPr>
                </a:tc>
              </a:tr>
              <a:tr h="384048">
                <a:tc>
                  <a:txBody>
                    <a:bodyPr wrap="square"/>
                    <a:lstStyle/>
                    <a:p>
                      <a:r>
                        <a:rPr sz="950" b="0" i="0">
                          <a:solidFill>
                            <a:srgbClr val="202020"/>
                          </a:solidFill>
                          <a:latin typeface="Calibri"/>
                        </a:rPr>
                        <a:t>Seismic tenant subdomain</a:t>
                      </a:r>
                    </a:p>
                  </a:txBody>
                  <a:tcPr marT="12700" marB="12700">
                    <a:solidFill>
                      <a:srgbClr val="FFFFFF"/>
                    </a:solidFill>
                  </a:tcPr>
                </a:tc>
                <a:tc>
                  <a:txBody>
                    <a:bodyPr wrap="square"/>
                    <a:lstStyle/>
                    <a:p>
                      <a:r>
                        <a:rPr sz="950" b="0" i="0">
                          <a:solidFill>
                            <a:srgbClr val="202020"/>
                          </a:solidFill>
                          <a:latin typeface="Consolas"/>
                        </a:rPr>
                        <a:t>SEISMIC_TENANT</a:t>
                      </a:r>
                    </a:p>
                  </a:txBody>
                  <a:tcPr marT="12700" marB="12700">
                    <a:solidFill>
                      <a:srgbClr val="FFFFFF"/>
                    </a:solidFill>
                  </a:tcPr>
                </a:tc>
                <a:tc>
                  <a:txBody>
                    <a:bodyPr wrap="square"/>
                    <a:lstStyle/>
                    <a:p>
                      <a:r>
                        <a:rPr sz="950" b="0" i="0">
                          <a:solidFill>
                            <a:srgbClr val="202020"/>
                          </a:solidFill>
                          <a:latin typeface="Calibri"/>
                        </a:rPr>
                        <a:t>contoso for contoso.seismic.com (required)</a:t>
                      </a:r>
                    </a:p>
                  </a:txBody>
                  <a:tcPr marT="12700" marB="12700">
                    <a:solidFill>
                      <a:srgbClr val="FFFFFF"/>
                    </a:solidFill>
                  </a:tcPr>
                </a:tc>
              </a:tr>
              <a:tr h="384048">
                <a:tc>
                  <a:txBody>
                    <a:bodyPr wrap="square"/>
                    <a:lstStyle/>
                    <a:p>
                      <a:r>
                        <a:rPr sz="950" b="0" i="0">
                          <a:solidFill>
                            <a:srgbClr val="202020"/>
                          </a:solidFill>
                          <a:latin typeface="Calibri"/>
                        </a:rPr>
                        <a:t>OAuth2 client id</a:t>
                      </a:r>
                    </a:p>
                  </a:txBody>
                  <a:tcPr marT="12700" marB="12700">
                    <a:solidFill>
                      <a:srgbClr val="F7F9FC"/>
                    </a:solidFill>
                  </a:tcPr>
                </a:tc>
                <a:tc>
                  <a:txBody>
                    <a:bodyPr wrap="square"/>
                    <a:lstStyle/>
                    <a:p>
                      <a:r>
                        <a:rPr sz="950" b="0" i="0">
                          <a:solidFill>
                            <a:srgbClr val="202020"/>
                          </a:solidFill>
                          <a:latin typeface="Consolas"/>
                        </a:rPr>
                        <a:t>SEISMIC_CLIENT_ID</a:t>
                      </a:r>
                    </a:p>
                  </a:txBody>
                  <a:tcPr marT="12700" marB="12700">
                    <a:solidFill>
                      <a:srgbClr val="F7F9FC"/>
                    </a:solidFill>
                  </a:tcPr>
                </a:tc>
                <a:tc>
                  <a:txBody>
                    <a:bodyPr wrap="square"/>
                    <a:lstStyle/>
                    <a:p>
                      <a:r>
                        <a:rPr sz="950" b="0" i="0">
                          <a:solidFill>
                            <a:srgbClr val="202020"/>
                          </a:solidFill>
                          <a:latin typeface="Calibri"/>
                        </a:rPr>
                        <a:t>From Seismic Admin &gt; Integrations &gt; API clients (required)</a:t>
                      </a:r>
                    </a:p>
                  </a:txBody>
                  <a:tcPr marT="12700" marB="12700">
                    <a:solidFill>
                      <a:srgbClr val="F7F9FC"/>
                    </a:solidFill>
                  </a:tcPr>
                </a:tc>
              </a:tr>
              <a:tr h="384048">
                <a:tc>
                  <a:txBody>
                    <a:bodyPr wrap="square"/>
                    <a:lstStyle/>
                    <a:p>
                      <a:r>
                        <a:rPr sz="950" b="0" i="0">
                          <a:solidFill>
                            <a:srgbClr val="202020"/>
                          </a:solidFill>
                          <a:latin typeface="Calibri"/>
                        </a:rPr>
                        <a:t>OAuth2 client secret</a:t>
                      </a:r>
                    </a:p>
                  </a:txBody>
                  <a:tcPr marT="12700" marB="12700">
                    <a:solidFill>
                      <a:srgbClr val="FFFFFF"/>
                    </a:solidFill>
                  </a:tcPr>
                </a:tc>
                <a:tc>
                  <a:txBody>
                    <a:bodyPr wrap="square"/>
                    <a:lstStyle/>
                    <a:p>
                      <a:r>
                        <a:rPr sz="950" b="0" i="0">
                          <a:solidFill>
                            <a:srgbClr val="202020"/>
                          </a:solidFill>
                          <a:latin typeface="Consolas"/>
                        </a:rPr>
                        <a:t>SECRET_SEISMIC_CLIENT_SECRET</a:t>
                      </a:r>
                    </a:p>
                  </a:txBody>
                  <a:tcPr marT="12700" marB="12700">
                    <a:solidFill>
                      <a:srgbClr val="FFFFFF"/>
                    </a:solidFill>
                  </a:tcPr>
                </a:tc>
                <a:tc>
                  <a:txBody>
                    <a:bodyPr wrap="square"/>
                    <a:lstStyle/>
                    <a:p>
                      <a:r>
                        <a:rPr sz="950" b="0" i="0">
                          <a:solidFill>
                            <a:srgbClr val="202020"/>
                          </a:solidFill>
                          <a:latin typeface="Calibri"/>
                        </a:rPr>
                        <a:t>Secret channel or Key Vault only — never in plain config (required)</a:t>
                      </a:r>
                    </a:p>
                  </a:txBody>
                  <a:tcPr marT="12700" marB="12700">
                    <a:solidFill>
                      <a:srgbClr val="FFFFFF"/>
                    </a:solidFill>
                  </a:tcPr>
                </a:tc>
              </a:tr>
              <a:tr h="384048">
                <a:tc>
                  <a:txBody>
                    <a:bodyPr wrap="square"/>
                    <a:lstStyle/>
                    <a:p>
                      <a:r>
                        <a:rPr sz="950" b="0" i="0">
                          <a:solidFill>
                            <a:srgbClr val="202020"/>
                          </a:solidFill>
                          <a:latin typeface="Calibri"/>
                        </a:rPr>
                        <a:t>API base URL</a:t>
                      </a:r>
                    </a:p>
                  </a:txBody>
                  <a:tcPr marT="12700" marB="12700">
                    <a:solidFill>
                      <a:srgbClr val="F7F9FC"/>
                    </a:solidFill>
                  </a:tcPr>
                </a:tc>
                <a:tc>
                  <a:txBody>
                    <a:bodyPr wrap="square"/>
                    <a:lstStyle/>
                    <a:p>
                      <a:r>
                        <a:rPr sz="950" b="0" i="0">
                          <a:solidFill>
                            <a:srgbClr val="202020"/>
                          </a:solidFill>
                          <a:latin typeface="Consolas"/>
                        </a:rPr>
                        <a:t>SEISMIC_API_BASE_URL</a:t>
                      </a:r>
                    </a:p>
                  </a:txBody>
                  <a:tcPr marT="12700" marB="12700">
                    <a:solidFill>
                      <a:srgbClr val="F7F9FC"/>
                    </a:solidFill>
                  </a:tcPr>
                </a:tc>
                <a:tc>
                  <a:txBody>
                    <a:bodyPr wrap="square"/>
                    <a:lstStyle/>
                    <a:p>
                      <a:r>
                        <a:rPr sz="950" b="0" i="0">
                          <a:solidFill>
                            <a:srgbClr val="202020"/>
                          </a:solidFill>
                          <a:latin typeface="Calibri"/>
                        </a:rPr>
                        <a:t>https://api.seismic.com (default)</a:t>
                      </a:r>
                    </a:p>
                  </a:txBody>
                  <a:tcPr marT="12700" marB="12700">
                    <a:solidFill>
                      <a:srgbClr val="F7F9FC"/>
                    </a:solidFill>
                  </a:tcPr>
                </a:tc>
              </a:tr>
              <a:tr h="384048">
                <a:tc>
                  <a:txBody>
                    <a:bodyPr wrap="square"/>
                    <a:lstStyle/>
                    <a:p>
                      <a:r>
                        <a:rPr sz="950" b="0" i="0">
                          <a:solidFill>
                            <a:srgbClr val="202020"/>
                          </a:solidFill>
                          <a:latin typeface="Calibri"/>
                        </a:rPr>
                        <a:t>Token endpoint</a:t>
                      </a:r>
                    </a:p>
                  </a:txBody>
                  <a:tcPr marT="12700" marB="12700">
                    <a:solidFill>
                      <a:srgbClr val="FFFFFF"/>
                    </a:solidFill>
                  </a:tcPr>
                </a:tc>
                <a:tc>
                  <a:txBody>
                    <a:bodyPr wrap="square"/>
                    <a:lstStyle/>
                    <a:p>
                      <a:r>
                        <a:rPr sz="950" b="0" i="0">
                          <a:solidFill>
                            <a:srgbClr val="202020"/>
                          </a:solidFill>
                          <a:latin typeface="Consolas"/>
                        </a:rPr>
                        <a:t>SEISMIC_AUTH_URL</a:t>
                      </a:r>
                    </a:p>
                  </a:txBody>
                  <a:tcPr marT="12700" marB="12700">
                    <a:solidFill>
                      <a:srgbClr val="FFFFFF"/>
                    </a:solidFill>
                  </a:tcPr>
                </a:tc>
                <a:tc>
                  <a:txBody>
                    <a:bodyPr wrap="square"/>
                    <a:lstStyle/>
                    <a:p>
                      <a:r>
                        <a:rPr sz="950" b="0" i="0">
                          <a:solidFill>
                            <a:srgbClr val="202020"/>
                          </a:solidFill>
                          <a:latin typeface="Calibri"/>
                        </a:rPr>
                        <a:t>https://auth.seismic.com/tenants/{tenant}/connect/token (default)</a:t>
                      </a:r>
                    </a:p>
                  </a:txBody>
                  <a:tcPr marT="12700" marB="12700">
                    <a:solidFill>
                      <a:srgbClr val="FFFFFF"/>
                    </a:solidFill>
                  </a:tcPr>
                </a:tc>
              </a:tr>
              <a:tr h="384048">
                <a:tc>
                  <a:txBody>
                    <a:bodyPr wrap="square"/>
                    <a:lstStyle/>
                    <a:p>
                      <a:r>
                        <a:rPr sz="950" b="0" i="0">
                          <a:solidFill>
                            <a:srgbClr val="202020"/>
                          </a:solidFill>
                          <a:latin typeface="Calibri"/>
                        </a:rPr>
                        <a:t>List page size</a:t>
                      </a:r>
                    </a:p>
                  </a:txBody>
                  <a:tcPr marT="12700" marB="12700">
                    <a:solidFill>
                      <a:srgbClr val="F7F9FC"/>
                    </a:solidFill>
                  </a:tcPr>
                </a:tc>
                <a:tc>
                  <a:txBody>
                    <a:bodyPr wrap="square"/>
                    <a:lstStyle/>
                    <a:p>
                      <a:r>
                        <a:rPr sz="950" b="0" i="0">
                          <a:solidFill>
                            <a:srgbClr val="202020"/>
                          </a:solidFill>
                          <a:latin typeface="Consolas"/>
                        </a:rPr>
                        <a:t>SEISMIC_PAGE_SIZE</a:t>
                      </a:r>
                    </a:p>
                  </a:txBody>
                  <a:tcPr marT="12700" marB="12700">
                    <a:solidFill>
                      <a:srgbClr val="F7F9FC"/>
                    </a:solidFill>
                  </a:tcPr>
                </a:tc>
                <a:tc>
                  <a:txBody>
                    <a:bodyPr wrap="square"/>
                    <a:lstStyle/>
                    <a:p>
                      <a:r>
                        <a:rPr sz="950" b="0" i="0">
                          <a:solidFill>
                            <a:srgbClr val="202020"/>
                          </a:solidFill>
                          <a:latin typeface="Calibri"/>
                        </a:rPr>
                        <a:t>100 (maximum 500)</a:t>
                      </a:r>
                    </a:p>
                  </a:txBody>
                  <a:tcPr marT="12700" marB="12700">
                    <a:solidFill>
                      <a:srgbClr val="F7F9FC"/>
                    </a:solidFill>
                  </a:tcPr>
                </a:tc>
              </a:tr>
              <a:tr h="384048">
                <a:tc>
                  <a:txBody>
                    <a:bodyPr wrap="square"/>
                    <a:lstStyle/>
                    <a:p>
                      <a:r>
                        <a:rPr sz="950" b="0" i="0">
                          <a:solidFill>
                            <a:srgbClr val="202020"/>
                          </a:solidFill>
                          <a:latin typeface="Calibri"/>
                        </a:rPr>
                        <a:t>Retries on 429/5xx</a:t>
                      </a:r>
                    </a:p>
                  </a:txBody>
                  <a:tcPr marT="12700" marB="12700">
                    <a:solidFill>
                      <a:srgbClr val="FFFFFF"/>
                    </a:solidFill>
                  </a:tcPr>
                </a:tc>
                <a:tc>
                  <a:txBody>
                    <a:bodyPr wrap="square"/>
                    <a:lstStyle/>
                    <a:p>
                      <a:r>
                        <a:rPr sz="950" b="0" i="0">
                          <a:solidFill>
                            <a:srgbClr val="202020"/>
                          </a:solidFill>
                          <a:latin typeface="Consolas"/>
                        </a:rPr>
                        <a:t>SEISMIC_MAX_RETRIES</a:t>
                      </a:r>
                    </a:p>
                  </a:txBody>
                  <a:tcPr marT="12700" marB="12700">
                    <a:solidFill>
                      <a:srgbClr val="FFFFFF"/>
                    </a:solidFill>
                  </a:tcPr>
                </a:tc>
                <a:tc>
                  <a:txBody>
                    <a:bodyPr wrap="square"/>
                    <a:lstStyle/>
                    <a:p>
                      <a:r>
                        <a:rPr sz="950" b="0" i="0">
                          <a:solidFill>
                            <a:srgbClr val="202020"/>
                          </a:solidFill>
                          <a:latin typeface="Calibri"/>
                        </a:rPr>
                        <a:t>4; server Retry-After honoured, else backoff capped at 60s</a:t>
                      </a:r>
                    </a:p>
                  </a:txBody>
                  <a:tcPr marT="12700" marB="12700">
                    <a:solidFill>
                      <a:srgbClr val="FFFFFF"/>
                    </a:solidFill>
                  </a:tcPr>
                </a:tc>
              </a:tr>
              <a:tr h="384048">
                <a:tc>
                  <a:txBody>
                    <a:bodyPr wrap="square"/>
                    <a:lstStyle/>
                    <a:p>
                      <a:r>
                        <a:rPr sz="950" b="0" i="0">
                          <a:solidFill>
                            <a:srgbClr val="202020"/>
                          </a:solidFill>
                          <a:latin typeface="Calibri"/>
                        </a:rPr>
                        <a:t>Max download for text</a:t>
                      </a:r>
                    </a:p>
                  </a:txBody>
                  <a:tcPr marT="12700" marB="12700">
                    <a:solidFill>
                      <a:srgbClr val="F7F9FC"/>
                    </a:solidFill>
                  </a:tcPr>
                </a:tc>
                <a:tc>
                  <a:txBody>
                    <a:bodyPr wrap="square"/>
                    <a:lstStyle/>
                    <a:p>
                      <a:r>
                        <a:rPr sz="950" b="0" i="0">
                          <a:solidFill>
                            <a:srgbClr val="202020"/>
                          </a:solidFill>
                          <a:latin typeface="Consolas"/>
                        </a:rPr>
                        <a:t>SEISMIC_MAX_EXTRACT_MB</a:t>
                      </a:r>
                    </a:p>
                  </a:txBody>
                  <a:tcPr marT="12700" marB="12700">
                    <a:solidFill>
                      <a:srgbClr val="F7F9FC"/>
                    </a:solidFill>
                  </a:tcPr>
                </a:tc>
                <a:tc>
                  <a:txBody>
                    <a:bodyPr wrap="square"/>
                    <a:lstStyle/>
                    <a:p>
                      <a:r>
                        <a:rPr sz="950" b="0" i="0">
                          <a:solidFill>
                            <a:srgbClr val="202020"/>
                          </a:solidFill>
                          <a:latin typeface="Calibri"/>
                        </a:rPr>
                        <a:t>10 MB; larger items are indexed by metadata only</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453</a:t>
            </a:r>
          </a:p>
        </p:txBody>
      </p:sp>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Endpoints the connector calls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All are GET requests under the integration API (v2). Nothing the connector does writes back to Seismic.</a:t>
            </a:r>
          </a:p>
          <a:p>
            <a:pPr>
              <a:spcBef>
                <a:spcPts val="100"/>
              </a:spcBef>
              <a:spcAft>
                <a:spcPts val="200"/>
              </a:spcAft>
            </a:pPr>
            <a:r>
              <a:rPr sz="1250" b="1" i="0">
                <a:solidFill>
                  <a:srgbClr val="2E5496"/>
                </a:solidFill>
                <a:latin typeface="Calibri"/>
              </a:rPr>
              <a:t>•  </a:t>
            </a:r>
            <a:r>
              <a:rPr sz="1200" b="0" i="0">
                <a:solidFill>
                  <a:srgbClr val="202020"/>
                </a:solidFill>
                <a:latin typeface="Consolas"/>
              </a:rPr>
              <a:t>/integration/v2/teamsites</a:t>
            </a:r>
            <a:r>
              <a:rPr sz="1250" b="0" i="0">
                <a:solidFill>
                  <a:srgbClr val="202020"/>
                </a:solidFill>
                <a:latin typeface="Calibri"/>
              </a:rPr>
              <a:t> — list libraries/teamsites.</a:t>
            </a:r>
          </a:p>
          <a:p>
            <a:pPr>
              <a:spcBef>
                <a:spcPts val="100"/>
              </a:spcBef>
              <a:spcAft>
                <a:spcPts val="200"/>
              </a:spcAft>
            </a:pPr>
            <a:r>
              <a:rPr sz="1250" b="1" i="0">
                <a:solidFill>
                  <a:srgbClr val="2E5496"/>
                </a:solidFill>
                <a:latin typeface="Calibri"/>
              </a:rPr>
              <a:t>•  </a:t>
            </a:r>
            <a:r>
              <a:rPr sz="1200" b="0" i="0">
                <a:solidFill>
                  <a:srgbClr val="202020"/>
                </a:solidFill>
                <a:latin typeface="Consolas"/>
              </a:rPr>
              <a:t>/integration/v2/teamsites/{id}/contents</a:t>
            </a:r>
            <a:r>
              <a:rPr sz="1250" b="0" i="0">
                <a:solidFill>
                  <a:srgbClr val="202020"/>
                </a:solidFill>
                <a:latin typeface="Calibri"/>
              </a:rPr>
              <a:t> — list content in a teamsite (with a </a:t>
            </a:r>
            <a:r>
              <a:rPr sz="1200" b="0" i="0">
                <a:solidFill>
                  <a:srgbClr val="202020"/>
                </a:solidFill>
                <a:latin typeface="Consolas"/>
              </a:rPr>
              <a:t>modifiedAtStartTime</a:t>
            </a:r>
            <a:r>
              <a:rPr sz="1250" b="0" i="0">
                <a:solidFill>
                  <a:srgbClr val="202020"/>
                </a:solidFill>
                <a:latin typeface="Calibri"/>
              </a:rPr>
              <a:t> filter on incremental crawls).</a:t>
            </a:r>
          </a:p>
          <a:p>
            <a:pPr>
              <a:spcBef>
                <a:spcPts val="100"/>
              </a:spcBef>
              <a:spcAft>
                <a:spcPts val="200"/>
              </a:spcAft>
            </a:pPr>
            <a:r>
              <a:rPr sz="1250" b="1" i="0">
                <a:solidFill>
                  <a:srgbClr val="2E5496"/>
                </a:solidFill>
                <a:latin typeface="Calibri"/>
              </a:rPr>
              <a:t>•  </a:t>
            </a:r>
            <a:r>
              <a:rPr sz="1200" b="0" i="0">
                <a:solidFill>
                  <a:srgbClr val="202020"/>
                </a:solidFill>
                <a:latin typeface="Consolas"/>
              </a:rPr>
              <a:t>/integration/v2/teamsites/{tsId}/contents/{id}</a:t>
            </a:r>
            <a:r>
              <a:rPr sz="1250" b="0" i="0">
                <a:solidFill>
                  <a:srgbClr val="202020"/>
                </a:solidFill>
                <a:latin typeface="Calibri"/>
              </a:rPr>
              <a:t> and </a:t>
            </a:r>
            <a:r>
              <a:rPr sz="1200" b="0" i="0">
                <a:solidFill>
                  <a:srgbClr val="202020"/>
                </a:solidFill>
                <a:latin typeface="Consolas"/>
              </a:rPr>
              <a:t>.../download</a:t>
            </a:r>
            <a:r>
              <a:rPr sz="1250" b="0" i="0">
                <a:solidFill>
                  <a:srgbClr val="202020"/>
                </a:solidFill>
                <a:latin typeface="Calibri"/>
              </a:rPr>
              <a:t> — fetch one item and its payload.</a:t>
            </a:r>
          </a:p>
          <a:p>
            <a:pPr>
              <a:spcBef>
                <a:spcPts val="100"/>
              </a:spcBef>
              <a:spcAft>
                <a:spcPts val="200"/>
              </a:spcAft>
            </a:pPr>
            <a:r>
              <a:rPr sz="1250" b="1" i="0">
                <a:solidFill>
                  <a:srgbClr val="2E5496"/>
                </a:solidFill>
                <a:latin typeface="Calibri"/>
              </a:rPr>
              <a:t>•  </a:t>
            </a:r>
            <a:r>
              <a:rPr sz="1200" b="0" i="0">
                <a:solidFill>
                  <a:srgbClr val="202020"/>
                </a:solidFill>
                <a:latin typeface="Consolas"/>
              </a:rPr>
              <a:t>/integration/v2/users</a:t>
            </a:r>
            <a:r>
              <a:rPr sz="1250" b="0" i="0">
                <a:solidFill>
                  <a:srgbClr val="202020"/>
                </a:solidFill>
                <a:latin typeface="Calibri"/>
              </a:rPr>
              <a:t>, </a:t>
            </a:r>
            <a:r>
              <a:rPr sz="1200" b="0" i="0">
                <a:solidFill>
                  <a:srgbClr val="202020"/>
                </a:solidFill>
                <a:latin typeface="Consolas"/>
              </a:rPr>
              <a:t>/groups</a:t>
            </a:r>
            <a:r>
              <a:rPr sz="1250" b="0" i="0">
                <a:solidFill>
                  <a:srgbClr val="202020"/>
                </a:solidFill>
                <a:latin typeface="Calibri"/>
              </a:rPr>
              <a:t>, </a:t>
            </a:r>
            <a:r>
              <a:rPr sz="1200" b="0" i="0">
                <a:solidFill>
                  <a:srgbClr val="202020"/>
                </a:solidFill>
                <a:latin typeface="Consolas"/>
              </a:rPr>
              <a:t>/groups/{id}/members</a:t>
            </a:r>
            <a:r>
              <a:rPr sz="1250" b="0" i="0">
                <a:solidFill>
                  <a:srgbClr val="202020"/>
                </a:solidFill>
                <a:latin typeface="Calibri"/>
              </a:rPr>
              <a:t> — the identity crawl, for mapping permissions to Entra.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454</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Endpoints the connector calls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00" b="0" i="0">
                <a:solidFill>
                  <a:srgbClr val="202020"/>
                </a:solidFill>
                <a:latin typeface="Consolas"/>
              </a:rPr>
              <a:t>/integration/v2/analytics/contentUsage</a:t>
            </a:r>
            <a:r>
              <a:rPr sz="1250" b="0" i="0">
                <a:solidFill>
                  <a:srgbClr val="202020"/>
                </a:solidFill>
                <a:latin typeface="Calibri"/>
              </a:rPr>
              <a:t> — engagement signals, only when </a:t>
            </a:r>
            <a:r>
              <a:rPr sz="1200" b="0" i="0">
                <a:solidFill>
                  <a:srgbClr val="202020"/>
                </a:solidFill>
                <a:latin typeface="Consolas"/>
              </a:rPr>
              <a:t>SEISMIC_ENRICH_USAGE=true</a:t>
            </a:r>
            <a:r>
              <a:rPr sz="1250" b="0" i="0">
                <a:solidFill>
                  <a:srgbClr val="202020"/>
                </a:solidFill>
                <a:latin typeface="Calibri"/>
              </a:rPr>
              <a:t>.</a:t>
            </a:r>
          </a:p>
          <a:p>
            <a:pPr>
              <a:spcBef>
                <a:spcPts val="100"/>
              </a:spcBef>
              <a:spcAft>
                <a:spcPts val="200"/>
              </a:spcAft>
            </a:pPr>
            <a:r>
              <a:rPr sz="1250" b="1" i="0">
                <a:solidFill>
                  <a:srgbClr val="2E5496"/>
                </a:solidFill>
                <a:latin typeface="Calibri"/>
              </a:rPr>
              <a:t>•  </a:t>
            </a:r>
            <a:r>
              <a:rPr sz="1200" b="0" i="0">
                <a:solidFill>
                  <a:srgbClr val="202020"/>
                </a:solidFill>
                <a:latin typeface="Consolas"/>
              </a:rPr>
              <a:t>.../livedoc/fields</a:t>
            </a:r>
            <a:r>
              <a:rPr sz="1250" b="0" i="0">
                <a:solidFill>
                  <a:srgbClr val="202020"/>
                </a:solidFill>
                <a:latin typeface="Calibri"/>
              </a:rPr>
              <a:t> — LiveDoc field metadata, only for LiveDoc items and only when </a:t>
            </a:r>
            <a:r>
              <a:rPr sz="1200" b="0" i="0">
                <a:solidFill>
                  <a:srgbClr val="202020"/>
                </a:solidFill>
                <a:latin typeface="Consolas"/>
              </a:rPr>
              <a:t>LIVEDOC_FIELD_INDEXING=true</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455</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Network egress and API limits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Outbound 443</a:t>
            </a:r>
            <a:r>
              <a:rPr sz="1250" b="0" i="0">
                <a:solidFill>
                  <a:srgbClr val="202020"/>
                </a:solidFill>
                <a:latin typeface="Calibri"/>
              </a:rPr>
              <a:t> to </a:t>
            </a:r>
            <a:r>
              <a:rPr sz="1200" b="0" i="0">
                <a:solidFill>
                  <a:srgbClr val="202020"/>
                </a:solidFill>
                <a:latin typeface="Consolas"/>
              </a:rPr>
              <a:t>auth.seismic.com</a:t>
            </a:r>
            <a:r>
              <a:rPr sz="1250" b="0" i="0">
                <a:solidFill>
                  <a:srgbClr val="202020"/>
                </a:solidFill>
                <a:latin typeface="Calibri"/>
              </a:rPr>
              <a:t> and </a:t>
            </a:r>
            <a:r>
              <a:rPr sz="1200" b="0" i="0">
                <a:solidFill>
                  <a:srgbClr val="202020"/>
                </a:solidFill>
                <a:latin typeface="Consolas"/>
              </a:rPr>
              <a:t>api.seismic.com</a:t>
            </a:r>
            <a:r>
              <a:rPr sz="1250" b="0" i="0">
                <a:solidFill>
                  <a:srgbClr val="202020"/>
                </a:solidFill>
                <a:latin typeface="Calibri"/>
              </a:rPr>
              <a:t> (plus </a:t>
            </a:r>
            <a:r>
              <a:rPr sz="1200" b="0" i="0">
                <a:solidFill>
                  <a:srgbClr val="202020"/>
                </a:solidFill>
                <a:latin typeface="Consolas"/>
              </a:rPr>
              <a:t>login.microsoftonline.com</a:t>
            </a:r>
            <a:r>
              <a:rPr sz="1250" b="0" i="0">
                <a:solidFill>
                  <a:srgbClr val="202020"/>
                </a:solidFill>
                <a:latin typeface="Calibri"/>
              </a:rPr>
              <a:t> and </a:t>
            </a:r>
            <a:r>
              <a:rPr sz="1200" b="0" i="0">
                <a:solidFill>
                  <a:srgbClr val="202020"/>
                </a:solidFill>
                <a:latin typeface="Consolas"/>
              </a:rPr>
              <a:t>graph.microsoft.com</a:t>
            </a:r>
            <a:r>
              <a:rPr sz="1250" b="0" i="0">
                <a:solidFill>
                  <a:srgbClr val="202020"/>
                </a:solidFill>
                <a:latin typeface="Calibri"/>
              </a:rPr>
              <a:t> for the Microsoft side).</a:t>
            </a:r>
          </a:p>
          <a:p>
            <a:pPr>
              <a:spcBef>
                <a:spcPts val="100"/>
              </a:spcBef>
              <a:spcAft>
                <a:spcPts val="200"/>
              </a:spcAft>
            </a:pPr>
            <a:r>
              <a:rPr sz="1250" b="1" i="0">
                <a:solidFill>
                  <a:srgbClr val="2E5496"/>
                </a:solidFill>
                <a:latin typeface="Calibri"/>
              </a:rPr>
              <a:t>•  </a:t>
            </a:r>
            <a:r>
              <a:rPr sz="1250" b="0" i="0">
                <a:solidFill>
                  <a:srgbClr val="202020"/>
                </a:solidFill>
                <a:latin typeface="Calibri"/>
              </a:rPr>
              <a:t>If the bank routes outbound traffic through a </a:t>
            </a:r>
            <a:r>
              <a:rPr sz="1250" b="1" i="0">
                <a:solidFill>
                  <a:srgbClr val="202020"/>
                </a:solidFill>
                <a:latin typeface="Calibri"/>
              </a:rPr>
              <a:t>forward proxy</a:t>
            </a:r>
            <a:r>
              <a:rPr sz="1250" b="0" i="0">
                <a:solidFill>
                  <a:srgbClr val="202020"/>
                </a:solidFill>
                <a:latin typeface="Calibri"/>
              </a:rPr>
              <a:t>, set </a:t>
            </a:r>
            <a:r>
              <a:rPr sz="1200" b="0" i="0">
                <a:solidFill>
                  <a:srgbClr val="202020"/>
                </a:solidFill>
                <a:latin typeface="Consolas"/>
              </a:rPr>
              <a:t>PROXY_URL</a:t>
            </a:r>
            <a:r>
              <a:rPr sz="1250" b="0" i="0">
                <a:solidFill>
                  <a:srgbClr val="202020"/>
                </a:solidFill>
                <a:latin typeface="Calibri"/>
              </a:rPr>
              <a:t> (and </a:t>
            </a:r>
            <a:r>
              <a:rPr sz="1200" b="0" i="0">
                <a:solidFill>
                  <a:srgbClr val="202020"/>
                </a:solidFill>
                <a:latin typeface="Consolas"/>
              </a:rPr>
              <a:t>PROXY_BYPASS</a:t>
            </a:r>
            <a:r>
              <a:rPr sz="1250" b="0" i="0">
                <a:solidFill>
                  <a:srgbClr val="202020"/>
                </a:solidFill>
                <a:latin typeface="Calibri"/>
              </a:rPr>
              <a:t>); if a </a:t>
            </a:r>
            <a:r>
              <a:rPr sz="1250" b="1" i="0">
                <a:solidFill>
                  <a:srgbClr val="202020"/>
                </a:solidFill>
                <a:latin typeface="Calibri"/>
              </a:rPr>
              <a:t>TLS-inspection</a:t>
            </a:r>
            <a:r>
              <a:rPr sz="1250" b="0" i="0">
                <a:solidFill>
                  <a:srgbClr val="202020"/>
                </a:solidFill>
                <a:latin typeface="Calibri"/>
              </a:rPr>
              <a:t> appliance is in the path, supply its root as </a:t>
            </a:r>
            <a:r>
              <a:rPr sz="1200" b="0" i="0">
                <a:solidFill>
                  <a:srgbClr val="202020"/>
                </a:solidFill>
                <a:latin typeface="Consolas"/>
              </a:rPr>
              <a:t>CA_BUNDLE_PATH</a:t>
            </a:r>
            <a:r>
              <a:rPr sz="1250" b="0" i="0">
                <a:solidFill>
                  <a:srgbClr val="202020"/>
                </a:solidFill>
                <a:latin typeface="Calibri"/>
              </a:rPr>
              <a:t>. See Common Guide §6.</a:t>
            </a:r>
          </a:p>
          <a:p>
            <a:pPr>
              <a:spcBef>
                <a:spcPts val="100"/>
              </a:spcBef>
              <a:spcAft>
                <a:spcPts val="200"/>
              </a:spcAft>
            </a:pPr>
            <a:r>
              <a:rPr sz="1250" b="1" i="0">
                <a:solidFill>
                  <a:srgbClr val="2E5496"/>
                </a:solidFill>
                <a:latin typeface="Calibri"/>
              </a:rPr>
              <a:t>•  </a:t>
            </a:r>
            <a:r>
              <a:rPr sz="1250" b="1" i="0">
                <a:solidFill>
                  <a:srgbClr val="202020"/>
                </a:solidFill>
                <a:latin typeface="Calibri"/>
              </a:rPr>
              <a:t>Rate limits:</a:t>
            </a:r>
            <a:r>
              <a:rPr sz="1250" b="0" i="0">
                <a:solidFill>
                  <a:srgbClr val="202020"/>
                </a:solidFill>
                <a:latin typeface="Calibri"/>
              </a:rPr>
              <a:t> on a </a:t>
            </a:r>
            <a:r>
              <a:rPr sz="1200" b="0" i="0">
                <a:solidFill>
                  <a:srgbClr val="202020"/>
                </a:solidFill>
                <a:latin typeface="Consolas"/>
              </a:rPr>
              <a:t>429 Too Many Requests</a:t>
            </a:r>
            <a:r>
              <a:rPr sz="1250" b="0" i="0">
                <a:solidFill>
                  <a:srgbClr val="202020"/>
                </a:solidFill>
                <a:latin typeface="Calibri"/>
              </a:rPr>
              <a:t> or a </a:t>
            </a:r>
            <a:r>
              <a:rPr sz="1200" b="0" i="0">
                <a:solidFill>
                  <a:srgbClr val="202020"/>
                </a:solidFill>
                <a:latin typeface="Consolas"/>
              </a:rPr>
              <a:t>5xx</a:t>
            </a:r>
            <a:r>
              <a:rPr sz="1250" b="0" i="0">
                <a:solidFill>
                  <a:srgbClr val="202020"/>
                </a:solidFill>
                <a:latin typeface="Calibri"/>
              </a:rPr>
              <a:t>, the connector retries up to </a:t>
            </a:r>
            <a:r>
              <a:rPr sz="1200" b="0" i="0">
                <a:solidFill>
                  <a:srgbClr val="202020"/>
                </a:solidFill>
                <a:latin typeface="Consolas"/>
              </a:rPr>
              <a:t>SEISMIC_MAX_RETRIES</a:t>
            </a:r>
            <a:r>
              <a:rPr sz="1250" b="0" i="0">
                <a:solidFill>
                  <a:srgbClr val="202020"/>
                </a:solidFill>
                <a:latin typeface="Calibri"/>
              </a:rPr>
              <a:t>, honouring any </a:t>
            </a:r>
            <a:r>
              <a:rPr sz="1200" b="0" i="0">
                <a:solidFill>
                  <a:srgbClr val="202020"/>
                </a:solidFill>
                <a:latin typeface="Consolas"/>
              </a:rPr>
              <a:t>Retry-After</a:t>
            </a:r>
            <a:r>
              <a:rPr sz="1250" b="0" i="0">
                <a:solidFill>
                  <a:srgbClr val="202020"/>
                </a:solidFill>
                <a:latin typeface="Calibri"/>
              </a:rPr>
              <a:t> the server sends and otherwise backing off exponentially (capped at 60 seconds). A per-request timeout of 120 seconds applies.</a:t>
            </a:r>
          </a:p>
          <a:p>
            <a:pPr>
              <a:spcBef>
                <a:spcPts val="100"/>
              </a:spcBef>
              <a:spcAft>
                <a:spcPts val="200"/>
              </a:spcAft>
            </a:pPr>
            <a:r>
              <a:rPr sz="1250" b="1" i="0">
                <a:solidFill>
                  <a:srgbClr val="2E5496"/>
                </a:solidFill>
                <a:latin typeface="Calibri"/>
              </a:rPr>
              <a:t>•  </a:t>
            </a:r>
            <a:r>
              <a:rPr sz="1250" b="1" i="0">
                <a:solidFill>
                  <a:srgbClr val="202020"/>
                </a:solidFill>
                <a:latin typeface="Calibri"/>
              </a:rPr>
              <a:t>Sustained</a:t>
            </a:r>
            <a:r>
              <a:rPr sz="1250" b="0" i="0">
                <a:solidFill>
                  <a:srgbClr val="202020"/>
                </a:solidFill>
                <a:latin typeface="Calibri"/>
              </a:rPr>
              <a:t> Seismic outages are handled by a circuit breaker that pauses the crawl safely rather than hammering a dead endpoint (section 14, breaker-open).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456</a:t>
            </a:r>
          </a:p>
        </p:txBody>
      </p:sp>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Network egress and API limits</a:t>
            </a:r>
          </a:p>
        </p:txBody>
      </p:sp>
      <p:sp>
        <p:nvSpPr>
          <p:cNvPr id="5" name="Rectangle 4"/>
          <p:cNvSpPr/>
          <p:nvPr/>
        </p:nvSpPr>
        <p:spPr>
          <a:xfrm>
            <a:off x="502920" y="1463040"/>
            <a:ext cx="11185855" cy="3291840"/>
          </a:xfrm>
          <a:prstGeom prst="rect">
            <a:avLst/>
          </a:prstGeom>
          <a:solidFill>
            <a:srgbClr val="F0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6A3D9A"/>
                </a:solidFill>
                <a:latin typeface="Calibri"/>
              </a:rPr>
              <a:t>Information to request:  </a:t>
            </a:r>
            <a:r>
              <a:rPr sz="1400" b="1" i="0">
                <a:solidFill>
                  <a:srgbClr val="202020"/>
                </a:solidFill>
                <a:latin typeface="Calibri"/>
              </a:rPr>
              <a:t>Information to request: </a:t>
            </a:r>
            <a:r>
              <a:rPr sz="1400" b="0" i="0">
                <a:solidFill>
                  <a:srgbClr val="202020"/>
                </a:solidFill>
                <a:latin typeface="Calibri"/>
              </a:rPr>
              <a:t>From your </a:t>
            </a:r>
            <a:r>
              <a:rPr sz="1400" b="1" i="0">
                <a:solidFill>
                  <a:srgbClr val="202020"/>
                </a:solidFill>
                <a:latin typeface="Calibri"/>
              </a:rPr>
              <a:t>Seismic administrator</a:t>
            </a:r>
            <a:r>
              <a:rPr sz="1400" b="0" i="0">
                <a:solidFill>
                  <a:srgbClr val="202020"/>
                </a:solidFill>
                <a:latin typeface="Calibri"/>
              </a:rPr>
              <a:t>, obtain before you start: (1) the Seismic tenant subdomain (</a:t>
            </a:r>
            <a:r>
              <a:rPr sz="1350" b="0" i="0">
                <a:solidFill>
                  <a:srgbClr val="202020"/>
                </a:solidFill>
                <a:latin typeface="Consolas"/>
              </a:rPr>
              <a:t>SEISMIC_TENANT</a:t>
            </a:r>
            <a:r>
              <a:rPr sz="1400" b="0" i="0">
                <a:solidFill>
                  <a:srgbClr val="202020"/>
                </a:solidFill>
                <a:latin typeface="Calibri"/>
              </a:rPr>
              <a:t>); (2) the OAuth2 API client id and secret for a client-credentials client with read-only library/teamsite/user scopes (</a:t>
            </a:r>
            <a:r>
              <a:rPr sz="1350" b="0" i="0">
                <a:solidFill>
                  <a:srgbClr val="202020"/>
                </a:solidFill>
                <a:latin typeface="Consolas"/>
              </a:rPr>
              <a:t>SEISMIC_CLIENT_ID</a:t>
            </a:r>
            <a:r>
              <a:rPr sz="1400" b="0" i="0">
                <a:solidFill>
                  <a:srgbClr val="202020"/>
                </a:solidFill>
                <a:latin typeface="Calibri"/>
              </a:rPr>
              <a:t> / </a:t>
            </a:r>
            <a:r>
              <a:rPr sz="1350" b="0" i="0">
                <a:solidFill>
                  <a:srgbClr val="202020"/>
                </a:solidFill>
                <a:latin typeface="Consolas"/>
              </a:rPr>
              <a:t>SECRET_SEISMIC_CLIENT_SECRET</a:t>
            </a:r>
            <a:r>
              <a:rPr sz="1400" b="0" i="0">
                <a:solidFill>
                  <a:srgbClr val="202020"/>
                </a:solidFill>
                <a:latin typeface="Calibri"/>
              </a:rPr>
              <a:t>); and (3) the explicit list of libraries/teamsites that are approved for indexing. The </a:t>
            </a:r>
            <a:r>
              <a:rPr sz="1400" b="1" i="0">
                <a:solidFill>
                  <a:srgbClr val="202020"/>
                </a:solidFill>
                <a:latin typeface="Calibri"/>
              </a:rPr>
              <a:t>network/firewall team</a:t>
            </a:r>
            <a:r>
              <a:rPr sz="1400" b="0" i="0">
                <a:solidFill>
                  <a:srgbClr val="202020"/>
                </a:solidFill>
                <a:latin typeface="Calibri"/>
              </a:rPr>
              <a:t> must open outbound 443 to the Seismic and Microsoft hosts above.</a:t>
            </a:r>
          </a:p>
        </p:txBody>
      </p:sp>
      <p:sp>
        <p:nvSpPr>
          <p:cNvPr id="6" name="Rectangle 5"/>
          <p:cNvSpPr/>
          <p:nvPr/>
        </p:nvSpPr>
        <p:spPr>
          <a:xfrm>
            <a:off x="502920" y="1463040"/>
            <a:ext cx="128016" cy="3291840"/>
          </a:xfrm>
          <a:prstGeom prst="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457</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Seismic Connector</a:t>
            </a:r>
          </a:p>
          <a:p>
            <a:r>
              <a:rPr sz="3000" b="1" i="0">
                <a:solidFill>
                  <a:srgbClr val="1F3864"/>
                </a:solidFill>
                <a:latin typeface="Calibri"/>
              </a:rPr>
              <a:t>5. How Seismic data appears in the Copilot index</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458</a:t>
            </a:r>
          </a:p>
        </p:txBody>
      </p:sp>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 How Seismic data appears in the Copilot index</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Each Seismic content item becomes one Microsoft Graph </a:t>
            </a:r>
            <a:r>
              <a:rPr sz="1250" b="1" i="0">
                <a:solidFill>
                  <a:srgbClr val="202020"/>
                </a:solidFill>
                <a:latin typeface="Calibri"/>
              </a:rPr>
              <a:t>external item</a:t>
            </a:r>
            <a:r>
              <a:rPr sz="1250" b="0" i="0">
                <a:solidFill>
                  <a:srgbClr val="202020"/>
                </a:solidFill>
                <a:latin typeface="Calibri"/>
              </a:rPr>
              <a:t> in the Copilot </a:t>
            </a:r>
            <a:r>
              <a:rPr sz="1250" b="1" i="0">
                <a:solidFill>
                  <a:srgbClr val="202020"/>
                </a:solidFill>
                <a:latin typeface="Calibri"/>
              </a:rPr>
              <a:t>Graph connection</a:t>
            </a:r>
            <a:r>
              <a:rPr sz="1250" b="0" i="0">
                <a:solidFill>
                  <a:srgbClr val="202020"/>
                </a:solidFill>
                <a:latin typeface="Calibri"/>
              </a:rPr>
              <a:t>. An external item has three parts: a set of </a:t>
            </a:r>
            <a:r>
              <a:rPr sz="1250" b="1" i="0">
                <a:solidFill>
                  <a:srgbClr val="202020"/>
                </a:solidFill>
                <a:latin typeface="Calibri"/>
              </a:rPr>
              <a:t>properties</a:t>
            </a:r>
            <a:r>
              <a:rPr sz="1250" b="0" i="0">
                <a:solidFill>
                  <a:srgbClr val="202020"/>
                </a:solidFill>
                <a:latin typeface="Calibri"/>
              </a:rPr>
              <a:t> (structured fields Copilot can search, filter and display), the </a:t>
            </a:r>
            <a:r>
              <a:rPr sz="1250" b="1" i="0">
                <a:solidFill>
                  <a:srgbClr val="202020"/>
                </a:solidFill>
                <a:latin typeface="Calibri"/>
              </a:rPr>
              <a:t>content</a:t>
            </a:r>
            <a:r>
              <a:rPr sz="1250" b="0" i="0">
                <a:solidFill>
                  <a:srgbClr val="202020"/>
                </a:solidFill>
                <a:latin typeface="Calibri"/>
              </a:rPr>
              <a:t> (the searchable body text), and an </a:t>
            </a:r>
            <a:r>
              <a:rPr sz="1250" b="1" i="0">
                <a:solidFill>
                  <a:srgbClr val="202020"/>
                </a:solidFill>
                <a:latin typeface="Calibri"/>
              </a:rPr>
              <a:t>ACL</a:t>
            </a:r>
            <a:r>
              <a:rPr sz="1250" b="0" i="0">
                <a:solidFill>
                  <a:srgbClr val="202020"/>
                </a:solidFill>
                <a:latin typeface="Calibri"/>
              </a:rPr>
              <a:t> (who may see it). The external item's id is the Seismic content id, which is what makes version supersede an in-place update.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459</a:t>
            </a:r>
          </a:p>
        </p:txBody>
      </p:sp>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 How Seismic data appears in the Copilot index</a:t>
            </a:r>
          </a:p>
        </p:txBody>
      </p:sp>
      <p:sp>
        <p:nvSpPr>
          <p:cNvPr id="5" name="Rectangle 4"/>
          <p:cNvSpPr/>
          <p:nvPr/>
        </p:nvSpPr>
        <p:spPr>
          <a:xfrm>
            <a:off x="502920" y="1463040"/>
            <a:ext cx="11185855" cy="329184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5496"/>
                </a:solidFill>
                <a:latin typeface="Calibri"/>
              </a:rPr>
              <a:t>Note:  </a:t>
            </a:r>
            <a:r>
              <a:rPr sz="1400" b="1" i="0">
                <a:solidFill>
                  <a:srgbClr val="202020"/>
                </a:solidFill>
                <a:latin typeface="Calibri"/>
              </a:rPr>
              <a:t>Note: </a:t>
            </a:r>
            <a:r>
              <a:rPr sz="1400" b="0" i="0">
                <a:solidFill>
                  <a:srgbClr val="202020"/>
                </a:solidFill>
                <a:latin typeface="Calibri"/>
              </a:rPr>
              <a:t>External items, connections, properties and ACLs are Graph concepts explained in Common Guide §5. This section covers only the Seismic-to-Graph mapping.</a:t>
            </a:r>
          </a:p>
        </p:txBody>
      </p:sp>
      <p:sp>
        <p:nvSpPr>
          <p:cNvPr id="6" name="Rectangle 5"/>
          <p:cNvSpPr/>
          <p:nvPr/>
        </p:nvSpPr>
        <p:spPr>
          <a:xfrm>
            <a:off x="502920" y="1463040"/>
            <a:ext cx="128016" cy="329184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460</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Property mapping</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connector fills the connection schema (defined in </a:t>
            </a:r>
            <a:r>
              <a:rPr sz="1200" b="0" i="0">
                <a:solidFill>
                  <a:srgbClr val="202020"/>
                </a:solidFill>
                <a:latin typeface="Consolas"/>
              </a:rPr>
              <a:t>config/graph-schema.json</a:t>
            </a:r>
            <a:r>
              <a:rPr sz="1250" b="0" i="0">
                <a:solidFill>
                  <a:srgbClr val="202020"/>
                </a:solidFill>
                <a:latin typeface="Calibri"/>
              </a:rPr>
              <a:t>) from Seismic fields as follows: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461</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Property mapping</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2796463"/>
                <a:gridCol w="2796463"/>
                <a:gridCol w="2796463"/>
                <a:gridCol w="2796466"/>
              </a:tblGrid>
              <a:tr h="384048">
                <a:tc>
                  <a:txBody>
                    <a:bodyPr wrap="square"/>
                    <a:lstStyle/>
                    <a:p>
                      <a:r>
                        <a:rPr sz="1050" b="1" i="0">
                          <a:solidFill>
                            <a:srgbClr val="FFFFFF"/>
                          </a:solidFill>
                          <a:latin typeface="Calibri"/>
                        </a:rPr>
                        <a:t>Graph property</a:t>
                      </a:r>
                    </a:p>
                  </a:txBody>
                  <a:tcPr marT="25400" marB="25400">
                    <a:solidFill>
                      <a:srgbClr val="2E5496"/>
                    </a:solidFill>
                  </a:tcPr>
                </a:tc>
                <a:tc>
                  <a:txBody>
                    <a:bodyPr wrap="square"/>
                    <a:lstStyle/>
                    <a:p>
                      <a:r>
                        <a:rPr sz="1050" b="1" i="0">
                          <a:solidFill>
                            <a:srgbClr val="FFFFFF"/>
                          </a:solidFill>
                          <a:latin typeface="Calibri"/>
                        </a:rPr>
                        <a:t>From Seismic</a:t>
                      </a:r>
                    </a:p>
                  </a:txBody>
                  <a:tcPr marT="25400" marB="25400">
                    <a:solidFill>
                      <a:srgbClr val="2E5496"/>
                    </a:solidFill>
                  </a:tcPr>
                </a:tc>
                <a:tc>
                  <a:txBody>
                    <a:bodyPr wrap="square"/>
                    <a:lstStyle/>
                    <a:p>
                      <a:r>
                        <a:rPr sz="1050" b="1" i="0">
                          <a:solidFill>
                            <a:srgbClr val="FFFFFF"/>
                          </a:solidFill>
                          <a:latin typeface="Calibri"/>
                        </a:rPr>
                        <a:t>Search role</a:t>
                      </a:r>
                    </a:p>
                  </a:txBody>
                  <a:tcPr marT="25400" marB="25400">
                    <a:solidFill>
                      <a:srgbClr val="2E5496"/>
                    </a:solidFill>
                  </a:tcPr>
                </a:tc>
                <a:tc>
                  <a:txBody>
                    <a:bodyPr wrap="square"/>
                    <a:lstStyle/>
                    <a:p>
                      <a:r>
                        <a:rPr sz="1050" b="1" i="0">
                          <a:solidFill>
                            <a:srgbClr val="FFFFFF"/>
                          </a:solidFill>
                          <a:latin typeface="Calibri"/>
                        </a:rPr>
                        <a:t>Notes</a:t>
                      </a:r>
                    </a:p>
                  </a:txBody>
                  <a:tcPr marT="25400" marB="25400">
                    <a:solidFill>
                      <a:srgbClr val="2E5496"/>
                    </a:solidFill>
                  </a:tcPr>
                </a:tc>
              </a:tr>
              <a:tr h="384048">
                <a:tc>
                  <a:txBody>
                    <a:bodyPr wrap="square"/>
                    <a:lstStyle/>
                    <a:p>
                      <a:r>
                        <a:rPr sz="950" b="0" i="0">
                          <a:solidFill>
                            <a:srgbClr val="202020"/>
                          </a:solidFill>
                          <a:latin typeface="Calibri"/>
                        </a:rPr>
                        <a:t>title</a:t>
                      </a:r>
                    </a:p>
                  </a:txBody>
                  <a:tcPr marT="12700" marB="12700">
                    <a:solidFill>
                      <a:srgbClr val="FFFFFF"/>
                    </a:solidFill>
                  </a:tcPr>
                </a:tc>
                <a:tc>
                  <a:txBody>
                    <a:bodyPr wrap="square"/>
                    <a:lstStyle/>
                    <a:p>
                      <a:r>
                        <a:rPr sz="950" b="0" i="0">
                          <a:solidFill>
                            <a:srgbClr val="202020"/>
                          </a:solidFill>
                          <a:latin typeface="Calibri"/>
                        </a:rPr>
                        <a:t>Item name</a:t>
                      </a:r>
                    </a:p>
                  </a:txBody>
                  <a:tcPr marT="12700" marB="12700">
                    <a:solidFill>
                      <a:srgbClr val="FFFFFF"/>
                    </a:solidFill>
                  </a:tcPr>
                </a:tc>
                <a:tc>
                  <a:txBody>
                    <a:bodyPr wrap="square"/>
                    <a:lstStyle/>
                    <a:p>
                      <a:r>
                        <a:rPr sz="950" b="0" i="0">
                          <a:solidFill>
                            <a:srgbClr val="202020"/>
                          </a:solidFill>
                          <a:latin typeface="Calibri"/>
                        </a:rPr>
                        <a:t>Searchable</a:t>
                      </a:r>
                    </a:p>
                  </a:txBody>
                  <a:tcPr marT="12700" marB="12700">
                    <a:solidFill>
                      <a:srgbClr val="FFFFFF"/>
                    </a:solidFill>
                  </a:tcPr>
                </a:tc>
                <a:tc>
                  <a:txBody>
                    <a:bodyPr wrap="square"/>
                    <a:lstStyle/>
                    <a:p>
                      <a:r>
                        <a:rPr sz="950" b="0" i="0">
                          <a:solidFill>
                            <a:srgbClr val="202020"/>
                          </a:solidFill>
                          <a:latin typeface="Calibri"/>
                        </a:rPr>
                        <a:t>Display title</a:t>
                      </a:r>
                    </a:p>
                  </a:txBody>
                  <a:tcPr marT="12700" marB="12700">
                    <a:solidFill>
                      <a:srgbClr val="FFFFFF"/>
                    </a:solidFill>
                  </a:tcPr>
                </a:tc>
              </a:tr>
              <a:tr h="384048">
                <a:tc>
                  <a:txBody>
                    <a:bodyPr wrap="square"/>
                    <a:lstStyle/>
                    <a:p>
                      <a:r>
                        <a:rPr sz="950" b="0" i="0">
                          <a:solidFill>
                            <a:srgbClr val="202020"/>
                          </a:solidFill>
                          <a:latin typeface="Calibri"/>
                        </a:rPr>
                        <a:t>contentId / teamsiteId</a:t>
                      </a:r>
                    </a:p>
                  </a:txBody>
                  <a:tcPr marT="12700" marB="12700">
                    <a:solidFill>
                      <a:srgbClr val="F7F9FC"/>
                    </a:solidFill>
                  </a:tcPr>
                </a:tc>
                <a:tc>
                  <a:txBody>
                    <a:bodyPr wrap="square"/>
                    <a:lstStyle/>
                    <a:p>
                      <a:r>
                        <a:rPr sz="950" b="0" i="0">
                          <a:solidFill>
                            <a:srgbClr val="202020"/>
                          </a:solidFill>
                          <a:latin typeface="Calibri"/>
                        </a:rPr>
                        <a:t>Item &amp; teamsite ids</a:t>
                      </a:r>
                    </a:p>
                  </a:txBody>
                  <a:tcPr marT="12700" marB="12700">
                    <a:solidFill>
                      <a:srgbClr val="F7F9FC"/>
                    </a:solidFill>
                  </a:tcPr>
                </a:tc>
                <a:tc>
                  <a:txBody>
                    <a:bodyPr wrap="square"/>
                    <a:lstStyle/>
                    <a:p>
                      <a:r>
                        <a:rPr sz="950" b="0" i="0">
                          <a:solidFill>
                            <a:srgbClr val="202020"/>
                          </a:solidFill>
                          <a:latin typeface="Calibri"/>
                        </a:rPr>
                        <a:t>Queryable</a:t>
                      </a:r>
                    </a:p>
                  </a:txBody>
                  <a:tcPr marT="12700" marB="12700">
                    <a:solidFill>
                      <a:srgbClr val="F7F9FC"/>
                    </a:solidFill>
                  </a:tcPr>
                </a:tc>
                <a:tc>
                  <a:txBody>
                    <a:bodyPr wrap="square"/>
                    <a:lstStyle/>
                    <a:p>
                      <a:r>
                        <a:rPr sz="950" b="0" i="0">
                          <a:solidFill>
                            <a:srgbClr val="202020"/>
                          </a:solidFill>
                          <a:latin typeface="Calibri"/>
                        </a:rPr>
                        <a:t>Stable identifiers</a:t>
                      </a:r>
                    </a:p>
                  </a:txBody>
                  <a:tcPr marT="12700" marB="12700">
                    <a:solidFill>
                      <a:srgbClr val="F7F9FC"/>
                    </a:solidFill>
                  </a:tcPr>
                </a:tc>
              </a:tr>
              <a:tr h="384048">
                <a:tc>
                  <a:txBody>
                    <a:bodyPr wrap="square"/>
                    <a:lstStyle/>
                    <a:p>
                      <a:r>
                        <a:rPr sz="950" b="0" i="0">
                          <a:solidFill>
                            <a:srgbClr val="202020"/>
                          </a:solidFill>
                          <a:latin typeface="Calibri"/>
                        </a:rPr>
                        <a:t>teamsiteName</a:t>
                      </a:r>
                    </a:p>
                  </a:txBody>
                  <a:tcPr marT="12700" marB="12700">
                    <a:solidFill>
                      <a:srgbClr val="FFFFFF"/>
                    </a:solidFill>
                  </a:tcPr>
                </a:tc>
                <a:tc>
                  <a:txBody>
                    <a:bodyPr wrap="square"/>
                    <a:lstStyle/>
                    <a:p>
                      <a:r>
                        <a:rPr sz="950" b="0" i="0">
                          <a:solidFill>
                            <a:srgbClr val="202020"/>
                          </a:solidFill>
                          <a:latin typeface="Calibri"/>
                        </a:rPr>
                        <a:t>Teamsite name</a:t>
                      </a:r>
                    </a:p>
                  </a:txBody>
                  <a:tcPr marT="12700" marB="12700">
                    <a:solidFill>
                      <a:srgbClr val="FFFFFF"/>
                    </a:solidFill>
                  </a:tcPr>
                </a:tc>
                <a:tc>
                  <a:txBody>
                    <a:bodyPr wrap="square"/>
                    <a:lstStyle/>
                    <a:p>
                      <a:r>
                        <a:rPr sz="950" b="0" i="0">
                          <a:solidFill>
                            <a:srgbClr val="202020"/>
                          </a:solidFill>
                          <a:latin typeface="Calibri"/>
                        </a:rPr>
                        <a:t>Searchable</a:t>
                      </a:r>
                    </a:p>
                  </a:txBody>
                  <a:tcPr marT="12700" marB="12700">
                    <a:solidFill>
                      <a:srgbClr val="FFFFFF"/>
                    </a:solidFill>
                  </a:tcPr>
                </a:tc>
                <a:tc>
                  <a:txBody>
                    <a:bodyPr wrap="square"/>
                    <a:lstStyle/>
                    <a:p>
                      <a:r>
                        <a:rPr sz="950" b="0" i="0">
                          <a:solidFill>
                            <a:srgbClr val="202020"/>
                          </a:solidFill>
                          <a:latin typeface="Calibri"/>
                        </a:rPr>
                        <a:t>Human-readable library</a:t>
                      </a:r>
                    </a:p>
                  </a:txBody>
                  <a:tcPr marT="12700" marB="12700">
                    <a:solidFill>
                      <a:srgbClr val="FFFFFF"/>
                    </a:solidFill>
                  </a:tcPr>
                </a:tc>
              </a:tr>
              <a:tr h="384048">
                <a:tc>
                  <a:txBody>
                    <a:bodyPr wrap="square"/>
                    <a:lstStyle/>
                    <a:p>
                      <a:r>
                        <a:rPr sz="950" b="0" i="0">
                          <a:solidFill>
                            <a:srgbClr val="202020"/>
                          </a:solidFill>
                          <a:latin typeface="Calibri"/>
                        </a:rPr>
                        <a:t>format</a:t>
                      </a:r>
                    </a:p>
                  </a:txBody>
                  <a:tcPr marT="12700" marB="12700">
                    <a:solidFill>
                      <a:srgbClr val="F7F9FC"/>
                    </a:solidFill>
                  </a:tcPr>
                </a:tc>
                <a:tc>
                  <a:txBody>
                    <a:bodyPr wrap="square"/>
                    <a:lstStyle/>
                    <a:p>
                      <a:r>
                        <a:rPr sz="950" b="0" i="0">
                          <a:solidFill>
                            <a:srgbClr val="202020"/>
                          </a:solidFill>
                          <a:latin typeface="Calibri"/>
                        </a:rPr>
                        <a:t>Item format</a:t>
                      </a:r>
                    </a:p>
                  </a:txBody>
                  <a:tcPr marT="12700" marB="12700">
                    <a:solidFill>
                      <a:srgbClr val="F7F9FC"/>
                    </a:solidFill>
                  </a:tcPr>
                </a:tc>
                <a:tc>
                  <a:txBody>
                    <a:bodyPr wrap="square"/>
                    <a:lstStyle/>
                    <a:p>
                      <a:r>
                        <a:rPr sz="950" b="0" i="0">
                          <a:solidFill>
                            <a:srgbClr val="202020"/>
                          </a:solidFill>
                          <a:latin typeface="Calibri"/>
                        </a:rPr>
                        <a:t>Refinable</a:t>
                      </a:r>
                    </a:p>
                  </a:txBody>
                  <a:tcPr marT="12700" marB="12700">
                    <a:solidFill>
                      <a:srgbClr val="F7F9FC"/>
                    </a:solidFill>
                  </a:tcPr>
                </a:tc>
                <a:tc>
                  <a:txBody>
                    <a:bodyPr wrap="square"/>
                    <a:lstStyle/>
                    <a:p>
                      <a:r>
                        <a:rPr sz="950" b="0" i="0">
                          <a:solidFill>
                            <a:srgbClr val="202020"/>
                          </a:solidFill>
                          <a:latin typeface="Calibri"/>
                        </a:rPr>
                        <a:t>e.g. doc, ppt, pdf, livedoc, video</a:t>
                      </a:r>
                    </a:p>
                  </a:txBody>
                  <a:tcPr marT="12700" marB="12700">
                    <a:solidFill>
                      <a:srgbClr val="F7F9FC"/>
                    </a:solidFill>
                  </a:tcPr>
                </a:tc>
              </a:tr>
              <a:tr h="384048">
                <a:tc>
                  <a:txBody>
                    <a:bodyPr wrap="square"/>
                    <a:lstStyle/>
                    <a:p>
                      <a:r>
                        <a:rPr sz="950" b="0" i="0">
                          <a:solidFill>
                            <a:srgbClr val="202020"/>
                          </a:solidFill>
                          <a:latin typeface="Calibri"/>
                        </a:rPr>
                        <a:t>versionId</a:t>
                      </a:r>
                    </a:p>
                  </a:txBody>
                  <a:tcPr marT="12700" marB="12700">
                    <a:solidFill>
                      <a:srgbClr val="FFFFFF"/>
                    </a:solidFill>
                  </a:tcPr>
                </a:tc>
                <a:tc>
                  <a:txBody>
                    <a:bodyPr wrap="square"/>
                    <a:lstStyle/>
                    <a:p>
                      <a:r>
                        <a:rPr sz="950" b="0" i="0">
                          <a:solidFill>
                            <a:srgbClr val="202020"/>
                          </a:solidFill>
                          <a:latin typeface="Calibri"/>
                        </a:rPr>
                        <a:t>Current version id</a:t>
                      </a:r>
                    </a:p>
                  </a:txBody>
                  <a:tcPr marT="12700" marB="12700">
                    <a:solidFill>
                      <a:srgbClr val="FFFFFF"/>
                    </a:solidFill>
                  </a:tcPr>
                </a:tc>
                <a:tc>
                  <a:txBody>
                    <a:bodyPr wrap="square"/>
                    <a:lstStyle/>
                    <a:p>
                      <a:r>
                        <a:rPr sz="950" b="0" i="0">
                          <a:solidFill>
                            <a:srgbClr val="202020"/>
                          </a:solidFill>
                          <a:latin typeface="Calibri"/>
                        </a:rPr>
                        <a:t>Retrievable</a:t>
                      </a:r>
                    </a:p>
                  </a:txBody>
                  <a:tcPr marT="12700" marB="12700">
                    <a:solidFill>
                      <a:srgbClr val="FFFFFF"/>
                    </a:solidFill>
                  </a:tcPr>
                </a:tc>
                <a:tc>
                  <a:txBody>
                    <a:bodyPr wrap="square"/>
                    <a:lstStyle/>
                    <a:p>
                      <a:r>
                        <a:rPr sz="950" b="0" i="0">
                          <a:solidFill>
                            <a:srgbClr val="202020"/>
                          </a:solidFill>
                          <a:latin typeface="Calibri"/>
                        </a:rPr>
                        <a:t>Which version is indexed</a:t>
                      </a:r>
                    </a:p>
                  </a:txBody>
                  <a:tcPr marT="12700" marB="12700">
                    <a:solidFill>
                      <a:srgbClr val="FFFFFF"/>
                    </a:solidFill>
                  </a:tcPr>
                </a:tc>
              </a:tr>
              <a:tr h="384048">
                <a:tc>
                  <a:txBody>
                    <a:bodyPr wrap="square"/>
                    <a:lstStyle/>
                    <a:p>
                      <a:r>
                        <a:rPr sz="950" b="0" i="0">
                          <a:solidFill>
                            <a:srgbClr val="202020"/>
                          </a:solidFill>
                          <a:latin typeface="Calibri"/>
                        </a:rPr>
                        <a:t>distribution</a:t>
                      </a:r>
                    </a:p>
                  </a:txBody>
                  <a:tcPr marT="12700" marB="12700">
                    <a:solidFill>
                      <a:srgbClr val="F7F9FC"/>
                    </a:solidFill>
                  </a:tcPr>
                </a:tc>
                <a:tc>
                  <a:txBody>
                    <a:bodyPr wrap="square"/>
                    <a:lstStyle/>
                    <a:p>
                      <a:r>
                        <a:rPr sz="950" b="0" i="0">
                          <a:solidFill>
                            <a:srgbClr val="202020"/>
                          </a:solidFill>
                          <a:latin typeface="Calibri"/>
                        </a:rPr>
                        <a:t>Distribution flag</a:t>
                      </a:r>
                    </a:p>
                  </a:txBody>
                  <a:tcPr marT="12700" marB="12700">
                    <a:solidFill>
                      <a:srgbClr val="F7F9FC"/>
                    </a:solidFill>
                  </a:tcPr>
                </a:tc>
                <a:tc>
                  <a:txBody>
                    <a:bodyPr wrap="square"/>
                    <a:lstStyle/>
                    <a:p>
                      <a:r>
                        <a:rPr sz="950" b="0" i="0">
                          <a:solidFill>
                            <a:srgbClr val="202020"/>
                          </a:solidFill>
                          <a:latin typeface="Calibri"/>
                        </a:rPr>
                        <a:t>Refinable</a:t>
                      </a:r>
                    </a:p>
                  </a:txBody>
                  <a:tcPr marT="12700" marB="12700">
                    <a:solidFill>
                      <a:srgbClr val="F7F9FC"/>
                    </a:solidFill>
                  </a:tcPr>
                </a:tc>
                <a:tc>
                  <a:txBody>
                    <a:bodyPr wrap="square"/>
                    <a:lstStyle/>
                    <a:p>
                      <a:r>
                        <a:rPr sz="950" b="0" i="0">
                          <a:solidFill>
                            <a:srgbClr val="202020"/>
                          </a:solidFill>
                          <a:latin typeface="Calibri"/>
                        </a:rPr>
                        <a:t>internal-only or client-approved</a:t>
                      </a:r>
                    </a:p>
                  </a:txBody>
                  <a:tcPr marT="12700" marB="12700">
                    <a:solidFill>
                      <a:srgbClr val="F7F9FC"/>
                    </a:solidFill>
                  </a:tcPr>
                </a:tc>
              </a:tr>
              <a:tr h="384048">
                <a:tc>
                  <a:txBody>
                    <a:bodyPr wrap="square"/>
                    <a:lstStyle/>
                    <a:p>
                      <a:r>
                        <a:rPr sz="950" b="0" i="0">
                          <a:solidFill>
                            <a:srgbClr val="202020"/>
                          </a:solidFill>
                          <a:latin typeface="Calibri"/>
                        </a:rPr>
                        <a:t>url / ownerEmail</a:t>
                      </a:r>
                    </a:p>
                  </a:txBody>
                  <a:tcPr marT="12700" marB="12700">
                    <a:solidFill>
                      <a:srgbClr val="FFFFFF"/>
                    </a:solidFill>
                  </a:tcPr>
                </a:tc>
                <a:tc>
                  <a:txBody>
                    <a:bodyPr wrap="square"/>
                    <a:lstStyle/>
                    <a:p>
                      <a:r>
                        <a:rPr sz="950" b="0" i="0">
                          <a:solidFill>
                            <a:srgbClr val="202020"/>
                          </a:solidFill>
                          <a:latin typeface="Calibri"/>
                        </a:rPr>
                        <a:t>Item link &amp; owner</a:t>
                      </a:r>
                    </a:p>
                  </a:txBody>
                  <a:tcPr marT="12700" marB="12700">
                    <a:solidFill>
                      <a:srgbClr val="FFFFFF"/>
                    </a:solidFill>
                  </a:tcPr>
                </a:tc>
                <a:tc>
                  <a:txBody>
                    <a:bodyPr wrap="square"/>
                    <a:lstStyle/>
                    <a:p>
                      <a:r>
                        <a:rPr sz="950" b="0" i="0">
                          <a:solidFill>
                            <a:srgbClr val="202020"/>
                          </a:solidFill>
                          <a:latin typeface="Calibri"/>
                        </a:rPr>
                        <a:t>Retrievable</a:t>
                      </a:r>
                    </a:p>
                  </a:txBody>
                  <a:tcPr marT="12700" marB="12700">
                    <a:solidFill>
                      <a:srgbClr val="FFFFFF"/>
                    </a:solidFill>
                  </a:tcPr>
                </a:tc>
                <a:tc>
                  <a:txBody>
                    <a:bodyPr wrap="square"/>
                    <a:lstStyle/>
                    <a:p>
                      <a:r>
                        <a:rPr sz="950" b="0" i="0">
                          <a:solidFill>
                            <a:srgbClr val="202020"/>
                          </a:solidFill>
                          <a:latin typeface="Calibri"/>
                        </a:rPr>
                        <a:t>Deep link and owner contact</a:t>
                      </a:r>
                    </a:p>
                  </a:txBody>
                  <a:tcPr marT="12700" marB="12700">
                    <a:solidFill>
                      <a:srgbClr val="FFFFFF"/>
                    </a:solidFill>
                  </a:tcPr>
                </a:tc>
              </a:tr>
              <a:tr h="384048">
                <a:tc>
                  <a:txBody>
                    <a:bodyPr wrap="square"/>
                    <a:lstStyle/>
                    <a:p>
                      <a:r>
                        <a:rPr sz="950" b="0" i="0">
                          <a:solidFill>
                            <a:srgbClr val="202020"/>
                          </a:solidFill>
                          <a:latin typeface="Calibri"/>
                        </a:rPr>
                        <a:t>lastModifiedDateTime</a:t>
                      </a:r>
                    </a:p>
                  </a:txBody>
                  <a:tcPr marT="12700" marB="12700">
                    <a:solidFill>
                      <a:srgbClr val="F7F9FC"/>
                    </a:solidFill>
                  </a:tcPr>
                </a:tc>
                <a:tc>
                  <a:txBody>
                    <a:bodyPr wrap="square"/>
                    <a:lstStyle/>
                    <a:p>
                      <a:r>
                        <a:rPr sz="950" b="0" i="0">
                          <a:solidFill>
                            <a:srgbClr val="202020"/>
                          </a:solidFill>
                          <a:latin typeface="Calibri"/>
                        </a:rPr>
                        <a:t>Modified date</a:t>
                      </a:r>
                    </a:p>
                  </a:txBody>
                  <a:tcPr marT="12700" marB="12700">
                    <a:solidFill>
                      <a:srgbClr val="F7F9FC"/>
                    </a:solidFill>
                  </a:tcPr>
                </a:tc>
                <a:tc>
                  <a:txBody>
                    <a:bodyPr wrap="square"/>
                    <a:lstStyle/>
                    <a:p>
                      <a:r>
                        <a:rPr sz="950" b="0" i="0">
                          <a:solidFill>
                            <a:srgbClr val="202020"/>
                          </a:solidFill>
                          <a:latin typeface="Calibri"/>
                        </a:rPr>
                        <a:t>Refinable</a:t>
                      </a:r>
                    </a:p>
                  </a:txBody>
                  <a:tcPr marT="12700" marB="12700">
                    <a:solidFill>
                      <a:srgbClr val="F7F9FC"/>
                    </a:solidFill>
                  </a:tcPr>
                </a:tc>
                <a:tc>
                  <a:txBody>
                    <a:bodyPr wrap="square"/>
                    <a:lstStyle/>
                    <a:p>
                      <a:r>
                        <a:rPr sz="950" b="0" i="0">
                          <a:solidFill>
                            <a:srgbClr val="202020"/>
                          </a:solidFill>
                          <a:latin typeface="Calibri"/>
                        </a:rPr>
                        <a:t>Also publishedDateTime, expiresDateTime</a:t>
                      </a:r>
                    </a:p>
                  </a:txBody>
                  <a:tcPr marT="12700" marB="12700">
                    <a:solidFill>
                      <a:srgbClr val="F7F9FC"/>
                    </a:solidFill>
                  </a:tcPr>
                </a:tc>
              </a:tr>
              <a:tr h="384048">
                <a:tc>
                  <a:txBody>
                    <a:bodyPr wrap="square"/>
                    <a:lstStyle/>
                    <a:p>
                      <a:r>
                        <a:rPr sz="950" b="0" i="0">
                          <a:solidFill>
                            <a:srgbClr val="202020"/>
                          </a:solidFill>
                          <a:latin typeface="Calibri"/>
                        </a:rPr>
                        <a:t>viewCount … popularityScore</a:t>
                      </a:r>
                    </a:p>
                  </a:txBody>
                  <a:tcPr marT="12700" marB="12700">
                    <a:solidFill>
                      <a:srgbClr val="FFFFFF"/>
                    </a:solidFill>
                  </a:tcPr>
                </a:tc>
                <a:tc>
                  <a:txBody>
                    <a:bodyPr wrap="square"/>
                    <a:lstStyle/>
                    <a:p>
                      <a:r>
                        <a:rPr sz="950" b="0" i="0">
                          <a:solidFill>
                            <a:srgbClr val="202020"/>
                          </a:solidFill>
                          <a:latin typeface="Calibri"/>
                        </a:rPr>
                        <a:t>Usage analytics</a:t>
                      </a:r>
                    </a:p>
                  </a:txBody>
                  <a:tcPr marT="12700" marB="12700">
                    <a:solidFill>
                      <a:srgbClr val="FFFFFF"/>
                    </a:solidFill>
                  </a:tcPr>
                </a:tc>
                <a:tc>
                  <a:txBody>
                    <a:bodyPr wrap="square"/>
                    <a:lstStyle/>
                    <a:p>
                      <a:r>
                        <a:rPr sz="950" b="0" i="0">
                          <a:solidFill>
                            <a:srgbClr val="202020"/>
                          </a:solidFill>
                          <a:latin typeface="Calibri"/>
                        </a:rPr>
                        <a:t>Refinable</a:t>
                      </a:r>
                    </a:p>
                  </a:txBody>
                  <a:tcPr marT="12700" marB="12700">
                    <a:solidFill>
                      <a:srgbClr val="FFFFFF"/>
                    </a:solidFill>
                  </a:tcPr>
                </a:tc>
                <a:tc>
                  <a:txBody>
                    <a:bodyPr wrap="square"/>
                    <a:lstStyle/>
                    <a:p>
                      <a:r>
                        <a:rPr sz="950" b="0" i="0">
                          <a:solidFill>
                            <a:srgbClr val="202020"/>
                          </a:solidFill>
                          <a:latin typeface="Calibri"/>
                        </a:rPr>
                        <a:t>Only when SEISMIC_ENRICH_USAGE=true</a:t>
                      </a:r>
                    </a:p>
                  </a:txBody>
                  <a:tcPr marT="12700" marB="12700">
                    <a:solidFill>
                      <a:srgbClr val="FFFFFF"/>
                    </a:solidFill>
                  </a:tcPr>
                </a:tc>
              </a:tr>
              <a:tr h="384048">
                <a:tc>
                  <a:txBody>
                    <a:bodyPr wrap="square"/>
                    <a:lstStyle/>
                    <a:p>
                      <a:r>
                        <a:rPr sz="950" b="0" i="0">
                          <a:solidFill>
                            <a:srgbClr val="202020"/>
                          </a:solidFill>
                          <a:latin typeface="Calibri"/>
                        </a:rPr>
                        <a:t>isLiveDoc / liveDocFieldNames / liveDocFieldCount</a:t>
                      </a:r>
                    </a:p>
                  </a:txBody>
                  <a:tcPr marT="12700" marB="12700">
                    <a:solidFill>
                      <a:srgbClr val="F7F9FC"/>
                    </a:solidFill>
                  </a:tcPr>
                </a:tc>
                <a:tc>
                  <a:txBody>
                    <a:bodyPr wrap="square"/>
                    <a:lstStyle/>
                    <a:p>
                      <a:r>
                        <a:rPr sz="950" b="0" i="0">
                          <a:solidFill>
                            <a:srgbClr val="202020"/>
                          </a:solidFill>
                          <a:latin typeface="Calibri"/>
                        </a:rPr>
                        <a:t>LiveDoc fields</a:t>
                      </a:r>
                    </a:p>
                  </a:txBody>
                  <a:tcPr marT="12700" marB="12700">
                    <a:solidFill>
                      <a:srgbClr val="F7F9FC"/>
                    </a:solidFill>
                  </a:tcPr>
                </a:tc>
                <a:tc>
                  <a:txBody>
                    <a:bodyPr wrap="square"/>
                    <a:lstStyle/>
                    <a:p>
                      <a:r>
                        <a:rPr sz="950" b="0" i="0">
                          <a:solidFill>
                            <a:srgbClr val="202020"/>
                          </a:solidFill>
                          <a:latin typeface="Calibri"/>
                        </a:rPr>
                        <a:t>Searchable / refinable</a:t>
                      </a:r>
                    </a:p>
                  </a:txBody>
                  <a:tcPr marT="12700" marB="12700">
                    <a:solidFill>
                      <a:srgbClr val="F7F9FC"/>
                    </a:solidFill>
                  </a:tcPr>
                </a:tc>
                <a:tc>
                  <a:txBody>
                    <a:bodyPr wrap="square"/>
                    <a:lstStyle/>
                    <a:p>
                      <a:r>
                        <a:rPr sz="950" b="0" i="0">
                          <a:solidFill>
                            <a:srgbClr val="202020"/>
                          </a:solidFill>
                          <a:latin typeface="Calibri"/>
                        </a:rPr>
                        <a:t>Only when LIVEDOC_FIELD_INDEXING=true</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462</a:t>
            </a:r>
          </a:p>
        </p:txBody>
      </p:sp>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Property mapping (cont.)</a:t>
            </a:r>
          </a:p>
        </p:txBody>
      </p:sp>
      <p:graphicFrame>
        <p:nvGraphicFramePr>
          <p:cNvPr id="5" name="Table 4"/>
          <p:cNvGraphicFramePr>
            <a:graphicFrameLocks noGrp="1"/>
          </p:cNvGraphicFramePr>
          <p:nvPr/>
        </p:nvGraphicFramePr>
        <p:xfrm>
          <a:off x="502920" y="1188720"/>
          <a:ext cx="11185855" cy="768096"/>
        </p:xfrm>
        <a:graphic>
          <a:graphicData uri="http://schemas.openxmlformats.org/drawingml/2006/table">
            <a:tbl>
              <a:tblPr firstRow="1" bandRow="1">
                <a:tableStyleId>{5C22544A-7EE6-4342-B048-85BDC9FD1C3A}</a:tableStyleId>
              </a:tblPr>
              <a:tblGrid>
                <a:gridCol w="2796463"/>
                <a:gridCol w="2796463"/>
                <a:gridCol w="2796463"/>
                <a:gridCol w="2796466"/>
              </a:tblGrid>
              <a:tr h="384048">
                <a:tc>
                  <a:txBody>
                    <a:bodyPr wrap="square"/>
                    <a:lstStyle/>
                    <a:p>
                      <a:r>
                        <a:rPr sz="1050" b="1" i="0">
                          <a:solidFill>
                            <a:srgbClr val="FFFFFF"/>
                          </a:solidFill>
                          <a:latin typeface="Calibri"/>
                        </a:rPr>
                        <a:t>Graph property</a:t>
                      </a:r>
                    </a:p>
                  </a:txBody>
                  <a:tcPr marT="25400" marB="25400">
                    <a:solidFill>
                      <a:srgbClr val="2E5496"/>
                    </a:solidFill>
                  </a:tcPr>
                </a:tc>
                <a:tc>
                  <a:txBody>
                    <a:bodyPr wrap="square"/>
                    <a:lstStyle/>
                    <a:p>
                      <a:r>
                        <a:rPr sz="1050" b="1" i="0">
                          <a:solidFill>
                            <a:srgbClr val="FFFFFF"/>
                          </a:solidFill>
                          <a:latin typeface="Calibri"/>
                        </a:rPr>
                        <a:t>From Seismic</a:t>
                      </a:r>
                    </a:p>
                  </a:txBody>
                  <a:tcPr marT="25400" marB="25400">
                    <a:solidFill>
                      <a:srgbClr val="2E5496"/>
                    </a:solidFill>
                  </a:tcPr>
                </a:tc>
                <a:tc>
                  <a:txBody>
                    <a:bodyPr wrap="square"/>
                    <a:lstStyle/>
                    <a:p>
                      <a:r>
                        <a:rPr sz="1050" b="1" i="0">
                          <a:solidFill>
                            <a:srgbClr val="FFFFFF"/>
                          </a:solidFill>
                          <a:latin typeface="Calibri"/>
                        </a:rPr>
                        <a:t>Search role</a:t>
                      </a:r>
                    </a:p>
                  </a:txBody>
                  <a:tcPr marT="25400" marB="25400">
                    <a:solidFill>
                      <a:srgbClr val="2E5496"/>
                    </a:solidFill>
                  </a:tcPr>
                </a:tc>
                <a:tc>
                  <a:txBody>
                    <a:bodyPr wrap="square"/>
                    <a:lstStyle/>
                    <a:p>
                      <a:r>
                        <a:rPr sz="1050" b="1" i="0">
                          <a:solidFill>
                            <a:srgbClr val="FFFFFF"/>
                          </a:solidFill>
                          <a:latin typeface="Calibri"/>
                        </a:rPr>
                        <a:t>Notes</a:t>
                      </a:r>
                    </a:p>
                  </a:txBody>
                  <a:tcPr marT="25400" marB="25400">
                    <a:solidFill>
                      <a:srgbClr val="2E5496"/>
                    </a:solidFill>
                  </a:tcPr>
                </a:tc>
              </a:tr>
              <a:tr h="384048">
                <a:tc>
                  <a:txBody>
                    <a:bodyPr wrap="square"/>
                    <a:lstStyle/>
                    <a:p>
                      <a:r>
                        <a:rPr sz="950" b="0" i="0">
                          <a:solidFill>
                            <a:srgbClr val="202020"/>
                          </a:solidFill>
                          <a:latin typeface="Calibri"/>
                        </a:rPr>
                        <a:t>sensitivityLabel / detectedCategories</a:t>
                      </a:r>
                    </a:p>
                  </a:txBody>
                  <a:tcPr marT="12700" marB="12700">
                    <a:solidFill>
                      <a:srgbClr val="FFFFFF"/>
                    </a:solidFill>
                  </a:tcPr>
                </a:tc>
                <a:tc>
                  <a:txBody>
                    <a:bodyPr wrap="square"/>
                    <a:lstStyle/>
                    <a:p>
                      <a:r>
                        <a:rPr sz="950" b="0" i="0">
                          <a:solidFill>
                            <a:srgbClr val="202020"/>
                          </a:solidFill>
                          <a:latin typeface="Calibri"/>
                        </a:rPr>
                        <a:t>Content classifier</a:t>
                      </a:r>
                    </a:p>
                  </a:txBody>
                  <a:tcPr marT="12700" marB="12700">
                    <a:solidFill>
                      <a:srgbClr val="FFFFFF"/>
                    </a:solidFill>
                  </a:tcPr>
                </a:tc>
                <a:tc>
                  <a:txBody>
                    <a:bodyPr wrap="square"/>
                    <a:lstStyle/>
                    <a:p>
                      <a:r>
                        <a:rPr sz="950" b="0" i="0">
                          <a:solidFill>
                            <a:srgbClr val="202020"/>
                          </a:solidFill>
                          <a:latin typeface="Calibri"/>
                        </a:rPr>
                        <a:t>Refinable</a:t>
                      </a:r>
                    </a:p>
                  </a:txBody>
                  <a:tcPr marT="12700" marB="12700">
                    <a:solidFill>
                      <a:srgbClr val="FFFFFF"/>
                    </a:solidFill>
                  </a:tcPr>
                </a:tc>
                <a:tc>
                  <a:txBody>
                    <a:bodyPr wrap="square"/>
                    <a:lstStyle/>
                    <a:p>
                      <a:r>
                        <a:rPr sz="950" b="0" i="0">
                          <a:solidFill>
                            <a:srgbClr val="202020"/>
                          </a:solidFill>
                          <a:latin typeface="Calibri"/>
                        </a:rPr>
                        <a:t>Optional; an advisory tag, NOT a Purview label (see §15 governance)</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463</a:t>
            </a:r>
          </a:p>
        </p:txBody>
      </p:sp>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Property mapping</a:t>
            </a:r>
          </a:p>
        </p:txBody>
      </p:sp>
      <p:sp>
        <p:nvSpPr>
          <p:cNvPr id="5" name="Rectangle 4"/>
          <p:cNvSpPr/>
          <p:nvPr/>
        </p:nvSpPr>
        <p:spPr>
          <a:xfrm>
            <a:off x="502920" y="1463040"/>
            <a:ext cx="11185855" cy="329184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5496"/>
                </a:solidFill>
                <a:latin typeface="Calibri"/>
              </a:rPr>
              <a:t>Note:  </a:t>
            </a:r>
            <a:r>
              <a:rPr sz="1400" b="1" i="0">
                <a:solidFill>
                  <a:srgbClr val="202020"/>
                </a:solidFill>
                <a:latin typeface="Calibri"/>
              </a:rPr>
              <a:t>Note: </a:t>
            </a:r>
            <a:r>
              <a:rPr sz="1400" b="0" i="0">
                <a:solidFill>
                  <a:srgbClr val="202020"/>
                </a:solidFill>
                <a:latin typeface="Calibri"/>
              </a:rPr>
              <a:t>The </a:t>
            </a:r>
            <a:r>
              <a:rPr sz="1350" b="0" i="0">
                <a:solidFill>
                  <a:srgbClr val="202020"/>
                </a:solidFill>
                <a:latin typeface="Consolas"/>
              </a:rPr>
              <a:t>sensitivityLabel</a:t>
            </a:r>
            <a:r>
              <a:rPr sz="1400" b="0" i="0">
                <a:solidFill>
                  <a:srgbClr val="202020"/>
                </a:solidFill>
                <a:latin typeface="Calibri"/>
              </a:rPr>
              <a:t> property is an </a:t>
            </a:r>
            <a:r>
              <a:rPr sz="1400" b="1" i="0">
                <a:solidFill>
                  <a:srgbClr val="202020"/>
                </a:solidFill>
                <a:latin typeface="Calibri"/>
              </a:rPr>
              <a:t>advisory, connector-applied classification tag</a:t>
            </a:r>
            <a:r>
              <a:rPr sz="1400" b="0" i="0">
                <a:solidFill>
                  <a:srgbClr val="202020"/>
                </a:solidFill>
                <a:latin typeface="Calibri"/>
              </a:rPr>
              <a:t> (Public &lt; Internal &lt; Confidential &lt; Restricted) produced by an optional local content classifier when </a:t>
            </a:r>
            <a:r>
              <a:rPr sz="1350" b="0" i="0">
                <a:solidFill>
                  <a:srgbClr val="202020"/>
                </a:solidFill>
                <a:latin typeface="Consolas"/>
              </a:rPr>
              <a:t>CLASSIFICATION=true</a:t>
            </a:r>
            <a:r>
              <a:rPr sz="1400" b="0" i="0">
                <a:solidFill>
                  <a:srgbClr val="202020"/>
                </a:solidFill>
                <a:latin typeface="Calibri"/>
              </a:rPr>
              <a:t>. It is </a:t>
            </a:r>
            <a:r>
              <a:rPr sz="1400" b="1" i="0">
                <a:solidFill>
                  <a:srgbClr val="202020"/>
                </a:solidFill>
                <a:latin typeface="Calibri"/>
              </a:rPr>
              <a:t>Purview-aligned in naming only</a:t>
            </a:r>
            <a:r>
              <a:rPr sz="1400" b="0" i="0">
                <a:solidFill>
                  <a:srgbClr val="202020"/>
                </a:solidFill>
                <a:latin typeface="Calibri"/>
              </a:rPr>
              <a:t> — it is not a Microsoft Purview sensitivity label and carries no Purview enforcement (no encryption, no DLP, no downstream honouring). It is for search, ranking and triage. Turning the tag into an actual access restriction is a separate, opt-in step (</a:t>
            </a:r>
            <a:r>
              <a:rPr sz="1350" b="0" i="0">
                <a:solidFill>
                  <a:srgbClr val="202020"/>
                </a:solidFill>
                <a:latin typeface="Consolas"/>
              </a:rPr>
              <a:t>CLASSIFICATION_ENFORCE_ACL</a:t>
            </a:r>
            <a:r>
              <a:rPr sz="1400" b="0" i="0">
                <a:solidFill>
                  <a:srgbClr val="202020"/>
                </a:solidFill>
                <a:latin typeface="Calibri"/>
              </a:rPr>
              <a:t>, sections 8 and 15).</a:t>
            </a:r>
          </a:p>
        </p:txBody>
      </p:sp>
      <p:sp>
        <p:nvSpPr>
          <p:cNvPr id="6" name="Rectangle 5"/>
          <p:cNvSpPr/>
          <p:nvPr/>
        </p:nvSpPr>
        <p:spPr>
          <a:xfrm>
            <a:off x="502920" y="1463040"/>
            <a:ext cx="128016" cy="329184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464</a:t>
            </a:r>
          </a:p>
        </p:txBody>
      </p:sp>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Content and text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connector downloads the current published payload and extracts its text so the body is searchable. Built-in extractors handle plain text and HTML; Word (DOCX), PowerPoint (PPTX, including slide notes) and Excel (XLSX); and a best-effort PDF text-layer reader. Scanned PDFs, exotic encodings, and payloads larger than </a:t>
            </a:r>
            <a:r>
              <a:rPr sz="1200" b="0" i="0">
                <a:solidFill>
                  <a:srgbClr val="202020"/>
                </a:solidFill>
                <a:latin typeface="Consolas"/>
              </a:rPr>
              <a:t>SEISMIC_MAX_EXTRACT_MB</a:t>
            </a:r>
            <a:r>
              <a:rPr sz="1250" b="0" i="0">
                <a:solidFill>
                  <a:srgbClr val="202020"/>
                </a:solidFill>
                <a:latin typeface="Calibri"/>
              </a:rPr>
              <a:t> (10 MB by default) fall back to </a:t>
            </a:r>
            <a:r>
              <a:rPr sz="1250" b="1" i="0">
                <a:solidFill>
                  <a:srgbClr val="202020"/>
                </a:solidFill>
                <a:latin typeface="Calibri"/>
              </a:rPr>
              <a:t>metadata-only</a:t>
            </a:r>
            <a:r>
              <a:rPr sz="1250" b="0" i="0">
                <a:solidFill>
                  <a:srgbClr val="202020"/>
                </a:solidFill>
                <a:latin typeface="Calibri"/>
              </a:rPr>
              <a:t> indexing — the item still appears, findable by its name and description, just without full-text. Extracted text is capped at 400,000 characters.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465</a:t>
            </a:r>
          </a:p>
        </p:txBody>
      </p:sp>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Content and text</a:t>
            </a:r>
          </a:p>
        </p:txBody>
      </p:sp>
      <p:sp>
        <p:nvSpPr>
          <p:cNvPr id="5" name="Rectangle 4"/>
          <p:cNvSpPr/>
          <p:nvPr/>
        </p:nvSpPr>
        <p:spPr>
          <a:xfrm>
            <a:off x="502920" y="1463040"/>
            <a:ext cx="11185855" cy="3291840"/>
          </a:xfrm>
          <a:prstGeom prst="rect">
            <a:avLst/>
          </a:prstGeom>
          <a:solidFill>
            <a:srgbClr val="E7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7D32"/>
                </a:solidFill>
                <a:latin typeface="Calibri"/>
              </a:rPr>
              <a:t>Tip:  </a:t>
            </a:r>
            <a:r>
              <a:rPr sz="1400" b="1" i="0">
                <a:solidFill>
                  <a:srgbClr val="202020"/>
                </a:solidFill>
                <a:latin typeface="Calibri"/>
              </a:rPr>
              <a:t>Tip: </a:t>
            </a:r>
            <a:r>
              <a:rPr sz="1400" b="0" i="0">
                <a:solidFill>
                  <a:srgbClr val="202020"/>
                </a:solidFill>
                <a:latin typeface="Calibri"/>
              </a:rPr>
              <a:t>If certain formats routinely return little text, watch the </a:t>
            </a:r>
            <a:r>
              <a:rPr sz="1350" b="0" i="0">
                <a:solidFill>
                  <a:srgbClr val="202020"/>
                </a:solidFill>
                <a:latin typeface="Consolas"/>
              </a:rPr>
              <a:t>extraction_success_total{format=...}</a:t>
            </a:r>
            <a:r>
              <a:rPr sz="1400" b="0" i="0">
                <a:solidFill>
                  <a:srgbClr val="202020"/>
                </a:solidFill>
                <a:latin typeface="Calibri"/>
              </a:rPr>
              <a:t> metric (section 13): a low success ratio for a format means those items are degrading to metadata-only indexing, which is expected for scanned or image-only documents.</a:t>
            </a:r>
          </a:p>
        </p:txBody>
      </p:sp>
      <p:sp>
        <p:nvSpPr>
          <p:cNvPr id="6" name="Rectangle 5"/>
          <p:cNvSpPr/>
          <p:nvPr/>
        </p:nvSpPr>
        <p:spPr>
          <a:xfrm>
            <a:off x="502920" y="1463040"/>
            <a:ext cx="128016" cy="32918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466</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The permission model and ACL mapping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This is the part that keeps Seismic content safely trimmed inside Copilot. Every external item carries an ACL built from Seismic's permissions, translated into Entra ID principals:</a:t>
            </a:r>
          </a:p>
          <a:p>
            <a:pPr>
              <a:spcBef>
                <a:spcPts val="100"/>
              </a:spcBef>
              <a:spcAft>
                <a:spcPts val="200"/>
              </a:spcAft>
            </a:pPr>
            <a:r>
              <a:rPr sz="1250" b="1" i="0">
                <a:solidFill>
                  <a:srgbClr val="2E5496"/>
                </a:solidFill>
                <a:latin typeface="Calibri"/>
              </a:rPr>
              <a:t>•  </a:t>
            </a:r>
            <a:r>
              <a:rPr sz="1250" b="1" i="0">
                <a:solidFill>
                  <a:srgbClr val="202020"/>
                </a:solidFill>
                <a:latin typeface="Calibri"/>
              </a:rPr>
              <a:t>Item permissions win.</a:t>
            </a:r>
            <a:r>
              <a:rPr sz="1250" b="0" i="0">
                <a:solidFill>
                  <a:srgbClr val="202020"/>
                </a:solidFill>
                <a:latin typeface="Calibri"/>
              </a:rPr>
              <a:t> If a content item has its own permissions, those are used. If it has none, it </a:t>
            </a:r>
            <a:r>
              <a:rPr sz="1250" b="1" i="0">
                <a:solidFill>
                  <a:srgbClr val="202020"/>
                </a:solidFill>
                <a:latin typeface="Calibri"/>
              </a:rPr>
              <a:t>inherits the teamsite's</a:t>
            </a:r>
            <a:r>
              <a:rPr sz="1250" b="0" i="0">
                <a:solidFill>
                  <a:srgbClr val="202020"/>
                </a:solidFill>
                <a:latin typeface="Calibri"/>
              </a:rPr>
              <a:t> permissions — everyone with access to the library sees its content.</a:t>
            </a:r>
          </a:p>
          <a:p>
            <a:pPr>
              <a:spcBef>
                <a:spcPts val="100"/>
              </a:spcBef>
              <a:spcAft>
                <a:spcPts val="200"/>
              </a:spcAft>
            </a:pPr>
            <a:r>
              <a:rPr sz="1250" b="1" i="0">
                <a:solidFill>
                  <a:srgbClr val="2E5496"/>
                </a:solidFill>
                <a:latin typeface="Calibri"/>
              </a:rPr>
              <a:t>•  </a:t>
            </a:r>
            <a:r>
              <a:rPr sz="1250" b="1" i="0">
                <a:solidFill>
                  <a:srgbClr val="202020"/>
                </a:solidFill>
                <a:latin typeface="Calibri"/>
              </a:rPr>
              <a:t>Users</a:t>
            </a:r>
            <a:r>
              <a:rPr sz="1250" b="0" i="0">
                <a:solidFill>
                  <a:srgbClr val="202020"/>
                </a:solidFill>
                <a:latin typeface="Calibri"/>
              </a:rPr>
              <a:t> are matched to Entra by email / UPN; </a:t>
            </a:r>
            <a:r>
              <a:rPr sz="1250" b="1" i="0">
                <a:solidFill>
                  <a:srgbClr val="202020"/>
                </a:solidFill>
                <a:latin typeface="Calibri"/>
              </a:rPr>
              <a:t>groups</a:t>
            </a:r>
            <a:r>
              <a:rPr sz="1250" b="0" i="0">
                <a:solidFill>
                  <a:srgbClr val="202020"/>
                </a:solidFill>
                <a:latin typeface="Calibri"/>
              </a:rPr>
              <a:t> by display name. This mapping is built by the identity crawl and stored in the connector's identity store.</a:t>
            </a:r>
          </a:p>
          <a:p>
            <a:pPr>
              <a:spcBef>
                <a:spcPts val="100"/>
              </a:spcBef>
              <a:spcAft>
                <a:spcPts val="200"/>
              </a:spcAft>
            </a:pPr>
            <a:r>
              <a:rPr sz="1250" b="1" i="0">
                <a:solidFill>
                  <a:srgbClr val="2E5496"/>
                </a:solidFill>
                <a:latin typeface="Calibri"/>
              </a:rPr>
              <a:t>•  </a:t>
            </a:r>
            <a:r>
              <a:rPr sz="1250" b="1" i="0">
                <a:solidFill>
                  <a:srgbClr val="202020"/>
                </a:solidFill>
                <a:latin typeface="Calibri"/>
              </a:rPr>
              <a:t>Distribution is not an ACL.</a:t>
            </a:r>
            <a:r>
              <a:rPr sz="1250" b="0" i="0">
                <a:solidFill>
                  <a:srgbClr val="202020"/>
                </a:solidFill>
                <a:latin typeface="Calibri"/>
              </a:rPr>
              <a:t> The </a:t>
            </a:r>
            <a:r>
              <a:rPr sz="1200" b="0" i="0">
                <a:solidFill>
                  <a:srgbClr val="202020"/>
                </a:solidFill>
                <a:latin typeface="Consolas"/>
              </a:rPr>
              <a:t>internal-only</a:t>
            </a:r>
            <a:r>
              <a:rPr sz="1250" b="0" i="0">
                <a:solidFill>
                  <a:srgbClr val="202020"/>
                </a:solidFill>
                <a:latin typeface="Calibri"/>
              </a:rPr>
              <a:t> vs </a:t>
            </a:r>
            <a:r>
              <a:rPr sz="1200" b="0" i="0">
                <a:solidFill>
                  <a:srgbClr val="202020"/>
                </a:solidFill>
                <a:latin typeface="Consolas"/>
              </a:rPr>
              <a:t>client-approved</a:t>
            </a:r>
            <a:r>
              <a:rPr sz="1250" b="0" i="0">
                <a:solidFill>
                  <a:srgbClr val="202020"/>
                </a:solidFill>
                <a:latin typeface="Calibri"/>
              </a:rPr>
              <a:t> flag is indexed as the refinable </a:t>
            </a:r>
            <a:r>
              <a:rPr sz="1200" b="0" i="0">
                <a:solidFill>
                  <a:srgbClr val="202020"/>
                </a:solidFill>
                <a:latin typeface="Consolas"/>
              </a:rPr>
              <a:t>distribution</a:t>
            </a:r>
            <a:r>
              <a:rPr sz="1250" b="0" i="0">
                <a:solidFill>
                  <a:srgbClr val="202020"/>
                </a:solidFill>
                <a:latin typeface="Calibri"/>
              </a:rPr>
              <a:t> property, not as an access control — it describes the content, it does not grant access.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467</a:t>
            </a:r>
          </a:p>
        </p:txBody>
      </p:sp>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The permission model and ACL mapping</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1" i="0">
                <a:solidFill>
                  <a:srgbClr val="202020"/>
                </a:solidFill>
                <a:latin typeface="Calibri"/>
              </a:rPr>
              <a:t>Access trimming</a:t>
            </a:r>
            <a:r>
              <a:rPr sz="1250" b="0" i="0">
                <a:solidFill>
                  <a:srgbClr val="202020"/>
                </a:solidFill>
                <a:latin typeface="Calibri"/>
              </a:rPr>
              <a:t> is the payoff: because each item carries the resolved principal set, Copilot only ever surfaces an item to a user who is already entitled to it in Seismic. A user who cannot see a deck in Seismic will not see it via Copilot.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468</a:t>
            </a:r>
          </a:p>
        </p:txBody>
      </p:sp>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Never widen access on an unresolved identity</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When a Seismic principal cannot currently be mapped to Entra — for example the identity store is stale or a group has not synced yet — the connector distinguishes two cases:</a:t>
            </a:r>
          </a:p>
          <a:p>
            <a:pPr>
              <a:spcBef>
                <a:spcPts val="100"/>
              </a:spcBef>
              <a:spcAft>
                <a:spcPts val="200"/>
              </a:spcAft>
            </a:pPr>
            <a:r>
              <a:rPr sz="1250" b="1" i="0">
                <a:solidFill>
                  <a:srgbClr val="2E5496"/>
                </a:solidFill>
                <a:latin typeface="Calibri"/>
              </a:rPr>
              <a:t>•  </a:t>
            </a:r>
            <a:r>
              <a:rPr sz="1250" b="0" i="0">
                <a:solidFill>
                  <a:srgbClr val="202020"/>
                </a:solidFill>
                <a:latin typeface="Calibri"/>
              </a:rPr>
              <a:t>The source genuinely has </a:t>
            </a:r>
            <a:r>
              <a:rPr sz="1250" b="1" i="0">
                <a:solidFill>
                  <a:srgbClr val="202020"/>
                </a:solidFill>
                <a:latin typeface="Calibri"/>
              </a:rPr>
              <a:t>no principals</a:t>
            </a:r>
            <a:r>
              <a:rPr sz="1250" b="0" i="0">
                <a:solidFill>
                  <a:srgbClr val="202020"/>
                </a:solidFill>
                <a:latin typeface="Calibri"/>
              </a:rPr>
              <a:t>: the fallback policy </a:t>
            </a:r>
            <a:r>
              <a:rPr sz="1200" b="0" i="0">
                <a:solidFill>
                  <a:srgbClr val="202020"/>
                </a:solidFill>
                <a:latin typeface="Consolas"/>
              </a:rPr>
              <a:t>SEISMIC_FALLBACK_ACL</a:t>
            </a:r>
            <a:r>
              <a:rPr sz="1250" b="0" i="0">
                <a:solidFill>
                  <a:srgbClr val="202020"/>
                </a:solidFill>
                <a:latin typeface="Calibri"/>
              </a:rPr>
              <a:t> applies — </a:t>
            </a:r>
            <a:r>
              <a:rPr sz="1200" b="0" i="0">
                <a:solidFill>
                  <a:srgbClr val="202020"/>
                </a:solidFill>
                <a:latin typeface="Consolas"/>
              </a:rPr>
              <a:t>skip</a:t>
            </a:r>
            <a:r>
              <a:rPr sz="1250" b="0" i="0">
                <a:solidFill>
                  <a:srgbClr val="202020"/>
                </a:solidFill>
                <a:latin typeface="Calibri"/>
              </a:rPr>
              <a:t> (the default, compliance-safe: the item is not indexed) or </a:t>
            </a:r>
            <a:r>
              <a:rPr sz="1200" b="0" i="0">
                <a:solidFill>
                  <a:srgbClr val="202020"/>
                </a:solidFill>
                <a:latin typeface="Consolas"/>
              </a:rPr>
              <a:t>tenant</a:t>
            </a:r>
            <a:r>
              <a:rPr sz="1250" b="0" i="0">
                <a:solidFill>
                  <a:srgbClr val="202020"/>
                </a:solidFill>
                <a:latin typeface="Calibri"/>
              </a:rPr>
              <a:t> (grant everyone in the tenant, an explicit decision).</a:t>
            </a:r>
          </a:p>
          <a:p>
            <a:pPr>
              <a:spcBef>
                <a:spcPts val="100"/>
              </a:spcBef>
              <a:spcAft>
                <a:spcPts val="200"/>
              </a:spcAft>
            </a:pPr>
            <a:r>
              <a:rPr sz="1250" b="1" i="0">
                <a:solidFill>
                  <a:srgbClr val="2E5496"/>
                </a:solidFill>
                <a:latin typeface="Calibri"/>
              </a:rPr>
              <a:t>•  </a:t>
            </a:r>
            <a:r>
              <a:rPr sz="1250" b="0" i="0">
                <a:solidFill>
                  <a:srgbClr val="202020"/>
                </a:solidFill>
                <a:latin typeface="Calibri"/>
              </a:rPr>
              <a:t>The source </a:t>
            </a:r>
            <a:r>
              <a:rPr sz="1250" b="1" i="0">
                <a:solidFill>
                  <a:srgbClr val="202020"/>
                </a:solidFill>
                <a:latin typeface="Calibri"/>
              </a:rPr>
              <a:t>has principals but none map right now</a:t>
            </a:r>
            <a:r>
              <a:rPr sz="1250" b="0" i="0">
                <a:solidFill>
                  <a:srgbClr val="202020"/>
                </a:solidFill>
                <a:latin typeface="Calibri"/>
              </a:rPr>
              <a:t> (a transient gap): the item is left </a:t>
            </a:r>
            <a:r>
              <a:rPr sz="1250" b="1" i="0">
                <a:solidFill>
                  <a:srgbClr val="202020"/>
                </a:solidFill>
                <a:latin typeface="Calibri"/>
              </a:rPr>
              <a:t>exactly as it is</a:t>
            </a:r>
            <a:r>
              <a:rPr sz="1250" b="0" i="0">
                <a:solidFill>
                  <a:srgbClr val="202020"/>
                </a:solidFill>
                <a:latin typeface="Calibri"/>
              </a:rPr>
              <a:t> — an already-indexed item keeps its existing ACL and content, and a brand-new or library item is </a:t>
            </a:r>
            <a:r>
              <a:rPr sz="1250" b="1" i="0">
                <a:solidFill>
                  <a:srgbClr val="202020"/>
                </a:solidFill>
                <a:latin typeface="Calibri"/>
              </a:rPr>
              <a:t>not</a:t>
            </a:r>
            <a:r>
              <a:rPr sz="1250" b="0" i="0">
                <a:solidFill>
                  <a:srgbClr val="202020"/>
                </a:solidFill>
                <a:latin typeface="Calibri"/>
              </a:rPr>
              <a:t> indexed with an everyone-ACL. A later crawl re-resolves it once identity recovers.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469</a:t>
            </a:r>
          </a:p>
        </p:txBody>
      </p:sp>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Never widen access on an unresolved identity</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This "never widen" behaviour is a compliance guarantee, not a convenience. The connector will never replace a real, restrictive ACL with a broader fallback because of a temporary identity lookup failure. If you ever see access looking too broad, that is not this code path — investigate the identity store and the </a:t>
            </a:r>
            <a:r>
              <a:rPr sz="1350" b="0" i="0">
                <a:solidFill>
                  <a:srgbClr val="202020"/>
                </a:solidFill>
                <a:latin typeface="Consolas"/>
              </a:rPr>
              <a:t>SEISMIC_FALLBACK_ACL</a:t>
            </a:r>
            <a:r>
              <a:rPr sz="1400" b="0" i="0">
                <a:solidFill>
                  <a:srgbClr val="202020"/>
                </a:solidFill>
                <a:latin typeface="Calibri"/>
              </a:rPr>
              <a:t> setting.</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470</a:t>
            </a:r>
          </a:p>
        </p:txBody>
      </p:sp>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Seismic Connector</a:t>
            </a:r>
          </a:p>
          <a:p>
            <a:r>
              <a:rPr sz="3000" b="1" i="0">
                <a:solidFill>
                  <a:srgbClr val="1F3864"/>
                </a:solidFill>
                <a:latin typeface="Calibri"/>
              </a:rPr>
              <a:t>6. Version-aware ingest</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471</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 Version-aware ingest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Seismic content changes constantly — new versions published, old ones unpublished, items expiring. Version-aware ingest keeps the Copilot index showing exactly one thing per item: its current published version, or nothing at all.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472</a:t>
            </a:r>
          </a:p>
        </p:txBody>
      </p:sp>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Supersede: a new version updates in place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Because the external item's id is the Seismic content id, publishing a new version does not create a duplicate. The connector tracks the </a:t>
            </a:r>
            <a:r>
              <a:rPr sz="1250" b="1" i="0">
                <a:solidFill>
                  <a:srgbClr val="202020"/>
                </a:solidFill>
                <a:latin typeface="Calibri"/>
              </a:rPr>
              <a:t>current version id</a:t>
            </a:r>
            <a:r>
              <a:rPr sz="1250" b="0" i="0">
                <a:solidFill>
                  <a:srgbClr val="202020"/>
                </a:solidFill>
                <a:latin typeface="Calibri"/>
              </a:rPr>
              <a:t> of every item it has indexed. On each crawl it compares:</a:t>
            </a:r>
          </a:p>
          <a:p>
            <a:pPr>
              <a:spcBef>
                <a:spcPts val="100"/>
              </a:spcBef>
              <a:spcAft>
                <a:spcPts val="200"/>
              </a:spcAft>
            </a:pPr>
            <a:r>
              <a:rPr sz="1250" b="1" i="0">
                <a:solidFill>
                  <a:srgbClr val="2E5496"/>
                </a:solidFill>
                <a:latin typeface="Calibri"/>
              </a:rPr>
              <a:t>•  </a:t>
            </a:r>
            <a:r>
              <a:rPr sz="1250" b="1" i="0">
                <a:solidFill>
                  <a:srgbClr val="202020"/>
                </a:solidFill>
                <a:latin typeface="Calibri"/>
              </a:rPr>
              <a:t>Same version as last time</a:t>
            </a:r>
            <a:r>
              <a:rPr sz="1250" b="0" i="0">
                <a:solidFill>
                  <a:srgbClr val="202020"/>
                </a:solidFill>
                <a:latin typeface="Calibri"/>
              </a:rPr>
              <a:t> — nothing to re-send. The connector just records that it saw the item (a cheap "touch") and moves on.</a:t>
            </a:r>
          </a:p>
          <a:p>
            <a:pPr>
              <a:spcBef>
                <a:spcPts val="100"/>
              </a:spcBef>
              <a:spcAft>
                <a:spcPts val="200"/>
              </a:spcAft>
            </a:pPr>
            <a:r>
              <a:rPr sz="1250" b="1" i="0">
                <a:solidFill>
                  <a:srgbClr val="2E5496"/>
                </a:solidFill>
                <a:latin typeface="Calibri"/>
              </a:rPr>
              <a:t>•  </a:t>
            </a:r>
            <a:r>
              <a:rPr sz="1250" b="1" i="0">
                <a:solidFill>
                  <a:srgbClr val="202020"/>
                </a:solidFill>
                <a:latin typeface="Calibri"/>
              </a:rPr>
              <a:t>A newer published version</a:t>
            </a:r>
            <a:r>
              <a:rPr sz="1250" b="0" i="0">
                <a:solidFill>
                  <a:srgbClr val="202020"/>
                </a:solidFill>
                <a:latin typeface="Calibri"/>
              </a:rPr>
              <a:t> — the connector re-ingests, overwriting the same external item in place. The old version's text is replaced; there is never a stale version left behind.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473</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Withdraw: unpublish and expiry</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Content leaves the index automatically in several situations, each recorded as a withdrawal:</a:t>
            </a:r>
          </a:p>
          <a:p>
            <a:pPr>
              <a:spcBef>
                <a:spcPts val="100"/>
              </a:spcBef>
              <a:spcAft>
                <a:spcPts val="200"/>
              </a:spcAft>
            </a:pPr>
            <a:r>
              <a:rPr sz="1250" b="1" i="0">
                <a:solidFill>
                  <a:srgbClr val="2E5496"/>
                </a:solidFill>
                <a:latin typeface="Calibri"/>
              </a:rPr>
              <a:t>•  </a:t>
            </a:r>
            <a:r>
              <a:rPr sz="1250" b="1" i="0">
                <a:solidFill>
                  <a:srgbClr val="202020"/>
                </a:solidFill>
                <a:latin typeface="Calibri"/>
              </a:rPr>
              <a:t>Unpublished / no current version</a:t>
            </a:r>
            <a:r>
              <a:rPr sz="1250" b="0" i="0">
                <a:solidFill>
                  <a:srgbClr val="202020"/>
                </a:solidFill>
                <a:latin typeface="Calibri"/>
              </a:rPr>
              <a:t> — the item is deleted from the connection.</a:t>
            </a:r>
          </a:p>
          <a:p>
            <a:pPr>
              <a:spcBef>
                <a:spcPts val="100"/>
              </a:spcBef>
              <a:spcAft>
                <a:spcPts val="200"/>
              </a:spcAft>
            </a:pPr>
            <a:r>
              <a:rPr sz="1250" b="1" i="0">
                <a:solidFill>
                  <a:srgbClr val="2E5496"/>
                </a:solidFill>
                <a:latin typeface="Calibri"/>
              </a:rPr>
              <a:t>•  </a:t>
            </a:r>
            <a:r>
              <a:rPr sz="1250" b="1" i="0">
                <a:solidFill>
                  <a:srgbClr val="202020"/>
                </a:solidFill>
                <a:latin typeface="Calibri"/>
              </a:rPr>
              <a:t>Expired</a:t>
            </a:r>
            <a:r>
              <a:rPr sz="1250" b="0" i="0">
                <a:solidFill>
                  <a:srgbClr val="202020"/>
                </a:solidFill>
                <a:latin typeface="Calibri"/>
              </a:rPr>
              <a:t> — if an item has a compliance expiry date (</a:t>
            </a:r>
            <a:r>
              <a:rPr sz="1200" b="0" i="0">
                <a:solidFill>
                  <a:srgbClr val="202020"/>
                </a:solidFill>
                <a:latin typeface="Consolas"/>
              </a:rPr>
              <a:t>expiresAt</a:t>
            </a:r>
            <a:r>
              <a:rPr sz="1250" b="0" i="0">
                <a:solidFill>
                  <a:srgbClr val="202020"/>
                </a:solidFill>
                <a:latin typeface="Calibri"/>
              </a:rPr>
              <a:t>) and that date has passed, the item is withdrawn. Expiry is checked on </a:t>
            </a:r>
            <a:r>
              <a:rPr sz="1250" b="1" i="0">
                <a:solidFill>
                  <a:srgbClr val="202020"/>
                </a:solidFill>
                <a:latin typeface="Calibri"/>
              </a:rPr>
              <a:t>every</a:t>
            </a:r>
            <a:r>
              <a:rPr sz="1250" b="0" i="0">
                <a:solidFill>
                  <a:srgbClr val="202020"/>
                </a:solidFill>
                <a:latin typeface="Calibri"/>
              </a:rPr>
              <a:t> crawl, including incrementals, not just full ones.</a:t>
            </a:r>
          </a:p>
          <a:p>
            <a:pPr>
              <a:spcBef>
                <a:spcPts val="100"/>
              </a:spcBef>
              <a:spcAft>
                <a:spcPts val="200"/>
              </a:spcAft>
            </a:pPr>
            <a:r>
              <a:rPr sz="1250" b="1" i="0">
                <a:solidFill>
                  <a:srgbClr val="2E5496"/>
                </a:solidFill>
                <a:latin typeface="Calibri"/>
              </a:rPr>
              <a:t>•  </a:t>
            </a:r>
            <a:r>
              <a:rPr sz="1250" b="1" i="0">
                <a:solidFill>
                  <a:srgbClr val="202020"/>
                </a:solidFill>
                <a:latin typeface="Calibri"/>
              </a:rPr>
              <a:t>Deleted / no longer in Seismic</a:t>
            </a:r>
            <a:r>
              <a:rPr sz="1250" b="0" i="0">
                <a:solidFill>
                  <a:srgbClr val="202020"/>
                </a:solidFill>
                <a:latin typeface="Calibri"/>
              </a:rPr>
              <a:t> — detected by the full crawl's withdrawal pass and removed.</a:t>
            </a:r>
          </a:p>
          <a:p>
            <a:pPr>
              <a:spcBef>
                <a:spcPts val="100"/>
              </a:spcBef>
              <a:spcAft>
                <a:spcPts val="200"/>
              </a:spcAft>
            </a:pPr>
            <a:r>
              <a:rPr sz="1250" b="1" i="0">
                <a:solidFill>
                  <a:srgbClr val="2E5496"/>
                </a:solidFill>
                <a:latin typeface="Calibri"/>
              </a:rPr>
              <a:t>•  </a:t>
            </a:r>
            <a:r>
              <a:rPr sz="1250" b="1" i="0">
                <a:solidFill>
                  <a:srgbClr val="202020"/>
                </a:solidFill>
                <a:latin typeface="Calibri"/>
              </a:rPr>
              <a:t>Newly restricted</a:t>
            </a:r>
            <a:r>
              <a:rPr sz="1250" b="0" i="0">
                <a:solidFill>
                  <a:srgbClr val="202020"/>
                </a:solidFill>
                <a:latin typeface="Calibri"/>
              </a:rPr>
              <a:t> — see section 7.</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474</a:t>
            </a: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Why a resumed crawl reconciles instead of blindly skipping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connector checkpoints its progress so that a crash, a restart, or a graceful stop resumes at the first unfinished chunk rather than starting over. The subtle part is what happens to the chunks that </a:t>
            </a:r>
            <a:r>
              <a:rPr sz="1250" b="1" i="0">
                <a:solidFill>
                  <a:srgbClr val="202020"/>
                </a:solidFill>
                <a:latin typeface="Calibri"/>
              </a:rPr>
              <a:t>were</a:t>
            </a:r>
            <a:r>
              <a:rPr sz="1250" b="0" i="0">
                <a:solidFill>
                  <a:srgbClr val="202020"/>
                </a:solidFill>
                <a:latin typeface="Calibri"/>
              </a:rPr>
              <a:t> already completed before the pause. The world may have moved on while the connector was stopped: a new version might have been published, or a compliance flag applied, to an item in an already-sent chunk.</a:t>
            </a:r>
          </a:p>
          <a:p>
            <a:pPr>
              <a:spcBef>
                <a:spcPts val="100"/>
              </a:spcBef>
              <a:spcAft>
                <a:spcPts val="400"/>
              </a:spcAft>
            </a:pPr>
            <a:r>
              <a:rPr sz="1250" b="0" i="0">
                <a:solidFill>
                  <a:srgbClr val="202020"/>
                </a:solidFill>
                <a:latin typeface="Calibri"/>
              </a:rPr>
              <a:t>So on resume the connector does not blindly trust its checkpoint for items it is tracking. For each already-completed chunk it </a:t>
            </a:r>
            <a:r>
              <a:rPr sz="1250" b="1" i="0">
                <a:solidFill>
                  <a:srgbClr val="202020"/>
                </a:solidFill>
                <a:latin typeface="Calibri"/>
              </a:rPr>
              <a:t>reconciles</a:t>
            </a:r>
            <a:r>
              <a:rPr sz="1250" b="0" i="0">
                <a:solidFill>
                  <a:srgbClr val="202020"/>
                </a:solidFill>
                <a:latin typeface="Calibri"/>
              </a:rPr>
              <a:t> against a fresh listing:</a:t>
            </a:r>
          </a:p>
          <a:p>
            <a:pPr>
              <a:spcBef>
                <a:spcPts val="100"/>
              </a:spcBef>
              <a:spcAft>
                <a:spcPts val="200"/>
              </a:spcAft>
            </a:pPr>
            <a:r>
              <a:rPr sz="1250" b="1" i="0">
                <a:solidFill>
                  <a:srgbClr val="2E5496"/>
                </a:solidFill>
                <a:latin typeface="Calibri"/>
              </a:rPr>
              <a:t>•  </a:t>
            </a:r>
            <a:r>
              <a:rPr sz="1250" b="0" i="0">
                <a:solidFill>
                  <a:srgbClr val="202020"/>
                </a:solidFill>
                <a:latin typeface="Calibri"/>
              </a:rPr>
              <a:t>An item whose version is unchanged is given a cheap last-seen touch — so the withdrawal pass cannot mistake completed work for something that vanished.</a:t>
            </a:r>
          </a:p>
          <a:p>
            <a:pPr>
              <a:spcBef>
                <a:spcPts val="100"/>
              </a:spcBef>
              <a:spcAft>
                <a:spcPts val="200"/>
              </a:spcAft>
            </a:pPr>
            <a:r>
              <a:rPr sz="1250" b="1" i="0">
                <a:solidFill>
                  <a:srgbClr val="2E5496"/>
                </a:solidFill>
                <a:latin typeface="Calibri"/>
              </a:rPr>
              <a:t>•  </a:t>
            </a:r>
            <a:r>
              <a:rPr sz="1250" b="0" i="0">
                <a:solidFill>
                  <a:srgbClr val="202020"/>
                </a:solidFill>
                <a:latin typeface="Calibri"/>
              </a:rPr>
              <a:t>An item whose version changed is re-ingested — no stale version survives a resume.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475</a:t>
            </a:r>
          </a:p>
        </p:txBody>
      </p:sp>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Why a resumed crawl reconciles instead of blindly skipping</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0" i="0">
                <a:solidFill>
                  <a:srgbClr val="202020"/>
                </a:solidFill>
                <a:latin typeface="Calibri"/>
              </a:rPr>
              <a:t>An item that became excluded, unpublished, or expired while the connector was stopped is withdrawn — a compliance flag that lands mid-pause is never lost to a stale checkpoint.</a:t>
            </a:r>
          </a:p>
          <a:p>
            <a:pPr>
              <a:spcBef>
                <a:spcPts val="100"/>
              </a:spcBef>
              <a:spcAft>
                <a:spcPts val="400"/>
              </a:spcAft>
            </a:pPr>
            <a:r>
              <a:rPr sz="1250" b="0" i="0">
                <a:solidFill>
                  <a:srgbClr val="202020"/>
                </a:solidFill>
                <a:latin typeface="Calibri"/>
              </a:rPr>
              <a:t>Untracked items in a completed chunk (ones already sent and not yet tracked as changed) are trusted to the checkpoint and not re-sent, which is why a resumed crawl legitimately sends far fewer items than a fresh one.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476</a:t>
            </a:r>
          </a:p>
        </p:txBody>
      </p:sp>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Why a resumed crawl reconciles instead of blindly skipping</a:t>
            </a:r>
          </a:p>
        </p:txBody>
      </p:sp>
      <p:sp>
        <p:nvSpPr>
          <p:cNvPr id="5" name="Rectangle 4"/>
          <p:cNvSpPr/>
          <p:nvPr/>
        </p:nvSpPr>
        <p:spPr>
          <a:xfrm>
            <a:off x="502920" y="1463040"/>
            <a:ext cx="11185855" cy="329184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5496"/>
                </a:solidFill>
                <a:latin typeface="Calibri"/>
              </a:rPr>
              <a:t>Note:  </a:t>
            </a:r>
            <a:r>
              <a:rPr sz="1400" b="1" i="0">
                <a:solidFill>
                  <a:srgbClr val="202020"/>
                </a:solidFill>
                <a:latin typeface="Calibri"/>
              </a:rPr>
              <a:t>Note: </a:t>
            </a:r>
            <a:r>
              <a:rPr sz="1400" b="0" i="0">
                <a:solidFill>
                  <a:srgbClr val="202020"/>
                </a:solidFill>
                <a:latin typeface="Calibri"/>
              </a:rPr>
              <a:t>This is why, after a crash during heavy publishing, you do not need to force a full re-crawl to "be sure". If assurance is required, run </a:t>
            </a:r>
            <a:r>
              <a:rPr sz="1350" b="0" i="0">
                <a:solidFill>
                  <a:srgbClr val="202020"/>
                </a:solidFill>
                <a:latin typeface="Consolas"/>
              </a:rPr>
              <a:t>reconcile</a:t>
            </a:r>
            <a:r>
              <a:rPr sz="1400" b="0" i="0">
                <a:solidFill>
                  <a:srgbClr val="202020"/>
                </a:solidFill>
                <a:latin typeface="Calibri"/>
              </a:rPr>
              <a:t> without </a:t>
            </a:r>
            <a:r>
              <a:rPr sz="1350" b="0" i="0">
                <a:solidFill>
                  <a:srgbClr val="202020"/>
                </a:solidFill>
                <a:latin typeface="Consolas"/>
              </a:rPr>
              <a:t>--repair</a:t>
            </a:r>
            <a:r>
              <a:rPr sz="1400" b="0" i="0">
                <a:solidFill>
                  <a:srgbClr val="202020"/>
                </a:solidFill>
                <a:latin typeface="Calibri"/>
              </a:rPr>
              <a:t> for an auditable count of superseded or missing items (section 14, version-churn-resume).</a:t>
            </a:r>
          </a:p>
        </p:txBody>
      </p:sp>
      <p:sp>
        <p:nvSpPr>
          <p:cNvPr id="6" name="Rectangle 5"/>
          <p:cNvSpPr/>
          <p:nvPr/>
        </p:nvSpPr>
        <p:spPr>
          <a:xfrm>
            <a:off x="502920" y="1463040"/>
            <a:ext cx="128016" cy="329184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477</a:t>
            </a:r>
          </a:p>
        </p:txBody>
      </p:sp>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Seismic Connector</a:t>
            </a:r>
          </a:p>
          <a:p>
            <a:r>
              <a:rPr sz="3000" b="1" i="0">
                <a:solidFill>
                  <a:srgbClr val="1F3864"/>
                </a:solidFill>
                <a:latin typeface="Calibri"/>
              </a:rPr>
              <a:t>7. The No-MNE exclusion filter (signature feature)</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478</a:t>
            </a:r>
          </a:p>
        </p:txBody>
      </p:sp>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 The No-MNE exclusion filter (signature feature)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This is the connector's headline compliance control. "MNE" is </a:t>
            </a:r>
            <a:r>
              <a:rPr sz="1250" b="1" i="0">
                <a:solidFill>
                  <a:srgbClr val="202020"/>
                </a:solidFill>
                <a:latin typeface="Calibri"/>
              </a:rPr>
              <a:t>material non-public event</a:t>
            </a:r>
            <a:r>
              <a:rPr sz="1250" b="0" i="0">
                <a:solidFill>
                  <a:srgbClr val="202020"/>
                </a:solidFill>
                <a:latin typeface="Calibri"/>
              </a:rPr>
              <a:t> content — closely related to </a:t>
            </a:r>
            <a:r>
              <a:rPr sz="1250" b="1" i="0">
                <a:solidFill>
                  <a:srgbClr val="202020"/>
                </a:solidFill>
                <a:latin typeface="Calibri"/>
              </a:rPr>
              <a:t>MNPI</a:t>
            </a:r>
            <a:r>
              <a:rPr sz="1250" b="0" i="0">
                <a:solidFill>
                  <a:srgbClr val="202020"/>
                </a:solidFill>
                <a:latin typeface="Calibri"/>
              </a:rPr>
              <a:t>, material non-public information: information that could move a security's price and has not been made public. In a bank, indexing such content into a broadly available assistant like Copilot could breach information barriers and insider-trading controls. The No-MNE filter makes sure that never happens.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479</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What counts as restricted, in bank terms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Typical examples of content that must not be indexed: live M&amp;A deal-room material, pre-announcement earnings, embargoed research, and anything a business marks as restricted under an information barrier. In Seismic this shows up as compliance flags on an item, as membership of a restricted library, or as a teamsite the platform itself marks restricted.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480</a:t>
            </a:r>
          </a:p>
        </p:txBody>
      </p:sp>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How ingest-time exclusion works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For </a:t>
            </a:r>
            <a:r>
              <a:rPr sz="1250" b="1" i="0">
                <a:solidFill>
                  <a:srgbClr val="202020"/>
                </a:solidFill>
                <a:latin typeface="Calibri"/>
              </a:rPr>
              <a:t>every</a:t>
            </a:r>
            <a:r>
              <a:rPr sz="1250" b="0" i="0">
                <a:solidFill>
                  <a:srgbClr val="202020"/>
                </a:solidFill>
                <a:latin typeface="Calibri"/>
              </a:rPr>
              <a:t> content item, on </a:t>
            </a:r>
            <a:r>
              <a:rPr sz="1250" b="1" i="0">
                <a:solidFill>
                  <a:srgbClr val="202020"/>
                </a:solidFill>
                <a:latin typeface="Calibri"/>
              </a:rPr>
              <a:t>every</a:t>
            </a:r>
            <a:r>
              <a:rPr sz="1250" b="0" i="0">
                <a:solidFill>
                  <a:srgbClr val="202020"/>
                </a:solidFill>
                <a:latin typeface="Calibri"/>
              </a:rPr>
              <a:t> crawl, the filter runs </a:t>
            </a:r>
            <a:r>
              <a:rPr sz="1250" b="1" i="0">
                <a:solidFill>
                  <a:srgbClr val="202020"/>
                </a:solidFill>
                <a:latin typeface="Calibri"/>
              </a:rPr>
              <a:t>before anything is downloaded</a:t>
            </a:r>
            <a:r>
              <a:rPr sz="1250" b="0" i="0">
                <a:solidFill>
                  <a:srgbClr val="202020"/>
                </a:solidFill>
                <a:latin typeface="Calibri"/>
              </a:rPr>
              <a:t>. Excluded content is never fetched, never has its text extracted, and never reaches Copilot. Evaluation order:</a:t>
            </a:r>
          </a:p>
          <a:p>
            <a:pPr>
              <a:spcBef>
                <a:spcPts val="100"/>
              </a:spcBef>
              <a:spcAft>
                <a:spcPts val="200"/>
              </a:spcAft>
            </a:pPr>
            <a:r>
              <a:rPr sz="1250" b="1" i="0">
                <a:solidFill>
                  <a:srgbClr val="2E5496"/>
                </a:solidFill>
                <a:latin typeface="Calibri"/>
              </a:rPr>
              <a:t>1.  </a:t>
            </a:r>
            <a:r>
              <a:rPr sz="1250" b="1" i="0">
                <a:solidFill>
                  <a:srgbClr val="202020"/>
                </a:solidFill>
                <a:latin typeface="Calibri"/>
              </a:rPr>
              <a:t>Teamsite id</a:t>
            </a:r>
            <a:r>
              <a:rPr sz="1250" b="0" i="0">
                <a:solidFill>
                  <a:srgbClr val="202020"/>
                </a:solidFill>
                <a:latin typeface="Calibri"/>
              </a:rPr>
              <a:t> on the restricted-id list — excluded (</a:t>
            </a:r>
            <a:r>
              <a:rPr sz="1200" b="0" i="0">
                <a:solidFill>
                  <a:srgbClr val="202020"/>
                </a:solidFill>
                <a:latin typeface="Consolas"/>
              </a:rPr>
              <a:t>restricted-teamsite-id</a:t>
            </a:r>
            <a:r>
              <a:rPr sz="1250" b="0" i="0">
                <a:solidFill>
                  <a:srgbClr val="202020"/>
                </a:solidFill>
                <a:latin typeface="Calibri"/>
              </a:rPr>
              <a:t>).</a:t>
            </a:r>
          </a:p>
          <a:p>
            <a:pPr>
              <a:spcBef>
                <a:spcPts val="100"/>
              </a:spcBef>
              <a:spcAft>
                <a:spcPts val="200"/>
              </a:spcAft>
            </a:pPr>
            <a:r>
              <a:rPr sz="1250" b="1" i="0">
                <a:solidFill>
                  <a:srgbClr val="2E5496"/>
                </a:solidFill>
                <a:latin typeface="Calibri"/>
              </a:rPr>
              <a:t>2.  </a:t>
            </a:r>
            <a:r>
              <a:rPr sz="1250" b="1" i="0">
                <a:solidFill>
                  <a:srgbClr val="202020"/>
                </a:solidFill>
                <a:latin typeface="Calibri"/>
              </a:rPr>
              <a:t>Library name</a:t>
            </a:r>
            <a:r>
              <a:rPr sz="1250" b="0" i="0">
                <a:solidFill>
                  <a:srgbClr val="202020"/>
                </a:solidFill>
                <a:latin typeface="Calibri"/>
              </a:rPr>
              <a:t> on the restricted-names list, or a teamsite Seismic itself marks restricted — excluded (</a:t>
            </a:r>
            <a:r>
              <a:rPr sz="1200" b="0" i="0">
                <a:solidFill>
                  <a:srgbClr val="202020"/>
                </a:solidFill>
                <a:latin typeface="Consolas"/>
              </a:rPr>
              <a:t>restricted-library</a:t>
            </a:r>
            <a:r>
              <a:rPr sz="1250" b="0" i="0">
                <a:solidFill>
                  <a:srgbClr val="202020"/>
                </a:solidFill>
                <a:latin typeface="Calibri"/>
              </a:rPr>
              <a:t> / </a:t>
            </a:r>
            <a:r>
              <a:rPr sz="1200" b="0" i="0">
                <a:solidFill>
                  <a:srgbClr val="202020"/>
                </a:solidFill>
                <a:latin typeface="Consolas"/>
              </a:rPr>
              <a:t>seismic-restricted-teamsite</a:t>
            </a:r>
            <a:r>
              <a:rPr sz="1250" b="0" i="0">
                <a:solidFill>
                  <a:srgbClr val="202020"/>
                </a:solidFill>
                <a:latin typeface="Calibri"/>
              </a:rPr>
              <a:t>). Wholly-restricted teamsites are not even listed.</a:t>
            </a:r>
          </a:p>
          <a:p>
            <a:pPr>
              <a:spcBef>
                <a:spcPts val="100"/>
              </a:spcBef>
              <a:spcAft>
                <a:spcPts val="200"/>
              </a:spcAft>
            </a:pPr>
            <a:r>
              <a:rPr sz="1250" b="1" i="0">
                <a:solidFill>
                  <a:srgbClr val="2E5496"/>
                </a:solidFill>
                <a:latin typeface="Calibri"/>
              </a:rPr>
              <a:t>3.  </a:t>
            </a:r>
            <a:r>
              <a:rPr sz="1250" b="1" i="0">
                <a:solidFill>
                  <a:srgbClr val="202020"/>
                </a:solidFill>
                <a:latin typeface="Calibri"/>
              </a:rPr>
              <a:t>Flags</a:t>
            </a:r>
            <a:r>
              <a:rPr sz="1250" b="0" i="0">
                <a:solidFill>
                  <a:srgbClr val="202020"/>
                </a:solidFill>
                <a:latin typeface="Calibri"/>
              </a:rPr>
              <a:t> — any watched property carrying an excluded flag value — excluded (</a:t>
            </a:r>
            <a:r>
              <a:rPr sz="1200" b="0" i="0">
                <a:solidFill>
                  <a:srgbClr val="202020"/>
                </a:solidFill>
                <a:latin typeface="Consolas"/>
              </a:rPr>
              <a:t>mne-flag</a:t>
            </a:r>
            <a:r>
              <a:rPr sz="1250" b="0" i="0">
                <a:solidFill>
                  <a:srgbClr val="202020"/>
                </a:solidFill>
                <a:latin typeface="Calibri"/>
              </a:rPr>
              <a:t>).</a:t>
            </a:r>
          </a:p>
          <a:p>
            <a:pPr>
              <a:spcBef>
                <a:spcPts val="100"/>
              </a:spcBef>
              <a:spcAft>
                <a:spcPts val="200"/>
              </a:spcAft>
            </a:pPr>
            <a:r>
              <a:rPr sz="1250" b="1" i="0">
                <a:solidFill>
                  <a:srgbClr val="2E5496"/>
                </a:solidFill>
                <a:latin typeface="Calibri"/>
              </a:rPr>
              <a:t>4.  </a:t>
            </a:r>
            <a:r>
              <a:rPr sz="1250" b="1" i="0">
                <a:solidFill>
                  <a:srgbClr val="202020"/>
                </a:solidFill>
                <a:latin typeface="Calibri"/>
              </a:rPr>
              <a:t>Property rules</a:t>
            </a:r>
            <a:r>
              <a:rPr sz="1250" b="0" i="0">
                <a:solidFill>
                  <a:srgbClr val="202020"/>
                </a:solidFill>
                <a:latin typeface="Calibri"/>
              </a:rPr>
              <a:t> — any bespoke name/value rule that matches — excluded (</a:t>
            </a:r>
            <a:r>
              <a:rPr sz="1200" b="0" i="0">
                <a:solidFill>
                  <a:srgbClr val="202020"/>
                </a:solidFill>
                <a:latin typeface="Consolas"/>
              </a:rPr>
              <a:t>property-rule</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481</a:t>
            </a:r>
          </a:p>
        </p:txBody>
      </p:sp>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Configuration — config/exclusions.json</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rule set is a JSON file, managed as compliance policy (reviewed like code — see Common Guide §6). It </a:t>
            </a:r>
            <a:r>
              <a:rPr sz="1250" b="1" i="0">
                <a:solidFill>
                  <a:srgbClr val="202020"/>
                </a:solidFill>
                <a:latin typeface="Calibri"/>
              </a:rPr>
              <a:t>must exist and define at least one rule</a:t>
            </a:r>
            <a:r>
              <a:rPr sz="1250" b="0" i="0">
                <a:solidFill>
                  <a:srgbClr val="202020"/>
                </a:solidFill>
                <a:latin typeface="Calibri"/>
              </a:rPr>
              <a:t>; loading is fail-closed (below). The shipped defaults are: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482</a:t>
            </a:r>
          </a:p>
        </p:txBody>
      </p:sp>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Configuration — config/exclusions.json</a:t>
            </a:r>
          </a:p>
        </p:txBody>
      </p:sp>
      <p:graphicFrame>
        <p:nvGraphicFramePr>
          <p:cNvPr id="5" name="Table 4"/>
          <p:cNvGraphicFramePr>
            <a:graphicFrameLocks noGrp="1"/>
          </p:cNvGraphicFramePr>
          <p:nvPr/>
        </p:nvGraphicFramePr>
        <p:xfrm>
          <a:off x="502920" y="1188720"/>
          <a:ext cx="11185855" cy="2688336"/>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Key</a:t>
                      </a:r>
                    </a:p>
                  </a:txBody>
                  <a:tcPr marT="25400" marB="25400">
                    <a:solidFill>
                      <a:srgbClr val="2E5496"/>
                    </a:solidFill>
                  </a:tcPr>
                </a:tc>
                <a:tc>
                  <a:txBody>
                    <a:bodyPr wrap="square"/>
                    <a:lstStyle/>
                    <a:p>
                      <a:r>
                        <a:rPr sz="1050" b="1" i="0">
                          <a:solidFill>
                            <a:srgbClr val="FFFFFF"/>
                          </a:solidFill>
                          <a:latin typeface="Calibri"/>
                        </a:rPr>
                        <a:t>Default value</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r>
              <a:tr h="384048">
                <a:tc>
                  <a:txBody>
                    <a:bodyPr wrap="square"/>
                    <a:lstStyle/>
                    <a:p>
                      <a:r>
                        <a:rPr sz="950" b="0" i="0">
                          <a:solidFill>
                            <a:srgbClr val="202020"/>
                          </a:solidFill>
                          <a:latin typeface="Calibri"/>
                        </a:rPr>
                        <a:t>excludedFlags</a:t>
                      </a:r>
                    </a:p>
                  </a:txBody>
                  <a:tcPr marT="12700" marB="12700">
                    <a:solidFill>
                      <a:srgbClr val="FFFFFF"/>
                    </a:solidFill>
                  </a:tcPr>
                </a:tc>
                <a:tc>
                  <a:txBody>
                    <a:bodyPr wrap="square"/>
                    <a:lstStyle/>
                    <a:p>
                      <a:r>
                        <a:rPr sz="950" b="0" i="0">
                          <a:solidFill>
                            <a:srgbClr val="202020"/>
                          </a:solidFill>
                          <a:latin typeface="Calibri"/>
                        </a:rPr>
                        <a:t>MNE, MaterialNonpublicEvent, Material Non-Public Event, MNPI</a:t>
                      </a:r>
                    </a:p>
                  </a:txBody>
                  <a:tcPr marT="12700" marB="12700">
                    <a:solidFill>
                      <a:srgbClr val="FFFFFF"/>
                    </a:solidFill>
                  </a:tcPr>
                </a:tc>
                <a:tc>
                  <a:txBody>
                    <a:bodyPr wrap="square"/>
                    <a:lstStyle/>
                    <a:p>
                      <a:r>
                        <a:rPr sz="950" b="0" i="0">
                          <a:solidFill>
                            <a:srgbClr val="202020"/>
                          </a:solidFill>
                          <a:latin typeface="Calibri"/>
                        </a:rPr>
                        <a:t>Flag values that exclude an item (case-insensitive, trimmed)</a:t>
                      </a:r>
                    </a:p>
                  </a:txBody>
                  <a:tcPr marT="12700" marB="12700">
                    <a:solidFill>
                      <a:srgbClr val="FFFFFF"/>
                    </a:solidFill>
                  </a:tcPr>
                </a:tc>
              </a:tr>
              <a:tr h="384048">
                <a:tc>
                  <a:txBody>
                    <a:bodyPr wrap="square"/>
                    <a:lstStyle/>
                    <a:p>
                      <a:r>
                        <a:rPr sz="950" b="0" i="0">
                          <a:solidFill>
                            <a:srgbClr val="202020"/>
                          </a:solidFill>
                          <a:latin typeface="Calibri"/>
                        </a:rPr>
                        <a:t>flagProperties</a:t>
                      </a:r>
                    </a:p>
                  </a:txBody>
                  <a:tcPr marT="12700" marB="12700">
                    <a:solidFill>
                      <a:srgbClr val="F7F9FC"/>
                    </a:solidFill>
                  </a:tcPr>
                </a:tc>
                <a:tc>
                  <a:txBody>
                    <a:bodyPr wrap="square"/>
                    <a:lstStyle/>
                    <a:p>
                      <a:r>
                        <a:rPr sz="950" b="0" i="0">
                          <a:solidFill>
                            <a:srgbClr val="202020"/>
                          </a:solidFill>
                          <a:latin typeface="Calibri"/>
                        </a:rPr>
                        <a:t>classification, complianceFlags, eventType</a:t>
                      </a:r>
                    </a:p>
                  </a:txBody>
                  <a:tcPr marT="12700" marB="12700">
                    <a:solidFill>
                      <a:srgbClr val="F7F9FC"/>
                    </a:solidFill>
                  </a:tcPr>
                </a:tc>
                <a:tc>
                  <a:txBody>
                    <a:bodyPr wrap="square"/>
                    <a:lstStyle/>
                    <a:p>
                      <a:r>
                        <a:rPr sz="950" b="0" i="0">
                          <a:solidFill>
                            <a:srgbClr val="202020"/>
                          </a:solidFill>
                          <a:latin typeface="Calibri"/>
                        </a:rPr>
                        <a:t>Which Seismic properties are inspected for those flags</a:t>
                      </a:r>
                    </a:p>
                  </a:txBody>
                  <a:tcPr marT="12700" marB="12700">
                    <a:solidFill>
                      <a:srgbClr val="F7F9FC"/>
                    </a:solidFill>
                  </a:tcPr>
                </a:tc>
              </a:tr>
              <a:tr h="384048">
                <a:tc>
                  <a:txBody>
                    <a:bodyPr wrap="square"/>
                    <a:lstStyle/>
                    <a:p>
                      <a:r>
                        <a:rPr sz="950" b="0" i="0">
                          <a:solidFill>
                            <a:srgbClr val="202020"/>
                          </a:solidFill>
                          <a:latin typeface="Calibri"/>
                        </a:rPr>
                        <a:t>restrictedLibraries</a:t>
                      </a:r>
                    </a:p>
                  </a:txBody>
                  <a:tcPr marT="12700" marB="12700">
                    <a:solidFill>
                      <a:srgbClr val="FFFFFF"/>
                    </a:solidFill>
                  </a:tcPr>
                </a:tc>
                <a:tc>
                  <a:txBody>
                    <a:bodyPr wrap="square"/>
                    <a:lstStyle/>
                    <a:p>
                      <a:r>
                        <a:rPr sz="950" b="0" i="0">
                          <a:solidFill>
                            <a:srgbClr val="202020"/>
                          </a:solidFill>
                          <a:latin typeface="Calibri"/>
                        </a:rPr>
                        <a:t>Restricted, M&amp;A Deal Room</a:t>
                      </a:r>
                    </a:p>
                  </a:txBody>
                  <a:tcPr marT="12700" marB="12700">
                    <a:solidFill>
                      <a:srgbClr val="FFFFFF"/>
                    </a:solidFill>
                  </a:tcPr>
                </a:tc>
                <a:tc>
                  <a:txBody>
                    <a:bodyPr wrap="square"/>
                    <a:lstStyle/>
                    <a:p>
                      <a:r>
                        <a:rPr sz="950" b="0" i="0">
                          <a:solidFill>
                            <a:srgbClr val="202020"/>
                          </a:solidFill>
                          <a:latin typeface="Calibri"/>
                        </a:rPr>
                        <a:t>Teamsite/library names whose entire tree is excluded</a:t>
                      </a:r>
                    </a:p>
                  </a:txBody>
                  <a:tcPr marT="12700" marB="12700">
                    <a:solidFill>
                      <a:srgbClr val="FFFFFF"/>
                    </a:solidFill>
                  </a:tcPr>
                </a:tc>
              </a:tr>
              <a:tr h="384048">
                <a:tc>
                  <a:txBody>
                    <a:bodyPr wrap="square"/>
                    <a:lstStyle/>
                    <a:p>
                      <a:r>
                        <a:rPr sz="950" b="0" i="0">
                          <a:solidFill>
                            <a:srgbClr val="202020"/>
                          </a:solidFill>
                          <a:latin typeface="Calibri"/>
                        </a:rPr>
                        <a:t>restrictedTeamsiteIds</a:t>
                      </a:r>
                    </a:p>
                  </a:txBody>
                  <a:tcPr marT="12700" marB="12700">
                    <a:solidFill>
                      <a:srgbClr val="F7F9FC"/>
                    </a:solidFill>
                  </a:tcPr>
                </a:tc>
                <a:tc>
                  <a:txBody>
                    <a:bodyPr wrap="square"/>
                    <a:lstStyle/>
                    <a:p>
                      <a:r>
                        <a:rPr sz="950" b="0" i="0">
                          <a:solidFill>
                            <a:srgbClr val="202020"/>
                          </a:solidFill>
                          <a:latin typeface="Calibri"/>
                        </a:rPr>
                        <a:t>(empty)</a:t>
                      </a:r>
                    </a:p>
                  </a:txBody>
                  <a:tcPr marT="12700" marB="12700">
                    <a:solidFill>
                      <a:srgbClr val="F7F9FC"/>
                    </a:solidFill>
                  </a:tcPr>
                </a:tc>
                <a:tc>
                  <a:txBody>
                    <a:bodyPr wrap="square"/>
                    <a:lstStyle/>
                    <a:p>
                      <a:r>
                        <a:rPr sz="950" b="0" i="0">
                          <a:solidFill>
                            <a:srgbClr val="202020"/>
                          </a:solidFill>
                          <a:latin typeface="Calibri"/>
                        </a:rPr>
                        <a:t>Same, by id — immune to renames</a:t>
                      </a:r>
                    </a:p>
                  </a:txBody>
                  <a:tcPr marT="12700" marB="12700">
                    <a:solidFill>
                      <a:srgbClr val="F7F9FC"/>
                    </a:solidFill>
                  </a:tcPr>
                </a:tc>
              </a:tr>
              <a:tr h="384048">
                <a:tc>
                  <a:txBody>
                    <a:bodyPr wrap="square"/>
                    <a:lstStyle/>
                    <a:p>
                      <a:r>
                        <a:rPr sz="950" b="0" i="0">
                          <a:solidFill>
                            <a:srgbClr val="202020"/>
                          </a:solidFill>
                          <a:latin typeface="Calibri"/>
                        </a:rPr>
                        <a:t>excludeRestrictedTeamsites</a:t>
                      </a:r>
                    </a:p>
                  </a:txBody>
                  <a:tcPr marT="12700" marB="12700">
                    <a:solidFill>
                      <a:srgbClr val="FFFFFF"/>
                    </a:solidFill>
                  </a:tcPr>
                </a:tc>
                <a:tc>
                  <a:txBody>
                    <a:bodyPr wrap="square"/>
                    <a:lstStyle/>
                    <a:p>
                      <a:r>
                        <a:rPr sz="950" b="0" i="0">
                          <a:solidFill>
                            <a:srgbClr val="202020"/>
                          </a:solidFill>
                          <a:latin typeface="Calibri"/>
                        </a:rPr>
                        <a:t>true</a:t>
                      </a:r>
                    </a:p>
                  </a:txBody>
                  <a:tcPr marT="12700" marB="12700">
                    <a:solidFill>
                      <a:srgbClr val="FFFFFF"/>
                    </a:solidFill>
                  </a:tcPr>
                </a:tc>
                <a:tc>
                  <a:txBody>
                    <a:bodyPr wrap="square"/>
                    <a:lstStyle/>
                    <a:p>
                      <a:r>
                        <a:rPr sz="950" b="0" i="0">
                          <a:solidFill>
                            <a:srgbClr val="202020"/>
                          </a:solidFill>
                          <a:latin typeface="Calibri"/>
                        </a:rPr>
                        <a:t>Also exclude any teamsite Seismic marks restricted</a:t>
                      </a:r>
                    </a:p>
                  </a:txBody>
                  <a:tcPr marT="12700" marB="12700">
                    <a:solidFill>
                      <a:srgbClr val="FFFFFF"/>
                    </a:solidFill>
                  </a:tcPr>
                </a:tc>
              </a:tr>
              <a:tr h="384048">
                <a:tc>
                  <a:txBody>
                    <a:bodyPr wrap="square"/>
                    <a:lstStyle/>
                    <a:p>
                      <a:r>
                        <a:rPr sz="950" b="0" i="0">
                          <a:solidFill>
                            <a:srgbClr val="202020"/>
                          </a:solidFill>
                          <a:latin typeface="Calibri"/>
                        </a:rPr>
                        <a:t>propertyRules</a:t>
                      </a:r>
                    </a:p>
                  </a:txBody>
                  <a:tcPr marT="12700" marB="12700">
                    <a:solidFill>
                      <a:srgbClr val="F7F9FC"/>
                    </a:solidFill>
                  </a:tcPr>
                </a:tc>
                <a:tc>
                  <a:txBody>
                    <a:bodyPr wrap="square"/>
                    <a:lstStyle/>
                    <a:p>
                      <a:r>
                        <a:rPr sz="950" b="0" i="0">
                          <a:solidFill>
                            <a:srgbClr val="202020"/>
                          </a:solidFill>
                          <a:latin typeface="Calibri"/>
                        </a:rPr>
                        <a:t>confidentiality equals mnpi</a:t>
                      </a:r>
                    </a:p>
                  </a:txBody>
                  <a:tcPr marT="12700" marB="12700">
                    <a:solidFill>
                      <a:srgbClr val="F7F9FC"/>
                    </a:solidFill>
                  </a:tcPr>
                </a:tc>
                <a:tc>
                  <a:txBody>
                    <a:bodyPr wrap="square"/>
                    <a:lstStyle/>
                    <a:p>
                      <a:r>
                        <a:rPr sz="950" b="0" i="0">
                          <a:solidFill>
                            <a:srgbClr val="202020"/>
                          </a:solidFill>
                          <a:latin typeface="Calibri"/>
                        </a:rPr>
                        <a:t>Bespoke name/value pairs for local taxonomies</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483</a:t>
            </a:r>
          </a:p>
        </p:txBody>
      </p:sp>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Configuration — config/exclusions.json</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1" i="0">
                <a:solidFill>
                  <a:srgbClr val="202020"/>
                </a:solidFill>
                <a:latin typeface="Calibri"/>
              </a:rPr>
              <a:t>Fail-closed loading (changed in v1.1).</a:t>
            </a:r>
            <a:r>
              <a:rPr sz="1400" b="0" i="0">
                <a:solidFill>
                  <a:srgbClr val="202020"/>
                </a:solidFill>
                <a:latin typeface="Calibri"/>
              </a:rPr>
              <a:t> A missing, empty (0-byte), empty-object (</a:t>
            </a:r>
            <a:r>
              <a:rPr sz="1350" b="0" i="0">
                <a:solidFill>
                  <a:srgbClr val="202020"/>
                </a:solidFill>
                <a:latin typeface="Consolas"/>
              </a:rPr>
              <a:t>{}</a:t>
            </a:r>
            <a:r>
              <a:rPr sz="1400" b="0" i="0">
                <a:solidFill>
                  <a:srgbClr val="202020"/>
                </a:solidFill>
                <a:latin typeface="Calibri"/>
              </a:rPr>
              <a:t>), </a:t>
            </a:r>
            <a:r>
              <a:rPr sz="1350" b="0" i="0">
                <a:solidFill>
                  <a:srgbClr val="202020"/>
                </a:solidFill>
                <a:latin typeface="Consolas"/>
              </a:rPr>
              <a:t>null</a:t>
            </a:r>
            <a:r>
              <a:rPr sz="1400" b="0" i="0">
                <a:solidFill>
                  <a:srgbClr val="202020"/>
                </a:solidFill>
                <a:latin typeface="Calibri"/>
              </a:rPr>
              <a:t>, malformed, or rule-less </a:t>
            </a:r>
            <a:r>
              <a:rPr sz="1350" b="0" i="0">
                <a:solidFill>
                  <a:srgbClr val="202020"/>
                </a:solidFill>
                <a:latin typeface="Consolas"/>
              </a:rPr>
              <a:t>config/exclusions.json</a:t>
            </a:r>
            <a:r>
              <a:rPr sz="1400" b="0" i="0">
                <a:solidFill>
                  <a:srgbClr val="202020"/>
                </a:solidFill>
                <a:latin typeface="Calibri"/>
              </a:rPr>
              <a:t> is now a </a:t>
            </a:r>
            <a:r>
              <a:rPr sz="1400" b="1" i="0">
                <a:solidFill>
                  <a:srgbClr val="202020"/>
                </a:solidFill>
                <a:latin typeface="Calibri"/>
              </a:rPr>
              <a:t>hard startup error</a:t>
            </a:r>
            <a:r>
              <a:rPr sz="1400" b="0" i="0">
                <a:solidFill>
                  <a:srgbClr val="202020"/>
                </a:solidFill>
                <a:latin typeface="Calibri"/>
              </a:rPr>
              <a:t> (</a:t>
            </a:r>
            <a:r>
              <a:rPr sz="1350" b="0" i="0">
                <a:solidFill>
                  <a:srgbClr val="202020"/>
                </a:solidFill>
                <a:latin typeface="Consolas"/>
              </a:rPr>
              <a:t>ConfigException</a:t>
            </a:r>
            <a:r>
              <a:rPr sz="1400" b="0" i="0">
                <a:solidFill>
                  <a:srgbClr val="202020"/>
                </a:solidFill>
                <a:latin typeface="Calibri"/>
              </a:rPr>
              <a:t>, naming the path) — the connector </a:t>
            </a:r>
            <a:r>
              <a:rPr sz="1400" b="1" i="0">
                <a:solidFill>
                  <a:srgbClr val="202020"/>
                </a:solidFill>
                <a:latin typeface="Calibri"/>
              </a:rPr>
              <a:t>refuses to start</a:t>
            </a:r>
            <a:r>
              <a:rPr sz="1400" b="0" i="0">
                <a:solidFill>
                  <a:srgbClr val="202020"/>
                </a:solidFill>
                <a:latin typeface="Calibri"/>
              </a:rPr>
              <a:t>. It is *never* silently treated as "no rules, nothing excluded" (that older behaviour would have indexed MNPI-flagged content on a simple config slip, and is why it was removed). To run rule-less </a:t>
            </a:r>
            <a:r>
              <a:rPr sz="1400" b="1" i="0">
                <a:solidFill>
                  <a:srgbClr val="202020"/>
                </a:solidFill>
                <a:latin typeface="Calibri"/>
              </a:rPr>
              <a:t>on purpose</a:t>
            </a:r>
            <a:r>
              <a:rPr sz="1400" b="0" i="0">
                <a:solidFill>
                  <a:srgbClr val="202020"/>
                </a:solidFill>
                <a:latin typeface="Calibri"/>
              </a:rPr>
              <a:t> you must opt in explicitly by putting </a:t>
            </a:r>
            <a:r>
              <a:rPr sz="1350" b="0" i="0">
                <a:solidFill>
                  <a:srgbClr val="202020"/>
                </a:solidFill>
                <a:latin typeface="Consolas"/>
              </a:rPr>
              <a:t>{"acknowledgeNoExclusions": true}</a:t>
            </a:r>
            <a:r>
              <a:rPr sz="1400" b="0" i="0">
                <a:solidFill>
                  <a:srgbClr val="202020"/>
                </a:solidFill>
                <a:latin typeface="Calibri"/>
              </a:rPr>
              <a:t> in the file; even then </a:t>
            </a:r>
            <a:r>
              <a:rPr sz="1350" b="0" i="0">
                <a:solidFill>
                  <a:srgbClr val="202020"/>
                </a:solidFill>
                <a:latin typeface="Consolas"/>
              </a:rPr>
              <a:t>validate-config</a:t>
            </a:r>
            <a:r>
              <a:rPr sz="1400" b="0" i="0">
                <a:solidFill>
                  <a:srgbClr val="202020"/>
                </a:solidFill>
                <a:latin typeface="Calibri"/>
              </a:rPr>
              <a:t> surfaces the rule-less posture as a warning and </a:t>
            </a:r>
            <a:r>
              <a:rPr sz="1350" b="0" i="0">
                <a:solidFill>
                  <a:srgbClr val="202020"/>
                </a:solidFill>
                <a:latin typeface="Consolas"/>
              </a:rPr>
              <a:t>validate-config --strict</a:t>
            </a:r>
            <a:r>
              <a:rPr sz="1400" b="0" i="0">
                <a:solidFill>
                  <a:srgbClr val="202020"/>
                </a:solidFill>
                <a:latin typeface="Calibri"/>
              </a:rPr>
              <a:t> escalates it to a hard FAIL. Never deploy to a bank tenant without a reviewed exclusions file, and change it only through your change-controlled pipeline, never by hand-editing a node.</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484</a:t>
            </a:r>
          </a:p>
        </p:txBody>
      </p:sp>
    </p:spTree>
  </p:cSld>
  <p:clrMapOvr>
    <a:masterClrMapping/>
  </p:clrMapOvr>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Late flags and the reconciliation sweep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Content sometimes becomes restricted </a:t>
            </a:r>
            <a:r>
              <a:rPr sz="1250" b="1" i="0">
                <a:solidFill>
                  <a:srgbClr val="202020"/>
                </a:solidFill>
                <a:latin typeface="Calibri"/>
              </a:rPr>
              <a:t>after</a:t>
            </a:r>
            <a:r>
              <a:rPr sz="1250" b="0" i="0">
                <a:solidFill>
                  <a:srgbClr val="202020"/>
                </a:solidFill>
                <a:latin typeface="Calibri"/>
              </a:rPr>
              <a:t> it was already indexed. The connector handles this without waiting for the next full crawl:</a:t>
            </a:r>
          </a:p>
          <a:p>
            <a:pPr>
              <a:spcBef>
                <a:spcPts val="100"/>
              </a:spcBef>
              <a:spcAft>
                <a:spcPts val="200"/>
              </a:spcAft>
            </a:pPr>
            <a:r>
              <a:rPr sz="1250" b="1" i="0">
                <a:solidFill>
                  <a:srgbClr val="2E5496"/>
                </a:solidFill>
                <a:latin typeface="Calibri"/>
              </a:rPr>
              <a:t>•  </a:t>
            </a:r>
            <a:r>
              <a:rPr sz="1250" b="1" i="0">
                <a:solidFill>
                  <a:srgbClr val="202020"/>
                </a:solidFill>
                <a:latin typeface="Calibri"/>
              </a:rPr>
              <a:t>On full crawls</a:t>
            </a:r>
            <a:r>
              <a:rPr sz="1250" b="0" i="0">
                <a:solidFill>
                  <a:srgbClr val="202020"/>
                </a:solidFill>
                <a:latin typeface="Calibri"/>
              </a:rPr>
              <a:t>, the withdrawal pass withdraws any tracked item that now evaluates as excluded.</a:t>
            </a:r>
          </a:p>
          <a:p>
            <a:pPr>
              <a:spcBef>
                <a:spcPts val="100"/>
              </a:spcBef>
              <a:spcAft>
                <a:spcPts val="200"/>
              </a:spcAft>
            </a:pPr>
            <a:r>
              <a:rPr sz="1250" b="1" i="0">
                <a:solidFill>
                  <a:srgbClr val="2E5496"/>
                </a:solidFill>
                <a:latin typeface="Calibri"/>
              </a:rPr>
              <a:t>•  </a:t>
            </a:r>
            <a:r>
              <a:rPr sz="1250" b="1" i="0">
                <a:solidFill>
                  <a:srgbClr val="202020"/>
                </a:solidFill>
                <a:latin typeface="Calibri"/>
              </a:rPr>
              <a:t>On incremental crawls</a:t>
            </a:r>
            <a:r>
              <a:rPr sz="1250" b="0" i="0">
                <a:solidFill>
                  <a:srgbClr val="202020"/>
                </a:solidFill>
                <a:latin typeface="Calibri"/>
              </a:rPr>
              <a:t>, a </a:t>
            </a:r>
            <a:r>
              <a:rPr sz="1250" b="1" i="0">
                <a:solidFill>
                  <a:srgbClr val="202020"/>
                </a:solidFill>
                <a:latin typeface="Calibri"/>
              </a:rPr>
              <a:t>late-exclusion pass</a:t>
            </a:r>
            <a:r>
              <a:rPr sz="1250" b="0" i="0">
                <a:solidFill>
                  <a:srgbClr val="202020"/>
                </a:solidFill>
                <a:latin typeface="Calibri"/>
              </a:rPr>
              <a:t> re-checks tracked items the incremental did not otherwise re-list — using a metadata-only listing, no downloads — so a flag applied without changing the item's modified date is still caught and the item withdrawn.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485</a:t>
            </a:r>
          </a:p>
        </p:txBody>
      </p:sp>
    </p:spTree>
  </p:cSld>
  <p:clrMapOvr>
    <a:masterClrMapping/>
  </p:clrMapOvr>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Late flags and the reconciliation sweep</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Single-item paths</a:t>
            </a:r>
            <a:r>
              <a:rPr sz="1250" b="0" i="0">
                <a:solidFill>
                  <a:srgbClr val="202020"/>
                </a:solidFill>
                <a:latin typeface="Calibri"/>
              </a:rPr>
              <a:t> (webhooks and </a:t>
            </a:r>
            <a:r>
              <a:rPr sz="1200" b="0" i="0">
                <a:solidFill>
                  <a:srgbClr val="202020"/>
                </a:solidFill>
                <a:latin typeface="Consolas"/>
              </a:rPr>
              <a:t>ingest-item</a:t>
            </a:r>
            <a:r>
              <a:rPr sz="1250" b="0" i="0">
                <a:solidFill>
                  <a:srgbClr val="202020"/>
                </a:solidFill>
                <a:latin typeface="Calibri"/>
              </a:rPr>
              <a:t>) resolve the item's teamsite and apply the restriction rules first; if the teamsite cannot be resolved at all, the ingest is </a:t>
            </a:r>
            <a:r>
              <a:rPr sz="1250" b="1" i="0">
                <a:solidFill>
                  <a:srgbClr val="202020"/>
                </a:solidFill>
                <a:latin typeface="Calibri"/>
              </a:rPr>
              <a:t>refused</a:t>
            </a:r>
            <a:r>
              <a:rPr sz="1250" b="0" i="0">
                <a:solidFill>
                  <a:srgbClr val="202020"/>
                </a:solidFill>
                <a:latin typeface="Calibri"/>
              </a:rPr>
              <a:t> (fail-closed) rather than indexed with unverifiable rules.</a:t>
            </a:r>
          </a:p>
          <a:p>
            <a:pPr>
              <a:spcBef>
                <a:spcPts val="100"/>
              </a:spcBef>
              <a:spcAft>
                <a:spcPts val="400"/>
              </a:spcAft>
            </a:pPr>
            <a:r>
              <a:rPr sz="1250" b="0" i="0">
                <a:solidFill>
                  <a:srgbClr val="202020"/>
                </a:solidFill>
                <a:latin typeface="Calibri"/>
              </a:rPr>
              <a:t>Every exclusion and withdrawal is written to an auditable </a:t>
            </a:r>
            <a:r>
              <a:rPr sz="1250" b="1" i="0">
                <a:solidFill>
                  <a:srgbClr val="202020"/>
                </a:solidFill>
                <a:latin typeface="Calibri"/>
              </a:rPr>
              <a:t>reconciliation report</a:t>
            </a:r>
            <a:r>
              <a:rPr sz="1250" b="0" i="0">
                <a:solidFill>
                  <a:srgbClr val="202020"/>
                </a:solidFill>
                <a:latin typeface="Calibri"/>
              </a:rPr>
              <a:t> (</a:t>
            </a:r>
            <a:r>
              <a:rPr sz="1200" b="0" i="0">
                <a:solidFill>
                  <a:srgbClr val="202020"/>
                </a:solidFill>
                <a:latin typeface="Consolas"/>
              </a:rPr>
              <a:t>reconciliation_{CONNECTOR_ID}_{timestamp}.jsonl</a:t>
            </a:r>
            <a:r>
              <a:rPr sz="1250" b="0" i="0">
                <a:solidFill>
                  <a:srgbClr val="202020"/>
                </a:solidFill>
                <a:latin typeface="Calibri"/>
              </a:rPr>
              <a:t>) in the run's log directory: one line per decision, naming the item, the rule, and the reason, plus a summary. That file is your audit evidence. As a periodic backstop, the </a:t>
            </a:r>
            <a:r>
              <a:rPr sz="1200" b="0" i="0">
                <a:solidFill>
                  <a:srgbClr val="202020"/>
                </a:solidFill>
                <a:latin typeface="Consolas"/>
              </a:rPr>
              <a:t>reconcile</a:t>
            </a:r>
            <a:r>
              <a:rPr sz="1250" b="0" i="0">
                <a:solidFill>
                  <a:srgbClr val="202020"/>
                </a:solidFill>
                <a:latin typeface="Calibri"/>
              </a:rPr>
              <a:t> command diffs the full Seismic inventory against the index and reports (or with </a:t>
            </a:r>
            <a:r>
              <a:rPr sz="1200" b="0" i="0">
                <a:solidFill>
                  <a:srgbClr val="202020"/>
                </a:solidFill>
                <a:latin typeface="Consolas"/>
              </a:rPr>
              <a:t>--repair</a:t>
            </a:r>
            <a:r>
              <a:rPr sz="1250" b="0" i="0">
                <a:solidFill>
                  <a:srgbClr val="202020"/>
                </a:solidFill>
                <a:latin typeface="Calibri"/>
              </a:rPr>
              <a:t>, fixes) any </a:t>
            </a:r>
            <a:r>
              <a:rPr sz="1200" b="0" i="0">
                <a:solidFill>
                  <a:srgbClr val="202020"/>
                </a:solidFill>
                <a:latin typeface="Consolas"/>
              </a:rPr>
              <a:t>excluded-drift</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486</a:t>
            </a:r>
          </a:p>
        </p:txBody>
      </p:sp>
    </p:spTree>
  </p:cSld>
  <p:clrMapOvr>
    <a:masterClrMapping/>
  </p:clrMapOvr>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How to verify excluded content never reaches Copilot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Two independent checks, both of which you should perform after setup (section 11) and after any exclusions change:</a:t>
            </a:r>
          </a:p>
          <a:p>
            <a:pPr>
              <a:spcBef>
                <a:spcPts val="100"/>
              </a:spcBef>
              <a:spcAft>
                <a:spcPts val="200"/>
              </a:spcAft>
            </a:pPr>
            <a:r>
              <a:rPr sz="1250" b="1" i="0">
                <a:solidFill>
                  <a:srgbClr val="2E5496"/>
                </a:solidFill>
                <a:latin typeface="Calibri"/>
              </a:rPr>
              <a:t>1.  </a:t>
            </a:r>
            <a:r>
              <a:rPr sz="1250" b="1" i="0">
                <a:solidFill>
                  <a:srgbClr val="202020"/>
                </a:solidFill>
                <a:latin typeface="Calibri"/>
              </a:rPr>
              <a:t>From the report:</a:t>
            </a:r>
            <a:r>
              <a:rPr sz="1250" b="0" i="0">
                <a:solidFill>
                  <a:srgbClr val="202020"/>
                </a:solidFill>
                <a:latin typeface="Calibri"/>
              </a:rPr>
              <a:t> open the latest </a:t>
            </a:r>
            <a:r>
              <a:rPr sz="1200" b="0" i="0">
                <a:solidFill>
                  <a:srgbClr val="202020"/>
                </a:solidFill>
                <a:latin typeface="Consolas"/>
              </a:rPr>
              <a:t>reconciliation_*.jsonl</a:t>
            </a:r>
            <a:r>
              <a:rPr sz="1250" b="0" i="0">
                <a:solidFill>
                  <a:srgbClr val="202020"/>
                </a:solidFill>
                <a:latin typeface="Calibri"/>
              </a:rPr>
              <a:t> and confirm the item / library you expect to be excluded appears with an </a:t>
            </a:r>
            <a:r>
              <a:rPr sz="1200" b="0" i="0">
                <a:solidFill>
                  <a:srgbClr val="202020"/>
                </a:solidFill>
                <a:latin typeface="Consolas"/>
              </a:rPr>
              <a:t>excluded</a:t>
            </a:r>
            <a:r>
              <a:rPr sz="1250" b="0" i="0">
                <a:solidFill>
                  <a:srgbClr val="202020"/>
                </a:solidFill>
                <a:latin typeface="Calibri"/>
              </a:rPr>
              <a:t> or </a:t>
            </a:r>
            <a:r>
              <a:rPr sz="1200" b="0" i="0">
                <a:solidFill>
                  <a:srgbClr val="202020"/>
                </a:solidFill>
                <a:latin typeface="Consolas"/>
              </a:rPr>
              <a:t>withdrawn</a:t>
            </a:r>
            <a:r>
              <a:rPr sz="1250" b="0" i="0">
                <a:solidFill>
                  <a:srgbClr val="202020"/>
                </a:solidFill>
                <a:latin typeface="Calibri"/>
              </a:rPr>
              <a:t> action.</a:t>
            </a:r>
          </a:p>
          <a:p>
            <a:pPr>
              <a:spcBef>
                <a:spcPts val="100"/>
              </a:spcBef>
              <a:spcAft>
                <a:spcPts val="200"/>
              </a:spcAft>
            </a:pPr>
            <a:r>
              <a:rPr sz="1250" b="1" i="0">
                <a:solidFill>
                  <a:srgbClr val="2E5496"/>
                </a:solidFill>
                <a:latin typeface="Calibri"/>
              </a:rPr>
              <a:t>2.  </a:t>
            </a:r>
            <a:r>
              <a:rPr sz="1250" b="1" i="0">
                <a:solidFill>
                  <a:srgbClr val="202020"/>
                </a:solidFill>
                <a:latin typeface="Calibri"/>
              </a:rPr>
              <a:t>From Copilot / search:</a:t>
            </a:r>
            <a:r>
              <a:rPr sz="1250" b="0" i="0">
                <a:solidFill>
                  <a:srgbClr val="202020"/>
                </a:solidFill>
                <a:latin typeface="Calibri"/>
              </a:rPr>
              <a:t> as an administrator, search the connection for a known-restricted item by title and confirm it returns no result. For an item that was restricted after ingest, confirm the report shows a </a:t>
            </a:r>
            <a:r>
              <a:rPr sz="1200" b="0" i="0">
                <a:solidFill>
                  <a:srgbClr val="202020"/>
                </a:solidFill>
                <a:latin typeface="Consolas"/>
              </a:rPr>
              <a:t>withdrawn</a:t>
            </a:r>
            <a:r>
              <a:rPr sz="1250" b="0" i="0">
                <a:solidFill>
                  <a:srgbClr val="202020"/>
                </a:solidFill>
                <a:latin typeface="Calibri"/>
              </a:rPr>
              <a:t> line for it and that it no longer appears.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487</a:t>
            </a:r>
          </a:p>
        </p:txBody>
      </p:sp>
    </p:spTree>
  </p:cSld>
  <p:clrMapOvr>
    <a:masterClrMapping/>
  </p:clrMapOvr>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Seismic Connector</a:t>
            </a:r>
          </a:p>
          <a:p>
            <a:r>
              <a:rPr sz="3000" b="1" i="0">
                <a:solidFill>
                  <a:srgbClr val="1F3864"/>
                </a:solidFill>
                <a:latin typeface="Calibri"/>
              </a:rPr>
              <a:t>8. Permission changes &amp; re-ACL</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488</a:t>
            </a:r>
          </a:p>
        </p:txBody>
      </p:sp>
    </p:spTree>
  </p:cSld>
  <p:clrMapOvr>
    <a:masterClrMapping/>
  </p:clrMapOvr>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8. Permission changes &amp; re-ACL</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Sometimes the </a:t>
            </a:r>
            <a:r>
              <a:rPr sz="1250" b="1" i="0">
                <a:solidFill>
                  <a:srgbClr val="202020"/>
                </a:solidFill>
                <a:latin typeface="Calibri"/>
              </a:rPr>
              <a:t>content</a:t>
            </a:r>
            <a:r>
              <a:rPr sz="1250" b="0" i="0">
                <a:solidFill>
                  <a:srgbClr val="202020"/>
                </a:solidFill>
                <a:latin typeface="Calibri"/>
              </a:rPr>
              <a:t> of an item does not change but </a:t>
            </a:r>
            <a:r>
              <a:rPr sz="1250" b="1" i="0">
                <a:solidFill>
                  <a:srgbClr val="202020"/>
                </a:solidFill>
                <a:latin typeface="Calibri"/>
              </a:rPr>
              <a:t>who may see it</a:t>
            </a:r>
            <a:r>
              <a:rPr sz="1250" b="0" i="0">
                <a:solidFill>
                  <a:srgbClr val="202020"/>
                </a:solidFill>
                <a:latin typeface="Calibri"/>
              </a:rPr>
              <a:t> does — a teamsite is re-permissioned, a group is remapped, a person leaves a distribution. Re-ACL keeps the indexed permissions correct in that case, without needlessly re-sending content.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489</a:t>
            </a:r>
          </a:p>
        </p:txBody>
      </p:sp>
    </p:spTree>
  </p:cSld>
  <p:clrMapOvr>
    <a:masterClrMapping/>
  </p:clrMapOvr>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How a permission change is detected: the ACL fingerprint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Each tracked item stores an </a:t>
            </a:r>
            <a:r>
              <a:rPr sz="1250" b="1" i="0">
                <a:solidFill>
                  <a:srgbClr val="202020"/>
                </a:solidFill>
                <a:latin typeface="Calibri"/>
              </a:rPr>
              <a:t>ACL fingerprint</a:t>
            </a:r>
            <a:r>
              <a:rPr sz="1250" b="0" i="0">
                <a:solidFill>
                  <a:srgbClr val="202020"/>
                </a:solidFill>
                <a:latin typeface="Calibri"/>
              </a:rPr>
              <a:t> — a short, stable hash (a truncated SHA-256) of its resolved set of Entra principals. Two ACLs with the same principals produce the same fingerprint regardless of order; adding, removing, or changing any principal changes it. On a crawl, for an item whose content is unchanged, the connector re-resolves the current permissions and compares the new fingerprint to the stored one:</a:t>
            </a:r>
          </a:p>
          <a:p>
            <a:pPr>
              <a:spcBef>
                <a:spcPts val="100"/>
              </a:spcBef>
              <a:spcAft>
                <a:spcPts val="200"/>
              </a:spcAft>
            </a:pPr>
            <a:r>
              <a:rPr sz="1250" b="1" i="0">
                <a:solidFill>
                  <a:srgbClr val="2E5496"/>
                </a:solidFill>
                <a:latin typeface="Calibri"/>
              </a:rPr>
              <a:t>•  </a:t>
            </a:r>
            <a:r>
              <a:rPr sz="1250" b="1" i="0">
                <a:solidFill>
                  <a:srgbClr val="202020"/>
                </a:solidFill>
                <a:latin typeface="Calibri"/>
              </a:rPr>
              <a:t>No change</a:t>
            </a:r>
            <a:r>
              <a:rPr sz="1250" b="0" i="0">
                <a:solidFill>
                  <a:srgbClr val="202020"/>
                </a:solidFill>
                <a:latin typeface="Calibri"/>
              </a:rPr>
              <a:t> — fingerprints match; nothing to do.</a:t>
            </a:r>
          </a:p>
          <a:p>
            <a:pPr>
              <a:spcBef>
                <a:spcPts val="100"/>
              </a:spcBef>
              <a:spcAft>
                <a:spcPts val="200"/>
              </a:spcAft>
            </a:pPr>
            <a:r>
              <a:rPr sz="1250" b="1" i="0">
                <a:solidFill>
                  <a:srgbClr val="2E5496"/>
                </a:solidFill>
                <a:latin typeface="Calibri"/>
              </a:rPr>
              <a:t>•  </a:t>
            </a:r>
            <a:r>
              <a:rPr sz="1250" b="1" i="0">
                <a:solidFill>
                  <a:srgbClr val="202020"/>
                </a:solidFill>
                <a:latin typeface="Calibri"/>
              </a:rPr>
              <a:t>Baseline</a:t>
            </a:r>
            <a:r>
              <a:rPr sz="1250" b="0" i="0">
                <a:solidFill>
                  <a:srgbClr val="202020"/>
                </a:solidFill>
                <a:latin typeface="Calibri"/>
              </a:rPr>
              <a:t> — the item had no stored fingerprint yet (indexed before re-ACL support); the ACL is applied once to establish the baseline. Counted as a re-ACL, not as drift.</a:t>
            </a:r>
          </a:p>
          <a:p>
            <a:pPr>
              <a:spcBef>
                <a:spcPts val="100"/>
              </a:spcBef>
              <a:spcAft>
                <a:spcPts val="200"/>
              </a:spcAft>
            </a:pPr>
            <a:r>
              <a:rPr sz="1250" b="1" i="0">
                <a:solidFill>
                  <a:srgbClr val="2E5496"/>
                </a:solidFill>
                <a:latin typeface="Calibri"/>
              </a:rPr>
              <a:t>•  </a:t>
            </a:r>
            <a:r>
              <a:rPr sz="1250" b="1" i="0">
                <a:solidFill>
                  <a:srgbClr val="202020"/>
                </a:solidFill>
                <a:latin typeface="Calibri"/>
              </a:rPr>
              <a:t>Drifted</a:t>
            </a:r>
            <a:r>
              <a:rPr sz="1250" b="0" i="0">
                <a:solidFill>
                  <a:srgbClr val="202020"/>
                </a:solidFill>
                <a:latin typeface="Calibri"/>
              </a:rPr>
              <a:t> — a known fingerprint changed; the effective permissions moved.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490</a:t>
            </a:r>
          </a:p>
        </p:txBody>
      </p:sp>
    </p:spTree>
  </p:cSld>
  <p:clrMapOvr>
    <a:masterClrMapping/>
  </p:clrMapOvr>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Re-applying access without re-sending content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When drift is detected and repair is enabled, the connector issues an </a:t>
            </a:r>
            <a:r>
              <a:rPr sz="1250" b="1" i="0">
                <a:solidFill>
                  <a:srgbClr val="202020"/>
                </a:solidFill>
                <a:latin typeface="Calibri"/>
              </a:rPr>
              <a:t>ACL-only update</a:t>
            </a:r>
            <a:r>
              <a:rPr sz="1250" b="0" i="0">
                <a:solidFill>
                  <a:srgbClr val="202020"/>
                </a:solidFill>
                <a:latin typeface="Calibri"/>
              </a:rPr>
              <a:t> — a Graph </a:t>
            </a:r>
            <a:r>
              <a:rPr sz="1200" b="0" i="0">
                <a:solidFill>
                  <a:srgbClr val="202020"/>
                </a:solidFill>
                <a:latin typeface="Consolas"/>
              </a:rPr>
              <a:t>PATCH</a:t>
            </a:r>
            <a:r>
              <a:rPr sz="1250" b="0" i="0">
                <a:solidFill>
                  <a:srgbClr val="202020"/>
                </a:solidFill>
                <a:latin typeface="Calibri"/>
              </a:rPr>
              <a:t> that changes just the permissions on the existing external item. The content is </a:t>
            </a:r>
            <a:r>
              <a:rPr sz="1250" b="1" i="0">
                <a:solidFill>
                  <a:srgbClr val="202020"/>
                </a:solidFill>
                <a:latin typeface="Calibri"/>
              </a:rPr>
              <a:t>never re-sent</a:t>
            </a:r>
            <a:r>
              <a:rPr sz="1250" b="0" i="0">
                <a:solidFill>
                  <a:srgbClr val="202020"/>
                </a:solidFill>
                <a:latin typeface="Calibri"/>
              </a:rPr>
              <a:t>, so a re-permissioning of a large library is cheap: it moves ACLs, not documents.</a:t>
            </a:r>
          </a:p>
          <a:p>
            <a:pPr>
              <a:spcBef>
                <a:spcPts val="100"/>
              </a:spcBef>
              <a:spcAft>
                <a:spcPts val="400"/>
              </a:spcAft>
            </a:pPr>
            <a:r>
              <a:rPr sz="1250" b="0" i="0">
                <a:solidFill>
                  <a:srgbClr val="202020"/>
                </a:solidFill>
                <a:latin typeface="Calibri"/>
              </a:rPr>
              <a:t>Two ways to run it:</a:t>
            </a:r>
          </a:p>
          <a:p>
            <a:pPr>
              <a:spcBef>
                <a:spcPts val="100"/>
              </a:spcBef>
              <a:spcAft>
                <a:spcPts val="200"/>
              </a:spcAft>
            </a:pPr>
            <a:r>
              <a:rPr sz="1250" b="1" i="0">
                <a:solidFill>
                  <a:srgbClr val="2E5496"/>
                </a:solidFill>
                <a:latin typeface="Calibri"/>
              </a:rPr>
              <a:t>•  </a:t>
            </a:r>
            <a:r>
              <a:rPr sz="1250" b="1" i="0">
                <a:solidFill>
                  <a:srgbClr val="202020"/>
                </a:solidFill>
                <a:latin typeface="Calibri"/>
              </a:rPr>
              <a:t>Automatically on every crawl</a:t>
            </a:r>
            <a:r>
              <a:rPr sz="1250" b="0" i="0">
                <a:solidFill>
                  <a:srgbClr val="202020"/>
                </a:solidFill>
                <a:latin typeface="Calibri"/>
              </a:rPr>
              <a:t> — set </a:t>
            </a:r>
            <a:r>
              <a:rPr sz="1200" b="0" i="0">
                <a:solidFill>
                  <a:srgbClr val="202020"/>
                </a:solidFill>
                <a:latin typeface="Consolas"/>
              </a:rPr>
              <a:t>PERMISSION_REACL=true</a:t>
            </a:r>
            <a:r>
              <a:rPr sz="1250" b="0" i="0">
                <a:solidFill>
                  <a:srgbClr val="202020"/>
                </a:solidFill>
                <a:latin typeface="Calibri"/>
              </a:rPr>
              <a:t>. Unchanged-content items are re-resolved and any drift is repaired as part of the normal cycle.</a:t>
            </a:r>
          </a:p>
          <a:p>
            <a:pPr>
              <a:spcBef>
                <a:spcPts val="100"/>
              </a:spcBef>
              <a:spcAft>
                <a:spcPts val="200"/>
              </a:spcAft>
            </a:pPr>
            <a:r>
              <a:rPr sz="1250" b="1" i="0">
                <a:solidFill>
                  <a:srgbClr val="2E5496"/>
                </a:solidFill>
                <a:latin typeface="Calibri"/>
              </a:rPr>
              <a:t>•  </a:t>
            </a:r>
            <a:r>
              <a:rPr sz="1250" b="1" i="0">
                <a:solidFill>
                  <a:srgbClr val="202020"/>
                </a:solidFill>
                <a:latin typeface="Calibri"/>
              </a:rPr>
              <a:t>On demand</a:t>
            </a:r>
            <a:r>
              <a:rPr sz="1250" b="0" i="0">
                <a:solidFill>
                  <a:srgbClr val="202020"/>
                </a:solidFill>
                <a:latin typeface="Calibri"/>
              </a:rPr>
              <a:t> — run </a:t>
            </a:r>
            <a:r>
              <a:rPr sz="1200" b="0" i="0">
                <a:solidFill>
                  <a:srgbClr val="202020"/>
                </a:solidFill>
                <a:latin typeface="Consolas"/>
              </a:rPr>
              <a:t>reacl</a:t>
            </a:r>
            <a:r>
              <a:rPr sz="1250" b="0" i="0">
                <a:solidFill>
                  <a:srgbClr val="202020"/>
                </a:solidFill>
                <a:latin typeface="Calibri"/>
              </a:rPr>
              <a:t> (or </a:t>
            </a:r>
            <a:r>
              <a:rPr sz="1200" b="0" i="0">
                <a:solidFill>
                  <a:srgbClr val="202020"/>
                </a:solidFill>
                <a:latin typeface="Consolas"/>
              </a:rPr>
              <a:t>reacl --dry-run</a:t>
            </a:r>
            <a:r>
              <a:rPr sz="1250" b="0" i="0">
                <a:solidFill>
                  <a:srgbClr val="202020"/>
                </a:solidFill>
                <a:latin typeface="Calibri"/>
              </a:rPr>
              <a:t>). This audits the full inventory regardless of the flag; </a:t>
            </a:r>
            <a:r>
              <a:rPr sz="1200" b="0" i="0">
                <a:solidFill>
                  <a:srgbClr val="202020"/>
                </a:solidFill>
                <a:latin typeface="Consolas"/>
              </a:rPr>
              <a:t>--dry-run</a:t>
            </a:r>
            <a:r>
              <a:rPr sz="1250" b="0" i="0">
                <a:solidFill>
                  <a:srgbClr val="202020"/>
                </a:solidFill>
                <a:latin typeface="Calibri"/>
              </a:rPr>
              <a:t> reports drift counts and writes </a:t>
            </a:r>
            <a:r>
              <a:rPr sz="1200" b="0" i="0">
                <a:solidFill>
                  <a:srgbClr val="202020"/>
                </a:solidFill>
                <a:latin typeface="Consolas"/>
              </a:rPr>
              <a:t>reacl_report_*.jsonl</a:t>
            </a:r>
            <a:r>
              <a:rPr sz="1250" b="0" i="0">
                <a:solidFill>
                  <a:srgbClr val="202020"/>
                </a:solidFill>
                <a:latin typeface="Calibri"/>
              </a:rPr>
              <a:t> without changing anything, and exits non-zero if genuine drift is found (handy in a scheduled compliance job).</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491</a:t>
            </a:r>
          </a:p>
        </p:txBody>
      </p:sp>
    </p:spTree>
  </p:cSld>
  <p:clrMapOvr>
    <a:masterClrMapping/>
  </p:clrMapOvr>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Why re-ACL never widens access on an unresolved identity</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same compliance guarantee from section 5 applies here, and it matters most here. If an item's permissions cannot be resolved during a re-ACL — whether because the fallback would skip the item, or because the source has principals but none currently maps — the indexed ACL is </a:t>
            </a:r>
            <a:r>
              <a:rPr sz="1250" b="1" i="0">
                <a:solidFill>
                  <a:srgbClr val="202020"/>
                </a:solidFill>
                <a:latin typeface="Calibri"/>
              </a:rPr>
              <a:t>left unchanged</a:t>
            </a:r>
            <a:r>
              <a:rPr sz="1250" b="0" i="0">
                <a:solidFill>
                  <a:srgbClr val="202020"/>
                </a:solidFill>
                <a:latin typeface="Calibri"/>
              </a:rPr>
              <a:t>. A resolution failure never causes a re-ACL to broaden access; in particular, a stale identity store can never cause a restricted item to be re-ACLed tenant-wide. The event is logged and a later crawl re-resolves once identity recovers.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492</a:t>
            </a:r>
          </a:p>
        </p:txBody>
      </p:sp>
    </p:spTree>
  </p:cSld>
  <p:clrMapOvr>
    <a:masterClrMapping/>
  </p:clrMapOvr>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Classification-enforced items stay locked through re-ACL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If you turn on optional classification enforcement (</a:t>
            </a:r>
            <a:r>
              <a:rPr sz="1200" b="0" i="0">
                <a:solidFill>
                  <a:srgbClr val="202020"/>
                </a:solidFill>
                <a:latin typeface="Consolas"/>
              </a:rPr>
              <a:t>CLASSIFICATION_ENFORCE_ACL=true</a:t>
            </a:r>
            <a:r>
              <a:rPr sz="1250" b="0" i="0">
                <a:solidFill>
                  <a:srgbClr val="202020"/>
                </a:solidFill>
                <a:latin typeface="Calibri"/>
              </a:rPr>
              <a:t> with </a:t>
            </a:r>
            <a:r>
              <a:rPr sz="1200" b="0" i="0">
                <a:solidFill>
                  <a:srgbClr val="202020"/>
                </a:solidFill>
                <a:latin typeface="Consolas"/>
              </a:rPr>
              <a:t>CLASSIFICATION_ENFORCE_GROUP</a:t>
            </a:r>
            <a:r>
              <a:rPr sz="1250" b="0" i="0">
                <a:solidFill>
                  <a:srgbClr val="202020"/>
                </a:solidFill>
                <a:latin typeface="Calibri"/>
              </a:rPr>
              <a:t>, section 15), an item whose advisory tag is </a:t>
            </a:r>
            <a:r>
              <a:rPr sz="1250" b="1" i="0">
                <a:solidFill>
                  <a:srgbClr val="202020"/>
                </a:solidFill>
                <a:latin typeface="Calibri"/>
              </a:rPr>
              <a:t>Restricted</a:t>
            </a:r>
            <a:r>
              <a:rPr sz="1250" b="0" i="0">
                <a:solidFill>
                  <a:srgbClr val="202020"/>
                </a:solidFill>
                <a:latin typeface="Calibri"/>
              </a:rPr>
              <a:t> has its Graph ACL locked to that one Entra enforcement group instead of to its resolved source principals. The re-ACL sweep respects that lock — it does </a:t>
            </a:r>
            <a:r>
              <a:rPr sz="1250" b="1" i="0">
                <a:solidFill>
                  <a:srgbClr val="202020"/>
                </a:solidFill>
                <a:latin typeface="Calibri"/>
              </a:rPr>
              <a:t>not</a:t>
            </a:r>
            <a:r>
              <a:rPr sz="1250" b="0" i="0">
                <a:solidFill>
                  <a:srgbClr val="202020"/>
                </a:solidFill>
                <a:latin typeface="Calibri"/>
              </a:rPr>
              <a:t> treat the lock as drift:</a:t>
            </a:r>
          </a:p>
          <a:p>
            <a:pPr>
              <a:spcBef>
                <a:spcPts val="100"/>
              </a:spcBef>
              <a:spcAft>
                <a:spcPts val="200"/>
              </a:spcAft>
            </a:pPr>
            <a:r>
              <a:rPr sz="1250" b="1" i="0">
                <a:solidFill>
                  <a:srgbClr val="2E5496"/>
                </a:solidFill>
                <a:latin typeface="Calibri"/>
              </a:rPr>
              <a:t>•  </a:t>
            </a:r>
            <a:r>
              <a:rPr sz="1250" b="0" i="0">
                <a:solidFill>
                  <a:srgbClr val="202020"/>
                </a:solidFill>
                <a:latin typeface="Calibri"/>
              </a:rPr>
              <a:t>A </a:t>
            </a:r>
            <a:r>
              <a:rPr sz="1250" b="1" i="0">
                <a:solidFill>
                  <a:srgbClr val="202020"/>
                </a:solidFill>
                <a:latin typeface="Calibri"/>
              </a:rPr>
              <a:t>source-permission drift</a:t>
            </a:r>
            <a:r>
              <a:rPr sz="1250" b="0" i="0">
                <a:solidFill>
                  <a:srgbClr val="202020"/>
                </a:solidFill>
                <a:latin typeface="Calibri"/>
              </a:rPr>
              <a:t> on a locked item does </a:t>
            </a:r>
            <a:r>
              <a:rPr sz="1250" b="1" i="0">
                <a:solidFill>
                  <a:srgbClr val="202020"/>
                </a:solidFill>
                <a:latin typeface="Calibri"/>
              </a:rPr>
              <a:t>not</a:t>
            </a:r>
            <a:r>
              <a:rPr sz="1250" b="0" i="0">
                <a:solidFill>
                  <a:srgbClr val="202020"/>
                </a:solidFill>
                <a:latin typeface="Calibri"/>
              </a:rPr>
              <a:t> re-widen it. The re-ACL sweep (</a:t>
            </a:r>
            <a:r>
              <a:rPr sz="1200" b="0" i="0">
                <a:solidFill>
                  <a:srgbClr val="202020"/>
                </a:solidFill>
                <a:latin typeface="Consolas"/>
              </a:rPr>
              <a:t>PERMISSION_REACL</a:t>
            </a:r>
            <a:r>
              <a:rPr sz="1250" b="0" i="0">
                <a:solidFill>
                  <a:srgbClr val="202020"/>
                </a:solidFill>
                <a:latin typeface="Calibri"/>
              </a:rPr>
              <a:t> / the </a:t>
            </a:r>
            <a:r>
              <a:rPr sz="1200" b="0" i="0">
                <a:solidFill>
                  <a:srgbClr val="202020"/>
                </a:solidFill>
                <a:latin typeface="Consolas"/>
              </a:rPr>
              <a:t>reacl</a:t>
            </a:r>
            <a:r>
              <a:rPr sz="1250" b="0" i="0">
                <a:solidFill>
                  <a:srgbClr val="202020"/>
                </a:solidFill>
                <a:latin typeface="Calibri"/>
              </a:rPr>
              <a:t> command) keeps the item locked to the enforcement group even when the underlying Seismic permissions change — the resolved source principals are not re-applied while the item is Restricted-and-enforced.</a:t>
            </a:r>
          </a:p>
          <a:p>
            <a:pPr>
              <a:spcBef>
                <a:spcPts val="100"/>
              </a:spcBef>
              <a:spcAft>
                <a:spcPts val="200"/>
              </a:spcAft>
            </a:pPr>
            <a:r>
              <a:rPr sz="1250" b="1" i="0">
                <a:solidFill>
                  <a:srgbClr val="2E5496"/>
                </a:solidFill>
                <a:latin typeface="Calibri"/>
              </a:rPr>
              <a:t>•  </a:t>
            </a:r>
            <a:r>
              <a:rPr sz="1250" b="0" i="0">
                <a:solidFill>
                  <a:srgbClr val="202020"/>
                </a:solidFill>
                <a:latin typeface="Calibri"/>
              </a:rPr>
              <a:t>If you </a:t>
            </a:r>
            <a:r>
              <a:rPr sz="1250" b="1" i="0">
                <a:solidFill>
                  <a:srgbClr val="202020"/>
                </a:solidFill>
                <a:latin typeface="Calibri"/>
              </a:rPr>
              <a:t>reconfigure the enforcement group</a:t>
            </a:r>
            <a:r>
              <a:rPr sz="1250" b="0" i="0">
                <a:solidFill>
                  <a:srgbClr val="202020"/>
                </a:solidFill>
                <a:latin typeface="Calibri"/>
              </a:rPr>
              <a:t> (point </a:t>
            </a:r>
            <a:r>
              <a:rPr sz="1200" b="0" i="0">
                <a:solidFill>
                  <a:srgbClr val="202020"/>
                </a:solidFill>
                <a:latin typeface="Consolas"/>
              </a:rPr>
              <a:t>CLASSIFICATION_ENFORCE_GROUP</a:t>
            </a:r>
            <a:r>
              <a:rPr sz="1250" b="0" i="0">
                <a:solidFill>
                  <a:srgbClr val="202020"/>
                </a:solidFill>
                <a:latin typeface="Calibri"/>
              </a:rPr>
              <a:t> at a different Entra group), the next re-ACL re-locks the item to the new group.</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493</a:t>
            </a:r>
          </a:p>
        </p:txBody>
      </p:sp>
    </p:spTree>
  </p:cSld>
  <p:clrMapOvr>
    <a:masterClrMapping/>
  </p:clrMapOvr>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Classification-enforced items stay locked through re-ACL</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0" i="0">
                <a:solidFill>
                  <a:srgbClr val="202020"/>
                </a:solidFill>
                <a:latin typeface="Calibri"/>
              </a:rPr>
              <a:t>The item </a:t>
            </a:r>
            <a:r>
              <a:rPr sz="1250" b="1" i="0">
                <a:solidFill>
                  <a:srgbClr val="202020"/>
                </a:solidFill>
                <a:latin typeface="Calibri"/>
              </a:rPr>
              <a:t>reverts to its normal source-derived ACL only when enforcement is turned off</a:t>
            </a:r>
            <a:r>
              <a:rPr sz="1250" b="0" i="0">
                <a:solidFill>
                  <a:srgbClr val="202020"/>
                </a:solidFill>
                <a:latin typeface="Calibri"/>
              </a:rPr>
              <a:t> (</a:t>
            </a:r>
            <a:r>
              <a:rPr sz="1200" b="0" i="0">
                <a:solidFill>
                  <a:srgbClr val="202020"/>
                </a:solidFill>
                <a:latin typeface="Consolas"/>
              </a:rPr>
              <a:t>CLASSIFICATION_ENFORCE_ACL=false</a:t>
            </a:r>
            <a:r>
              <a:rPr sz="1250" b="0" i="0">
                <a:solidFill>
                  <a:srgbClr val="202020"/>
                </a:solidFill>
                <a:latin typeface="Calibri"/>
              </a:rPr>
              <a:t>, or the item no longer classifies as Restricted); the next re-ACL then re-applies the resolved source principals.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494</a:t>
            </a:r>
          </a:p>
        </p:txBody>
      </p:sp>
    </p:spTree>
  </p:cSld>
  <p:clrMapOvr>
    <a:masterClrMapping/>
  </p:clrMapOvr>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Classification-enforced items stay locked through re-ACL</a:t>
            </a:r>
          </a:p>
        </p:txBody>
      </p:sp>
      <p:sp>
        <p:nvSpPr>
          <p:cNvPr id="5" name="Rectangle 4"/>
          <p:cNvSpPr/>
          <p:nvPr/>
        </p:nvSpPr>
        <p:spPr>
          <a:xfrm>
            <a:off x="502920" y="1463040"/>
            <a:ext cx="11185855" cy="329184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5496"/>
                </a:solidFill>
                <a:latin typeface="Calibri"/>
              </a:rPr>
              <a:t>Note:  </a:t>
            </a:r>
            <a:r>
              <a:rPr sz="1400" b="1" i="0">
                <a:solidFill>
                  <a:srgbClr val="202020"/>
                </a:solidFill>
                <a:latin typeface="Calibri"/>
              </a:rPr>
              <a:t>Note: </a:t>
            </a:r>
            <a:r>
              <a:rPr sz="1400" b="0" i="0">
                <a:solidFill>
                  <a:srgbClr val="202020"/>
                </a:solidFill>
                <a:latin typeface="Calibri"/>
              </a:rPr>
              <a:t>Re-ACL activity is visible on </a:t>
            </a:r>
            <a:r>
              <a:rPr sz="1350" b="0" i="0">
                <a:solidFill>
                  <a:srgbClr val="202020"/>
                </a:solidFill>
                <a:latin typeface="Consolas"/>
              </a:rPr>
              <a:t>items_reacled_total</a:t>
            </a:r>
            <a:r>
              <a:rPr sz="1400" b="0" i="0">
                <a:solidFill>
                  <a:srgbClr val="202020"/>
                </a:solidFill>
                <a:latin typeface="Calibri"/>
              </a:rPr>
              <a:t> and </a:t>
            </a:r>
            <a:r>
              <a:rPr sz="1350" b="0" i="0">
                <a:solidFill>
                  <a:srgbClr val="202020"/>
                </a:solidFill>
                <a:latin typeface="Consolas"/>
              </a:rPr>
              <a:t>acl_drift_detected_total</a:t>
            </a:r>
            <a:r>
              <a:rPr sz="1400" b="0" i="0">
                <a:solidFill>
                  <a:srgbClr val="202020"/>
                </a:solidFill>
                <a:latin typeface="Calibri"/>
              </a:rPr>
              <a:t>, and an </a:t>
            </a:r>
            <a:r>
              <a:rPr sz="1350" b="0" i="0">
                <a:solidFill>
                  <a:srgbClr val="202020"/>
                </a:solidFill>
                <a:latin typeface="Consolas"/>
              </a:rPr>
              <a:t>acl_drift</a:t>
            </a:r>
            <a:r>
              <a:rPr sz="1400" b="0" i="0">
                <a:solidFill>
                  <a:srgbClr val="202020"/>
                </a:solidFill>
                <a:latin typeface="Calibri"/>
              </a:rPr>
              <a:t> webhook alert fires when drift is detected. A sudden jump is expected after a real permission change; an unexplained one is worth investigating (section 14, re-acl-storm).</a:t>
            </a:r>
          </a:p>
        </p:txBody>
      </p:sp>
      <p:sp>
        <p:nvSpPr>
          <p:cNvPr id="6" name="Rectangle 5"/>
          <p:cNvSpPr/>
          <p:nvPr/>
        </p:nvSpPr>
        <p:spPr>
          <a:xfrm>
            <a:off x="502920" y="1463040"/>
            <a:ext cx="128016" cy="329184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495</a:t>
            </a:r>
          </a:p>
        </p:txBody>
      </p:sp>
    </p:spTree>
  </p:cSld>
  <p:clrMapOvr>
    <a:masterClrMapping/>
  </p:clrMapOvr>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Seismic Connector</a:t>
            </a:r>
          </a:p>
          <a:p>
            <a:r>
              <a:rPr sz="3000" b="1" i="0">
                <a:solidFill>
                  <a:srgbClr val="1F3864"/>
                </a:solidFill>
                <a:latin typeface="Calibri"/>
              </a:rPr>
              <a:t>9. Near-real-time updates: webhooks</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496</a:t>
            </a:r>
          </a:p>
        </p:txBody>
      </p:sp>
    </p:spTree>
  </p:cSld>
  <p:clrMapOvr>
    <a:masterClrMapping/>
  </p:clrMapOvr>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 Near-real-time updates: webhooks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Polling on a schedule is always on and is the safety net. For faster updates the connector can also accept </a:t>
            </a:r>
            <a:r>
              <a:rPr sz="1250" b="1" i="0">
                <a:solidFill>
                  <a:srgbClr val="202020"/>
                </a:solidFill>
                <a:latin typeface="Calibri"/>
              </a:rPr>
              <a:t>webhooks</a:t>
            </a:r>
            <a:r>
              <a:rPr sz="1250" b="0" i="0">
                <a:solidFill>
                  <a:srgbClr val="202020"/>
                </a:solidFill>
                <a:latin typeface="Calibri"/>
              </a:rPr>
              <a:t> — small HTTP notifications Seismic sends when content changes — so an update or withdrawal can happen within seconds instead of waiting for the next crawl.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497</a:t>
            </a:r>
          </a:p>
        </p:txBody>
      </p:sp>
    </p:spTree>
  </p:cSld>
  <p:clrMapOvr>
    <a:masterClrMapping/>
  </p:clrMapOvr>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The security boundary: HMAC, validated before parsing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webhook receiver is the only inbound write path into the connector, so it is locked down. Every request must carry an </a:t>
            </a:r>
            <a:r>
              <a:rPr sz="1250" b="1" i="0">
                <a:solidFill>
                  <a:srgbClr val="202020"/>
                </a:solidFill>
                <a:latin typeface="Calibri"/>
              </a:rPr>
              <a:t>HMAC-SHA256</a:t>
            </a:r>
            <a:r>
              <a:rPr sz="1250" b="0" i="0">
                <a:solidFill>
                  <a:srgbClr val="202020"/>
                </a:solidFill>
                <a:latin typeface="Calibri"/>
              </a:rPr>
              <a:t> signature — computed by the sender over the exact raw request body using a shared secret — in the </a:t>
            </a:r>
            <a:r>
              <a:rPr sz="1200" b="0" i="0">
                <a:solidFill>
                  <a:srgbClr val="202020"/>
                </a:solidFill>
                <a:latin typeface="Consolas"/>
              </a:rPr>
              <a:t>X-Seismic-Signature</a:t>
            </a:r>
            <a:r>
              <a:rPr sz="1250" b="0" i="0">
                <a:solidFill>
                  <a:srgbClr val="202020"/>
                </a:solidFill>
                <a:latin typeface="Calibri"/>
              </a:rPr>
              <a:t> header (hex or base64, with an optional </a:t>
            </a:r>
            <a:r>
              <a:rPr sz="1200" b="0" i="0">
                <a:solidFill>
                  <a:srgbClr val="202020"/>
                </a:solidFill>
                <a:latin typeface="Consolas"/>
              </a:rPr>
              <a:t>sha256=</a:t>
            </a:r>
            <a:r>
              <a:rPr sz="1250" b="0" i="0">
                <a:solidFill>
                  <a:srgbClr val="202020"/>
                </a:solidFill>
                <a:latin typeface="Calibri"/>
              </a:rPr>
              <a:t> prefix). The receiver:</a:t>
            </a:r>
          </a:p>
          <a:p>
            <a:pPr>
              <a:spcBef>
                <a:spcPts val="100"/>
              </a:spcBef>
              <a:spcAft>
                <a:spcPts val="200"/>
              </a:spcAft>
            </a:pPr>
            <a:r>
              <a:rPr sz="1250" b="1" i="0">
                <a:solidFill>
                  <a:srgbClr val="2E5496"/>
                </a:solidFill>
                <a:latin typeface="Calibri"/>
              </a:rPr>
              <a:t>•  </a:t>
            </a:r>
            <a:r>
              <a:rPr sz="1250" b="0" i="0">
                <a:solidFill>
                  <a:srgbClr val="202020"/>
                </a:solidFill>
                <a:latin typeface="Calibri"/>
              </a:rPr>
              <a:t>validates the signature over the </a:t>
            </a:r>
            <a:r>
              <a:rPr sz="1250" b="1" i="0">
                <a:solidFill>
                  <a:srgbClr val="202020"/>
                </a:solidFill>
                <a:latin typeface="Calibri"/>
              </a:rPr>
              <a:t>exact raw bytes, before any JSON is parsed or anything is enqueued</a:t>
            </a:r>
            <a:r>
              <a:rPr sz="1250" b="0" i="0">
                <a:solidFill>
                  <a:srgbClr val="202020"/>
                </a:solidFill>
                <a:latin typeface="Calibri"/>
              </a:rPr>
              <a:t> — an unsigned or wrongly-signed request is rejected with </a:t>
            </a:r>
            <a:r>
              <a:rPr sz="1200" b="0" i="0">
                <a:solidFill>
                  <a:srgbClr val="202020"/>
                </a:solidFill>
                <a:latin typeface="Consolas"/>
              </a:rPr>
              <a:t>401</a:t>
            </a:r>
            <a:r>
              <a:rPr sz="1250" b="0" i="0">
                <a:solidFill>
                  <a:srgbClr val="202020"/>
                </a:solidFill>
                <a:latin typeface="Calibri"/>
              </a:rPr>
              <a:t> and nothing is acted on;</a:t>
            </a:r>
          </a:p>
          <a:p>
            <a:pPr>
              <a:spcBef>
                <a:spcPts val="100"/>
              </a:spcBef>
              <a:spcAft>
                <a:spcPts val="200"/>
              </a:spcAft>
            </a:pPr>
            <a:r>
              <a:rPr sz="1250" b="1" i="0">
                <a:solidFill>
                  <a:srgbClr val="2E5496"/>
                </a:solidFill>
                <a:latin typeface="Calibri"/>
              </a:rPr>
              <a:t>•  </a:t>
            </a:r>
            <a:r>
              <a:rPr sz="1250" b="0" i="0">
                <a:solidFill>
                  <a:srgbClr val="202020"/>
                </a:solidFill>
                <a:latin typeface="Calibri"/>
              </a:rPr>
              <a:t>uses a </a:t>
            </a:r>
            <a:r>
              <a:rPr sz="1250" b="1" i="0">
                <a:solidFill>
                  <a:srgbClr val="202020"/>
                </a:solidFill>
                <a:latin typeface="Calibri"/>
              </a:rPr>
              <a:t>constant-time</a:t>
            </a:r>
            <a:r>
              <a:rPr sz="1250" b="0" i="0">
                <a:solidFill>
                  <a:srgbClr val="202020"/>
                </a:solidFill>
                <a:latin typeface="Calibri"/>
              </a:rPr>
              <a:t> comparison, so the check leaks no timing information;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498</a:t>
            </a:r>
          </a:p>
        </p:txBody>
      </p:sp>
    </p:spTree>
  </p:cSld>
  <p:clrMapOvr>
    <a:masterClrMapping/>
  </p:clrMapOvr>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The security boundary: HMAC, validated before parsing</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0" i="0">
                <a:solidFill>
                  <a:srgbClr val="202020"/>
                </a:solidFill>
                <a:latin typeface="Calibri"/>
              </a:rPr>
              <a:t>is </a:t>
            </a:r>
            <a:r>
              <a:rPr sz="1250" b="1" i="0">
                <a:solidFill>
                  <a:srgbClr val="202020"/>
                </a:solidFill>
                <a:latin typeface="Calibri"/>
              </a:rPr>
              <a:t>fail-closed</a:t>
            </a:r>
            <a:r>
              <a:rPr sz="1250" b="0" i="0">
                <a:solidFill>
                  <a:srgbClr val="202020"/>
                </a:solidFill>
                <a:latin typeface="Calibri"/>
              </a:rPr>
              <a:t>: if the webhook port is set but no secret is configured, the receiver </a:t>
            </a:r>
            <a:r>
              <a:rPr sz="1250" b="1" i="0">
                <a:solidFill>
                  <a:srgbClr val="202020"/>
                </a:solidFill>
                <a:latin typeface="Calibri"/>
              </a:rPr>
              <a:t>refuses to start</a:t>
            </a:r>
            <a:r>
              <a:rPr sz="1250" b="0" i="0">
                <a:solidFill>
                  <a:srgbClr val="202020"/>
                </a:solidFill>
                <a:latin typeface="Calibri"/>
              </a:rPr>
              <a:t> and the connector falls back to polling only — it never exposes an unauthenticated endpoint.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499</a:t>
            </a:r>
          </a:p>
        </p:txBody>
      </p:sp>
    </p:spTree>
  </p:cSld>
  <p:clrMapOvr>
    <a:masterClrMapping/>
  </p:clrMapOvr>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Anti-replay: the signed timestamp (default on)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 valid HMAC proves a request was signed with the shared secret, but on its own it does not stop someone who </a:t>
            </a:r>
            <a:r>
              <a:rPr sz="1250" b="1" i="0">
                <a:solidFill>
                  <a:srgbClr val="202020"/>
                </a:solidFill>
                <a:latin typeface="Calibri"/>
              </a:rPr>
              <a:t>captured</a:t>
            </a:r>
            <a:r>
              <a:rPr sz="1250" b="0" i="0">
                <a:solidFill>
                  <a:srgbClr val="202020"/>
                </a:solidFill>
                <a:latin typeface="Calibri"/>
              </a:rPr>
              <a:t> a genuine past request from replaying it. As of v1.1 the receiver defends against that:</a:t>
            </a:r>
          </a:p>
          <a:p>
            <a:pPr>
              <a:spcBef>
                <a:spcPts val="100"/>
              </a:spcBef>
              <a:spcAft>
                <a:spcPts val="200"/>
              </a:spcAft>
            </a:pPr>
            <a:r>
              <a:rPr sz="1250" b="1" i="0">
                <a:solidFill>
                  <a:srgbClr val="2E5496"/>
                </a:solidFill>
                <a:latin typeface="Calibri"/>
              </a:rPr>
              <a:t>•  </a:t>
            </a:r>
            <a:r>
              <a:rPr sz="1250" b="0" i="0">
                <a:solidFill>
                  <a:srgbClr val="202020"/>
                </a:solidFill>
                <a:latin typeface="Calibri"/>
              </a:rPr>
              <a:t>The sender sends a </a:t>
            </a:r>
            <a:r>
              <a:rPr sz="1250" b="1" i="0">
                <a:solidFill>
                  <a:srgbClr val="202020"/>
                </a:solidFill>
                <a:latin typeface="Calibri"/>
              </a:rPr>
              <a:t>signed timestamp</a:t>
            </a:r>
            <a:r>
              <a:rPr sz="1250" b="0" i="0">
                <a:solidFill>
                  <a:srgbClr val="202020"/>
                </a:solidFill>
                <a:latin typeface="Calibri"/>
              </a:rPr>
              <a:t> header (</a:t>
            </a:r>
            <a:r>
              <a:rPr sz="1200" b="0" i="0">
                <a:solidFill>
                  <a:srgbClr val="202020"/>
                </a:solidFill>
                <a:latin typeface="Consolas"/>
              </a:rPr>
              <a:t>X-Seismic-Timestamp</a:t>
            </a:r>
            <a:r>
              <a:rPr sz="1250" b="0" i="0">
                <a:solidFill>
                  <a:srgbClr val="202020"/>
                </a:solidFill>
                <a:latin typeface="Calibri"/>
              </a:rPr>
              <a:t> by default, Unix seconds or ISO-8601) and computes the HMAC over </a:t>
            </a:r>
            <a:r>
              <a:rPr sz="1200" b="0" i="0">
                <a:solidFill>
                  <a:srgbClr val="202020"/>
                </a:solidFill>
                <a:latin typeface="Consolas"/>
              </a:rPr>
              <a:t>{timestamp}.{body}</a:t>
            </a:r>
            <a:r>
              <a:rPr sz="1250" b="0" i="0">
                <a:solidFill>
                  <a:srgbClr val="202020"/>
                </a:solidFill>
                <a:latin typeface="Calibri"/>
              </a:rPr>
              <a:t> — the timestamp is </a:t>
            </a:r>
            <a:r>
              <a:rPr sz="1250" b="1" i="0">
                <a:solidFill>
                  <a:srgbClr val="202020"/>
                </a:solidFill>
                <a:latin typeface="Calibri"/>
              </a:rPr>
              <a:t>bound into</a:t>
            </a:r>
            <a:r>
              <a:rPr sz="1250" b="0" i="0">
                <a:solidFill>
                  <a:srgbClr val="202020"/>
                </a:solidFill>
                <a:latin typeface="Calibri"/>
              </a:rPr>
              <a:t> the signature, so it cannot be altered without breaking the HMAC.</a:t>
            </a:r>
          </a:p>
          <a:p>
            <a:pPr>
              <a:spcBef>
                <a:spcPts val="100"/>
              </a:spcBef>
              <a:spcAft>
                <a:spcPts val="200"/>
              </a:spcAft>
            </a:pPr>
            <a:r>
              <a:rPr sz="1250" b="1" i="0">
                <a:solidFill>
                  <a:srgbClr val="2E5496"/>
                </a:solidFill>
                <a:latin typeface="Calibri"/>
              </a:rPr>
              <a:t>•  </a:t>
            </a:r>
            <a:r>
              <a:rPr sz="1250" b="0" i="0">
                <a:solidFill>
                  <a:srgbClr val="202020"/>
                </a:solidFill>
                <a:latin typeface="Calibri"/>
              </a:rPr>
              <a:t>The receiver rejects, </a:t>
            </a:r>
            <a:r>
              <a:rPr sz="1250" b="1" i="0">
                <a:solidFill>
                  <a:srgbClr val="202020"/>
                </a:solidFill>
                <a:latin typeface="Calibri"/>
              </a:rPr>
              <a:t>before parsing or enqueuing</a:t>
            </a:r>
            <a:r>
              <a:rPr sz="1250" b="0" i="0">
                <a:solidFill>
                  <a:srgbClr val="202020"/>
                </a:solidFill>
                <a:latin typeface="Calibri"/>
              </a:rPr>
              <a:t>, any request whose timestamp is </a:t>
            </a:r>
            <a:r>
              <a:rPr sz="1250" b="1" i="0">
                <a:solidFill>
                  <a:srgbClr val="202020"/>
                </a:solidFill>
                <a:latin typeface="Calibri"/>
              </a:rPr>
              <a:t>stale or in the future</a:t>
            </a:r>
            <a:r>
              <a:rPr sz="1250" b="0" i="0">
                <a:solidFill>
                  <a:srgbClr val="202020"/>
                </a:solidFill>
                <a:latin typeface="Calibri"/>
              </a:rPr>
              <a:t> (outside the freshness window) and any </a:t>
            </a:r>
            <a:r>
              <a:rPr sz="1250" b="1" i="0">
                <a:solidFill>
                  <a:srgbClr val="202020"/>
                </a:solidFill>
                <a:latin typeface="Calibri"/>
              </a:rPr>
              <a:t>duplicate signature</a:t>
            </a:r>
            <a:r>
              <a:rPr sz="1250" b="0" i="0">
                <a:solidFill>
                  <a:srgbClr val="202020"/>
                </a:solidFill>
                <a:latin typeface="Calibri"/>
              </a:rPr>
              <a:t> seen again within that window (replay) — a stale/future/replayed/missing-timestamp post is refused with a </a:t>
            </a:r>
            <a:r>
              <a:rPr sz="1200" b="0" i="0">
                <a:solidFill>
                  <a:srgbClr val="202020"/>
                </a:solidFill>
                <a:latin typeface="Consolas"/>
              </a:rPr>
              <a:t>401</a:t>
            </a:r>
            <a:r>
              <a:rPr sz="1250" b="0" i="0">
                <a:solidFill>
                  <a:srgbClr val="202020"/>
                </a:solidFill>
                <a:latin typeface="Calibri"/>
              </a:rPr>
              <a:t>/</a:t>
            </a:r>
            <a:r>
              <a:rPr sz="1200" b="0" i="0">
                <a:solidFill>
                  <a:srgbClr val="202020"/>
                </a:solidFill>
                <a:latin typeface="Consolas"/>
              </a:rPr>
              <a:t>409</a:t>
            </a:r>
            <a:r>
              <a:rPr sz="1250" b="0" i="0">
                <a:solidFill>
                  <a:srgbClr val="202020"/>
                </a:solidFill>
                <a:latin typeface="Calibri"/>
              </a:rPr>
              <a:t>, and nothing is acted on.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500</a:t>
            </a:r>
          </a:p>
        </p:txBody>
      </p:sp>
    </p:spTree>
  </p:cSld>
  <p:clrMapOvr>
    <a:masterClrMapping/>
  </p:clrMapOvr>
</p:sld>
</file>

<file path=ppt/slides/slide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Anti-replay: the signed timestamp (default on)</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0" i="0">
                <a:solidFill>
                  <a:srgbClr val="202020"/>
                </a:solidFill>
                <a:latin typeface="Calibri"/>
              </a:rPr>
              <a:t>This is controlled by </a:t>
            </a:r>
            <a:r>
              <a:rPr sz="1200" b="1" i="0">
                <a:solidFill>
                  <a:srgbClr val="202020"/>
                </a:solidFill>
                <a:latin typeface="Consolas"/>
              </a:rPr>
              <a:t>SEISMIC_WEBHOOK_REQUIRE_TIMESTAMP</a:t>
            </a:r>
            <a:r>
              <a:rPr sz="1250" b="1" i="0">
                <a:solidFill>
                  <a:srgbClr val="202020"/>
                </a:solidFill>
                <a:latin typeface="Calibri"/>
              </a:rPr>
              <a:t> (default </a:t>
            </a:r>
            <a:r>
              <a:rPr sz="1200" b="1" i="0">
                <a:solidFill>
                  <a:srgbClr val="202020"/>
                </a:solidFill>
                <a:latin typeface="Consolas"/>
              </a:rPr>
              <a:t>true</a:t>
            </a:r>
            <a:r>
              <a:rPr sz="1250" b="1" i="0">
                <a:solidFill>
                  <a:srgbClr val="202020"/>
                </a:solidFill>
                <a:latin typeface="Calibri"/>
              </a:rPr>
              <a:t>)</a:t>
            </a:r>
            <a:r>
              <a:rPr sz="1250" b="0" i="0">
                <a:solidFill>
                  <a:srgbClr val="202020"/>
                </a:solidFill>
                <a:latin typeface="Calibri"/>
              </a:rPr>
              <a:t>. Set it to </a:t>
            </a:r>
            <a:r>
              <a:rPr sz="1200" b="0" i="0">
                <a:solidFill>
                  <a:srgbClr val="202020"/>
                </a:solidFill>
                <a:latin typeface="Consolas"/>
              </a:rPr>
              <a:t>false</a:t>
            </a:r>
            <a:r>
              <a:rPr sz="1250" b="0" i="0">
                <a:solidFill>
                  <a:srgbClr val="202020"/>
                </a:solidFill>
                <a:latin typeface="Calibri"/>
              </a:rPr>
              <a:t> </a:t>
            </a:r>
            <a:r>
              <a:rPr sz="1250" b="1" i="0">
                <a:solidFill>
                  <a:srgbClr val="202020"/>
                </a:solidFill>
                <a:latin typeface="Calibri"/>
              </a:rPr>
              <a:t>only</a:t>
            </a:r>
            <a:r>
              <a:rPr sz="1250" b="0" i="0">
                <a:solidFill>
                  <a:srgbClr val="202020"/>
                </a:solidFill>
                <a:latin typeface="Calibri"/>
              </a:rPr>
              <a:t> as a temporary migration mode for a legacy sender that cannot yet send a signed timestamp — those requests fall back to body-only HMAC </a:t>
            </a:r>
            <a:r>
              <a:rPr sz="1250" b="1" i="0">
                <a:solidFill>
                  <a:srgbClr val="202020"/>
                </a:solidFill>
                <a:latin typeface="Calibri"/>
              </a:rPr>
              <a:t>with no replay protection</a:t>
            </a:r>
            <a:r>
              <a:rPr sz="1250" b="0" i="0">
                <a:solidFill>
                  <a:srgbClr val="202020"/>
                </a:solidFill>
                <a:latin typeface="Calibri"/>
              </a:rPr>
              <a:t>. The freshness window (and how long a seen signature is remembered) is </a:t>
            </a:r>
            <a:r>
              <a:rPr sz="1200" b="0" i="0">
                <a:solidFill>
                  <a:srgbClr val="202020"/>
                </a:solidFill>
                <a:latin typeface="Consolas"/>
              </a:rPr>
              <a:t>SEISMIC_WEBHOOK_REPLAY_WINDOW_SECONDS</a:t>
            </a:r>
            <a:r>
              <a:rPr sz="1250" b="0" i="0">
                <a:solidFill>
                  <a:srgbClr val="202020"/>
                </a:solidFill>
                <a:latin typeface="Calibri"/>
              </a:rPr>
              <a:t> (default </a:t>
            </a:r>
            <a:r>
              <a:rPr sz="1200" b="0" i="0">
                <a:solidFill>
                  <a:srgbClr val="202020"/>
                </a:solidFill>
                <a:latin typeface="Consolas"/>
              </a:rPr>
              <a:t>300</a:t>
            </a:r>
            <a:r>
              <a:rPr sz="1250" b="0" i="0">
                <a:solidFill>
                  <a:srgbClr val="202020"/>
                </a:solidFill>
                <a:latin typeface="Calibri"/>
              </a:rPr>
              <a:t>, i.e. 5 minutes).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501</a:t>
            </a:r>
          </a:p>
        </p:txBody>
      </p:sp>
    </p:spTree>
  </p:cSld>
  <p:clrMapOvr>
    <a:masterClrMapping/>
  </p:clrMapOvr>
</p:sld>
</file>

<file path=ppt/slides/slide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Bounds that protect the process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0" i="0">
                <a:solidFill>
                  <a:srgbClr val="202020"/>
                </a:solidFill>
                <a:latin typeface="Calibri"/>
              </a:rPr>
              <a:t>Request bodies are capped at </a:t>
            </a:r>
            <a:r>
              <a:rPr sz="1250" b="1" i="0">
                <a:solidFill>
                  <a:srgbClr val="202020"/>
                </a:solidFill>
                <a:latin typeface="Calibri"/>
              </a:rPr>
              <a:t>1 MiB</a:t>
            </a:r>
            <a:r>
              <a:rPr sz="1250" b="0" i="0">
                <a:solidFill>
                  <a:srgbClr val="202020"/>
                </a:solidFill>
                <a:latin typeface="Calibri"/>
              </a:rPr>
              <a:t> (rejected with </a:t>
            </a:r>
            <a:r>
              <a:rPr sz="1200" b="0" i="0">
                <a:solidFill>
                  <a:srgbClr val="202020"/>
                </a:solidFill>
                <a:latin typeface="Consolas"/>
              </a:rPr>
              <a:t>413</a:t>
            </a:r>
            <a:r>
              <a:rPr sz="1250" b="0" i="0">
                <a:solidFill>
                  <a:srgbClr val="202020"/>
                </a:solidFill>
                <a:latin typeface="Calibri"/>
              </a:rPr>
              <a:t> if larger).</a:t>
            </a:r>
          </a:p>
          <a:p>
            <a:pPr>
              <a:spcBef>
                <a:spcPts val="100"/>
              </a:spcBef>
              <a:spcAft>
                <a:spcPts val="200"/>
              </a:spcAft>
            </a:pPr>
            <a:r>
              <a:rPr sz="1250" b="1" i="0">
                <a:solidFill>
                  <a:srgbClr val="2E5496"/>
                </a:solidFill>
                <a:latin typeface="Calibri"/>
              </a:rPr>
              <a:t>•  </a:t>
            </a:r>
            <a:r>
              <a:rPr sz="1250" b="0" i="0">
                <a:solidFill>
                  <a:srgbClr val="202020"/>
                </a:solidFill>
                <a:latin typeface="Calibri"/>
              </a:rPr>
              <a:t>The in-memory event queue is capped at </a:t>
            </a:r>
            <a:r>
              <a:rPr sz="1250" b="1" i="0">
                <a:solidFill>
                  <a:srgbClr val="202020"/>
                </a:solidFill>
                <a:latin typeface="Calibri"/>
              </a:rPr>
              <a:t>10,000</a:t>
            </a:r>
            <a:r>
              <a:rPr sz="1250" b="0" i="0">
                <a:solidFill>
                  <a:srgbClr val="202020"/>
                </a:solidFill>
                <a:latin typeface="Calibri"/>
              </a:rPr>
              <a:t> undrained events; past that, the </a:t>
            </a:r>
            <a:r>
              <a:rPr sz="1250" b="1" i="0">
                <a:solidFill>
                  <a:srgbClr val="202020"/>
                </a:solidFill>
                <a:latin typeface="Calibri"/>
              </a:rPr>
              <a:t>oldest</a:t>
            </a:r>
            <a:r>
              <a:rPr sz="1250" b="0" i="0">
                <a:solidFill>
                  <a:srgbClr val="202020"/>
                </a:solidFill>
                <a:latin typeface="Calibri"/>
              </a:rPr>
              <a:t> events are dropped (drop-oldest back-pressure) and healed by the next crawl — a signed burst cannot grow memory without bound.</a:t>
            </a:r>
          </a:p>
          <a:p>
            <a:pPr>
              <a:spcBef>
                <a:spcPts val="100"/>
              </a:spcBef>
              <a:spcAft>
                <a:spcPts val="200"/>
              </a:spcAft>
            </a:pPr>
            <a:r>
              <a:rPr sz="1250" b="1" i="0">
                <a:solidFill>
                  <a:srgbClr val="2E5496"/>
                </a:solidFill>
                <a:latin typeface="Calibri"/>
              </a:rPr>
              <a:t>•  </a:t>
            </a:r>
            <a:r>
              <a:rPr sz="1250" b="0" i="0">
                <a:solidFill>
                  <a:srgbClr val="202020"/>
                </a:solidFill>
                <a:latin typeface="Calibri"/>
              </a:rPr>
              <a:t>The continuous loop drains and de-duplicates queued events (last event per content id wins) between crawls, roughly every 15 seconds, performing targeted single-item ingest or withdrawal.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502</a:t>
            </a:r>
          </a:p>
        </p:txBody>
      </p:sp>
    </p:spTree>
  </p:cSld>
  <p:clrMapOvr>
    <a:masterClrMapping/>
  </p:clrMapOvr>
</p:sld>
</file>

<file path=ppt/slides/slide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Configuration</a:t>
            </a:r>
          </a:p>
        </p:txBody>
      </p:sp>
      <p:graphicFrame>
        <p:nvGraphicFramePr>
          <p:cNvPr id="5" name="Table 4"/>
          <p:cNvGraphicFramePr>
            <a:graphicFrameLocks noGrp="1"/>
          </p:cNvGraphicFramePr>
          <p:nvPr/>
        </p:nvGraphicFramePr>
        <p:xfrm>
          <a:off x="502920" y="1188720"/>
          <a:ext cx="11185854" cy="2304288"/>
        </p:xfrm>
        <a:graphic>
          <a:graphicData uri="http://schemas.openxmlformats.org/drawingml/2006/table">
            <a:tbl>
              <a:tblPr firstRow="1" bandRow="1">
                <a:tableStyleId>{5C22544A-7EE6-4342-B048-85BDC9FD1C3A}</a:tableStyleId>
              </a:tblPr>
              <a:tblGrid>
                <a:gridCol w="3803190"/>
                <a:gridCol w="7382664"/>
              </a:tblGrid>
              <a:tr h="384048">
                <a:tc>
                  <a:txBody>
                    <a:bodyPr wrap="square"/>
                    <a:lstStyle/>
                    <a:p>
                      <a:r>
                        <a:rPr sz="1050" b="1" i="0">
                          <a:solidFill>
                            <a:srgbClr val="FFFFFF"/>
                          </a:solidFill>
                          <a:latin typeface="Calibri"/>
                        </a:rPr>
                        <a:t>Setting</a:t>
                      </a:r>
                    </a:p>
                  </a:txBody>
                  <a:tcPr marT="25400" marB="25400">
                    <a:solidFill>
                      <a:srgbClr val="2E5496"/>
                    </a:solidFill>
                  </a:tcPr>
                </a:tc>
                <a:tc>
                  <a:txBody>
                    <a:bodyPr wrap="square"/>
                    <a:lstStyle/>
                    <a:p>
                      <a:r>
                        <a:rPr sz="1050" b="1" i="0">
                          <a:solidFill>
                            <a:srgbClr val="FFFFFF"/>
                          </a:solidFill>
                          <a:latin typeface="Calibri"/>
                        </a:rPr>
                        <a:t>Meaning</a:t>
                      </a:r>
                    </a:p>
                  </a:txBody>
                  <a:tcPr marT="25400" marB="25400">
                    <a:solidFill>
                      <a:srgbClr val="2E5496"/>
                    </a:solidFill>
                  </a:tcPr>
                </a:tc>
              </a:tr>
              <a:tr h="384048">
                <a:tc>
                  <a:txBody>
                    <a:bodyPr wrap="square"/>
                    <a:lstStyle/>
                    <a:p>
                      <a:r>
                        <a:rPr sz="950" b="0" i="0">
                          <a:solidFill>
                            <a:srgbClr val="202020"/>
                          </a:solidFill>
                          <a:latin typeface="Consolas"/>
                        </a:rPr>
                        <a:t>SEISMIC_WEBHOOK_PORT</a:t>
                      </a:r>
                    </a:p>
                  </a:txBody>
                  <a:tcPr marT="12700" marB="12700">
                    <a:solidFill>
                      <a:srgbClr val="FFFFFF"/>
                    </a:solidFill>
                  </a:tcPr>
                </a:tc>
                <a:tc>
                  <a:txBody>
                    <a:bodyPr wrap="square"/>
                    <a:lstStyle/>
                    <a:p>
                      <a:r>
                        <a:rPr sz="950" b="0" i="0">
                          <a:solidFill>
                            <a:srgbClr val="202020"/>
                          </a:solidFill>
                          <a:latin typeface="Calibri"/>
                        </a:rPr>
                        <a:t>0 disables (default). Set &gt; 0 to listen on POST /webhook.</a:t>
                      </a:r>
                    </a:p>
                  </a:txBody>
                  <a:tcPr marT="12700" marB="12700">
                    <a:solidFill>
                      <a:srgbClr val="FFFFFF"/>
                    </a:solidFill>
                  </a:tcPr>
                </a:tc>
              </a:tr>
              <a:tr h="384048">
                <a:tc>
                  <a:txBody>
                    <a:bodyPr wrap="square"/>
                    <a:lstStyle/>
                    <a:p>
                      <a:r>
                        <a:rPr sz="950" b="0" i="0">
                          <a:solidFill>
                            <a:srgbClr val="202020"/>
                          </a:solidFill>
                          <a:latin typeface="Consolas"/>
                        </a:rPr>
                        <a:t>SEISMIC_WEBHOOK_SECRET</a:t>
                      </a:r>
                    </a:p>
                  </a:txBody>
                  <a:tcPr marT="12700" marB="12700">
                    <a:solidFill>
                      <a:srgbClr val="F7F9FC"/>
                    </a:solidFill>
                  </a:tcPr>
                </a:tc>
                <a:tc>
                  <a:txBody>
                    <a:bodyPr wrap="square"/>
                    <a:lstStyle/>
                    <a:p>
                      <a:r>
                        <a:rPr sz="950" b="0" i="0">
                          <a:solidFill>
                            <a:srgbClr val="202020"/>
                          </a:solidFill>
                          <a:latin typeface="Calibri"/>
                        </a:rPr>
                        <a:t>Shared HMAC secret. Required when the port is set — no secret, no listener. Can come from Key Vault.</a:t>
                      </a:r>
                    </a:p>
                  </a:txBody>
                  <a:tcPr marT="12700" marB="12700">
                    <a:solidFill>
                      <a:srgbClr val="F7F9FC"/>
                    </a:solidFill>
                  </a:tcPr>
                </a:tc>
              </a:tr>
              <a:tr h="384048">
                <a:tc>
                  <a:txBody>
                    <a:bodyPr wrap="square"/>
                    <a:lstStyle/>
                    <a:p>
                      <a:r>
                        <a:rPr sz="950" b="0" i="0">
                          <a:solidFill>
                            <a:srgbClr val="202020"/>
                          </a:solidFill>
                          <a:latin typeface="Consolas"/>
                        </a:rPr>
                        <a:t>SEISMIC_WEBHOOK_REQUIRE_TIMESTAMP</a:t>
                      </a:r>
                    </a:p>
                  </a:txBody>
                  <a:tcPr marT="12700" marB="12700">
                    <a:solidFill>
                      <a:srgbClr val="FFFFFF"/>
                    </a:solidFill>
                  </a:tcPr>
                </a:tc>
                <a:tc>
                  <a:txBody>
                    <a:bodyPr wrap="square"/>
                    <a:lstStyle/>
                    <a:p>
                      <a:r>
                        <a:rPr sz="950" b="0" i="0">
                          <a:solidFill>
                            <a:srgbClr val="202020"/>
                          </a:solidFill>
                          <a:latin typeface="Calibri"/>
                        </a:rPr>
                        <a:t>Default true. Require a fresh signed timestamp (HMAC over {timestamp}.{body}); stale/future/replayed/missing rejected before parse. false = legacy body-only, no replay protection (migration only).</a:t>
                      </a:r>
                    </a:p>
                  </a:txBody>
                  <a:tcPr marT="12700" marB="12700">
                    <a:solidFill>
                      <a:srgbClr val="FFFFFF"/>
                    </a:solidFill>
                  </a:tcPr>
                </a:tc>
              </a:tr>
              <a:tr h="384048">
                <a:tc>
                  <a:txBody>
                    <a:bodyPr wrap="square"/>
                    <a:lstStyle/>
                    <a:p>
                      <a:r>
                        <a:rPr sz="950" b="0" i="0">
                          <a:solidFill>
                            <a:srgbClr val="202020"/>
                          </a:solidFill>
                          <a:latin typeface="Consolas"/>
                        </a:rPr>
                        <a:t>SEISMIC_WEBHOOK_REPLAY_WINDOW_SECONDS</a:t>
                      </a:r>
                    </a:p>
                  </a:txBody>
                  <a:tcPr marT="12700" marB="12700">
                    <a:solidFill>
                      <a:srgbClr val="F7F9FC"/>
                    </a:solidFill>
                  </a:tcPr>
                </a:tc>
                <a:tc>
                  <a:txBody>
                    <a:bodyPr wrap="square"/>
                    <a:lstStyle/>
                    <a:p>
                      <a:r>
                        <a:rPr sz="950" b="0" i="0">
                          <a:solidFill>
                            <a:srgbClr val="202020"/>
                          </a:solidFill>
                          <a:latin typeface="Calibri"/>
                        </a:rPr>
                        <a:t>Default 300. Freshness window, and how long a seen signature is remembered for replay dedup.</a:t>
                      </a:r>
                    </a:p>
                  </a:txBody>
                  <a:tcPr marT="12700" marB="12700">
                    <a:solidFill>
                      <a:srgbClr val="F7F9FC"/>
                    </a:solidFill>
                  </a:tcPr>
                </a:tc>
              </a:tr>
              <a:tr h="384048">
                <a:tc>
                  <a:txBody>
                    <a:bodyPr wrap="square"/>
                    <a:lstStyle/>
                    <a:p>
                      <a:r>
                        <a:rPr sz="950" b="0" i="0">
                          <a:solidFill>
                            <a:srgbClr val="202020"/>
                          </a:solidFill>
                          <a:latin typeface="Consolas"/>
                        </a:rPr>
                        <a:t>SEISMIC_WEBHOOK_TIMESTAMP_HEADER</a:t>
                      </a:r>
                    </a:p>
                  </a:txBody>
                  <a:tcPr marT="12700" marB="12700">
                    <a:solidFill>
                      <a:srgbClr val="FFFFFF"/>
                    </a:solidFill>
                  </a:tcPr>
                </a:tc>
                <a:tc>
                  <a:txBody>
                    <a:bodyPr wrap="square"/>
                    <a:lstStyle/>
                    <a:p>
                      <a:r>
                        <a:rPr sz="950" b="0" i="0">
                          <a:solidFill>
                            <a:srgbClr val="202020"/>
                          </a:solidFill>
                          <a:latin typeface="Calibri"/>
                        </a:rPr>
                        <a:t>Default X-Seismic-Timestamp. Header carrying the signed timestamp (Unix seconds or ISO-8601).</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503</a:t>
            </a:r>
          </a:p>
        </p:txBody>
      </p:sp>
    </p:spTree>
  </p:cSld>
  <p:clrMapOvr>
    <a:masterClrMapping/>
  </p:clrMapOvr>
</p:sld>
</file>

<file path=ppt/slides/slide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Configuration</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The listener speaks plain HTTP. In a bank deployment, put it behind a load balancer or reverse proxy that terminates </a:t>
            </a:r>
            <a:r>
              <a:rPr sz="1400" b="1" i="0">
                <a:solidFill>
                  <a:srgbClr val="202020"/>
                </a:solidFill>
                <a:latin typeface="Calibri"/>
              </a:rPr>
              <a:t>TLS</a:t>
            </a:r>
            <a:r>
              <a:rPr sz="1400" b="0" i="0">
                <a:solidFill>
                  <a:srgbClr val="202020"/>
                </a:solidFill>
                <a:latin typeface="Calibri"/>
              </a:rPr>
              <a:t> (and ideally mTLS) on the inbound edge, and expose the port only to Seismic's sender. The HMAC authenticates the payload; the LB provides transport privacy.</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504</a:t>
            </a:r>
          </a:p>
        </p:txBody>
      </p:sp>
    </p:spTree>
  </p:cSld>
  <p:clrMapOvr>
    <a:masterClrMapping/>
  </p:clrMapOvr>
</p:sld>
</file>

<file path=ppt/slides/slide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Polling remains the backstop</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Webhooks are an optimisation, never a dependency. Whatever a webhook would have done, the next polling crawl also does — a missed, dropped, or rejected event is always reconciled by the scheduled incremental (which polls Seismic on the item's modified-date cursor). You can run the connector with webhooks off entirely and lose only freshness, not correctness.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505</a:t>
            </a:r>
          </a:p>
        </p:txBody>
      </p:sp>
    </p:spTree>
  </p:cSld>
  <p:clrMapOvr>
    <a:masterClrMapping/>
  </p:clrMapOvr>
</p:sld>
</file>

<file path=ppt/slides/slide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Polling remains the backstop</a:t>
            </a:r>
          </a:p>
        </p:txBody>
      </p:sp>
      <p:sp>
        <p:nvSpPr>
          <p:cNvPr id="5" name="Rectangle 4"/>
          <p:cNvSpPr/>
          <p:nvPr/>
        </p:nvSpPr>
        <p:spPr>
          <a:xfrm>
            <a:off x="502920" y="1463040"/>
            <a:ext cx="11185855" cy="3291840"/>
          </a:xfrm>
          <a:prstGeom prst="rect">
            <a:avLst/>
          </a:prstGeom>
          <a:solidFill>
            <a:srgbClr val="F0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6A3D9A"/>
                </a:solidFill>
                <a:latin typeface="Calibri"/>
              </a:rPr>
              <a:t>Information to request:  </a:t>
            </a:r>
            <a:r>
              <a:rPr sz="1400" b="1" i="0">
                <a:solidFill>
                  <a:srgbClr val="202020"/>
                </a:solidFill>
                <a:latin typeface="Calibri"/>
              </a:rPr>
              <a:t>Information to request: </a:t>
            </a:r>
            <a:r>
              <a:rPr sz="1400" b="0" i="0">
                <a:solidFill>
                  <a:srgbClr val="202020"/>
                </a:solidFill>
                <a:latin typeface="Calibri"/>
              </a:rPr>
              <a:t>Two values come from the </a:t>
            </a:r>
            <a:r>
              <a:rPr sz="1400" b="1" i="0">
                <a:solidFill>
                  <a:srgbClr val="202020"/>
                </a:solidFill>
                <a:latin typeface="Calibri"/>
              </a:rPr>
              <a:t>Seismic administrator</a:t>
            </a:r>
            <a:r>
              <a:rPr sz="1400" b="0" i="0">
                <a:solidFill>
                  <a:srgbClr val="202020"/>
                </a:solidFill>
                <a:latin typeface="Calibri"/>
              </a:rPr>
              <a:t> and the </a:t>
            </a:r>
            <a:r>
              <a:rPr sz="1400" b="1" i="0">
                <a:solidFill>
                  <a:srgbClr val="202020"/>
                </a:solidFill>
                <a:latin typeface="Calibri"/>
              </a:rPr>
              <a:t>network/firewall team</a:t>
            </a:r>
            <a:r>
              <a:rPr sz="1400" b="0" i="0">
                <a:solidFill>
                  <a:srgbClr val="202020"/>
                </a:solidFill>
                <a:latin typeface="Calibri"/>
              </a:rPr>
              <a:t> together: the shared webhook secret (</a:t>
            </a:r>
            <a:r>
              <a:rPr sz="1350" b="0" i="0">
                <a:solidFill>
                  <a:srgbClr val="202020"/>
                </a:solidFill>
                <a:latin typeface="Consolas"/>
              </a:rPr>
              <a:t>SEISMIC_WEBHOOK_SECRET</a:t>
            </a:r>
            <a:r>
              <a:rPr sz="1400" b="0" i="0">
                <a:solidFill>
                  <a:srgbClr val="202020"/>
                </a:solidFill>
                <a:latin typeface="Calibri"/>
              </a:rPr>
              <a:t>) that must match on both the Seismic sender and this receiver, and the inbound URL / port that Seismic will POST to (and which the firewall and load balancer must publish, TLS-terminated).</a:t>
            </a:r>
          </a:p>
        </p:txBody>
      </p:sp>
      <p:sp>
        <p:nvSpPr>
          <p:cNvPr id="6" name="Rectangle 5"/>
          <p:cNvSpPr/>
          <p:nvPr/>
        </p:nvSpPr>
        <p:spPr>
          <a:xfrm>
            <a:off x="502920" y="1463040"/>
            <a:ext cx="128016" cy="3291840"/>
          </a:xfrm>
          <a:prstGeom prst="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506</a:t>
            </a:r>
          </a:p>
        </p:txBody>
      </p:sp>
    </p:spTree>
  </p:cSld>
  <p:clrMapOvr>
    <a:masterClrMapping/>
  </p:clrMapOvr>
</p:sld>
</file>

<file path=ppt/slides/slide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Seismic Connector</a:t>
            </a:r>
          </a:p>
          <a:p>
            <a:r>
              <a:rPr sz="3000" b="1" i="0">
                <a:solidFill>
                  <a:srgbClr val="1F3864"/>
                </a:solidFill>
                <a:latin typeface="Calibri"/>
              </a:rPr>
              <a:t>10. Before you start: prerequisites &amp; intake checklist</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507</a:t>
            </a:r>
          </a:p>
        </p:txBody>
      </p:sp>
    </p:spTree>
  </p:cSld>
  <p:clrMapOvr>
    <a:masterClrMapping/>
  </p:clrMapOvr>
</p:sld>
</file>

<file path=ppt/slides/slide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 Before you start: prerequisites &amp; intake checklist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Gather every value below before you touch the connector. Most come from other teams; chasing them mid-install is the usual cause of a stalled first deployment. Fill in the right-hand column and keep this page with your change record.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508</a:t>
            </a:r>
          </a:p>
        </p:txBody>
      </p:sp>
    </p:spTree>
  </p:cSld>
  <p:clrMapOvr>
    <a:masterClrMapping/>
  </p:clrMapOvr>
</p:sld>
</file>

<file path=ppt/slides/slide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 Before you start: prerequisites &amp; intake checklist</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Prerequisite</a:t>
                      </a:r>
                    </a:p>
                  </a:txBody>
                  <a:tcPr marT="25400" marB="25400">
                    <a:solidFill>
                      <a:srgbClr val="2E5496"/>
                    </a:solidFill>
                  </a:tcPr>
                </a:tc>
                <a:tc>
                  <a:txBody>
                    <a:bodyPr wrap="square"/>
                    <a:lstStyle/>
                    <a:p>
                      <a:r>
                        <a:rPr sz="1050" b="1" i="0">
                          <a:solidFill>
                            <a:srgbClr val="FFFFFF"/>
                          </a:solidFill>
                          <a:latin typeface="Calibri"/>
                        </a:rPr>
                        <a:t>Notes / where to get it</a:t>
                      </a:r>
                    </a:p>
                  </a:txBody>
                  <a:tcPr marT="25400" marB="25400">
                    <a:solidFill>
                      <a:srgbClr val="2E5496"/>
                    </a:solidFill>
                  </a:tcPr>
                </a:tc>
                <a:tc>
                  <a:txBody>
                    <a:bodyPr wrap="square"/>
                    <a:lstStyle/>
                    <a:p>
                      <a:r>
                        <a:rPr sz="1050" b="1" i="0">
                          <a:solidFill>
                            <a:srgbClr val="FFFFFF"/>
                          </a:solidFill>
                          <a:latin typeface="Calibri"/>
                        </a:rPr>
                        <a:t>Value / provided by</a:t>
                      </a:r>
                    </a:p>
                  </a:txBody>
                  <a:tcPr marT="25400" marB="25400">
                    <a:solidFill>
                      <a:srgbClr val="2E5496"/>
                    </a:solidFill>
                  </a:tcPr>
                </a:tc>
              </a:tr>
              <a:tr h="384048">
                <a:tc>
                  <a:txBody>
                    <a:bodyPr wrap="square"/>
                    <a:lstStyle/>
                    <a:p>
                      <a:r>
                        <a:rPr sz="950" b="0" i="0">
                          <a:solidFill>
                            <a:srgbClr val="202020"/>
                          </a:solidFill>
                          <a:latin typeface="Calibri"/>
                        </a:rPr>
                        <a:t>Entra tenant id</a:t>
                      </a:r>
                    </a:p>
                  </a:txBody>
                  <a:tcPr marT="12700" marB="12700">
                    <a:solidFill>
                      <a:srgbClr val="FFFFFF"/>
                    </a:solidFill>
                  </a:tcPr>
                </a:tc>
                <a:tc>
                  <a:txBody>
                    <a:bodyPr wrap="square"/>
                    <a:lstStyle/>
                    <a:p>
                      <a:r>
                        <a:rPr sz="950" b="0" i="0">
                          <a:solidFill>
                            <a:srgbClr val="202020"/>
                          </a:solidFill>
                          <a:latin typeface="Calibri"/>
                        </a:rPr>
                        <a:t>Microsoft 365 directory id — Entra tenant admin</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Entra app registration (client id)</a:t>
                      </a:r>
                    </a:p>
                  </a:txBody>
                  <a:tcPr marT="12700" marB="12700">
                    <a:solidFill>
                      <a:srgbClr val="F7F9FC"/>
                    </a:solidFill>
                  </a:tcPr>
                </a:tc>
                <a:tc>
                  <a:txBody>
                    <a:bodyPr wrap="square"/>
                    <a:lstStyle/>
                    <a:p>
                      <a:r>
                        <a:rPr sz="950" b="0" i="0">
                          <a:solidFill>
                            <a:srgbClr val="202020"/>
                          </a:solidFill>
                          <a:latin typeface="Calibri"/>
                        </a:rPr>
                        <a:t>App with admin-consented Graph permissions (below) — Entra tenant admin</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Graph app credential</a:t>
                      </a:r>
                    </a:p>
                  </a:txBody>
                  <a:tcPr marT="12700" marB="12700">
                    <a:solidFill>
                      <a:srgbClr val="FFFFFF"/>
                    </a:solidFill>
                  </a:tcPr>
                </a:tc>
                <a:tc>
                  <a:txBody>
                    <a:bodyPr wrap="square"/>
                    <a:lstStyle/>
                    <a:p>
                      <a:r>
                        <a:rPr sz="950" b="0" i="0">
                          <a:solidFill>
                            <a:srgbClr val="202020"/>
                          </a:solidFill>
                          <a:latin typeface="Calibri"/>
                        </a:rPr>
                        <a:t>Client secret or (preferred) certificate — Entra tenant admin</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Graph API permissions</a:t>
                      </a:r>
                    </a:p>
                  </a:txBody>
                  <a:tcPr marT="12700" marB="12700">
                    <a:solidFill>
                      <a:srgbClr val="F7F9FC"/>
                    </a:solidFill>
                  </a:tcPr>
                </a:tc>
                <a:tc>
                  <a:txBody>
                    <a:bodyPr wrap="square"/>
                    <a:lstStyle/>
                    <a:p>
                      <a:r>
                        <a:rPr sz="950" b="0" i="0">
                          <a:solidFill>
                            <a:srgbClr val="202020"/>
                          </a:solidFill>
                          <a:latin typeface="Calibri"/>
                        </a:rPr>
                        <a:t>ExternalConnection.ReadWrite.OwnedBy, ExternalItem.ReadWrite.OwnedBy, User.Read.All, Group.Read.All</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Key Vault (optional)</a:t>
                      </a:r>
                    </a:p>
                  </a:txBody>
                  <a:tcPr marT="12700" marB="12700">
                    <a:solidFill>
                      <a:srgbClr val="FFFFFF"/>
                    </a:solidFill>
                  </a:tcPr>
                </a:tc>
                <a:tc>
                  <a:txBody>
                    <a:bodyPr wrap="square"/>
                    <a:lstStyle/>
                    <a:p>
                      <a:r>
                        <a:rPr sz="950" b="0" i="0">
                          <a:solidFill>
                            <a:srgbClr val="202020"/>
                          </a:solidFill>
                          <a:latin typeface="Calibri"/>
                        </a:rPr>
                        <a:t>Vault URI if secrets are resolved from Key Vault — platform team</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Seismic tenant / region</a:t>
                      </a:r>
                    </a:p>
                  </a:txBody>
                  <a:tcPr marT="12700" marB="12700">
                    <a:solidFill>
                      <a:srgbClr val="F7F9FC"/>
                    </a:solidFill>
                  </a:tcPr>
                </a:tc>
                <a:tc>
                  <a:txBody>
                    <a:bodyPr wrap="square"/>
                    <a:lstStyle/>
                    <a:p>
                      <a:r>
                        <a:rPr sz="950" b="0" i="0">
                          <a:solidFill>
                            <a:srgbClr val="202020"/>
                          </a:solidFill>
                          <a:latin typeface="Calibri"/>
                        </a:rPr>
                        <a:t>Tenant subdomain, e.g. contoso — Seismic administrator</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Seismic OAuth client id + secret</a:t>
                      </a:r>
                    </a:p>
                  </a:txBody>
                  <a:tcPr marT="12700" marB="12700">
                    <a:solidFill>
                      <a:srgbClr val="FFFFFF"/>
                    </a:solidFill>
                  </a:tcPr>
                </a:tc>
                <a:tc>
                  <a:txBody>
                    <a:bodyPr wrap="square"/>
                    <a:lstStyle/>
                    <a:p>
                      <a:r>
                        <a:rPr sz="950" b="0" i="0">
                          <a:solidFill>
                            <a:srgbClr val="202020"/>
                          </a:solidFill>
                          <a:latin typeface="Calibri"/>
                        </a:rPr>
                        <a:t>Client-credentials client, read-only scopes — Seismic administrator</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Permitted teamsites / libraries</a:t>
                      </a:r>
                    </a:p>
                  </a:txBody>
                  <a:tcPr marT="12700" marB="12700">
                    <a:solidFill>
                      <a:srgbClr val="F7F9FC"/>
                    </a:solidFill>
                  </a:tcPr>
                </a:tc>
                <a:tc>
                  <a:txBody>
                    <a:bodyPr wrap="square"/>
                    <a:lstStyle/>
                    <a:p>
                      <a:r>
                        <a:rPr sz="950" b="0" i="0">
                          <a:solidFill>
                            <a:srgbClr val="202020"/>
                          </a:solidFill>
                          <a:latin typeface="Calibri"/>
                        </a:rPr>
                        <a:t>Explicit approved list, plus any to exclude — Seismic administrator + compliance</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Webhook secret + inbound URL/port</a:t>
                      </a:r>
                    </a:p>
                  </a:txBody>
                  <a:tcPr marT="12700" marB="12700">
                    <a:solidFill>
                      <a:srgbClr val="FFFFFF"/>
                    </a:solidFill>
                  </a:tcPr>
                </a:tc>
                <a:tc>
                  <a:txBody>
                    <a:bodyPr wrap="square"/>
                    <a:lstStyle/>
                    <a:p>
                      <a:r>
                        <a:rPr sz="950" b="0" i="0">
                          <a:solidFill>
                            <a:srgbClr val="202020"/>
                          </a:solidFill>
                          <a:latin typeface="Calibri"/>
                        </a:rPr>
                        <a:t>Only if using webhooks — Seismic administrator + network/firewall</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Exclusion policy sign-off</a:t>
                      </a:r>
                    </a:p>
                  </a:txBody>
                  <a:tcPr marT="12700" marB="12700">
                    <a:solidFill>
                      <a:srgbClr val="F7F9FC"/>
                    </a:solidFill>
                  </a:tcPr>
                </a:tc>
                <a:tc>
                  <a:txBody>
                    <a:bodyPr wrap="square"/>
                    <a:lstStyle/>
                    <a:p>
                      <a:r>
                        <a:rPr sz="950" b="0" i="0">
                          <a:solidFill>
                            <a:srgbClr val="202020"/>
                          </a:solidFill>
                          <a:latin typeface="Calibri"/>
                        </a:rPr>
                        <a:t>Owner of config/exclusions.json content — compliance officer</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509</a:t>
            </a:r>
          </a:p>
        </p:txBody>
      </p:sp>
    </p:spTree>
  </p:cSld>
  <p:clrMapOvr>
    <a:masterClrMapping/>
  </p:clrMapOvr>
</p:sld>
</file>

<file path=ppt/slides/slide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 Before you start: prerequisites &amp; intake checklist (cont.)</a:t>
            </a:r>
          </a:p>
        </p:txBody>
      </p:sp>
      <p:graphicFrame>
        <p:nvGraphicFramePr>
          <p:cNvPr id="5" name="Table 4"/>
          <p:cNvGraphicFramePr>
            <a:graphicFrameLocks noGrp="1"/>
          </p:cNvGraphicFramePr>
          <p:nvPr/>
        </p:nvGraphicFramePr>
        <p:xfrm>
          <a:off x="502920" y="1188720"/>
          <a:ext cx="11185855" cy="1536192"/>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Prerequisite</a:t>
                      </a:r>
                    </a:p>
                  </a:txBody>
                  <a:tcPr marT="25400" marB="25400">
                    <a:solidFill>
                      <a:srgbClr val="2E5496"/>
                    </a:solidFill>
                  </a:tcPr>
                </a:tc>
                <a:tc>
                  <a:txBody>
                    <a:bodyPr wrap="square"/>
                    <a:lstStyle/>
                    <a:p>
                      <a:r>
                        <a:rPr sz="1050" b="1" i="0">
                          <a:solidFill>
                            <a:srgbClr val="FFFFFF"/>
                          </a:solidFill>
                          <a:latin typeface="Calibri"/>
                        </a:rPr>
                        <a:t>Notes / where to get it</a:t>
                      </a:r>
                    </a:p>
                  </a:txBody>
                  <a:tcPr marT="25400" marB="25400">
                    <a:solidFill>
                      <a:srgbClr val="2E5496"/>
                    </a:solidFill>
                  </a:tcPr>
                </a:tc>
                <a:tc>
                  <a:txBody>
                    <a:bodyPr wrap="square"/>
                    <a:lstStyle/>
                    <a:p>
                      <a:r>
                        <a:rPr sz="1050" b="1" i="0">
                          <a:solidFill>
                            <a:srgbClr val="FFFFFF"/>
                          </a:solidFill>
                          <a:latin typeface="Calibri"/>
                        </a:rPr>
                        <a:t>Value / provided by</a:t>
                      </a:r>
                    </a:p>
                  </a:txBody>
                  <a:tcPr marT="25400" marB="25400">
                    <a:solidFill>
                      <a:srgbClr val="2E5496"/>
                    </a:solidFill>
                  </a:tcPr>
                </a:tc>
              </a:tr>
              <a:tr h="384048">
                <a:tc>
                  <a:txBody>
                    <a:bodyPr wrap="square"/>
                    <a:lstStyle/>
                    <a:p>
                      <a:r>
                        <a:rPr sz="950" b="0" i="0">
                          <a:solidFill>
                            <a:srgbClr val="202020"/>
                          </a:solidFill>
                          <a:latin typeface="Calibri"/>
                        </a:rPr>
                        <a:t>Service account</a:t>
                      </a:r>
                    </a:p>
                  </a:txBody>
                  <a:tcPr marT="12700" marB="12700">
                    <a:solidFill>
                      <a:srgbClr val="FFFFFF"/>
                    </a:solidFill>
                  </a:tcPr>
                </a:tc>
                <a:tc>
                  <a:txBody>
                    <a:bodyPr wrap="square"/>
                    <a:lstStyle/>
                    <a:p>
                      <a:r>
                        <a:rPr sz="950" b="0" i="0">
                          <a:solidFill>
                            <a:srgbClr val="202020"/>
                          </a:solidFill>
                          <a:latin typeface="Calibri"/>
                        </a:rPr>
                        <a:t>Low-privilege account or gMSA to run the service — Windows/AD team</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Proxy / CA bundle</a:t>
                      </a:r>
                    </a:p>
                  </a:txBody>
                  <a:tcPr marT="12700" marB="12700">
                    <a:solidFill>
                      <a:srgbClr val="F7F9FC"/>
                    </a:solidFill>
                  </a:tcPr>
                </a:tc>
                <a:tc>
                  <a:txBody>
                    <a:bodyPr wrap="square"/>
                    <a:lstStyle/>
                    <a:p>
                      <a:r>
                        <a:rPr sz="950" b="0" i="0">
                          <a:solidFill>
                            <a:srgbClr val="202020"/>
                          </a:solidFill>
                          <a:latin typeface="Calibri"/>
                        </a:rPr>
                        <a:t>PROXY_URL, PROXY_BYPASS, CA_BUNDLE_PATH if applicable — network team</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SQL Server (if HA / shared state)</a:t>
                      </a:r>
                    </a:p>
                  </a:txBody>
                  <a:tcPr marT="12700" marB="12700">
                    <a:solidFill>
                      <a:srgbClr val="FFFFFF"/>
                    </a:solidFill>
                  </a:tcPr>
                </a:tc>
                <a:tc>
                  <a:txBody>
                    <a:bodyPr wrap="square"/>
                    <a:lstStyle/>
                    <a:p>
                      <a:r>
                        <a:rPr sz="950" b="0" i="0">
                          <a:solidFill>
                            <a:srgbClr val="202020"/>
                          </a:solidFill>
                          <a:latin typeface="Calibri"/>
                        </a:rPr>
                        <a:t>Connection string / listener + app login — DBA team</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510</a:t>
            </a:r>
          </a:p>
        </p:txBody>
      </p:sp>
    </p:spTree>
  </p:cSld>
  <p:clrMapOvr>
    <a:masterClrMapping/>
  </p:clrMapOvr>
</p:sld>
</file>

<file path=ppt/slides/slide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 Before you start: prerequisites &amp; intake checklist</a:t>
            </a:r>
          </a:p>
        </p:txBody>
      </p:sp>
      <p:sp>
        <p:nvSpPr>
          <p:cNvPr id="5" name="Rectangle 4"/>
          <p:cNvSpPr/>
          <p:nvPr/>
        </p:nvSpPr>
        <p:spPr>
          <a:xfrm>
            <a:off x="502920" y="1463040"/>
            <a:ext cx="11185855" cy="329184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5496"/>
                </a:solidFill>
                <a:latin typeface="Calibri"/>
              </a:rPr>
              <a:t>Note:  </a:t>
            </a:r>
            <a:r>
              <a:rPr sz="1400" b="1" i="0">
                <a:solidFill>
                  <a:srgbClr val="202020"/>
                </a:solidFill>
                <a:latin typeface="Calibri"/>
              </a:rPr>
              <a:t>Note: </a:t>
            </a:r>
            <a:r>
              <a:rPr sz="1400" b="0" i="0">
                <a:solidFill>
                  <a:srgbClr val="202020"/>
                </a:solidFill>
                <a:latin typeface="Calibri"/>
              </a:rPr>
              <a:t>The Entra app registration, Graph permissions and admin consent, Key Vault, service account, proxy/CA, and SQL/HA setup are shared across all connectors — the detailed how-to is in the Common Guide (§5 for Graph permissions, §6 for install/Key Vault/service account/SQL). This checklist only lists what you must have in hand.</a:t>
            </a:r>
          </a:p>
        </p:txBody>
      </p:sp>
      <p:sp>
        <p:nvSpPr>
          <p:cNvPr id="6" name="Rectangle 5"/>
          <p:cNvSpPr/>
          <p:nvPr/>
        </p:nvSpPr>
        <p:spPr>
          <a:xfrm>
            <a:off x="502920" y="1463040"/>
            <a:ext cx="128016" cy="329184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511</a:t>
            </a:r>
          </a:p>
        </p:txBody>
      </p:sp>
    </p:spTree>
  </p:cSld>
  <p:clrMapOvr>
    <a:masterClrMapping/>
  </p:clrMapOvr>
</p:sld>
</file>

<file path=ppt/slides/slide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Seismic Connector</a:t>
            </a:r>
          </a:p>
          <a:p>
            <a:r>
              <a:rPr sz="3000" b="1" i="0">
                <a:solidFill>
                  <a:srgbClr val="1F3864"/>
                </a:solidFill>
                <a:latin typeface="Calibri"/>
              </a:rPr>
              <a:t>11. Setting it up, step by step</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512</a:t>
            </a:r>
          </a:p>
        </p:txBody>
      </p:sp>
    </p:spTree>
  </p:cSld>
  <p:clrMapOvr>
    <a:masterClrMapping/>
  </p:clrMapOvr>
</p:sld>
</file>

<file path=ppt/slides/slide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 Setting it up, step by step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This is the first-time install and validation sequence. It assumes you have completed the intake checklist (section 10). Commands are shown as the connector's CLI verbs; run them from the install directory. On Windows the connector also runs as a service (Common Guide §6).</a:t>
            </a:r>
          </a:p>
          <a:p>
            <a:pPr>
              <a:spcBef>
                <a:spcPts val="100"/>
              </a:spcBef>
              <a:spcAft>
                <a:spcPts val="200"/>
              </a:spcAft>
            </a:pPr>
            <a:r>
              <a:rPr sz="1250" b="1" i="0">
                <a:solidFill>
                  <a:srgbClr val="2E5496"/>
                </a:solidFill>
                <a:latin typeface="Calibri"/>
              </a:rPr>
              <a:t>1.  </a:t>
            </a:r>
            <a:r>
              <a:rPr sz="1250" b="1" i="0">
                <a:solidFill>
                  <a:srgbClr val="202020"/>
                </a:solidFill>
                <a:latin typeface="Calibri"/>
              </a:rPr>
              <a:t>Confirm prerequisites.</a:t>
            </a:r>
            <a:r>
              <a:rPr sz="1250" b="0" i="0">
                <a:solidFill>
                  <a:srgbClr val="202020"/>
                </a:solidFill>
                <a:latin typeface="Calibri"/>
              </a:rPr>
              <a:t> Have every value from section 10 to hand, and confirm outbound 443 to the Seismic and Microsoft hosts is open (section 4).</a:t>
            </a:r>
          </a:p>
          <a:p>
            <a:pPr>
              <a:spcBef>
                <a:spcPts val="100"/>
              </a:spcBef>
              <a:spcAft>
                <a:spcPts val="200"/>
              </a:spcAft>
            </a:pPr>
            <a:r>
              <a:rPr sz="1250" b="1" i="0">
                <a:solidFill>
                  <a:srgbClr val="2E5496"/>
                </a:solidFill>
                <a:latin typeface="Calibri"/>
              </a:rPr>
              <a:t>2.  </a:t>
            </a:r>
            <a:r>
              <a:rPr sz="1250" b="1" i="0">
                <a:solidFill>
                  <a:srgbClr val="202020"/>
                </a:solidFill>
                <a:latin typeface="Calibri"/>
              </a:rPr>
              <a:t>Install the runtime.</a:t>
            </a:r>
            <a:r>
              <a:rPr sz="1250" b="0" i="0">
                <a:solidFill>
                  <a:srgbClr val="202020"/>
                </a:solidFill>
                <a:latin typeface="Calibri"/>
              </a:rPr>
              <a:t> Deploy the connector bundle and lay out its </a:t>
            </a:r>
            <a:r>
              <a:rPr sz="1200" b="0" i="0">
                <a:solidFill>
                  <a:srgbClr val="202020"/>
                </a:solidFill>
                <a:latin typeface="Consolas"/>
              </a:rPr>
              <a:t>config/</a:t>
            </a:r>
            <a:r>
              <a:rPr sz="1250" b="0" i="0">
                <a:solidFill>
                  <a:srgbClr val="202020"/>
                </a:solidFill>
                <a:latin typeface="Calibri"/>
              </a:rPr>
              <a:t>, </a:t>
            </a:r>
            <a:r>
              <a:rPr sz="1200" b="0" i="0">
                <a:solidFill>
                  <a:srgbClr val="202020"/>
                </a:solidFill>
                <a:latin typeface="Consolas"/>
              </a:rPr>
              <a:t>env/</a:t>
            </a:r>
            <a:r>
              <a:rPr sz="1250" b="0" i="0">
                <a:solidFill>
                  <a:srgbClr val="202020"/>
                </a:solidFill>
                <a:latin typeface="Calibri"/>
              </a:rPr>
              <a:t>, </a:t>
            </a:r>
            <a:r>
              <a:rPr sz="1200" b="0" i="0">
                <a:solidFill>
                  <a:srgbClr val="202020"/>
                </a:solidFill>
                <a:latin typeface="Consolas"/>
              </a:rPr>
              <a:t>logs/</a:t>
            </a:r>
            <a:r>
              <a:rPr sz="1250" b="0" i="0">
                <a:solidFill>
                  <a:srgbClr val="202020"/>
                </a:solidFill>
                <a:latin typeface="Calibri"/>
              </a:rPr>
              <a:t> and </a:t>
            </a:r>
            <a:r>
              <a:rPr sz="1200" b="0" i="0">
                <a:solidFill>
                  <a:srgbClr val="202020"/>
                </a:solidFill>
                <a:latin typeface="Consolas"/>
              </a:rPr>
              <a:t>data/</a:t>
            </a:r>
            <a:r>
              <a:rPr sz="1250" b="0" i="0">
                <a:solidFill>
                  <a:srgbClr val="202020"/>
                </a:solidFill>
                <a:latin typeface="Calibri"/>
              </a:rPr>
              <a:t> folders as described in Common Guide §6. Do not ship secrets inside the package.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513</a:t>
            </a:r>
          </a:p>
        </p:txBody>
      </p:sp>
    </p:spTree>
  </p:cSld>
  <p:clrMapOvr>
    <a:masterClrMapping/>
  </p:clrMapOvr>
</p:sld>
</file>

<file path=ppt/slides/slide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 Setting it up, step by step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3.  </a:t>
            </a:r>
            <a:r>
              <a:rPr sz="1250" b="1" i="0">
                <a:solidFill>
                  <a:srgbClr val="202020"/>
                </a:solidFill>
                <a:latin typeface="Calibri"/>
              </a:rPr>
              <a:t>Set environment variables.</a:t>
            </a:r>
            <a:r>
              <a:rPr sz="1250" b="0" i="0">
                <a:solidFill>
                  <a:srgbClr val="202020"/>
                </a:solidFill>
                <a:latin typeface="Calibri"/>
              </a:rPr>
              <a:t> Copy </a:t>
            </a:r>
            <a:r>
              <a:rPr sz="1200" b="0" i="0">
                <a:solidFill>
                  <a:srgbClr val="202020"/>
                </a:solidFill>
                <a:latin typeface="Consolas"/>
              </a:rPr>
              <a:t>env/.env.local.example</a:t>
            </a:r>
            <a:r>
              <a:rPr sz="1250" b="0" i="0">
                <a:solidFill>
                  <a:srgbClr val="202020"/>
                </a:solidFill>
                <a:latin typeface="Calibri"/>
              </a:rPr>
              <a:t> to </a:t>
            </a:r>
            <a:r>
              <a:rPr sz="1200" b="0" i="0">
                <a:solidFill>
                  <a:srgbClr val="202020"/>
                </a:solidFill>
                <a:latin typeface="Consolas"/>
              </a:rPr>
              <a:t>env/.env.local</a:t>
            </a:r>
            <a:r>
              <a:rPr sz="1250" b="0" i="0">
                <a:solidFill>
                  <a:srgbClr val="202020"/>
                </a:solidFill>
                <a:latin typeface="Calibri"/>
              </a:rPr>
              <a:t> and fill in the non-secret values (</a:t>
            </a:r>
            <a:r>
              <a:rPr sz="1200" b="0" i="0">
                <a:solidFill>
                  <a:srgbClr val="202020"/>
                </a:solidFill>
                <a:latin typeface="Consolas"/>
              </a:rPr>
              <a:t>CONNECTOR_ID</a:t>
            </a:r>
            <a:r>
              <a:rPr sz="1250" b="0" i="0">
                <a:solidFill>
                  <a:srgbClr val="202020"/>
                </a:solidFill>
                <a:latin typeface="Calibri"/>
              </a:rPr>
              <a:t>, </a:t>
            </a:r>
            <a:r>
              <a:rPr sz="1200" b="0" i="0">
                <a:solidFill>
                  <a:srgbClr val="202020"/>
                </a:solidFill>
                <a:latin typeface="Consolas"/>
              </a:rPr>
              <a:t>CONNECTOR_NAME</a:t>
            </a:r>
            <a:r>
              <a:rPr sz="1250" b="0" i="0">
                <a:solidFill>
                  <a:srgbClr val="202020"/>
                </a:solidFill>
                <a:latin typeface="Calibri"/>
              </a:rPr>
              <a:t>, </a:t>
            </a:r>
            <a:r>
              <a:rPr sz="1200" b="0" i="0">
                <a:solidFill>
                  <a:srgbClr val="202020"/>
                </a:solidFill>
                <a:latin typeface="Consolas"/>
              </a:rPr>
              <a:t>SEISMIC_TENANT</a:t>
            </a:r>
            <a:r>
              <a:rPr sz="1250" b="0" i="0">
                <a:solidFill>
                  <a:srgbClr val="202020"/>
                </a:solidFill>
                <a:latin typeface="Calibri"/>
              </a:rPr>
              <a:t>, </a:t>
            </a:r>
            <a:r>
              <a:rPr sz="1200" b="0" i="0">
                <a:solidFill>
                  <a:srgbClr val="202020"/>
                </a:solidFill>
                <a:latin typeface="Consolas"/>
              </a:rPr>
              <a:t>SEISMIC_CLIENT_ID</a:t>
            </a:r>
            <a:r>
              <a:rPr sz="1250" b="0" i="0">
                <a:solidFill>
                  <a:srgbClr val="202020"/>
                </a:solidFill>
                <a:latin typeface="Calibri"/>
              </a:rPr>
              <a:t>, </a:t>
            </a:r>
            <a:r>
              <a:rPr sz="1200" b="0" i="0">
                <a:solidFill>
                  <a:srgbClr val="202020"/>
                </a:solidFill>
                <a:latin typeface="Consolas"/>
              </a:rPr>
              <a:t>AAD_APP_TENANT_ID</a:t>
            </a:r>
            <a:r>
              <a:rPr sz="1250" b="0" i="0">
                <a:solidFill>
                  <a:srgbClr val="202020"/>
                </a:solidFill>
                <a:latin typeface="Calibri"/>
              </a:rPr>
              <a:t>, </a:t>
            </a:r>
            <a:r>
              <a:rPr sz="1200" b="0" i="0">
                <a:solidFill>
                  <a:srgbClr val="202020"/>
                </a:solidFill>
                <a:latin typeface="Consolas"/>
              </a:rPr>
              <a:t>AAD_APP_CLIENT_ID</a:t>
            </a:r>
            <a:r>
              <a:rPr sz="1250" b="0" i="0">
                <a:solidFill>
                  <a:srgbClr val="202020"/>
                </a:solidFill>
                <a:latin typeface="Calibri"/>
              </a:rPr>
              <a:t>, …). Put every </a:t>
            </a:r>
            <a:r>
              <a:rPr sz="1200" b="0" i="0">
                <a:solidFill>
                  <a:srgbClr val="202020"/>
                </a:solidFill>
                <a:latin typeface="Consolas"/>
              </a:rPr>
              <a:t>SECRET_*</a:t>
            </a:r>
            <a:r>
              <a:rPr sz="1250" b="0" i="0">
                <a:solidFill>
                  <a:srgbClr val="202020"/>
                </a:solidFill>
                <a:latin typeface="Calibri"/>
              </a:rPr>
              <a:t> value in </a:t>
            </a:r>
            <a:r>
              <a:rPr sz="1200" b="0" i="0">
                <a:solidFill>
                  <a:srgbClr val="202020"/>
                </a:solidFill>
                <a:latin typeface="Consolas"/>
              </a:rPr>
              <a:t>env/.env.local.user</a:t>
            </a:r>
            <a:r>
              <a:rPr sz="1250" b="0" i="0">
                <a:solidFill>
                  <a:srgbClr val="202020"/>
                </a:solidFill>
                <a:latin typeface="Calibri"/>
              </a:rPr>
              <a:t>, or set </a:t>
            </a:r>
            <a:r>
              <a:rPr sz="1200" b="0" i="0">
                <a:solidFill>
                  <a:srgbClr val="202020"/>
                </a:solidFill>
                <a:latin typeface="Consolas"/>
              </a:rPr>
              <a:t>USE_KEY_VAULT=true</a:t>
            </a:r>
            <a:r>
              <a:rPr sz="1250" b="0" i="0">
                <a:solidFill>
                  <a:srgbClr val="202020"/>
                </a:solidFill>
                <a:latin typeface="Calibri"/>
              </a:rPr>
              <a:t> and </a:t>
            </a:r>
            <a:r>
              <a:rPr sz="1200" b="0" i="0">
                <a:solidFill>
                  <a:srgbClr val="202020"/>
                </a:solidFill>
                <a:latin typeface="Consolas"/>
              </a:rPr>
              <a:t>KEY_VAULT_URI</a:t>
            </a:r>
            <a:r>
              <a:rPr sz="1250" b="0" i="0">
                <a:solidFill>
                  <a:srgbClr val="202020"/>
                </a:solidFill>
                <a:latin typeface="Calibri"/>
              </a:rPr>
              <a:t>.</a:t>
            </a:r>
          </a:p>
          <a:p>
            <a:pPr>
              <a:spcBef>
                <a:spcPts val="100"/>
              </a:spcBef>
              <a:spcAft>
                <a:spcPts val="200"/>
              </a:spcAft>
            </a:pPr>
            <a:r>
              <a:rPr sz="1250" b="1" i="0">
                <a:solidFill>
                  <a:srgbClr val="2E5496"/>
                </a:solidFill>
                <a:latin typeface="Calibri"/>
              </a:rPr>
              <a:t>4.  </a:t>
            </a:r>
            <a:r>
              <a:rPr sz="1250" b="1" i="0">
                <a:solidFill>
                  <a:srgbClr val="202020"/>
                </a:solidFill>
                <a:latin typeface="Calibri"/>
              </a:rPr>
              <a:t>Validate configuration.</a:t>
            </a:r>
            <a:r>
              <a:rPr sz="1250" b="0" i="0">
                <a:solidFill>
                  <a:srgbClr val="202020"/>
                </a:solidFill>
                <a:latin typeface="Calibri"/>
              </a:rPr>
              <a:t> Run </a:t>
            </a:r>
            <a:r>
              <a:rPr sz="1200" b="0" i="0">
                <a:solidFill>
                  <a:srgbClr val="202020"/>
                </a:solidFill>
                <a:latin typeface="Consolas"/>
              </a:rPr>
              <a:t>validate-config --strict</a:t>
            </a:r>
            <a:r>
              <a:rPr sz="1250" b="0" i="0">
                <a:solidFill>
                  <a:srgbClr val="202020"/>
                </a:solidFill>
                <a:latin typeface="Calibri"/>
              </a:rPr>
              <a:t>. It checks required values, probes both the Seismic and Graph token/API calls, and warns on a rule-less exclusions posture (</a:t>
            </a:r>
            <a:r>
              <a:rPr sz="1200" b="0" i="0">
                <a:solidFill>
                  <a:srgbClr val="202020"/>
                </a:solidFill>
                <a:latin typeface="Consolas"/>
              </a:rPr>
              <a:t>--strict</a:t>
            </a:r>
            <a:r>
              <a:rPr sz="1250" b="0" i="0">
                <a:solidFill>
                  <a:srgbClr val="202020"/>
                </a:solidFill>
                <a:latin typeface="Calibri"/>
              </a:rPr>
              <a:t> fails it). Note a missing/empty/malformed </a:t>
            </a:r>
            <a:r>
              <a:rPr sz="1200" b="0" i="0">
                <a:solidFill>
                  <a:srgbClr val="202020"/>
                </a:solidFill>
                <a:latin typeface="Consolas"/>
              </a:rPr>
              <a:t>config/exclusions.json</a:t>
            </a:r>
            <a:r>
              <a:rPr sz="1250" b="0" i="0">
                <a:solidFill>
                  <a:srgbClr val="202020"/>
                </a:solidFill>
                <a:latin typeface="Calibri"/>
              </a:rPr>
              <a:t> is now a hard startup error in its own right (section 7), so place the file before the first crawl. Fix anything it flags before continuing.</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514</a:t>
            </a:r>
          </a:p>
        </p:txBody>
      </p:sp>
    </p:spTree>
  </p:cSld>
  <p:clrMapOvr>
    <a:masterClrMapping/>
  </p:clrMapOvr>
</p:sld>
</file>

<file path=ppt/slides/slide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 Setting it up, step by step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5.  </a:t>
            </a:r>
            <a:r>
              <a:rPr sz="1250" b="1" i="0">
                <a:solidFill>
                  <a:srgbClr val="202020"/>
                </a:solidFill>
                <a:latin typeface="Calibri"/>
              </a:rPr>
              <a:t>Audit identity mapping.</a:t>
            </a:r>
            <a:r>
              <a:rPr sz="1250" b="0" i="0">
                <a:solidFill>
                  <a:srgbClr val="202020"/>
                </a:solidFill>
                <a:latin typeface="Calibri"/>
              </a:rPr>
              <a:t> Run </a:t>
            </a:r>
            <a:r>
              <a:rPr sz="1200" b="0" i="0">
                <a:solidFill>
                  <a:srgbClr val="202020"/>
                </a:solidFill>
                <a:latin typeface="Consolas"/>
              </a:rPr>
              <a:t>identity-dry-run --save --verbose</a:t>
            </a:r>
            <a:r>
              <a:rPr sz="1250" b="0" i="0">
                <a:solidFill>
                  <a:srgbClr val="202020"/>
                </a:solidFill>
                <a:latin typeface="Calibri"/>
              </a:rPr>
              <a:t> to build and inspect the Seismic-to-Entra principal map. Confirm the mapped count looks right — a large number of unmapped principals now means broken ACLs later.</a:t>
            </a:r>
          </a:p>
          <a:p>
            <a:pPr>
              <a:spcBef>
                <a:spcPts val="100"/>
              </a:spcBef>
              <a:spcAft>
                <a:spcPts val="200"/>
              </a:spcAft>
            </a:pPr>
            <a:r>
              <a:rPr sz="1250" b="1" i="0">
                <a:solidFill>
                  <a:srgbClr val="2E5496"/>
                </a:solidFill>
                <a:latin typeface="Calibri"/>
              </a:rPr>
              <a:t>6.  </a:t>
            </a:r>
            <a:r>
              <a:rPr sz="1250" b="1" i="0">
                <a:solidFill>
                  <a:srgbClr val="202020"/>
                </a:solidFill>
                <a:latin typeface="Calibri"/>
              </a:rPr>
              <a:t>Create the connection and schema.</a:t>
            </a:r>
            <a:r>
              <a:rPr sz="1250" b="0" i="0">
                <a:solidFill>
                  <a:srgbClr val="202020"/>
                </a:solidFill>
                <a:latin typeface="Calibri"/>
              </a:rPr>
              <a:t> Run </a:t>
            </a:r>
            <a:r>
              <a:rPr sz="1200" b="0" i="0">
                <a:solidFill>
                  <a:srgbClr val="202020"/>
                </a:solidFill>
                <a:latin typeface="Consolas"/>
              </a:rPr>
              <a:t>setup-connection</a:t>
            </a:r>
            <a:r>
              <a:rPr sz="1250" b="0" i="0">
                <a:solidFill>
                  <a:srgbClr val="202020"/>
                </a:solidFill>
                <a:latin typeface="Calibri"/>
              </a:rPr>
              <a:t> to create the Graph external connection and register its schema from </a:t>
            </a:r>
            <a:r>
              <a:rPr sz="1200" b="0" i="0">
                <a:solidFill>
                  <a:srgbClr val="202020"/>
                </a:solidFill>
                <a:latin typeface="Consolas"/>
              </a:rPr>
              <a:t>config/graph-schema.json</a:t>
            </a:r>
            <a:r>
              <a:rPr sz="1250" b="0" i="0">
                <a:solidFill>
                  <a:srgbClr val="202020"/>
                </a:solidFill>
                <a:latin typeface="Calibri"/>
              </a:rPr>
              <a:t>.</a:t>
            </a:r>
          </a:p>
          <a:p>
            <a:pPr>
              <a:spcBef>
                <a:spcPts val="100"/>
              </a:spcBef>
              <a:spcAft>
                <a:spcPts val="200"/>
              </a:spcAft>
            </a:pPr>
            <a:r>
              <a:rPr sz="1250" b="1" i="0">
                <a:solidFill>
                  <a:srgbClr val="2E5496"/>
                </a:solidFill>
                <a:latin typeface="Calibri"/>
              </a:rPr>
              <a:t>7.  </a:t>
            </a:r>
            <a:r>
              <a:rPr sz="1250" b="1" i="0">
                <a:solidFill>
                  <a:srgbClr val="202020"/>
                </a:solidFill>
                <a:latin typeface="Calibri"/>
              </a:rPr>
              <a:t>Configure exclusions.</a:t>
            </a:r>
            <a:r>
              <a:rPr sz="1250" b="0" i="0">
                <a:solidFill>
                  <a:srgbClr val="202020"/>
                </a:solidFill>
                <a:latin typeface="Calibri"/>
              </a:rPr>
              <a:t> Put the compliance-approved </a:t>
            </a:r>
            <a:r>
              <a:rPr sz="1200" b="0" i="0">
                <a:solidFill>
                  <a:srgbClr val="202020"/>
                </a:solidFill>
                <a:latin typeface="Consolas"/>
              </a:rPr>
              <a:t>config/exclusions.json</a:t>
            </a:r>
            <a:r>
              <a:rPr sz="1250" b="0" i="0">
                <a:solidFill>
                  <a:srgbClr val="202020"/>
                </a:solidFill>
                <a:latin typeface="Calibri"/>
              </a:rPr>
              <a:t> in place (restricted libraries, MNE flags). Have it signed off (section 10) before the first crawl.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515</a:t>
            </a:r>
          </a:p>
        </p:txBody>
      </p:sp>
    </p:spTree>
  </p:cSld>
  <p:clrMapOvr>
    <a:masterClrMapping/>
  </p:clrMapOvr>
</p:sld>
</file>

<file path=ppt/slides/slide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 Setting it up, step by step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8.  </a:t>
            </a:r>
            <a:r>
              <a:rPr sz="1250" b="1" i="0">
                <a:solidFill>
                  <a:srgbClr val="202020"/>
                </a:solidFill>
                <a:latin typeface="Calibri"/>
              </a:rPr>
              <a:t>Run the first full crawl.</a:t>
            </a:r>
            <a:r>
              <a:rPr sz="1250" b="0" i="0">
                <a:solidFill>
                  <a:srgbClr val="202020"/>
                </a:solidFill>
                <a:latin typeface="Calibri"/>
              </a:rPr>
              <a:t> Run </a:t>
            </a:r>
            <a:r>
              <a:rPr sz="1200" b="0" i="0">
                <a:solidFill>
                  <a:srgbClr val="202020"/>
                </a:solidFill>
                <a:latin typeface="Consolas"/>
              </a:rPr>
              <a:t>full-deployment</a:t>
            </a:r>
            <a:r>
              <a:rPr sz="1250" b="0" i="0">
                <a:solidFill>
                  <a:srgbClr val="202020"/>
                </a:solidFill>
                <a:latin typeface="Calibri"/>
              </a:rPr>
              <a:t> (identity sync + connection/schema + a full crawl), or </a:t>
            </a:r>
            <a:r>
              <a:rPr sz="1200" b="0" i="0">
                <a:solidFill>
                  <a:srgbClr val="202020"/>
                </a:solidFill>
                <a:latin typeface="Consolas"/>
              </a:rPr>
              <a:t>ingest</a:t>
            </a:r>
            <a:r>
              <a:rPr sz="1250" b="0" i="0">
                <a:solidFill>
                  <a:srgbClr val="202020"/>
                </a:solidFill>
                <a:latin typeface="Calibri"/>
              </a:rPr>
              <a:t> for content only. Watch the run summary for ingested / excluded / failed counts.</a:t>
            </a:r>
          </a:p>
          <a:p>
            <a:pPr>
              <a:spcBef>
                <a:spcPts val="100"/>
              </a:spcBef>
              <a:spcAft>
                <a:spcPts val="200"/>
              </a:spcAft>
            </a:pPr>
            <a:r>
              <a:rPr sz="1250" b="1" i="0">
                <a:solidFill>
                  <a:srgbClr val="2E5496"/>
                </a:solidFill>
                <a:latin typeface="Calibri"/>
              </a:rPr>
              <a:t>9.  </a:t>
            </a:r>
            <a:r>
              <a:rPr sz="1250" b="1" i="0">
                <a:solidFill>
                  <a:srgbClr val="202020"/>
                </a:solidFill>
                <a:latin typeface="Calibri"/>
              </a:rPr>
              <a:t>Enable webhooks (optional).</a:t>
            </a:r>
            <a:r>
              <a:rPr sz="1250" b="0" i="0">
                <a:solidFill>
                  <a:srgbClr val="202020"/>
                </a:solidFill>
                <a:latin typeface="Calibri"/>
              </a:rPr>
              <a:t> Set </a:t>
            </a:r>
            <a:r>
              <a:rPr sz="1200" b="0" i="0">
                <a:solidFill>
                  <a:srgbClr val="202020"/>
                </a:solidFill>
                <a:latin typeface="Consolas"/>
              </a:rPr>
              <a:t>SEISMIC_WEBHOOK_PORT</a:t>
            </a:r>
            <a:r>
              <a:rPr sz="1250" b="0" i="0">
                <a:solidFill>
                  <a:srgbClr val="202020"/>
                </a:solidFill>
                <a:latin typeface="Calibri"/>
              </a:rPr>
              <a:t> and </a:t>
            </a:r>
            <a:r>
              <a:rPr sz="1200" b="0" i="0">
                <a:solidFill>
                  <a:srgbClr val="202020"/>
                </a:solidFill>
                <a:latin typeface="Consolas"/>
              </a:rPr>
              <a:t>SEISMIC_WEBHOOK_SECRET</a:t>
            </a:r>
            <a:r>
              <a:rPr sz="1250" b="0" i="0">
                <a:solidFill>
                  <a:srgbClr val="202020"/>
                </a:solidFill>
                <a:latin typeface="Calibri"/>
              </a:rPr>
              <a:t>, publish the TLS-terminated inbound URL to Seismic, and confirm the log shows the receiver listening (HMAC-authenticated). If the secret is missing the connector logs a fail-closed warning and stays on polling.</a:t>
            </a:r>
          </a:p>
          <a:p>
            <a:pPr>
              <a:spcBef>
                <a:spcPts val="100"/>
              </a:spcBef>
              <a:spcAft>
                <a:spcPts val="200"/>
              </a:spcAft>
            </a:pPr>
            <a:r>
              <a:rPr sz="1250" b="1" i="0">
                <a:solidFill>
                  <a:srgbClr val="2E5496"/>
                </a:solidFill>
                <a:latin typeface="Calibri"/>
              </a:rPr>
              <a:t>10.  </a:t>
            </a:r>
            <a:r>
              <a:rPr sz="1250" b="1" i="0">
                <a:solidFill>
                  <a:srgbClr val="202020"/>
                </a:solidFill>
                <a:latin typeface="Calibri"/>
              </a:rPr>
              <a:t>Verify access trimming with two users.</a:t>
            </a:r>
            <a:r>
              <a:rPr sz="1250" b="0" i="0">
                <a:solidFill>
                  <a:srgbClr val="202020"/>
                </a:solidFill>
                <a:latin typeface="Calibri"/>
              </a:rPr>
              <a:t> Pick two test users with </a:t>
            </a:r>
            <a:r>
              <a:rPr sz="1250" b="1" i="0">
                <a:solidFill>
                  <a:srgbClr val="202020"/>
                </a:solidFill>
                <a:latin typeface="Calibri"/>
              </a:rPr>
              <a:t>different</a:t>
            </a:r>
            <a:r>
              <a:rPr sz="1250" b="0" i="0">
                <a:solidFill>
                  <a:srgbClr val="202020"/>
                </a:solidFill>
                <a:latin typeface="Calibri"/>
              </a:rPr>
              <a:t> Seismic entitlements. Confirm each sees, via Copilot/search, only the items they are permitted to see and not the other's restricted items.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516</a:t>
            </a:r>
          </a:p>
        </p:txBody>
      </p:sp>
    </p:spTree>
  </p:cSld>
  <p:clrMapOvr>
    <a:masterClrMapping/>
  </p:clrMapOvr>
</p:sld>
</file>

<file path=ppt/slides/slide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 Setting it up, step by step</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11.  </a:t>
            </a:r>
            <a:r>
              <a:rPr sz="1250" b="1" i="0">
                <a:solidFill>
                  <a:srgbClr val="202020"/>
                </a:solidFill>
                <a:latin typeface="Calibri"/>
              </a:rPr>
              <a:t>Verify an MNE-excluded item is absent.</a:t>
            </a:r>
            <a:r>
              <a:rPr sz="1250" b="0" i="0">
                <a:solidFill>
                  <a:srgbClr val="202020"/>
                </a:solidFill>
                <a:latin typeface="Calibri"/>
              </a:rPr>
              <a:t> Pick a known restricted / MNE item, confirm it returns </a:t>
            </a:r>
            <a:r>
              <a:rPr sz="1250" b="1" i="0">
                <a:solidFill>
                  <a:srgbClr val="202020"/>
                </a:solidFill>
                <a:latin typeface="Calibri"/>
              </a:rPr>
              <a:t>no result</a:t>
            </a:r>
            <a:r>
              <a:rPr sz="1250" b="0" i="0">
                <a:solidFill>
                  <a:srgbClr val="202020"/>
                </a:solidFill>
                <a:latin typeface="Calibri"/>
              </a:rPr>
              <a:t> in the connection, and confirm the </a:t>
            </a:r>
            <a:r>
              <a:rPr sz="1200" b="0" i="0">
                <a:solidFill>
                  <a:srgbClr val="202020"/>
                </a:solidFill>
                <a:latin typeface="Consolas"/>
              </a:rPr>
              <a:t>reconciliation_*.jsonl</a:t>
            </a:r>
            <a:r>
              <a:rPr sz="1250" b="0" i="0">
                <a:solidFill>
                  <a:srgbClr val="202020"/>
                </a:solidFill>
                <a:latin typeface="Calibri"/>
              </a:rPr>
              <a:t> report lists it as </a:t>
            </a:r>
            <a:r>
              <a:rPr sz="1200" b="0" i="0">
                <a:solidFill>
                  <a:srgbClr val="202020"/>
                </a:solidFill>
                <a:latin typeface="Consolas"/>
              </a:rPr>
              <a:t>excluded</a:t>
            </a:r>
            <a:r>
              <a:rPr sz="1250" b="0" i="0">
                <a:solidFill>
                  <a:srgbClr val="202020"/>
                </a:solidFill>
                <a:latin typeface="Calibri"/>
              </a:rPr>
              <a:t> (or </a:t>
            </a:r>
            <a:r>
              <a:rPr sz="1200" b="0" i="0">
                <a:solidFill>
                  <a:srgbClr val="202020"/>
                </a:solidFill>
                <a:latin typeface="Consolas"/>
              </a:rPr>
              <a:t>withdrawn</a:t>
            </a:r>
            <a:r>
              <a:rPr sz="1250" b="0" i="0">
                <a:solidFill>
                  <a:srgbClr val="202020"/>
                </a:solidFill>
                <a:latin typeface="Calibri"/>
              </a:rPr>
              <a:t>).</a:t>
            </a:r>
          </a:p>
          <a:p>
            <a:pPr>
              <a:spcBef>
                <a:spcPts val="100"/>
              </a:spcBef>
              <a:spcAft>
                <a:spcPts val="200"/>
              </a:spcAft>
            </a:pPr>
            <a:r>
              <a:rPr sz="1250" b="1" i="0">
                <a:solidFill>
                  <a:srgbClr val="2E5496"/>
                </a:solidFill>
                <a:latin typeface="Calibri"/>
              </a:rPr>
              <a:t>12.  </a:t>
            </a:r>
            <a:r>
              <a:rPr sz="1250" b="1" i="0">
                <a:solidFill>
                  <a:srgbClr val="202020"/>
                </a:solidFill>
                <a:latin typeface="Calibri"/>
              </a:rPr>
              <a:t>Go continuous.</a:t>
            </a:r>
            <a:r>
              <a:rPr sz="1250" b="0" i="0">
                <a:solidFill>
                  <a:srgbClr val="202020"/>
                </a:solidFill>
                <a:latin typeface="Calibri"/>
              </a:rPr>
              <a:t> Once verified, run under the service in </a:t>
            </a:r>
            <a:r>
              <a:rPr sz="1200" b="0" i="0">
                <a:solidFill>
                  <a:srgbClr val="202020"/>
                </a:solidFill>
                <a:latin typeface="Consolas"/>
              </a:rPr>
              <a:t>--continuous</a:t>
            </a:r>
            <a:r>
              <a:rPr sz="1250" b="0" i="0">
                <a:solidFill>
                  <a:srgbClr val="202020"/>
                </a:solidFill>
                <a:latin typeface="Calibri"/>
              </a:rPr>
              <a:t> mode with your chosen cadence, e.g. </a:t>
            </a:r>
            <a:r>
              <a:rPr sz="1200" b="0" i="0">
                <a:solidFill>
                  <a:srgbClr val="202020"/>
                </a:solidFill>
                <a:latin typeface="Consolas"/>
              </a:rPr>
              <a:t>full-deployment --continuous --full-crawl-hours 24 --incremental-hours 4</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517</a:t>
            </a:r>
          </a:p>
        </p:txBody>
      </p:sp>
    </p:spTree>
  </p:cSld>
  <p:clrMapOvr>
    <a:masterClrMapping/>
  </p:clrMapOvr>
</p:sld>
</file>

<file path=ppt/slides/slide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 Setting it up, step by step</a:t>
            </a:r>
          </a:p>
        </p:txBody>
      </p:sp>
      <p:sp>
        <p:nvSpPr>
          <p:cNvPr id="5" name="Rectangle 4"/>
          <p:cNvSpPr/>
          <p:nvPr/>
        </p:nvSpPr>
        <p:spPr>
          <a:xfrm>
            <a:off x="502920" y="1463040"/>
            <a:ext cx="11185855" cy="3291840"/>
          </a:xfrm>
          <a:prstGeom prst="rect">
            <a:avLst/>
          </a:prstGeom>
          <a:solidFill>
            <a:srgbClr val="E7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7D32"/>
                </a:solidFill>
                <a:latin typeface="Calibri"/>
              </a:rPr>
              <a:t>Tip:  </a:t>
            </a:r>
            <a:r>
              <a:rPr sz="1400" b="1" i="0">
                <a:solidFill>
                  <a:srgbClr val="202020"/>
                </a:solidFill>
                <a:latin typeface="Calibri"/>
              </a:rPr>
              <a:t>Tip: </a:t>
            </a:r>
            <a:r>
              <a:rPr sz="1400" b="0" i="0">
                <a:solidFill>
                  <a:srgbClr val="202020"/>
                </a:solidFill>
                <a:latin typeface="Calibri"/>
              </a:rPr>
              <a:t>Steps 10 and 11 are the acceptance test for a bank tenant: one proves permissions are trimmed correctly, the other proves compliance exclusion works. Keep the first reconciliation report and run summary as go-live evidence.</a:t>
            </a:r>
          </a:p>
        </p:txBody>
      </p:sp>
      <p:sp>
        <p:nvSpPr>
          <p:cNvPr id="6" name="Rectangle 5"/>
          <p:cNvSpPr/>
          <p:nvPr/>
        </p:nvSpPr>
        <p:spPr>
          <a:xfrm>
            <a:off x="502920" y="1463040"/>
            <a:ext cx="128016" cy="32918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518</a:t>
            </a:r>
          </a:p>
        </p:txBody>
      </p:sp>
    </p:spTree>
  </p:cSld>
  <p:clrMapOvr>
    <a:masterClrMapping/>
  </p:clrMapOvr>
</p:sld>
</file>

<file path=ppt/slides/slide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Seismic Connector</a:t>
            </a:r>
          </a:p>
          <a:p>
            <a:r>
              <a:rPr sz="3000" b="1" i="0">
                <a:solidFill>
                  <a:srgbClr val="1F3864"/>
                </a:solidFill>
                <a:latin typeface="Calibri"/>
              </a:rPr>
              <a:t>12. Running it day to day</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519</a:t>
            </a:r>
          </a:p>
        </p:txBody>
      </p:sp>
    </p:spTree>
  </p:cSld>
  <p:clrMapOvr>
    <a:masterClrMapping/>
  </p:clrMapOvr>
</p:sld>
</file>

<file path=ppt/slides/slide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 Running it day to day</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Once it is continuous, the connector mostly runs itself. This section is what "normal" looks like and the handful of commands you will use.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520</a:t>
            </a:r>
          </a:p>
        </p:txBody>
      </p:sp>
    </p:spTree>
  </p:cSld>
  <p:clrMapOvr>
    <a:masterClrMapping/>
  </p:clrMapOvr>
</p:sld>
</file>

<file path=ppt/slides/slide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The two crawl rhythms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Full crawl</a:t>
            </a:r>
            <a:r>
              <a:rPr sz="1250" b="0" i="0">
                <a:solidFill>
                  <a:srgbClr val="202020"/>
                </a:solidFill>
                <a:latin typeface="Calibri"/>
              </a:rPr>
              <a:t> (e.g. every 24 h, </a:t>
            </a:r>
            <a:r>
              <a:rPr sz="1200" b="0" i="0">
                <a:solidFill>
                  <a:srgbClr val="202020"/>
                </a:solidFill>
                <a:latin typeface="Consolas"/>
              </a:rPr>
              <a:t>--full-crawl-hours</a:t>
            </a:r>
            <a:r>
              <a:rPr sz="1250" b="0" i="0">
                <a:solidFill>
                  <a:srgbClr val="202020"/>
                </a:solidFill>
                <a:latin typeface="Calibri"/>
              </a:rPr>
              <a:t>) — walks everything: identity sync, all libraries and content, then the full withdrawal pass (expired, unpublished, deleted, newly restricted).</a:t>
            </a:r>
          </a:p>
          <a:p>
            <a:pPr>
              <a:spcBef>
                <a:spcPts val="100"/>
              </a:spcBef>
              <a:spcAft>
                <a:spcPts val="200"/>
              </a:spcAft>
            </a:pPr>
            <a:r>
              <a:rPr sz="1250" b="1" i="0">
                <a:solidFill>
                  <a:srgbClr val="2E5496"/>
                </a:solidFill>
                <a:latin typeface="Calibri"/>
              </a:rPr>
              <a:t>•  </a:t>
            </a:r>
            <a:r>
              <a:rPr sz="1250" b="1" i="0">
                <a:solidFill>
                  <a:srgbClr val="202020"/>
                </a:solidFill>
                <a:latin typeface="Calibri"/>
              </a:rPr>
              <a:t>Incremental crawl</a:t>
            </a:r>
            <a:r>
              <a:rPr sz="1250" b="0" i="0">
                <a:solidFill>
                  <a:srgbClr val="202020"/>
                </a:solidFill>
                <a:latin typeface="Calibri"/>
              </a:rPr>
              <a:t> (e.g. every 4 h, </a:t>
            </a:r>
            <a:r>
              <a:rPr sz="1200" b="0" i="0">
                <a:solidFill>
                  <a:srgbClr val="202020"/>
                </a:solidFill>
                <a:latin typeface="Consolas"/>
              </a:rPr>
              <a:t>--incremental-hours</a:t>
            </a:r>
            <a:r>
              <a:rPr sz="1250" b="0" i="0">
                <a:solidFill>
                  <a:srgbClr val="202020"/>
                </a:solidFill>
                <a:latin typeface="Calibri"/>
              </a:rPr>
              <a:t>) — only content modified since the last successful sync, plus the always-on expiry withdrawal and the late-exclusion pass.</a:t>
            </a:r>
          </a:p>
          <a:p>
            <a:pPr>
              <a:spcBef>
                <a:spcPts val="100"/>
              </a:spcBef>
              <a:spcAft>
                <a:spcPts val="200"/>
              </a:spcAft>
            </a:pPr>
            <a:r>
              <a:rPr sz="1250" b="1" i="0">
                <a:solidFill>
                  <a:srgbClr val="2E5496"/>
                </a:solidFill>
                <a:latin typeface="Calibri"/>
              </a:rPr>
              <a:t>•  </a:t>
            </a:r>
            <a:r>
              <a:rPr sz="1250" b="1" i="0">
                <a:solidFill>
                  <a:srgbClr val="202020"/>
                </a:solidFill>
                <a:latin typeface="Calibri"/>
              </a:rPr>
              <a:t>Webhook events</a:t>
            </a:r>
            <a:r>
              <a:rPr sz="1250" b="0" i="0">
                <a:solidFill>
                  <a:srgbClr val="202020"/>
                </a:solidFill>
                <a:latin typeface="Calibri"/>
              </a:rPr>
              <a:t> (if enabled) — targeted updates between crawls; polling still backstops them.</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521</a:t>
            </a:r>
          </a:p>
        </p:txBody>
      </p:sp>
    </p:spTree>
  </p:cSld>
  <p:clrMapOvr>
    <a:masterClrMapping/>
  </p:clrMapOvr>
</p:sld>
</file>

<file path=ppt/slides/slide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Routine operator commands</a:t>
            </a:r>
          </a:p>
        </p:txBody>
      </p:sp>
      <p:graphicFrame>
        <p:nvGraphicFramePr>
          <p:cNvPr id="5" name="Table 4"/>
          <p:cNvGraphicFramePr>
            <a:graphicFrameLocks noGrp="1"/>
          </p:cNvGraphicFramePr>
          <p:nvPr/>
        </p:nvGraphicFramePr>
        <p:xfrm>
          <a:off x="502920" y="1188720"/>
          <a:ext cx="11185854" cy="3072384"/>
        </p:xfrm>
        <a:graphic>
          <a:graphicData uri="http://schemas.openxmlformats.org/drawingml/2006/table">
            <a:tbl>
              <a:tblPr firstRow="1" bandRow="1">
                <a:tableStyleId>{5C22544A-7EE6-4342-B048-85BDC9FD1C3A}</a:tableStyleId>
              </a:tblPr>
              <a:tblGrid>
                <a:gridCol w="3803190"/>
                <a:gridCol w="7382664"/>
              </a:tblGrid>
              <a:tr h="384048">
                <a:tc>
                  <a:txBody>
                    <a:bodyPr wrap="square"/>
                    <a:lstStyle/>
                    <a:p>
                      <a:r>
                        <a:rPr sz="1050" b="1" i="0">
                          <a:solidFill>
                            <a:srgbClr val="FFFFFF"/>
                          </a:solidFill>
                          <a:latin typeface="Calibri"/>
                        </a:rPr>
                        <a:t>Command</a:t>
                      </a:r>
                    </a:p>
                  </a:txBody>
                  <a:tcPr marT="25400" marB="25400">
                    <a:solidFill>
                      <a:srgbClr val="2E5496"/>
                    </a:solidFill>
                  </a:tcPr>
                </a:tc>
                <a:tc>
                  <a:txBody>
                    <a:bodyPr wrap="square"/>
                    <a:lstStyle/>
                    <a:p>
                      <a:r>
                        <a:rPr sz="1050" b="1" i="0">
                          <a:solidFill>
                            <a:srgbClr val="FFFFFF"/>
                          </a:solidFill>
                          <a:latin typeface="Calibri"/>
                        </a:rPr>
                        <a:t>When to use it</a:t>
                      </a:r>
                    </a:p>
                  </a:txBody>
                  <a:tcPr marT="25400" marB="25400">
                    <a:solidFill>
                      <a:srgbClr val="2E5496"/>
                    </a:solidFill>
                  </a:tcPr>
                </a:tc>
              </a:tr>
              <a:tr h="384048">
                <a:tc>
                  <a:txBody>
                    <a:bodyPr wrap="square"/>
                    <a:lstStyle/>
                    <a:p>
                      <a:r>
                        <a:rPr sz="950" b="0" i="0">
                          <a:solidFill>
                            <a:srgbClr val="202020"/>
                          </a:solidFill>
                          <a:latin typeface="Calibri"/>
                        </a:rPr>
                        <a:t>ingest [--continuous]</a:t>
                      </a:r>
                    </a:p>
                  </a:txBody>
                  <a:tcPr marT="12700" marB="12700">
                    <a:solidFill>
                      <a:srgbClr val="FFFFFF"/>
                    </a:solidFill>
                  </a:tcPr>
                </a:tc>
                <a:tc>
                  <a:txBody>
                    <a:bodyPr wrap="square"/>
                    <a:lstStyle/>
                    <a:p>
                      <a:r>
                        <a:rPr sz="950" b="0" i="0">
                          <a:solidFill>
                            <a:srgbClr val="202020"/>
                          </a:solidFill>
                          <a:latin typeface="Calibri"/>
                        </a:rPr>
                        <a:t>Run content crawls (incremental/full on the schedule).</a:t>
                      </a:r>
                    </a:p>
                  </a:txBody>
                  <a:tcPr marT="12700" marB="12700">
                    <a:solidFill>
                      <a:srgbClr val="FFFFFF"/>
                    </a:solidFill>
                  </a:tcPr>
                </a:tc>
              </a:tr>
              <a:tr h="384048">
                <a:tc>
                  <a:txBody>
                    <a:bodyPr wrap="square"/>
                    <a:lstStyle/>
                    <a:p>
                      <a:r>
                        <a:rPr sz="950" b="0" i="0">
                          <a:solidFill>
                            <a:srgbClr val="202020"/>
                          </a:solidFill>
                          <a:latin typeface="Calibri"/>
                        </a:rPr>
                        <a:t>full-deployment [--continuous]</a:t>
                      </a:r>
                    </a:p>
                  </a:txBody>
                  <a:tcPr marT="12700" marB="12700">
                    <a:solidFill>
                      <a:srgbClr val="F7F9FC"/>
                    </a:solidFill>
                  </a:tcPr>
                </a:tc>
                <a:tc>
                  <a:txBody>
                    <a:bodyPr wrap="square"/>
                    <a:lstStyle/>
                    <a:p>
                      <a:r>
                        <a:rPr sz="950" b="0" i="0">
                          <a:solidFill>
                            <a:srgbClr val="202020"/>
                          </a:solidFill>
                          <a:latin typeface="Calibri"/>
                        </a:rPr>
                        <a:t>Identity + connection/schema + crawl; the usual service command.</a:t>
                      </a:r>
                    </a:p>
                  </a:txBody>
                  <a:tcPr marT="12700" marB="12700">
                    <a:solidFill>
                      <a:srgbClr val="F7F9FC"/>
                    </a:solidFill>
                  </a:tcPr>
                </a:tc>
              </a:tr>
              <a:tr h="384048">
                <a:tc>
                  <a:txBody>
                    <a:bodyPr wrap="square"/>
                    <a:lstStyle/>
                    <a:p>
                      <a:r>
                        <a:rPr sz="950" b="0" i="0">
                          <a:solidFill>
                            <a:srgbClr val="202020"/>
                          </a:solidFill>
                          <a:latin typeface="Calibri"/>
                        </a:rPr>
                        <a:t>reacl [--dry-run]</a:t>
                      </a:r>
                    </a:p>
                  </a:txBody>
                  <a:tcPr marT="12700" marB="12700">
                    <a:solidFill>
                      <a:srgbClr val="FFFFFF"/>
                    </a:solidFill>
                  </a:tcPr>
                </a:tc>
                <a:tc>
                  <a:txBody>
                    <a:bodyPr wrap="square"/>
                    <a:lstStyle/>
                    <a:p>
                      <a:r>
                        <a:rPr sz="950" b="0" i="0">
                          <a:solidFill>
                            <a:srgbClr val="202020"/>
                          </a:solidFill>
                          <a:latin typeface="Calibri"/>
                        </a:rPr>
                        <a:t>Audit or repair permission drift on demand (section 8).</a:t>
                      </a:r>
                    </a:p>
                  </a:txBody>
                  <a:tcPr marT="12700" marB="12700">
                    <a:solidFill>
                      <a:srgbClr val="FFFFFF"/>
                    </a:solidFill>
                  </a:tcPr>
                </a:tc>
              </a:tr>
              <a:tr h="384048">
                <a:tc>
                  <a:txBody>
                    <a:bodyPr wrap="square"/>
                    <a:lstStyle/>
                    <a:p>
                      <a:r>
                        <a:rPr sz="950" b="0" i="0">
                          <a:solidFill>
                            <a:srgbClr val="202020"/>
                          </a:solidFill>
                          <a:latin typeface="Calibri"/>
                        </a:rPr>
                        <a:t>reconcile [--repair]</a:t>
                      </a:r>
                    </a:p>
                  </a:txBody>
                  <a:tcPr marT="12700" marB="12700">
                    <a:solidFill>
                      <a:srgbClr val="F7F9FC"/>
                    </a:solidFill>
                  </a:tcPr>
                </a:tc>
                <a:tc>
                  <a:txBody>
                    <a:bodyPr wrap="square"/>
                    <a:lstStyle/>
                    <a:p>
                      <a:r>
                        <a:rPr sz="950" b="0" i="0">
                          <a:solidFill>
                            <a:srgbClr val="202020"/>
                          </a:solidFill>
                          <a:latin typeface="Calibri"/>
                        </a:rPr>
                        <a:t>Drift sweep vs. the full inventory; --repair converges it (section 14).</a:t>
                      </a:r>
                    </a:p>
                  </a:txBody>
                  <a:tcPr marT="12700" marB="12700">
                    <a:solidFill>
                      <a:srgbClr val="F7F9FC"/>
                    </a:solidFill>
                  </a:tcPr>
                </a:tc>
              </a:tr>
              <a:tr h="384048">
                <a:tc>
                  <a:txBody>
                    <a:bodyPr wrap="square"/>
                    <a:lstStyle/>
                    <a:p>
                      <a:r>
                        <a:rPr sz="950" b="0" i="0">
                          <a:solidFill>
                            <a:srgbClr val="202020"/>
                          </a:solidFill>
                          <a:latin typeface="Calibri"/>
                        </a:rPr>
                        <a:t>retry-failed [--clear-on-success]</a:t>
                      </a:r>
                    </a:p>
                  </a:txBody>
                  <a:tcPr marT="12700" marB="12700">
                    <a:solidFill>
                      <a:srgbClr val="FFFFFF"/>
                    </a:solidFill>
                  </a:tcPr>
                </a:tc>
                <a:tc>
                  <a:txBody>
                    <a:bodyPr wrap="square"/>
                    <a:lstStyle/>
                    <a:p>
                      <a:r>
                        <a:rPr sz="950" b="0" i="0">
                          <a:solidFill>
                            <a:srgbClr val="202020"/>
                          </a:solidFill>
                          <a:latin typeface="Calibri"/>
                        </a:rPr>
                        <a:t>Re-drive dead-lettered items after fixing a transient cause.</a:t>
                      </a:r>
                    </a:p>
                  </a:txBody>
                  <a:tcPr marT="12700" marB="12700">
                    <a:solidFill>
                      <a:srgbClr val="FFFFFF"/>
                    </a:solidFill>
                  </a:tcPr>
                </a:tc>
              </a:tr>
              <a:tr h="384048">
                <a:tc>
                  <a:txBody>
                    <a:bodyPr wrap="square"/>
                    <a:lstStyle/>
                    <a:p>
                      <a:r>
                        <a:rPr sz="950" b="0" i="0">
                          <a:solidFill>
                            <a:srgbClr val="202020"/>
                          </a:solidFill>
                          <a:latin typeface="Calibri"/>
                        </a:rPr>
                        <a:t>ingest-item --id &lt;contentId&gt; [--teamsite &lt;id&gt;]</a:t>
                      </a:r>
                    </a:p>
                  </a:txBody>
                  <a:tcPr marT="12700" marB="12700">
                    <a:solidFill>
                      <a:srgbClr val="F7F9FC"/>
                    </a:solidFill>
                  </a:tcPr>
                </a:tc>
                <a:tc>
                  <a:txBody>
                    <a:bodyPr wrap="square"/>
                    <a:lstStyle/>
                    <a:p>
                      <a:r>
                        <a:rPr sz="950" b="0" i="0">
                          <a:solidFill>
                            <a:srgbClr val="202020"/>
                          </a:solidFill>
                          <a:latin typeface="Calibri"/>
                        </a:rPr>
                        <a:t>Re-ingest or check one specific item.</a:t>
                      </a:r>
                    </a:p>
                  </a:txBody>
                  <a:tcPr marT="12700" marB="12700">
                    <a:solidFill>
                      <a:srgbClr val="F7F9FC"/>
                    </a:solidFill>
                  </a:tcPr>
                </a:tc>
              </a:tr>
              <a:tr h="384048">
                <a:tc>
                  <a:txBody>
                    <a:bodyPr wrap="square"/>
                    <a:lstStyle/>
                    <a:p>
                      <a:r>
                        <a:rPr sz="950" b="0" i="0">
                          <a:solidFill>
                            <a:srgbClr val="202020"/>
                          </a:solidFill>
                          <a:latin typeface="Calibri"/>
                        </a:rPr>
                        <a:t>validate-config [--strict]</a:t>
                      </a:r>
                    </a:p>
                  </a:txBody>
                  <a:tcPr marT="12700" marB="12700">
                    <a:solidFill>
                      <a:srgbClr val="FFFFFF"/>
                    </a:solidFill>
                  </a:tcPr>
                </a:tc>
                <a:tc>
                  <a:txBody>
                    <a:bodyPr wrap="square"/>
                    <a:lstStyle/>
                    <a:p>
                      <a:r>
                        <a:rPr sz="950" b="0" i="0">
                          <a:solidFill>
                            <a:srgbClr val="202020"/>
                          </a:solidFill>
                          <a:latin typeface="Calibri"/>
                        </a:rPr>
                        <a:t>Re-probe credentials and config without running a crawl.</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522</a:t>
            </a:r>
          </a:p>
        </p:txBody>
      </p:sp>
    </p:spTree>
  </p:cSld>
  <p:clrMapOvr>
    <a:masterClrMapping/>
  </p:clrMapOvr>
</p:sld>
</file>

<file path=ppt/slides/slide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Recurring housekeeping</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Re-ACL / drift sweep</a:t>
            </a:r>
            <a:r>
              <a:rPr sz="1250" b="0" i="0">
                <a:solidFill>
                  <a:srgbClr val="202020"/>
                </a:solidFill>
                <a:latin typeface="Calibri"/>
              </a:rPr>
              <a:t> — if you run with </a:t>
            </a:r>
            <a:r>
              <a:rPr sz="1200" b="0" i="0">
                <a:solidFill>
                  <a:srgbClr val="202020"/>
                </a:solidFill>
                <a:latin typeface="Consolas"/>
              </a:rPr>
              <a:t>PERMISSION_REACL=true</a:t>
            </a:r>
            <a:r>
              <a:rPr sz="1250" b="0" i="0">
                <a:solidFill>
                  <a:srgbClr val="202020"/>
                </a:solidFill>
                <a:latin typeface="Calibri"/>
              </a:rPr>
              <a:t>, drift is repaired each crawl. Otherwise schedule </a:t>
            </a:r>
            <a:r>
              <a:rPr sz="1200" b="0" i="0">
                <a:solidFill>
                  <a:srgbClr val="202020"/>
                </a:solidFill>
                <a:latin typeface="Consolas"/>
              </a:rPr>
              <a:t>reacl</a:t>
            </a:r>
            <a:r>
              <a:rPr sz="1250" b="0" i="0">
                <a:solidFill>
                  <a:srgbClr val="202020"/>
                </a:solidFill>
                <a:latin typeface="Calibri"/>
              </a:rPr>
              <a:t> and </a:t>
            </a:r>
            <a:r>
              <a:rPr sz="1200" b="0" i="0">
                <a:solidFill>
                  <a:srgbClr val="202020"/>
                </a:solidFill>
                <a:latin typeface="Consolas"/>
              </a:rPr>
              <a:t>reconcile</a:t>
            </a:r>
            <a:r>
              <a:rPr sz="1250" b="0" i="0">
                <a:solidFill>
                  <a:srgbClr val="202020"/>
                </a:solidFill>
                <a:latin typeface="Calibri"/>
              </a:rPr>
              <a:t> (both write auditable reports) as a periodic compliance job.</a:t>
            </a:r>
          </a:p>
          <a:p>
            <a:pPr>
              <a:spcBef>
                <a:spcPts val="100"/>
              </a:spcBef>
              <a:spcAft>
                <a:spcPts val="200"/>
              </a:spcAft>
            </a:pPr>
            <a:r>
              <a:rPr sz="1250" b="1" i="0">
                <a:solidFill>
                  <a:srgbClr val="2E5496"/>
                </a:solidFill>
                <a:latin typeface="Calibri"/>
              </a:rPr>
              <a:t>•  </a:t>
            </a:r>
            <a:r>
              <a:rPr sz="1250" b="1" i="0">
                <a:solidFill>
                  <a:srgbClr val="202020"/>
                </a:solidFill>
                <a:latin typeface="Calibri"/>
              </a:rPr>
              <a:t>Retry failures</a:t>
            </a:r>
            <a:r>
              <a:rPr sz="1250" b="0" i="0">
                <a:solidFill>
                  <a:srgbClr val="202020"/>
                </a:solidFill>
                <a:latin typeface="Calibri"/>
              </a:rPr>
              <a:t> — after a downstream incident clears, run </a:t>
            </a:r>
            <a:r>
              <a:rPr sz="1200" b="0" i="0">
                <a:solidFill>
                  <a:srgbClr val="202020"/>
                </a:solidFill>
                <a:latin typeface="Consolas"/>
              </a:rPr>
              <a:t>retry-failed --clear-on-success</a:t>
            </a:r>
            <a:r>
              <a:rPr sz="1250" b="0" i="0">
                <a:solidFill>
                  <a:srgbClr val="202020"/>
                </a:solidFill>
                <a:latin typeface="Calibri"/>
              </a:rPr>
              <a:t> to drain the dead-letter queue. Never hand-edit the queue file (section 14).</a:t>
            </a:r>
          </a:p>
          <a:p>
            <a:pPr>
              <a:spcBef>
                <a:spcPts val="100"/>
              </a:spcBef>
              <a:spcAft>
                <a:spcPts val="200"/>
              </a:spcAft>
            </a:pPr>
            <a:r>
              <a:rPr sz="1250" b="1" i="0">
                <a:solidFill>
                  <a:srgbClr val="2E5496"/>
                </a:solidFill>
                <a:latin typeface="Calibri"/>
              </a:rPr>
              <a:t>•  </a:t>
            </a:r>
            <a:r>
              <a:rPr sz="1250" b="1" i="0">
                <a:solidFill>
                  <a:srgbClr val="202020"/>
                </a:solidFill>
                <a:latin typeface="Calibri"/>
              </a:rPr>
              <a:t>Log retention</a:t>
            </a:r>
            <a:r>
              <a:rPr sz="1250" b="0" i="0">
                <a:solidFill>
                  <a:srgbClr val="202020"/>
                </a:solidFill>
                <a:latin typeface="Calibri"/>
              </a:rPr>
              <a:t> — set </a:t>
            </a:r>
            <a:r>
              <a:rPr sz="1200" b="0" i="0">
                <a:solidFill>
                  <a:srgbClr val="202020"/>
                </a:solidFill>
                <a:latin typeface="Consolas"/>
              </a:rPr>
              <a:t>LOG_RETENTION_DAYS</a:t>
            </a:r>
            <a:r>
              <a:rPr sz="1250" b="0" i="0">
                <a:solidFill>
                  <a:srgbClr val="202020"/>
                </a:solidFill>
                <a:latin typeface="Calibri"/>
              </a:rPr>
              <a:t> to prune old run directories; state files are never touched. Keep reconciliation reports as long as compliance requires.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523</a:t>
            </a:r>
          </a:p>
        </p:txBody>
      </p:sp>
    </p:spTree>
  </p:cSld>
  <p:clrMapOvr>
    <a:masterClrMapping/>
  </p:clrMapOvr>
</p:sld>
</file>

<file path=ppt/slides/slide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Recurring housekeeping</a:t>
            </a:r>
          </a:p>
        </p:txBody>
      </p:sp>
      <p:sp>
        <p:nvSpPr>
          <p:cNvPr id="5" name="Rectangle 4"/>
          <p:cNvSpPr/>
          <p:nvPr/>
        </p:nvSpPr>
        <p:spPr>
          <a:xfrm>
            <a:off x="502920" y="1463040"/>
            <a:ext cx="11185855" cy="329184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5496"/>
                </a:solidFill>
                <a:latin typeface="Calibri"/>
              </a:rPr>
              <a:t>Note:  </a:t>
            </a:r>
            <a:r>
              <a:rPr sz="1400" b="1" i="0">
                <a:solidFill>
                  <a:srgbClr val="202020"/>
                </a:solidFill>
                <a:latin typeface="Calibri"/>
              </a:rPr>
              <a:t>Note: </a:t>
            </a:r>
            <a:r>
              <a:rPr sz="1400" b="0" i="0">
                <a:solidFill>
                  <a:srgbClr val="202020"/>
                </a:solidFill>
                <a:latin typeface="Calibri"/>
              </a:rPr>
              <a:t>Stopping the service is </a:t>
            </a:r>
            <a:r>
              <a:rPr sz="1400" b="1" i="0">
                <a:solidFill>
                  <a:srgbClr val="202020"/>
                </a:solidFill>
                <a:latin typeface="Calibri"/>
              </a:rPr>
              <a:t>graceful</a:t>
            </a:r>
            <a:r>
              <a:rPr sz="1400" b="0" i="0">
                <a:solidFill>
                  <a:srgbClr val="202020"/>
                </a:solidFill>
                <a:latin typeface="Calibri"/>
              </a:rPr>
              <a:t>: the in-flight chunk finishes, the pending Graph batch flushes, the checkpoint is saved, then it exits. A restart resumes with no lost or duplicated work. You do not need to "drain" it manually before a restart.</a:t>
            </a:r>
          </a:p>
        </p:txBody>
      </p:sp>
      <p:sp>
        <p:nvSpPr>
          <p:cNvPr id="6" name="Rectangle 5"/>
          <p:cNvSpPr/>
          <p:nvPr/>
        </p:nvSpPr>
        <p:spPr>
          <a:xfrm>
            <a:off x="502920" y="1463040"/>
            <a:ext cx="128016" cy="329184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524</a:t>
            </a:r>
          </a:p>
        </p:txBody>
      </p:sp>
    </p:spTree>
  </p:cSld>
  <p:clrMapOvr>
    <a:masterClrMapping/>
  </p:clrMapOvr>
</p:sld>
</file>

<file path=ppt/slides/slide5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Seismic Connector</a:t>
            </a:r>
          </a:p>
          <a:p>
            <a:r>
              <a:rPr sz="3000" b="1" i="0">
                <a:solidFill>
                  <a:srgbClr val="1F3864"/>
                </a:solidFill>
                <a:latin typeface="Calibri"/>
              </a:rPr>
              <a:t>13. Monitoring this connector</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525</a:t>
            </a:r>
          </a:p>
        </p:txBody>
      </p:sp>
    </p:spTree>
  </p:cSld>
  <p:clrMapOvr>
    <a:masterClrMapping/>
  </p:clrMapOvr>
</p:sld>
</file>

<file path=ppt/slides/slide5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13. Monitoring this connector</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connector exposes health endpoints and Prometheus metrics on </a:t>
            </a:r>
            <a:r>
              <a:rPr sz="1200" b="0" i="0">
                <a:solidFill>
                  <a:srgbClr val="202020"/>
                </a:solidFill>
                <a:latin typeface="Consolas"/>
              </a:rPr>
              <a:t>HEALTH_PORT</a:t>
            </a:r>
            <a:r>
              <a:rPr sz="1250" b="0" i="0">
                <a:solidFill>
                  <a:srgbClr val="202020"/>
                </a:solidFill>
                <a:latin typeface="Calibri"/>
              </a:rPr>
              <a:t>, mirrors warnings to the Windows Event Log, and can POST webhook alerts. The shared monitoring stack (Grafana dashboard, Prometheus / Azure Monitor rules) ships ready-made; this section covers the Seismic-specific series and what healthy looks like.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526</a:t>
            </a:r>
          </a:p>
        </p:txBody>
      </p:sp>
    </p:spTree>
  </p:cSld>
  <p:clrMapOvr>
    <a:masterClrMapping/>
  </p:clrMapOvr>
</p:sld>
</file>

<file path=ppt/slides/slide5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Health endpoints</a:t>
            </a:r>
          </a:p>
        </p:txBody>
      </p:sp>
      <p:graphicFrame>
        <p:nvGraphicFramePr>
          <p:cNvPr id="5" name="Table 4"/>
          <p:cNvGraphicFramePr>
            <a:graphicFrameLocks noGrp="1"/>
          </p:cNvGraphicFramePr>
          <p:nvPr/>
        </p:nvGraphicFramePr>
        <p:xfrm>
          <a:off x="502920" y="1188720"/>
          <a:ext cx="11185854" cy="1536192"/>
        </p:xfrm>
        <a:graphic>
          <a:graphicData uri="http://schemas.openxmlformats.org/drawingml/2006/table">
            <a:tbl>
              <a:tblPr firstRow="1" bandRow="1">
                <a:tableStyleId>{5C22544A-7EE6-4342-B048-85BDC9FD1C3A}</a:tableStyleId>
              </a:tblPr>
              <a:tblGrid>
                <a:gridCol w="3803190"/>
                <a:gridCol w="7382664"/>
              </a:tblGrid>
              <a:tr h="384048">
                <a:tc>
                  <a:txBody>
                    <a:bodyPr wrap="square"/>
                    <a:lstStyle/>
                    <a:p>
                      <a:r>
                        <a:rPr sz="1050" b="1" i="0">
                          <a:solidFill>
                            <a:srgbClr val="FFFFFF"/>
                          </a:solidFill>
                          <a:latin typeface="Calibri"/>
                        </a:rPr>
                        <a:t>Route</a:t>
                      </a:r>
                    </a:p>
                  </a:txBody>
                  <a:tcPr marT="25400" marB="25400">
                    <a:solidFill>
                      <a:srgbClr val="2E5496"/>
                    </a:solidFill>
                  </a:tcPr>
                </a:tc>
                <a:tc>
                  <a:txBody>
                    <a:bodyPr wrap="square"/>
                    <a:lstStyle/>
                    <a:p>
                      <a:r>
                        <a:rPr sz="1050" b="1" i="0">
                          <a:solidFill>
                            <a:srgbClr val="FFFFFF"/>
                          </a:solidFill>
                          <a:latin typeface="Calibri"/>
                        </a:rPr>
                        <a:t>Response</a:t>
                      </a:r>
                    </a:p>
                  </a:txBody>
                  <a:tcPr marT="25400" marB="25400">
                    <a:solidFill>
                      <a:srgbClr val="2E5496"/>
                    </a:solidFill>
                  </a:tcPr>
                </a:tc>
              </a:tr>
              <a:tr h="384048">
                <a:tc>
                  <a:txBody>
                    <a:bodyPr wrap="square"/>
                    <a:lstStyle/>
                    <a:p>
                      <a:r>
                        <a:rPr sz="950" b="0" i="0">
                          <a:solidFill>
                            <a:srgbClr val="202020"/>
                          </a:solidFill>
                          <a:latin typeface="Calibri"/>
                        </a:rPr>
                        <a:t>GET /health</a:t>
                      </a:r>
                    </a:p>
                  </a:txBody>
                  <a:tcPr marT="12700" marB="12700">
                    <a:solidFill>
                      <a:srgbClr val="FFFFFF"/>
                    </a:solidFill>
                  </a:tcPr>
                </a:tc>
                <a:tc>
                  <a:txBody>
                    <a:bodyPr wrap="square"/>
                    <a:lstStyle/>
                    <a:p>
                      <a:r>
                        <a:rPr sz="950" b="0" i="0">
                          <a:solidFill>
                            <a:srgbClr val="202020"/>
                          </a:solidFill>
                          <a:latin typeface="Calibri"/>
                        </a:rPr>
                        <a:t>200 OK — liveness (the process is up)</a:t>
                      </a:r>
                    </a:p>
                  </a:txBody>
                  <a:tcPr marT="12700" marB="12700">
                    <a:solidFill>
                      <a:srgbClr val="FFFFFF"/>
                    </a:solidFill>
                  </a:tcPr>
                </a:tc>
              </a:tr>
              <a:tr h="384048">
                <a:tc>
                  <a:txBody>
                    <a:bodyPr wrap="square"/>
                    <a:lstStyle/>
                    <a:p>
                      <a:r>
                        <a:rPr sz="950" b="0" i="0">
                          <a:solidFill>
                            <a:srgbClr val="202020"/>
                          </a:solidFill>
                          <a:latin typeface="Calibri"/>
                        </a:rPr>
                        <a:t>GET /ready</a:t>
                      </a:r>
                    </a:p>
                  </a:txBody>
                  <a:tcPr marT="12700" marB="12700">
                    <a:solidFill>
                      <a:srgbClr val="F7F9FC"/>
                    </a:solidFill>
                  </a:tcPr>
                </a:tc>
                <a:tc>
                  <a:txBody>
                    <a:bodyPr wrap="square"/>
                    <a:lstStyle/>
                    <a:p>
                      <a:r>
                        <a:rPr sz="950" b="0" i="0">
                          <a:solidFill>
                            <a:srgbClr val="202020"/>
                          </a:solidFill>
                          <a:latin typeface="Calibri"/>
                        </a:rPr>
                        <a:t>200 READY, or 503 NOT READY while a critical circuit breaker is open</a:t>
                      </a:r>
                    </a:p>
                  </a:txBody>
                  <a:tcPr marT="12700" marB="12700">
                    <a:solidFill>
                      <a:srgbClr val="F7F9FC"/>
                    </a:solidFill>
                  </a:tcPr>
                </a:tc>
              </a:tr>
              <a:tr h="384048">
                <a:tc>
                  <a:txBody>
                    <a:bodyPr wrap="square"/>
                    <a:lstStyle/>
                    <a:p>
                      <a:r>
                        <a:rPr sz="950" b="0" i="0">
                          <a:solidFill>
                            <a:srgbClr val="202020"/>
                          </a:solidFill>
                          <a:latin typeface="Calibri"/>
                        </a:rPr>
                        <a:t>GET /metrics</a:t>
                      </a:r>
                    </a:p>
                  </a:txBody>
                  <a:tcPr marT="12700" marB="12700">
                    <a:solidFill>
                      <a:srgbClr val="FFFFFF"/>
                    </a:solidFill>
                  </a:tcPr>
                </a:tc>
                <a:tc>
                  <a:txBody>
                    <a:bodyPr wrap="square"/>
                    <a:lstStyle/>
                    <a:p>
                      <a:r>
                        <a:rPr sz="950" b="0" i="0">
                          <a:solidFill>
                            <a:srgbClr val="202020"/>
                          </a:solidFill>
                          <a:latin typeface="Calibri"/>
                        </a:rPr>
                        <a:t>Prometheus text exposition (all names prefixed seismic_connector_)</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527</a:t>
            </a:r>
          </a:p>
        </p:txBody>
      </p:sp>
    </p:spTree>
  </p:cSld>
  <p:clrMapOvr>
    <a:masterClrMapping/>
  </p:clrMapOvr>
</p:sld>
</file>

<file path=ppt/slides/slide5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Health endpoints</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A paused (degraded-mode) connector is still </a:t>
            </a:r>
            <a:r>
              <a:rPr sz="1400" b="1" i="0">
                <a:solidFill>
                  <a:srgbClr val="202020"/>
                </a:solidFill>
                <a:latin typeface="Calibri"/>
              </a:rPr>
              <a:t>live</a:t>
            </a:r>
            <a:r>
              <a:rPr sz="1400" b="0" i="0">
                <a:solidFill>
                  <a:srgbClr val="202020"/>
                </a:solidFill>
                <a:latin typeface="Calibri"/>
              </a:rPr>
              <a:t>: </a:t>
            </a:r>
            <a:r>
              <a:rPr sz="1350" b="0" i="0">
                <a:solidFill>
                  <a:srgbClr val="202020"/>
                </a:solidFill>
                <a:latin typeface="Consolas"/>
              </a:rPr>
              <a:t>/health</a:t>
            </a:r>
            <a:r>
              <a:rPr sz="1400" b="0" i="0">
                <a:solidFill>
                  <a:srgbClr val="202020"/>
                </a:solidFill>
                <a:latin typeface="Calibri"/>
              </a:rPr>
              <a:t> stays </a:t>
            </a:r>
            <a:r>
              <a:rPr sz="1350" b="0" i="0">
                <a:solidFill>
                  <a:srgbClr val="202020"/>
                </a:solidFill>
                <a:latin typeface="Consolas"/>
              </a:rPr>
              <a:t>200</a:t>
            </a:r>
            <a:r>
              <a:rPr sz="1400" b="0" i="0">
                <a:solidFill>
                  <a:srgbClr val="202020"/>
                </a:solidFill>
                <a:latin typeface="Calibri"/>
              </a:rPr>
              <a:t> by design while a dependency is down. Do not restart-loop on a </a:t>
            </a:r>
            <a:r>
              <a:rPr sz="1350" b="0" i="0">
                <a:solidFill>
                  <a:srgbClr val="202020"/>
                </a:solidFill>
                <a:latin typeface="Consolas"/>
              </a:rPr>
              <a:t>503</a:t>
            </a:r>
            <a:r>
              <a:rPr sz="1400" b="0" i="0">
                <a:solidFill>
                  <a:srgbClr val="202020"/>
                </a:solidFill>
                <a:latin typeface="Calibri"/>
              </a:rPr>
              <a:t> from </a:t>
            </a:r>
            <a:r>
              <a:rPr sz="1350" b="0" i="0">
                <a:solidFill>
                  <a:srgbClr val="202020"/>
                </a:solidFill>
                <a:latin typeface="Consolas"/>
              </a:rPr>
              <a:t>/ready</a:t>
            </a:r>
            <a:r>
              <a:rPr sz="1400" b="0" i="0">
                <a:solidFill>
                  <a:srgbClr val="202020"/>
                </a:solidFill>
                <a:latin typeface="Calibri"/>
              </a:rPr>
              <a:t> — that is the connector correctly waiting out an outage. Alert on it, don't fight it.</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528</a:t>
            </a:r>
          </a:p>
        </p:txBody>
      </p:sp>
    </p:spTree>
  </p:cSld>
  <p:clrMapOvr>
    <a:masterClrMapping/>
  </p:clrMapOvr>
</p:sld>
</file>

<file path=ppt/slides/slide5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Key metrics</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Metric</a:t>
                      </a:r>
                    </a:p>
                  </a:txBody>
                  <a:tcPr marT="25400" marB="25400">
                    <a:solidFill>
                      <a:srgbClr val="2E5496"/>
                    </a:solidFill>
                  </a:tcPr>
                </a:tc>
                <a:tc>
                  <a:txBody>
                    <a:bodyPr wrap="square"/>
                    <a:lstStyle/>
                    <a:p>
                      <a:r>
                        <a:rPr sz="1050" b="1" i="0">
                          <a:solidFill>
                            <a:srgbClr val="FFFFFF"/>
                          </a:solidFill>
                          <a:latin typeface="Calibri"/>
                        </a:rPr>
                        <a:t>Type</a:t>
                      </a:r>
                    </a:p>
                  </a:txBody>
                  <a:tcPr marT="25400" marB="25400">
                    <a:solidFill>
                      <a:srgbClr val="2E5496"/>
                    </a:solidFill>
                  </a:tcPr>
                </a:tc>
                <a:tc>
                  <a:txBody>
                    <a:bodyPr wrap="square"/>
                    <a:lstStyle/>
                    <a:p>
                      <a:r>
                        <a:rPr sz="1050" b="1" i="0">
                          <a:solidFill>
                            <a:srgbClr val="FFFFFF"/>
                          </a:solidFill>
                          <a:latin typeface="Calibri"/>
                        </a:rPr>
                        <a:t>What it tells you</a:t>
                      </a:r>
                    </a:p>
                  </a:txBody>
                  <a:tcPr marT="25400" marB="25400">
                    <a:solidFill>
                      <a:srgbClr val="2E5496"/>
                    </a:solidFill>
                  </a:tcPr>
                </a:tc>
              </a:tr>
              <a:tr h="384048">
                <a:tc>
                  <a:txBody>
                    <a:bodyPr wrap="square"/>
                    <a:lstStyle/>
                    <a:p>
                      <a:r>
                        <a:rPr sz="950" b="0" i="0">
                          <a:solidFill>
                            <a:srgbClr val="202020"/>
                          </a:solidFill>
                          <a:latin typeface="Calibri"/>
                        </a:rPr>
                        <a:t>items_ingested_total</a:t>
                      </a:r>
                    </a:p>
                  </a:txBody>
                  <a:tcPr marT="12700" marB="12700">
                    <a:solidFill>
                      <a:srgbClr val="FFFFFF"/>
                    </a:solidFill>
                  </a:tcPr>
                </a:tc>
                <a:tc>
                  <a:txBody>
                    <a:bodyPr wrap="square"/>
                    <a:lstStyle/>
                    <a:p>
                      <a:r>
                        <a:rPr sz="950" b="0" i="0">
                          <a:solidFill>
                            <a:srgbClr val="202020"/>
                          </a:solidFill>
                          <a:latin typeface="Calibri"/>
                        </a:rPr>
                        <a:t>counter</a:t>
                      </a:r>
                    </a:p>
                  </a:txBody>
                  <a:tcPr marT="12700" marB="12700">
                    <a:solidFill>
                      <a:srgbClr val="FFFFFF"/>
                    </a:solidFill>
                  </a:tcPr>
                </a:tc>
                <a:tc>
                  <a:txBody>
                    <a:bodyPr wrap="square"/>
                    <a:lstStyle/>
                    <a:p>
                      <a:r>
                        <a:rPr sz="950" b="0" i="0">
                          <a:solidFill>
                            <a:srgbClr val="202020"/>
                          </a:solidFill>
                          <a:latin typeface="Calibri"/>
                        </a:rPr>
                        <a:t>External items successfully sent</a:t>
                      </a:r>
                    </a:p>
                  </a:txBody>
                  <a:tcPr marT="12700" marB="12700">
                    <a:solidFill>
                      <a:srgbClr val="FFFFFF"/>
                    </a:solidFill>
                  </a:tcPr>
                </a:tc>
              </a:tr>
              <a:tr h="384048">
                <a:tc>
                  <a:txBody>
                    <a:bodyPr wrap="square"/>
                    <a:lstStyle/>
                    <a:p>
                      <a:r>
                        <a:rPr sz="950" b="0" i="0">
                          <a:solidFill>
                            <a:srgbClr val="202020"/>
                          </a:solidFill>
                          <a:latin typeface="Calibri"/>
                        </a:rPr>
                        <a:t>items_deleted_total</a:t>
                      </a:r>
                    </a:p>
                  </a:txBody>
                  <a:tcPr marT="12700" marB="12700">
                    <a:solidFill>
                      <a:srgbClr val="F7F9FC"/>
                    </a:solidFill>
                  </a:tcPr>
                </a:tc>
                <a:tc>
                  <a:txBody>
                    <a:bodyPr wrap="square"/>
                    <a:lstStyle/>
                    <a:p>
                      <a:r>
                        <a:rPr sz="950" b="0" i="0">
                          <a:solidFill>
                            <a:srgbClr val="202020"/>
                          </a:solidFill>
                          <a:latin typeface="Calibri"/>
                        </a:rPr>
                        <a:t>counter</a:t>
                      </a:r>
                    </a:p>
                  </a:txBody>
                  <a:tcPr marT="12700" marB="12700">
                    <a:solidFill>
                      <a:srgbClr val="F7F9FC"/>
                    </a:solidFill>
                  </a:tcPr>
                </a:tc>
                <a:tc>
                  <a:txBody>
                    <a:bodyPr wrap="square"/>
                    <a:lstStyle/>
                    <a:p>
                      <a:r>
                        <a:rPr sz="950" b="0" i="0">
                          <a:solidFill>
                            <a:srgbClr val="202020"/>
                          </a:solidFill>
                          <a:latin typeface="Calibri"/>
                        </a:rPr>
                        <a:t>Withdrawals (No-MNE, expiry, unpublish, not-in-source)</a:t>
                      </a:r>
                    </a:p>
                  </a:txBody>
                  <a:tcPr marT="12700" marB="12700">
                    <a:solidFill>
                      <a:srgbClr val="F7F9FC"/>
                    </a:solidFill>
                  </a:tcPr>
                </a:tc>
              </a:tr>
              <a:tr h="384048">
                <a:tc>
                  <a:txBody>
                    <a:bodyPr wrap="square"/>
                    <a:lstStyle/>
                    <a:p>
                      <a:r>
                        <a:rPr sz="950" b="0" i="0">
                          <a:solidFill>
                            <a:srgbClr val="202020"/>
                          </a:solidFill>
                          <a:latin typeface="Calibri"/>
                        </a:rPr>
                        <a:t>items_failed_total</a:t>
                      </a:r>
                    </a:p>
                  </a:txBody>
                  <a:tcPr marT="12700" marB="12700">
                    <a:solidFill>
                      <a:srgbClr val="FFFFFF"/>
                    </a:solidFill>
                  </a:tcPr>
                </a:tc>
                <a:tc>
                  <a:txBody>
                    <a:bodyPr wrap="square"/>
                    <a:lstStyle/>
                    <a:p>
                      <a:r>
                        <a:rPr sz="950" b="0" i="0">
                          <a:solidFill>
                            <a:srgbClr val="202020"/>
                          </a:solidFill>
                          <a:latin typeface="Calibri"/>
                        </a:rPr>
                        <a:t>counter</a:t>
                      </a:r>
                    </a:p>
                  </a:txBody>
                  <a:tcPr marT="12700" marB="12700">
                    <a:solidFill>
                      <a:srgbClr val="FFFFFF"/>
                    </a:solidFill>
                  </a:tcPr>
                </a:tc>
                <a:tc>
                  <a:txBody>
                    <a:bodyPr wrap="square"/>
                    <a:lstStyle/>
                    <a:p>
                      <a:r>
                        <a:rPr sz="950" b="0" i="0">
                          <a:solidFill>
                            <a:srgbClr val="202020"/>
                          </a:solidFill>
                          <a:latin typeface="Calibri"/>
                        </a:rPr>
                        <a:t>Items that failed after retries (dead-lettered)</a:t>
                      </a:r>
                    </a:p>
                  </a:txBody>
                  <a:tcPr marT="12700" marB="12700">
                    <a:solidFill>
                      <a:srgbClr val="FFFFFF"/>
                    </a:solidFill>
                  </a:tcPr>
                </a:tc>
              </a:tr>
              <a:tr h="384048">
                <a:tc>
                  <a:txBody>
                    <a:bodyPr wrap="square"/>
                    <a:lstStyle/>
                    <a:p>
                      <a:r>
                        <a:rPr sz="950" b="0" i="0">
                          <a:solidFill>
                            <a:srgbClr val="202020"/>
                          </a:solidFill>
                          <a:latin typeface="Calibri"/>
                        </a:rPr>
                        <a:t>items_skipped_total</a:t>
                      </a:r>
                    </a:p>
                  </a:txBody>
                  <a:tcPr marT="12700" marB="12700">
                    <a:solidFill>
                      <a:srgbClr val="F7F9FC"/>
                    </a:solidFill>
                  </a:tcPr>
                </a:tc>
                <a:tc>
                  <a:txBody>
                    <a:bodyPr wrap="square"/>
                    <a:lstStyle/>
                    <a:p>
                      <a:r>
                        <a:rPr sz="950" b="0" i="0">
                          <a:solidFill>
                            <a:srgbClr val="202020"/>
                          </a:solidFill>
                          <a:latin typeface="Calibri"/>
                        </a:rPr>
                        <a:t>counter</a:t>
                      </a:r>
                    </a:p>
                  </a:txBody>
                  <a:tcPr marT="12700" marB="12700">
                    <a:solidFill>
                      <a:srgbClr val="F7F9FC"/>
                    </a:solidFill>
                  </a:tcPr>
                </a:tc>
                <a:tc>
                  <a:txBody>
                    <a:bodyPr wrap="square"/>
                    <a:lstStyle/>
                    <a:p>
                      <a:r>
                        <a:rPr sz="950" b="0" i="0">
                          <a:solidFill>
                            <a:srgbClr val="202020"/>
                          </a:solidFill>
                          <a:latin typeface="Calibri"/>
                        </a:rPr>
                        <a:t>Unchanged versions / already-checkpointed chunks</a:t>
                      </a:r>
                    </a:p>
                  </a:txBody>
                  <a:tcPr marT="12700" marB="12700">
                    <a:solidFill>
                      <a:srgbClr val="F7F9FC"/>
                    </a:solidFill>
                  </a:tcPr>
                </a:tc>
              </a:tr>
              <a:tr h="384048">
                <a:tc>
                  <a:txBody>
                    <a:bodyPr wrap="square"/>
                    <a:lstStyle/>
                    <a:p>
                      <a:r>
                        <a:rPr sz="950" b="0" i="0">
                          <a:solidFill>
                            <a:srgbClr val="202020"/>
                          </a:solidFill>
                          <a:latin typeface="Calibri"/>
                        </a:rPr>
                        <a:t>items_reacled_total</a:t>
                      </a:r>
                    </a:p>
                  </a:txBody>
                  <a:tcPr marT="12700" marB="12700">
                    <a:solidFill>
                      <a:srgbClr val="FFFFFF"/>
                    </a:solidFill>
                  </a:tcPr>
                </a:tc>
                <a:tc>
                  <a:txBody>
                    <a:bodyPr wrap="square"/>
                    <a:lstStyle/>
                    <a:p>
                      <a:r>
                        <a:rPr sz="950" b="0" i="0">
                          <a:solidFill>
                            <a:srgbClr val="202020"/>
                          </a:solidFill>
                          <a:latin typeface="Calibri"/>
                        </a:rPr>
                        <a:t>counter</a:t>
                      </a:r>
                    </a:p>
                  </a:txBody>
                  <a:tcPr marT="12700" marB="12700">
                    <a:solidFill>
                      <a:srgbClr val="FFFFFF"/>
                    </a:solidFill>
                  </a:tcPr>
                </a:tc>
                <a:tc>
                  <a:txBody>
                    <a:bodyPr wrap="square"/>
                    <a:lstStyle/>
                    <a:p>
                      <a:r>
                        <a:rPr sz="950" b="0" i="0">
                          <a:solidFill>
                            <a:srgbClr val="202020"/>
                          </a:solidFill>
                          <a:latin typeface="Calibri"/>
                        </a:rPr>
                        <a:t>Items whose ACL was refreshed after a permission change</a:t>
                      </a:r>
                    </a:p>
                  </a:txBody>
                  <a:tcPr marT="12700" marB="12700">
                    <a:solidFill>
                      <a:srgbClr val="FFFFFF"/>
                    </a:solidFill>
                  </a:tcPr>
                </a:tc>
              </a:tr>
              <a:tr h="384048">
                <a:tc>
                  <a:txBody>
                    <a:bodyPr wrap="square"/>
                    <a:lstStyle/>
                    <a:p>
                      <a:r>
                        <a:rPr sz="950" b="0" i="0">
                          <a:solidFill>
                            <a:srgbClr val="202020"/>
                          </a:solidFill>
                          <a:latin typeface="Calibri"/>
                        </a:rPr>
                        <a:t>acl_drift_detected_total</a:t>
                      </a:r>
                    </a:p>
                  </a:txBody>
                  <a:tcPr marT="12700" marB="12700">
                    <a:solidFill>
                      <a:srgbClr val="F7F9FC"/>
                    </a:solidFill>
                  </a:tcPr>
                </a:tc>
                <a:tc>
                  <a:txBody>
                    <a:bodyPr wrap="square"/>
                    <a:lstStyle/>
                    <a:p>
                      <a:r>
                        <a:rPr sz="950" b="0" i="0">
                          <a:solidFill>
                            <a:srgbClr val="202020"/>
                          </a:solidFill>
                          <a:latin typeface="Calibri"/>
                        </a:rPr>
                        <a:t>counter</a:t>
                      </a:r>
                    </a:p>
                  </a:txBody>
                  <a:tcPr marT="12700" marB="12700">
                    <a:solidFill>
                      <a:srgbClr val="F7F9FC"/>
                    </a:solidFill>
                  </a:tcPr>
                </a:tc>
                <a:tc>
                  <a:txBody>
                    <a:bodyPr wrap="square"/>
                    <a:lstStyle/>
                    <a:p>
                      <a:r>
                        <a:rPr sz="950" b="0" i="0">
                          <a:solidFill>
                            <a:srgbClr val="202020"/>
                          </a:solidFill>
                          <a:latin typeface="Calibri"/>
                        </a:rPr>
                        <a:t>Items whose resolved ACL drifted from the indexed one</a:t>
                      </a:r>
                    </a:p>
                  </a:txBody>
                  <a:tcPr marT="12700" marB="12700">
                    <a:solidFill>
                      <a:srgbClr val="F7F9FC"/>
                    </a:solidFill>
                  </a:tcPr>
                </a:tc>
              </a:tr>
              <a:tr h="384048">
                <a:tc>
                  <a:txBody>
                    <a:bodyPr wrap="square"/>
                    <a:lstStyle/>
                    <a:p>
                      <a:r>
                        <a:rPr sz="950" b="0" i="0">
                          <a:solidFill>
                            <a:srgbClr val="202020"/>
                          </a:solidFill>
                          <a:latin typeface="Calibri"/>
                        </a:rPr>
                        <a:t>webhook_accepted_total</a:t>
                      </a:r>
                    </a:p>
                  </a:txBody>
                  <a:tcPr marT="12700" marB="12700">
                    <a:solidFill>
                      <a:srgbClr val="FFFFFF"/>
                    </a:solidFill>
                  </a:tcPr>
                </a:tc>
                <a:tc>
                  <a:txBody>
                    <a:bodyPr wrap="square"/>
                    <a:lstStyle/>
                    <a:p>
                      <a:r>
                        <a:rPr sz="950" b="0" i="0">
                          <a:solidFill>
                            <a:srgbClr val="202020"/>
                          </a:solidFill>
                          <a:latin typeface="Calibri"/>
                        </a:rPr>
                        <a:t>counter</a:t>
                      </a:r>
                    </a:p>
                  </a:txBody>
                  <a:tcPr marT="12700" marB="12700">
                    <a:solidFill>
                      <a:srgbClr val="FFFFFF"/>
                    </a:solidFill>
                  </a:tcPr>
                </a:tc>
                <a:tc>
                  <a:txBody>
                    <a:bodyPr wrap="square"/>
                    <a:lstStyle/>
                    <a:p>
                      <a:r>
                        <a:rPr sz="950" b="0" i="0">
                          <a:solidFill>
                            <a:srgbClr val="202020"/>
                          </a:solidFill>
                          <a:latin typeface="Calibri"/>
                        </a:rPr>
                        <a:t>Webhooks accepted with a valid HMAC signature (202)</a:t>
                      </a:r>
                    </a:p>
                  </a:txBody>
                  <a:tcPr marT="12700" marB="12700">
                    <a:solidFill>
                      <a:srgbClr val="FFFFFF"/>
                    </a:solidFill>
                  </a:tcPr>
                </a:tc>
              </a:tr>
              <a:tr h="384048">
                <a:tc>
                  <a:txBody>
                    <a:bodyPr wrap="square"/>
                    <a:lstStyle/>
                    <a:p>
                      <a:r>
                        <a:rPr sz="950" b="0" i="0">
                          <a:solidFill>
                            <a:srgbClr val="202020"/>
                          </a:solidFill>
                          <a:latin typeface="Calibri"/>
                        </a:rPr>
                        <a:t>webhook_rejected_total</a:t>
                      </a:r>
                    </a:p>
                  </a:txBody>
                  <a:tcPr marT="12700" marB="12700">
                    <a:solidFill>
                      <a:srgbClr val="F7F9FC"/>
                    </a:solidFill>
                  </a:tcPr>
                </a:tc>
                <a:tc>
                  <a:txBody>
                    <a:bodyPr wrap="square"/>
                    <a:lstStyle/>
                    <a:p>
                      <a:r>
                        <a:rPr sz="950" b="0" i="0">
                          <a:solidFill>
                            <a:srgbClr val="202020"/>
                          </a:solidFill>
                          <a:latin typeface="Calibri"/>
                        </a:rPr>
                        <a:t>counter</a:t>
                      </a:r>
                    </a:p>
                  </a:txBody>
                  <a:tcPr marT="12700" marB="12700">
                    <a:solidFill>
                      <a:srgbClr val="F7F9FC"/>
                    </a:solidFill>
                  </a:tcPr>
                </a:tc>
                <a:tc>
                  <a:txBody>
                    <a:bodyPr wrap="square"/>
                    <a:lstStyle/>
                    <a:p>
                      <a:r>
                        <a:rPr sz="950" b="0" i="0">
                          <a:solidFill>
                            <a:srgbClr val="202020"/>
                          </a:solidFill>
                          <a:latin typeface="Calibri"/>
                        </a:rPr>
                        <a:t>Webhooks rejected before parse (401/409): bad/missing signature, or stale/future/replayed/missing timestamp</a:t>
                      </a:r>
                    </a:p>
                  </a:txBody>
                  <a:tcPr marT="12700" marB="12700">
                    <a:solidFill>
                      <a:srgbClr val="F7F9FC"/>
                    </a:solidFill>
                  </a:tcPr>
                </a:tc>
              </a:tr>
              <a:tr h="384048">
                <a:tc>
                  <a:txBody>
                    <a:bodyPr wrap="square"/>
                    <a:lstStyle/>
                    <a:p>
                      <a:r>
                        <a:rPr sz="950" b="0" i="0">
                          <a:solidFill>
                            <a:srgbClr val="202020"/>
                          </a:solidFill>
                          <a:latin typeface="Calibri"/>
                        </a:rPr>
                        <a:t>webhook_dropped_total</a:t>
                      </a:r>
                    </a:p>
                  </a:txBody>
                  <a:tcPr marT="12700" marB="12700">
                    <a:solidFill>
                      <a:srgbClr val="FFFFFF"/>
                    </a:solidFill>
                  </a:tcPr>
                </a:tc>
                <a:tc>
                  <a:txBody>
                    <a:bodyPr wrap="square"/>
                    <a:lstStyle/>
                    <a:p>
                      <a:r>
                        <a:rPr sz="950" b="0" i="0">
                          <a:solidFill>
                            <a:srgbClr val="202020"/>
                          </a:solidFill>
                          <a:latin typeface="Calibri"/>
                        </a:rPr>
                        <a:t>counter</a:t>
                      </a:r>
                    </a:p>
                  </a:txBody>
                  <a:tcPr marT="12700" marB="12700">
                    <a:solidFill>
                      <a:srgbClr val="FFFFFF"/>
                    </a:solidFill>
                  </a:tcPr>
                </a:tc>
                <a:tc>
                  <a:txBody>
                    <a:bodyPr wrap="square"/>
                    <a:lstStyle/>
                    <a:p>
                      <a:r>
                        <a:rPr sz="950" b="0" i="0">
                          <a:solidFill>
                            <a:srgbClr val="202020"/>
                          </a:solidFill>
                          <a:latin typeface="Calibri"/>
                        </a:rPr>
                        <a:t>Events shed by the drop-oldest queue cap</a:t>
                      </a:r>
                    </a:p>
                  </a:txBody>
                  <a:tcPr marT="12700" marB="12700">
                    <a:solidFill>
                      <a:srgbClr val="FFFFFF"/>
                    </a:solidFill>
                  </a:tcPr>
                </a:tc>
              </a:tr>
              <a:tr h="384048">
                <a:tc>
                  <a:txBody>
                    <a:bodyPr wrap="square"/>
                    <a:lstStyle/>
                    <a:p>
                      <a:r>
                        <a:rPr sz="950" b="0" i="0">
                          <a:solidFill>
                            <a:srgbClr val="202020"/>
                          </a:solidFill>
                          <a:latin typeface="Calibri"/>
                        </a:rPr>
                        <a:t>webhook_queue_depth</a:t>
                      </a:r>
                    </a:p>
                  </a:txBody>
                  <a:tcPr marT="12700" marB="12700">
                    <a:solidFill>
                      <a:srgbClr val="F7F9FC"/>
                    </a:solidFill>
                  </a:tcPr>
                </a:tc>
                <a:tc>
                  <a:txBody>
                    <a:bodyPr wrap="square"/>
                    <a:lstStyle/>
                    <a:p>
                      <a:r>
                        <a:rPr sz="950" b="0" i="0">
                          <a:solidFill>
                            <a:srgbClr val="202020"/>
                          </a:solidFill>
                          <a:latin typeface="Calibri"/>
                        </a:rPr>
                        <a:t>gauge</a:t>
                      </a:r>
                    </a:p>
                  </a:txBody>
                  <a:tcPr marT="12700" marB="12700">
                    <a:solidFill>
                      <a:srgbClr val="F7F9FC"/>
                    </a:solidFill>
                  </a:tcPr>
                </a:tc>
                <a:tc>
                  <a:txBody>
                    <a:bodyPr wrap="square"/>
                    <a:lstStyle/>
                    <a:p>
                      <a:r>
                        <a:rPr sz="950" b="0" i="0">
                          <a:solidFill>
                            <a:srgbClr val="202020"/>
                          </a:solidFill>
                          <a:latin typeface="Calibri"/>
                        </a:rPr>
                        <a:t>Undrained webhook events (cap 10,000)</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529</a:t>
            </a:r>
          </a:p>
        </p:txBody>
      </p:sp>
    </p:spTree>
  </p:cSld>
  <p:clrMapOvr>
    <a:masterClrMapping/>
  </p:clrMapOvr>
</p:sld>
</file>

<file path=ppt/slides/slide5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Key metrics (cont.)</a:t>
            </a:r>
          </a:p>
        </p:txBody>
      </p:sp>
      <p:graphicFrame>
        <p:nvGraphicFramePr>
          <p:cNvPr id="5" name="Table 4"/>
          <p:cNvGraphicFramePr>
            <a:graphicFrameLocks noGrp="1"/>
          </p:cNvGraphicFramePr>
          <p:nvPr/>
        </p:nvGraphicFramePr>
        <p:xfrm>
          <a:off x="502920" y="1188720"/>
          <a:ext cx="11185855" cy="3072384"/>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Metric</a:t>
                      </a:r>
                    </a:p>
                  </a:txBody>
                  <a:tcPr marT="25400" marB="25400">
                    <a:solidFill>
                      <a:srgbClr val="2E5496"/>
                    </a:solidFill>
                  </a:tcPr>
                </a:tc>
                <a:tc>
                  <a:txBody>
                    <a:bodyPr wrap="square"/>
                    <a:lstStyle/>
                    <a:p>
                      <a:r>
                        <a:rPr sz="1050" b="1" i="0">
                          <a:solidFill>
                            <a:srgbClr val="FFFFFF"/>
                          </a:solidFill>
                          <a:latin typeface="Calibri"/>
                        </a:rPr>
                        <a:t>Type</a:t>
                      </a:r>
                    </a:p>
                  </a:txBody>
                  <a:tcPr marT="25400" marB="25400">
                    <a:solidFill>
                      <a:srgbClr val="2E5496"/>
                    </a:solidFill>
                  </a:tcPr>
                </a:tc>
                <a:tc>
                  <a:txBody>
                    <a:bodyPr wrap="square"/>
                    <a:lstStyle/>
                    <a:p>
                      <a:r>
                        <a:rPr sz="1050" b="1" i="0">
                          <a:solidFill>
                            <a:srgbClr val="FFFFFF"/>
                          </a:solidFill>
                          <a:latin typeface="Calibri"/>
                        </a:rPr>
                        <a:t>What it tells you</a:t>
                      </a:r>
                    </a:p>
                  </a:txBody>
                  <a:tcPr marT="25400" marB="25400">
                    <a:solidFill>
                      <a:srgbClr val="2E5496"/>
                    </a:solidFill>
                  </a:tcPr>
                </a:tc>
              </a:tr>
              <a:tr h="384048">
                <a:tc>
                  <a:txBody>
                    <a:bodyPr wrap="square"/>
                    <a:lstStyle/>
                    <a:p>
                      <a:r>
                        <a:rPr sz="950" b="0" i="0">
                          <a:solidFill>
                            <a:srgbClr val="202020"/>
                          </a:solidFill>
                          <a:latin typeface="Calibri"/>
                        </a:rPr>
                        <a:t>throttled_429_total</a:t>
                      </a:r>
                    </a:p>
                  </a:txBody>
                  <a:tcPr marT="12700" marB="12700">
                    <a:solidFill>
                      <a:srgbClr val="FFFFFF"/>
                    </a:solidFill>
                  </a:tcPr>
                </a:tc>
                <a:tc>
                  <a:txBody>
                    <a:bodyPr wrap="square"/>
                    <a:lstStyle/>
                    <a:p>
                      <a:r>
                        <a:rPr sz="950" b="0" i="0">
                          <a:solidFill>
                            <a:srgbClr val="202020"/>
                          </a:solidFill>
                          <a:latin typeface="Calibri"/>
                        </a:rPr>
                        <a:t>counter</a:t>
                      </a:r>
                    </a:p>
                  </a:txBody>
                  <a:tcPr marT="12700" marB="12700">
                    <a:solidFill>
                      <a:srgbClr val="FFFFFF"/>
                    </a:solidFill>
                  </a:tcPr>
                </a:tc>
                <a:tc>
                  <a:txBody>
                    <a:bodyPr wrap="square"/>
                    <a:lstStyle/>
                    <a:p>
                      <a:r>
                        <a:rPr sz="950" b="0" i="0">
                          <a:solidFill>
                            <a:srgbClr val="202020"/>
                          </a:solidFill>
                          <a:latin typeface="Calibri"/>
                        </a:rPr>
                        <a:t>Graph 429 (throttling) responses observed</a:t>
                      </a:r>
                    </a:p>
                  </a:txBody>
                  <a:tcPr marT="12700" marB="12700">
                    <a:solidFill>
                      <a:srgbClr val="FFFFFF"/>
                    </a:solidFill>
                  </a:tcPr>
                </a:tc>
              </a:tr>
              <a:tr h="384048">
                <a:tc>
                  <a:txBody>
                    <a:bodyPr wrap="square"/>
                    <a:lstStyle/>
                    <a:p>
                      <a:r>
                        <a:rPr sz="950" b="0" i="0">
                          <a:solidFill>
                            <a:srgbClr val="202020"/>
                          </a:solidFill>
                          <a:latin typeface="Calibri"/>
                        </a:rPr>
                        <a:t>circuit_breaker_state{dependency}</a:t>
                      </a:r>
                    </a:p>
                  </a:txBody>
                  <a:tcPr marT="12700" marB="12700">
                    <a:solidFill>
                      <a:srgbClr val="F7F9FC"/>
                    </a:solidFill>
                  </a:tcPr>
                </a:tc>
                <a:tc>
                  <a:txBody>
                    <a:bodyPr wrap="square"/>
                    <a:lstStyle/>
                    <a:p>
                      <a:r>
                        <a:rPr sz="950" b="0" i="0">
                          <a:solidFill>
                            <a:srgbClr val="202020"/>
                          </a:solidFill>
                          <a:latin typeface="Calibri"/>
                        </a:rPr>
                        <a:t>gauge</a:t>
                      </a:r>
                    </a:p>
                  </a:txBody>
                  <a:tcPr marT="12700" marB="12700">
                    <a:solidFill>
                      <a:srgbClr val="F7F9FC"/>
                    </a:solidFill>
                  </a:tcPr>
                </a:tc>
                <a:tc>
                  <a:txBody>
                    <a:bodyPr wrap="square"/>
                    <a:lstStyle/>
                    <a:p>
                      <a:r>
                        <a:rPr sz="950" b="0" i="0">
                          <a:solidFill>
                            <a:srgbClr val="202020"/>
                          </a:solidFill>
                          <a:latin typeface="Calibri"/>
                        </a:rPr>
                        <a:t>Per-dependency: 0 closed, 1 open, 2 half-open (seismic, graph)</a:t>
                      </a:r>
                    </a:p>
                  </a:txBody>
                  <a:tcPr marT="12700" marB="12700">
                    <a:solidFill>
                      <a:srgbClr val="F7F9FC"/>
                    </a:solidFill>
                  </a:tcPr>
                </a:tc>
              </a:tr>
              <a:tr h="384048">
                <a:tc>
                  <a:txBody>
                    <a:bodyPr wrap="square"/>
                    <a:lstStyle/>
                    <a:p>
                      <a:r>
                        <a:rPr sz="950" b="0" i="0">
                          <a:solidFill>
                            <a:srgbClr val="202020"/>
                          </a:solidFill>
                          <a:latin typeface="Calibri"/>
                        </a:rPr>
                        <a:t>degraded_pauses_total</a:t>
                      </a:r>
                    </a:p>
                  </a:txBody>
                  <a:tcPr marT="12700" marB="12700">
                    <a:solidFill>
                      <a:srgbClr val="FFFFFF"/>
                    </a:solidFill>
                  </a:tcPr>
                </a:tc>
                <a:tc>
                  <a:txBody>
                    <a:bodyPr wrap="square"/>
                    <a:lstStyle/>
                    <a:p>
                      <a:r>
                        <a:rPr sz="950" b="0" i="0">
                          <a:solidFill>
                            <a:srgbClr val="202020"/>
                          </a:solidFill>
                          <a:latin typeface="Calibri"/>
                        </a:rPr>
                        <a:t>counter</a:t>
                      </a:r>
                    </a:p>
                  </a:txBody>
                  <a:tcPr marT="12700" marB="12700">
                    <a:solidFill>
                      <a:srgbClr val="FFFFFF"/>
                    </a:solidFill>
                  </a:tcPr>
                </a:tc>
                <a:tc>
                  <a:txBody>
                    <a:bodyPr wrap="square"/>
                    <a:lstStyle/>
                    <a:p>
                      <a:r>
                        <a:rPr sz="950" b="0" i="0">
                          <a:solidFill>
                            <a:srgbClr val="202020"/>
                          </a:solidFill>
                          <a:latin typeface="Calibri"/>
                        </a:rPr>
                        <a:t>Crawls that paused into degraded mode</a:t>
                      </a:r>
                    </a:p>
                  </a:txBody>
                  <a:tcPr marT="12700" marB="12700">
                    <a:solidFill>
                      <a:srgbClr val="FFFFFF"/>
                    </a:solidFill>
                  </a:tcPr>
                </a:tc>
              </a:tr>
              <a:tr h="384048">
                <a:tc>
                  <a:txBody>
                    <a:bodyPr wrap="square"/>
                    <a:lstStyle/>
                    <a:p>
                      <a:r>
                        <a:rPr sz="950" b="0" i="0">
                          <a:solidFill>
                            <a:srgbClr val="202020"/>
                          </a:solidFill>
                          <a:latin typeface="Calibri"/>
                        </a:rPr>
                        <a:t>dead_letter_depth</a:t>
                      </a:r>
                    </a:p>
                  </a:txBody>
                  <a:tcPr marT="12700" marB="12700">
                    <a:solidFill>
                      <a:srgbClr val="F7F9FC"/>
                    </a:solidFill>
                  </a:tcPr>
                </a:tc>
                <a:tc>
                  <a:txBody>
                    <a:bodyPr wrap="square"/>
                    <a:lstStyle/>
                    <a:p>
                      <a:r>
                        <a:rPr sz="950" b="0" i="0">
                          <a:solidFill>
                            <a:srgbClr val="202020"/>
                          </a:solidFill>
                          <a:latin typeface="Calibri"/>
                        </a:rPr>
                        <a:t>gauge</a:t>
                      </a:r>
                    </a:p>
                  </a:txBody>
                  <a:tcPr marT="12700" marB="12700">
                    <a:solidFill>
                      <a:srgbClr val="F7F9FC"/>
                    </a:solidFill>
                  </a:tcPr>
                </a:tc>
                <a:tc>
                  <a:txBody>
                    <a:bodyPr wrap="square"/>
                    <a:lstStyle/>
                    <a:p>
                      <a:r>
                        <a:rPr sz="950" b="0" i="0">
                          <a:solidFill>
                            <a:srgbClr val="202020"/>
                          </a:solidFill>
                          <a:latin typeface="Calibri"/>
                        </a:rPr>
                        <a:t>Current dead-letter queue depth</a:t>
                      </a:r>
                    </a:p>
                  </a:txBody>
                  <a:tcPr marT="12700" marB="12700">
                    <a:solidFill>
                      <a:srgbClr val="F7F9FC"/>
                    </a:solidFill>
                  </a:tcPr>
                </a:tc>
              </a:tr>
              <a:tr h="384048">
                <a:tc>
                  <a:txBody>
                    <a:bodyPr wrap="square"/>
                    <a:lstStyle/>
                    <a:p>
                      <a:r>
                        <a:rPr sz="950" b="0" i="0">
                          <a:solidFill>
                            <a:srgbClr val="202020"/>
                          </a:solidFill>
                          <a:latin typeface="Calibri"/>
                        </a:rPr>
                        <a:t>last_crawl_completed_timestamp_seconds</a:t>
                      </a:r>
                    </a:p>
                  </a:txBody>
                  <a:tcPr marT="12700" marB="12700">
                    <a:solidFill>
                      <a:srgbClr val="FFFFFF"/>
                    </a:solidFill>
                  </a:tcPr>
                </a:tc>
                <a:tc>
                  <a:txBody>
                    <a:bodyPr wrap="square"/>
                    <a:lstStyle/>
                    <a:p>
                      <a:r>
                        <a:rPr sz="950" b="0" i="0">
                          <a:solidFill>
                            <a:srgbClr val="202020"/>
                          </a:solidFill>
                          <a:latin typeface="Calibri"/>
                        </a:rPr>
                        <a:t>gauge</a:t>
                      </a:r>
                    </a:p>
                  </a:txBody>
                  <a:tcPr marT="12700" marB="12700">
                    <a:solidFill>
                      <a:srgbClr val="FFFFFF"/>
                    </a:solidFill>
                  </a:tcPr>
                </a:tc>
                <a:tc>
                  <a:txBody>
                    <a:bodyPr wrap="square"/>
                    <a:lstStyle/>
                    <a:p>
                      <a:r>
                        <a:rPr sz="950" b="0" i="0">
                          <a:solidFill>
                            <a:srgbClr val="202020"/>
                          </a:solidFill>
                          <a:latin typeface="Calibri"/>
                        </a:rPr>
                        <a:t>Unix time of the last completed crawl</a:t>
                      </a:r>
                    </a:p>
                  </a:txBody>
                  <a:tcPr marT="12700" marB="12700">
                    <a:solidFill>
                      <a:srgbClr val="FFFFFF"/>
                    </a:solidFill>
                  </a:tcPr>
                </a:tc>
              </a:tr>
              <a:tr h="384048">
                <a:tc>
                  <a:txBody>
                    <a:bodyPr wrap="square"/>
                    <a:lstStyle/>
                    <a:p>
                      <a:r>
                        <a:rPr sz="950" b="0" i="0">
                          <a:solidFill>
                            <a:srgbClr val="202020"/>
                          </a:solidFill>
                          <a:latin typeface="Calibri"/>
                        </a:rPr>
                        <a:t>last_drift_findings</a:t>
                      </a:r>
                    </a:p>
                  </a:txBody>
                  <a:tcPr marT="12700" marB="12700">
                    <a:solidFill>
                      <a:srgbClr val="F7F9FC"/>
                    </a:solidFill>
                  </a:tcPr>
                </a:tc>
                <a:tc>
                  <a:txBody>
                    <a:bodyPr wrap="square"/>
                    <a:lstStyle/>
                    <a:p>
                      <a:r>
                        <a:rPr sz="950" b="0" i="0">
                          <a:solidFill>
                            <a:srgbClr val="202020"/>
                          </a:solidFill>
                          <a:latin typeface="Calibri"/>
                        </a:rPr>
                        <a:t>gauge</a:t>
                      </a:r>
                    </a:p>
                  </a:txBody>
                  <a:tcPr marT="12700" marB="12700">
                    <a:solidFill>
                      <a:srgbClr val="F7F9FC"/>
                    </a:solidFill>
                  </a:tcPr>
                </a:tc>
                <a:tc>
                  <a:txBody>
                    <a:bodyPr wrap="square"/>
                    <a:lstStyle/>
                    <a:p>
                      <a:r>
                        <a:rPr sz="950" b="0" i="0">
                          <a:solidFill>
                            <a:srgbClr val="202020"/>
                          </a:solidFill>
                          <a:latin typeface="Calibri"/>
                        </a:rPr>
                        <a:t>Findings from the last reconcile sweep (0 = in sync)</a:t>
                      </a:r>
                    </a:p>
                  </a:txBody>
                  <a:tcPr marT="12700" marB="12700">
                    <a:solidFill>
                      <a:srgbClr val="F7F9FC"/>
                    </a:solidFill>
                  </a:tcPr>
                </a:tc>
              </a:tr>
              <a:tr h="384048">
                <a:tc>
                  <a:txBody>
                    <a:bodyPr wrap="square"/>
                    <a:lstStyle/>
                    <a:p>
                      <a:r>
                        <a:rPr sz="950" b="0" i="0">
                          <a:solidFill>
                            <a:srgbClr val="202020"/>
                          </a:solidFill>
                          <a:latin typeface="Calibri"/>
                        </a:rPr>
                        <a:t>extraction_success_total{format}</a:t>
                      </a:r>
                    </a:p>
                  </a:txBody>
                  <a:tcPr marT="12700" marB="12700">
                    <a:solidFill>
                      <a:srgbClr val="FFFFFF"/>
                    </a:solidFill>
                  </a:tcPr>
                </a:tc>
                <a:tc>
                  <a:txBody>
                    <a:bodyPr wrap="square"/>
                    <a:lstStyle/>
                    <a:p>
                      <a:r>
                        <a:rPr sz="950" b="0" i="0">
                          <a:solidFill>
                            <a:srgbClr val="202020"/>
                          </a:solidFill>
                          <a:latin typeface="Calibri"/>
                        </a:rPr>
                        <a:t>counter</a:t>
                      </a:r>
                    </a:p>
                  </a:txBody>
                  <a:tcPr marT="12700" marB="12700">
                    <a:solidFill>
                      <a:srgbClr val="FFFFFF"/>
                    </a:solidFill>
                  </a:tcPr>
                </a:tc>
                <a:tc>
                  <a:txBody>
                    <a:bodyPr wrap="square"/>
                    <a:lstStyle/>
                    <a:p>
                      <a:r>
                        <a:rPr sz="950" b="0" i="0">
                          <a:solidFill>
                            <a:srgbClr val="202020"/>
                          </a:solidFill>
                          <a:latin typeface="Calibri"/>
                        </a:rPr>
                        <a:t>Text extractions producing non-empty text, per format</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530</a:t>
            </a:r>
          </a:p>
        </p:txBody>
      </p:sp>
    </p:spTree>
  </p:cSld>
  <p:clrMapOvr>
    <a:masterClrMapping/>
  </p:clrMapOvr>
</p:sld>
</file>

<file path=ppt/slides/slide5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Dashboard panels worth pinning</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0" i="0">
                <a:solidFill>
                  <a:srgbClr val="202020"/>
                </a:solidFill>
                <a:latin typeface="Calibri"/>
              </a:rPr>
              <a:t>Throughput: </a:t>
            </a:r>
            <a:r>
              <a:rPr sz="1200" b="0" i="0">
                <a:solidFill>
                  <a:srgbClr val="202020"/>
                </a:solidFill>
                <a:latin typeface="Consolas"/>
              </a:rPr>
              <a:t>items_ingested_total</a:t>
            </a:r>
            <a:r>
              <a:rPr sz="1250" b="0" i="0">
                <a:solidFill>
                  <a:srgbClr val="202020"/>
                </a:solidFill>
                <a:latin typeface="Calibri"/>
              </a:rPr>
              <a:t> rate, alongside </a:t>
            </a:r>
            <a:r>
              <a:rPr sz="1200" b="0" i="0">
                <a:solidFill>
                  <a:srgbClr val="202020"/>
                </a:solidFill>
                <a:latin typeface="Consolas"/>
              </a:rPr>
              <a:t>items_deleted_total</a:t>
            </a:r>
            <a:r>
              <a:rPr sz="1250" b="0" i="0">
                <a:solidFill>
                  <a:srgbClr val="202020"/>
                </a:solidFill>
                <a:latin typeface="Calibri"/>
              </a:rPr>
              <a:t> and </a:t>
            </a:r>
            <a:r>
              <a:rPr sz="1200" b="0" i="0">
                <a:solidFill>
                  <a:srgbClr val="202020"/>
                </a:solidFill>
                <a:latin typeface="Consolas"/>
              </a:rPr>
              <a:t>items_failed_total</a:t>
            </a:r>
            <a:r>
              <a:rPr sz="1250" b="0" i="0">
                <a:solidFill>
                  <a:srgbClr val="202020"/>
                </a:solidFill>
                <a:latin typeface="Calibri"/>
              </a:rPr>
              <a:t>.</a:t>
            </a:r>
          </a:p>
          <a:p>
            <a:pPr>
              <a:spcBef>
                <a:spcPts val="100"/>
              </a:spcBef>
              <a:spcAft>
                <a:spcPts val="200"/>
              </a:spcAft>
            </a:pPr>
            <a:r>
              <a:rPr sz="1250" b="1" i="0">
                <a:solidFill>
                  <a:srgbClr val="2E5496"/>
                </a:solidFill>
                <a:latin typeface="Calibri"/>
              </a:rPr>
              <a:t>•  </a:t>
            </a:r>
            <a:r>
              <a:rPr sz="1250" b="0" i="0">
                <a:solidFill>
                  <a:srgbClr val="202020"/>
                </a:solidFill>
                <a:latin typeface="Calibri"/>
              </a:rPr>
              <a:t>Compliance: </a:t>
            </a:r>
            <a:r>
              <a:rPr sz="1200" b="0" i="0">
                <a:solidFill>
                  <a:srgbClr val="202020"/>
                </a:solidFill>
                <a:latin typeface="Consolas"/>
              </a:rPr>
              <a:t>items_deleted_total</a:t>
            </a:r>
            <a:r>
              <a:rPr sz="1250" b="0" i="0">
                <a:solidFill>
                  <a:srgbClr val="202020"/>
                </a:solidFill>
                <a:latin typeface="Calibri"/>
              </a:rPr>
              <a:t> (withdrawals) and </a:t>
            </a:r>
            <a:r>
              <a:rPr sz="1200" b="0" i="0">
                <a:solidFill>
                  <a:srgbClr val="202020"/>
                </a:solidFill>
                <a:latin typeface="Consolas"/>
              </a:rPr>
              <a:t>last_drift_findings</a:t>
            </a:r>
            <a:r>
              <a:rPr sz="1250" b="0" i="0">
                <a:solidFill>
                  <a:srgbClr val="202020"/>
                </a:solidFill>
                <a:latin typeface="Calibri"/>
              </a:rPr>
              <a:t>.</a:t>
            </a:r>
          </a:p>
          <a:p>
            <a:pPr>
              <a:spcBef>
                <a:spcPts val="100"/>
              </a:spcBef>
              <a:spcAft>
                <a:spcPts val="200"/>
              </a:spcAft>
            </a:pPr>
            <a:r>
              <a:rPr sz="1250" b="1" i="0">
                <a:solidFill>
                  <a:srgbClr val="2E5496"/>
                </a:solidFill>
                <a:latin typeface="Calibri"/>
              </a:rPr>
              <a:t>•  </a:t>
            </a:r>
            <a:r>
              <a:rPr sz="1250" b="0" i="0">
                <a:solidFill>
                  <a:srgbClr val="202020"/>
                </a:solidFill>
                <a:latin typeface="Calibri"/>
              </a:rPr>
              <a:t>Webhook health: accepted vs. rejected vs. dropped, plus </a:t>
            </a:r>
            <a:r>
              <a:rPr sz="1200" b="0" i="0">
                <a:solidFill>
                  <a:srgbClr val="202020"/>
                </a:solidFill>
                <a:latin typeface="Consolas"/>
              </a:rPr>
              <a:t>webhook_queue_depth</a:t>
            </a:r>
            <a:r>
              <a:rPr sz="1250" b="0" i="0">
                <a:solidFill>
                  <a:srgbClr val="202020"/>
                </a:solidFill>
                <a:latin typeface="Calibri"/>
              </a:rPr>
              <a:t>.</a:t>
            </a:r>
          </a:p>
          <a:p>
            <a:pPr>
              <a:spcBef>
                <a:spcPts val="100"/>
              </a:spcBef>
              <a:spcAft>
                <a:spcPts val="200"/>
              </a:spcAft>
            </a:pPr>
            <a:r>
              <a:rPr sz="1250" b="1" i="0">
                <a:solidFill>
                  <a:srgbClr val="2E5496"/>
                </a:solidFill>
                <a:latin typeface="Calibri"/>
              </a:rPr>
              <a:t>•  </a:t>
            </a:r>
            <a:r>
              <a:rPr sz="1250" b="0" i="0">
                <a:solidFill>
                  <a:srgbClr val="202020"/>
                </a:solidFill>
                <a:latin typeface="Calibri"/>
              </a:rPr>
              <a:t>Dependency health: </a:t>
            </a:r>
            <a:r>
              <a:rPr sz="1200" b="0" i="0">
                <a:solidFill>
                  <a:srgbClr val="202020"/>
                </a:solidFill>
                <a:latin typeface="Consolas"/>
              </a:rPr>
              <a:t>circuit_breaker_state</a:t>
            </a:r>
            <a:r>
              <a:rPr sz="1250" b="0" i="0">
                <a:solidFill>
                  <a:srgbClr val="202020"/>
                </a:solidFill>
                <a:latin typeface="Calibri"/>
              </a:rPr>
              <a:t> for </a:t>
            </a:r>
            <a:r>
              <a:rPr sz="1200" b="0" i="0">
                <a:solidFill>
                  <a:srgbClr val="202020"/>
                </a:solidFill>
                <a:latin typeface="Consolas"/>
              </a:rPr>
              <a:t>seismic</a:t>
            </a:r>
            <a:r>
              <a:rPr sz="1250" b="0" i="0">
                <a:solidFill>
                  <a:srgbClr val="202020"/>
                </a:solidFill>
                <a:latin typeface="Calibri"/>
              </a:rPr>
              <a:t> and </a:t>
            </a:r>
            <a:r>
              <a:rPr sz="1200" b="0" i="0">
                <a:solidFill>
                  <a:srgbClr val="202020"/>
                </a:solidFill>
                <a:latin typeface="Consolas"/>
              </a:rPr>
              <a:t>graph</a:t>
            </a:r>
            <a:r>
              <a:rPr sz="1250" b="0" i="0">
                <a:solidFill>
                  <a:srgbClr val="202020"/>
                </a:solidFill>
                <a:latin typeface="Calibri"/>
              </a:rPr>
              <a:t>, and </a:t>
            </a:r>
            <a:r>
              <a:rPr sz="1200" b="0" i="0">
                <a:solidFill>
                  <a:srgbClr val="202020"/>
                </a:solidFill>
                <a:latin typeface="Consolas"/>
              </a:rPr>
              <a:t>degraded_pauses_total</a:t>
            </a:r>
            <a:r>
              <a:rPr sz="1250" b="0" i="0">
                <a:solidFill>
                  <a:srgbClr val="202020"/>
                </a:solidFill>
                <a:latin typeface="Calibri"/>
              </a:rPr>
              <a:t>.</a:t>
            </a:r>
          </a:p>
          <a:p>
            <a:pPr>
              <a:spcBef>
                <a:spcPts val="100"/>
              </a:spcBef>
              <a:spcAft>
                <a:spcPts val="200"/>
              </a:spcAft>
            </a:pPr>
            <a:r>
              <a:rPr sz="1250" b="1" i="0">
                <a:solidFill>
                  <a:srgbClr val="2E5496"/>
                </a:solidFill>
                <a:latin typeface="Calibri"/>
              </a:rPr>
              <a:t>•  </a:t>
            </a:r>
            <a:r>
              <a:rPr sz="1250" b="0" i="0">
                <a:solidFill>
                  <a:srgbClr val="202020"/>
                </a:solidFill>
                <a:latin typeface="Calibri"/>
              </a:rPr>
              <a:t>Freshness: time since </a:t>
            </a:r>
            <a:r>
              <a:rPr sz="1200" b="0" i="0">
                <a:solidFill>
                  <a:srgbClr val="202020"/>
                </a:solidFill>
                <a:latin typeface="Consolas"/>
              </a:rPr>
              <a:t>last_crawl_completed_timestamp_seconds</a:t>
            </a:r>
            <a:r>
              <a:rPr sz="1250" b="0" i="0">
                <a:solidFill>
                  <a:srgbClr val="202020"/>
                </a:solidFill>
                <a:latin typeface="Calibri"/>
              </a:rPr>
              <a:t>.</a:t>
            </a:r>
          </a:p>
          <a:p>
            <a:pPr>
              <a:spcBef>
                <a:spcPts val="100"/>
              </a:spcBef>
              <a:spcAft>
                <a:spcPts val="200"/>
              </a:spcAft>
            </a:pPr>
            <a:r>
              <a:rPr sz="1250" b="1" i="0">
                <a:solidFill>
                  <a:srgbClr val="2E5496"/>
                </a:solidFill>
                <a:latin typeface="Calibri"/>
              </a:rPr>
              <a:t>•  </a:t>
            </a:r>
            <a:r>
              <a:rPr sz="1250" b="0" i="0">
                <a:solidFill>
                  <a:srgbClr val="202020"/>
                </a:solidFill>
                <a:latin typeface="Calibri"/>
              </a:rPr>
              <a:t>Permissions: </a:t>
            </a:r>
            <a:r>
              <a:rPr sz="1200" b="0" i="0">
                <a:solidFill>
                  <a:srgbClr val="202020"/>
                </a:solidFill>
                <a:latin typeface="Consolas"/>
              </a:rPr>
              <a:t>items_reacled_total</a:t>
            </a:r>
            <a:r>
              <a:rPr sz="1250" b="0" i="0">
                <a:solidFill>
                  <a:srgbClr val="202020"/>
                </a:solidFill>
                <a:latin typeface="Calibri"/>
              </a:rPr>
              <a:t> and </a:t>
            </a:r>
            <a:r>
              <a:rPr sz="1200" b="0" i="0">
                <a:solidFill>
                  <a:srgbClr val="202020"/>
                </a:solidFill>
                <a:latin typeface="Consolas"/>
              </a:rPr>
              <a:t>acl_drift_detected_total</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531</a:t>
            </a:r>
          </a:p>
        </p:txBody>
      </p:sp>
    </p:spTree>
  </p:cSld>
  <p:clrMapOvr>
    <a:masterClrMapping/>
  </p:clrMapOvr>
</p:sld>
</file>

<file path=ppt/slides/slide5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Alerts</a:t>
            </a:r>
          </a:p>
        </p:txBody>
      </p:sp>
      <p:graphicFrame>
        <p:nvGraphicFramePr>
          <p:cNvPr id="5" name="Table 4"/>
          <p:cNvGraphicFramePr>
            <a:graphicFrameLocks noGrp="1"/>
          </p:cNvGraphicFramePr>
          <p:nvPr/>
        </p:nvGraphicFramePr>
        <p:xfrm>
          <a:off x="502920" y="1188720"/>
          <a:ext cx="11185855" cy="3456432"/>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Alert</a:t>
                      </a:r>
                    </a:p>
                  </a:txBody>
                  <a:tcPr marT="25400" marB="25400">
                    <a:solidFill>
                      <a:srgbClr val="2E5496"/>
                    </a:solidFill>
                  </a:tcPr>
                </a:tc>
                <a:tc>
                  <a:txBody>
                    <a:bodyPr wrap="square"/>
                    <a:lstStyle/>
                    <a:p>
                      <a:r>
                        <a:rPr sz="1050" b="1" i="0">
                          <a:solidFill>
                            <a:srgbClr val="FFFFFF"/>
                          </a:solidFill>
                          <a:latin typeface="Calibri"/>
                        </a:rPr>
                        <a:t>Fires when</a:t>
                      </a:r>
                    </a:p>
                  </a:txBody>
                  <a:tcPr marT="25400" marB="25400">
                    <a:solidFill>
                      <a:srgbClr val="2E5496"/>
                    </a:solidFill>
                  </a:tcPr>
                </a:tc>
                <a:tc>
                  <a:txBody>
                    <a:bodyPr wrap="square"/>
                    <a:lstStyle/>
                    <a:p>
                      <a:r>
                        <a:rPr sz="1050" b="1" i="0">
                          <a:solidFill>
                            <a:srgbClr val="FFFFFF"/>
                          </a:solidFill>
                          <a:latin typeface="Calibri"/>
                        </a:rPr>
                        <a:t>First action (runbook)</a:t>
                      </a:r>
                    </a:p>
                  </a:txBody>
                  <a:tcPr marT="25400" marB="25400">
                    <a:solidFill>
                      <a:srgbClr val="2E5496"/>
                    </a:solidFill>
                  </a:tcPr>
                </a:tc>
              </a:tr>
              <a:tr h="384048">
                <a:tc>
                  <a:txBody>
                    <a:bodyPr wrap="square"/>
                    <a:lstStyle/>
                    <a:p>
                      <a:r>
                        <a:rPr sz="950" b="0" i="0">
                          <a:solidFill>
                            <a:srgbClr val="202020"/>
                          </a:solidFill>
                          <a:latin typeface="Calibri"/>
                        </a:rPr>
                        <a:t>Crawl not completing</a:t>
                      </a:r>
                    </a:p>
                  </a:txBody>
                  <a:tcPr marT="12700" marB="12700">
                    <a:solidFill>
                      <a:srgbClr val="FFFFFF"/>
                    </a:solidFill>
                  </a:tcPr>
                </a:tc>
                <a:tc>
                  <a:txBody>
                    <a:bodyPr wrap="square"/>
                    <a:lstStyle/>
                    <a:p>
                      <a:r>
                        <a:rPr sz="950" b="0" i="0">
                          <a:solidFill>
                            <a:srgbClr val="202020"/>
                          </a:solidFill>
                          <a:latin typeface="Calibri"/>
                        </a:rPr>
                        <a:t>last_crawl_completed_timestamp_seconds too old</a:t>
                      </a:r>
                    </a:p>
                  </a:txBody>
                  <a:tcPr marT="12700" marB="12700">
                    <a:solidFill>
                      <a:srgbClr val="FFFFFF"/>
                    </a:solidFill>
                  </a:tcPr>
                </a:tc>
                <a:tc>
                  <a:txBody>
                    <a:bodyPr wrap="square"/>
                    <a:lstStyle/>
                    <a:p>
                      <a:r>
                        <a:rPr sz="950" b="0" i="0">
                          <a:solidFill>
                            <a:srgbClr val="202020"/>
                          </a:solidFill>
                          <a:latin typeface="Calibri"/>
                        </a:rPr>
                        <a:t>Check /ready and breakers (breaker-open)</a:t>
                      </a:r>
                    </a:p>
                  </a:txBody>
                  <a:tcPr marT="12700" marB="12700">
                    <a:solidFill>
                      <a:srgbClr val="FFFFFF"/>
                    </a:solidFill>
                  </a:tcPr>
                </a:tc>
              </a:tr>
              <a:tr h="384048">
                <a:tc>
                  <a:txBody>
                    <a:bodyPr wrap="square"/>
                    <a:lstStyle/>
                    <a:p>
                      <a:r>
                        <a:rPr sz="950" b="0" i="0">
                          <a:solidFill>
                            <a:srgbClr val="202020"/>
                          </a:solidFill>
                          <a:latin typeface="Calibri"/>
                        </a:rPr>
                        <a:t>Dependency breaker open</a:t>
                      </a:r>
                    </a:p>
                  </a:txBody>
                  <a:tcPr marT="12700" marB="12700">
                    <a:solidFill>
                      <a:srgbClr val="F7F9FC"/>
                    </a:solidFill>
                  </a:tcPr>
                </a:tc>
                <a:tc>
                  <a:txBody>
                    <a:bodyPr wrap="square"/>
                    <a:lstStyle/>
                    <a:p>
                      <a:r>
                        <a:rPr sz="950" b="0" i="0">
                          <a:solidFill>
                            <a:srgbClr val="202020"/>
                          </a:solidFill>
                          <a:latin typeface="Calibri"/>
                        </a:rPr>
                        <a:t>circuit_breaker_state == 1 / degraded_pauses_total rising</a:t>
                      </a:r>
                    </a:p>
                  </a:txBody>
                  <a:tcPr marT="12700" marB="12700">
                    <a:solidFill>
                      <a:srgbClr val="F7F9FC"/>
                    </a:solidFill>
                  </a:tcPr>
                </a:tc>
                <a:tc>
                  <a:txBody>
                    <a:bodyPr wrap="square"/>
                    <a:lstStyle/>
                    <a:p>
                      <a:r>
                        <a:rPr sz="950" b="0" i="0">
                          <a:solidFill>
                            <a:srgbClr val="202020"/>
                          </a:solidFill>
                          <a:latin typeface="Calibri"/>
                        </a:rPr>
                        <a:t>Confirm outage; let it recover (breaker-open)</a:t>
                      </a:r>
                    </a:p>
                  </a:txBody>
                  <a:tcPr marT="12700" marB="12700">
                    <a:solidFill>
                      <a:srgbClr val="F7F9FC"/>
                    </a:solidFill>
                  </a:tcPr>
                </a:tc>
              </a:tr>
              <a:tr h="384048">
                <a:tc>
                  <a:txBody>
                    <a:bodyPr wrap="square"/>
                    <a:lstStyle/>
                    <a:p>
                      <a:r>
                        <a:rPr sz="950" b="0" i="0">
                          <a:solidFill>
                            <a:srgbClr val="202020"/>
                          </a:solidFill>
                          <a:latin typeface="Calibri"/>
                        </a:rPr>
                        <a:t>Dead-letter growth</a:t>
                      </a:r>
                    </a:p>
                  </a:txBody>
                  <a:tcPr marT="12700" marB="12700">
                    <a:solidFill>
                      <a:srgbClr val="FFFFFF"/>
                    </a:solidFill>
                  </a:tcPr>
                </a:tc>
                <a:tc>
                  <a:txBody>
                    <a:bodyPr wrap="square"/>
                    <a:lstStyle/>
                    <a:p>
                      <a:r>
                        <a:rPr sz="950" b="0" i="0">
                          <a:solidFill>
                            <a:srgbClr val="202020"/>
                          </a:solidFill>
                          <a:latin typeface="Calibri"/>
                        </a:rPr>
                        <a:t>dead_letter_depth climbing / threshold crossed</a:t>
                      </a:r>
                    </a:p>
                  </a:txBody>
                  <a:tcPr marT="12700" marB="12700">
                    <a:solidFill>
                      <a:srgbClr val="FFFFFF"/>
                    </a:solidFill>
                  </a:tcPr>
                </a:tc>
                <a:tc>
                  <a:txBody>
                    <a:bodyPr wrap="square"/>
                    <a:lstStyle/>
                    <a:p>
                      <a:r>
                        <a:rPr sz="950" b="0" i="0">
                          <a:solidFill>
                            <a:srgbClr val="202020"/>
                          </a:solidFill>
                          <a:latin typeface="Calibri"/>
                        </a:rPr>
                        <a:t>Read the queue, group by error (dead-letter-growth)</a:t>
                      </a:r>
                    </a:p>
                  </a:txBody>
                  <a:tcPr marT="12700" marB="12700">
                    <a:solidFill>
                      <a:srgbClr val="FFFFFF"/>
                    </a:solidFill>
                  </a:tcPr>
                </a:tc>
              </a:tr>
              <a:tr h="384048">
                <a:tc>
                  <a:txBody>
                    <a:bodyPr wrap="square"/>
                    <a:lstStyle/>
                    <a:p>
                      <a:r>
                        <a:rPr sz="950" b="0" i="0">
                          <a:solidFill>
                            <a:srgbClr val="202020"/>
                          </a:solidFill>
                          <a:latin typeface="Calibri"/>
                        </a:rPr>
                        <a:t>Webhook 401 spike</a:t>
                      </a:r>
                    </a:p>
                  </a:txBody>
                  <a:tcPr marT="12700" marB="12700">
                    <a:solidFill>
                      <a:srgbClr val="F7F9FC"/>
                    </a:solidFill>
                  </a:tcPr>
                </a:tc>
                <a:tc>
                  <a:txBody>
                    <a:bodyPr wrap="square"/>
                    <a:lstStyle/>
                    <a:p>
                      <a:r>
                        <a:rPr sz="950" b="0" i="0">
                          <a:solidFill>
                            <a:srgbClr val="202020"/>
                          </a:solidFill>
                          <a:latin typeface="Calibri"/>
                        </a:rPr>
                        <a:t>webhook_rejected_total rising</a:t>
                      </a:r>
                    </a:p>
                  </a:txBody>
                  <a:tcPr marT="12700" marB="12700">
                    <a:solidFill>
                      <a:srgbClr val="F7F9FC"/>
                    </a:solidFill>
                  </a:tcPr>
                </a:tc>
                <a:tc>
                  <a:txBody>
                    <a:bodyPr wrap="square"/>
                    <a:lstStyle/>
                    <a:p>
                      <a:r>
                        <a:rPr sz="950" b="0" i="0">
                          <a:solidFill>
                            <a:srgbClr val="202020"/>
                          </a:solidFill>
                          <a:latin typeface="Calibri"/>
                        </a:rPr>
                        <a:t>Rotation vs. forgery (webhook-401-spike)</a:t>
                      </a:r>
                    </a:p>
                  </a:txBody>
                  <a:tcPr marT="12700" marB="12700">
                    <a:solidFill>
                      <a:srgbClr val="F7F9FC"/>
                    </a:solidFill>
                  </a:tcPr>
                </a:tc>
              </a:tr>
              <a:tr h="384048">
                <a:tc>
                  <a:txBody>
                    <a:bodyPr wrap="square"/>
                    <a:lstStyle/>
                    <a:p>
                      <a:r>
                        <a:rPr sz="950" b="0" i="0">
                          <a:solidFill>
                            <a:srgbClr val="202020"/>
                          </a:solidFill>
                          <a:latin typeface="Calibri"/>
                        </a:rPr>
                        <a:t>Webhook queue drops</a:t>
                      </a:r>
                    </a:p>
                  </a:txBody>
                  <a:tcPr marT="12700" marB="12700">
                    <a:solidFill>
                      <a:srgbClr val="FFFFFF"/>
                    </a:solidFill>
                  </a:tcPr>
                </a:tc>
                <a:tc>
                  <a:txBody>
                    <a:bodyPr wrap="square"/>
                    <a:lstStyle/>
                    <a:p>
                      <a:r>
                        <a:rPr sz="950" b="0" i="0">
                          <a:solidFill>
                            <a:srgbClr val="202020"/>
                          </a:solidFill>
                          <a:latin typeface="Calibri"/>
                        </a:rPr>
                        <a:t>webhook_dropped_total / queue near 10,000</a:t>
                      </a:r>
                    </a:p>
                  </a:txBody>
                  <a:tcPr marT="12700" marB="12700">
                    <a:solidFill>
                      <a:srgbClr val="FFFFFF"/>
                    </a:solidFill>
                  </a:tcPr>
                </a:tc>
                <a:tc>
                  <a:txBody>
                    <a:bodyPr wrap="square"/>
                    <a:lstStyle/>
                    <a:p>
                      <a:r>
                        <a:rPr sz="950" b="0" i="0">
                          <a:solidFill>
                            <a:srgbClr val="202020"/>
                          </a:solidFill>
                          <a:latin typeface="Calibri"/>
                        </a:rPr>
                        <a:t>Burst vs. stalled drain (webhook-queue-drops)</a:t>
                      </a:r>
                    </a:p>
                  </a:txBody>
                  <a:tcPr marT="12700" marB="12700">
                    <a:solidFill>
                      <a:srgbClr val="FFFFFF"/>
                    </a:solidFill>
                  </a:tcPr>
                </a:tc>
              </a:tr>
              <a:tr h="384048">
                <a:tc>
                  <a:txBody>
                    <a:bodyPr wrap="square"/>
                    <a:lstStyle/>
                    <a:p>
                      <a:r>
                        <a:rPr sz="950" b="0" i="0">
                          <a:solidFill>
                            <a:srgbClr val="202020"/>
                          </a:solidFill>
                          <a:latin typeface="Calibri"/>
                        </a:rPr>
                        <a:t>Graph 429 storm</a:t>
                      </a:r>
                    </a:p>
                  </a:txBody>
                  <a:tcPr marT="12700" marB="12700">
                    <a:solidFill>
                      <a:srgbClr val="F7F9FC"/>
                    </a:solidFill>
                  </a:tcPr>
                </a:tc>
                <a:tc>
                  <a:txBody>
                    <a:bodyPr wrap="square"/>
                    <a:lstStyle/>
                    <a:p>
                      <a:r>
                        <a:rPr sz="950" b="0" i="0">
                          <a:solidFill>
                            <a:srgbClr val="202020"/>
                          </a:solidFill>
                          <a:latin typeface="Calibri"/>
                        </a:rPr>
                        <a:t>throttled_429_total climbing fast</a:t>
                      </a:r>
                    </a:p>
                  </a:txBody>
                  <a:tcPr marT="12700" marB="12700">
                    <a:solidFill>
                      <a:srgbClr val="F7F9FC"/>
                    </a:solidFill>
                  </a:tcPr>
                </a:tc>
                <a:tc>
                  <a:txBody>
                    <a:bodyPr wrap="square"/>
                    <a:lstStyle/>
                    <a:p>
                      <a:r>
                        <a:rPr sz="950" b="0" i="0">
                          <a:solidFill>
                            <a:srgbClr val="202020"/>
                          </a:solidFill>
                          <a:latin typeface="Calibri"/>
                        </a:rPr>
                        <a:t>Let backoff ride; check concurrency (graph-429-storm)</a:t>
                      </a:r>
                    </a:p>
                  </a:txBody>
                  <a:tcPr marT="12700" marB="12700">
                    <a:solidFill>
                      <a:srgbClr val="F7F9FC"/>
                    </a:solidFill>
                  </a:tcPr>
                </a:tc>
              </a:tr>
              <a:tr h="384048">
                <a:tc>
                  <a:txBody>
                    <a:bodyPr wrap="square"/>
                    <a:lstStyle/>
                    <a:p>
                      <a:r>
                        <a:rPr sz="950" b="0" i="0">
                          <a:solidFill>
                            <a:srgbClr val="202020"/>
                          </a:solidFill>
                          <a:latin typeface="Calibri"/>
                        </a:rPr>
                        <a:t>Re-ACL storm</a:t>
                      </a:r>
                    </a:p>
                  </a:txBody>
                  <a:tcPr marT="12700" marB="12700">
                    <a:solidFill>
                      <a:srgbClr val="FFFFFF"/>
                    </a:solidFill>
                  </a:tcPr>
                </a:tc>
                <a:tc>
                  <a:txBody>
                    <a:bodyPr wrap="square"/>
                    <a:lstStyle/>
                    <a:p>
                      <a:r>
                        <a:rPr sz="950" b="0" i="0">
                          <a:solidFill>
                            <a:srgbClr val="202020"/>
                          </a:solidFill>
                          <a:latin typeface="Calibri"/>
                        </a:rPr>
                        <a:t>items_reacled_total / acl_drift_detected_total jump</a:t>
                      </a:r>
                    </a:p>
                  </a:txBody>
                  <a:tcPr marT="12700" marB="12700">
                    <a:solidFill>
                      <a:srgbClr val="FFFFFF"/>
                    </a:solidFill>
                  </a:tcPr>
                </a:tc>
                <a:tc>
                  <a:txBody>
                    <a:bodyPr wrap="square"/>
                    <a:lstStyle/>
                    <a:p>
                      <a:r>
                        <a:rPr sz="950" b="0" i="0">
                          <a:solidFill>
                            <a:srgbClr val="202020"/>
                          </a:solidFill>
                          <a:latin typeface="Calibri"/>
                        </a:rPr>
                        <a:t>Real change vs. identity churn (re-acl-storm)</a:t>
                      </a:r>
                    </a:p>
                  </a:txBody>
                  <a:tcPr marT="12700" marB="12700">
                    <a:solidFill>
                      <a:srgbClr val="FFFFFF"/>
                    </a:solidFill>
                  </a:tcPr>
                </a:tc>
              </a:tr>
              <a:tr h="384048">
                <a:tc>
                  <a:txBody>
                    <a:bodyPr wrap="square"/>
                    <a:lstStyle/>
                    <a:p>
                      <a:r>
                        <a:rPr sz="950" b="0" i="0">
                          <a:solidFill>
                            <a:srgbClr val="202020"/>
                          </a:solidFill>
                          <a:latin typeface="Calibri"/>
                        </a:rPr>
                        <a:t>No-MNE drift</a:t>
                      </a:r>
                    </a:p>
                  </a:txBody>
                  <a:tcPr marT="12700" marB="12700">
                    <a:solidFill>
                      <a:srgbClr val="F7F9FC"/>
                    </a:solidFill>
                  </a:tcPr>
                </a:tc>
                <a:tc>
                  <a:txBody>
                    <a:bodyPr wrap="square"/>
                    <a:lstStyle/>
                    <a:p>
                      <a:r>
                        <a:rPr sz="950" b="0" i="0">
                          <a:solidFill>
                            <a:srgbClr val="202020"/>
                          </a:solidFill>
                          <a:latin typeface="Calibri"/>
                        </a:rPr>
                        <a:t>last_drift_findings &gt; 0 after reconcile</a:t>
                      </a:r>
                    </a:p>
                  </a:txBody>
                  <a:tcPr marT="12700" marB="12700">
                    <a:solidFill>
                      <a:srgbClr val="F7F9FC"/>
                    </a:solidFill>
                  </a:tcPr>
                </a:tc>
                <a:tc>
                  <a:txBody>
                    <a:bodyPr wrap="square"/>
                    <a:lstStyle/>
                    <a:p>
                      <a:r>
                        <a:rPr sz="950" b="0" i="0">
                          <a:solidFill>
                            <a:srgbClr val="202020"/>
                          </a:solidFill>
                          <a:latin typeface="Calibri"/>
                        </a:rPr>
                        <a:t>reconcile --repair; escalate exposure (no-mne-reconciliation-drift)</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532</a:t>
            </a:r>
          </a:p>
        </p:txBody>
      </p:sp>
    </p:spTree>
  </p:cSld>
  <p:clrMapOvr>
    <a:masterClrMapping/>
  </p:clrMapOvr>
</p:sld>
</file>

<file path=ppt/slides/slide5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What good looks like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00" b="0" i="0">
                <a:solidFill>
                  <a:srgbClr val="202020"/>
                </a:solidFill>
                <a:latin typeface="Consolas"/>
              </a:rPr>
              <a:t>items_failed_total</a:t>
            </a:r>
            <a:r>
              <a:rPr sz="1250" b="0" i="0">
                <a:solidFill>
                  <a:srgbClr val="202020"/>
                </a:solidFill>
                <a:latin typeface="Calibri"/>
              </a:rPr>
              <a:t> and </a:t>
            </a:r>
            <a:r>
              <a:rPr sz="1200" b="0" i="0">
                <a:solidFill>
                  <a:srgbClr val="202020"/>
                </a:solidFill>
                <a:latin typeface="Consolas"/>
              </a:rPr>
              <a:t>dead_letter_depth</a:t>
            </a:r>
            <a:r>
              <a:rPr sz="1250" b="0" i="0">
                <a:solidFill>
                  <a:srgbClr val="202020"/>
                </a:solidFill>
                <a:latin typeface="Calibri"/>
              </a:rPr>
              <a:t> at or near </a:t>
            </a:r>
            <a:r>
              <a:rPr sz="1250" b="1" i="0">
                <a:solidFill>
                  <a:srgbClr val="202020"/>
                </a:solidFill>
                <a:latin typeface="Calibri"/>
              </a:rPr>
              <a:t>zero</a:t>
            </a:r>
            <a:r>
              <a:rPr sz="1250" b="0" i="0">
                <a:solidFill>
                  <a:srgbClr val="202020"/>
                </a:solidFill>
                <a:latin typeface="Calibri"/>
              </a:rPr>
              <a:t>.</a:t>
            </a:r>
          </a:p>
          <a:p>
            <a:pPr>
              <a:spcBef>
                <a:spcPts val="100"/>
              </a:spcBef>
              <a:spcAft>
                <a:spcPts val="200"/>
              </a:spcAft>
            </a:pPr>
            <a:r>
              <a:rPr sz="1250" b="1" i="0">
                <a:solidFill>
                  <a:srgbClr val="2E5496"/>
                </a:solidFill>
                <a:latin typeface="Calibri"/>
              </a:rPr>
              <a:t>•  </a:t>
            </a:r>
            <a:r>
              <a:rPr sz="1200" b="0" i="0">
                <a:solidFill>
                  <a:srgbClr val="202020"/>
                </a:solidFill>
                <a:latin typeface="Consolas"/>
              </a:rPr>
              <a:t>circuit_breaker_state</a:t>
            </a:r>
            <a:r>
              <a:rPr sz="1250" b="0" i="0">
                <a:solidFill>
                  <a:srgbClr val="202020"/>
                </a:solidFill>
                <a:latin typeface="Calibri"/>
              </a:rPr>
              <a:t> </a:t>
            </a:r>
            <a:r>
              <a:rPr sz="1250" b="1" i="0">
                <a:solidFill>
                  <a:srgbClr val="202020"/>
                </a:solidFill>
                <a:latin typeface="Calibri"/>
              </a:rPr>
              <a:t>0</a:t>
            </a:r>
            <a:r>
              <a:rPr sz="1250" b="0" i="0">
                <a:solidFill>
                  <a:srgbClr val="202020"/>
                </a:solidFill>
                <a:latin typeface="Calibri"/>
              </a:rPr>
              <a:t> (closed) for both </a:t>
            </a:r>
            <a:r>
              <a:rPr sz="1200" b="0" i="0">
                <a:solidFill>
                  <a:srgbClr val="202020"/>
                </a:solidFill>
                <a:latin typeface="Consolas"/>
              </a:rPr>
              <a:t>seismic</a:t>
            </a:r>
            <a:r>
              <a:rPr sz="1250" b="0" i="0">
                <a:solidFill>
                  <a:srgbClr val="202020"/>
                </a:solidFill>
                <a:latin typeface="Calibri"/>
              </a:rPr>
              <a:t> and </a:t>
            </a:r>
            <a:r>
              <a:rPr sz="1200" b="0" i="0">
                <a:solidFill>
                  <a:srgbClr val="202020"/>
                </a:solidFill>
                <a:latin typeface="Consolas"/>
              </a:rPr>
              <a:t>graph</a:t>
            </a:r>
            <a:r>
              <a:rPr sz="1250" b="0" i="0">
                <a:solidFill>
                  <a:srgbClr val="202020"/>
                </a:solidFill>
                <a:latin typeface="Calibri"/>
              </a:rPr>
              <a:t>; </a:t>
            </a:r>
            <a:r>
              <a:rPr sz="1200" b="0" i="0">
                <a:solidFill>
                  <a:srgbClr val="202020"/>
                </a:solidFill>
                <a:latin typeface="Consolas"/>
              </a:rPr>
              <a:t>degraded_pauses_total</a:t>
            </a:r>
            <a:r>
              <a:rPr sz="1250" b="0" i="0">
                <a:solidFill>
                  <a:srgbClr val="202020"/>
                </a:solidFill>
                <a:latin typeface="Calibri"/>
              </a:rPr>
              <a:t> flat.</a:t>
            </a:r>
          </a:p>
          <a:p>
            <a:pPr>
              <a:spcBef>
                <a:spcPts val="100"/>
              </a:spcBef>
              <a:spcAft>
                <a:spcPts val="200"/>
              </a:spcAft>
            </a:pPr>
            <a:r>
              <a:rPr sz="1250" b="1" i="0">
                <a:solidFill>
                  <a:srgbClr val="2E5496"/>
                </a:solidFill>
                <a:latin typeface="Calibri"/>
              </a:rPr>
              <a:t>•  </a:t>
            </a:r>
            <a:r>
              <a:rPr sz="1200" b="0" i="0">
                <a:solidFill>
                  <a:srgbClr val="202020"/>
                </a:solidFill>
                <a:latin typeface="Consolas"/>
              </a:rPr>
              <a:t>last_crawl_completed_timestamp_seconds</a:t>
            </a:r>
            <a:r>
              <a:rPr sz="1250" b="0" i="0">
                <a:solidFill>
                  <a:srgbClr val="202020"/>
                </a:solidFill>
                <a:latin typeface="Calibri"/>
              </a:rPr>
              <a:t> </a:t>
            </a:r>
            <a:r>
              <a:rPr sz="1250" b="1" i="0">
                <a:solidFill>
                  <a:srgbClr val="202020"/>
                </a:solidFill>
                <a:latin typeface="Calibri"/>
              </a:rPr>
              <a:t>recent</a:t>
            </a:r>
            <a:r>
              <a:rPr sz="1250" b="0" i="0">
                <a:solidFill>
                  <a:srgbClr val="202020"/>
                </a:solidFill>
                <a:latin typeface="Calibri"/>
              </a:rPr>
              <a:t> (within your incremental cadence).</a:t>
            </a:r>
          </a:p>
          <a:p>
            <a:pPr>
              <a:spcBef>
                <a:spcPts val="100"/>
              </a:spcBef>
              <a:spcAft>
                <a:spcPts val="200"/>
              </a:spcAft>
            </a:pPr>
            <a:r>
              <a:rPr sz="1250" b="1" i="0">
                <a:solidFill>
                  <a:srgbClr val="2E5496"/>
                </a:solidFill>
                <a:latin typeface="Calibri"/>
              </a:rPr>
              <a:t>•  </a:t>
            </a:r>
            <a:r>
              <a:rPr sz="1200" b="0" i="0">
                <a:solidFill>
                  <a:srgbClr val="202020"/>
                </a:solidFill>
                <a:latin typeface="Consolas"/>
              </a:rPr>
              <a:t>webhook_rejected_total</a:t>
            </a:r>
            <a:r>
              <a:rPr sz="1250" b="0" i="0">
                <a:solidFill>
                  <a:srgbClr val="202020"/>
                </a:solidFill>
                <a:latin typeface="Calibri"/>
              </a:rPr>
              <a:t> flat — a spike only ever expected briefly at a deliberate secret rotation.</a:t>
            </a:r>
          </a:p>
          <a:p>
            <a:pPr>
              <a:spcBef>
                <a:spcPts val="100"/>
              </a:spcBef>
              <a:spcAft>
                <a:spcPts val="200"/>
              </a:spcAft>
            </a:pPr>
            <a:r>
              <a:rPr sz="1250" b="1" i="0">
                <a:solidFill>
                  <a:srgbClr val="2E5496"/>
                </a:solidFill>
                <a:latin typeface="Calibri"/>
              </a:rPr>
              <a:t>•  </a:t>
            </a:r>
            <a:r>
              <a:rPr sz="1200" b="0" i="0">
                <a:solidFill>
                  <a:srgbClr val="202020"/>
                </a:solidFill>
                <a:latin typeface="Consolas"/>
              </a:rPr>
              <a:t>last_drift_findings</a:t>
            </a:r>
            <a:r>
              <a:rPr sz="1250" b="0" i="0">
                <a:solidFill>
                  <a:srgbClr val="202020"/>
                </a:solidFill>
                <a:latin typeface="Calibri"/>
              </a:rPr>
              <a:t> </a:t>
            </a:r>
            <a:r>
              <a:rPr sz="1250" b="1" i="0">
                <a:solidFill>
                  <a:srgbClr val="202020"/>
                </a:solidFill>
                <a:latin typeface="Calibri"/>
              </a:rPr>
              <a:t>0</a:t>
            </a:r>
            <a:r>
              <a:rPr sz="1250" b="0" i="0">
                <a:solidFill>
                  <a:srgbClr val="202020"/>
                </a:solidFill>
                <a:latin typeface="Calibri"/>
              </a:rPr>
              <a:t> after each scheduled </a:t>
            </a:r>
            <a:r>
              <a:rPr sz="1200" b="0" i="0">
                <a:solidFill>
                  <a:srgbClr val="202020"/>
                </a:solidFill>
                <a:latin typeface="Consolas"/>
              </a:rPr>
              <a:t>reconcile</a:t>
            </a:r>
            <a:r>
              <a:rPr sz="1250" b="0" i="0">
                <a:solidFill>
                  <a:srgbClr val="202020"/>
                </a:solidFill>
                <a:latin typeface="Calibri"/>
              </a:rPr>
              <a:t>.</a:t>
            </a:r>
          </a:p>
          <a:p>
            <a:pPr>
              <a:spcBef>
                <a:spcPts val="100"/>
              </a:spcBef>
              <a:spcAft>
                <a:spcPts val="200"/>
              </a:spcAft>
            </a:pPr>
            <a:r>
              <a:rPr sz="1250" b="1" i="0">
                <a:solidFill>
                  <a:srgbClr val="2E5496"/>
                </a:solidFill>
                <a:latin typeface="Calibri"/>
              </a:rPr>
              <a:t>•  </a:t>
            </a:r>
            <a:r>
              <a:rPr sz="1200" b="0" i="0">
                <a:solidFill>
                  <a:srgbClr val="202020"/>
                </a:solidFill>
                <a:latin typeface="Consolas"/>
              </a:rPr>
              <a:t>items_ingested_total</a:t>
            </a:r>
            <a:r>
              <a:rPr sz="1250" b="0" i="0">
                <a:solidFill>
                  <a:srgbClr val="202020"/>
                </a:solidFill>
                <a:latin typeface="Calibri"/>
              </a:rPr>
              <a:t> rising during a crawl and plateauing between crawls (steady state).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533</a:t>
            </a:r>
          </a:p>
        </p:txBody>
      </p:sp>
    </p:spTree>
  </p:cSld>
  <p:clrMapOvr>
    <a:masterClrMapping/>
  </p:clrMapOvr>
</p:sld>
</file>

<file path=ppt/slides/slide5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What good looks like</a:t>
            </a:r>
          </a:p>
        </p:txBody>
      </p:sp>
      <p:sp>
        <p:nvSpPr>
          <p:cNvPr id="5" name="Rectangle 4"/>
          <p:cNvSpPr/>
          <p:nvPr/>
        </p:nvSpPr>
        <p:spPr>
          <a:xfrm>
            <a:off x="502920" y="1463040"/>
            <a:ext cx="11185855" cy="329184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5496"/>
                </a:solidFill>
                <a:latin typeface="Calibri"/>
              </a:rPr>
              <a:t>Note:  </a:t>
            </a:r>
            <a:r>
              <a:rPr sz="1400" b="1" i="0">
                <a:solidFill>
                  <a:srgbClr val="202020"/>
                </a:solidFill>
                <a:latin typeface="Calibri"/>
              </a:rPr>
              <a:t>Note: </a:t>
            </a:r>
            <a:r>
              <a:rPr sz="1400" b="0" i="0">
                <a:solidFill>
                  <a:srgbClr val="202020"/>
                </a:solidFill>
                <a:latin typeface="Calibri"/>
              </a:rPr>
              <a:t>The connector also emits structured JSON logs (</a:t>
            </a:r>
            <a:r>
              <a:rPr sz="1350" b="0" i="0">
                <a:solidFill>
                  <a:srgbClr val="202020"/>
                </a:solidFill>
                <a:latin typeface="Consolas"/>
              </a:rPr>
              <a:t>LOG_FORMAT=json</a:t>
            </a:r>
            <a:r>
              <a:rPr sz="1400" b="0" i="0">
                <a:solidFill>
                  <a:srgbClr val="202020"/>
                </a:solidFill>
                <a:latin typeface="Calibri"/>
              </a:rPr>
              <a:t>) with a per-crawl </a:t>
            </a:r>
            <a:r>
              <a:rPr sz="1350" b="0" i="0">
                <a:solidFill>
                  <a:srgbClr val="202020"/>
                </a:solidFill>
                <a:latin typeface="Consolas"/>
              </a:rPr>
              <a:t>correlation_id</a:t>
            </a:r>
            <a:r>
              <a:rPr sz="1400" b="0" i="0">
                <a:solidFill>
                  <a:srgbClr val="202020"/>
                </a:solidFill>
                <a:latin typeface="Calibri"/>
              </a:rPr>
              <a:t>, and mirrors WARNING+ to the Windows Event Log (source </a:t>
            </a:r>
            <a:r>
              <a:rPr sz="1350" b="0" i="0">
                <a:solidFill>
                  <a:srgbClr val="202020"/>
                </a:solidFill>
                <a:latin typeface="Consolas"/>
              </a:rPr>
              <a:t>SeismicConnector</a:t>
            </a:r>
            <a:r>
              <a:rPr sz="1400" b="0" i="0">
                <a:solidFill>
                  <a:srgbClr val="202020"/>
                </a:solidFill>
                <a:latin typeface="Calibri"/>
              </a:rPr>
              <a:t>, ids 1000 info / 2000 warning / 3000 error). SIEM collection queries are in the platform team's SIEM guide; the correlation id lets you follow one crawl end to end.</a:t>
            </a:r>
          </a:p>
        </p:txBody>
      </p:sp>
      <p:sp>
        <p:nvSpPr>
          <p:cNvPr id="6" name="Rectangle 5"/>
          <p:cNvSpPr/>
          <p:nvPr/>
        </p:nvSpPr>
        <p:spPr>
          <a:xfrm>
            <a:off x="502920" y="1463040"/>
            <a:ext cx="128016" cy="329184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534</a:t>
            </a:r>
          </a:p>
        </p:txBody>
      </p:sp>
    </p:spTree>
  </p:cSld>
  <p:clrMapOvr>
    <a:masterClrMapping/>
  </p:clrMapOvr>
</p:sld>
</file>

<file path=ppt/slides/slide5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Seismic Connector</a:t>
            </a:r>
          </a:p>
          <a:p>
            <a:r>
              <a:rPr sz="3000" b="1" i="0">
                <a:solidFill>
                  <a:srgbClr val="1F3864"/>
                </a:solidFill>
                <a:latin typeface="Calibri"/>
              </a:rPr>
              <a:t>14. Troubleshooting</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535</a:t>
            </a:r>
          </a:p>
        </p:txBody>
      </p:sp>
    </p:spTree>
  </p:cSld>
  <p:clrMapOvr>
    <a:masterClrMapping/>
  </p:clrMapOvr>
</p:sld>
</file>

<file path=ppt/slides/slide5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 Troubleshooting</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Symptom-to-action for the failure modes you are most likely to meet, matched to the platform team's runbooks. The escalation ladder referenced below is: </a:t>
            </a:r>
            <a:r>
              <a:rPr sz="1250" b="1" i="0">
                <a:solidFill>
                  <a:srgbClr val="202020"/>
                </a:solidFill>
                <a:latin typeface="Calibri"/>
              </a:rPr>
              <a:t>L1</a:t>
            </a:r>
            <a:r>
              <a:rPr sz="1250" b="0" i="0">
                <a:solidFill>
                  <a:srgbClr val="202020"/>
                </a:solidFill>
                <a:latin typeface="Calibri"/>
              </a:rPr>
              <a:t> platform on-call, </a:t>
            </a:r>
            <a:r>
              <a:rPr sz="1250" b="1" i="0">
                <a:solidFill>
                  <a:srgbClr val="202020"/>
                </a:solidFill>
                <a:latin typeface="Calibri"/>
              </a:rPr>
              <a:t>L2</a:t>
            </a:r>
            <a:r>
              <a:rPr sz="1250" b="0" i="0">
                <a:solidFill>
                  <a:srgbClr val="202020"/>
                </a:solidFill>
                <a:latin typeface="Calibri"/>
              </a:rPr>
              <a:t> connector owner + Seismic admin, </a:t>
            </a:r>
            <a:r>
              <a:rPr sz="1250" b="1" i="0">
                <a:solidFill>
                  <a:srgbClr val="202020"/>
                </a:solidFill>
                <a:latin typeface="Calibri"/>
              </a:rPr>
              <a:t>L3</a:t>
            </a:r>
            <a:r>
              <a:rPr sz="1250" b="0" i="0">
                <a:solidFill>
                  <a:srgbClr val="202020"/>
                </a:solidFill>
                <a:latin typeface="Calibri"/>
              </a:rPr>
              <a:t> vendor (Seismic support / Microsoft 365).</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536</a:t>
            </a:r>
          </a:p>
        </p:txBody>
      </p:sp>
    </p:spTree>
  </p:cSld>
  <p:clrMapOvr>
    <a:masterClrMapping/>
  </p:clrMapOvr>
</p:sld>
</file>

<file path=ppt/slides/slide5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 Troubleshooting</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Symptom</a:t>
                      </a:r>
                    </a:p>
                  </a:txBody>
                  <a:tcPr marT="25400" marB="25400">
                    <a:solidFill>
                      <a:srgbClr val="2E5496"/>
                    </a:solidFill>
                  </a:tcPr>
                </a:tc>
                <a:tc>
                  <a:txBody>
                    <a:bodyPr wrap="square"/>
                    <a:lstStyle/>
                    <a:p>
                      <a:r>
                        <a:rPr sz="1050" b="1" i="0">
                          <a:solidFill>
                            <a:srgbClr val="FFFFFF"/>
                          </a:solidFill>
                          <a:latin typeface="Calibri"/>
                        </a:rPr>
                        <a:t>Likely cause</a:t>
                      </a:r>
                    </a:p>
                  </a:txBody>
                  <a:tcPr marT="25400" marB="25400">
                    <a:solidFill>
                      <a:srgbClr val="2E5496"/>
                    </a:solidFill>
                  </a:tcPr>
                </a:tc>
                <a:tc>
                  <a:txBody>
                    <a:bodyPr wrap="square"/>
                    <a:lstStyle/>
                    <a:p>
                      <a:r>
                        <a:rPr sz="1050" b="1" i="0">
                          <a:solidFill>
                            <a:srgbClr val="FFFFFF"/>
                          </a:solidFill>
                          <a:latin typeface="Calibri"/>
                        </a:rPr>
                        <a:t>What to do</a:t>
                      </a:r>
                    </a:p>
                  </a:txBody>
                  <a:tcPr marT="25400" marB="25400">
                    <a:solidFill>
                      <a:srgbClr val="2E5496"/>
                    </a:solidFill>
                  </a:tcPr>
                </a:tc>
              </a:tr>
              <a:tr h="384048">
                <a:tc>
                  <a:txBody>
                    <a:bodyPr wrap="square"/>
                    <a:lstStyle/>
                    <a:p>
                      <a:r>
                        <a:rPr sz="950" b="0" i="0">
                          <a:solidFill>
                            <a:srgbClr val="202020"/>
                          </a:solidFill>
                          <a:latin typeface="Consolas"/>
                        </a:rPr>
                        <a:t>/ready = 503; circuit_breaker_state == 1; DEGRADED MODE in log (event 2000)</a:t>
                      </a:r>
                    </a:p>
                  </a:txBody>
                  <a:tcPr marT="12700" marB="12700">
                    <a:solidFill>
                      <a:srgbClr val="FFFFFF"/>
                    </a:solidFill>
                  </a:tcPr>
                </a:tc>
                <a:tc>
                  <a:txBody>
                    <a:bodyPr wrap="square"/>
                    <a:lstStyle/>
                    <a:p>
                      <a:r>
                        <a:rPr sz="950" b="0" i="0">
                          <a:solidFill>
                            <a:srgbClr val="202020"/>
                          </a:solidFill>
                          <a:latin typeface="Calibri"/>
                        </a:rPr>
                        <a:t>Sustained Seismic or Graph outage; or a local transport (proxy/TLS) change</a:t>
                      </a:r>
                    </a:p>
                  </a:txBody>
                  <a:tcPr marT="12700" marB="12700">
                    <a:solidFill>
                      <a:srgbClr val="FFFFFF"/>
                    </a:solidFill>
                  </a:tcPr>
                </a:tc>
                <a:tc>
                  <a:txBody>
                    <a:bodyPr wrap="square"/>
                    <a:lstStyle/>
                    <a:p>
                      <a:r>
                        <a:rPr sz="950" b="0" i="0">
                          <a:solidFill>
                            <a:srgbClr val="202020"/>
                          </a:solidFill>
                          <a:latin typeface="Calibri"/>
                        </a:rPr>
                        <a:t>Identify the dependency from the /ready body; run validate-config; check the provider status. Degraded mode is correct — it resumes automatically. Do not restart-loop. (breaker-open)</a:t>
                      </a:r>
                    </a:p>
                  </a:txBody>
                  <a:tcPr marT="12700" marB="12700">
                    <a:solidFill>
                      <a:srgbClr val="FFFFFF"/>
                    </a:solidFill>
                  </a:tcPr>
                </a:tc>
              </a:tr>
              <a:tr h="384048">
                <a:tc>
                  <a:txBody>
                    <a:bodyPr wrap="square"/>
                    <a:lstStyle/>
                    <a:p>
                      <a:r>
                        <a:rPr sz="950" b="0" i="0">
                          <a:solidFill>
                            <a:srgbClr val="202020"/>
                          </a:solidFill>
                          <a:latin typeface="Calibri"/>
                        </a:rPr>
                        <a:t>webhook_rejected_total rising; log "rejected request with invalid/missing signature (remote …)"</a:t>
                      </a:r>
                    </a:p>
                  </a:txBody>
                  <a:tcPr marT="12700" marB="12700">
                    <a:solidFill>
                      <a:srgbClr val="F7F9FC"/>
                    </a:solidFill>
                  </a:tcPr>
                </a:tc>
                <a:tc>
                  <a:txBody>
                    <a:bodyPr wrap="square"/>
                    <a:lstStyle/>
                    <a:p>
                      <a:r>
                        <a:rPr sz="950" b="0" i="0">
                          <a:solidFill>
                            <a:srgbClr val="202020"/>
                          </a:solidFill>
                          <a:latin typeface="Calibri"/>
                        </a:rPr>
                        <a:t>Secret-rotation mismatch (benign) OR forgery/probing</a:t>
                      </a:r>
                    </a:p>
                  </a:txBody>
                  <a:tcPr marT="12700" marB="12700">
                    <a:solidFill>
                      <a:srgbClr val="F7F9FC"/>
                    </a:solidFill>
                  </a:tcPr>
                </a:tc>
                <a:tc>
                  <a:txBody>
                    <a:bodyPr wrap="square"/>
                    <a:lstStyle/>
                    <a:p>
                      <a:r>
                        <a:rPr sz="950" b="0" i="0">
                          <a:solidFill>
                            <a:srgbClr val="202020"/>
                          </a:solidFill>
                          <a:latin typeface="Calibri"/>
                        </a:rPr>
                        <a:t>Rotation: one known sender IP, starting at the rotation time — finish the rotation (update the sender). Forgery: unknown/scattered remotes — nothing was enqueued; block at the firewall, tell security. (webhook-401-spike)</a:t>
                      </a:r>
                    </a:p>
                  </a:txBody>
                  <a:tcPr marT="12700" marB="12700">
                    <a:solidFill>
                      <a:srgbClr val="F7F9FC"/>
                    </a:solidFill>
                  </a:tcPr>
                </a:tc>
              </a:tr>
              <a:tr h="384048">
                <a:tc>
                  <a:txBody>
                    <a:bodyPr wrap="square"/>
                    <a:lstStyle/>
                    <a:p>
                      <a:r>
                        <a:rPr sz="950" b="0" i="0">
                          <a:solidFill>
                            <a:srgbClr val="202020"/>
                          </a:solidFill>
                          <a:latin typeface="Calibri"/>
                        </a:rPr>
                        <a:t>Compliance flags an MNE item; last_drift_findings &gt; 0; report lists excluded-but-indexed</a:t>
                      </a:r>
                    </a:p>
                  </a:txBody>
                  <a:tcPr marT="12700" marB="12700">
                    <a:solidFill>
                      <a:srgbClr val="FFFFFF"/>
                    </a:solidFill>
                  </a:tcPr>
                </a:tc>
                <a:tc>
                  <a:txBody>
                    <a:bodyPr wrap="square"/>
                    <a:lstStyle/>
                    <a:p>
                      <a:r>
                        <a:rPr sz="950" b="0" i="0">
                          <a:solidFill>
                            <a:srgbClr val="202020"/>
                          </a:solidFill>
                          <a:latin typeface="Calibri"/>
                        </a:rPr>
                        <a:t>Exclusion rule added after ingest and late-pass not yet run, or reconcile run without --repair</a:t>
                      </a:r>
                    </a:p>
                  </a:txBody>
                  <a:tcPr marT="12700" marB="12700">
                    <a:solidFill>
                      <a:srgbClr val="FFFFFF"/>
                    </a:solidFill>
                  </a:tcPr>
                </a:tc>
                <a:tc>
                  <a:txBody>
                    <a:bodyPr wrap="square"/>
                    <a:lstStyle/>
                    <a:p>
                      <a:r>
                        <a:rPr sz="950" b="0" i="0">
                          <a:solidFill>
                            <a:srgbClr val="202020"/>
                          </a:solidFill>
                          <a:latin typeface="Calibri"/>
                        </a:rPr>
                        <a:t>Run reconcile --repair; verify the withdrawal in the reconciliation report. Any confirmed exposure → compliance officer immediately with the report. (no-mne-reconciliation-drift)</a:t>
                      </a:r>
                    </a:p>
                  </a:txBody>
                  <a:tcPr marT="12700" marB="12700">
                    <a:solidFill>
                      <a:srgbClr val="FFFFFF"/>
                    </a:solidFill>
                  </a:tcPr>
                </a:tc>
              </a:tr>
              <a:tr h="384048">
                <a:tc>
                  <a:txBody>
                    <a:bodyPr wrap="square"/>
                    <a:lstStyle/>
                    <a:p>
                      <a:r>
                        <a:rPr sz="950" b="0" i="0">
                          <a:solidFill>
                            <a:srgbClr val="202020"/>
                          </a:solidFill>
                          <a:latin typeface="Calibri"/>
                        </a:rPr>
                        <a:t>items_reacled_total / acl_drift_detected_total jump; crawl slower</a:t>
                      </a:r>
                    </a:p>
                  </a:txBody>
                  <a:tcPr marT="12700" marB="12700">
                    <a:solidFill>
                      <a:srgbClr val="F7F9FC"/>
                    </a:solidFill>
                  </a:tcPr>
                </a:tc>
                <a:tc>
                  <a:txBody>
                    <a:bodyPr wrap="square"/>
                    <a:lstStyle/>
                    <a:p>
                      <a:r>
                        <a:rPr sz="950" b="0" i="0">
                          <a:solidFill>
                            <a:srgbClr val="202020"/>
                          </a:solidFill>
                          <a:latin typeface="Calibri"/>
                        </a:rPr>
                        <a:t>Real permission change (expected) or flapping fingerprints from a stale identity store</a:t>
                      </a:r>
                    </a:p>
                  </a:txBody>
                  <a:tcPr marT="12700" marB="12700">
                    <a:solidFill>
                      <a:srgbClr val="F7F9FC"/>
                    </a:solidFill>
                  </a:tcPr>
                </a:tc>
                <a:tc>
                  <a:txBody>
                    <a:bodyPr wrap="square"/>
                    <a:lstStyle/>
                    <a:p>
                      <a:r>
                        <a:rPr sz="950" b="0" i="0">
                          <a:solidFill>
                            <a:srgbClr val="202020"/>
                          </a:solidFill>
                          <a:latin typeface="Calibri"/>
                        </a:rPr>
                        <a:t>If a change is known, let it finish (ACL-only PATCHes). If not, run identity-dry-run --save then reacl --dry-run to confirm drift returns to ~0. (re-acl-storm)</a:t>
                      </a:r>
                    </a:p>
                  </a:txBody>
                  <a:tcPr marT="12700" marB="12700">
                    <a:solidFill>
                      <a:srgbClr val="F7F9FC"/>
                    </a:solidFill>
                  </a:tcPr>
                </a:tc>
              </a:tr>
              <a:tr h="384048">
                <a:tc>
                  <a:txBody>
                    <a:bodyPr wrap="square"/>
                    <a:lstStyle/>
                    <a:p>
                      <a:r>
                        <a:rPr sz="950" b="0" i="0">
                          <a:solidFill>
                            <a:srgbClr val="202020"/>
                          </a:solidFill>
                          <a:latin typeface="Calibri"/>
                        </a:rPr>
                        <a:t>After a crash during publishing, unsure if versions were skipped or doubled</a:t>
                      </a:r>
                    </a:p>
                  </a:txBody>
                  <a:tcPr marT="12700" marB="12700">
                    <a:solidFill>
                      <a:srgbClr val="FFFFFF"/>
                    </a:solidFill>
                  </a:tcPr>
                </a:tc>
                <a:tc>
                  <a:txBody>
                    <a:bodyPr wrap="square"/>
                    <a:lstStyle/>
                    <a:p>
                      <a:r>
                        <a:rPr sz="950" b="0" i="0">
                          <a:solidFill>
                            <a:srgbClr val="202020"/>
                          </a:solidFill>
                          <a:latin typeface="Calibri"/>
                        </a:rPr>
                        <a:t>Normal resume behaviour misunderstood</a:t>
                      </a:r>
                    </a:p>
                  </a:txBody>
                  <a:tcPr marT="12700" marB="12700">
                    <a:solidFill>
                      <a:srgbClr val="FFFFFF"/>
                    </a:solidFill>
                  </a:tcPr>
                </a:tc>
                <a:tc>
                  <a:txBody>
                    <a:bodyPr wrap="square"/>
                    <a:lstStyle/>
                    <a:p>
                      <a:r>
                        <a:rPr sz="950" b="0" i="0">
                          <a:solidFill>
                            <a:srgbClr val="202020"/>
                          </a:solidFill>
                          <a:latin typeface="Calibri"/>
                        </a:rPr>
                        <a:t>Nothing to do — supersede is an idempotent in-place update and resume reconciles. For assurance run reconcile (no --repair) for counts. (version-churn-resume)</a:t>
                      </a:r>
                    </a:p>
                  </a:txBody>
                  <a:tcPr marT="12700" marB="12700">
                    <a:solidFill>
                      <a:srgbClr val="FFFFFF"/>
                    </a:solidFill>
                  </a:tcPr>
                </a:tc>
              </a:tr>
              <a:tr h="384048">
                <a:tc>
                  <a:txBody>
                    <a:bodyPr wrap="square"/>
                    <a:lstStyle/>
                    <a:p>
                      <a:r>
                        <a:rPr sz="950" b="0" i="0">
                          <a:solidFill>
                            <a:srgbClr val="202020"/>
                          </a:solidFill>
                          <a:latin typeface="Calibri"/>
                        </a:rPr>
                        <a:t>throttled_429_total climbing; crawls slow; logs full of "429 — retrying"</a:t>
                      </a:r>
                    </a:p>
                  </a:txBody>
                  <a:tcPr marT="12700" marB="12700">
                    <a:solidFill>
                      <a:srgbClr val="F7F9FC"/>
                    </a:solidFill>
                  </a:tcPr>
                </a:tc>
                <a:tc>
                  <a:txBody>
                    <a:bodyPr wrap="square"/>
                    <a:lstStyle/>
                    <a:p>
                      <a:r>
                        <a:rPr sz="950" b="0" i="0">
                          <a:solidFill>
                            <a:srgbClr val="202020"/>
                          </a:solidFill>
                          <a:latin typeface="Calibri"/>
                        </a:rPr>
                        <a:t>Tenant-wide Graph throttling or self-inflicted concurrency</a:t>
                      </a:r>
                    </a:p>
                  </a:txBody>
                  <a:tcPr marT="12700" marB="12700">
                    <a:solidFill>
                      <a:srgbClr val="F7F9FC"/>
                    </a:solidFill>
                  </a:tcPr>
                </a:tc>
                <a:tc>
                  <a:txBody>
                    <a:bodyPr wrap="square"/>
                    <a:lstStyle/>
                    <a:p>
                      <a:r>
                        <a:rPr sz="950" b="0" i="0">
                          <a:solidFill>
                            <a:srgbClr val="202020"/>
                          </a:solidFill>
                          <a:latin typeface="Calibri"/>
                        </a:rPr>
                        <a:t>Let the adaptive backoff ride. If persistent, lower GRAPH_CONCURRENT_BATCHES or set GRAPH_RETRY_JITTER=true; stagger schedules. Never raise GRAPH_MAX_RETRIES to push through. (graph-429-storm)</a:t>
                      </a:r>
                    </a:p>
                  </a:txBody>
                  <a:tcPr marT="12700" marB="12700">
                    <a:solidFill>
                      <a:srgbClr val="F7F9FC"/>
                    </a:solidFill>
                  </a:tcPr>
                </a:tc>
              </a:tr>
              <a:tr h="384048">
                <a:tc>
                  <a:txBody>
                    <a:bodyPr wrap="square"/>
                    <a:lstStyle/>
                    <a:p>
                      <a:r>
                        <a:rPr sz="950" b="0" i="0">
                          <a:solidFill>
                            <a:srgbClr val="202020"/>
                          </a:solidFill>
                          <a:latin typeface="Calibri"/>
                        </a:rPr>
                        <a:t>dead_letter_depth climbing; run summary shows items failed</a:t>
                      </a:r>
                    </a:p>
                  </a:txBody>
                  <a:tcPr marT="12700" marB="12700">
                    <a:solidFill>
                      <a:srgbClr val="FFFFFF"/>
                    </a:solidFill>
                  </a:tcPr>
                </a:tc>
                <a:tc>
                  <a:txBody>
                    <a:bodyPr wrap="square"/>
                    <a:lstStyle/>
                    <a:p>
                      <a:r>
                        <a:rPr sz="950" b="0" i="0">
                          <a:solidFill>
                            <a:srgbClr val="202020"/>
                          </a:solidFill>
                          <a:latin typeface="Calibri"/>
                        </a:rPr>
                        <a:t>Downstream incident (429/503) or per-item payload/schema problem</a:t>
                      </a:r>
                    </a:p>
                  </a:txBody>
                  <a:tcPr marT="12700" marB="12700">
                    <a:solidFill>
                      <a:srgbClr val="FFFFFF"/>
                    </a:solidFill>
                  </a:tcPr>
                </a:tc>
                <a:tc>
                  <a:txBody>
                    <a:bodyPr wrap="square"/>
                    <a:lstStyle/>
                    <a:p>
                      <a:r>
                        <a:rPr sz="950" b="0" i="0">
                          <a:solidFill>
                            <a:srgbClr val="202020"/>
                          </a:solidFill>
                          <a:latin typeface="Calibri"/>
                        </a:rPr>
                        <a:t>Read logs/failed_records_{CONNECTOR_ID}.jsonl, group by error. Transient → retry-failed --clear-on-success after it clears. Payload/schema → fix, then retry-failed. Never hand-edit the file. (dead-letter-growth)</a:t>
                      </a:r>
                    </a:p>
                  </a:txBody>
                  <a:tcPr marT="12700" marB="12700">
                    <a:solidFill>
                      <a:srgbClr val="FFFFFF"/>
                    </a:solidFill>
                  </a:tcPr>
                </a:tc>
              </a:tr>
              <a:tr h="384048">
                <a:tc>
                  <a:txBody>
                    <a:bodyPr wrap="square"/>
                    <a:lstStyle/>
                    <a:p>
                      <a:r>
                        <a:rPr sz="950" b="0" i="0">
                          <a:solidFill>
                            <a:srgbClr val="202020"/>
                          </a:solidFill>
                          <a:latin typeface="Calibri"/>
                        </a:rPr>
                        <a:t>Crawl fails immediately; log "token request failed" (event 3000)</a:t>
                      </a:r>
                    </a:p>
                  </a:txBody>
                  <a:tcPr marT="12700" marB="12700">
                    <a:solidFill>
                      <a:srgbClr val="F7F9FC"/>
                    </a:solidFill>
                  </a:tcPr>
                </a:tc>
                <a:tc>
                  <a:txBody>
                    <a:bodyPr wrap="square"/>
                    <a:lstStyle/>
                    <a:p>
                      <a:r>
                        <a:rPr sz="950" b="0" i="0">
                          <a:solidFill>
                            <a:srgbClr val="202020"/>
                          </a:solidFill>
                          <a:latin typeface="Calibri"/>
                        </a:rPr>
                        <a:t>Expired/rotated secret, wrong tenant/client id, or revoked certificate</a:t>
                      </a:r>
                    </a:p>
                  </a:txBody>
                  <a:tcPr marT="12700" marB="12700">
                    <a:solidFill>
                      <a:srgbClr val="F7F9FC"/>
                    </a:solidFill>
                  </a:tcPr>
                </a:tc>
                <a:tc>
                  <a:txBody>
                    <a:bodyPr wrap="square"/>
                    <a:lstStyle/>
                    <a:p>
                      <a:r>
                        <a:rPr sz="950" b="0" i="0">
                          <a:solidFill>
                            <a:srgbClr val="202020"/>
                          </a:solidFill>
                          <a:latin typeface="Calibri"/>
                        </a:rPr>
                        <a:t>The error names the side (Seismic vs. login.microsoftonline.com). Run validate-config; check secret/cert expiry; rotate per the security runbook. Key Vault: fix the vault value (picked up next cycle). (oauth-failure)</a:t>
                      </a:r>
                    </a:p>
                  </a:txBody>
                  <a:tcPr marT="12700" marB="12700">
                    <a:solidFill>
                      <a:srgbClr val="F7F9FC"/>
                    </a:solidFill>
                  </a:tcPr>
                </a:tc>
              </a:tr>
              <a:tr h="384048">
                <a:tc>
                  <a:txBody>
                    <a:bodyPr wrap="square"/>
                    <a:lstStyle/>
                    <a:p>
                      <a:r>
                        <a:rPr sz="950" b="0" i="0">
                          <a:solidFill>
                            <a:srgbClr val="202020"/>
                          </a:solidFill>
                          <a:latin typeface="Calibri"/>
                        </a:rPr>
                        <a:t>HA node died mid-crawl; claims stuck; survivors idle while work remains</a:t>
                      </a:r>
                    </a:p>
                  </a:txBody>
                  <a:tcPr marT="12700" marB="12700">
                    <a:solidFill>
                      <a:srgbClr val="FFFFFF"/>
                    </a:solidFill>
                  </a:tcPr>
                </a:tc>
                <a:tc>
                  <a:txBody>
                    <a:bodyPr wrap="square"/>
                    <a:lstStyle/>
                    <a:p>
                      <a:r>
                        <a:rPr sz="950" b="0" i="0">
                          <a:solidFill>
                            <a:srgbClr val="202020"/>
                          </a:solidFill>
                          <a:latin typeface="Calibri"/>
                        </a:rPr>
                        <a:t>Stale claim heartbeat after a node failure</a:t>
                      </a:r>
                    </a:p>
                  </a:txBody>
                  <a:tcPr marT="12700" marB="12700">
                    <a:solidFill>
                      <a:srgbClr val="FFFFFF"/>
                    </a:solidFill>
                  </a:tcPr>
                </a:tc>
                <a:tc>
                  <a:txBody>
                    <a:bodyPr wrap="square"/>
                    <a:lstStyle/>
                    <a:p>
                      <a:r>
                        <a:rPr sz="950" b="0" i="0">
                          <a:solidFill>
                            <a:srgbClr val="202020"/>
                          </a:solidFill>
                          <a:latin typeface="Calibri"/>
                        </a:rPr>
                        <a:t>Usually nothing — survivors steal stale claims automatically and the crawl closes. Restart the dead node when convenient. Escalate L2 only if claims stay stuck past 2× the timeout. (ha-failover / ha-lease-stuck)</a:t>
                      </a:r>
                    </a:p>
                  </a:txBody>
                  <a:tcPr marT="12700" marB="12700">
                    <a:solidFill>
                      <a:srgbClr val="FFFFFF"/>
                    </a:solidFill>
                  </a:tcPr>
                </a:tc>
              </a:tr>
              <a:tr h="384048">
                <a:tc>
                  <a:txBody>
                    <a:bodyPr wrap="square"/>
                    <a:lstStyle/>
                    <a:p>
                      <a:r>
                        <a:rPr sz="950" b="0" i="0">
                          <a:solidFill>
                            <a:srgbClr val="202020"/>
                          </a:solidFill>
                          <a:latin typeface="Calibri"/>
                        </a:rPr>
                        <a:t>Startup/crawl errors parsing state files; SQLite "disk image is malformed"</a:t>
                      </a:r>
                    </a:p>
                  </a:txBody>
                  <a:tcPr marT="12700" marB="12700">
                    <a:solidFill>
                      <a:srgbClr val="F7F9FC"/>
                    </a:solidFill>
                  </a:tcPr>
                </a:tc>
                <a:tc>
                  <a:txBody>
                    <a:bodyPr wrap="square"/>
                    <a:lstStyle/>
                    <a:p>
                      <a:r>
                        <a:rPr sz="950" b="0" i="0">
                          <a:solidFill>
                            <a:srgbClr val="202020"/>
                          </a:solidFill>
                          <a:latin typeface="Calibri"/>
                        </a:rPr>
                        <a:t>Corrupt state artifact</a:t>
                      </a:r>
                    </a:p>
                  </a:txBody>
                  <a:tcPr marT="12700" marB="12700">
                    <a:solidFill>
                      <a:srgbClr val="F7F9FC"/>
                    </a:solidFill>
                  </a:tcPr>
                </a:tc>
                <a:tc>
                  <a:txBody>
                    <a:bodyPr wrap="square"/>
                    <a:lstStyle/>
                    <a:p>
                      <a:r>
                        <a:rPr sz="950" b="0" i="0">
                          <a:solidFill>
                            <a:srgbClr val="202020"/>
                          </a:solidFill>
                          <a:latin typeface="Calibri"/>
                        </a:rPr>
                        <a:t>JSON state files self-heal (treated as absent → a full crawl). For a corrupt identity DB, restore per DR, or delete data/{CONNECTOR_ID}_identity.db and rerun identity-dry-run --save + full-deployment. Preserve a copy if it recurs. (state-corruption)</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537</a:t>
            </a:r>
          </a:p>
        </p:txBody>
      </p:sp>
    </p:spTree>
  </p:cSld>
  <p:clrMapOvr>
    <a:masterClrMapping/>
  </p:clrMapOvr>
</p:sld>
</file>

<file path=ppt/slides/slide5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 Troubleshooting (cont.)</a:t>
            </a:r>
          </a:p>
        </p:txBody>
      </p:sp>
      <p:graphicFrame>
        <p:nvGraphicFramePr>
          <p:cNvPr id="5" name="Table 4"/>
          <p:cNvGraphicFramePr>
            <a:graphicFrameLocks noGrp="1"/>
          </p:cNvGraphicFramePr>
          <p:nvPr/>
        </p:nvGraphicFramePr>
        <p:xfrm>
          <a:off x="502920" y="1188720"/>
          <a:ext cx="11185855" cy="768096"/>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Symptom</a:t>
                      </a:r>
                    </a:p>
                  </a:txBody>
                  <a:tcPr marT="25400" marB="25400">
                    <a:solidFill>
                      <a:srgbClr val="2E5496"/>
                    </a:solidFill>
                  </a:tcPr>
                </a:tc>
                <a:tc>
                  <a:txBody>
                    <a:bodyPr wrap="square"/>
                    <a:lstStyle/>
                    <a:p>
                      <a:r>
                        <a:rPr sz="1050" b="1" i="0">
                          <a:solidFill>
                            <a:srgbClr val="FFFFFF"/>
                          </a:solidFill>
                          <a:latin typeface="Calibri"/>
                        </a:rPr>
                        <a:t>Likely cause</a:t>
                      </a:r>
                    </a:p>
                  </a:txBody>
                  <a:tcPr marT="25400" marB="25400">
                    <a:solidFill>
                      <a:srgbClr val="2E5496"/>
                    </a:solidFill>
                  </a:tcPr>
                </a:tc>
                <a:tc>
                  <a:txBody>
                    <a:bodyPr wrap="square"/>
                    <a:lstStyle/>
                    <a:p>
                      <a:r>
                        <a:rPr sz="1050" b="1" i="0">
                          <a:solidFill>
                            <a:srgbClr val="FFFFFF"/>
                          </a:solidFill>
                          <a:latin typeface="Calibri"/>
                        </a:rPr>
                        <a:t>What to do</a:t>
                      </a:r>
                    </a:p>
                  </a:txBody>
                  <a:tcPr marT="25400" marB="25400">
                    <a:solidFill>
                      <a:srgbClr val="2E5496"/>
                    </a:solidFill>
                  </a:tcPr>
                </a:tc>
              </a:tr>
              <a:tr h="384048">
                <a:tc>
                  <a:txBody>
                    <a:bodyPr wrap="square"/>
                    <a:lstStyle/>
                    <a:p>
                      <a:r>
                        <a:rPr sz="950" b="0" i="0">
                          <a:solidFill>
                            <a:srgbClr val="202020"/>
                          </a:solidFill>
                          <a:latin typeface="Calibri"/>
                        </a:rPr>
                        <a:t>EVENTLOG_ENABLED=true but nothing in the Application log</a:t>
                      </a:r>
                    </a:p>
                  </a:txBody>
                  <a:tcPr marT="12700" marB="12700">
                    <a:solidFill>
                      <a:srgbClr val="FFFFFF"/>
                    </a:solidFill>
                  </a:tcPr>
                </a:tc>
                <a:tc>
                  <a:txBody>
                    <a:bodyPr wrap="square"/>
                    <a:lstStyle/>
                    <a:p>
                      <a:r>
                        <a:rPr sz="950" b="0" i="0">
                          <a:solidFill>
                            <a:srgbClr val="202020"/>
                          </a:solidFill>
                          <a:latin typeface="Calibri"/>
                        </a:rPr>
                        <a:t>Event Log source missing (installer not run elevated) or account lacks write</a:t>
                      </a:r>
                    </a:p>
                  </a:txBody>
                  <a:tcPr marT="12700" marB="12700">
                    <a:solidFill>
                      <a:srgbClr val="FFFFFF"/>
                    </a:solidFill>
                  </a:tcPr>
                </a:tc>
                <a:tc>
                  <a:txBody>
                    <a:bodyPr wrap="square"/>
                    <a:lstStyle/>
                    <a:p>
                      <a:r>
                        <a:rPr sz="950" b="0" i="0">
                          <a:solidFill>
                            <a:srgbClr val="202020"/>
                          </a:solidFill>
                          <a:latin typeface="Calibri"/>
                        </a:rPr>
                        <a:t>Re-run the install script elevated, or create the source once, then restart. The sink never throws — the run log still has the warnings. (eventlog-silent)</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538</a:t>
            </a:r>
          </a:p>
        </p:txBody>
      </p:sp>
    </p:spTree>
  </p:cSld>
  <p:clrMapOvr>
    <a:masterClrMapping/>
  </p:clrMapOvr>
</p:sld>
</file>

<file path=ppt/slides/slide5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 Troubleshooting</a:t>
            </a:r>
          </a:p>
        </p:txBody>
      </p:sp>
      <p:sp>
        <p:nvSpPr>
          <p:cNvPr id="5" name="Rectangle 4"/>
          <p:cNvSpPr/>
          <p:nvPr/>
        </p:nvSpPr>
        <p:spPr>
          <a:xfrm>
            <a:off x="502920" y="1463040"/>
            <a:ext cx="11185855" cy="329184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5496"/>
                </a:solidFill>
                <a:latin typeface="Calibri"/>
              </a:rPr>
              <a:t>Note:  </a:t>
            </a:r>
            <a:r>
              <a:rPr sz="1400" b="1" i="0">
                <a:solidFill>
                  <a:srgbClr val="202020"/>
                </a:solidFill>
                <a:latin typeface="Calibri"/>
              </a:rPr>
              <a:t>Note: </a:t>
            </a:r>
            <a:r>
              <a:rPr sz="1400" b="0" i="0">
                <a:solidFill>
                  <a:srgbClr val="202020"/>
                </a:solidFill>
                <a:latin typeface="Calibri"/>
              </a:rPr>
              <a:t>Every dead-letter record, reconciliation line, and JSON log line for one crawl shares a </a:t>
            </a:r>
            <a:r>
              <a:rPr sz="1350" b="0" i="0">
                <a:solidFill>
                  <a:srgbClr val="202020"/>
                </a:solidFill>
                <a:latin typeface="Consolas"/>
              </a:rPr>
              <a:t>correlation_id</a:t>
            </a:r>
            <a:r>
              <a:rPr sz="1400" b="0" i="0">
                <a:solidFill>
                  <a:srgbClr val="202020"/>
                </a:solidFill>
                <a:latin typeface="Calibri"/>
              </a:rPr>
              <a:t>. Quote it when escalating — it lets L2/L3 pull the whole crawl's history in one query.</a:t>
            </a:r>
          </a:p>
        </p:txBody>
      </p:sp>
      <p:sp>
        <p:nvSpPr>
          <p:cNvPr id="6" name="Rectangle 5"/>
          <p:cNvSpPr/>
          <p:nvPr/>
        </p:nvSpPr>
        <p:spPr>
          <a:xfrm>
            <a:off x="502920" y="1463040"/>
            <a:ext cx="128016" cy="329184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539</a:t>
            </a:r>
          </a:p>
        </p:txBody>
      </p:sp>
    </p:spTree>
  </p:cSld>
  <p:clrMapOvr>
    <a:masterClrMapping/>
  </p:clrMapOvr>
</p:sld>
</file>

<file path=ppt/slides/slide5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Seismic Connector</a:t>
            </a:r>
          </a:p>
          <a:p>
            <a:r>
              <a:rPr sz="3000" b="1" i="0">
                <a:solidFill>
                  <a:srgbClr val="1F3864"/>
                </a:solidFill>
                <a:latin typeface="Calibri"/>
              </a:rPr>
              <a:t>15. Configuration reference</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540</a:t>
            </a:r>
          </a:p>
        </p:txBody>
      </p:sp>
    </p:spTree>
  </p:cSld>
  <p:clrMapOvr>
    <a:masterClrMapping/>
  </p:clrMapOvr>
</p:sld>
</file>

<file path=ppt/slides/slide5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15. Configuration reference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full set of environment variables, grouped by area. Precedence is lowest to highest: </a:t>
            </a:r>
            <a:r>
              <a:rPr sz="1200" b="0" i="0">
                <a:solidFill>
                  <a:srgbClr val="202020"/>
                </a:solidFill>
                <a:latin typeface="Consolas"/>
              </a:rPr>
              <a:t>env/.env.local</a:t>
            </a:r>
            <a:r>
              <a:rPr sz="1250" b="0" i="0">
                <a:solidFill>
                  <a:srgbClr val="202020"/>
                </a:solidFill>
                <a:latin typeface="Calibri"/>
              </a:rPr>
              <a:t> (non-secret), then </a:t>
            </a:r>
            <a:r>
              <a:rPr sz="1200" b="0" i="0">
                <a:solidFill>
                  <a:srgbClr val="202020"/>
                </a:solidFill>
                <a:latin typeface="Consolas"/>
              </a:rPr>
              <a:t>env/.env.local.user</a:t>
            </a:r>
            <a:r>
              <a:rPr sz="1250" b="0" i="0">
                <a:solidFill>
                  <a:srgbClr val="202020"/>
                </a:solidFill>
                <a:latin typeface="Calibri"/>
              </a:rPr>
              <a:t> (</a:t>
            </a:r>
            <a:r>
              <a:rPr sz="1200" b="0" i="0">
                <a:solidFill>
                  <a:srgbClr val="202020"/>
                </a:solidFill>
                <a:latin typeface="Consolas"/>
              </a:rPr>
              <a:t>SECRET_*</a:t>
            </a:r>
            <a:r>
              <a:rPr sz="1250" b="0" i="0">
                <a:solidFill>
                  <a:srgbClr val="202020"/>
                </a:solidFill>
                <a:latin typeface="Calibri"/>
              </a:rPr>
              <a:t>), then the real process environment (always wins, so a container or service env block can override anything). Every operational knob is OFF by default.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541</a:t>
            </a:r>
          </a:p>
        </p:txBody>
      </p:sp>
    </p:spTree>
  </p:cSld>
  <p:clrMapOvr>
    <a:masterClrMapping/>
  </p:clrMapOvr>
</p:sld>
</file>

<file path=ppt/slides/slide5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Core / identity (required)</a:t>
            </a:r>
          </a:p>
        </p:txBody>
      </p:sp>
      <p:graphicFrame>
        <p:nvGraphicFramePr>
          <p:cNvPr id="5" name="Table 4"/>
          <p:cNvGraphicFramePr>
            <a:graphicFrameLocks noGrp="1"/>
          </p:cNvGraphicFramePr>
          <p:nvPr/>
        </p:nvGraphicFramePr>
        <p:xfrm>
          <a:off x="502920" y="1188720"/>
          <a:ext cx="11185855" cy="1536192"/>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Default</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r>
              <a:tr h="384048">
                <a:tc>
                  <a:txBody>
                    <a:bodyPr wrap="square"/>
                    <a:lstStyle/>
                    <a:p>
                      <a:r>
                        <a:rPr sz="950" b="0" i="0">
                          <a:solidFill>
                            <a:srgbClr val="202020"/>
                          </a:solidFill>
                          <a:latin typeface="Consolas"/>
                        </a:rPr>
                        <a:t>CONNECTOR_ID</a:t>
                      </a:r>
                    </a:p>
                  </a:txBody>
                  <a:tcPr marT="12700" marB="12700">
                    <a:solidFill>
                      <a:srgbClr val="FFFFFF"/>
                    </a:solidFill>
                  </a:tcPr>
                </a:tc>
                <a:tc>
                  <a:txBody>
                    <a:bodyPr wrap="square"/>
                    <a:lstStyle/>
                    <a:p>
                      <a:r>
                        <a:rPr sz="950" b="0" i="0">
                          <a:solidFill>
                            <a:srgbClr val="202020"/>
                          </a:solidFill>
                          <a:latin typeface="Calibri"/>
                        </a:rPr>
                        <a:t>(required)</a:t>
                      </a:r>
                    </a:p>
                  </a:txBody>
                  <a:tcPr marT="12700" marB="12700">
                    <a:solidFill>
                      <a:srgbClr val="FFFFFF"/>
                    </a:solidFill>
                  </a:tcPr>
                </a:tc>
                <a:tc>
                  <a:txBody>
                    <a:bodyPr wrap="square"/>
                    <a:lstStyle/>
                    <a:p>
                      <a:r>
                        <a:rPr sz="950" b="0" i="0">
                          <a:solidFill>
                            <a:srgbClr val="202020"/>
                          </a:solidFill>
                          <a:latin typeface="Calibri"/>
                        </a:rPr>
                        <a:t>Graph connection id and key for all on-disk state. 3–32 alphanumeric chars, not a reserved Microsoft prefix</a:t>
                      </a:r>
                    </a:p>
                  </a:txBody>
                  <a:tcPr marT="12700" marB="12700">
                    <a:solidFill>
                      <a:srgbClr val="FFFFFF"/>
                    </a:solidFill>
                  </a:tcPr>
                </a:tc>
              </a:tr>
              <a:tr h="384048">
                <a:tc>
                  <a:txBody>
                    <a:bodyPr wrap="square"/>
                    <a:lstStyle/>
                    <a:p>
                      <a:r>
                        <a:rPr sz="950" b="0" i="0">
                          <a:solidFill>
                            <a:srgbClr val="202020"/>
                          </a:solidFill>
                          <a:latin typeface="Consolas"/>
                        </a:rPr>
                        <a:t>CONNECTOR_NAME</a:t>
                      </a:r>
                    </a:p>
                  </a:txBody>
                  <a:tcPr marT="12700" marB="12700">
                    <a:solidFill>
                      <a:srgbClr val="F7F9FC"/>
                    </a:solidFill>
                  </a:tcPr>
                </a:tc>
                <a:tc>
                  <a:txBody>
                    <a:bodyPr wrap="square"/>
                    <a:lstStyle/>
                    <a:p>
                      <a:r>
                        <a:rPr sz="950" b="0" i="0">
                          <a:solidFill>
                            <a:srgbClr val="202020"/>
                          </a:solidFill>
                          <a:latin typeface="Calibri"/>
                        </a:rPr>
                        <a:t>(required)</a:t>
                      </a:r>
                    </a:p>
                  </a:txBody>
                  <a:tcPr marT="12700" marB="12700">
                    <a:solidFill>
                      <a:srgbClr val="F7F9FC"/>
                    </a:solidFill>
                  </a:tcPr>
                </a:tc>
                <a:tc>
                  <a:txBody>
                    <a:bodyPr wrap="square"/>
                    <a:lstStyle/>
                    <a:p>
                      <a:r>
                        <a:rPr sz="950" b="0" i="0">
                          <a:solidFill>
                            <a:srgbClr val="202020"/>
                          </a:solidFill>
                          <a:latin typeface="Calibri"/>
                        </a:rPr>
                        <a:t>Display name in the Microsoft 365 admin center</a:t>
                      </a:r>
                    </a:p>
                  </a:txBody>
                  <a:tcPr marT="12700" marB="12700">
                    <a:solidFill>
                      <a:srgbClr val="F7F9FC"/>
                    </a:solidFill>
                  </a:tcPr>
                </a:tc>
              </a:tr>
              <a:tr h="384048">
                <a:tc>
                  <a:txBody>
                    <a:bodyPr wrap="square"/>
                    <a:lstStyle/>
                    <a:p>
                      <a:r>
                        <a:rPr sz="950" b="0" i="0">
                          <a:solidFill>
                            <a:srgbClr val="202020"/>
                          </a:solidFill>
                          <a:latin typeface="Consolas"/>
                        </a:rPr>
                        <a:t>CONNECTOR_DESCRIPTION</a:t>
                      </a:r>
                    </a:p>
                  </a:txBody>
                  <a:tcPr marT="12700" marB="12700">
                    <a:solidFill>
                      <a:srgbClr val="FFFFFF"/>
                    </a:solidFill>
                  </a:tcPr>
                </a:tc>
                <a:tc>
                  <a:txBody>
                    <a:bodyPr wrap="square"/>
                    <a:lstStyle/>
                    <a:p>
                      <a:r>
                        <a:rPr sz="950" b="0" i="0">
                          <a:solidFill>
                            <a:srgbClr val="202020"/>
                          </a:solidFill>
                          <a:latin typeface="Calibri"/>
                        </a:rPr>
                        <a:t>(required)</a:t>
                      </a:r>
                    </a:p>
                  </a:txBody>
                  <a:tcPr marT="12700" marB="12700">
                    <a:solidFill>
                      <a:srgbClr val="FFFFFF"/>
                    </a:solidFill>
                  </a:tcPr>
                </a:tc>
                <a:tc>
                  <a:txBody>
                    <a:bodyPr wrap="square"/>
                    <a:lstStyle/>
                    <a:p>
                      <a:r>
                        <a:rPr sz="950" b="0" i="0">
                          <a:solidFill>
                            <a:srgbClr val="202020"/>
                          </a:solidFill>
                          <a:latin typeface="Calibri"/>
                        </a:rPr>
                        <a:t>Short description shown in Search / Copilot</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542</a:t>
            </a:r>
          </a:p>
        </p:txBody>
      </p:sp>
    </p:spTree>
  </p:cSld>
  <p:clrMapOvr>
    <a:masterClrMapping/>
  </p:clrMapOvr>
</p:sld>
</file>

<file path=ppt/slides/slide5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Seismic</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Default</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r>
              <a:tr h="384048">
                <a:tc>
                  <a:txBody>
                    <a:bodyPr wrap="square"/>
                    <a:lstStyle/>
                    <a:p>
                      <a:r>
                        <a:rPr sz="950" b="0" i="0">
                          <a:solidFill>
                            <a:srgbClr val="202020"/>
                          </a:solidFill>
                          <a:latin typeface="Consolas"/>
                        </a:rPr>
                        <a:t>SEISMIC_TENANT</a:t>
                      </a:r>
                    </a:p>
                  </a:txBody>
                  <a:tcPr marT="12700" marB="12700">
                    <a:solidFill>
                      <a:srgbClr val="FFFFFF"/>
                    </a:solidFill>
                  </a:tcPr>
                </a:tc>
                <a:tc>
                  <a:txBody>
                    <a:bodyPr wrap="square"/>
                    <a:lstStyle/>
                    <a:p>
                      <a:r>
                        <a:rPr sz="950" b="0" i="0">
                          <a:solidFill>
                            <a:srgbClr val="202020"/>
                          </a:solidFill>
                          <a:latin typeface="Calibri"/>
                        </a:rPr>
                        <a:t>(required)</a:t>
                      </a:r>
                    </a:p>
                  </a:txBody>
                  <a:tcPr marT="12700" marB="12700">
                    <a:solidFill>
                      <a:srgbClr val="FFFFFF"/>
                    </a:solidFill>
                  </a:tcPr>
                </a:tc>
                <a:tc>
                  <a:txBody>
                    <a:bodyPr wrap="square"/>
                    <a:lstStyle/>
                    <a:p>
                      <a:r>
                        <a:rPr sz="950" b="0" i="0">
                          <a:solidFill>
                            <a:srgbClr val="202020"/>
                          </a:solidFill>
                          <a:latin typeface="Calibri"/>
                        </a:rPr>
                        <a:t>Tenant subdomain, e.g. contoso</a:t>
                      </a:r>
                    </a:p>
                  </a:txBody>
                  <a:tcPr marT="12700" marB="12700">
                    <a:solidFill>
                      <a:srgbClr val="FFFFFF"/>
                    </a:solidFill>
                  </a:tcPr>
                </a:tc>
              </a:tr>
              <a:tr h="384048">
                <a:tc>
                  <a:txBody>
                    <a:bodyPr wrap="square"/>
                    <a:lstStyle/>
                    <a:p>
                      <a:r>
                        <a:rPr sz="950" b="0" i="0">
                          <a:solidFill>
                            <a:srgbClr val="202020"/>
                          </a:solidFill>
                          <a:latin typeface="Consolas"/>
                        </a:rPr>
                        <a:t>SEISMIC_CLIENT_ID</a:t>
                      </a:r>
                    </a:p>
                  </a:txBody>
                  <a:tcPr marT="12700" marB="12700">
                    <a:solidFill>
                      <a:srgbClr val="F7F9FC"/>
                    </a:solidFill>
                  </a:tcPr>
                </a:tc>
                <a:tc>
                  <a:txBody>
                    <a:bodyPr wrap="square"/>
                    <a:lstStyle/>
                    <a:p>
                      <a:r>
                        <a:rPr sz="950" b="0" i="0">
                          <a:solidFill>
                            <a:srgbClr val="202020"/>
                          </a:solidFill>
                          <a:latin typeface="Calibri"/>
                        </a:rPr>
                        <a:t>(required)</a:t>
                      </a:r>
                    </a:p>
                  </a:txBody>
                  <a:tcPr marT="12700" marB="12700">
                    <a:solidFill>
                      <a:srgbClr val="F7F9FC"/>
                    </a:solidFill>
                  </a:tcPr>
                </a:tc>
                <a:tc>
                  <a:txBody>
                    <a:bodyPr wrap="square"/>
                    <a:lstStyle/>
                    <a:p>
                      <a:r>
                        <a:rPr sz="950" b="0" i="0">
                          <a:solidFill>
                            <a:srgbClr val="202020"/>
                          </a:solidFill>
                          <a:latin typeface="Calibri"/>
                        </a:rPr>
                        <a:t>OAuth2 client-credentials client id</a:t>
                      </a:r>
                    </a:p>
                  </a:txBody>
                  <a:tcPr marT="12700" marB="12700">
                    <a:solidFill>
                      <a:srgbClr val="F7F9FC"/>
                    </a:solidFill>
                  </a:tcPr>
                </a:tc>
              </a:tr>
              <a:tr h="384048">
                <a:tc>
                  <a:txBody>
                    <a:bodyPr wrap="square"/>
                    <a:lstStyle/>
                    <a:p>
                      <a:r>
                        <a:rPr sz="950" b="0" i="0">
                          <a:solidFill>
                            <a:srgbClr val="202020"/>
                          </a:solidFill>
                          <a:latin typeface="Consolas"/>
                        </a:rPr>
                        <a:t>SECRET_SEISMIC_CLIENT_SECRET</a:t>
                      </a:r>
                    </a:p>
                  </a:txBody>
                  <a:tcPr marT="12700" marB="12700">
                    <a:solidFill>
                      <a:srgbClr val="FFFFFF"/>
                    </a:solidFill>
                  </a:tcPr>
                </a:tc>
                <a:tc>
                  <a:txBody>
                    <a:bodyPr wrap="square"/>
                    <a:lstStyle/>
                    <a:p>
                      <a:r>
                        <a:rPr sz="950" b="0" i="0">
                          <a:solidFill>
                            <a:srgbClr val="202020"/>
                          </a:solidFill>
                          <a:latin typeface="Calibri"/>
                        </a:rPr>
                        <a:t>(required)</a:t>
                      </a:r>
                    </a:p>
                  </a:txBody>
                  <a:tcPr marT="12700" marB="12700">
                    <a:solidFill>
                      <a:srgbClr val="FFFFFF"/>
                    </a:solidFill>
                  </a:tcPr>
                </a:tc>
                <a:tc>
                  <a:txBody>
                    <a:bodyPr wrap="square"/>
                    <a:lstStyle/>
                    <a:p>
                      <a:r>
                        <a:rPr sz="950" b="0" i="0">
                          <a:solidFill>
                            <a:srgbClr val="202020"/>
                          </a:solidFill>
                          <a:latin typeface="Calibri"/>
                        </a:rPr>
                        <a:t>Seismic client secret (secret channel / Key Vault)</a:t>
                      </a:r>
                    </a:p>
                  </a:txBody>
                  <a:tcPr marT="12700" marB="12700">
                    <a:solidFill>
                      <a:srgbClr val="FFFFFF"/>
                    </a:solidFill>
                  </a:tcPr>
                </a:tc>
              </a:tr>
              <a:tr h="384048">
                <a:tc>
                  <a:txBody>
                    <a:bodyPr wrap="square"/>
                    <a:lstStyle/>
                    <a:p>
                      <a:r>
                        <a:rPr sz="950" b="0" i="0">
                          <a:solidFill>
                            <a:srgbClr val="202020"/>
                          </a:solidFill>
                          <a:latin typeface="Consolas"/>
                        </a:rPr>
                        <a:t>SEISMIC_API_BASE_URL</a:t>
                      </a:r>
                    </a:p>
                  </a:txBody>
                  <a:tcPr marT="12700" marB="12700">
                    <a:solidFill>
                      <a:srgbClr val="F7F9FC"/>
                    </a:solidFill>
                  </a:tcPr>
                </a:tc>
                <a:tc>
                  <a:txBody>
                    <a:bodyPr wrap="square"/>
                    <a:lstStyle/>
                    <a:p>
                      <a:r>
                        <a:rPr sz="950" b="0" i="0">
                          <a:solidFill>
                            <a:srgbClr val="202020"/>
                          </a:solidFill>
                          <a:latin typeface="Calibri"/>
                        </a:rPr>
                        <a:t>api.seismic.com</a:t>
                      </a:r>
                    </a:p>
                  </a:txBody>
                  <a:tcPr marT="12700" marB="12700">
                    <a:solidFill>
                      <a:srgbClr val="F7F9FC"/>
                    </a:solidFill>
                  </a:tcPr>
                </a:tc>
                <a:tc>
                  <a:txBody>
                    <a:bodyPr wrap="square"/>
                    <a:lstStyle/>
                    <a:p>
                      <a:r>
                        <a:rPr sz="950" b="0" i="0">
                          <a:solidFill>
                            <a:srgbClr val="202020"/>
                          </a:solidFill>
                          <a:latin typeface="Calibri"/>
                        </a:rPr>
                        <a:t>API base URL</a:t>
                      </a:r>
                    </a:p>
                  </a:txBody>
                  <a:tcPr marT="12700" marB="12700">
                    <a:solidFill>
                      <a:srgbClr val="F7F9FC"/>
                    </a:solidFill>
                  </a:tcPr>
                </a:tc>
              </a:tr>
              <a:tr h="384048">
                <a:tc>
                  <a:txBody>
                    <a:bodyPr wrap="square"/>
                    <a:lstStyle/>
                    <a:p>
                      <a:r>
                        <a:rPr sz="950" b="0" i="0">
                          <a:solidFill>
                            <a:srgbClr val="202020"/>
                          </a:solidFill>
                          <a:latin typeface="Consolas"/>
                        </a:rPr>
                        <a:t>SEISMIC_AUTH_URL</a:t>
                      </a:r>
                    </a:p>
                  </a:txBody>
                  <a:tcPr marT="12700" marB="12700">
                    <a:solidFill>
                      <a:srgbClr val="FFFFFF"/>
                    </a:solidFill>
                  </a:tcPr>
                </a:tc>
                <a:tc>
                  <a:txBody>
                    <a:bodyPr wrap="square"/>
                    <a:lstStyle/>
                    <a:p>
                      <a:r>
                        <a:rPr sz="950" b="0" i="0">
                          <a:solidFill>
                            <a:srgbClr val="202020"/>
                          </a:solidFill>
                          <a:latin typeface="Calibri"/>
                        </a:rPr>
                        <a:t>(tenant token URL)</a:t>
                      </a:r>
                    </a:p>
                  </a:txBody>
                  <a:tcPr marT="12700" marB="12700">
                    <a:solidFill>
                      <a:srgbClr val="FFFFFF"/>
                    </a:solidFill>
                  </a:tcPr>
                </a:tc>
                <a:tc>
                  <a:txBody>
                    <a:bodyPr wrap="square"/>
                    <a:lstStyle/>
                    <a:p>
                      <a:r>
                        <a:rPr sz="950" b="0" i="0">
                          <a:solidFill>
                            <a:srgbClr val="202020"/>
                          </a:solidFill>
                          <a:latin typeface="Calibri"/>
                        </a:rPr>
                        <a:t>Override the OAuth token endpoint</a:t>
                      </a:r>
                    </a:p>
                  </a:txBody>
                  <a:tcPr marT="12700" marB="12700">
                    <a:solidFill>
                      <a:srgbClr val="FFFFFF"/>
                    </a:solidFill>
                  </a:tcPr>
                </a:tc>
              </a:tr>
              <a:tr h="384048">
                <a:tc>
                  <a:txBody>
                    <a:bodyPr wrap="square"/>
                    <a:lstStyle/>
                    <a:p>
                      <a:r>
                        <a:rPr sz="950" b="0" i="0">
                          <a:solidFill>
                            <a:srgbClr val="202020"/>
                          </a:solidFill>
                          <a:latin typeface="Consolas"/>
                        </a:rPr>
                        <a:t>SEISMIC_PAGE_SIZE</a:t>
                      </a:r>
                    </a:p>
                  </a:txBody>
                  <a:tcPr marT="12700" marB="12700">
                    <a:solidFill>
                      <a:srgbClr val="F7F9FC"/>
                    </a:solidFill>
                  </a:tcPr>
                </a:tc>
                <a:tc>
                  <a:txBody>
                    <a:bodyPr wrap="square"/>
                    <a:lstStyle/>
                    <a:p>
                      <a:r>
                        <a:rPr sz="950" b="0" i="0">
                          <a:solidFill>
                            <a:srgbClr val="202020"/>
                          </a:solidFill>
                          <a:latin typeface="Calibri"/>
                        </a:rPr>
                        <a:t>100</a:t>
                      </a:r>
                    </a:p>
                  </a:txBody>
                  <a:tcPr marT="12700" marB="12700">
                    <a:solidFill>
                      <a:srgbClr val="F7F9FC"/>
                    </a:solidFill>
                  </a:tcPr>
                </a:tc>
                <a:tc>
                  <a:txBody>
                    <a:bodyPr wrap="square"/>
                    <a:lstStyle/>
                    <a:p>
                      <a:r>
                        <a:rPr sz="950" b="0" i="0">
                          <a:solidFill>
                            <a:srgbClr val="202020"/>
                          </a:solidFill>
                          <a:latin typeface="Calibri"/>
                        </a:rPr>
                        <a:t>List page size (max 500)</a:t>
                      </a:r>
                    </a:p>
                  </a:txBody>
                  <a:tcPr marT="12700" marB="12700">
                    <a:solidFill>
                      <a:srgbClr val="F7F9FC"/>
                    </a:solidFill>
                  </a:tcPr>
                </a:tc>
              </a:tr>
              <a:tr h="384048">
                <a:tc>
                  <a:txBody>
                    <a:bodyPr wrap="square"/>
                    <a:lstStyle/>
                    <a:p>
                      <a:r>
                        <a:rPr sz="950" b="0" i="0">
                          <a:solidFill>
                            <a:srgbClr val="202020"/>
                          </a:solidFill>
                          <a:latin typeface="Consolas"/>
                        </a:rPr>
                        <a:t>SEISMIC_QUERY_LIMIT</a:t>
                      </a:r>
                    </a:p>
                  </a:txBody>
                  <a:tcPr marT="12700" marB="12700">
                    <a:solidFill>
                      <a:srgbClr val="FFFFFF"/>
                    </a:solidFill>
                  </a:tcPr>
                </a:tc>
                <a:tc>
                  <a:txBody>
                    <a:bodyPr wrap="square"/>
                    <a:lstStyle/>
                    <a:p>
                      <a:r>
                        <a:rPr sz="950" b="0" i="0">
                          <a:solidFill>
                            <a:srgbClr val="202020"/>
                          </a:solidFill>
                          <a:latin typeface="Calibri"/>
                        </a:rPr>
                        <a:t>0</a:t>
                      </a:r>
                    </a:p>
                  </a:txBody>
                  <a:tcPr marT="12700" marB="12700">
                    <a:solidFill>
                      <a:srgbClr val="FFFFFF"/>
                    </a:solidFill>
                  </a:tcPr>
                </a:tc>
                <a:tc>
                  <a:txBody>
                    <a:bodyPr wrap="square"/>
                    <a:lstStyle/>
                    <a:p>
                      <a:r>
                        <a:rPr sz="950" b="0" i="0">
                          <a:solidFill>
                            <a:srgbClr val="202020"/>
                          </a:solidFill>
                          <a:latin typeface="Calibri"/>
                        </a:rPr>
                        <a:t>Dev cap on items per teamsite (0 = unlimited)</a:t>
                      </a:r>
                    </a:p>
                  </a:txBody>
                  <a:tcPr marT="12700" marB="12700">
                    <a:solidFill>
                      <a:srgbClr val="FFFFFF"/>
                    </a:solidFill>
                  </a:tcPr>
                </a:tc>
              </a:tr>
              <a:tr h="384048">
                <a:tc>
                  <a:txBody>
                    <a:bodyPr wrap="square"/>
                    <a:lstStyle/>
                    <a:p>
                      <a:r>
                        <a:rPr sz="950" b="0" i="0">
                          <a:solidFill>
                            <a:srgbClr val="202020"/>
                          </a:solidFill>
                          <a:latin typeface="Consolas"/>
                        </a:rPr>
                        <a:t>SEISMIC_MAX_RETRIES</a:t>
                      </a:r>
                    </a:p>
                  </a:txBody>
                  <a:tcPr marT="12700" marB="12700">
                    <a:solidFill>
                      <a:srgbClr val="F7F9FC"/>
                    </a:solidFill>
                  </a:tcPr>
                </a:tc>
                <a:tc>
                  <a:txBody>
                    <a:bodyPr wrap="square"/>
                    <a:lstStyle/>
                    <a:p>
                      <a:r>
                        <a:rPr sz="950" b="0" i="0">
                          <a:solidFill>
                            <a:srgbClr val="202020"/>
                          </a:solidFill>
                          <a:latin typeface="Calibri"/>
                        </a:rPr>
                        <a:t>4</a:t>
                      </a:r>
                    </a:p>
                  </a:txBody>
                  <a:tcPr marT="12700" marB="12700">
                    <a:solidFill>
                      <a:srgbClr val="F7F9FC"/>
                    </a:solidFill>
                  </a:tcPr>
                </a:tc>
                <a:tc>
                  <a:txBody>
                    <a:bodyPr wrap="square"/>
                    <a:lstStyle/>
                    <a:p>
                      <a:r>
                        <a:rPr sz="950" b="0" i="0">
                          <a:solidFill>
                            <a:srgbClr val="202020"/>
                          </a:solidFill>
                          <a:latin typeface="Calibri"/>
                        </a:rPr>
                        <a:t>Retries on Seismic 429/5xx</a:t>
                      </a:r>
                    </a:p>
                  </a:txBody>
                  <a:tcPr marT="12700" marB="12700">
                    <a:solidFill>
                      <a:srgbClr val="F7F9FC"/>
                    </a:solidFill>
                  </a:tcPr>
                </a:tc>
              </a:tr>
              <a:tr h="384048">
                <a:tc>
                  <a:txBody>
                    <a:bodyPr wrap="square"/>
                    <a:lstStyle/>
                    <a:p>
                      <a:r>
                        <a:rPr sz="950" b="0" i="0">
                          <a:solidFill>
                            <a:srgbClr val="202020"/>
                          </a:solidFill>
                          <a:latin typeface="Consolas"/>
                        </a:rPr>
                        <a:t>SEISMIC_MAX_EXTRACT_MB</a:t>
                      </a:r>
                    </a:p>
                  </a:txBody>
                  <a:tcPr marT="12700" marB="12700">
                    <a:solidFill>
                      <a:srgbClr val="FFFFFF"/>
                    </a:solidFill>
                  </a:tcPr>
                </a:tc>
                <a:tc>
                  <a:txBody>
                    <a:bodyPr wrap="square"/>
                    <a:lstStyle/>
                    <a:p>
                      <a:r>
                        <a:rPr sz="950" b="0" i="0">
                          <a:solidFill>
                            <a:srgbClr val="202020"/>
                          </a:solidFill>
                          <a:latin typeface="Calibri"/>
                        </a:rPr>
                        <a:t>10</a:t>
                      </a:r>
                    </a:p>
                  </a:txBody>
                  <a:tcPr marT="12700" marB="12700">
                    <a:solidFill>
                      <a:srgbClr val="FFFFFF"/>
                    </a:solidFill>
                  </a:tcPr>
                </a:tc>
                <a:tc>
                  <a:txBody>
                    <a:bodyPr wrap="square"/>
                    <a:lstStyle/>
                    <a:p>
                      <a:r>
                        <a:rPr sz="950" b="0" i="0">
                          <a:solidFill>
                            <a:srgbClr val="202020"/>
                          </a:solidFill>
                          <a:latin typeface="Calibri"/>
                        </a:rPr>
                        <a:t>Max download size for text extraction</a:t>
                      </a:r>
                    </a:p>
                  </a:txBody>
                  <a:tcPr marT="12700" marB="12700">
                    <a:solidFill>
                      <a:srgbClr val="FFFFFF"/>
                    </a:solidFill>
                  </a:tcPr>
                </a:tc>
              </a:tr>
              <a:tr h="384048">
                <a:tc>
                  <a:txBody>
                    <a:bodyPr wrap="square"/>
                    <a:lstStyle/>
                    <a:p>
                      <a:r>
                        <a:rPr sz="950" b="0" i="0">
                          <a:solidFill>
                            <a:srgbClr val="202020"/>
                          </a:solidFill>
                          <a:latin typeface="Consolas"/>
                        </a:rPr>
                        <a:t>SEISMIC_FALLBACK_ACL</a:t>
                      </a:r>
                    </a:p>
                  </a:txBody>
                  <a:tcPr marT="12700" marB="12700">
                    <a:solidFill>
                      <a:srgbClr val="F7F9FC"/>
                    </a:solidFill>
                  </a:tcPr>
                </a:tc>
                <a:tc>
                  <a:txBody>
                    <a:bodyPr wrap="square"/>
                    <a:lstStyle/>
                    <a:p>
                      <a:r>
                        <a:rPr sz="950" b="0" i="0">
                          <a:solidFill>
                            <a:srgbClr val="202020"/>
                          </a:solidFill>
                          <a:latin typeface="Calibri"/>
                        </a:rPr>
                        <a:t>skip</a:t>
                      </a:r>
                    </a:p>
                  </a:txBody>
                  <a:tcPr marT="12700" marB="12700">
                    <a:solidFill>
                      <a:srgbClr val="F7F9FC"/>
                    </a:solidFill>
                  </a:tcPr>
                </a:tc>
                <a:tc>
                  <a:txBody>
                    <a:bodyPr wrap="square"/>
                    <a:lstStyle/>
                    <a:p>
                      <a:r>
                        <a:rPr sz="950" b="0" i="0">
                          <a:solidFill>
                            <a:srgbClr val="202020"/>
                          </a:solidFill>
                          <a:latin typeface="Calibri"/>
                        </a:rPr>
                        <a:t>When nothing maps: skip (safe) or tenant (everyone)</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543</a:t>
            </a:r>
          </a:p>
        </p:txBody>
      </p:sp>
    </p:spTree>
  </p:cSld>
  <p:clrMapOvr>
    <a:masterClrMapping/>
  </p:clrMapOvr>
</p:sld>
</file>

<file path=ppt/slides/slide5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Seismic (cont.)</a:t>
            </a:r>
          </a:p>
        </p:txBody>
      </p:sp>
      <p:graphicFrame>
        <p:nvGraphicFramePr>
          <p:cNvPr id="5" name="Table 4"/>
          <p:cNvGraphicFramePr>
            <a:graphicFrameLocks noGrp="1"/>
          </p:cNvGraphicFramePr>
          <p:nvPr/>
        </p:nvGraphicFramePr>
        <p:xfrm>
          <a:off x="502920" y="1188720"/>
          <a:ext cx="11185855" cy="230428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Default</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r>
              <a:tr h="384048">
                <a:tc>
                  <a:txBody>
                    <a:bodyPr wrap="square"/>
                    <a:lstStyle/>
                    <a:p>
                      <a:r>
                        <a:rPr sz="950" b="0" i="0">
                          <a:solidFill>
                            <a:srgbClr val="202020"/>
                          </a:solidFill>
                          <a:latin typeface="Consolas"/>
                        </a:rPr>
                        <a:t>SEISMIC_ENRICH_USAGE</a:t>
                      </a:r>
                    </a:p>
                  </a:txBody>
                  <a:tcPr marT="12700" marB="12700">
                    <a:solidFill>
                      <a:srgbClr val="FFFFFF"/>
                    </a:solidFill>
                  </a:tcPr>
                </a:tc>
                <a:tc>
                  <a:txBody>
                    <a:bodyPr wrap="square"/>
                    <a:lstStyle/>
                    <a:p>
                      <a:r>
                        <a:rPr sz="950" b="0" i="0">
                          <a:solidFill>
                            <a:srgbClr val="202020"/>
                          </a:solidFill>
                          <a:latin typeface="Calibri"/>
                        </a:rPr>
                        <a:t>false</a:t>
                      </a:r>
                    </a:p>
                  </a:txBody>
                  <a:tcPr marT="12700" marB="12700">
                    <a:solidFill>
                      <a:srgbClr val="FFFFFF"/>
                    </a:solidFill>
                  </a:tcPr>
                </a:tc>
                <a:tc>
                  <a:txBody>
                    <a:bodyPr wrap="square"/>
                    <a:lstStyle/>
                    <a:p>
                      <a:r>
                        <a:rPr sz="950" b="0" i="0">
                          <a:solidFill>
                            <a:srgbClr val="202020"/>
                          </a:solidFill>
                          <a:latin typeface="Calibri"/>
                        </a:rPr>
                        <a:t>Index view/download/share/popularity signals</a:t>
                      </a:r>
                    </a:p>
                  </a:txBody>
                  <a:tcPr marT="12700" marB="12700">
                    <a:solidFill>
                      <a:srgbClr val="FFFFFF"/>
                    </a:solidFill>
                  </a:tcPr>
                </a:tc>
              </a:tr>
              <a:tr h="384048">
                <a:tc>
                  <a:txBody>
                    <a:bodyPr wrap="square"/>
                    <a:lstStyle/>
                    <a:p>
                      <a:r>
                        <a:rPr sz="950" b="0" i="0">
                          <a:solidFill>
                            <a:srgbClr val="202020"/>
                          </a:solidFill>
                          <a:latin typeface="Consolas"/>
                        </a:rPr>
                        <a:t>LIVEDOC_FIELD_INDEXING</a:t>
                      </a:r>
                    </a:p>
                  </a:txBody>
                  <a:tcPr marT="12700" marB="12700">
                    <a:solidFill>
                      <a:srgbClr val="F7F9FC"/>
                    </a:solidFill>
                  </a:tcPr>
                </a:tc>
                <a:tc>
                  <a:txBody>
                    <a:bodyPr wrap="square"/>
                    <a:lstStyle/>
                    <a:p>
                      <a:r>
                        <a:rPr sz="950" b="0" i="0">
                          <a:solidFill>
                            <a:srgbClr val="202020"/>
                          </a:solidFill>
                          <a:latin typeface="Calibri"/>
                        </a:rPr>
                        <a:t>false</a:t>
                      </a:r>
                    </a:p>
                  </a:txBody>
                  <a:tcPr marT="12700" marB="12700">
                    <a:solidFill>
                      <a:srgbClr val="F7F9FC"/>
                    </a:solidFill>
                  </a:tcPr>
                </a:tc>
                <a:tc>
                  <a:txBody>
                    <a:bodyPr wrap="square"/>
                    <a:lstStyle/>
                    <a:p>
                      <a:r>
                        <a:rPr sz="950" b="0" i="0">
                          <a:solidFill>
                            <a:srgbClr val="202020"/>
                          </a:solidFill>
                          <a:latin typeface="Calibri"/>
                        </a:rPr>
                        <a:t>Index LiveDoc field/variable names</a:t>
                      </a:r>
                    </a:p>
                  </a:txBody>
                  <a:tcPr marT="12700" marB="12700">
                    <a:solidFill>
                      <a:srgbClr val="F7F9FC"/>
                    </a:solidFill>
                  </a:tcPr>
                </a:tc>
              </a:tr>
              <a:tr h="384048">
                <a:tc>
                  <a:txBody>
                    <a:bodyPr wrap="square"/>
                    <a:lstStyle/>
                    <a:p>
                      <a:r>
                        <a:rPr sz="950" b="0" i="0">
                          <a:solidFill>
                            <a:srgbClr val="202020"/>
                          </a:solidFill>
                          <a:latin typeface="Consolas"/>
                        </a:rPr>
                        <a:t>PERMISSION_REACL</a:t>
                      </a:r>
                    </a:p>
                  </a:txBody>
                  <a:tcPr marT="12700" marB="12700">
                    <a:solidFill>
                      <a:srgbClr val="FFFFFF"/>
                    </a:solidFill>
                  </a:tcPr>
                </a:tc>
                <a:tc>
                  <a:txBody>
                    <a:bodyPr wrap="square"/>
                    <a:lstStyle/>
                    <a:p>
                      <a:r>
                        <a:rPr sz="950" b="0" i="0">
                          <a:solidFill>
                            <a:srgbClr val="202020"/>
                          </a:solidFill>
                          <a:latin typeface="Calibri"/>
                        </a:rPr>
                        <a:t>false</a:t>
                      </a:r>
                    </a:p>
                  </a:txBody>
                  <a:tcPr marT="12700" marB="12700">
                    <a:solidFill>
                      <a:srgbClr val="FFFFFF"/>
                    </a:solidFill>
                  </a:tcPr>
                </a:tc>
                <a:tc>
                  <a:txBody>
                    <a:bodyPr wrap="square"/>
                    <a:lstStyle/>
                    <a:p>
                      <a:r>
                        <a:rPr sz="950" b="0" i="0">
                          <a:solidFill>
                            <a:srgbClr val="202020"/>
                          </a:solidFill>
                          <a:latin typeface="Calibri"/>
                        </a:rPr>
                        <a:t>Re-ACL drifted permissions each crawl (section 8)</a:t>
                      </a:r>
                    </a:p>
                  </a:txBody>
                  <a:tcPr marT="12700" marB="12700">
                    <a:solidFill>
                      <a:srgbClr val="FFFFFF"/>
                    </a:solidFill>
                  </a:tcPr>
                </a:tc>
              </a:tr>
              <a:tr h="384048">
                <a:tc>
                  <a:txBody>
                    <a:bodyPr wrap="square"/>
                    <a:lstStyle/>
                    <a:p>
                      <a:r>
                        <a:rPr sz="950" b="0" i="0">
                          <a:solidFill>
                            <a:srgbClr val="202020"/>
                          </a:solidFill>
                          <a:latin typeface="Consolas"/>
                        </a:rPr>
                        <a:t>SEISMIC_WEBHOOK_PORT</a:t>
                      </a:r>
                    </a:p>
                  </a:txBody>
                  <a:tcPr marT="12700" marB="12700">
                    <a:solidFill>
                      <a:srgbClr val="F7F9FC"/>
                    </a:solidFill>
                  </a:tcPr>
                </a:tc>
                <a:tc>
                  <a:txBody>
                    <a:bodyPr wrap="square"/>
                    <a:lstStyle/>
                    <a:p>
                      <a:r>
                        <a:rPr sz="950" b="0" i="0">
                          <a:solidFill>
                            <a:srgbClr val="202020"/>
                          </a:solidFill>
                          <a:latin typeface="Calibri"/>
                        </a:rPr>
                        <a:t>0</a:t>
                      </a:r>
                    </a:p>
                  </a:txBody>
                  <a:tcPr marT="12700" marB="12700">
                    <a:solidFill>
                      <a:srgbClr val="F7F9FC"/>
                    </a:solidFill>
                  </a:tcPr>
                </a:tc>
                <a:tc>
                  <a:txBody>
                    <a:bodyPr wrap="square"/>
                    <a:lstStyle/>
                    <a:p>
                      <a:r>
                        <a:rPr sz="950" b="0" i="0">
                          <a:solidFill>
                            <a:srgbClr val="202020"/>
                          </a:solidFill>
                          <a:latin typeface="Calibri"/>
                        </a:rPr>
                        <a:t>Webhook listener port (0 = off)</a:t>
                      </a:r>
                    </a:p>
                  </a:txBody>
                  <a:tcPr marT="12700" marB="12700">
                    <a:solidFill>
                      <a:srgbClr val="F7F9FC"/>
                    </a:solidFill>
                  </a:tcPr>
                </a:tc>
              </a:tr>
              <a:tr h="384048">
                <a:tc>
                  <a:txBody>
                    <a:bodyPr wrap="square"/>
                    <a:lstStyle/>
                    <a:p>
                      <a:r>
                        <a:rPr sz="950" b="0" i="0">
                          <a:solidFill>
                            <a:srgbClr val="202020"/>
                          </a:solidFill>
                          <a:latin typeface="Consolas"/>
                        </a:rPr>
                        <a:t>SEISMIC_WEBHOOK_SECRET</a:t>
                      </a:r>
                    </a:p>
                  </a:txBody>
                  <a:tcPr marT="12700" marB="12700">
                    <a:solidFill>
                      <a:srgbClr val="FFFFFF"/>
                    </a:solidFill>
                  </a:tcPr>
                </a:tc>
                <a:tc>
                  <a:txBody>
                    <a:bodyPr wrap="square"/>
                    <a:lstStyle/>
                    <a:p>
                      <a:r>
                        <a:rPr sz="950" b="0" i="0">
                          <a:solidFill>
                            <a:srgbClr val="202020"/>
                          </a:solidFill>
                          <a:latin typeface="Calibri"/>
                        </a:rPr>
                        <a:t>(req. if port set)</a:t>
                      </a:r>
                    </a:p>
                  </a:txBody>
                  <a:tcPr marT="12700" marB="12700">
                    <a:solidFill>
                      <a:srgbClr val="FFFFFF"/>
                    </a:solidFill>
                  </a:tcPr>
                </a:tc>
                <a:tc>
                  <a:txBody>
                    <a:bodyPr wrap="square"/>
                    <a:lstStyle/>
                    <a:p>
                      <a:r>
                        <a:rPr sz="950" b="0" i="0">
                          <a:solidFill>
                            <a:srgbClr val="202020"/>
                          </a:solidFill>
                          <a:latin typeface="Calibri"/>
                        </a:rPr>
                        <a:t>HMAC shared secret; missing = fail-closed to polling</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544</a:t>
            </a:r>
          </a:p>
        </p:txBody>
      </p:sp>
    </p:spTree>
  </p:cSld>
  <p:clrMapOvr>
    <a:masterClrMapping/>
  </p:clrMapOvr>
</p:sld>
</file>

<file path=ppt/slides/slide5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Entra ID / Microsoft Graph</a:t>
            </a:r>
          </a:p>
        </p:txBody>
      </p:sp>
      <p:graphicFrame>
        <p:nvGraphicFramePr>
          <p:cNvPr id="5" name="Table 4"/>
          <p:cNvGraphicFramePr>
            <a:graphicFrameLocks noGrp="1"/>
          </p:cNvGraphicFramePr>
          <p:nvPr/>
        </p:nvGraphicFramePr>
        <p:xfrm>
          <a:off x="502920" y="1188720"/>
          <a:ext cx="11185855" cy="3456432"/>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Default</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r>
              <a:tr h="384048">
                <a:tc>
                  <a:txBody>
                    <a:bodyPr wrap="square"/>
                    <a:lstStyle/>
                    <a:p>
                      <a:r>
                        <a:rPr sz="950" b="0" i="0">
                          <a:solidFill>
                            <a:srgbClr val="202020"/>
                          </a:solidFill>
                          <a:latin typeface="Consolas"/>
                        </a:rPr>
                        <a:t>AAD_APP_TENANT_ID</a:t>
                      </a:r>
                    </a:p>
                  </a:txBody>
                  <a:tcPr marT="12700" marB="12700">
                    <a:solidFill>
                      <a:srgbClr val="FFFFFF"/>
                    </a:solidFill>
                  </a:tcPr>
                </a:tc>
                <a:tc>
                  <a:txBody>
                    <a:bodyPr wrap="square"/>
                    <a:lstStyle/>
                    <a:p>
                      <a:r>
                        <a:rPr sz="950" b="0" i="0">
                          <a:solidFill>
                            <a:srgbClr val="202020"/>
                          </a:solidFill>
                          <a:latin typeface="Calibri"/>
                        </a:rPr>
                        <a:t>(required)</a:t>
                      </a:r>
                    </a:p>
                  </a:txBody>
                  <a:tcPr marT="12700" marB="12700">
                    <a:solidFill>
                      <a:srgbClr val="FFFFFF"/>
                    </a:solidFill>
                  </a:tcPr>
                </a:tc>
                <a:tc>
                  <a:txBody>
                    <a:bodyPr wrap="square"/>
                    <a:lstStyle/>
                    <a:p>
                      <a:r>
                        <a:rPr sz="950" b="0" i="0">
                          <a:solidFill>
                            <a:srgbClr val="202020"/>
                          </a:solidFill>
                          <a:latin typeface="Calibri"/>
                        </a:rPr>
                        <a:t>Entra tenant id</a:t>
                      </a:r>
                    </a:p>
                  </a:txBody>
                  <a:tcPr marT="12700" marB="12700">
                    <a:solidFill>
                      <a:srgbClr val="FFFFFF"/>
                    </a:solidFill>
                  </a:tcPr>
                </a:tc>
              </a:tr>
              <a:tr h="384048">
                <a:tc>
                  <a:txBody>
                    <a:bodyPr wrap="square"/>
                    <a:lstStyle/>
                    <a:p>
                      <a:r>
                        <a:rPr sz="950" b="0" i="0">
                          <a:solidFill>
                            <a:srgbClr val="202020"/>
                          </a:solidFill>
                          <a:latin typeface="Consolas"/>
                        </a:rPr>
                        <a:t>AAD_APP_CLIENT_ID</a:t>
                      </a:r>
                    </a:p>
                  </a:txBody>
                  <a:tcPr marT="12700" marB="12700">
                    <a:solidFill>
                      <a:srgbClr val="F7F9FC"/>
                    </a:solidFill>
                  </a:tcPr>
                </a:tc>
                <a:tc>
                  <a:txBody>
                    <a:bodyPr wrap="square"/>
                    <a:lstStyle/>
                    <a:p>
                      <a:r>
                        <a:rPr sz="950" b="0" i="0">
                          <a:solidFill>
                            <a:srgbClr val="202020"/>
                          </a:solidFill>
                          <a:latin typeface="Calibri"/>
                        </a:rPr>
                        <a:t>(required)</a:t>
                      </a:r>
                    </a:p>
                  </a:txBody>
                  <a:tcPr marT="12700" marB="12700">
                    <a:solidFill>
                      <a:srgbClr val="F7F9FC"/>
                    </a:solidFill>
                  </a:tcPr>
                </a:tc>
                <a:tc>
                  <a:txBody>
                    <a:bodyPr wrap="square"/>
                    <a:lstStyle/>
                    <a:p>
                      <a:r>
                        <a:rPr sz="950" b="0" i="0">
                          <a:solidFill>
                            <a:srgbClr val="202020"/>
                          </a:solidFill>
                          <a:latin typeface="Calibri"/>
                        </a:rPr>
                        <a:t>Entra application (client) id</a:t>
                      </a:r>
                    </a:p>
                  </a:txBody>
                  <a:tcPr marT="12700" marB="12700">
                    <a:solidFill>
                      <a:srgbClr val="F7F9FC"/>
                    </a:solidFill>
                  </a:tcPr>
                </a:tc>
              </a:tr>
              <a:tr h="384048">
                <a:tc>
                  <a:txBody>
                    <a:bodyPr wrap="square"/>
                    <a:lstStyle/>
                    <a:p>
                      <a:r>
                        <a:rPr sz="950" b="0" i="0">
                          <a:solidFill>
                            <a:srgbClr val="202020"/>
                          </a:solidFill>
                          <a:latin typeface="Consolas"/>
                        </a:rPr>
                        <a:t>SECRET_AAD_APP_CLIENT_SECRET</a:t>
                      </a:r>
                    </a:p>
                  </a:txBody>
                  <a:tcPr marT="12700" marB="12700">
                    <a:solidFill>
                      <a:srgbClr val="FFFFFF"/>
                    </a:solidFill>
                  </a:tcPr>
                </a:tc>
                <a:tc>
                  <a:txBody>
                    <a:bodyPr wrap="square"/>
                    <a:lstStyle/>
                    <a:p>
                      <a:r>
                        <a:rPr sz="950" b="0" i="0">
                          <a:solidFill>
                            <a:srgbClr val="202020"/>
                          </a:solidFill>
                          <a:latin typeface="Calibri"/>
                        </a:rPr>
                        <a:t>(required*)</a:t>
                      </a:r>
                    </a:p>
                  </a:txBody>
                  <a:tcPr marT="12700" marB="12700">
                    <a:solidFill>
                      <a:srgbClr val="FFFFFF"/>
                    </a:solidFill>
                  </a:tcPr>
                </a:tc>
                <a:tc>
                  <a:txBody>
                    <a:bodyPr wrap="square"/>
                    <a:lstStyle/>
                    <a:p>
                      <a:r>
                        <a:rPr sz="950" b="0" i="0">
                          <a:solidFill>
                            <a:srgbClr val="202020"/>
                          </a:solidFill>
                          <a:latin typeface="Calibri"/>
                        </a:rPr>
                        <a:t>Client secret (*optional if a certificate is set)</a:t>
                      </a:r>
                    </a:p>
                  </a:txBody>
                  <a:tcPr marT="12700" marB="12700">
                    <a:solidFill>
                      <a:srgbClr val="FFFFFF"/>
                    </a:solidFill>
                  </a:tcPr>
                </a:tc>
              </a:tr>
              <a:tr h="384048">
                <a:tc>
                  <a:txBody>
                    <a:bodyPr wrap="square"/>
                    <a:lstStyle/>
                    <a:p>
                      <a:r>
                        <a:rPr sz="950" b="0" i="0">
                          <a:solidFill>
                            <a:srgbClr val="202020"/>
                          </a:solidFill>
                          <a:latin typeface="Consolas"/>
                        </a:rPr>
                        <a:t>GRAPH_API_VERSION</a:t>
                      </a:r>
                    </a:p>
                  </a:txBody>
                  <a:tcPr marT="12700" marB="12700">
                    <a:solidFill>
                      <a:srgbClr val="F7F9FC"/>
                    </a:solidFill>
                  </a:tcPr>
                </a:tc>
                <a:tc>
                  <a:txBody>
                    <a:bodyPr wrap="square"/>
                    <a:lstStyle/>
                    <a:p>
                      <a:r>
                        <a:rPr sz="950" b="0" i="0">
                          <a:solidFill>
                            <a:srgbClr val="202020"/>
                          </a:solidFill>
                          <a:latin typeface="Calibri"/>
                        </a:rPr>
                        <a:t>v1.0</a:t>
                      </a:r>
                    </a:p>
                  </a:txBody>
                  <a:tcPr marT="12700" marB="12700">
                    <a:solidFill>
                      <a:srgbClr val="F7F9FC"/>
                    </a:solidFill>
                  </a:tcPr>
                </a:tc>
                <a:tc>
                  <a:txBody>
                    <a:bodyPr wrap="square"/>
                    <a:lstStyle/>
                    <a:p>
                      <a:r>
                        <a:rPr sz="950" b="0" i="0">
                          <a:solidFill>
                            <a:srgbClr val="202020"/>
                          </a:solidFill>
                          <a:latin typeface="Calibri"/>
                        </a:rPr>
                        <a:t>v1.0 or beta</a:t>
                      </a:r>
                    </a:p>
                  </a:txBody>
                  <a:tcPr marT="12700" marB="12700">
                    <a:solidFill>
                      <a:srgbClr val="F7F9FC"/>
                    </a:solidFill>
                  </a:tcPr>
                </a:tc>
              </a:tr>
              <a:tr h="384048">
                <a:tc>
                  <a:txBody>
                    <a:bodyPr wrap="square"/>
                    <a:lstStyle/>
                    <a:p>
                      <a:r>
                        <a:rPr sz="950" b="0" i="0">
                          <a:solidFill>
                            <a:srgbClr val="202020"/>
                          </a:solidFill>
                          <a:latin typeface="Consolas"/>
                        </a:rPr>
                        <a:t>GRAPH_MAX_RETRIES</a:t>
                      </a:r>
                    </a:p>
                  </a:txBody>
                  <a:tcPr marT="12700" marB="12700">
                    <a:solidFill>
                      <a:srgbClr val="FFFFFF"/>
                    </a:solidFill>
                  </a:tcPr>
                </a:tc>
                <a:tc>
                  <a:txBody>
                    <a:bodyPr wrap="square"/>
                    <a:lstStyle/>
                    <a:p>
                      <a:r>
                        <a:rPr sz="950" b="0" i="0">
                          <a:solidFill>
                            <a:srgbClr val="202020"/>
                          </a:solidFill>
                          <a:latin typeface="Calibri"/>
                        </a:rPr>
                        <a:t>4</a:t>
                      </a:r>
                    </a:p>
                  </a:txBody>
                  <a:tcPr marT="12700" marB="12700">
                    <a:solidFill>
                      <a:srgbClr val="FFFFFF"/>
                    </a:solidFill>
                  </a:tcPr>
                </a:tc>
                <a:tc>
                  <a:txBody>
                    <a:bodyPr wrap="square"/>
                    <a:lstStyle/>
                    <a:p>
                      <a:r>
                        <a:rPr sz="950" b="0" i="0">
                          <a:solidFill>
                            <a:srgbClr val="202020"/>
                          </a:solidFill>
                          <a:latin typeface="Calibri"/>
                        </a:rPr>
                        <a:t>Retries on Graph 429/5xx</a:t>
                      </a:r>
                    </a:p>
                  </a:txBody>
                  <a:tcPr marT="12700" marB="12700">
                    <a:solidFill>
                      <a:srgbClr val="FFFFFF"/>
                    </a:solidFill>
                  </a:tcPr>
                </a:tc>
              </a:tr>
              <a:tr h="384048">
                <a:tc>
                  <a:txBody>
                    <a:bodyPr wrap="square"/>
                    <a:lstStyle/>
                    <a:p>
                      <a:r>
                        <a:rPr sz="950" b="0" i="0">
                          <a:solidFill>
                            <a:srgbClr val="202020"/>
                          </a:solidFill>
                          <a:latin typeface="Consolas"/>
                        </a:rPr>
                        <a:t>GRAPH_RETRY_BACKOFF_BASE</a:t>
                      </a:r>
                    </a:p>
                  </a:txBody>
                  <a:tcPr marT="12700" marB="12700">
                    <a:solidFill>
                      <a:srgbClr val="F7F9FC"/>
                    </a:solidFill>
                  </a:tcPr>
                </a:tc>
                <a:tc>
                  <a:txBody>
                    <a:bodyPr wrap="square"/>
                    <a:lstStyle/>
                    <a:p>
                      <a:r>
                        <a:rPr sz="950" b="0" i="0">
                          <a:solidFill>
                            <a:srgbClr val="202020"/>
                          </a:solidFill>
                          <a:latin typeface="Calibri"/>
                        </a:rPr>
                        <a:t>2</a:t>
                      </a:r>
                    </a:p>
                  </a:txBody>
                  <a:tcPr marT="12700" marB="12700">
                    <a:solidFill>
                      <a:srgbClr val="F7F9FC"/>
                    </a:solidFill>
                  </a:tcPr>
                </a:tc>
                <a:tc>
                  <a:txBody>
                    <a:bodyPr wrap="square"/>
                    <a:lstStyle/>
                    <a:p>
                      <a:r>
                        <a:rPr sz="950" b="0" i="0">
                          <a:solidFill>
                            <a:srgbClr val="202020"/>
                          </a:solidFill>
                          <a:latin typeface="Calibri"/>
                        </a:rPr>
                        <a:t>Backoff base seconds (capped 60s)</a:t>
                      </a:r>
                    </a:p>
                  </a:txBody>
                  <a:tcPr marT="12700" marB="12700">
                    <a:solidFill>
                      <a:srgbClr val="F7F9FC"/>
                    </a:solidFill>
                  </a:tcPr>
                </a:tc>
              </a:tr>
              <a:tr h="384048">
                <a:tc>
                  <a:txBody>
                    <a:bodyPr wrap="square"/>
                    <a:lstStyle/>
                    <a:p>
                      <a:r>
                        <a:rPr sz="950" b="0" i="0">
                          <a:solidFill>
                            <a:srgbClr val="202020"/>
                          </a:solidFill>
                          <a:latin typeface="Consolas"/>
                        </a:rPr>
                        <a:t>GRAPH_BASE_URL / GRAPH_SCOPE / AAD_APP_OAUTH_AUTHORITY_HOST</a:t>
                      </a:r>
                    </a:p>
                  </a:txBody>
                  <a:tcPr marT="12700" marB="12700">
                    <a:solidFill>
                      <a:srgbClr val="FFFFFF"/>
                    </a:solidFill>
                  </a:tcPr>
                </a:tc>
                <a:tc>
                  <a:txBody>
                    <a:bodyPr wrap="square"/>
                    <a:lstStyle/>
                    <a:p>
                      <a:r>
                        <a:rPr sz="950" b="0" i="0">
                          <a:solidFill>
                            <a:srgbClr val="202020"/>
                          </a:solidFill>
                          <a:latin typeface="Calibri"/>
                        </a:rPr>
                        <a:t>(public cloud)</a:t>
                      </a:r>
                    </a:p>
                  </a:txBody>
                  <a:tcPr marT="12700" marB="12700">
                    <a:solidFill>
                      <a:srgbClr val="FFFFFF"/>
                    </a:solidFill>
                  </a:tcPr>
                </a:tc>
                <a:tc>
                  <a:txBody>
                    <a:bodyPr wrap="square"/>
                    <a:lstStyle/>
                    <a:p>
                      <a:r>
                        <a:rPr sz="950" b="0" i="0">
                          <a:solidFill>
                            <a:srgbClr val="202020"/>
                          </a:solidFill>
                          <a:latin typeface="Calibri"/>
                        </a:rPr>
                        <a:t>Sovereign-cloud endpoint overrides</a:t>
                      </a:r>
                    </a:p>
                  </a:txBody>
                  <a:tcPr marT="12700" marB="12700">
                    <a:solidFill>
                      <a:srgbClr val="FFFFFF"/>
                    </a:solidFill>
                  </a:tcPr>
                </a:tc>
              </a:tr>
              <a:tr h="384048">
                <a:tc>
                  <a:txBody>
                    <a:bodyPr wrap="square"/>
                    <a:lstStyle/>
                    <a:p>
                      <a:r>
                        <a:rPr sz="950" b="0" i="0">
                          <a:solidFill>
                            <a:srgbClr val="202020"/>
                          </a:solidFill>
                          <a:latin typeface="Consolas"/>
                        </a:rPr>
                        <a:t>GRAPH_CLIENT_CERT_PATH / _THUMBPRINT / _PASSWORD</a:t>
                      </a:r>
                    </a:p>
                  </a:txBody>
                  <a:tcPr marT="12700" marB="12700">
                    <a:solidFill>
                      <a:srgbClr val="F7F9FC"/>
                    </a:solidFill>
                  </a:tcPr>
                </a:tc>
                <a:tc>
                  <a:txBody>
                    <a:bodyPr wrap="square"/>
                    <a:lstStyle/>
                    <a:p>
                      <a:r>
                        <a:rPr sz="950" b="0" i="0">
                          <a:solidFill>
                            <a:srgbClr val="202020"/>
                          </a:solidFill>
                          <a:latin typeface="Calibri"/>
                        </a:rPr>
                        <a:t>(unset)</a:t>
                      </a:r>
                    </a:p>
                  </a:txBody>
                  <a:tcPr marT="12700" marB="12700">
                    <a:solidFill>
                      <a:srgbClr val="F7F9FC"/>
                    </a:solidFill>
                  </a:tcPr>
                </a:tc>
                <a:tc>
                  <a:txBody>
                    <a:bodyPr wrap="square"/>
                    <a:lstStyle/>
                    <a:p>
                      <a:r>
                        <a:rPr sz="950" b="0" i="0">
                          <a:solidFill>
                            <a:srgbClr val="202020"/>
                          </a:solidFill>
                          <a:latin typeface="Calibri"/>
                        </a:rPr>
                        <a:t>Certificate credential (wins over the secret)</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545</a:t>
            </a:r>
          </a:p>
        </p:txBody>
      </p:sp>
    </p:spTree>
  </p:cSld>
  <p:clrMapOvr>
    <a:masterClrMapping/>
  </p:clrMapOvr>
</p:sld>
</file>

<file path=ppt/slides/slide5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Throughput &amp; batching</a:t>
            </a:r>
          </a:p>
        </p:txBody>
      </p:sp>
      <p:graphicFrame>
        <p:nvGraphicFramePr>
          <p:cNvPr id="5" name="Table 4"/>
          <p:cNvGraphicFramePr>
            <a:graphicFrameLocks noGrp="1"/>
          </p:cNvGraphicFramePr>
          <p:nvPr/>
        </p:nvGraphicFramePr>
        <p:xfrm>
          <a:off x="502920" y="1188720"/>
          <a:ext cx="11185855" cy="230428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Default</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r>
              <a:tr h="384048">
                <a:tc>
                  <a:txBody>
                    <a:bodyPr wrap="square"/>
                    <a:lstStyle/>
                    <a:p>
                      <a:r>
                        <a:rPr sz="950" b="0" i="0">
                          <a:solidFill>
                            <a:srgbClr val="202020"/>
                          </a:solidFill>
                          <a:latin typeface="Consolas"/>
                        </a:rPr>
                        <a:t>INGEST_CHUNK_SIZE</a:t>
                      </a:r>
                    </a:p>
                  </a:txBody>
                  <a:tcPr marT="12700" marB="12700">
                    <a:solidFill>
                      <a:srgbClr val="FFFFFF"/>
                    </a:solidFill>
                  </a:tcPr>
                </a:tc>
                <a:tc>
                  <a:txBody>
                    <a:bodyPr wrap="square"/>
                    <a:lstStyle/>
                    <a:p>
                      <a:r>
                        <a:rPr sz="950" b="0" i="0">
                          <a:solidFill>
                            <a:srgbClr val="202020"/>
                          </a:solidFill>
                          <a:latin typeface="Calibri"/>
                        </a:rPr>
                        <a:t>200</a:t>
                      </a:r>
                    </a:p>
                  </a:txBody>
                  <a:tcPr marT="12700" marB="12700">
                    <a:solidFill>
                      <a:srgbClr val="FFFFFF"/>
                    </a:solidFill>
                  </a:tcPr>
                </a:tc>
                <a:tc>
                  <a:txBody>
                    <a:bodyPr wrap="square"/>
                    <a:lstStyle/>
                    <a:p>
                      <a:r>
                        <a:rPr sz="950" b="0" i="0">
                          <a:solidFill>
                            <a:srgbClr val="202020"/>
                          </a:solidFill>
                          <a:latin typeface="Calibri"/>
                        </a:rPr>
                        <a:t>Content items per checkpoint chunk</a:t>
                      </a:r>
                    </a:p>
                  </a:txBody>
                  <a:tcPr marT="12700" marB="12700">
                    <a:solidFill>
                      <a:srgbClr val="FFFFFF"/>
                    </a:solidFill>
                  </a:tcPr>
                </a:tc>
              </a:tr>
              <a:tr h="384048">
                <a:tc>
                  <a:txBody>
                    <a:bodyPr wrap="square"/>
                    <a:lstStyle/>
                    <a:p>
                      <a:r>
                        <a:rPr sz="950" b="0" i="0">
                          <a:solidFill>
                            <a:srgbClr val="202020"/>
                          </a:solidFill>
                          <a:latin typeface="Consolas"/>
                        </a:rPr>
                        <a:t>INGEST_GRAPH_BATCH_SIZE</a:t>
                      </a:r>
                    </a:p>
                  </a:txBody>
                  <a:tcPr marT="12700" marB="12700">
                    <a:solidFill>
                      <a:srgbClr val="F7F9FC"/>
                    </a:solidFill>
                  </a:tcPr>
                </a:tc>
                <a:tc>
                  <a:txBody>
                    <a:bodyPr wrap="square"/>
                    <a:lstStyle/>
                    <a:p>
                      <a:r>
                        <a:rPr sz="950" b="0" i="0">
                          <a:solidFill>
                            <a:srgbClr val="202020"/>
                          </a:solidFill>
                          <a:latin typeface="Calibri"/>
                        </a:rPr>
                        <a:t>20</a:t>
                      </a:r>
                    </a:p>
                  </a:txBody>
                  <a:tcPr marT="12700" marB="12700">
                    <a:solidFill>
                      <a:srgbClr val="F7F9FC"/>
                    </a:solidFill>
                  </a:tcPr>
                </a:tc>
                <a:tc>
                  <a:txBody>
                    <a:bodyPr wrap="square"/>
                    <a:lstStyle/>
                    <a:p>
                      <a:r>
                        <a:rPr sz="950" b="0" i="0">
                          <a:solidFill>
                            <a:srgbClr val="202020"/>
                          </a:solidFill>
                          <a:latin typeface="Calibri"/>
                        </a:rPr>
                        <a:t>Requests per Graph $batch (API cap 20; alias GRAPH_BATCH_SIZE)</a:t>
                      </a:r>
                    </a:p>
                  </a:txBody>
                  <a:tcPr marT="12700" marB="12700">
                    <a:solidFill>
                      <a:srgbClr val="F7F9FC"/>
                    </a:solidFill>
                  </a:tcPr>
                </a:tc>
              </a:tr>
              <a:tr h="384048">
                <a:tc>
                  <a:txBody>
                    <a:bodyPr wrap="square"/>
                    <a:lstStyle/>
                    <a:p>
                      <a:r>
                        <a:rPr sz="950" b="0" i="0">
                          <a:solidFill>
                            <a:srgbClr val="202020"/>
                          </a:solidFill>
                          <a:latin typeface="Consolas"/>
                        </a:rPr>
                        <a:t>GRAPH_BATCH_WORKERS</a:t>
                      </a:r>
                    </a:p>
                  </a:txBody>
                  <a:tcPr marT="12700" marB="12700">
                    <a:solidFill>
                      <a:srgbClr val="FFFFFF"/>
                    </a:solidFill>
                  </a:tcPr>
                </a:tc>
                <a:tc>
                  <a:txBody>
                    <a:bodyPr wrap="square"/>
                    <a:lstStyle/>
                    <a:p>
                      <a:r>
                        <a:rPr sz="950" b="0" i="0">
                          <a:solidFill>
                            <a:srgbClr val="202020"/>
                          </a:solidFill>
                          <a:latin typeface="Calibri"/>
                        </a:rPr>
                        <a:t>4</a:t>
                      </a:r>
                    </a:p>
                  </a:txBody>
                  <a:tcPr marT="12700" marB="12700">
                    <a:solidFill>
                      <a:srgbClr val="FFFFFF"/>
                    </a:solidFill>
                  </a:tcPr>
                </a:tc>
                <a:tc>
                  <a:txBody>
                    <a:bodyPr wrap="square"/>
                    <a:lstStyle/>
                    <a:p>
                      <a:r>
                        <a:rPr sz="950" b="0" i="0">
                          <a:solidFill>
                            <a:srgbClr val="202020"/>
                          </a:solidFill>
                          <a:latin typeface="Calibri"/>
                        </a:rPr>
                        <a:t>Max concurrent batch workers (alias GRAPH_CONCURRENT_BATCHES wins)</a:t>
                      </a:r>
                    </a:p>
                  </a:txBody>
                  <a:tcPr marT="12700" marB="12700">
                    <a:solidFill>
                      <a:srgbClr val="FFFFFF"/>
                    </a:solidFill>
                  </a:tcPr>
                </a:tc>
              </a:tr>
              <a:tr h="384048">
                <a:tc>
                  <a:txBody>
                    <a:bodyPr wrap="square"/>
                    <a:lstStyle/>
                    <a:p>
                      <a:r>
                        <a:rPr sz="950" b="0" i="0">
                          <a:solidFill>
                            <a:srgbClr val="202020"/>
                          </a:solidFill>
                          <a:latin typeface="Consolas"/>
                        </a:rPr>
                        <a:t>GRAPH_CONNECTION_SHARDS</a:t>
                      </a:r>
                    </a:p>
                  </a:txBody>
                  <a:tcPr marT="12700" marB="12700">
                    <a:solidFill>
                      <a:srgbClr val="F7F9FC"/>
                    </a:solidFill>
                  </a:tcPr>
                </a:tc>
                <a:tc>
                  <a:txBody>
                    <a:bodyPr wrap="square"/>
                    <a:lstStyle/>
                    <a:p>
                      <a:r>
                        <a:rPr sz="950" b="0" i="0">
                          <a:solidFill>
                            <a:srgbClr val="202020"/>
                          </a:solidFill>
                          <a:latin typeface="Calibri"/>
                        </a:rPr>
                        <a:t>(unset)</a:t>
                      </a:r>
                    </a:p>
                  </a:txBody>
                  <a:tcPr marT="12700" marB="12700">
                    <a:solidFill>
                      <a:srgbClr val="F7F9FC"/>
                    </a:solidFill>
                  </a:tcPr>
                </a:tc>
                <a:tc>
                  <a:txBody>
                    <a:bodyPr wrap="square"/>
                    <a:lstStyle/>
                    <a:p>
                      <a:r>
                        <a:rPr sz="950" b="0" i="0">
                          <a:solidFill>
                            <a:srgbClr val="202020"/>
                          </a:solidFill>
                          <a:latin typeface="Calibri"/>
                        </a:rPr>
                        <a:t>Split schema objects across multiple connections for higher throughput</a:t>
                      </a:r>
                    </a:p>
                  </a:txBody>
                  <a:tcPr marT="12700" marB="12700">
                    <a:solidFill>
                      <a:srgbClr val="F7F9FC"/>
                    </a:solidFill>
                  </a:tcPr>
                </a:tc>
              </a:tr>
              <a:tr h="384048">
                <a:tc>
                  <a:txBody>
                    <a:bodyPr wrap="square"/>
                    <a:lstStyle/>
                    <a:p>
                      <a:r>
                        <a:rPr sz="950" b="0" i="0">
                          <a:solidFill>
                            <a:srgbClr val="202020"/>
                          </a:solidFill>
                          <a:latin typeface="Consolas"/>
                        </a:rPr>
                        <a:t>GRAPH_RETRY_JITTER</a:t>
                      </a:r>
                    </a:p>
                  </a:txBody>
                  <a:tcPr marT="12700" marB="12700">
                    <a:solidFill>
                      <a:srgbClr val="FFFFFF"/>
                    </a:solidFill>
                  </a:tcPr>
                </a:tc>
                <a:tc>
                  <a:txBody>
                    <a:bodyPr wrap="square"/>
                    <a:lstStyle/>
                    <a:p>
                      <a:r>
                        <a:rPr sz="950" b="0" i="0">
                          <a:solidFill>
                            <a:srgbClr val="202020"/>
                          </a:solidFill>
                          <a:latin typeface="Calibri"/>
                        </a:rPr>
                        <a:t>false</a:t>
                      </a:r>
                    </a:p>
                  </a:txBody>
                  <a:tcPr marT="12700" marB="12700">
                    <a:solidFill>
                      <a:srgbClr val="FFFFFF"/>
                    </a:solidFill>
                  </a:tcPr>
                </a:tc>
                <a:tc>
                  <a:txBody>
                    <a:bodyPr wrap="square"/>
                    <a:lstStyle/>
                    <a:p>
                      <a:r>
                        <a:rPr sz="950" b="0" i="0">
                          <a:solidFill>
                            <a:srgbClr val="202020"/>
                          </a:solidFill>
                          <a:latin typeface="Calibri"/>
                        </a:rPr>
                        <a:t>±20% jitter on computed backoff (recommended on every HA node)</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546</a:t>
            </a:r>
          </a:p>
        </p:txBody>
      </p:sp>
    </p:spTree>
  </p:cSld>
  <p:clrMapOvr>
    <a:masterClrMapping/>
  </p:clrMapOvr>
</p:sld>
</file>

<file path=ppt/slides/slide5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State backend &amp; high availability</a:t>
            </a:r>
          </a:p>
        </p:txBody>
      </p:sp>
      <p:graphicFrame>
        <p:nvGraphicFramePr>
          <p:cNvPr id="5" name="Table 4"/>
          <p:cNvGraphicFramePr>
            <a:graphicFrameLocks noGrp="1"/>
          </p:cNvGraphicFramePr>
          <p:nvPr/>
        </p:nvGraphicFramePr>
        <p:xfrm>
          <a:off x="502920" y="1188720"/>
          <a:ext cx="11185855" cy="3456432"/>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Default</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r>
              <a:tr h="384048">
                <a:tc>
                  <a:txBody>
                    <a:bodyPr wrap="square"/>
                    <a:lstStyle/>
                    <a:p>
                      <a:r>
                        <a:rPr sz="950" b="0" i="0">
                          <a:solidFill>
                            <a:srgbClr val="202020"/>
                          </a:solidFill>
                          <a:latin typeface="Consolas"/>
                        </a:rPr>
                        <a:t>USE_SQL_SERVER</a:t>
                      </a:r>
                    </a:p>
                  </a:txBody>
                  <a:tcPr marT="12700" marB="12700">
                    <a:solidFill>
                      <a:srgbClr val="FFFFFF"/>
                    </a:solidFill>
                  </a:tcPr>
                </a:tc>
                <a:tc>
                  <a:txBody>
                    <a:bodyPr wrap="square"/>
                    <a:lstStyle/>
                    <a:p>
                      <a:r>
                        <a:rPr sz="950" b="0" i="0">
                          <a:solidFill>
                            <a:srgbClr val="202020"/>
                          </a:solidFill>
                          <a:latin typeface="Calibri"/>
                        </a:rPr>
                        <a:t>false</a:t>
                      </a:r>
                    </a:p>
                  </a:txBody>
                  <a:tcPr marT="12700" marB="12700">
                    <a:solidFill>
                      <a:srgbClr val="FFFFFF"/>
                    </a:solidFill>
                  </a:tcPr>
                </a:tc>
                <a:tc>
                  <a:txBody>
                    <a:bodyPr wrap="square"/>
                    <a:lstStyle/>
                    <a:p>
                      <a:r>
                        <a:rPr sz="950" b="0" i="0">
                          <a:solidFill>
                            <a:srgbClr val="202020"/>
                          </a:solidFill>
                          <a:latin typeface="Calibri"/>
                        </a:rPr>
                        <a:t>Move state from files/SQLite to shared SQL Server (required for HA)</a:t>
                      </a:r>
                    </a:p>
                  </a:txBody>
                  <a:tcPr marT="12700" marB="12700">
                    <a:solidFill>
                      <a:srgbClr val="FFFFFF"/>
                    </a:solidFill>
                  </a:tcPr>
                </a:tc>
              </a:tr>
              <a:tr h="384048">
                <a:tc>
                  <a:txBody>
                    <a:bodyPr wrap="square"/>
                    <a:lstStyle/>
                    <a:p>
                      <a:r>
                        <a:rPr sz="950" b="0" i="0">
                          <a:solidFill>
                            <a:srgbClr val="202020"/>
                          </a:solidFill>
                          <a:latin typeface="Consolas"/>
                        </a:rPr>
                        <a:t>SQL_CONNECTION_STRING</a:t>
                      </a:r>
                    </a:p>
                  </a:txBody>
                  <a:tcPr marT="12700" marB="12700">
                    <a:solidFill>
                      <a:srgbClr val="F7F9FC"/>
                    </a:solidFill>
                  </a:tcPr>
                </a:tc>
                <a:tc>
                  <a:txBody>
                    <a:bodyPr wrap="square"/>
                    <a:lstStyle/>
                    <a:p>
                      <a:r>
                        <a:rPr sz="950" b="0" i="0">
                          <a:solidFill>
                            <a:srgbClr val="202020"/>
                          </a:solidFill>
                          <a:latin typeface="Calibri"/>
                        </a:rPr>
                        <a:t>(req. if SQL)</a:t>
                      </a:r>
                    </a:p>
                  </a:txBody>
                  <a:tcPr marT="12700" marB="12700">
                    <a:solidFill>
                      <a:srgbClr val="F7F9FC"/>
                    </a:solidFill>
                  </a:tcPr>
                </a:tc>
                <a:tc>
                  <a:txBody>
                    <a:bodyPr wrap="square"/>
                    <a:lstStyle/>
                    <a:p>
                      <a:r>
                        <a:rPr sz="950" b="0" i="0">
                          <a:solidFill>
                            <a:srgbClr val="202020"/>
                          </a:solidFill>
                          <a:latin typeface="Calibri"/>
                        </a:rPr>
                        <a:t>SQL connection (point at the AG listener for HA)</a:t>
                      </a:r>
                    </a:p>
                  </a:txBody>
                  <a:tcPr marT="12700" marB="12700">
                    <a:solidFill>
                      <a:srgbClr val="F7F9FC"/>
                    </a:solidFill>
                  </a:tcPr>
                </a:tc>
              </a:tr>
              <a:tr h="384048">
                <a:tc>
                  <a:txBody>
                    <a:bodyPr wrap="square"/>
                    <a:lstStyle/>
                    <a:p>
                      <a:r>
                        <a:rPr sz="950" b="0" i="0">
                          <a:solidFill>
                            <a:srgbClr val="202020"/>
                          </a:solidFill>
                          <a:latin typeface="Consolas"/>
                        </a:rPr>
                        <a:t>SQL_USE_MANAGED_IDENTITY</a:t>
                      </a:r>
                    </a:p>
                  </a:txBody>
                  <a:tcPr marT="12700" marB="12700">
                    <a:solidFill>
                      <a:srgbClr val="FFFFFF"/>
                    </a:solidFill>
                  </a:tcPr>
                </a:tc>
                <a:tc>
                  <a:txBody>
                    <a:bodyPr wrap="square"/>
                    <a:lstStyle/>
                    <a:p>
                      <a:r>
                        <a:rPr sz="950" b="0" i="0">
                          <a:solidFill>
                            <a:srgbClr val="202020"/>
                          </a:solidFill>
                          <a:latin typeface="Calibri"/>
                        </a:rPr>
                        <a:t>false</a:t>
                      </a:r>
                    </a:p>
                  </a:txBody>
                  <a:tcPr marT="12700" marB="12700">
                    <a:solidFill>
                      <a:srgbClr val="FFFFFF"/>
                    </a:solidFill>
                  </a:tcPr>
                </a:tc>
                <a:tc>
                  <a:txBody>
                    <a:bodyPr wrap="square"/>
                    <a:lstStyle/>
                    <a:p>
                      <a:r>
                        <a:rPr sz="950" b="0" i="0">
                          <a:solidFill>
                            <a:srgbClr val="202020"/>
                          </a:solidFill>
                          <a:latin typeface="Calibri"/>
                        </a:rPr>
                        <a:t>Entra Managed Identity auth instead of a password</a:t>
                      </a:r>
                    </a:p>
                  </a:txBody>
                  <a:tcPr marT="12700" marB="12700">
                    <a:solidFill>
                      <a:srgbClr val="FFFFFF"/>
                    </a:solidFill>
                  </a:tcPr>
                </a:tc>
              </a:tr>
              <a:tr h="384048">
                <a:tc>
                  <a:txBody>
                    <a:bodyPr wrap="square"/>
                    <a:lstStyle/>
                    <a:p>
                      <a:r>
                        <a:rPr sz="950" b="0" i="0">
                          <a:solidFill>
                            <a:srgbClr val="202020"/>
                          </a:solidFill>
                          <a:latin typeface="Consolas"/>
                        </a:rPr>
                        <a:t>SQL_MAX_RETRIES</a:t>
                      </a:r>
                    </a:p>
                  </a:txBody>
                  <a:tcPr marT="12700" marB="12700">
                    <a:solidFill>
                      <a:srgbClr val="F7F9FC"/>
                    </a:solidFill>
                  </a:tcPr>
                </a:tc>
                <a:tc>
                  <a:txBody>
                    <a:bodyPr wrap="square"/>
                    <a:lstStyle/>
                    <a:p>
                      <a:r>
                        <a:rPr sz="950" b="0" i="0">
                          <a:solidFill>
                            <a:srgbClr val="202020"/>
                          </a:solidFill>
                          <a:latin typeface="Calibri"/>
                        </a:rPr>
                        <a:t>5</a:t>
                      </a:r>
                    </a:p>
                  </a:txBody>
                  <a:tcPr marT="12700" marB="12700">
                    <a:solidFill>
                      <a:srgbClr val="F7F9FC"/>
                    </a:solidFill>
                  </a:tcPr>
                </a:tc>
                <a:tc>
                  <a:txBody>
                    <a:bodyPr wrap="square"/>
                    <a:lstStyle/>
                    <a:p>
                      <a:r>
                        <a:rPr sz="950" b="0" i="0">
                          <a:solidFill>
                            <a:srgbClr val="202020"/>
                          </a:solidFill>
                          <a:latin typeface="Calibri"/>
                        </a:rPr>
                        <a:t>Transient-fault retry count</a:t>
                      </a:r>
                    </a:p>
                  </a:txBody>
                  <a:tcPr marT="12700" marB="12700">
                    <a:solidFill>
                      <a:srgbClr val="F7F9FC"/>
                    </a:solidFill>
                  </a:tcPr>
                </a:tc>
              </a:tr>
              <a:tr h="384048">
                <a:tc>
                  <a:txBody>
                    <a:bodyPr wrap="square"/>
                    <a:lstStyle/>
                    <a:p>
                      <a:r>
                        <a:rPr sz="950" b="0" i="0">
                          <a:solidFill>
                            <a:srgbClr val="202020"/>
                          </a:solidFill>
                          <a:latin typeface="Consolas"/>
                        </a:rPr>
                        <a:t>HA_MODE</a:t>
                      </a:r>
                    </a:p>
                  </a:txBody>
                  <a:tcPr marT="12700" marB="12700">
                    <a:solidFill>
                      <a:srgbClr val="FFFFFF"/>
                    </a:solidFill>
                  </a:tcPr>
                </a:tc>
                <a:tc>
                  <a:txBody>
                    <a:bodyPr wrap="square"/>
                    <a:lstStyle/>
                    <a:p>
                      <a:r>
                        <a:rPr sz="950" b="0" i="0">
                          <a:solidFill>
                            <a:srgbClr val="202020"/>
                          </a:solidFill>
                          <a:latin typeface="Calibri"/>
                        </a:rPr>
                        <a:t>false</a:t>
                      </a:r>
                    </a:p>
                  </a:txBody>
                  <a:tcPr marT="12700" marB="12700">
                    <a:solidFill>
                      <a:srgbClr val="FFFFFF"/>
                    </a:solidFill>
                  </a:tcPr>
                </a:tc>
                <a:tc>
                  <a:txBody>
                    <a:bodyPr wrap="square"/>
                    <a:lstStyle/>
                    <a:p>
                      <a:r>
                        <a:rPr sz="950" b="0" i="0">
                          <a:solidFill>
                            <a:srgbClr val="202020"/>
                          </a:solidFill>
                          <a:latin typeface="Calibri"/>
                        </a:rPr>
                        <a:t>Active-active multi-node crawling (needs SQL)</a:t>
                      </a:r>
                    </a:p>
                  </a:txBody>
                  <a:tcPr marT="12700" marB="12700">
                    <a:solidFill>
                      <a:srgbClr val="FFFFFF"/>
                    </a:solidFill>
                  </a:tcPr>
                </a:tc>
              </a:tr>
              <a:tr h="384048">
                <a:tc>
                  <a:txBody>
                    <a:bodyPr wrap="square"/>
                    <a:lstStyle/>
                    <a:p>
                      <a:r>
                        <a:rPr sz="950" b="0" i="0">
                          <a:solidFill>
                            <a:srgbClr val="202020"/>
                          </a:solidFill>
                          <a:latin typeface="Consolas"/>
                        </a:rPr>
                        <a:t>NODE_ID</a:t>
                      </a:r>
                    </a:p>
                  </a:txBody>
                  <a:tcPr marT="12700" marB="12700">
                    <a:solidFill>
                      <a:srgbClr val="F7F9FC"/>
                    </a:solidFill>
                  </a:tcPr>
                </a:tc>
                <a:tc>
                  <a:txBody>
                    <a:bodyPr wrap="square"/>
                    <a:lstStyle/>
                    <a:p>
                      <a:r>
                        <a:rPr sz="950" b="0" i="0">
                          <a:solidFill>
                            <a:srgbClr val="202020"/>
                          </a:solidFill>
                          <a:latin typeface="Calibri"/>
                        </a:rPr>
                        <a:t>(machine name)</a:t>
                      </a:r>
                    </a:p>
                  </a:txBody>
                  <a:tcPr marT="12700" marB="12700">
                    <a:solidFill>
                      <a:srgbClr val="F7F9FC"/>
                    </a:solidFill>
                  </a:tcPr>
                </a:tc>
                <a:tc>
                  <a:txBody>
                    <a:bodyPr wrap="square"/>
                    <a:lstStyle/>
                    <a:p>
                      <a:r>
                        <a:rPr sz="950" b="0" i="0">
                          <a:solidFill>
                            <a:srgbClr val="202020"/>
                          </a:solidFill>
                          <a:latin typeface="Calibri"/>
                        </a:rPr>
                        <a:t>Stable unique node id</a:t>
                      </a:r>
                    </a:p>
                  </a:txBody>
                  <a:tcPr marT="12700" marB="12700">
                    <a:solidFill>
                      <a:srgbClr val="F7F9FC"/>
                    </a:solidFill>
                  </a:tcPr>
                </a:tc>
              </a:tr>
              <a:tr h="384048">
                <a:tc>
                  <a:txBody>
                    <a:bodyPr wrap="square"/>
                    <a:lstStyle/>
                    <a:p>
                      <a:r>
                        <a:rPr sz="950" b="0" i="0">
                          <a:solidFill>
                            <a:srgbClr val="202020"/>
                          </a:solidFill>
                          <a:latin typeface="Consolas"/>
                        </a:rPr>
                        <a:t>HA_CLAIM_TIMEOUT_SECONDS / HA_HEARTBEAT_SECONDS</a:t>
                      </a:r>
                    </a:p>
                  </a:txBody>
                  <a:tcPr marT="12700" marB="12700">
                    <a:solidFill>
                      <a:srgbClr val="FFFFFF"/>
                    </a:solidFill>
                  </a:tcPr>
                </a:tc>
                <a:tc>
                  <a:txBody>
                    <a:bodyPr wrap="square"/>
                    <a:lstStyle/>
                    <a:p>
                      <a:r>
                        <a:rPr sz="950" b="0" i="0">
                          <a:solidFill>
                            <a:srgbClr val="202020"/>
                          </a:solidFill>
                          <a:latin typeface="Calibri"/>
                        </a:rPr>
                        <a:t>300 / 60</a:t>
                      </a:r>
                    </a:p>
                  </a:txBody>
                  <a:tcPr marT="12700" marB="12700">
                    <a:solidFill>
                      <a:srgbClr val="FFFFFF"/>
                    </a:solidFill>
                  </a:tcPr>
                </a:tc>
                <a:tc>
                  <a:txBody>
                    <a:bodyPr wrap="square"/>
                    <a:lstStyle/>
                    <a:p>
                      <a:r>
                        <a:rPr sz="950" b="0" i="0">
                          <a:solidFill>
                            <a:srgbClr val="202020"/>
                          </a:solidFill>
                          <a:latin typeface="Calibri"/>
                        </a:rPr>
                        <a:t>Stale-claim takeover and heartbeat cadence</a:t>
                      </a:r>
                    </a:p>
                  </a:txBody>
                  <a:tcPr marT="12700" marB="12700">
                    <a:solidFill>
                      <a:srgbClr val="FFFFFF"/>
                    </a:solidFill>
                  </a:tcPr>
                </a:tc>
              </a:tr>
              <a:tr h="384048">
                <a:tc>
                  <a:txBody>
                    <a:bodyPr wrap="square"/>
                    <a:lstStyle/>
                    <a:p>
                      <a:r>
                        <a:rPr sz="950" b="0" i="0">
                          <a:solidFill>
                            <a:srgbClr val="202020"/>
                          </a:solidFill>
                          <a:latin typeface="Consolas"/>
                        </a:rPr>
                        <a:t>IDENTITY_SYNC_ON_INCREMENTAL</a:t>
                      </a:r>
                    </a:p>
                  </a:txBody>
                  <a:tcPr marT="12700" marB="12700">
                    <a:solidFill>
                      <a:srgbClr val="F7F9FC"/>
                    </a:solidFill>
                  </a:tcPr>
                </a:tc>
                <a:tc>
                  <a:txBody>
                    <a:bodyPr wrap="square"/>
                    <a:lstStyle/>
                    <a:p>
                      <a:r>
                        <a:rPr sz="950" b="0" i="0">
                          <a:solidFill>
                            <a:srgbClr val="202020"/>
                          </a:solidFill>
                          <a:latin typeface="Calibri"/>
                        </a:rPr>
                        <a:t>true</a:t>
                      </a:r>
                    </a:p>
                  </a:txBody>
                  <a:tcPr marT="12700" marB="12700">
                    <a:solidFill>
                      <a:srgbClr val="F7F9FC"/>
                    </a:solidFill>
                  </a:tcPr>
                </a:tc>
                <a:tc>
                  <a:txBody>
                    <a:bodyPr wrap="square"/>
                    <a:lstStyle/>
                    <a:p>
                      <a:r>
                        <a:rPr sz="950" b="0" i="0">
                          <a:solidFill>
                            <a:srgbClr val="202020"/>
                          </a:solidFill>
                          <a:latin typeface="Calibri"/>
                        </a:rPr>
                        <a:t>Run the identity crawl on incrementals too (changed in v1.1; shrinks ACL-staleness lag to the incremental cadence). false = full-crawl-only sync</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547</a:t>
            </a:r>
          </a:p>
        </p:txBody>
      </p:sp>
    </p:spTree>
  </p:cSld>
  <p:clrMapOvr>
    <a:masterClrMapping/>
  </p:clrMapOvr>
</p:sld>
</file>

<file path=ppt/slides/slide5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Observability, resilience &amp; secrets</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Default</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r>
              <a:tr h="384048">
                <a:tc>
                  <a:txBody>
                    <a:bodyPr wrap="square"/>
                    <a:lstStyle/>
                    <a:p>
                      <a:r>
                        <a:rPr sz="950" b="0" i="0">
                          <a:solidFill>
                            <a:srgbClr val="202020"/>
                          </a:solidFill>
                          <a:latin typeface="Consolas"/>
                        </a:rPr>
                        <a:t>HEALTH_PORT</a:t>
                      </a:r>
                    </a:p>
                  </a:txBody>
                  <a:tcPr marT="12700" marB="12700">
                    <a:solidFill>
                      <a:srgbClr val="FFFFFF"/>
                    </a:solidFill>
                  </a:tcPr>
                </a:tc>
                <a:tc>
                  <a:txBody>
                    <a:bodyPr wrap="square"/>
                    <a:lstStyle/>
                    <a:p>
                      <a:r>
                        <a:rPr sz="950" b="0" i="0">
                          <a:solidFill>
                            <a:srgbClr val="202020"/>
                          </a:solidFill>
                          <a:latin typeface="Calibri"/>
                        </a:rPr>
                        <a:t>0</a:t>
                      </a:r>
                    </a:p>
                  </a:txBody>
                  <a:tcPr marT="12700" marB="12700">
                    <a:solidFill>
                      <a:srgbClr val="FFFFFF"/>
                    </a:solidFill>
                  </a:tcPr>
                </a:tc>
                <a:tc>
                  <a:txBody>
                    <a:bodyPr wrap="square"/>
                    <a:lstStyle/>
                    <a:p>
                      <a:r>
                        <a:rPr sz="950" b="0" i="0">
                          <a:solidFill>
                            <a:srgbClr val="202020"/>
                          </a:solidFill>
                          <a:latin typeface="Calibri"/>
                        </a:rPr>
                        <a:t>Serve /health, /ready, /metrics (0 = off)</a:t>
                      </a:r>
                    </a:p>
                  </a:txBody>
                  <a:tcPr marT="12700" marB="12700">
                    <a:solidFill>
                      <a:srgbClr val="FFFFFF"/>
                    </a:solidFill>
                  </a:tcPr>
                </a:tc>
              </a:tr>
              <a:tr h="384048">
                <a:tc>
                  <a:txBody>
                    <a:bodyPr wrap="square"/>
                    <a:lstStyle/>
                    <a:p>
                      <a:r>
                        <a:rPr sz="950" b="0" i="0">
                          <a:solidFill>
                            <a:srgbClr val="202020"/>
                          </a:solidFill>
                          <a:latin typeface="Consolas"/>
                        </a:rPr>
                        <a:t>LOG_FORMAT</a:t>
                      </a:r>
                    </a:p>
                  </a:txBody>
                  <a:tcPr marT="12700" marB="12700">
                    <a:solidFill>
                      <a:srgbClr val="F7F9FC"/>
                    </a:solidFill>
                  </a:tcPr>
                </a:tc>
                <a:tc>
                  <a:txBody>
                    <a:bodyPr wrap="square"/>
                    <a:lstStyle/>
                    <a:p>
                      <a:r>
                        <a:rPr sz="950" b="0" i="0">
                          <a:solidFill>
                            <a:srgbClr val="202020"/>
                          </a:solidFill>
                          <a:latin typeface="Calibri"/>
                        </a:rPr>
                        <a:t>text</a:t>
                      </a:r>
                    </a:p>
                  </a:txBody>
                  <a:tcPr marT="12700" marB="12700">
                    <a:solidFill>
                      <a:srgbClr val="F7F9FC"/>
                    </a:solidFill>
                  </a:tcPr>
                </a:tc>
                <a:tc>
                  <a:txBody>
                    <a:bodyPr wrap="square"/>
                    <a:lstStyle/>
                    <a:p>
                      <a:r>
                        <a:rPr sz="950" b="0" i="0">
                          <a:solidFill>
                            <a:srgbClr val="202020"/>
                          </a:solidFill>
                          <a:latin typeface="Calibri"/>
                        </a:rPr>
                        <a:t>json for one structured object per log line</a:t>
                      </a:r>
                    </a:p>
                  </a:txBody>
                  <a:tcPr marT="12700" marB="12700">
                    <a:solidFill>
                      <a:srgbClr val="F7F9FC"/>
                    </a:solidFill>
                  </a:tcPr>
                </a:tc>
              </a:tr>
              <a:tr h="384048">
                <a:tc>
                  <a:txBody>
                    <a:bodyPr wrap="square"/>
                    <a:lstStyle/>
                    <a:p>
                      <a:r>
                        <a:rPr sz="950" b="0" i="0">
                          <a:solidFill>
                            <a:srgbClr val="202020"/>
                          </a:solidFill>
                          <a:latin typeface="Consolas"/>
                        </a:rPr>
                        <a:t>LOG_RETENTION_DAYS</a:t>
                      </a:r>
                    </a:p>
                  </a:txBody>
                  <a:tcPr marT="12700" marB="12700">
                    <a:solidFill>
                      <a:srgbClr val="FFFFFF"/>
                    </a:solidFill>
                  </a:tcPr>
                </a:tc>
                <a:tc>
                  <a:txBody>
                    <a:bodyPr wrap="square"/>
                    <a:lstStyle/>
                    <a:p>
                      <a:r>
                        <a:rPr sz="950" b="0" i="0">
                          <a:solidFill>
                            <a:srgbClr val="202020"/>
                          </a:solidFill>
                          <a:latin typeface="Calibri"/>
                        </a:rPr>
                        <a:t>0</a:t>
                      </a:r>
                    </a:p>
                  </a:txBody>
                  <a:tcPr marT="12700" marB="12700">
                    <a:solidFill>
                      <a:srgbClr val="FFFFFF"/>
                    </a:solidFill>
                  </a:tcPr>
                </a:tc>
                <a:tc>
                  <a:txBody>
                    <a:bodyPr wrap="square"/>
                    <a:lstStyle/>
                    <a:p>
                      <a:r>
                        <a:rPr sz="950" b="0" i="0">
                          <a:solidFill>
                            <a:srgbClr val="202020"/>
                          </a:solidFill>
                          <a:latin typeface="Calibri"/>
                        </a:rPr>
                        <a:t>Prune run directories older than N days (0 = keep)</a:t>
                      </a:r>
                    </a:p>
                  </a:txBody>
                  <a:tcPr marT="12700" marB="12700">
                    <a:solidFill>
                      <a:srgbClr val="FFFFFF"/>
                    </a:solidFill>
                  </a:tcPr>
                </a:tc>
              </a:tr>
              <a:tr h="384048">
                <a:tc>
                  <a:txBody>
                    <a:bodyPr wrap="square"/>
                    <a:lstStyle/>
                    <a:p>
                      <a:r>
                        <a:rPr sz="950" b="0" i="0">
                          <a:solidFill>
                            <a:srgbClr val="202020"/>
                          </a:solidFill>
                          <a:latin typeface="Consolas"/>
                        </a:rPr>
                        <a:t>ALERT_WEBHOOK_URL / ALERT_DEADLETTER_THRESHOLD</a:t>
                      </a:r>
                    </a:p>
                  </a:txBody>
                  <a:tcPr marT="12700" marB="12700">
                    <a:solidFill>
                      <a:srgbClr val="F7F9FC"/>
                    </a:solidFill>
                  </a:tcPr>
                </a:tc>
                <a:tc>
                  <a:txBody>
                    <a:bodyPr wrap="square"/>
                    <a:lstStyle/>
                    <a:p>
                      <a:r>
                        <a:rPr sz="950" b="0" i="0">
                          <a:solidFill>
                            <a:srgbClr val="202020"/>
                          </a:solidFill>
                          <a:latin typeface="Calibri"/>
                        </a:rPr>
                        <a:t>(unset) / 0</a:t>
                      </a:r>
                    </a:p>
                  </a:txBody>
                  <a:tcPr marT="12700" marB="12700">
                    <a:solidFill>
                      <a:srgbClr val="F7F9FC"/>
                    </a:solidFill>
                  </a:tcPr>
                </a:tc>
                <a:tc>
                  <a:txBody>
                    <a:bodyPr wrap="square"/>
                    <a:lstStyle/>
                    <a:p>
                      <a:r>
                        <a:rPr sz="950" b="0" i="0">
                          <a:solidFill>
                            <a:srgbClr val="202020"/>
                          </a:solidFill>
                          <a:latin typeface="Calibri"/>
                        </a:rPr>
                        <a:t>Webhook alerts on failure and dead-letter depth</a:t>
                      </a:r>
                    </a:p>
                  </a:txBody>
                  <a:tcPr marT="12700" marB="12700">
                    <a:solidFill>
                      <a:srgbClr val="F7F9FC"/>
                    </a:solidFill>
                  </a:tcPr>
                </a:tc>
              </a:tr>
              <a:tr h="384048">
                <a:tc>
                  <a:txBody>
                    <a:bodyPr wrap="square"/>
                    <a:lstStyle/>
                    <a:p>
                      <a:r>
                        <a:rPr sz="950" b="0" i="0">
                          <a:solidFill>
                            <a:srgbClr val="202020"/>
                          </a:solidFill>
                          <a:latin typeface="Consolas"/>
                        </a:rPr>
                        <a:t>OTEL_EXPORTER_OTLP_ENDPOINT / _PROTOCOL / OTEL_SERVICE_NAME</a:t>
                      </a:r>
                    </a:p>
                  </a:txBody>
                  <a:tcPr marT="12700" marB="12700">
                    <a:solidFill>
                      <a:srgbClr val="FFFFFF"/>
                    </a:solidFill>
                  </a:tcPr>
                </a:tc>
                <a:tc>
                  <a:txBody>
                    <a:bodyPr wrap="square"/>
                    <a:lstStyle/>
                    <a:p>
                      <a:r>
                        <a:rPr sz="950" b="0" i="0">
                          <a:solidFill>
                            <a:srgbClr val="202020"/>
                          </a:solidFill>
                          <a:latin typeface="Calibri"/>
                        </a:rPr>
                        <a:t>(unset)</a:t>
                      </a:r>
                    </a:p>
                  </a:txBody>
                  <a:tcPr marT="12700" marB="12700">
                    <a:solidFill>
                      <a:srgbClr val="FFFFFF"/>
                    </a:solidFill>
                  </a:tcPr>
                </a:tc>
                <a:tc>
                  <a:txBody>
                    <a:bodyPr wrap="square"/>
                    <a:lstStyle/>
                    <a:p>
                      <a:r>
                        <a:rPr sz="950" b="0" i="0">
                          <a:solidFill>
                            <a:srgbClr val="202020"/>
                          </a:solidFill>
                          <a:latin typeface="Calibri"/>
                        </a:rPr>
                        <a:t>Opt-in OpenTelemetry span export</a:t>
                      </a:r>
                    </a:p>
                  </a:txBody>
                  <a:tcPr marT="12700" marB="12700">
                    <a:solidFill>
                      <a:srgbClr val="FFFFFF"/>
                    </a:solidFill>
                  </a:tcPr>
                </a:tc>
              </a:tr>
              <a:tr h="384048">
                <a:tc>
                  <a:txBody>
                    <a:bodyPr wrap="square"/>
                    <a:lstStyle/>
                    <a:p>
                      <a:r>
                        <a:rPr sz="950" b="0" i="0">
                          <a:solidFill>
                            <a:srgbClr val="202020"/>
                          </a:solidFill>
                          <a:latin typeface="Consolas"/>
                        </a:rPr>
                        <a:t>CIRCUIT_BREAKER (+ _FAILURE_THRESHOLD / _WINDOW_SECONDS / _OPEN_SECONDS / _HALF_OPEN_TRIALS)</a:t>
                      </a:r>
                    </a:p>
                  </a:txBody>
                  <a:tcPr marT="12700" marB="12700">
                    <a:solidFill>
                      <a:srgbClr val="F7F9FC"/>
                    </a:solidFill>
                  </a:tcPr>
                </a:tc>
                <a:tc>
                  <a:txBody>
                    <a:bodyPr wrap="square"/>
                    <a:lstStyle/>
                    <a:p>
                      <a:r>
                        <a:rPr sz="950" b="0" i="0">
                          <a:solidFill>
                            <a:srgbClr val="202020"/>
                          </a:solidFill>
                          <a:latin typeface="Calibri"/>
                        </a:rPr>
                        <a:t>true (5 / 60 / 30 / 1)</a:t>
                      </a:r>
                    </a:p>
                  </a:txBody>
                  <a:tcPr marT="12700" marB="12700">
                    <a:solidFill>
                      <a:srgbClr val="F7F9FC"/>
                    </a:solidFill>
                  </a:tcPr>
                </a:tc>
                <a:tc>
                  <a:txBody>
                    <a:bodyPr wrap="square"/>
                    <a:lstStyle/>
                    <a:p>
                      <a:r>
                        <a:rPr sz="950" b="0" i="0">
                          <a:solidFill>
                            <a:srgbClr val="202020"/>
                          </a:solidFill>
                          <a:latin typeface="Calibri"/>
                        </a:rPr>
                        <a:t>Fail-fast + degraded-mode protection</a:t>
                      </a:r>
                    </a:p>
                  </a:txBody>
                  <a:tcPr marT="12700" marB="12700">
                    <a:solidFill>
                      <a:srgbClr val="F7F9FC"/>
                    </a:solidFill>
                  </a:tcPr>
                </a:tc>
              </a:tr>
              <a:tr h="384048">
                <a:tc>
                  <a:txBody>
                    <a:bodyPr wrap="square"/>
                    <a:lstStyle/>
                    <a:p>
                      <a:r>
                        <a:rPr sz="950" b="0" i="0">
                          <a:solidFill>
                            <a:srgbClr val="202020"/>
                          </a:solidFill>
                          <a:latin typeface="Consolas"/>
                        </a:rPr>
                        <a:t>USE_KEY_VAULT / KEY_VAULT_URI</a:t>
                      </a:r>
                    </a:p>
                  </a:txBody>
                  <a:tcPr marT="12700" marB="12700">
                    <a:solidFill>
                      <a:srgbClr val="FFFFFF"/>
                    </a:solidFill>
                  </a:tcPr>
                </a:tc>
                <a:tc>
                  <a:txBody>
                    <a:bodyPr wrap="square"/>
                    <a:lstStyle/>
                    <a:p>
                      <a:r>
                        <a:rPr sz="950" b="0" i="0">
                          <a:solidFill>
                            <a:srgbClr val="202020"/>
                          </a:solidFill>
                          <a:latin typeface="Calibri"/>
                        </a:rPr>
                        <a:t>false</a:t>
                      </a:r>
                    </a:p>
                  </a:txBody>
                  <a:tcPr marT="12700" marB="12700">
                    <a:solidFill>
                      <a:srgbClr val="FFFFFF"/>
                    </a:solidFill>
                  </a:tcPr>
                </a:tc>
                <a:tc>
                  <a:txBody>
                    <a:bodyPr wrap="square"/>
                    <a:lstStyle/>
                    <a:p>
                      <a:r>
                        <a:rPr sz="950" b="0" i="0">
                          <a:solidFill>
                            <a:srgbClr val="202020"/>
                          </a:solidFill>
                          <a:latin typeface="Calibri"/>
                        </a:rPr>
                        <a:t>Resolve SECRET_* from Azure Key Vault</a:t>
                      </a:r>
                    </a:p>
                  </a:txBody>
                  <a:tcPr marT="12700" marB="12700">
                    <a:solidFill>
                      <a:srgbClr val="FFFFFF"/>
                    </a:solidFill>
                  </a:tcPr>
                </a:tc>
              </a:tr>
              <a:tr h="384048">
                <a:tc>
                  <a:txBody>
                    <a:bodyPr wrap="square"/>
                    <a:lstStyle/>
                    <a:p>
                      <a:r>
                        <a:rPr sz="950" b="0" i="0">
                          <a:solidFill>
                            <a:srgbClr val="202020"/>
                          </a:solidFill>
                          <a:latin typeface="Consolas"/>
                        </a:rPr>
                        <a:t>EVENTLOG_ENABLED / EVENTLOG_LEVEL</a:t>
                      </a:r>
                    </a:p>
                  </a:txBody>
                  <a:tcPr marT="12700" marB="12700">
                    <a:solidFill>
                      <a:srgbClr val="F7F9FC"/>
                    </a:solidFill>
                  </a:tcPr>
                </a:tc>
                <a:tc>
                  <a:txBody>
                    <a:bodyPr wrap="square"/>
                    <a:lstStyle/>
                    <a:p>
                      <a:r>
                        <a:rPr sz="950" b="0" i="0">
                          <a:solidFill>
                            <a:srgbClr val="202020"/>
                          </a:solidFill>
                          <a:latin typeface="Calibri"/>
                        </a:rPr>
                        <a:t>false / warning</a:t>
                      </a:r>
                    </a:p>
                  </a:txBody>
                  <a:tcPr marT="12700" marB="12700">
                    <a:solidFill>
                      <a:srgbClr val="F7F9FC"/>
                    </a:solidFill>
                  </a:tcPr>
                </a:tc>
                <a:tc>
                  <a:txBody>
                    <a:bodyPr wrap="square"/>
                    <a:lstStyle/>
                    <a:p>
                      <a:r>
                        <a:rPr sz="950" b="0" i="0">
                          <a:solidFill>
                            <a:srgbClr val="202020"/>
                          </a:solidFill>
                          <a:latin typeface="Calibri"/>
                        </a:rPr>
                        <a:t>Mirror WARNING+ to the Windows Event Log</a:t>
                      </a:r>
                    </a:p>
                  </a:txBody>
                  <a:tcPr marT="12700" marB="12700">
                    <a:solidFill>
                      <a:srgbClr val="F7F9FC"/>
                    </a:solidFill>
                  </a:tcPr>
                </a:tc>
              </a:tr>
              <a:tr h="384048">
                <a:tc>
                  <a:txBody>
                    <a:bodyPr wrap="square"/>
                    <a:lstStyle/>
                    <a:p>
                      <a:r>
                        <a:rPr sz="950" b="0" i="0">
                          <a:solidFill>
                            <a:srgbClr val="202020"/>
                          </a:solidFill>
                          <a:latin typeface="Consolas"/>
                        </a:rPr>
                        <a:t>PROXY_URL / PROXY_BYPASS / CA_BUNDLE_PATH</a:t>
                      </a:r>
                    </a:p>
                  </a:txBody>
                  <a:tcPr marT="12700" marB="12700">
                    <a:solidFill>
                      <a:srgbClr val="FFFFFF"/>
                    </a:solidFill>
                  </a:tcPr>
                </a:tc>
                <a:tc>
                  <a:txBody>
                    <a:bodyPr wrap="square"/>
                    <a:lstStyle/>
                    <a:p>
                      <a:r>
                        <a:rPr sz="950" b="0" i="0">
                          <a:solidFill>
                            <a:srgbClr val="202020"/>
                          </a:solidFill>
                          <a:latin typeface="Calibri"/>
                        </a:rPr>
                        <a:t>(unset)</a:t>
                      </a:r>
                    </a:p>
                  </a:txBody>
                  <a:tcPr marT="12700" marB="12700">
                    <a:solidFill>
                      <a:srgbClr val="FFFFFF"/>
                    </a:solidFill>
                  </a:tcPr>
                </a:tc>
                <a:tc>
                  <a:txBody>
                    <a:bodyPr wrap="square"/>
                    <a:lstStyle/>
                    <a:p>
                      <a:r>
                        <a:rPr sz="950" b="0" i="0">
                          <a:solidFill>
                            <a:srgbClr val="202020"/>
                          </a:solidFill>
                          <a:latin typeface="Calibri"/>
                        </a:rPr>
                        <a:t>Forward proxy and additive TLS-inspection trust</a:t>
                      </a:r>
                    </a:p>
                  </a:txBody>
                  <a:tcPr marT="12700" marB="12700">
                    <a:solidFill>
                      <a:srgbClr val="FFFFFF"/>
                    </a:solidFill>
                  </a:tcPr>
                </a:tc>
              </a:tr>
              <a:tr h="384048">
                <a:tc>
                  <a:txBody>
                    <a:bodyPr wrap="square"/>
                    <a:lstStyle/>
                    <a:p>
                      <a:r>
                        <a:rPr sz="950" b="0" i="0">
                          <a:solidFill>
                            <a:srgbClr val="202020"/>
                          </a:solidFill>
                          <a:latin typeface="Consolas"/>
                        </a:rPr>
                        <a:t>DEADLETTER_PAYLOAD_MODE</a:t>
                      </a:r>
                    </a:p>
                  </a:txBody>
                  <a:tcPr marT="12700" marB="12700">
                    <a:solidFill>
                      <a:srgbClr val="F7F9FC"/>
                    </a:solidFill>
                  </a:tcPr>
                </a:tc>
                <a:tc>
                  <a:txBody>
                    <a:bodyPr wrap="square"/>
                    <a:lstStyle/>
                    <a:p>
                      <a:r>
                        <a:rPr sz="950" b="0" i="0">
                          <a:solidFill>
                            <a:srgbClr val="202020"/>
                          </a:solidFill>
                          <a:latin typeface="Calibri"/>
                        </a:rPr>
                        <a:t>redacted</a:t>
                      </a:r>
                    </a:p>
                  </a:txBody>
                  <a:tcPr marT="12700" marB="12700">
                    <a:solidFill>
                      <a:srgbClr val="F7F9FC"/>
                    </a:solidFill>
                  </a:tcPr>
                </a:tc>
                <a:tc>
                  <a:txBody>
                    <a:bodyPr wrap="square"/>
                    <a:lstStyle/>
                    <a:p>
                      <a:r>
                        <a:rPr sz="950" b="0" i="0">
                          <a:solidFill>
                            <a:srgbClr val="202020"/>
                          </a:solidFill>
                          <a:latin typeface="Calibri"/>
                        </a:rPr>
                        <a:t>Changed in v1.1. redacted (default) strips indexed content/property VALUES from dead-letter records (ids/version/error/ACL/SHA-256 stubs kept); full stores payloads verbatim (opt-in). An unrecognized value fails fast at config load, naming the setting</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548</a:t>
            </a:r>
          </a:p>
        </p:txBody>
      </p:sp>
    </p:spTree>
  </p:cSld>
  <p:clrMapOvr>
    <a:masterClrMapping/>
  </p:clrMapOvr>
</p:sld>
</file>

<file path=ppt/slides/slide5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Data governance &amp; compliance controls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These control the compliance-facing behaviour hardened in v1.1: the tamper-evident audit ledger, the optional data-classification tag and its optional ACL enforcement, and the stale-index item TTL. All are OFF by default.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549</a:t>
            </a:r>
          </a:p>
        </p:txBody>
      </p:sp>
    </p:spTree>
  </p:cSld>
  <p:clrMapOvr>
    <a:masterClrMapping/>
  </p:clrMapOvr>
</p:sld>
</file>

<file path=ppt/slides/slide5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Data governance &amp; compliance controls</a:t>
            </a:r>
          </a:p>
        </p:txBody>
      </p:sp>
      <p:graphicFrame>
        <p:nvGraphicFramePr>
          <p:cNvPr id="5" name="Table 4"/>
          <p:cNvGraphicFramePr>
            <a:graphicFrameLocks noGrp="1"/>
          </p:cNvGraphicFramePr>
          <p:nvPr/>
        </p:nvGraphicFramePr>
        <p:xfrm>
          <a:off x="502920" y="1188720"/>
          <a:ext cx="11185855" cy="2688336"/>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Default</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r>
              <a:tr h="384048">
                <a:tc>
                  <a:txBody>
                    <a:bodyPr wrap="square"/>
                    <a:lstStyle/>
                    <a:p>
                      <a:r>
                        <a:rPr sz="950" b="0" i="0">
                          <a:solidFill>
                            <a:srgbClr val="202020"/>
                          </a:solidFill>
                          <a:latin typeface="Consolas"/>
                        </a:rPr>
                        <a:t>DECISION_LEDGER</a:t>
                      </a:r>
                    </a:p>
                  </a:txBody>
                  <a:tcPr marT="12700" marB="12700">
                    <a:solidFill>
                      <a:srgbClr val="FFFFFF"/>
                    </a:solidFill>
                  </a:tcPr>
                </a:tc>
                <a:tc>
                  <a:txBody>
                    <a:bodyPr wrap="square"/>
                    <a:lstStyle/>
                    <a:p>
                      <a:r>
                        <a:rPr sz="950" b="0" i="0">
                          <a:solidFill>
                            <a:srgbClr val="202020"/>
                          </a:solidFill>
                          <a:latin typeface="Calibri"/>
                        </a:rPr>
                        <a:t>false</a:t>
                      </a:r>
                    </a:p>
                  </a:txBody>
                  <a:tcPr marT="12700" marB="12700">
                    <a:solidFill>
                      <a:srgbClr val="FFFFFF"/>
                    </a:solidFill>
                  </a:tcPr>
                </a:tc>
                <a:tc>
                  <a:txBody>
                    <a:bodyPr wrap="square"/>
                    <a:lstStyle/>
                    <a:p>
                      <a:r>
                        <a:rPr sz="950" b="0" i="0">
                          <a:solidFill>
                            <a:srgbClr val="202020"/>
                          </a:solidFill>
                          <a:latin typeface="Calibri"/>
                        </a:rPr>
                        <a:t>Opt-in. Write an append-only, SHA-256 hash-chained ledger of compliance DECISIONS (No-MNE exclusions + classification ACL-restrictions; ids/reasons only, no content/PII) to logs/{run}/decision_ledger_*.jsonl. Tamper-evident: any edit/reorder/deletion breaks the chain (offline Verify)</a:t>
                      </a:r>
                    </a:p>
                  </a:txBody>
                  <a:tcPr marT="12700" marB="12700">
                    <a:solidFill>
                      <a:srgbClr val="FFFFFF"/>
                    </a:solidFill>
                  </a:tcPr>
                </a:tc>
              </a:tr>
              <a:tr h="384048">
                <a:tc>
                  <a:txBody>
                    <a:bodyPr wrap="square"/>
                    <a:lstStyle/>
                    <a:p>
                      <a:r>
                        <a:rPr sz="950" b="0" i="0">
                          <a:solidFill>
                            <a:srgbClr val="202020"/>
                          </a:solidFill>
                          <a:latin typeface="Consolas"/>
                        </a:rPr>
                        <a:t>GRAPH_ITEM_TTL_DAYS</a:t>
                      </a:r>
                    </a:p>
                  </a:txBody>
                  <a:tcPr marT="12700" marB="12700">
                    <a:solidFill>
                      <a:srgbClr val="F7F9FC"/>
                    </a:solidFill>
                  </a:tcPr>
                </a:tc>
                <a:tc>
                  <a:txBody>
                    <a:bodyPr wrap="square"/>
                    <a:lstStyle/>
                    <a:p>
                      <a:r>
                        <a:rPr sz="950" b="0" i="0">
                          <a:solidFill>
                            <a:srgbClr val="202020"/>
                          </a:solidFill>
                          <a:latin typeface="Calibri"/>
                        </a:rPr>
                        <a:t>0</a:t>
                      </a:r>
                    </a:p>
                  </a:txBody>
                  <a:tcPr marT="12700" marB="12700">
                    <a:solidFill>
                      <a:srgbClr val="F7F9FC"/>
                    </a:solidFill>
                  </a:tcPr>
                </a:tc>
                <a:tc>
                  <a:txBody>
                    <a:bodyPr wrap="square"/>
                    <a:lstStyle/>
                    <a:p>
                      <a:r>
                        <a:rPr sz="950" b="0" i="0">
                          <a:solidFill>
                            <a:srgbClr val="202020"/>
                          </a:solidFill>
                          <a:latin typeface="Calibri"/>
                        </a:rPr>
                        <a:t>0 = no expiry (default). &gt;0 stamps every ingested item with expirationDateTime = now + TTL so the index self-expires if crawling stops after an outage; a healthy crawl re-stamps each pass. Choose a TTL comfortably longer than your full-crawl interval</a:t>
                      </a:r>
                    </a:p>
                  </a:txBody>
                  <a:tcPr marT="12700" marB="12700">
                    <a:solidFill>
                      <a:srgbClr val="F7F9FC"/>
                    </a:solidFill>
                  </a:tcPr>
                </a:tc>
              </a:tr>
              <a:tr h="384048">
                <a:tc>
                  <a:txBody>
                    <a:bodyPr wrap="square"/>
                    <a:lstStyle/>
                    <a:p>
                      <a:r>
                        <a:rPr sz="950" b="0" i="0">
                          <a:solidFill>
                            <a:srgbClr val="202020"/>
                          </a:solidFill>
                          <a:latin typeface="Consolas"/>
                        </a:rPr>
                        <a:t>CLASSIFICATION</a:t>
                      </a:r>
                    </a:p>
                  </a:txBody>
                  <a:tcPr marT="12700" marB="12700">
                    <a:solidFill>
                      <a:srgbClr val="FFFFFF"/>
                    </a:solidFill>
                  </a:tcPr>
                </a:tc>
                <a:tc>
                  <a:txBody>
                    <a:bodyPr wrap="square"/>
                    <a:lstStyle/>
                    <a:p>
                      <a:r>
                        <a:rPr sz="950" b="0" i="0">
                          <a:solidFill>
                            <a:srgbClr val="202020"/>
                          </a:solidFill>
                          <a:latin typeface="Calibri"/>
                        </a:rPr>
                        <a:t>false</a:t>
                      </a:r>
                    </a:p>
                  </a:txBody>
                  <a:tcPr marT="12700" marB="12700">
                    <a:solidFill>
                      <a:srgbClr val="FFFFFF"/>
                    </a:solidFill>
                  </a:tcPr>
                </a:tc>
                <a:tc>
                  <a:txBody>
                    <a:bodyPr wrap="square"/>
                    <a:lstStyle/>
                    <a:p>
                      <a:r>
                        <a:rPr sz="950" b="0" i="0">
                          <a:solidFill>
                            <a:srgbClr val="202020"/>
                          </a:solidFill>
                          <a:latin typeface="Calibri"/>
                        </a:rPr>
                        <a:t>Run the dependency-free content classifier and stamp the advisory sensitivityLabel tag (Public &lt; Internal &lt; Confidential &lt; Restricted) + categories. A search/ranking/triage tag only — NOT a Purview label, no encryption/DLP. Never weakens No-MNE exclusion</a:t>
                      </a:r>
                    </a:p>
                  </a:txBody>
                  <a:tcPr marT="12700" marB="12700">
                    <a:solidFill>
                      <a:srgbClr val="FFFFFF"/>
                    </a:solidFill>
                  </a:tcPr>
                </a:tc>
              </a:tr>
              <a:tr h="384048">
                <a:tc>
                  <a:txBody>
                    <a:bodyPr wrap="square"/>
                    <a:lstStyle/>
                    <a:p>
                      <a:r>
                        <a:rPr sz="950" b="0" i="0">
                          <a:solidFill>
                            <a:srgbClr val="202020"/>
                          </a:solidFill>
                          <a:latin typeface="Consolas"/>
                        </a:rPr>
                        <a:t>CLASSIFICATION_MANIFEST</a:t>
                      </a:r>
                    </a:p>
                  </a:txBody>
                  <a:tcPr marT="12700" marB="12700">
                    <a:solidFill>
                      <a:srgbClr val="F7F9FC"/>
                    </a:solidFill>
                  </a:tcPr>
                </a:tc>
                <a:tc>
                  <a:txBody>
                    <a:bodyPr wrap="square"/>
                    <a:lstStyle/>
                    <a:p>
                      <a:r>
                        <a:rPr sz="950" b="0" i="0">
                          <a:solidFill>
                            <a:srgbClr val="202020"/>
                          </a:solidFill>
                          <a:latin typeface="Calibri"/>
                        </a:rPr>
                        <a:t>false</a:t>
                      </a:r>
                    </a:p>
                  </a:txBody>
                  <a:tcPr marT="12700" marB="12700">
                    <a:solidFill>
                      <a:srgbClr val="F7F9FC"/>
                    </a:solidFill>
                  </a:tcPr>
                </a:tc>
                <a:tc>
                  <a:txBody>
                    <a:bodyPr wrap="square"/>
                    <a:lstStyle/>
                    <a:p>
                      <a:r>
                        <a:rPr sz="950" b="0" i="0">
                          <a:solidFill>
                            <a:srgbClr val="202020"/>
                          </a:solidFill>
                          <a:latin typeface="Calibri"/>
                        </a:rPr>
                        <a:t>Requires CLASSIFICATION=true. Also write a per-crawl JSONL manifest (item → tag + categories) for a downstream catalog/DLP job</a:t>
                      </a:r>
                    </a:p>
                  </a:txBody>
                  <a:tcPr marT="12700" marB="12700">
                    <a:solidFill>
                      <a:srgbClr val="F7F9FC"/>
                    </a:solidFill>
                  </a:tcPr>
                </a:tc>
              </a:tr>
              <a:tr h="384048">
                <a:tc>
                  <a:txBody>
                    <a:bodyPr wrap="square"/>
                    <a:lstStyle/>
                    <a:p>
                      <a:r>
                        <a:rPr sz="950" b="0" i="0">
                          <a:solidFill>
                            <a:srgbClr val="202020"/>
                          </a:solidFill>
                          <a:latin typeface="Consolas"/>
                        </a:rPr>
                        <a:t>CLASSIFICATION_ENFORCE_ACL</a:t>
                      </a:r>
                    </a:p>
                  </a:txBody>
                  <a:tcPr marT="12700" marB="12700">
                    <a:solidFill>
                      <a:srgbClr val="FFFFFF"/>
                    </a:solidFill>
                  </a:tcPr>
                </a:tc>
                <a:tc>
                  <a:txBody>
                    <a:bodyPr wrap="square"/>
                    <a:lstStyle/>
                    <a:p>
                      <a:r>
                        <a:rPr sz="950" b="0" i="0">
                          <a:solidFill>
                            <a:srgbClr val="202020"/>
                          </a:solidFill>
                          <a:latin typeface="Calibri"/>
                        </a:rPr>
                        <a:t>false</a:t>
                      </a:r>
                    </a:p>
                  </a:txBody>
                  <a:tcPr marT="12700" marB="12700">
                    <a:solidFill>
                      <a:srgbClr val="FFFFFF"/>
                    </a:solidFill>
                  </a:tcPr>
                </a:tc>
                <a:tc>
                  <a:txBody>
                    <a:bodyPr wrap="square"/>
                    <a:lstStyle/>
                    <a:p>
                      <a:r>
                        <a:rPr sz="950" b="0" i="0">
                          <a:solidFill>
                            <a:srgbClr val="202020"/>
                          </a:solidFill>
                          <a:latin typeface="Calibri"/>
                        </a:rPr>
                        <a:t>Opt-in enforcement. When true, items tagged Restricted have their Graph ACL locked to CLASSIFICATION_ENFORCE_GROUP (advisory tag → real access control, applied at the Graph ACL, still independent of Purview). Requires CLASSIFICATION=true; config load fails fast if on without the group. Stays locked through re-ACL (section 8)</a:t>
                      </a:r>
                    </a:p>
                  </a:txBody>
                  <a:tcPr marT="12700" marB="12700">
                    <a:solidFill>
                      <a:srgbClr val="FFFFFF"/>
                    </a:solidFill>
                  </a:tcPr>
                </a:tc>
              </a:tr>
              <a:tr h="384048">
                <a:tc>
                  <a:txBody>
                    <a:bodyPr wrap="square"/>
                    <a:lstStyle/>
                    <a:p>
                      <a:r>
                        <a:rPr sz="950" b="0" i="0">
                          <a:solidFill>
                            <a:srgbClr val="202020"/>
                          </a:solidFill>
                          <a:latin typeface="Consolas"/>
                        </a:rPr>
                        <a:t>CLASSIFICATION_ENFORCE_GROUP</a:t>
                      </a:r>
                    </a:p>
                  </a:txBody>
                  <a:tcPr marT="12700" marB="12700">
                    <a:solidFill>
                      <a:srgbClr val="F7F9FC"/>
                    </a:solidFill>
                  </a:tcPr>
                </a:tc>
                <a:tc>
                  <a:txBody>
                    <a:bodyPr wrap="square"/>
                    <a:lstStyle/>
                    <a:p>
                      <a:r>
                        <a:rPr sz="950" b="0" i="0">
                          <a:solidFill>
                            <a:srgbClr val="202020"/>
                          </a:solidFill>
                          <a:latin typeface="Calibri"/>
                        </a:rPr>
                        <a:t>(req. if enforce on)</a:t>
                      </a:r>
                    </a:p>
                  </a:txBody>
                  <a:tcPr marT="12700" marB="12700">
                    <a:solidFill>
                      <a:srgbClr val="F7F9FC"/>
                    </a:solidFill>
                  </a:tcPr>
                </a:tc>
                <a:tc>
                  <a:txBody>
                    <a:bodyPr wrap="square"/>
                    <a:lstStyle/>
                    <a:p>
                      <a:r>
                        <a:rPr sz="950" b="0" i="0">
                          <a:solidFill>
                            <a:srgbClr val="202020"/>
                          </a:solidFill>
                          <a:latin typeface="Calibri"/>
                        </a:rPr>
                        <a:t>Entra group OBJECT ID that Restricted items are locked to. Startup fails if CLASSIFICATION_ENFORCE_ACL=true and this is unset</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550</a:t>
            </a:r>
          </a:p>
        </p:txBody>
      </p:sp>
    </p:spTree>
  </p:cSld>
  <p:clrMapOvr>
    <a:masterClrMapping/>
  </p:clrMapOvr>
</p:sld>
</file>

<file path=ppt/slides/slide5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Data governance &amp; compliance controls</a:t>
            </a:r>
          </a:p>
        </p:txBody>
      </p:sp>
      <p:sp>
        <p:nvSpPr>
          <p:cNvPr id="5" name="Rectangle 4"/>
          <p:cNvSpPr/>
          <p:nvPr/>
        </p:nvSpPr>
        <p:spPr>
          <a:xfrm>
            <a:off x="502920" y="1463040"/>
            <a:ext cx="11185855" cy="329184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5496"/>
                </a:solidFill>
                <a:latin typeface="Calibri"/>
              </a:rPr>
              <a:t>Note:  </a:t>
            </a:r>
            <a:r>
              <a:rPr sz="1400" b="1" i="0">
                <a:solidFill>
                  <a:srgbClr val="202020"/>
                </a:solidFill>
                <a:latin typeface="Calibri"/>
              </a:rPr>
              <a:t>Note: </a:t>
            </a:r>
            <a:r>
              <a:rPr sz="1400" b="0" i="0">
                <a:solidFill>
                  <a:srgbClr val="202020"/>
                </a:solidFill>
                <a:latin typeface="Calibri"/>
              </a:rPr>
              <a:t>The connector also creates its </a:t>
            </a:r>
            <a:r>
              <a:rPr sz="1350" b="0" i="0">
                <a:solidFill>
                  <a:srgbClr val="202020"/>
                </a:solidFill>
                <a:latin typeface="Consolas"/>
              </a:rPr>
              <a:t>logs/</a:t>
            </a:r>
            <a:r>
              <a:rPr sz="1400" b="0" i="0">
                <a:solidFill>
                  <a:srgbClr val="202020"/>
                </a:solidFill>
                <a:latin typeface="Calibri"/>
              </a:rPr>
              <a:t>, </a:t>
            </a:r>
            <a:r>
              <a:rPr sz="1350" b="0" i="0">
                <a:solidFill>
                  <a:srgbClr val="202020"/>
                </a:solidFill>
                <a:latin typeface="Consolas"/>
              </a:rPr>
              <a:t>data/</a:t>
            </a:r>
            <a:r>
              <a:rPr sz="1400" b="0" i="0">
                <a:solidFill>
                  <a:srgbClr val="202020"/>
                </a:solidFill>
                <a:latin typeface="Calibri"/>
              </a:rPr>
              <a:t> and dead-letter directories </a:t>
            </a:r>
            <a:r>
              <a:rPr sz="1400" b="1" i="0">
                <a:solidFill>
                  <a:srgbClr val="202020"/>
                </a:solidFill>
                <a:latin typeface="Calibri"/>
              </a:rPr>
              <a:t>owner-only</a:t>
            </a:r>
            <a:r>
              <a:rPr sz="1400" b="0" i="0">
                <a:solidFill>
                  <a:srgbClr val="202020"/>
                </a:solidFill>
                <a:latin typeface="Calibri"/>
              </a:rPr>
              <a:t> at startup (POSIX </a:t>
            </a:r>
            <a:r>
              <a:rPr sz="1350" b="0" i="0">
                <a:solidFill>
                  <a:srgbClr val="202020"/>
                </a:solidFill>
                <a:latin typeface="Consolas"/>
              </a:rPr>
              <a:t>0700</a:t>
            </a:r>
            <a:r>
              <a:rPr sz="1400" b="0" i="0">
                <a:solidFill>
                  <a:srgbClr val="202020"/>
                </a:solidFill>
                <a:latin typeface="Calibri"/>
              </a:rPr>
              <a:t>; on Windows a best-effort owner+Administrators NTFS ACL) so this state is not world-readable on a shared host. This is best-effort and never fatal if the permission cannot be set.</a:t>
            </a:r>
          </a:p>
        </p:txBody>
      </p:sp>
      <p:sp>
        <p:nvSpPr>
          <p:cNvPr id="6" name="Rectangle 5"/>
          <p:cNvSpPr/>
          <p:nvPr/>
        </p:nvSpPr>
        <p:spPr>
          <a:xfrm>
            <a:off x="502920" y="1463040"/>
            <a:ext cx="128016" cy="329184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551</a:t>
            </a:r>
          </a:p>
        </p:txBody>
      </p:sp>
    </p:spTree>
  </p:cSld>
  <p:clrMapOvr>
    <a:masterClrMapping/>
  </p:clrMapOvr>
</p:sld>
</file>

<file path=ppt/slides/slide5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Seismic Connector</a:t>
            </a:r>
          </a:p>
          <a:p>
            <a:r>
              <a:rPr sz="3000" b="1" i="0">
                <a:solidFill>
                  <a:srgbClr val="1F3864"/>
                </a:solidFill>
                <a:latin typeface="Calibri"/>
              </a:rPr>
              <a:t>16. Glossary</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552</a:t>
            </a:r>
          </a:p>
        </p:txBody>
      </p:sp>
    </p:spTree>
  </p:cSld>
  <p:clrMapOvr>
    <a:masterClrMapping/>
  </p:clrMapOvr>
</p:sld>
</file>

<file path=ppt/slides/slide5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Sales enablement</a:t>
            </a:r>
          </a:p>
          <a:p>
            <a:pPr>
              <a:spcAft>
                <a:spcPts val="0"/>
              </a:spcAft>
            </a:pPr>
            <a:r>
              <a:rPr sz="1000" b="1" i="0">
                <a:solidFill>
                  <a:srgbClr val="595959"/>
                </a:solidFill>
                <a:latin typeface="Calibri"/>
              </a:rPr>
              <a:t>What it is  </a:t>
            </a:r>
            <a:r>
              <a:rPr sz="1100" b="0" i="0">
                <a:solidFill>
                  <a:srgbClr val="202020"/>
                </a:solidFill>
                <a:latin typeface="Calibri"/>
              </a:rPr>
              <a:t>The category of software Seismic belongs to: a managed library of approved, up-to-date material for client-facing staff.</a:t>
            </a:r>
          </a:p>
          <a:p>
            <a:pPr>
              <a:spcAft>
                <a:spcPts val="200"/>
              </a:spcAft>
            </a:pPr>
            <a:r>
              <a:rPr sz="1000" b="1" i="0">
                <a:solidFill>
                  <a:srgbClr val="595959"/>
                </a:solidFill>
                <a:latin typeface="Calibri"/>
              </a:rPr>
              <a:t>Why it matters  </a:t>
            </a:r>
            <a:r>
              <a:rPr sz="1100" b="0" i="0">
                <a:solidFill>
                  <a:srgbClr val="202020"/>
                </a:solidFill>
                <a:latin typeface="Calibri"/>
              </a:rPr>
              <a:t>It tells you what the source system is for — the content is curated collateral, which is why indexing it into Copilot is valuable and why compliance controls matter.</a:t>
            </a:r>
          </a:p>
          <a:p>
            <a:pPr>
              <a:spcBef>
                <a:spcPts val="600"/>
              </a:spcBef>
              <a:spcAft>
                <a:spcPts val="100"/>
              </a:spcAft>
            </a:pPr>
            <a:r>
              <a:rPr sz="1400" b="1" i="0">
                <a:solidFill>
                  <a:srgbClr val="1F3864"/>
                </a:solidFill>
                <a:latin typeface="Calibri"/>
              </a:rPr>
              <a:t>Teamsite (library)</a:t>
            </a:r>
          </a:p>
          <a:p>
            <a:pPr>
              <a:spcAft>
                <a:spcPts val="0"/>
              </a:spcAft>
            </a:pPr>
            <a:r>
              <a:rPr sz="1000" b="1" i="0">
                <a:solidFill>
                  <a:srgbClr val="595959"/>
                </a:solidFill>
                <a:latin typeface="Calibri"/>
              </a:rPr>
              <a:t>What it is  </a:t>
            </a:r>
            <a:r>
              <a:rPr sz="1100" b="0" i="0">
                <a:solidFill>
                  <a:srgbClr val="202020"/>
                </a:solidFill>
                <a:latin typeface="Calibri"/>
              </a:rPr>
              <a:t>A Seismic container that holds content items and carries its own membership and permissions — like a department's shared library.</a:t>
            </a:r>
          </a:p>
          <a:p>
            <a:pPr>
              <a:spcAft>
                <a:spcPts val="200"/>
              </a:spcAft>
            </a:pPr>
            <a:r>
              <a:rPr sz="1000" b="1" i="0">
                <a:solidFill>
                  <a:srgbClr val="595959"/>
                </a:solidFill>
                <a:latin typeface="Calibri"/>
              </a:rPr>
              <a:t>Why it matters  </a:t>
            </a:r>
            <a:r>
              <a:rPr sz="1100" b="0" i="0">
                <a:solidFill>
                  <a:srgbClr val="202020"/>
                </a:solidFill>
                <a:latin typeface="Calibri"/>
              </a:rPr>
              <a:t>Teamsite permissions are the fallback ACL for items that have none of their own, and a whole teamsite can be marked restricted and excluded.</a:t>
            </a:r>
          </a:p>
          <a:p>
            <a:pPr>
              <a:spcBef>
                <a:spcPts val="600"/>
              </a:spcBef>
              <a:spcAft>
                <a:spcPts val="100"/>
              </a:spcAft>
            </a:pPr>
            <a:r>
              <a:rPr sz="1400" b="1" i="0">
                <a:solidFill>
                  <a:srgbClr val="1F3864"/>
                </a:solidFill>
                <a:latin typeface="Calibri"/>
              </a:rPr>
              <a:t>Content item</a:t>
            </a:r>
          </a:p>
          <a:p>
            <a:pPr>
              <a:spcAft>
                <a:spcPts val="0"/>
              </a:spcAft>
            </a:pPr>
            <a:r>
              <a:rPr sz="1000" b="1" i="0">
                <a:solidFill>
                  <a:srgbClr val="595959"/>
                </a:solidFill>
                <a:latin typeface="Calibri"/>
              </a:rPr>
              <a:t>What it is  </a:t>
            </a:r>
            <a:r>
              <a:rPr sz="1100" b="0" i="0">
                <a:solidFill>
                  <a:srgbClr val="202020"/>
                </a:solidFill>
                <a:latin typeface="Calibri"/>
              </a:rPr>
              <a:t>One indexable asset in Seismic — a document, page, or LiveDoc. Becomes one Graph external item.</a:t>
            </a:r>
          </a:p>
          <a:p>
            <a:pPr>
              <a:spcAft>
                <a:spcPts val="200"/>
              </a:spcAft>
            </a:pPr>
            <a:r>
              <a:rPr sz="1000" b="1" i="0">
                <a:solidFill>
                  <a:srgbClr val="595959"/>
                </a:solidFill>
                <a:latin typeface="Calibri"/>
              </a:rPr>
              <a:t>Why it matters  </a:t>
            </a:r>
            <a:r>
              <a:rPr sz="1100" b="0" i="0">
                <a:solidFill>
                  <a:srgbClr val="202020"/>
                </a:solidFill>
                <a:latin typeface="Calibri"/>
              </a:rPr>
              <a:t>It is the unit the connector ingests, versions, permissions, and withdraws.</a:t>
            </a:r>
          </a:p>
          <a:p>
            <a:pPr>
              <a:spcBef>
                <a:spcPts val="600"/>
              </a:spcBef>
              <a:spcAft>
                <a:spcPts val="100"/>
              </a:spcAft>
            </a:pPr>
            <a:r>
              <a:rPr sz="1400" b="1" i="0">
                <a:solidFill>
                  <a:srgbClr val="1F3864"/>
                </a:solidFill>
                <a:latin typeface="Calibri"/>
              </a:rPr>
              <a:t>LiveDoc</a:t>
            </a:r>
          </a:p>
          <a:p>
            <a:pPr>
              <a:spcAft>
                <a:spcPts val="0"/>
              </a:spcAft>
            </a:pPr>
            <a:r>
              <a:rPr sz="1000" b="1" i="0">
                <a:solidFill>
                  <a:srgbClr val="595959"/>
                </a:solidFill>
                <a:latin typeface="Calibri"/>
              </a:rPr>
              <a:t>What it is  </a:t>
            </a:r>
            <a:r>
              <a:rPr sz="1100" b="0" i="0">
                <a:solidFill>
                  <a:srgbClr val="202020"/>
                </a:solidFill>
                <a:latin typeface="Calibri"/>
              </a:rPr>
              <a:t>A Seismic document template personalised at generation time by filling in fields/variables (e.g. client name, product, region).</a:t>
            </a:r>
          </a:p>
          <a:p>
            <a:pPr>
              <a:spcAft>
                <a:spcPts val="200"/>
              </a:spcAft>
            </a:pPr>
            <a:r>
              <a:rPr sz="1000" b="1" i="0">
                <a:solidFill>
                  <a:srgbClr val="595959"/>
                </a:solidFill>
                <a:latin typeface="Calibri"/>
              </a:rPr>
              <a:t>Why it matters  </a:t>
            </a:r>
            <a:r>
              <a:rPr sz="1100" b="0" i="0">
                <a:solidFill>
                  <a:srgbClr val="202020"/>
                </a:solidFill>
                <a:latin typeface="Calibri"/>
              </a:rPr>
              <a:t>With LiveDoc field indexing on, a template becomes findable by the inputs it exposes, not just its title.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553</a:t>
            </a:r>
          </a:p>
        </p:txBody>
      </p:sp>
    </p:spTree>
  </p:cSld>
  <p:clrMapOvr>
    <a:masterClrMapping/>
  </p:clrMapOvr>
</p:sld>
</file>

<file path=ppt/slides/slide5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Version-aware ingest</a:t>
            </a:r>
          </a:p>
          <a:p>
            <a:pPr>
              <a:spcAft>
                <a:spcPts val="0"/>
              </a:spcAft>
            </a:pPr>
            <a:r>
              <a:rPr sz="1000" b="1" i="0">
                <a:solidFill>
                  <a:srgbClr val="595959"/>
                </a:solidFill>
                <a:latin typeface="Calibri"/>
              </a:rPr>
              <a:t>What it is  </a:t>
            </a:r>
            <a:r>
              <a:rPr sz="1100" b="0" i="0">
                <a:solidFill>
                  <a:srgbClr val="202020"/>
                </a:solidFill>
                <a:latin typeface="Calibri"/>
              </a:rPr>
              <a:t>Indexing only the current published version of an item, updating in place when a new version supersedes it.</a:t>
            </a:r>
          </a:p>
          <a:p>
            <a:pPr>
              <a:spcAft>
                <a:spcPts val="200"/>
              </a:spcAft>
            </a:pPr>
            <a:r>
              <a:rPr sz="1000" b="1" i="0">
                <a:solidFill>
                  <a:srgbClr val="595959"/>
                </a:solidFill>
                <a:latin typeface="Calibri"/>
              </a:rPr>
              <a:t>Why it matters  </a:t>
            </a:r>
            <a:r>
              <a:rPr sz="1100" b="0" i="0">
                <a:solidFill>
                  <a:srgbClr val="202020"/>
                </a:solidFill>
                <a:latin typeface="Calibri"/>
              </a:rPr>
              <a:t>Prevents duplicate or stale versions in Copilot and drives the supersede/withdraw behaviour.</a:t>
            </a:r>
          </a:p>
          <a:p>
            <a:pPr>
              <a:spcBef>
                <a:spcPts val="600"/>
              </a:spcBef>
              <a:spcAft>
                <a:spcPts val="100"/>
              </a:spcAft>
            </a:pPr>
            <a:r>
              <a:rPr sz="1400" b="1" i="0">
                <a:solidFill>
                  <a:srgbClr val="1F3864"/>
                </a:solidFill>
                <a:latin typeface="Calibri"/>
              </a:rPr>
              <a:t>Supersede / withdraw</a:t>
            </a:r>
          </a:p>
          <a:p>
            <a:pPr>
              <a:spcAft>
                <a:spcPts val="0"/>
              </a:spcAft>
            </a:pPr>
            <a:r>
              <a:rPr sz="1000" b="1" i="0">
                <a:solidFill>
                  <a:srgbClr val="595959"/>
                </a:solidFill>
                <a:latin typeface="Calibri"/>
              </a:rPr>
              <a:t>What it is  </a:t>
            </a:r>
            <a:r>
              <a:rPr sz="1100" b="0" i="0">
                <a:solidFill>
                  <a:srgbClr val="202020"/>
                </a:solidFill>
                <a:latin typeface="Calibri"/>
              </a:rPr>
              <a:t>Supersede = a newer published version overwrites the same external item. Withdraw = the item is deleted from the connection (unpublished, expired, deleted, or restricted).</a:t>
            </a:r>
          </a:p>
          <a:p>
            <a:pPr>
              <a:spcAft>
                <a:spcPts val="200"/>
              </a:spcAft>
            </a:pPr>
            <a:r>
              <a:rPr sz="1000" b="1" i="0">
                <a:solidFill>
                  <a:srgbClr val="595959"/>
                </a:solidFill>
                <a:latin typeface="Calibri"/>
              </a:rPr>
              <a:t>Why it matters  </a:t>
            </a:r>
            <a:r>
              <a:rPr sz="1100" b="0" i="0">
                <a:solidFill>
                  <a:srgbClr val="202020"/>
                </a:solidFill>
                <a:latin typeface="Calibri"/>
              </a:rPr>
              <a:t>These are the two ways content leaves or refreshes in the index; both are recorded for audit.</a:t>
            </a:r>
          </a:p>
          <a:p>
            <a:pPr>
              <a:spcBef>
                <a:spcPts val="600"/>
              </a:spcBef>
              <a:spcAft>
                <a:spcPts val="100"/>
              </a:spcAft>
            </a:pPr>
            <a:r>
              <a:rPr sz="1400" b="1" i="0">
                <a:solidFill>
                  <a:srgbClr val="1F3864"/>
                </a:solidFill>
                <a:latin typeface="Calibri"/>
              </a:rPr>
              <a:t>No-MNE / Materially Non-public (MNE / MNPI)</a:t>
            </a:r>
          </a:p>
          <a:p>
            <a:pPr>
              <a:spcAft>
                <a:spcPts val="0"/>
              </a:spcAft>
            </a:pPr>
            <a:r>
              <a:rPr sz="1000" b="1" i="0">
                <a:solidFill>
                  <a:srgbClr val="595959"/>
                </a:solidFill>
                <a:latin typeface="Calibri"/>
              </a:rPr>
              <a:t>What it is  </a:t>
            </a:r>
            <a:r>
              <a:rPr sz="1100" b="0" i="0">
                <a:solidFill>
                  <a:srgbClr val="202020"/>
                </a:solidFill>
                <a:latin typeface="Calibri"/>
              </a:rPr>
              <a:t>Material non-public event / information — price-sensitive, non-public content (deal rooms, pre-announcement earnings, embargoed research). The No-MNE filter excludes it at ingest time.</a:t>
            </a:r>
          </a:p>
          <a:p>
            <a:pPr>
              <a:spcAft>
                <a:spcPts val="200"/>
              </a:spcAft>
            </a:pPr>
            <a:r>
              <a:rPr sz="1000" b="1" i="0">
                <a:solidFill>
                  <a:srgbClr val="595959"/>
                </a:solidFill>
                <a:latin typeface="Calibri"/>
              </a:rPr>
              <a:t>Why it matters  </a:t>
            </a:r>
            <a:r>
              <a:rPr sz="1100" b="0" i="0">
                <a:solidFill>
                  <a:srgbClr val="202020"/>
                </a:solidFill>
                <a:latin typeface="Calibri"/>
              </a:rPr>
              <a:t>The core compliance guarantee: such content is never indexed, and content flagged after ingest is withdrawn, with an auditable reconciliation report.</a:t>
            </a:r>
          </a:p>
          <a:p>
            <a:pPr>
              <a:spcBef>
                <a:spcPts val="600"/>
              </a:spcBef>
              <a:spcAft>
                <a:spcPts val="100"/>
              </a:spcAft>
            </a:pPr>
            <a:r>
              <a:rPr sz="1400" b="1" i="0">
                <a:solidFill>
                  <a:srgbClr val="1F3864"/>
                </a:solidFill>
                <a:latin typeface="Calibri"/>
              </a:rPr>
              <a:t>Exclusion filter</a:t>
            </a:r>
          </a:p>
          <a:p>
            <a:pPr>
              <a:spcAft>
                <a:spcPts val="0"/>
              </a:spcAft>
            </a:pPr>
            <a:r>
              <a:rPr sz="1000" b="1" i="0">
                <a:solidFill>
                  <a:srgbClr val="595959"/>
                </a:solidFill>
                <a:latin typeface="Calibri"/>
              </a:rPr>
              <a:t>What it is  </a:t>
            </a:r>
            <a:r>
              <a:rPr sz="1100" b="0" i="0">
                <a:solidFill>
                  <a:srgbClr val="202020"/>
                </a:solidFill>
                <a:latin typeface="Calibri"/>
              </a:rPr>
              <a:t>The config-driven rules (config/exclusions.json) evaluated before download that decide whether an item is excluded — by flag, library name/id, Seismic-restricted teamsite, or bespoke property rule.</a:t>
            </a:r>
          </a:p>
          <a:p>
            <a:pPr>
              <a:spcAft>
                <a:spcPts val="200"/>
              </a:spcAft>
            </a:pPr>
            <a:r>
              <a:rPr sz="1000" b="1" i="0">
                <a:solidFill>
                  <a:srgbClr val="595959"/>
                </a:solidFill>
                <a:latin typeface="Calibri"/>
              </a:rPr>
              <a:t>Why it matters  </a:t>
            </a:r>
            <a:r>
              <a:rPr sz="1100" b="0" i="0">
                <a:solidFill>
                  <a:srgbClr val="202020"/>
                </a:solidFill>
                <a:latin typeface="Calibri"/>
              </a:rPr>
              <a:t>It is where compliance policy is expressed; a missing or weakened file means content is not protected, so it is change-controlled like code.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554</a:t>
            </a:r>
          </a:p>
        </p:txBody>
      </p:sp>
    </p:spTree>
  </p:cSld>
  <p:clrMapOvr>
    <a:masterClrMapping/>
  </p:clrMapOvr>
</p:sld>
</file>

<file path=ppt/slides/slide5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ACL fingerprint / re-ACL</a:t>
            </a:r>
          </a:p>
          <a:p>
            <a:pPr>
              <a:spcAft>
                <a:spcPts val="0"/>
              </a:spcAft>
            </a:pPr>
            <a:r>
              <a:rPr sz="1000" b="1" i="0">
                <a:solidFill>
                  <a:srgbClr val="595959"/>
                </a:solidFill>
                <a:latin typeface="Calibri"/>
              </a:rPr>
              <a:t>What it is  </a:t>
            </a:r>
            <a:r>
              <a:rPr sz="1100" b="0" i="0">
                <a:solidFill>
                  <a:srgbClr val="202020"/>
                </a:solidFill>
                <a:latin typeface="Calibri"/>
              </a:rPr>
              <a:t>A stable hash of an item's resolved Entra principal set (the fingerprint), and the act of refreshing an item's ACL when that fingerprint changes (re-ACL) via an ACL-only update that does not re-send content.</a:t>
            </a:r>
          </a:p>
          <a:p>
            <a:pPr>
              <a:spcAft>
                <a:spcPts val="200"/>
              </a:spcAft>
            </a:pPr>
            <a:r>
              <a:rPr sz="1000" b="1" i="0">
                <a:solidFill>
                  <a:srgbClr val="595959"/>
                </a:solidFill>
                <a:latin typeface="Calibri"/>
              </a:rPr>
              <a:t>Why it matters  </a:t>
            </a:r>
            <a:r>
              <a:rPr sz="1100" b="0" i="0">
                <a:solidFill>
                  <a:srgbClr val="202020"/>
                </a:solidFill>
                <a:latin typeface="Calibri"/>
              </a:rPr>
              <a:t>Lets permission changes be reflected cheaply and safely, and underpins the never-widen guarantee on unresolved identities.</a:t>
            </a:r>
          </a:p>
          <a:p>
            <a:pPr>
              <a:spcBef>
                <a:spcPts val="600"/>
              </a:spcBef>
              <a:spcAft>
                <a:spcPts val="100"/>
              </a:spcAft>
            </a:pPr>
            <a:r>
              <a:rPr sz="1400" b="1" i="0">
                <a:solidFill>
                  <a:srgbClr val="1F3864"/>
                </a:solidFill>
                <a:latin typeface="Calibri"/>
              </a:rPr>
              <a:t>OAuth2 client credentials</a:t>
            </a:r>
          </a:p>
          <a:p>
            <a:pPr>
              <a:spcAft>
                <a:spcPts val="0"/>
              </a:spcAft>
            </a:pPr>
            <a:r>
              <a:rPr sz="1000" b="1" i="0">
                <a:solidFill>
                  <a:srgbClr val="595959"/>
                </a:solidFill>
                <a:latin typeface="Calibri"/>
              </a:rPr>
              <a:t>What it is  </a:t>
            </a:r>
            <a:r>
              <a:rPr sz="1100" b="0" i="0">
                <a:solidFill>
                  <a:srgbClr val="202020"/>
                </a:solidFill>
                <a:latin typeface="Calibri"/>
              </a:rPr>
              <a:t>A machine-to-machine login: the connector presents a client id and secret and receives a short-lived access token — no human signs in.</a:t>
            </a:r>
          </a:p>
          <a:p>
            <a:pPr>
              <a:spcAft>
                <a:spcPts val="200"/>
              </a:spcAft>
            </a:pPr>
            <a:r>
              <a:rPr sz="1000" b="1" i="0">
                <a:solidFill>
                  <a:srgbClr val="595959"/>
                </a:solidFill>
                <a:latin typeface="Calibri"/>
              </a:rPr>
              <a:t>Why it matters  </a:t>
            </a:r>
            <a:r>
              <a:rPr sz="1100" b="0" i="0">
                <a:solidFill>
                  <a:srgbClr val="202020"/>
                </a:solidFill>
                <a:latin typeface="Calibri"/>
              </a:rPr>
              <a:t>It is how the connector authenticates to Seismic; a lapsed or wrong secret is the usual cause of an immediate crawl failure (oauth-failure).</a:t>
            </a:r>
          </a:p>
          <a:p>
            <a:pPr>
              <a:spcBef>
                <a:spcPts val="600"/>
              </a:spcBef>
              <a:spcAft>
                <a:spcPts val="100"/>
              </a:spcAft>
            </a:pPr>
            <a:r>
              <a:rPr sz="1400" b="1" i="0">
                <a:solidFill>
                  <a:srgbClr val="1F3864"/>
                </a:solidFill>
                <a:latin typeface="Calibri"/>
              </a:rPr>
              <a:t>Distribution (internal-only / client-approved)</a:t>
            </a:r>
          </a:p>
          <a:p>
            <a:pPr>
              <a:spcAft>
                <a:spcPts val="0"/>
              </a:spcAft>
            </a:pPr>
            <a:r>
              <a:rPr sz="1000" b="1" i="0">
                <a:solidFill>
                  <a:srgbClr val="595959"/>
                </a:solidFill>
                <a:latin typeface="Calibri"/>
              </a:rPr>
              <a:t>What it is  </a:t>
            </a:r>
            <a:r>
              <a:rPr sz="1100" b="0" i="0">
                <a:solidFill>
                  <a:srgbClr val="202020"/>
                </a:solidFill>
                <a:latin typeface="Calibri"/>
              </a:rPr>
              <a:t>A Seismic flag describing how content may be shared, indexed as the refinable distribution property.</a:t>
            </a:r>
          </a:p>
          <a:p>
            <a:pPr>
              <a:spcAft>
                <a:spcPts val="200"/>
              </a:spcAft>
            </a:pPr>
            <a:r>
              <a:rPr sz="1000" b="1" i="0">
                <a:solidFill>
                  <a:srgbClr val="595959"/>
                </a:solidFill>
                <a:latin typeface="Calibri"/>
              </a:rPr>
              <a:t>Why it matters  </a:t>
            </a:r>
            <a:r>
              <a:rPr sz="1100" b="0" i="0">
                <a:solidFill>
                  <a:srgbClr val="202020"/>
                </a:solidFill>
                <a:latin typeface="Calibri"/>
              </a:rPr>
              <a:t>It describes content and helps refine search; it is deliberately NOT an access control — permissions come from the ACL, not from this flag.</a:t>
            </a:r>
          </a:p>
          <a:p>
            <a:pPr>
              <a:spcBef>
                <a:spcPts val="600"/>
              </a:spcBef>
              <a:spcAft>
                <a:spcPts val="100"/>
              </a:spcAft>
            </a:pPr>
            <a:r>
              <a:rPr sz="1400" b="1" i="0">
                <a:solidFill>
                  <a:srgbClr val="1F3864"/>
                </a:solidFill>
                <a:latin typeface="Calibri"/>
              </a:rPr>
              <a:t>MNPI fail-closed (exclusions)</a:t>
            </a:r>
          </a:p>
          <a:p>
            <a:pPr>
              <a:spcAft>
                <a:spcPts val="0"/>
              </a:spcAft>
            </a:pPr>
            <a:r>
              <a:rPr sz="1000" b="1" i="0">
                <a:solidFill>
                  <a:srgbClr val="595959"/>
                </a:solidFill>
                <a:latin typeface="Calibri"/>
              </a:rPr>
              <a:t>What it is  </a:t>
            </a:r>
            <a:r>
              <a:rPr sz="1100" b="0" i="0">
                <a:solidFill>
                  <a:srgbClr val="202020"/>
                </a:solidFill>
                <a:latin typeface="Calibri"/>
              </a:rPr>
              <a:t>The v1.1 behaviour where a missing, empty, {}, null, malformed, or rule-less config/exclusions.json is a hard startup error rather than a silent "no rules". A rule-less run must be opted into explicitly with {"acknowledgeNoExclusions": true}.</a:t>
            </a:r>
          </a:p>
          <a:p>
            <a:pPr>
              <a:spcAft>
                <a:spcPts val="200"/>
              </a:spcAft>
            </a:pPr>
            <a:r>
              <a:rPr sz="1000" b="1" i="0">
                <a:solidFill>
                  <a:srgbClr val="595959"/>
                </a:solidFill>
                <a:latin typeface="Calibri"/>
              </a:rPr>
              <a:t>Why it matters  </a:t>
            </a:r>
            <a:r>
              <a:rPr sz="1100" b="0" i="0">
                <a:solidFill>
                  <a:srgbClr val="202020"/>
                </a:solidFill>
                <a:latin typeface="Calibri"/>
              </a:rPr>
              <a:t>It removes the single-config-slip failure mode that could have let MNPI-flagged content reach Copilot; the connector now refuses to run without a reviewed exclusion policy.</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555</a:t>
            </a:r>
          </a:p>
        </p:txBody>
      </p:sp>
    </p:spTree>
  </p:cSld>
  <p:clrMapOvr>
    <a:masterClrMapping/>
  </p:clrMapOvr>
</p:sld>
</file>

<file path=ppt/slides/slide5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Dead-letter redaction</a:t>
            </a:r>
          </a:p>
          <a:p>
            <a:pPr>
              <a:spcAft>
                <a:spcPts val="0"/>
              </a:spcAft>
            </a:pPr>
            <a:r>
              <a:rPr sz="1000" b="1" i="0">
                <a:solidFill>
                  <a:srgbClr val="595959"/>
                </a:solidFill>
                <a:latin typeface="Calibri"/>
              </a:rPr>
              <a:t>What it is  </a:t>
            </a:r>
            <a:r>
              <a:rPr sz="1100" b="0" i="0">
                <a:solidFill>
                  <a:srgbClr val="202020"/>
                </a:solidFill>
                <a:latin typeface="Calibri"/>
              </a:rPr>
              <a:t>The DEADLETTER_PAYLOAD_MODE control, defaulting to redacted in v1.1: failed-item records keep ids, version, error and ACL/SHA-256 stubs but strip indexed content and property values; full (opt-in) stores payloads verbatim. An unrecognized value fails config load.</a:t>
            </a:r>
          </a:p>
          <a:p>
            <a:pPr>
              <a:spcAft>
                <a:spcPts val="200"/>
              </a:spcAft>
            </a:pPr>
            <a:r>
              <a:rPr sz="1000" b="1" i="0">
                <a:solidFill>
                  <a:srgbClr val="595959"/>
                </a:solidFill>
                <a:latin typeface="Calibri"/>
              </a:rPr>
              <a:t>Why it matters  </a:t>
            </a:r>
            <a:r>
              <a:rPr sz="1100" b="0" i="0">
                <a:solidFill>
                  <a:srgbClr val="202020"/>
                </a:solidFill>
                <a:latin typeface="Calibri"/>
              </a:rPr>
              <a:t>It keeps raw content and PII off disk by default, so a growing dead-letter queue is not a data-at-rest exposure; retry-failed re-fetches from Seismic regardless of the mode.</a:t>
            </a:r>
          </a:p>
          <a:p>
            <a:pPr>
              <a:spcBef>
                <a:spcPts val="600"/>
              </a:spcBef>
              <a:spcAft>
                <a:spcPts val="100"/>
              </a:spcAft>
            </a:pPr>
            <a:r>
              <a:rPr sz="1400" b="1" i="0">
                <a:solidFill>
                  <a:srgbClr val="1F3864"/>
                </a:solidFill>
                <a:latin typeface="Calibri"/>
              </a:rPr>
              <a:t>Decision ledger</a:t>
            </a:r>
          </a:p>
          <a:p>
            <a:pPr>
              <a:spcAft>
                <a:spcPts val="0"/>
              </a:spcAft>
            </a:pPr>
            <a:r>
              <a:rPr sz="1000" b="1" i="0">
                <a:solidFill>
                  <a:srgbClr val="595959"/>
                </a:solidFill>
                <a:latin typeface="Calibri"/>
              </a:rPr>
              <a:t>What it is  </a:t>
            </a:r>
            <a:r>
              <a:rPr sz="1100" b="0" i="0">
                <a:solidFill>
                  <a:srgbClr val="202020"/>
                </a:solidFill>
                <a:latin typeface="Calibri"/>
              </a:rPr>
              <a:t>An opt-in (DECISION_LEDGER=true), append-only, SHA-256 hash-chained record of compliance decisions — No-MNE exclusions and classification ACL-restrictions (ids/reasons only, no content/PII) — that a Verify step can check for tamper, reorder or deletion.</a:t>
            </a:r>
          </a:p>
          <a:p>
            <a:pPr>
              <a:spcAft>
                <a:spcPts val="200"/>
              </a:spcAft>
            </a:pPr>
            <a:r>
              <a:rPr sz="1000" b="1" i="0">
                <a:solidFill>
                  <a:srgbClr val="595959"/>
                </a:solidFill>
                <a:latin typeface="Calibri"/>
              </a:rPr>
              <a:t>Why it matters  </a:t>
            </a:r>
            <a:r>
              <a:rPr sz="1100" b="0" i="0">
                <a:solidFill>
                  <a:srgbClr val="202020"/>
                </a:solidFill>
                <a:latin typeface="Calibri"/>
              </a:rPr>
              <a:t>It is tamper-evident audit evidence that the compliance controls actually fired; pair it with off-box/WORM shipping for a full guarantee.</a:t>
            </a:r>
          </a:p>
          <a:p>
            <a:pPr>
              <a:spcBef>
                <a:spcPts val="600"/>
              </a:spcBef>
              <a:spcAft>
                <a:spcPts val="100"/>
              </a:spcAft>
            </a:pPr>
            <a:r>
              <a:rPr sz="1400" b="1" i="0">
                <a:solidFill>
                  <a:srgbClr val="1F3864"/>
                </a:solidFill>
                <a:latin typeface="Calibri"/>
              </a:rPr>
              <a:t>Classification enforcement (advisory tag → ACL)</a:t>
            </a:r>
          </a:p>
          <a:p>
            <a:pPr>
              <a:spcAft>
                <a:spcPts val="0"/>
              </a:spcAft>
            </a:pPr>
            <a:r>
              <a:rPr sz="1000" b="1" i="0">
                <a:solidFill>
                  <a:srgbClr val="595959"/>
                </a:solidFill>
                <a:latin typeface="Calibri"/>
              </a:rPr>
              <a:t>What it is  </a:t>
            </a:r>
            <a:r>
              <a:rPr sz="1100" b="0" i="0">
                <a:solidFill>
                  <a:srgbClr val="202020"/>
                </a:solidFill>
                <a:latin typeface="Calibri"/>
              </a:rPr>
              <a:t>The sensitivityLabel is an advisory, connector-applied tag (Purview-aligned in naming only, no Purview enforcement). Optional CLASSIFICATION_ENFORCE_ACL + CLASSIFICATION_ENFORCE_GROUP turns a Restricted tag into a real Graph ACL lock to one Entra group.</a:t>
            </a:r>
          </a:p>
          <a:p>
            <a:pPr>
              <a:spcAft>
                <a:spcPts val="200"/>
              </a:spcAft>
            </a:pPr>
            <a:r>
              <a:rPr sz="1000" b="1" i="0">
                <a:solidFill>
                  <a:srgbClr val="595959"/>
                </a:solidFill>
                <a:latin typeface="Calibri"/>
              </a:rPr>
              <a:t>Why it matters  </a:t>
            </a:r>
            <a:r>
              <a:rPr sz="1100" b="0" i="0">
                <a:solidFill>
                  <a:srgbClr val="202020"/>
                </a:solidFill>
                <a:latin typeface="Calibri"/>
              </a:rPr>
              <a:t>It lets you optionally act on the classification without pretending the tag is a Purview label; an enforced Restricted item stays locked through the re-ACL sweep (section 8).</a:t>
            </a:r>
          </a:p>
          <a:p>
            <a:pPr>
              <a:spcBef>
                <a:spcPts val="600"/>
              </a:spcBef>
              <a:spcAft>
                <a:spcPts val="100"/>
              </a:spcAft>
            </a:pPr>
            <a:r>
              <a:rPr sz="1400" b="1" i="0">
                <a:solidFill>
                  <a:srgbClr val="1F3864"/>
                </a:solidFill>
                <a:latin typeface="Calibri"/>
              </a:rPr>
              <a:t>Stale-index item TTL / expirationDateTime</a:t>
            </a:r>
          </a:p>
          <a:p>
            <a:pPr>
              <a:spcAft>
                <a:spcPts val="0"/>
              </a:spcAft>
            </a:pPr>
            <a:r>
              <a:rPr sz="1000" b="1" i="0">
                <a:solidFill>
                  <a:srgbClr val="595959"/>
                </a:solidFill>
                <a:latin typeface="Calibri"/>
              </a:rPr>
              <a:t>What it is  </a:t>
            </a:r>
            <a:r>
              <a:rPr sz="1100" b="0" i="0">
                <a:solidFill>
                  <a:srgbClr val="202020"/>
                </a:solidFill>
                <a:latin typeface="Calibri"/>
              </a:rPr>
              <a:t>The GRAPH_ITEM_TTL_DAYS control: when &gt; 0, each ingested item is stamped a top-level Graph expirationDateTime = now + TTL, re-stamped every crawl.</a:t>
            </a:r>
          </a:p>
          <a:p>
            <a:pPr>
              <a:spcAft>
                <a:spcPts val="200"/>
              </a:spcAft>
            </a:pPr>
            <a:r>
              <a:rPr sz="1000" b="1" i="0">
                <a:solidFill>
                  <a:srgbClr val="595959"/>
                </a:solidFill>
                <a:latin typeface="Calibri"/>
              </a:rPr>
              <a:t>Why it matters  </a:t>
            </a:r>
            <a:r>
              <a:rPr sz="1100" b="0" i="0">
                <a:solidFill>
                  <a:srgbClr val="202020"/>
                </a:solidFill>
                <a:latin typeface="Calibri"/>
              </a:rPr>
              <a:t>It is defence-in-depth: if crawling stops after an outage, the index self-expires instead of serving stale content indefinitely; a healthy connector keeps live content from ever expiring.</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556</a:t>
            </a:r>
          </a:p>
        </p:txBody>
      </p:sp>
    </p:spTree>
  </p:cSld>
  <p:clrMapOvr>
    <a:masterClrMapping/>
  </p:clrMapOvr>
</p:sld>
</file>

<file path=ppt/slides/slide5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Webhook anti-replay / signed timestamp</a:t>
            </a:r>
          </a:p>
          <a:p>
            <a:pPr>
              <a:spcAft>
                <a:spcPts val="0"/>
              </a:spcAft>
            </a:pPr>
            <a:r>
              <a:rPr sz="1000" b="1" i="0">
                <a:solidFill>
                  <a:srgbClr val="595959"/>
                </a:solidFill>
                <a:latin typeface="Calibri"/>
              </a:rPr>
              <a:t>What it is  </a:t>
            </a:r>
            <a:r>
              <a:rPr sz="1100" b="0" i="0">
                <a:solidFill>
                  <a:srgbClr val="202020"/>
                </a:solidFill>
                <a:latin typeface="Calibri"/>
              </a:rPr>
              <a:t>The v1.1 webhook defence (SEISMIC_WEBHOOK_REQUIRE_TIMESTAMP, default on): the sender binds a signed timestamp into the HMAC (over {timestamp}.{body}) and the receiver rejects stale/future/replayed/missing-timestamp requests before parsing, within a freshness window (SEISMIC_WEBHOOK_REPLAY_WINDOW_SECONDS, default 300s).</a:t>
            </a:r>
          </a:p>
          <a:p>
            <a:pPr>
              <a:spcAft>
                <a:spcPts val="200"/>
              </a:spcAft>
            </a:pPr>
            <a:r>
              <a:rPr sz="1000" b="1" i="0">
                <a:solidFill>
                  <a:srgbClr val="595959"/>
                </a:solidFill>
                <a:latin typeface="Calibri"/>
              </a:rPr>
              <a:t>Why it matters  </a:t>
            </a:r>
            <a:r>
              <a:rPr sz="1100" b="0" i="0">
                <a:solidFill>
                  <a:srgbClr val="202020"/>
                </a:solidFill>
                <a:latin typeface="Calibri"/>
              </a:rPr>
              <a:t>A valid signature alone cannot stop a captured request being replayed; the signed timestamp closes that gap. Legacy body-only senders work only with the flag off, which has no replay protection.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Seismic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557</a:t>
            </a:r>
          </a:p>
        </p:txBody>
      </p:sp>
    </p:spTree>
  </p:cSld>
  <p:clrMapOvr>
    <a:masterClrMapping/>
  </p:clrMapOvr>
</p:sld>
</file>

<file path=ppt/slides/slide5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182880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331720"/>
            <a:ext cx="11185855" cy="1737360"/>
          </a:xfrm>
          <a:prstGeom prst="rect">
            <a:avLst/>
          </a:prstGeom>
          <a:noFill/>
        </p:spPr>
        <p:txBody>
          <a:bodyPr wrap="square" anchor="ctr" lIns="0" rIns="0" tIns="0" bIns="0">
            <a:spAutoFit/>
          </a:bodyPr>
          <a:lstStyle/>
          <a:p>
            <a:r>
              <a:rPr sz="2000" b="1" i="0">
                <a:solidFill>
                  <a:srgbClr val="C7D3EA"/>
                </a:solidFill>
                <a:latin typeface="Calibri"/>
              </a:rPr>
              <a:t>Part 4</a:t>
            </a:r>
          </a:p>
          <a:p>
            <a:r>
              <a:rPr sz="3400" b="1" i="0">
                <a:solidFill>
                  <a:srgbClr val="FFFFFF"/>
                </a:solidFill>
                <a:latin typeface="Calibri"/>
              </a:rPr>
              <a:t>Altrata Connector</a:t>
            </a:r>
          </a:p>
          <a:p>
            <a:r>
              <a:rPr sz="1600" b="0" i="0">
                <a:solidFill>
                  <a:srgbClr val="E0E8F5"/>
                </a:solidFill>
                <a:latin typeface="Calibri"/>
              </a:rPr>
              <a:t>Wealth &amp; relationship intelligence — DSAR in scope</a:t>
            </a:r>
          </a:p>
        </p:txBody>
      </p:sp>
    </p:spTree>
  </p:cSld>
  <p:clrMapOvr>
    <a:masterClrMapping/>
  </p:clrMapOvr>
</p:sld>
</file>

<file path=ppt/slides/slide5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Altrata Connector</a:t>
            </a:r>
          </a:p>
          <a:p>
            <a:r>
              <a:rPr sz="3000" b="1" i="0">
                <a:solidFill>
                  <a:srgbClr val="1F3864"/>
                </a:solidFill>
                <a:latin typeface="Calibri"/>
              </a:rPr>
              <a:t>1. About this guide</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559</a:t>
            </a:r>
          </a:p>
        </p:txBody>
      </p:sp>
    </p:spTree>
  </p:cSld>
  <p:clrMapOvr>
    <a:masterClrMapping/>
  </p:clrMapOvr>
</p:sld>
</file>

<file path=ppt/slides/slide5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 About this guide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This guide tells you how to install, run, monitor and support the Altrata connector, which brings Altrata relationship and wealth intelligence into Microsoft 365 Copilot. It is written for an IT operator who keeps the connector healthy day to day — you do not need to have built it.</a:t>
            </a:r>
          </a:p>
          <a:p>
            <a:pPr>
              <a:spcBef>
                <a:spcPts val="100"/>
              </a:spcBef>
              <a:spcAft>
                <a:spcPts val="400"/>
              </a:spcAft>
            </a:pPr>
            <a:r>
              <a:rPr sz="1250" b="0" i="0">
                <a:solidFill>
                  <a:srgbClr val="202020"/>
                </a:solidFill>
                <a:latin typeface="Calibri"/>
              </a:rPr>
              <a:t>Every term is explained on first use; deeper definitions live in the glossary (section 16). Where a value must come from another team, you will see an </a:t>
            </a:r>
            <a:r>
              <a:rPr sz="1250" b="1" i="0">
                <a:solidFill>
                  <a:srgbClr val="202020"/>
                </a:solidFill>
                <a:latin typeface="Calibri"/>
              </a:rPr>
              <a:t>Information to request</a:t>
            </a:r>
            <a:r>
              <a:rPr sz="1250" b="0" i="0">
                <a:solidFill>
                  <a:srgbClr val="202020"/>
                </a:solidFill>
                <a:latin typeface="Calibri"/>
              </a:rPr>
              <a:t> box naming who owns it. Steps that carry a privacy or compliance obligation are flagged with an </a:t>
            </a:r>
            <a:r>
              <a:rPr sz="1250" b="1" i="0">
                <a:solidFill>
                  <a:srgbClr val="202020"/>
                </a:solidFill>
                <a:latin typeface="Calibri"/>
              </a:rPr>
              <a:t>Important</a:t>
            </a:r>
            <a:r>
              <a:rPr sz="1250" b="0" i="0">
                <a:solidFill>
                  <a:srgbClr val="202020"/>
                </a:solidFill>
                <a:latin typeface="Calibri"/>
              </a:rPr>
              <a:t> box — please do not skip those.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560</a:t>
            </a:r>
          </a:p>
        </p:txBody>
      </p:sp>
    </p:spTree>
  </p:cSld>
  <p:clrMapOvr>
    <a:masterClrMapping/>
  </p:clrMapOvr>
</p:sld>
</file>

<file path=ppt/slides/slide5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 About this guide</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This connector processes </a:t>
            </a:r>
            <a:r>
              <a:rPr sz="1400" b="1" i="0">
                <a:solidFill>
                  <a:srgbClr val="202020"/>
                </a:solidFill>
                <a:latin typeface="Calibri"/>
              </a:rPr>
              <a:t>personal data</a:t>
            </a:r>
            <a:r>
              <a:rPr sz="1400" b="0" i="0">
                <a:solidFill>
                  <a:srgbClr val="202020"/>
                </a:solidFill>
                <a:latin typeface="Calibri"/>
              </a:rPr>
              <a:t> about identifiable individuals, including </a:t>
            </a:r>
            <a:r>
              <a:rPr sz="1400" b="1" i="0">
                <a:solidFill>
                  <a:srgbClr val="202020"/>
                </a:solidFill>
                <a:latin typeface="Calibri"/>
              </a:rPr>
              <a:t>sensitive wealth data</a:t>
            </a:r>
            <a:r>
              <a:rPr sz="1400" b="0" i="0">
                <a:solidFill>
                  <a:srgbClr val="202020"/>
                </a:solidFill>
                <a:latin typeface="Calibri"/>
              </a:rPr>
              <a:t>. Data-subject access requests (DSARs) and the right to erasure apply to everything it indexes. Do not deploy it, ingest any feed, or make Altrata results visible to users until your data protection officer (DPO) / compliance team has signed off. The erasure workflow in section 7 is not optional plumbing — it is how the bank meets its legal obligations, so read it before go-live.</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561</a:t>
            </a:r>
          </a:p>
        </p:txBody>
      </p:sp>
    </p:spTree>
  </p:cSld>
  <p:clrMapOvr>
    <a:masterClrMapping/>
  </p:clrMapOvr>
</p:sld>
</file>

<file path=ppt/slides/slide5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What changed in this release — safe defaults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Version 1.1 is a </a:t>
            </a:r>
            <a:r>
              <a:rPr sz="1250" b="1" i="0">
                <a:solidFill>
                  <a:srgbClr val="202020"/>
                </a:solidFill>
                <a:latin typeface="Calibri"/>
              </a:rPr>
              <a:t>bank-grade hardening release</a:t>
            </a:r>
            <a:r>
              <a:rPr sz="1250" b="0" i="0">
                <a:solidFill>
                  <a:srgbClr val="202020"/>
                </a:solidFill>
                <a:latin typeface="Calibri"/>
              </a:rPr>
              <a:t>. The good news for this connector is that its two most safety-relevant defaults were already correct, so the release adds </a:t>
            </a:r>
            <a:r>
              <a:rPr sz="1250" b="1" i="0">
                <a:solidFill>
                  <a:srgbClr val="202020"/>
                </a:solidFill>
                <a:latin typeface="Calibri"/>
              </a:rPr>
              <a:t>opt-in governance controls</a:t>
            </a:r>
            <a:r>
              <a:rPr sz="1250" b="0" i="0">
                <a:solidFill>
                  <a:srgbClr val="202020"/>
                </a:solidFill>
                <a:latin typeface="Calibri"/>
              </a:rPr>
              <a:t> rather than flipping behaviour under you. In short:</a:t>
            </a:r>
          </a:p>
          <a:p>
            <a:pPr>
              <a:spcBef>
                <a:spcPts val="100"/>
              </a:spcBef>
              <a:spcAft>
                <a:spcPts val="200"/>
              </a:spcAft>
            </a:pPr>
            <a:r>
              <a:rPr sz="1250" b="1" i="0">
                <a:solidFill>
                  <a:srgbClr val="2E5496"/>
                </a:solidFill>
                <a:latin typeface="Calibri"/>
              </a:rPr>
              <a:t>•  </a:t>
            </a:r>
            <a:r>
              <a:rPr sz="1250" b="1" i="0">
                <a:solidFill>
                  <a:srgbClr val="202020"/>
                </a:solidFill>
                <a:latin typeface="Calibri"/>
              </a:rPr>
              <a:t>Already safe, now confirmed</a:t>
            </a:r>
            <a:r>
              <a:rPr sz="1250" b="0" i="0">
                <a:solidFill>
                  <a:srgbClr val="202020"/>
                </a:solidFill>
                <a:latin typeface="Calibri"/>
              </a:rPr>
              <a:t> — the dead-letter queue still defaults to </a:t>
            </a:r>
            <a:r>
              <a:rPr sz="1200" b="0" i="0">
                <a:solidFill>
                  <a:srgbClr val="202020"/>
                </a:solidFill>
                <a:latin typeface="Consolas"/>
              </a:rPr>
              <a:t>redacted</a:t>
            </a:r>
            <a:r>
              <a:rPr sz="1250" b="0" i="0">
                <a:solidFill>
                  <a:srgbClr val="202020"/>
                </a:solidFill>
                <a:latin typeface="Calibri"/>
              </a:rPr>
              <a:t> (this connector always differed from its siblings, which used to default to </a:t>
            </a:r>
            <a:r>
              <a:rPr sz="1200" b="0" i="0">
                <a:solidFill>
                  <a:srgbClr val="202020"/>
                </a:solidFill>
                <a:latin typeface="Consolas"/>
              </a:rPr>
              <a:t>full</a:t>
            </a:r>
            <a:r>
              <a:rPr sz="1250" b="0" i="0">
                <a:solidFill>
                  <a:srgbClr val="202020"/>
                </a:solidFill>
                <a:latin typeface="Calibri"/>
              </a:rPr>
              <a:t>); an </a:t>
            </a:r>
            <a:r>
              <a:rPr sz="1250" b="1" i="0">
                <a:solidFill>
                  <a:srgbClr val="202020"/>
                </a:solidFill>
                <a:latin typeface="Calibri"/>
              </a:rPr>
              <a:t>unrecognised </a:t>
            </a:r>
            <a:r>
              <a:rPr sz="1200" b="1" i="0">
                <a:solidFill>
                  <a:srgbClr val="202020"/>
                </a:solidFill>
                <a:latin typeface="Consolas"/>
              </a:rPr>
              <a:t>DEADLETTER_PAYLOAD_MODE</a:t>
            </a:r>
            <a:r>
              <a:rPr sz="1250" b="1" i="0">
                <a:solidFill>
                  <a:srgbClr val="202020"/>
                </a:solidFill>
                <a:latin typeface="Calibri"/>
              </a:rPr>
              <a:t> value now fails fast at config load</a:t>
            </a:r>
            <a:r>
              <a:rPr sz="1250" b="0" i="0">
                <a:solidFill>
                  <a:srgbClr val="202020"/>
                </a:solidFill>
                <a:latin typeface="Calibri"/>
              </a:rPr>
              <a:t> naming the setting, instead of silently defaulting (section 8).</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562</a:t>
            </a:r>
          </a:p>
        </p:txBody>
      </p:sp>
    </p:spTree>
  </p:cSld>
  <p:clrMapOvr>
    <a:masterClrMapping/>
  </p:clrMapOvr>
</p:sld>
</file>

<file path=ppt/slides/slide5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What changed in this release — safe defaults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00" b="1" i="0">
                <a:solidFill>
                  <a:srgbClr val="202020"/>
                </a:solidFill>
                <a:latin typeface="Consolas"/>
              </a:rPr>
              <a:t>IDENTITY_SYNC_ON_INCREMENTAL</a:t>
            </a:r>
            <a:r>
              <a:rPr sz="1250" b="1" i="0">
                <a:solidFill>
                  <a:srgbClr val="202020"/>
                </a:solidFill>
                <a:latin typeface="Calibri"/>
              </a:rPr>
              <a:t> now defaults to </a:t>
            </a:r>
            <a:r>
              <a:rPr sz="1200" b="1" i="0">
                <a:solidFill>
                  <a:srgbClr val="202020"/>
                </a:solidFill>
                <a:latin typeface="Consolas"/>
              </a:rPr>
              <a:t>true</a:t>
            </a:r>
            <a:r>
              <a:rPr sz="1250" b="0" i="0">
                <a:solidFill>
                  <a:srgbClr val="202020"/>
                </a:solidFill>
                <a:latin typeface="Calibri"/>
              </a:rPr>
              <a:t> — this </a:t>
            </a:r>
            <a:r>
              <a:rPr sz="1250" b="1" i="0">
                <a:solidFill>
                  <a:srgbClr val="202020"/>
                </a:solidFill>
                <a:latin typeface="Calibri"/>
              </a:rPr>
              <a:t>matches Altrata's prior always-re-ACL-on-any-crawl behaviour, so it is not an operational change</a:t>
            </a:r>
            <a:r>
              <a:rPr sz="1250" b="0" i="0">
                <a:solidFill>
                  <a:srgbClr val="202020"/>
                </a:solidFill>
                <a:latin typeface="Calibri"/>
              </a:rPr>
              <a:t>. The knob is new only so you can set it </a:t>
            </a:r>
            <a:r>
              <a:rPr sz="1200" b="0" i="0">
                <a:solidFill>
                  <a:srgbClr val="202020"/>
                </a:solidFill>
                <a:latin typeface="Consolas"/>
              </a:rPr>
              <a:t>false</a:t>
            </a:r>
            <a:r>
              <a:rPr sz="1250" b="0" i="0">
                <a:solidFill>
                  <a:srgbClr val="202020"/>
                </a:solidFill>
                <a:latin typeface="Calibri"/>
              </a:rPr>
              <a:t> to </a:t>
            </a:r>
            <a:r>
              <a:rPr sz="1250" b="1" i="0">
                <a:solidFill>
                  <a:srgbClr val="202020"/>
                </a:solidFill>
                <a:latin typeface="Calibri"/>
              </a:rPr>
              <a:t>defer</a:t>
            </a:r>
            <a:r>
              <a:rPr sz="1250" b="0" i="0">
                <a:solidFill>
                  <a:srgbClr val="202020"/>
                </a:solidFill>
                <a:latin typeface="Calibri"/>
              </a:rPr>
              <a:t> the seat-change re-ACL sweep over existing items to full crawls only (section 6, section 15).</a:t>
            </a:r>
          </a:p>
          <a:p>
            <a:pPr>
              <a:spcBef>
                <a:spcPts val="100"/>
              </a:spcBef>
              <a:spcAft>
                <a:spcPts val="200"/>
              </a:spcAft>
            </a:pPr>
            <a:r>
              <a:rPr sz="1250" b="1" i="0">
                <a:solidFill>
                  <a:srgbClr val="2E5496"/>
                </a:solidFill>
                <a:latin typeface="Calibri"/>
              </a:rPr>
              <a:t>•  </a:t>
            </a:r>
            <a:r>
              <a:rPr sz="1250" b="1" i="0">
                <a:solidFill>
                  <a:srgbClr val="202020"/>
                </a:solidFill>
                <a:latin typeface="Calibri"/>
              </a:rPr>
              <a:t>New opt-in controls, all OFF/unchanged unless you set them</a:t>
            </a:r>
            <a:r>
              <a:rPr sz="1250" b="0" i="0">
                <a:solidFill>
                  <a:srgbClr val="202020"/>
                </a:solidFill>
                <a:latin typeface="Calibri"/>
              </a:rPr>
              <a:t> — </a:t>
            </a:r>
            <a:r>
              <a:rPr sz="1200" b="0" i="0">
                <a:solidFill>
                  <a:srgbClr val="202020"/>
                </a:solidFill>
                <a:latin typeface="Consolas"/>
              </a:rPr>
              <a:t>PURPOSE_ALLOWLIST</a:t>
            </a:r>
            <a:r>
              <a:rPr sz="1250" b="0" i="0">
                <a:solidFill>
                  <a:srgbClr val="202020"/>
                </a:solidFill>
                <a:latin typeface="Calibri"/>
              </a:rPr>
              <a:t> (purpose-of-use authorization on billable API lookups), </a:t>
            </a:r>
            <a:r>
              <a:rPr sz="1200" b="0" i="0">
                <a:solidFill>
                  <a:srgbClr val="202020"/>
                </a:solidFill>
                <a:latin typeface="Consolas"/>
              </a:rPr>
              <a:t>CLASSIFICATION_ENFORCE_ACL</a:t>
            </a:r>
            <a:r>
              <a:rPr sz="1250" b="0" i="0">
                <a:solidFill>
                  <a:srgbClr val="202020"/>
                </a:solidFill>
                <a:latin typeface="Calibri"/>
              </a:rPr>
              <a:t> / </a:t>
            </a:r>
            <a:r>
              <a:rPr sz="1200" b="0" i="0">
                <a:solidFill>
                  <a:srgbClr val="202020"/>
                </a:solidFill>
                <a:latin typeface="Consolas"/>
              </a:rPr>
              <a:t>CLASSIFICATION_ENFORCE_GROUP_ID</a:t>
            </a:r>
            <a:r>
              <a:rPr sz="1250" b="0" i="0">
                <a:solidFill>
                  <a:srgbClr val="202020"/>
                </a:solidFill>
                <a:latin typeface="Calibri"/>
              </a:rPr>
              <a:t> (lock the most sensitive tier to a reviewer group), and </a:t>
            </a:r>
            <a:r>
              <a:rPr sz="1200" b="0" i="0">
                <a:solidFill>
                  <a:srgbClr val="202020"/>
                </a:solidFill>
                <a:latin typeface="Consolas"/>
              </a:rPr>
              <a:t>GRAPH_ITEM_TTL_DAYS</a:t>
            </a:r>
            <a:r>
              <a:rPr sz="1250" b="0" i="0">
                <a:solidFill>
                  <a:srgbClr val="202020"/>
                </a:solidFill>
                <a:latin typeface="Calibri"/>
              </a:rPr>
              <a:t> (stale-index self-expiry). See the new </a:t>
            </a:r>
            <a:r>
              <a:rPr sz="1250" b="1" i="0">
                <a:solidFill>
                  <a:srgbClr val="202020"/>
                </a:solidFill>
                <a:latin typeface="Calibri"/>
              </a:rPr>
              <a:t>Data governance &amp; compliance controls</a:t>
            </a:r>
            <a:r>
              <a:rPr sz="1250" b="0" i="0">
                <a:solidFill>
                  <a:srgbClr val="202020"/>
                </a:solidFill>
                <a:latin typeface="Calibri"/>
              </a:rPr>
              <a:t> table in section 15.</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563</a:t>
            </a:r>
          </a:p>
        </p:txBody>
      </p:sp>
    </p:spTree>
  </p:cSld>
  <p:clrMapOvr>
    <a:masterClrMapping/>
  </p:clrMapOvr>
</p:sld>
</file>

<file path=ppt/slides/slide5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What changed in this release — safe defaults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Always-on integrity additions</a:t>
            </a:r>
            <a:r>
              <a:rPr sz="1250" b="0" i="0">
                <a:solidFill>
                  <a:srgbClr val="202020"/>
                </a:solidFill>
                <a:latin typeface="Calibri"/>
              </a:rPr>
              <a:t> — a tamper-evident </a:t>
            </a:r>
            <a:r>
              <a:rPr sz="1250" b="1" i="0">
                <a:solidFill>
                  <a:srgbClr val="202020"/>
                </a:solidFill>
                <a:latin typeface="Calibri"/>
              </a:rPr>
              <a:t>decision ledger</a:t>
            </a:r>
            <a:r>
              <a:rPr sz="1250" b="0" i="0">
                <a:solidFill>
                  <a:srgbClr val="202020"/>
                </a:solidFill>
                <a:latin typeface="Calibri"/>
              </a:rPr>
              <a:t> (built on the same hash chain as the erasure ledger) now records exclusion and ACL-restriction decisions, and the connector creates its </a:t>
            </a:r>
            <a:r>
              <a:rPr sz="1250" b="1" i="0">
                <a:solidFill>
                  <a:srgbClr val="202020"/>
                </a:solidFill>
                <a:latin typeface="Calibri"/>
              </a:rPr>
              <a:t>state and log directories owner-only</a:t>
            </a:r>
            <a:r>
              <a:rPr sz="1250" b="0" i="0">
                <a:solidFill>
                  <a:srgbClr val="202020"/>
                </a:solidFill>
                <a:latin typeface="Calibri"/>
              </a:rPr>
              <a:t> at startup (section 8).</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564</a:t>
            </a:r>
          </a:p>
        </p:txBody>
      </p:sp>
    </p:spTree>
  </p:cSld>
  <p:clrMapOvr>
    <a:masterClrMapping/>
  </p:clrMapOvr>
</p:sld>
</file>

<file path=ppt/slides/slide5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What this guide does not repeat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Concepts shared by every connector in the suite are covered once, in the </a:t>
            </a:r>
            <a:r>
              <a:rPr sz="1250" b="1" i="0">
                <a:solidFill>
                  <a:srgbClr val="202020"/>
                </a:solidFill>
                <a:latin typeface="Calibri"/>
              </a:rPr>
              <a:t>Tenant &amp; Common Concepts Guide</a:t>
            </a:r>
            <a:r>
              <a:rPr sz="1250" b="0" i="0">
                <a:solidFill>
                  <a:srgbClr val="202020"/>
                </a:solidFill>
                <a:latin typeface="Calibri"/>
              </a:rPr>
              <a:t> (CONN-DOC-COMMON-01), and referenced from here rather than repeated:</a:t>
            </a:r>
          </a:p>
          <a:p>
            <a:pPr>
              <a:spcBef>
                <a:spcPts val="100"/>
              </a:spcBef>
              <a:spcAft>
                <a:spcPts val="200"/>
              </a:spcAft>
            </a:pPr>
            <a:r>
              <a:rPr sz="1250" b="1" i="0">
                <a:solidFill>
                  <a:srgbClr val="2E5496"/>
                </a:solidFill>
                <a:latin typeface="Calibri"/>
              </a:rPr>
              <a:t>•  </a:t>
            </a:r>
            <a:r>
              <a:rPr sz="1250" b="0" i="0">
                <a:solidFill>
                  <a:srgbClr val="202020"/>
                </a:solidFill>
                <a:latin typeface="Calibri"/>
              </a:rPr>
              <a:t>Microsoft Graph, external connections, external items, ACLs and Entra app registration — Common Guide §6.</a:t>
            </a:r>
          </a:p>
          <a:p>
            <a:pPr>
              <a:spcBef>
                <a:spcPts val="100"/>
              </a:spcBef>
              <a:spcAft>
                <a:spcPts val="200"/>
              </a:spcAft>
            </a:pPr>
            <a:r>
              <a:rPr sz="1250" b="1" i="0">
                <a:solidFill>
                  <a:srgbClr val="2E5496"/>
                </a:solidFill>
                <a:latin typeface="Calibri"/>
              </a:rPr>
              <a:t>•  </a:t>
            </a:r>
            <a:r>
              <a:rPr sz="1250" b="0" i="0">
                <a:solidFill>
                  <a:srgbClr val="202020"/>
                </a:solidFill>
                <a:latin typeface="Calibri"/>
              </a:rPr>
              <a:t>The connector chassis, security and authentication (client secret vs certificate, Key Vault) — Common Guide §5.</a:t>
            </a:r>
          </a:p>
          <a:p>
            <a:pPr>
              <a:spcBef>
                <a:spcPts val="100"/>
              </a:spcBef>
              <a:spcAft>
                <a:spcPts val="200"/>
              </a:spcAft>
            </a:pPr>
            <a:r>
              <a:rPr sz="1250" b="1" i="0">
                <a:solidFill>
                  <a:srgbClr val="2E5496"/>
                </a:solidFill>
                <a:latin typeface="Calibri"/>
              </a:rPr>
              <a:t>•  </a:t>
            </a:r>
            <a:r>
              <a:rPr sz="1250" b="0" i="0">
                <a:solidFill>
                  <a:srgbClr val="202020"/>
                </a:solidFill>
                <a:latin typeface="Calibri"/>
              </a:rPr>
              <a:t>Deployment as a Windows service, packaging and tenant quotas — Common Guide §7.</a:t>
            </a:r>
          </a:p>
          <a:p>
            <a:pPr>
              <a:spcBef>
                <a:spcPts val="100"/>
              </a:spcBef>
              <a:spcAft>
                <a:spcPts val="200"/>
              </a:spcAft>
            </a:pPr>
            <a:r>
              <a:rPr sz="1250" b="1" i="0">
                <a:solidFill>
                  <a:srgbClr val="2E5496"/>
                </a:solidFill>
                <a:latin typeface="Calibri"/>
              </a:rPr>
              <a:t>•  </a:t>
            </a:r>
            <a:r>
              <a:rPr sz="1250" b="0" i="0">
                <a:solidFill>
                  <a:srgbClr val="202020"/>
                </a:solidFill>
                <a:latin typeface="Calibri"/>
              </a:rPr>
              <a:t>Shared glossary terms (Graph, external item, ACL, chassis, tenant, quota) — Common Guide §13.</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565</a:t>
            </a:r>
          </a:p>
        </p:txBody>
      </p:sp>
    </p:spTree>
  </p:cSld>
  <p:clrMapOvr>
    <a:masterClrMapping/>
  </p:clrMapOvr>
</p:sld>
</file>

<file path=ppt/slides/slide5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What this guide does not repeat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Read the Common Guide first. This document only covers what is specific to Altrata: the file feed, seat-only entitlement, and the DSAR / erasure machinery.</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566</a:t>
            </a:r>
          </a:p>
        </p:txBody>
      </p:sp>
    </p:spTree>
  </p:cSld>
  <p:clrMapOvr>
    <a:masterClrMapping/>
  </p:clrMapOvr>
</p:sld>
</file>

<file path=ppt/slides/slide5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Altrata Connector</a:t>
            </a:r>
          </a:p>
          <a:p>
            <a:r>
              <a:rPr sz="3000" b="1" i="0">
                <a:solidFill>
                  <a:srgbClr val="1F3864"/>
                </a:solidFill>
                <a:latin typeface="Calibri"/>
              </a:rPr>
              <a:t>2. What is Altrata, and what data will this connector index?</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567</a:t>
            </a:r>
          </a:p>
        </p:txBody>
      </p:sp>
    </p:spTree>
  </p:cSld>
  <p:clrMapOvr>
    <a:masterClrMapping/>
  </p:clrMapOvr>
</p:sld>
</file>

<file path=ppt/slides/slide5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2. What is Altrata, and what data will this connector index?</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1" i="0">
                <a:solidFill>
                  <a:srgbClr val="202020"/>
                </a:solidFill>
                <a:latin typeface="Calibri"/>
              </a:rPr>
              <a:t>Altrata</a:t>
            </a:r>
            <a:r>
              <a:rPr sz="1250" b="0" i="0">
                <a:solidFill>
                  <a:srgbClr val="202020"/>
                </a:solidFill>
                <a:latin typeface="Calibri"/>
              </a:rPr>
              <a:t> is a commercial provider of relationship and wealth intelligence on individuals — the BoardEx, WealthEngine and Wealth-X family of data. A profile can include a person's estimated net worth and liquidity, their career and board history, and a map of their personal and professional connections.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568</a:t>
            </a:r>
          </a:p>
        </p:txBody>
      </p:sp>
    </p:spTree>
  </p:cSld>
  <p:clrMapOvr>
    <a:masterClrMapping/>
  </p:clrMapOvr>
</p:sld>
</file>

<file path=ppt/slides/slide5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Who uses it in the bank, and why</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Altrata is licensed by teams that need to understand high-net-worth (HNW) individuals and their networks — for example private banking and wealth management relationship managers, coverage bankers, and prospecting or client-development teams. The connector lets those users find and reason over Altrata profiles from inside Microsoft 365 Copilot and Search, instead of a separate portal — but </a:t>
            </a:r>
            <a:r>
              <a:rPr sz="1250" b="1" i="0">
                <a:solidFill>
                  <a:srgbClr val="202020"/>
                </a:solidFill>
                <a:latin typeface="Calibri"/>
              </a:rPr>
              <a:t>only if they hold a licensed seat</a:t>
            </a:r>
            <a:r>
              <a:rPr sz="1250" b="0" i="0">
                <a:solidFill>
                  <a:srgbClr val="202020"/>
                </a:solidFill>
                <a:latin typeface="Calibri"/>
              </a:rPr>
              <a:t> (section 6).</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569</a:t>
            </a:r>
          </a:p>
        </p:txBody>
      </p:sp>
    </p:spTree>
  </p:cSld>
  <p:clrMapOvr>
    <a:masterClrMapping/>
  </p:clrMapOvr>
</p:sld>
</file>

<file path=ppt/slides/slide5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The datasets it indexes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licensed feed is organised into datasets. Each carries a baseline sensitivity that drives the connector's PII classification: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570</a:t>
            </a:r>
          </a:p>
        </p:txBody>
      </p:sp>
    </p:spTree>
  </p:cSld>
  <p:clrMapOvr>
    <a:masterClrMapping/>
  </p:clrMapOvr>
</p:sld>
</file>

<file path=ppt/slides/slide5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The datasets it indexes</a:t>
            </a:r>
          </a:p>
        </p:txBody>
      </p:sp>
      <p:graphicFrame>
        <p:nvGraphicFramePr>
          <p:cNvPr id="5" name="Table 4"/>
          <p:cNvGraphicFramePr>
            <a:graphicFrameLocks noGrp="1"/>
          </p:cNvGraphicFramePr>
          <p:nvPr/>
        </p:nvGraphicFramePr>
        <p:xfrm>
          <a:off x="502920" y="1188720"/>
          <a:ext cx="11185855" cy="2688336"/>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Dataset</a:t>
                      </a:r>
                    </a:p>
                  </a:txBody>
                  <a:tcPr marT="25400" marB="25400">
                    <a:solidFill>
                      <a:srgbClr val="2E5496"/>
                    </a:solidFill>
                  </a:tcPr>
                </a:tc>
                <a:tc>
                  <a:txBody>
                    <a:bodyPr wrap="square"/>
                    <a:lstStyle/>
                    <a:p>
                      <a:r>
                        <a:rPr sz="1050" b="1" i="0">
                          <a:solidFill>
                            <a:srgbClr val="FFFFFF"/>
                          </a:solidFill>
                          <a:latin typeface="Calibri"/>
                        </a:rPr>
                        <a:t>Sensitivity</a:t>
                      </a:r>
                    </a:p>
                  </a:txBody>
                  <a:tcPr marT="25400" marB="25400">
                    <a:solidFill>
                      <a:srgbClr val="2E5496"/>
                    </a:solidFill>
                  </a:tcPr>
                </a:tc>
                <a:tc>
                  <a:txBody>
                    <a:bodyPr wrap="square"/>
                    <a:lstStyle/>
                    <a:p>
                      <a:r>
                        <a:rPr sz="1050" b="1" i="0">
                          <a:solidFill>
                            <a:srgbClr val="FFFFFF"/>
                          </a:solidFill>
                          <a:latin typeface="Calibri"/>
                        </a:rPr>
                        <a:t>What it contains</a:t>
                      </a:r>
                    </a:p>
                  </a:txBody>
                  <a:tcPr marT="25400" marB="25400">
                    <a:solidFill>
                      <a:srgbClr val="2E5496"/>
                    </a:solidFill>
                  </a:tcPr>
                </a:tc>
              </a:tr>
              <a:tr h="384048">
                <a:tc>
                  <a:txBody>
                    <a:bodyPr wrap="square"/>
                    <a:lstStyle/>
                    <a:p>
                      <a:r>
                        <a:rPr sz="950" b="0" i="0">
                          <a:solidFill>
                            <a:srgbClr val="202020"/>
                          </a:solidFill>
                          <a:latin typeface="Calibri"/>
                        </a:rPr>
                        <a:t>PersonProfile</a:t>
                      </a:r>
                    </a:p>
                  </a:txBody>
                  <a:tcPr marT="12700" marB="12700">
                    <a:solidFill>
                      <a:srgbClr val="FFFFFF"/>
                    </a:solidFill>
                  </a:tcPr>
                </a:tc>
                <a:tc>
                  <a:txBody>
                    <a:bodyPr wrap="square"/>
                    <a:lstStyle/>
                    <a:p>
                      <a:r>
                        <a:rPr sz="950" b="0" i="0">
                          <a:solidFill>
                            <a:srgbClr val="202020"/>
                          </a:solidFill>
                          <a:latin typeface="Calibri"/>
                        </a:rPr>
                        <a:t>Personal</a:t>
                      </a:r>
                    </a:p>
                  </a:txBody>
                  <a:tcPr marT="12700" marB="12700">
                    <a:solidFill>
                      <a:srgbClr val="FFFFFF"/>
                    </a:solidFill>
                  </a:tcPr>
                </a:tc>
                <a:tc>
                  <a:txBody>
                    <a:bodyPr wrap="square"/>
                    <a:lstStyle/>
                    <a:p>
                      <a:r>
                        <a:rPr sz="950" b="0" i="0">
                          <a:solidFill>
                            <a:srgbClr val="202020"/>
                          </a:solidFill>
                          <a:latin typeface="Calibri"/>
                        </a:rPr>
                        <a:t>Core profile: name, email, employer, country, last updated</a:t>
                      </a:r>
                    </a:p>
                  </a:txBody>
                  <a:tcPr marT="12700" marB="12700">
                    <a:solidFill>
                      <a:srgbClr val="FFFFFF"/>
                    </a:solidFill>
                  </a:tcPr>
                </a:tc>
              </a:tr>
              <a:tr h="384048">
                <a:tc>
                  <a:txBody>
                    <a:bodyPr wrap="square"/>
                    <a:lstStyle/>
                    <a:p>
                      <a:r>
                        <a:rPr sz="950" b="0" i="0">
                          <a:solidFill>
                            <a:srgbClr val="202020"/>
                          </a:solidFill>
                          <a:latin typeface="Calibri"/>
                        </a:rPr>
                        <a:t>WealthIndicator</a:t>
                      </a:r>
                    </a:p>
                  </a:txBody>
                  <a:tcPr marT="12700" marB="12700">
                    <a:solidFill>
                      <a:srgbClr val="F7F9FC"/>
                    </a:solidFill>
                  </a:tcPr>
                </a:tc>
                <a:tc>
                  <a:txBody>
                    <a:bodyPr wrap="square"/>
                    <a:lstStyle/>
                    <a:p>
                      <a:r>
                        <a:rPr sz="950" b="0" i="0">
                          <a:solidFill>
                            <a:srgbClr val="202020"/>
                          </a:solidFill>
                          <a:latin typeface="Calibri"/>
                        </a:rPr>
                        <a:t>Sensitive</a:t>
                      </a:r>
                    </a:p>
                  </a:txBody>
                  <a:tcPr marT="12700" marB="12700">
                    <a:solidFill>
                      <a:srgbClr val="F7F9FC"/>
                    </a:solidFill>
                  </a:tcPr>
                </a:tc>
                <a:tc>
                  <a:txBody>
                    <a:bodyPr wrap="square"/>
                    <a:lstStyle/>
                    <a:p>
                      <a:r>
                        <a:rPr sz="950" b="0" i="0">
                          <a:solidFill>
                            <a:srgbClr val="202020"/>
                          </a:solidFill>
                          <a:latin typeface="Calibri"/>
                        </a:rPr>
                        <a:t>Estimated net worth (USD), liquidity, as-of date</a:t>
                      </a:r>
                    </a:p>
                  </a:txBody>
                  <a:tcPr marT="12700" marB="12700">
                    <a:solidFill>
                      <a:srgbClr val="F7F9FC"/>
                    </a:solidFill>
                  </a:tcPr>
                </a:tc>
              </a:tr>
              <a:tr h="384048">
                <a:tc>
                  <a:txBody>
                    <a:bodyPr wrap="square"/>
                    <a:lstStyle/>
                    <a:p>
                      <a:r>
                        <a:rPr sz="950" b="0" i="0">
                          <a:solidFill>
                            <a:srgbClr val="202020"/>
                          </a:solidFill>
                          <a:latin typeface="Calibri"/>
                        </a:rPr>
                        <a:t>CareerHistory</a:t>
                      </a:r>
                    </a:p>
                  </a:txBody>
                  <a:tcPr marT="12700" marB="12700">
                    <a:solidFill>
                      <a:srgbClr val="FFFFFF"/>
                    </a:solidFill>
                  </a:tcPr>
                </a:tc>
                <a:tc>
                  <a:txBody>
                    <a:bodyPr wrap="square"/>
                    <a:lstStyle/>
                    <a:p>
                      <a:r>
                        <a:rPr sz="950" b="0" i="0">
                          <a:solidFill>
                            <a:srgbClr val="202020"/>
                          </a:solidFill>
                          <a:latin typeface="Calibri"/>
                        </a:rPr>
                        <a:t>Personal</a:t>
                      </a:r>
                    </a:p>
                  </a:txBody>
                  <a:tcPr marT="12700" marB="12700">
                    <a:solidFill>
                      <a:srgbClr val="FFFFFF"/>
                    </a:solidFill>
                  </a:tcPr>
                </a:tc>
                <a:tc>
                  <a:txBody>
                    <a:bodyPr wrap="square"/>
                    <a:lstStyle/>
                    <a:p>
                      <a:r>
                        <a:rPr sz="950" b="0" i="0">
                          <a:solidFill>
                            <a:srgbClr val="202020"/>
                          </a:solidFill>
                          <a:latin typeface="Calibri"/>
                        </a:rPr>
                        <a:t>Past and present employers, titles, dates</a:t>
                      </a:r>
                    </a:p>
                  </a:txBody>
                  <a:tcPr marT="12700" marB="12700">
                    <a:solidFill>
                      <a:srgbClr val="FFFFFF"/>
                    </a:solidFill>
                  </a:tcPr>
                </a:tc>
              </a:tr>
              <a:tr h="384048">
                <a:tc>
                  <a:txBody>
                    <a:bodyPr wrap="square"/>
                    <a:lstStyle/>
                    <a:p>
                      <a:r>
                        <a:rPr sz="950" b="0" i="0">
                          <a:solidFill>
                            <a:srgbClr val="202020"/>
                          </a:solidFill>
                          <a:latin typeface="Calibri"/>
                        </a:rPr>
                        <a:t>BoardMembership</a:t>
                      </a:r>
                    </a:p>
                  </a:txBody>
                  <a:tcPr marT="12700" marB="12700">
                    <a:solidFill>
                      <a:srgbClr val="F7F9FC"/>
                    </a:solidFill>
                  </a:tcPr>
                </a:tc>
                <a:tc>
                  <a:txBody>
                    <a:bodyPr wrap="square"/>
                    <a:lstStyle/>
                    <a:p>
                      <a:r>
                        <a:rPr sz="950" b="0" i="0">
                          <a:solidFill>
                            <a:srgbClr val="202020"/>
                          </a:solidFill>
                          <a:latin typeface="Calibri"/>
                        </a:rPr>
                        <a:t>Personal</a:t>
                      </a:r>
                    </a:p>
                  </a:txBody>
                  <a:tcPr marT="12700" marB="12700">
                    <a:solidFill>
                      <a:srgbClr val="F7F9FC"/>
                    </a:solidFill>
                  </a:tcPr>
                </a:tc>
                <a:tc>
                  <a:txBody>
                    <a:bodyPr wrap="square"/>
                    <a:lstStyle/>
                    <a:p>
                      <a:r>
                        <a:rPr sz="950" b="0" i="0">
                          <a:solidFill>
                            <a:srgbClr val="202020"/>
                          </a:solidFill>
                          <a:latin typeface="Calibri"/>
                        </a:rPr>
                        <a:t>Board / committee roles at organisations</a:t>
                      </a:r>
                    </a:p>
                  </a:txBody>
                  <a:tcPr marT="12700" marB="12700">
                    <a:solidFill>
                      <a:srgbClr val="F7F9FC"/>
                    </a:solidFill>
                  </a:tcPr>
                </a:tc>
              </a:tr>
              <a:tr h="384048">
                <a:tc>
                  <a:txBody>
                    <a:bodyPr wrap="square"/>
                    <a:lstStyle/>
                    <a:p>
                      <a:r>
                        <a:rPr sz="950" b="0" i="0">
                          <a:solidFill>
                            <a:srgbClr val="202020"/>
                          </a:solidFill>
                          <a:latin typeface="Calibri"/>
                        </a:rPr>
                        <a:t>RelationshipPath</a:t>
                      </a:r>
                    </a:p>
                  </a:txBody>
                  <a:tcPr marT="12700" marB="12700">
                    <a:solidFill>
                      <a:srgbClr val="FFFFFF"/>
                    </a:solidFill>
                  </a:tcPr>
                </a:tc>
                <a:tc>
                  <a:txBody>
                    <a:bodyPr wrap="square"/>
                    <a:lstStyle/>
                    <a:p>
                      <a:r>
                        <a:rPr sz="950" b="0" i="0">
                          <a:solidFill>
                            <a:srgbClr val="202020"/>
                          </a:solidFill>
                          <a:latin typeface="Calibri"/>
                        </a:rPr>
                        <a:t>Personal</a:t>
                      </a:r>
                    </a:p>
                  </a:txBody>
                  <a:tcPr marT="12700" marB="12700">
                    <a:solidFill>
                      <a:srgbClr val="FFFFFF"/>
                    </a:solidFill>
                  </a:tcPr>
                </a:tc>
                <a:tc>
                  <a:txBody>
                    <a:bodyPr wrap="square"/>
                    <a:lstStyle/>
                    <a:p>
                      <a:r>
                        <a:rPr sz="950" b="0" i="0">
                          <a:solidFill>
                            <a:srgbClr val="202020"/>
                          </a:solidFill>
                          <a:latin typeface="Calibri"/>
                        </a:rPr>
                        <a:t>A connection between two people: strength and description</a:t>
                      </a:r>
                    </a:p>
                  </a:txBody>
                  <a:tcPr marT="12700" marB="12700">
                    <a:solidFill>
                      <a:srgbClr val="FFFFFF"/>
                    </a:solidFill>
                  </a:tcPr>
                </a:tc>
              </a:tr>
              <a:tr h="384048">
                <a:tc>
                  <a:txBody>
                    <a:bodyPr wrap="square"/>
                    <a:lstStyle/>
                    <a:p>
                      <a:r>
                        <a:rPr sz="950" b="0" i="0">
                          <a:solidFill>
                            <a:srgbClr val="202020"/>
                          </a:solidFill>
                          <a:latin typeface="Calibri"/>
                        </a:rPr>
                        <a:t>Organization</a:t>
                      </a:r>
                    </a:p>
                  </a:txBody>
                  <a:tcPr marT="12700" marB="12700">
                    <a:solidFill>
                      <a:srgbClr val="F7F9FC"/>
                    </a:solidFill>
                  </a:tcPr>
                </a:tc>
                <a:tc>
                  <a:txBody>
                    <a:bodyPr wrap="square"/>
                    <a:lstStyle/>
                    <a:p>
                      <a:r>
                        <a:rPr sz="950" b="0" i="0">
                          <a:solidFill>
                            <a:srgbClr val="202020"/>
                          </a:solidFill>
                          <a:latin typeface="Calibri"/>
                        </a:rPr>
                        <a:t>Non-personal</a:t>
                      </a:r>
                    </a:p>
                  </a:txBody>
                  <a:tcPr marT="12700" marB="12700">
                    <a:solidFill>
                      <a:srgbClr val="F7F9FC"/>
                    </a:solidFill>
                  </a:tcPr>
                </a:tc>
                <a:tc>
                  <a:txBody>
                    <a:bodyPr wrap="square"/>
                    <a:lstStyle/>
                    <a:p>
                      <a:r>
                        <a:rPr sz="950" b="0" i="0">
                          <a:solidFill>
                            <a:srgbClr val="202020"/>
                          </a:solidFill>
                          <a:latin typeface="Calibri"/>
                        </a:rPr>
                        <a:t>Company records (organisation name, country)</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571</a:t>
            </a:r>
          </a:p>
        </p:txBody>
      </p:sp>
    </p:spTree>
  </p:cSld>
  <p:clrMapOvr>
    <a:masterClrMapping/>
  </p:clrMapOvr>
</p:sld>
</file>

<file path=ppt/slides/slide5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The datasets it indexes</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Wealth figures (net worth, liquidity, income indicators) always classify as the highest label, </a:t>
            </a:r>
            <a:r>
              <a:rPr sz="1400" b="1" i="0">
                <a:solidFill>
                  <a:srgbClr val="202020"/>
                </a:solidFill>
                <a:latin typeface="Calibri"/>
              </a:rPr>
              <a:t>PII-Sensitive-Wealth</a:t>
            </a:r>
            <a:r>
              <a:rPr sz="1400" b="0" i="0">
                <a:solidFill>
                  <a:srgbClr val="202020"/>
                </a:solidFill>
                <a:latin typeface="Calibri"/>
              </a:rPr>
              <a:t>. Treat the whole index as regulated personal data: it is exactly the kind of dataset a regulator, an internal auditor, or a data subject will ask about.</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572</a:t>
            </a:r>
          </a:p>
        </p:txBody>
      </p:sp>
    </p:spTree>
  </p:cSld>
  <p:clrMapOvr>
    <a:masterClrMapping/>
  </p:clrMapOvr>
</p:sld>
</file>

<file path=ppt/slides/slide5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Altrata Connector</a:t>
            </a:r>
          </a:p>
          <a:p>
            <a:r>
              <a:rPr sz="3000" b="1" i="0">
                <a:solidFill>
                  <a:srgbClr val="1F3864"/>
                </a:solidFill>
                <a:latin typeface="Calibri"/>
              </a:rPr>
              <a:t>3. What this connector does</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573</a:t>
            </a:r>
          </a:p>
        </p:txBody>
      </p:sp>
    </p:spTree>
  </p:cSld>
  <p:clrMapOvr>
    <a:masterClrMapping/>
  </p:clrMapOvr>
</p:sld>
</file>

<file path=ppt/slides/slide5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3. What this connector does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connector turns each Altrata record into a Microsoft Graph external item, attaches an access list built only from your licensed seats, and keeps the Copilot index in step with the feed.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574</a:t>
            </a:r>
          </a:p>
        </p:txBody>
      </p:sp>
    </p:spTree>
  </p:cSld>
  <p:clrMapOvr>
    <a:masterClrMapping/>
  </p:clrMapOvr>
</p:sld>
</file>

<file path=ppt/slides/slide5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End-to-end flow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00" b="0" i="0">
                <a:solidFill>
                  <a:srgbClr val="202020"/>
                </a:solidFill>
                <a:latin typeface="Consolas"/>
              </a:rPr>
              <a:t>Altrata (licensed feed)  →  SFTP drop (FEED_PATH)  →  Connector  →  Microsoft Graph external connection  →  Copilot / Microsoft Search</a:t>
            </a:r>
          </a:p>
          <a:p>
            <a:pPr>
              <a:spcBef>
                <a:spcPts val="100"/>
              </a:spcBef>
              <a:spcAft>
                <a:spcPts val="200"/>
              </a:spcAft>
            </a:pPr>
            <a:r>
              <a:rPr sz="1250" b="1" i="0">
                <a:solidFill>
                  <a:srgbClr val="2E5496"/>
                </a:solidFill>
                <a:latin typeface="Calibri"/>
              </a:rPr>
              <a:t>•  </a:t>
            </a:r>
            <a:r>
              <a:rPr sz="1250" b="1" i="0">
                <a:solidFill>
                  <a:srgbClr val="202020"/>
                </a:solidFill>
                <a:latin typeface="Calibri"/>
              </a:rPr>
              <a:t>Altrata</a:t>
            </a:r>
            <a:r>
              <a:rPr sz="1250" b="0" i="0">
                <a:solidFill>
                  <a:srgbClr val="202020"/>
                </a:solidFill>
                <a:latin typeface="Calibri"/>
              </a:rPr>
              <a:t> publishes your licensed data as files and pushes them to your SFTP drop directory (</a:t>
            </a:r>
            <a:r>
              <a:rPr sz="1200" b="0" i="0">
                <a:solidFill>
                  <a:srgbClr val="202020"/>
                </a:solidFill>
                <a:latin typeface="Consolas"/>
              </a:rPr>
              <a:t>FEED_PATH</a:t>
            </a:r>
            <a:r>
              <a:rPr sz="1250" b="0" i="0">
                <a:solidFill>
                  <a:srgbClr val="202020"/>
                </a:solidFill>
                <a:latin typeface="Calibri"/>
              </a:rPr>
              <a:t>). This is a file feed, not a live API (section 4).</a:t>
            </a:r>
          </a:p>
          <a:p>
            <a:pPr>
              <a:spcBef>
                <a:spcPts val="100"/>
              </a:spcBef>
              <a:spcAft>
                <a:spcPts val="200"/>
              </a:spcAft>
            </a:pPr>
            <a:r>
              <a:rPr sz="1250" b="1" i="0">
                <a:solidFill>
                  <a:srgbClr val="2E5496"/>
                </a:solidFill>
                <a:latin typeface="Calibri"/>
              </a:rPr>
              <a:t>•  </a:t>
            </a:r>
            <a:r>
              <a:rPr sz="1250" b="0" i="0">
                <a:solidFill>
                  <a:srgbClr val="202020"/>
                </a:solidFill>
                <a:latin typeface="Calibri"/>
              </a:rPr>
              <a:t>The </a:t>
            </a:r>
            <a:r>
              <a:rPr sz="1250" b="1" i="0">
                <a:solidFill>
                  <a:srgbClr val="202020"/>
                </a:solidFill>
                <a:latin typeface="Calibri"/>
              </a:rPr>
              <a:t>connector</a:t>
            </a:r>
            <a:r>
              <a:rPr sz="1250" b="0" i="0">
                <a:solidFill>
                  <a:srgbClr val="202020"/>
                </a:solidFill>
                <a:latin typeface="Calibri"/>
              </a:rPr>
              <a:t> validates each delivery against its manifest (checksums and counts), transforms every record into an external item, and builds a </a:t>
            </a:r>
            <a:r>
              <a:rPr sz="1250" b="1" i="0">
                <a:solidFill>
                  <a:srgbClr val="202020"/>
                </a:solidFill>
                <a:latin typeface="Calibri"/>
              </a:rPr>
              <a:t>seat-only</a:t>
            </a:r>
            <a:r>
              <a:rPr sz="1250" b="0" i="0">
                <a:solidFill>
                  <a:srgbClr val="202020"/>
                </a:solidFill>
                <a:latin typeface="Calibri"/>
              </a:rPr>
              <a:t> access list for it (section 6).</a:t>
            </a:r>
          </a:p>
          <a:p>
            <a:pPr>
              <a:spcBef>
                <a:spcPts val="100"/>
              </a:spcBef>
              <a:spcAft>
                <a:spcPts val="200"/>
              </a:spcAft>
            </a:pPr>
            <a:r>
              <a:rPr sz="1250" b="1" i="0">
                <a:solidFill>
                  <a:srgbClr val="2E5496"/>
                </a:solidFill>
                <a:latin typeface="Calibri"/>
              </a:rPr>
              <a:t>•  </a:t>
            </a:r>
            <a:r>
              <a:rPr sz="1250" b="0" i="0">
                <a:solidFill>
                  <a:srgbClr val="202020"/>
                </a:solidFill>
                <a:latin typeface="Calibri"/>
              </a:rPr>
              <a:t>It writes items to a </a:t>
            </a:r>
            <a:r>
              <a:rPr sz="1250" b="1" i="0">
                <a:solidFill>
                  <a:srgbClr val="202020"/>
                </a:solidFill>
                <a:latin typeface="Calibri"/>
              </a:rPr>
              <a:t>Microsoft Graph external connection</a:t>
            </a:r>
            <a:r>
              <a:rPr sz="1250" b="0" i="0">
                <a:solidFill>
                  <a:srgbClr val="202020"/>
                </a:solidFill>
                <a:latin typeface="Calibri"/>
              </a:rPr>
              <a:t> in batches, and withdraws items for delta tombstones and erasures.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575</a:t>
            </a:r>
          </a:p>
        </p:txBody>
      </p:sp>
    </p:spTree>
  </p:cSld>
  <p:clrMapOvr>
    <a:masterClrMapping/>
  </p:clrMapOvr>
</p:sld>
</file>

<file path=ppt/slides/slide5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End-to-end flow</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Microsoft</a:t>
            </a:r>
            <a:r>
              <a:rPr sz="1250" b="0" i="0">
                <a:solidFill>
                  <a:srgbClr val="202020"/>
                </a:solidFill>
                <a:latin typeface="Calibri"/>
              </a:rPr>
              <a:t> indexes the items; </a:t>
            </a:r>
            <a:r>
              <a:rPr sz="1250" b="1" i="0">
                <a:solidFill>
                  <a:srgbClr val="202020"/>
                </a:solidFill>
                <a:latin typeface="Calibri"/>
              </a:rPr>
              <a:t>Copilot and Search</a:t>
            </a:r>
            <a:r>
              <a:rPr sz="1250" b="0" i="0">
                <a:solidFill>
                  <a:srgbClr val="202020"/>
                </a:solidFill>
                <a:latin typeface="Calibri"/>
              </a:rPr>
              <a:t> then surface them — but only to users on the seat list.</a:t>
            </a:r>
          </a:p>
          <a:p>
            <a:pPr>
              <a:spcBef>
                <a:spcPts val="100"/>
              </a:spcBef>
              <a:spcAft>
                <a:spcPts val="400"/>
              </a:spcAft>
            </a:pPr>
            <a:r>
              <a:rPr sz="1250" b="0" i="0">
                <a:solidFill>
                  <a:srgbClr val="202020"/>
                </a:solidFill>
                <a:latin typeface="Calibri"/>
              </a:rPr>
              <a:t>The Graph index is a rebuildable cache of the licensed feed. Almost all state can be recreated by re-crawling; the two exceptions — the suppression list and the erasure ledger — are what sections 7 and 14 are about.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576</a:t>
            </a:r>
          </a:p>
        </p:txBody>
      </p:sp>
    </p:spTree>
  </p:cSld>
  <p:clrMapOvr>
    <a:masterClrMapping/>
  </p:clrMapOvr>
</p:sld>
</file>

<file path=ppt/slides/slide5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How you drive it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connector is a command-line program (and a Windows service). You run commands such as </a:t>
            </a:r>
            <a:r>
              <a:rPr sz="1200" b="0" i="0">
                <a:solidFill>
                  <a:srgbClr val="202020"/>
                </a:solidFill>
                <a:latin typeface="Consolas"/>
              </a:rPr>
              <a:t>setup-connection</a:t>
            </a:r>
            <a:r>
              <a:rPr sz="1250" b="0" i="0">
                <a:solidFill>
                  <a:srgbClr val="202020"/>
                </a:solidFill>
                <a:latin typeface="Calibri"/>
              </a:rPr>
              <a:t>, </a:t>
            </a:r>
            <a:r>
              <a:rPr sz="1200" b="0" i="0">
                <a:solidFill>
                  <a:srgbClr val="202020"/>
                </a:solidFill>
                <a:latin typeface="Consolas"/>
              </a:rPr>
              <a:t>ingest</a:t>
            </a:r>
            <a:r>
              <a:rPr sz="1250" b="0" i="0">
                <a:solidFill>
                  <a:srgbClr val="202020"/>
                </a:solidFill>
                <a:latin typeface="Calibri"/>
              </a:rPr>
              <a:t>, </a:t>
            </a:r>
            <a:r>
              <a:rPr sz="1200" b="0" i="0">
                <a:solidFill>
                  <a:srgbClr val="202020"/>
                </a:solidFill>
                <a:latin typeface="Consolas"/>
              </a:rPr>
              <a:t>seat-sync</a:t>
            </a:r>
            <a:r>
              <a:rPr sz="1250" b="0" i="0">
                <a:solidFill>
                  <a:srgbClr val="202020"/>
                </a:solidFill>
                <a:latin typeface="Calibri"/>
              </a:rPr>
              <a:t>, </a:t>
            </a:r>
            <a:r>
              <a:rPr sz="1200" b="0" i="0">
                <a:solidFill>
                  <a:srgbClr val="202020"/>
                </a:solidFill>
                <a:latin typeface="Consolas"/>
              </a:rPr>
              <a:t>forget-subject</a:t>
            </a:r>
            <a:r>
              <a:rPr sz="1250" b="0" i="0">
                <a:solidFill>
                  <a:srgbClr val="202020"/>
                </a:solidFill>
                <a:latin typeface="Calibri"/>
              </a:rPr>
              <a:t>, </a:t>
            </a:r>
            <a:r>
              <a:rPr sz="1200" b="0" i="0">
                <a:solidFill>
                  <a:srgbClr val="202020"/>
                </a:solidFill>
                <a:latin typeface="Consolas"/>
              </a:rPr>
              <a:t>retry-failed</a:t>
            </a:r>
            <a:r>
              <a:rPr sz="1250" b="0" i="0">
                <a:solidFill>
                  <a:srgbClr val="202020"/>
                </a:solidFill>
                <a:latin typeface="Calibri"/>
              </a:rPr>
              <a:t> and </a:t>
            </a:r>
            <a:r>
              <a:rPr sz="1200" b="0" i="0">
                <a:solidFill>
                  <a:srgbClr val="202020"/>
                </a:solidFill>
                <a:latin typeface="Consolas"/>
              </a:rPr>
              <a:t>validate-config</a:t>
            </a:r>
            <a:r>
              <a:rPr sz="1250" b="0" i="0">
                <a:solidFill>
                  <a:srgbClr val="202020"/>
                </a:solidFill>
                <a:latin typeface="Calibri"/>
              </a:rPr>
              <a:t>; the built-in </a:t>
            </a:r>
            <a:r>
              <a:rPr sz="1200" b="0" i="0">
                <a:solidFill>
                  <a:srgbClr val="202020"/>
                </a:solidFill>
                <a:latin typeface="Consolas"/>
              </a:rPr>
              <a:t>guide</a:t>
            </a:r>
            <a:r>
              <a:rPr sz="1250" b="0" i="0">
                <a:solidFill>
                  <a:srgbClr val="202020"/>
                </a:solidFill>
                <a:latin typeface="Calibri"/>
              </a:rPr>
              <a:t> command prints a quick reference. Every command exits </a:t>
            </a:r>
            <a:r>
              <a:rPr sz="1200" b="0" i="0">
                <a:solidFill>
                  <a:srgbClr val="202020"/>
                </a:solidFill>
                <a:latin typeface="Consolas"/>
              </a:rPr>
              <a:t>0</a:t>
            </a:r>
            <a:r>
              <a:rPr sz="1250" b="0" i="0">
                <a:solidFill>
                  <a:srgbClr val="202020"/>
                </a:solidFill>
                <a:latin typeface="Calibri"/>
              </a:rPr>
              <a:t> on success, </a:t>
            </a:r>
            <a:r>
              <a:rPr sz="1200" b="0" i="0">
                <a:solidFill>
                  <a:srgbClr val="202020"/>
                </a:solidFill>
                <a:latin typeface="Consolas"/>
              </a:rPr>
              <a:t>1</a:t>
            </a:r>
            <a:r>
              <a:rPr sz="1250" b="0" i="0">
                <a:solidFill>
                  <a:srgbClr val="202020"/>
                </a:solidFill>
                <a:latin typeface="Calibri"/>
              </a:rPr>
              <a:t> on failure and </a:t>
            </a:r>
            <a:r>
              <a:rPr sz="1200" b="0" i="0">
                <a:solidFill>
                  <a:srgbClr val="202020"/>
                </a:solidFill>
                <a:latin typeface="Consolas"/>
              </a:rPr>
              <a:t>2</a:t>
            </a:r>
            <a:r>
              <a:rPr sz="1250" b="0" i="0">
                <a:solidFill>
                  <a:srgbClr val="202020"/>
                </a:solidFill>
                <a:latin typeface="Calibri"/>
              </a:rPr>
              <a:t> on a usage error. This deployment is </a:t>
            </a:r>
            <a:r>
              <a:rPr sz="1250" b="1" i="0">
                <a:solidFill>
                  <a:srgbClr val="202020"/>
                </a:solidFill>
                <a:latin typeface="Calibri"/>
              </a:rPr>
              <a:t>.NET 10</a:t>
            </a:r>
            <a:r>
              <a:rPr sz="1250" b="0" i="0">
                <a:solidFill>
                  <a:srgbClr val="202020"/>
                </a:solidFill>
                <a:latin typeface="Calibri"/>
              </a:rPr>
              <a:t> and ships with </a:t>
            </a:r>
            <a:r>
              <a:rPr sz="1250" b="1" i="0">
                <a:solidFill>
                  <a:srgbClr val="202020"/>
                </a:solidFill>
                <a:latin typeface="Calibri"/>
              </a:rPr>
              <a:t>764</a:t>
            </a:r>
            <a:r>
              <a:rPr sz="1250" b="0" i="0">
                <a:solidFill>
                  <a:srgbClr val="202020"/>
                </a:solidFill>
                <a:latin typeface="Calibri"/>
              </a:rPr>
              <a:t> automated tests.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577</a:t>
            </a:r>
          </a:p>
        </p:txBody>
      </p:sp>
    </p:spTree>
  </p:cSld>
  <p:clrMapOvr>
    <a:masterClrMapping/>
  </p:clrMapOvr>
</p:sld>
</file>

<file path=ppt/slides/slide5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Altrata Connector</a:t>
            </a:r>
          </a:p>
          <a:p>
            <a:r>
              <a:rPr sz="3000" b="1" i="0">
                <a:solidFill>
                  <a:srgbClr val="1F3864"/>
                </a:solidFill>
                <a:latin typeface="Calibri"/>
              </a:rPr>
              <a:t>4. How the connector receives Altrata data (the target “system”)</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578</a:t>
            </a:r>
          </a:p>
        </p:txBody>
      </p:sp>
    </p:spTree>
  </p:cSld>
  <p:clrMapOvr>
    <a:masterClrMapping/>
  </p:clrMapOvr>
</p:sld>
</file>

<file path=ppt/slides/slide5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 How the connector receives Altrata data (the target “system”)</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“source system” here is not a server you connect to — it is a directory of files. Altrata delivers your licensed data as periodic bulk drops over SFTP, and the connector reads them as a local folder.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579</a:t>
            </a:r>
          </a:p>
        </p:txBody>
      </p:sp>
    </p:spTree>
  </p:cSld>
  <p:clrMapOvr>
    <a:masterClrMapping/>
  </p:clrMapOvr>
</p:sld>
</file>

<file path=ppt/slides/slide5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The drop directory and a delivery</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00" b="0" i="0">
                <a:solidFill>
                  <a:srgbClr val="202020"/>
                </a:solidFill>
                <a:latin typeface="Consolas"/>
              </a:rPr>
              <a:t>FEED_PATH</a:t>
            </a:r>
            <a:r>
              <a:rPr sz="1250" b="0" i="0">
                <a:solidFill>
                  <a:srgbClr val="202020"/>
                </a:solidFill>
                <a:latin typeface="Calibri"/>
              </a:rPr>
              <a:t> points at a local directory. Altrata's SFTP transfer lands each delivery as its own sub-directory containing a </a:t>
            </a:r>
            <a:r>
              <a:rPr sz="1200" b="0" i="0">
                <a:solidFill>
                  <a:srgbClr val="202020"/>
                </a:solidFill>
                <a:latin typeface="Consolas"/>
              </a:rPr>
              <a:t>manifest.json</a:t>
            </a:r>
            <a:r>
              <a:rPr sz="1250" b="0" i="0">
                <a:solidFill>
                  <a:srgbClr val="202020"/>
                </a:solidFill>
                <a:latin typeface="Calibri"/>
              </a:rPr>
              <a:t> plus the data files (JSON arrays, </a:t>
            </a:r>
            <a:r>
              <a:rPr sz="1200" b="0" i="0">
                <a:solidFill>
                  <a:srgbClr val="202020"/>
                </a:solidFill>
                <a:latin typeface="Consolas"/>
              </a:rPr>
              <a:t>.jsonl</a:t>
            </a:r>
            <a:r>
              <a:rPr sz="1250" b="0" i="0">
                <a:solidFill>
                  <a:srgbClr val="202020"/>
                </a:solidFill>
                <a:latin typeface="Calibri"/>
              </a:rPr>
              <a:t>, or CSV). Any sub-directory that contains a </a:t>
            </a:r>
            <a:r>
              <a:rPr sz="1200" b="0" i="0">
                <a:solidFill>
                  <a:srgbClr val="202020"/>
                </a:solidFill>
                <a:latin typeface="Consolas"/>
              </a:rPr>
              <a:t>manifest.json</a:t>
            </a:r>
            <a:r>
              <a:rPr sz="1250" b="0" i="0">
                <a:solidFill>
                  <a:srgbClr val="202020"/>
                </a:solidFill>
                <a:latin typeface="Calibri"/>
              </a:rPr>
              <a:t> is treated as a delivery; the </a:t>
            </a:r>
            <a:r>
              <a:rPr sz="1200" b="0" i="0">
                <a:solidFill>
                  <a:srgbClr val="202020"/>
                </a:solidFill>
                <a:latin typeface="Consolas"/>
              </a:rPr>
              <a:t>archive/</a:t>
            </a:r>
            <a:r>
              <a:rPr sz="1250" b="0" i="0">
                <a:solidFill>
                  <a:srgbClr val="202020"/>
                </a:solidFill>
                <a:latin typeface="Calibri"/>
              </a:rPr>
              <a:t> folder is skipped. Deliveries are processed in delivery-id order.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580</a:t>
            </a:r>
          </a:p>
        </p:txBody>
      </p:sp>
    </p:spTree>
  </p:cSld>
  <p:clrMapOvr>
    <a:masterClrMapping/>
  </p:clrMapOvr>
</p:sld>
</file>

<file path=ppt/slides/slide5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The manifest — checksums and counts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00" b="0" i="0">
                <a:solidFill>
                  <a:srgbClr val="202020"/>
                </a:solidFill>
                <a:latin typeface="Consolas"/>
              </a:rPr>
              <a:t>manifest.json</a:t>
            </a:r>
            <a:r>
              <a:rPr sz="1250" b="0" i="0">
                <a:solidFill>
                  <a:srgbClr val="202020"/>
                </a:solidFill>
                <a:latin typeface="Calibri"/>
              </a:rPr>
              <a:t> is the delivery's index. For every file it lists the dataset name, a </a:t>
            </a:r>
            <a:r>
              <a:rPr sz="1250" b="1" i="0">
                <a:solidFill>
                  <a:srgbClr val="202020"/>
                </a:solidFill>
                <a:latin typeface="Calibri"/>
              </a:rPr>
              <a:t>SHA-256</a:t>
            </a:r>
            <a:r>
              <a:rPr sz="1250" b="0" i="0">
                <a:solidFill>
                  <a:srgbClr val="202020"/>
                </a:solidFill>
                <a:latin typeface="Calibri"/>
              </a:rPr>
              <a:t> checksum and a </a:t>
            </a:r>
            <a:r>
              <a:rPr sz="1250" b="1" i="0">
                <a:solidFill>
                  <a:srgbClr val="202020"/>
                </a:solidFill>
                <a:latin typeface="Calibri"/>
              </a:rPr>
              <a:t>record count</a:t>
            </a:r>
            <a:r>
              <a:rPr sz="1250" b="0" i="0">
                <a:solidFill>
                  <a:srgbClr val="202020"/>
                </a:solidFill>
                <a:latin typeface="Calibri"/>
              </a:rPr>
              <a:t>. Before anything is indexed, the connector recomputes each file's checksum and compares it. </a:t>
            </a:r>
            <a:r>
              <a:rPr sz="1250" b="1" i="0">
                <a:solidFill>
                  <a:srgbClr val="202020"/>
                </a:solidFill>
                <a:latin typeface="Calibri"/>
              </a:rPr>
              <a:t>Any mismatch or missing file rejects the whole delivery</a:t>
            </a:r>
            <a:r>
              <a:rPr sz="1250" b="0" i="0">
                <a:solidFill>
                  <a:srgbClr val="202020"/>
                </a:solidFill>
                <a:latin typeface="Calibri"/>
              </a:rPr>
              <a:t> — nothing is ingested, a critical </a:t>
            </a:r>
            <a:r>
              <a:rPr sz="1200" b="0" i="0">
                <a:solidFill>
                  <a:srgbClr val="202020"/>
                </a:solidFill>
                <a:latin typeface="Consolas"/>
              </a:rPr>
              <a:t>delivery_rejected</a:t>
            </a:r>
            <a:r>
              <a:rPr sz="1250" b="0" i="0">
                <a:solidFill>
                  <a:srgbClr val="202020"/>
                </a:solidFill>
                <a:latin typeface="Calibri"/>
              </a:rPr>
              <a:t> alert fires, and the delivery is left for a corrected re-drop. The check runs twice: once up front, and again at read time on the same open file handle, so a file swapped after the first check is still caught.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581</a:t>
            </a:r>
          </a:p>
        </p:txBody>
      </p:sp>
    </p:spTree>
  </p:cSld>
  <p:clrMapOvr>
    <a:masterClrMapping/>
  </p:clrMapOvr>
</p:sld>
</file>

<file path=ppt/slides/slide5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The manifest — checksums and counts</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A rejected delivery is a compliance-relevant event, not just an ops nuisance. A truncated transfer is the benign cause; a checksum mismatch you cannot explain by a short/interrupted transfer must be treated as possible feed tampering and escalated to security (see section 13).</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582</a:t>
            </a:r>
          </a:p>
        </p:txBody>
      </p:sp>
    </p:spTree>
  </p:cSld>
  <p:clrMapOvr>
    <a:masterClrMapping/>
  </p:clrMapOvr>
</p:sld>
</file>

<file path=ppt/slides/slide5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Delta deliveries and tombstones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 delivery can be a </a:t>
            </a:r>
            <a:r>
              <a:rPr sz="1250" b="1" i="0">
                <a:solidFill>
                  <a:srgbClr val="202020"/>
                </a:solidFill>
                <a:latin typeface="Calibri"/>
              </a:rPr>
              <a:t>full</a:t>
            </a:r>
            <a:r>
              <a:rPr sz="1250" b="0" i="0">
                <a:solidFill>
                  <a:srgbClr val="202020"/>
                </a:solidFill>
                <a:latin typeface="Calibri"/>
              </a:rPr>
              <a:t> set or a </a:t>
            </a:r>
            <a:r>
              <a:rPr sz="1250" b="1" i="0">
                <a:solidFill>
                  <a:srgbClr val="202020"/>
                </a:solidFill>
                <a:latin typeface="Calibri"/>
              </a:rPr>
              <a:t>delta</a:t>
            </a:r>
            <a:r>
              <a:rPr sz="1250" b="0" i="0">
                <a:solidFill>
                  <a:srgbClr val="202020"/>
                </a:solidFill>
                <a:latin typeface="Calibri"/>
              </a:rPr>
              <a:t> against an earlier one. A delta carries only new and changed records plus </a:t>
            </a:r>
            <a:r>
              <a:rPr sz="1250" b="1" i="0">
                <a:solidFill>
                  <a:srgbClr val="202020"/>
                </a:solidFill>
                <a:latin typeface="Calibri"/>
              </a:rPr>
              <a:t>tombstones</a:t>
            </a:r>
            <a:r>
              <a:rPr sz="1250" b="0" i="0">
                <a:solidFill>
                  <a:srgbClr val="202020"/>
                </a:solidFill>
                <a:latin typeface="Calibri"/>
              </a:rPr>
              <a:t> — records marked </a:t>
            </a:r>
            <a:r>
              <a:rPr sz="1200" b="0" i="0">
                <a:solidFill>
                  <a:srgbClr val="202020"/>
                </a:solidFill>
                <a:latin typeface="Consolas"/>
              </a:rPr>
              <a:t>op: delete</a:t>
            </a:r>
            <a:r>
              <a:rPr sz="1250" b="0" i="0">
                <a:solidFill>
                  <a:srgbClr val="202020"/>
                </a:solidFill>
                <a:latin typeface="Calibri"/>
              </a:rPr>
              <a:t> (or </a:t>
            </a:r>
            <a:r>
              <a:rPr sz="1200" b="0" i="0">
                <a:solidFill>
                  <a:srgbClr val="202020"/>
                </a:solidFill>
                <a:latin typeface="Consolas"/>
              </a:rPr>
              <a:t>is_deleted: true</a:t>
            </a:r>
            <a:r>
              <a:rPr sz="1250" b="0" i="0">
                <a:solidFill>
                  <a:srgbClr val="202020"/>
                </a:solidFill>
                <a:latin typeface="Calibri"/>
              </a:rPr>
              <a:t>) that tell the connector to </a:t>
            </a:r>
            <a:r>
              <a:rPr sz="1250" b="1" i="0">
                <a:solidFill>
                  <a:srgbClr val="202020"/>
                </a:solidFill>
                <a:latin typeface="Calibri"/>
              </a:rPr>
              <a:t>withdraw</a:t>
            </a:r>
            <a:r>
              <a:rPr sz="1250" b="0" i="0">
                <a:solidFill>
                  <a:srgbClr val="202020"/>
                </a:solidFill>
                <a:latin typeface="Calibri"/>
              </a:rPr>
              <a:t> that item from the index instead of adding it. Because processing is delta-aware, an incremental crawl of new deltas keeps the index current without a full re-crawl.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583</a:t>
            </a:r>
          </a:p>
        </p:txBody>
      </p:sp>
    </p:spTree>
  </p:cSld>
  <p:clrMapOvr>
    <a:masterClrMapping/>
  </p:clrMapOvr>
</p:sld>
</file>

<file path=ppt/slides/slide5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Reconciliation</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After each delivery the connector proves it accounted for every record: </a:t>
            </a:r>
            <a:r>
              <a:rPr sz="1200" b="0" i="0">
                <a:solidFill>
                  <a:srgbClr val="202020"/>
                </a:solidFill>
                <a:latin typeface="Consolas"/>
              </a:rPr>
              <a:t>ingested + deleted + suppressed + dead-lettered == manifest record count</a:t>
            </a:r>
            <a:r>
              <a:rPr sz="1250" b="0" i="0">
                <a:solidFill>
                  <a:srgbClr val="202020"/>
                </a:solidFill>
                <a:latin typeface="Calibri"/>
              </a:rPr>
              <a:t>. Anything else is a mismatch (a </a:t>
            </a:r>
            <a:r>
              <a:rPr sz="1200" b="0" i="0">
                <a:solidFill>
                  <a:srgbClr val="202020"/>
                </a:solidFill>
                <a:latin typeface="Consolas"/>
              </a:rPr>
              <a:t>reconciliation_mismatch</a:t>
            </a:r>
            <a:r>
              <a:rPr sz="1250" b="0" i="0">
                <a:solidFill>
                  <a:srgbClr val="202020"/>
                </a:solidFill>
                <a:latin typeface="Calibri"/>
              </a:rPr>
              <a:t> warning) and the delivery is left eligible for the next crawl. Reports land in </a:t>
            </a:r>
            <a:r>
              <a:rPr sz="1200" b="0" i="0">
                <a:solidFill>
                  <a:srgbClr val="202020"/>
                </a:solidFill>
                <a:latin typeface="Consolas"/>
              </a:rPr>
              <a:t>logs/reconciliation_{CONNECTOR_ID}_{deliveryId}.jsonl</a:t>
            </a:r>
            <a:r>
              <a:rPr sz="1250" b="0" i="0">
                <a:solidFill>
                  <a:srgbClr val="202020"/>
                </a:solidFill>
                <a:latin typeface="Calibri"/>
              </a:rPr>
              <a:t>. (</a:t>
            </a:r>
            <a:r>
              <a:rPr sz="1200" b="0" i="0">
                <a:solidFill>
                  <a:srgbClr val="202020"/>
                </a:solidFill>
                <a:latin typeface="Consolas"/>
              </a:rPr>
              <a:t>suppressed</a:t>
            </a:r>
            <a:r>
              <a:rPr sz="1250" b="0" i="0">
                <a:solidFill>
                  <a:srgbClr val="202020"/>
                </a:solidFill>
                <a:latin typeface="Calibri"/>
              </a:rPr>
              <a:t> counts records skipped because the subject was erased — section 7.)</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584</a:t>
            </a:r>
          </a:p>
        </p:txBody>
      </p:sp>
    </p:spTree>
  </p:cSld>
  <p:clrMapOvr>
    <a:masterClrMapping/>
  </p:clrMapOvr>
</p:sld>
</file>

<file path=ppt/slides/slide5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Secondary path: the Altrata REST API (optional)</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Alongside the feed, the connector can call the Altrata REST API for on-demand, </a:t>
            </a:r>
            <a:r>
              <a:rPr sz="1250" b="1" i="0">
                <a:solidFill>
                  <a:srgbClr val="202020"/>
                </a:solidFill>
                <a:latin typeface="Calibri"/>
              </a:rPr>
              <a:t>billable</a:t>
            </a:r>
            <a:r>
              <a:rPr sz="1250" b="0" i="0">
                <a:solidFill>
                  <a:srgbClr val="202020"/>
                </a:solidFill>
                <a:latin typeface="Calibri"/>
              </a:rPr>
              <a:t> single-profile lookups via </a:t>
            </a:r>
            <a:r>
              <a:rPr sz="1200" b="0" i="0">
                <a:solidFill>
                  <a:srgbClr val="202020"/>
                </a:solidFill>
                <a:latin typeface="Consolas"/>
              </a:rPr>
              <a:t>ingest-item --id &lt;id&gt; --purpose “...”</a:t>
            </a:r>
            <a:r>
              <a:rPr sz="1250" b="0" i="0">
                <a:solidFill>
                  <a:srgbClr val="202020"/>
                </a:solidFill>
                <a:latin typeface="Calibri"/>
              </a:rPr>
              <a:t>. This is optional; feeds work without it. Every lookup is counted (</a:t>
            </a:r>
            <a:r>
              <a:rPr sz="1200" b="0" i="0">
                <a:solidFill>
                  <a:srgbClr val="202020"/>
                </a:solidFill>
                <a:latin typeface="Consolas"/>
              </a:rPr>
              <a:t>altrata_api_billable_lookups_total</a:t>
            </a:r>
            <a:r>
              <a:rPr sz="1250" b="0" i="0">
                <a:solidFill>
                  <a:srgbClr val="202020"/>
                </a:solidFill>
                <a:latin typeface="Calibri"/>
              </a:rPr>
              <a:t>) and written to the purpose-of-use audit log, and requires a </a:t>
            </a:r>
            <a:r>
              <a:rPr sz="1200" b="0" i="0">
                <a:solidFill>
                  <a:srgbClr val="202020"/>
                </a:solidFill>
                <a:latin typeface="Consolas"/>
              </a:rPr>
              <a:t>--purpose</a:t>
            </a:r>
            <a:r>
              <a:rPr sz="1250" b="0" i="0">
                <a:solidFill>
                  <a:srgbClr val="202020"/>
                </a:solidFill>
                <a:latin typeface="Calibri"/>
              </a:rPr>
              <a:t> string. If you set </a:t>
            </a:r>
            <a:r>
              <a:rPr sz="1200" b="0" i="0">
                <a:solidFill>
                  <a:srgbClr val="202020"/>
                </a:solidFill>
                <a:latin typeface="Consolas"/>
              </a:rPr>
              <a:t>PURPOSE_ALLOWLIST</a:t>
            </a:r>
            <a:r>
              <a:rPr sz="1250" b="0" i="0">
                <a:solidFill>
                  <a:srgbClr val="202020"/>
                </a:solidFill>
                <a:latin typeface="Calibri"/>
              </a:rPr>
              <a:t> (section 15), a lookup whose purpose is not on the list is </a:t>
            </a:r>
            <a:r>
              <a:rPr sz="1250" b="1" i="0">
                <a:solidFill>
                  <a:srgbClr val="202020"/>
                </a:solidFill>
                <a:latin typeface="Calibri"/>
              </a:rPr>
              <a:t>vetoed fail-closed before any billable call is made</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585</a:t>
            </a:r>
          </a:p>
        </p:txBody>
      </p:sp>
    </p:spTree>
  </p:cSld>
  <p:clrMapOvr>
    <a:masterClrMapping/>
  </p:clrMapOvr>
</p:sld>
</file>

<file path=ppt/slides/slide5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Connection parameters</a:t>
            </a:r>
          </a:p>
        </p:txBody>
      </p:sp>
      <p:graphicFrame>
        <p:nvGraphicFramePr>
          <p:cNvPr id="5" name="Table 4"/>
          <p:cNvGraphicFramePr>
            <a:graphicFrameLocks noGrp="1"/>
          </p:cNvGraphicFramePr>
          <p:nvPr/>
        </p:nvGraphicFramePr>
        <p:xfrm>
          <a:off x="502920" y="1188720"/>
          <a:ext cx="11185855" cy="3456432"/>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Setting / input</a:t>
                      </a:r>
                    </a:p>
                  </a:txBody>
                  <a:tcPr marT="25400" marB="25400">
                    <a:solidFill>
                      <a:srgbClr val="2E5496"/>
                    </a:solidFill>
                  </a:tcPr>
                </a:tc>
                <a:tc>
                  <a:txBody>
                    <a:bodyPr wrap="square"/>
                    <a:lstStyle/>
                    <a:p>
                      <a:r>
                        <a:rPr sz="1050" b="1" i="0">
                          <a:solidFill>
                            <a:srgbClr val="FFFFFF"/>
                          </a:solidFill>
                          <a:latin typeface="Calibri"/>
                        </a:rPr>
                        <a:t>What it is</a:t>
                      </a:r>
                    </a:p>
                  </a:txBody>
                  <a:tcPr marT="25400" marB="25400">
                    <a:solidFill>
                      <a:srgbClr val="2E5496"/>
                    </a:solidFill>
                  </a:tcPr>
                </a:tc>
                <a:tc>
                  <a:txBody>
                    <a:bodyPr wrap="square"/>
                    <a:lstStyle/>
                    <a:p>
                      <a:r>
                        <a:rPr sz="1050" b="1" i="0">
                          <a:solidFill>
                            <a:srgbClr val="FFFFFF"/>
                          </a:solidFill>
                          <a:latin typeface="Calibri"/>
                        </a:rPr>
                        <a:t>Who provides it / example</a:t>
                      </a:r>
                    </a:p>
                  </a:txBody>
                  <a:tcPr marT="25400" marB="25400">
                    <a:solidFill>
                      <a:srgbClr val="2E5496"/>
                    </a:solidFill>
                  </a:tcPr>
                </a:tc>
              </a:tr>
              <a:tr h="384048">
                <a:tc>
                  <a:txBody>
                    <a:bodyPr wrap="square"/>
                    <a:lstStyle/>
                    <a:p>
                      <a:r>
                        <a:rPr sz="950" b="0" i="0">
                          <a:solidFill>
                            <a:srgbClr val="202020"/>
                          </a:solidFill>
                          <a:latin typeface="Consolas"/>
                        </a:rPr>
                        <a:t>FEED_PATH</a:t>
                      </a:r>
                    </a:p>
                  </a:txBody>
                  <a:tcPr marT="12700" marB="12700">
                    <a:solidFill>
                      <a:srgbClr val="FFFFFF"/>
                    </a:solidFill>
                  </a:tcPr>
                </a:tc>
                <a:tc>
                  <a:txBody>
                    <a:bodyPr wrap="square"/>
                    <a:lstStyle/>
                    <a:p>
                      <a:r>
                        <a:rPr sz="950" b="0" i="0">
                          <a:solidFill>
                            <a:srgbClr val="202020"/>
                          </a:solidFill>
                          <a:latin typeface="Calibri"/>
                        </a:rPr>
                        <a:t>Local directory the connector reads; SFTP deliveries land here</a:t>
                      </a:r>
                    </a:p>
                  </a:txBody>
                  <a:tcPr marT="12700" marB="12700">
                    <a:solidFill>
                      <a:srgbClr val="FFFFFF"/>
                    </a:solidFill>
                  </a:tcPr>
                </a:tc>
                <a:tc>
                  <a:txBody>
                    <a:bodyPr wrap="square"/>
                    <a:lstStyle/>
                    <a:p>
                      <a:r>
                        <a:rPr sz="950" b="0" i="0">
                          <a:solidFill>
                            <a:srgbClr val="202020"/>
                          </a:solidFill>
                          <a:latin typeface="Calibri"/>
                        </a:rPr>
                        <a:t>Set by you, e.g. D:\AltrataConnector\feeds</a:t>
                      </a:r>
                    </a:p>
                  </a:txBody>
                  <a:tcPr marT="12700" marB="12700">
                    <a:solidFill>
                      <a:srgbClr val="FFFFFF"/>
                    </a:solidFill>
                  </a:tcPr>
                </a:tc>
              </a:tr>
              <a:tr h="384048">
                <a:tc>
                  <a:txBody>
                    <a:bodyPr wrap="square"/>
                    <a:lstStyle/>
                    <a:p>
                      <a:r>
                        <a:rPr sz="950" b="0" i="0">
                          <a:solidFill>
                            <a:srgbClr val="202020"/>
                          </a:solidFill>
                          <a:latin typeface="Calibri"/>
                        </a:rPr>
                        <a:t>SFTP endpoint + credentials</a:t>
                      </a:r>
                    </a:p>
                  </a:txBody>
                  <a:tcPr marT="12700" marB="12700">
                    <a:solidFill>
                      <a:srgbClr val="F7F9FC"/>
                    </a:solidFill>
                  </a:tcPr>
                </a:tc>
                <a:tc>
                  <a:txBody>
                    <a:bodyPr wrap="square"/>
                    <a:lstStyle/>
                    <a:p>
                      <a:r>
                        <a:rPr sz="950" b="0" i="0">
                          <a:solidFill>
                            <a:srgbClr val="202020"/>
                          </a:solidFill>
                          <a:latin typeface="Calibri"/>
                        </a:rPr>
                        <a:t>The transfer that populates FEED_PATH (outside the connector)</a:t>
                      </a:r>
                    </a:p>
                  </a:txBody>
                  <a:tcPr marT="12700" marB="12700">
                    <a:solidFill>
                      <a:srgbClr val="F7F9FC"/>
                    </a:solidFill>
                  </a:tcPr>
                </a:tc>
                <a:tc>
                  <a:txBody>
                    <a:bodyPr wrap="square"/>
                    <a:lstStyle/>
                    <a:p>
                      <a:r>
                        <a:rPr sz="950" b="0" i="0">
                          <a:solidFill>
                            <a:srgbClr val="202020"/>
                          </a:solidFill>
                          <a:latin typeface="Calibri"/>
                        </a:rPr>
                        <a:t>Altrata data feed provider + network/firewall</a:t>
                      </a:r>
                    </a:p>
                  </a:txBody>
                  <a:tcPr marT="12700" marB="12700">
                    <a:solidFill>
                      <a:srgbClr val="F7F9FC"/>
                    </a:solidFill>
                  </a:tcPr>
                </a:tc>
              </a:tr>
              <a:tr h="384048">
                <a:tc>
                  <a:txBody>
                    <a:bodyPr wrap="square"/>
                    <a:lstStyle/>
                    <a:p>
                      <a:r>
                        <a:rPr sz="950" b="0" i="0">
                          <a:solidFill>
                            <a:srgbClr val="202020"/>
                          </a:solidFill>
                          <a:latin typeface="Calibri"/>
                        </a:rPr>
                        <a:t>manifest.json format</a:t>
                      </a:r>
                    </a:p>
                  </a:txBody>
                  <a:tcPr marT="12700" marB="12700">
                    <a:solidFill>
                      <a:srgbClr val="FFFFFF"/>
                    </a:solidFill>
                  </a:tcPr>
                </a:tc>
                <a:tc>
                  <a:txBody>
                    <a:bodyPr wrap="square"/>
                    <a:lstStyle/>
                    <a:p>
                      <a:r>
                        <a:rPr sz="950" b="0" i="0">
                          <a:solidFill>
                            <a:srgbClr val="202020"/>
                          </a:solidFill>
                          <a:latin typeface="Calibri"/>
                        </a:rPr>
                        <a:t>Per-delivery index: deliveryId, deliveryType, and per file name / dataset / sha256 / recordCount</a:t>
                      </a:r>
                    </a:p>
                  </a:txBody>
                  <a:tcPr marT="12700" marB="12700">
                    <a:solidFill>
                      <a:srgbClr val="FFFFFF"/>
                    </a:solidFill>
                  </a:tcPr>
                </a:tc>
                <a:tc>
                  <a:txBody>
                    <a:bodyPr wrap="square"/>
                    <a:lstStyle/>
                    <a:p>
                      <a:r>
                        <a:rPr sz="950" b="0" i="0">
                          <a:solidFill>
                            <a:srgbClr val="202020"/>
                          </a:solidFill>
                          <a:latin typeface="Calibri"/>
                        </a:rPr>
                        <a:t>Altrata data feed provider</a:t>
                      </a:r>
                    </a:p>
                  </a:txBody>
                  <a:tcPr marT="12700" marB="12700">
                    <a:solidFill>
                      <a:srgbClr val="FFFFFF"/>
                    </a:solidFill>
                  </a:tcPr>
                </a:tc>
              </a:tr>
              <a:tr h="384048">
                <a:tc>
                  <a:txBody>
                    <a:bodyPr wrap="square"/>
                    <a:lstStyle/>
                    <a:p>
                      <a:r>
                        <a:rPr sz="950" b="0" i="0">
                          <a:solidFill>
                            <a:srgbClr val="202020"/>
                          </a:solidFill>
                          <a:latin typeface="Calibri"/>
                        </a:rPr>
                        <a:t>Delivery schedule</a:t>
                      </a:r>
                    </a:p>
                  </a:txBody>
                  <a:tcPr marT="12700" marB="12700">
                    <a:solidFill>
                      <a:srgbClr val="F7F9FC"/>
                    </a:solidFill>
                  </a:tcPr>
                </a:tc>
                <a:tc>
                  <a:txBody>
                    <a:bodyPr wrap="square"/>
                    <a:lstStyle/>
                    <a:p>
                      <a:r>
                        <a:rPr sz="950" b="0" i="0">
                          <a:solidFill>
                            <a:srgbClr val="202020"/>
                          </a:solidFill>
                          <a:latin typeface="Calibri"/>
                        </a:rPr>
                        <a:t>Cadence of full and delta drops (e.g. weekly full + daily delta)</a:t>
                      </a:r>
                    </a:p>
                  </a:txBody>
                  <a:tcPr marT="12700" marB="12700">
                    <a:solidFill>
                      <a:srgbClr val="F7F9FC"/>
                    </a:solidFill>
                  </a:tcPr>
                </a:tc>
                <a:tc>
                  <a:txBody>
                    <a:bodyPr wrap="square"/>
                    <a:lstStyle/>
                    <a:p>
                      <a:r>
                        <a:rPr sz="950" b="0" i="0">
                          <a:solidFill>
                            <a:srgbClr val="202020"/>
                          </a:solidFill>
                          <a:latin typeface="Calibri"/>
                        </a:rPr>
                        <a:t>Altrata data feed provider</a:t>
                      </a:r>
                    </a:p>
                  </a:txBody>
                  <a:tcPr marT="12700" marB="12700">
                    <a:solidFill>
                      <a:srgbClr val="F7F9FC"/>
                    </a:solidFill>
                  </a:tcPr>
                </a:tc>
              </a:tr>
              <a:tr h="384048">
                <a:tc>
                  <a:txBody>
                    <a:bodyPr wrap="square"/>
                    <a:lstStyle/>
                    <a:p>
                      <a:r>
                        <a:rPr sz="950" b="0" i="0">
                          <a:solidFill>
                            <a:srgbClr val="202020"/>
                          </a:solidFill>
                          <a:latin typeface="Calibri"/>
                        </a:rPr>
                        <a:t>Dataset names</a:t>
                      </a:r>
                    </a:p>
                  </a:txBody>
                  <a:tcPr marT="12700" marB="12700">
                    <a:solidFill>
                      <a:srgbClr val="FFFFFF"/>
                    </a:solidFill>
                  </a:tcPr>
                </a:tc>
                <a:tc>
                  <a:txBody>
                    <a:bodyPr wrap="square"/>
                    <a:lstStyle/>
                    <a:p>
                      <a:r>
                        <a:rPr sz="950" b="0" i="0">
                          <a:solidFill>
                            <a:srgbClr val="202020"/>
                          </a:solidFill>
                          <a:latin typeface="Calibri"/>
                        </a:rPr>
                        <a:t>PersonProfile, Organization, BoardMembership, RelationshipPath, WealthIndicator, CareerHistory</a:t>
                      </a:r>
                    </a:p>
                  </a:txBody>
                  <a:tcPr marT="12700" marB="12700">
                    <a:solidFill>
                      <a:srgbClr val="FFFFFF"/>
                    </a:solidFill>
                  </a:tcPr>
                </a:tc>
                <a:tc>
                  <a:txBody>
                    <a:bodyPr wrap="square"/>
                    <a:lstStyle/>
                    <a:p>
                      <a:r>
                        <a:rPr sz="950" b="0" i="0">
                          <a:solidFill>
                            <a:srgbClr val="202020"/>
                          </a:solidFill>
                          <a:latin typeface="Calibri"/>
                        </a:rPr>
                        <a:t>Fixed (config/schema.json)</a:t>
                      </a:r>
                    </a:p>
                  </a:txBody>
                  <a:tcPr marT="12700" marB="12700">
                    <a:solidFill>
                      <a:srgbClr val="FFFFFF"/>
                    </a:solidFill>
                  </a:tcPr>
                </a:tc>
              </a:tr>
              <a:tr h="384048">
                <a:tc>
                  <a:txBody>
                    <a:bodyPr wrap="square"/>
                    <a:lstStyle/>
                    <a:p>
                      <a:r>
                        <a:rPr sz="950" b="0" i="0">
                          <a:solidFill>
                            <a:srgbClr val="202020"/>
                          </a:solidFill>
                          <a:latin typeface="Consolas"/>
                        </a:rPr>
                        <a:t>FEED_JSON_MAX_MB</a:t>
                      </a:r>
                    </a:p>
                  </a:txBody>
                  <a:tcPr marT="12700" marB="12700">
                    <a:solidFill>
                      <a:srgbClr val="F7F9FC"/>
                    </a:solidFill>
                  </a:tcPr>
                </a:tc>
                <a:tc>
                  <a:txBody>
                    <a:bodyPr wrap="square"/>
                    <a:lstStyle/>
                    <a:p>
                      <a:r>
                        <a:rPr sz="950" b="0" i="0">
                          <a:solidFill>
                            <a:srgbClr val="202020"/>
                          </a:solidFill>
                          <a:latin typeface="Calibri"/>
                        </a:rPr>
                        <a:t>Size cap for in-memory .json arrays; deliver big sets as .jsonl</a:t>
                      </a:r>
                    </a:p>
                  </a:txBody>
                  <a:tcPr marT="12700" marB="12700">
                    <a:solidFill>
                      <a:srgbClr val="F7F9FC"/>
                    </a:solidFill>
                  </a:tcPr>
                </a:tc>
                <a:tc>
                  <a:txBody>
                    <a:bodyPr wrap="square"/>
                    <a:lstStyle/>
                    <a:p>
                      <a:r>
                        <a:rPr sz="950" b="0" i="0">
                          <a:solidFill>
                            <a:srgbClr val="202020"/>
                          </a:solidFill>
                          <a:latin typeface="Calibri"/>
                        </a:rPr>
                        <a:t>Default 256</a:t>
                      </a:r>
                    </a:p>
                  </a:txBody>
                  <a:tcPr marT="12700" marB="12700">
                    <a:solidFill>
                      <a:srgbClr val="F7F9FC"/>
                    </a:solidFill>
                  </a:tcPr>
                </a:tc>
              </a:tr>
              <a:tr h="384048">
                <a:tc>
                  <a:txBody>
                    <a:bodyPr wrap="square"/>
                    <a:lstStyle/>
                    <a:p>
                      <a:r>
                        <a:rPr sz="950" b="0" i="0">
                          <a:solidFill>
                            <a:srgbClr val="202020"/>
                          </a:solidFill>
                          <a:latin typeface="Consolas"/>
                        </a:rPr>
                        <a:t>RETENTION_DAYS / RETENTION_MODE</a:t>
                      </a:r>
                    </a:p>
                  </a:txBody>
                  <a:tcPr marT="12700" marB="12700">
                    <a:solidFill>
                      <a:srgbClr val="FFFFFF"/>
                    </a:solidFill>
                  </a:tcPr>
                </a:tc>
                <a:tc>
                  <a:txBody>
                    <a:bodyPr wrap="square"/>
                    <a:lstStyle/>
                    <a:p>
                      <a:r>
                        <a:rPr sz="950" b="0" i="0">
                          <a:solidFill>
                            <a:srgbClr val="202020"/>
                          </a:solidFill>
                          <a:latin typeface="Calibri"/>
                        </a:rPr>
                        <a:t>Archive or delete processed feed files after N days</a:t>
                      </a:r>
                    </a:p>
                  </a:txBody>
                  <a:tcPr marT="12700" marB="12700">
                    <a:solidFill>
                      <a:srgbClr val="FFFFFF"/>
                    </a:solidFill>
                  </a:tcPr>
                </a:tc>
                <a:tc>
                  <a:txBody>
                    <a:bodyPr wrap="square"/>
                    <a:lstStyle/>
                    <a:p>
                      <a:r>
                        <a:rPr sz="950" b="0" i="0">
                          <a:solidFill>
                            <a:srgbClr val="202020"/>
                          </a:solidFill>
                          <a:latin typeface="Calibri"/>
                        </a:rPr>
                        <a:t>You (default: keep forever / archive)</a:t>
                      </a:r>
                    </a:p>
                  </a:txBody>
                  <a:tcPr marT="12700" marB="12700">
                    <a:solidFill>
                      <a:srgbClr val="FFFFFF"/>
                    </a:solidFill>
                  </a:tcPr>
                </a:tc>
              </a:tr>
              <a:tr h="384048">
                <a:tc>
                  <a:txBody>
                    <a:bodyPr wrap="square"/>
                    <a:lstStyle/>
                    <a:p>
                      <a:r>
                        <a:rPr sz="950" b="0" i="0">
                          <a:solidFill>
                            <a:srgbClr val="202020"/>
                          </a:solidFill>
                          <a:latin typeface="Calibri"/>
                        </a:rPr>
                        <a:t>Altrata REST API (optional)</a:t>
                      </a:r>
                    </a:p>
                  </a:txBody>
                  <a:tcPr marT="12700" marB="12700">
                    <a:solidFill>
                      <a:srgbClr val="F7F9FC"/>
                    </a:solidFill>
                  </a:tcPr>
                </a:tc>
                <a:tc>
                  <a:txBody>
                    <a:bodyPr wrap="square"/>
                    <a:lstStyle/>
                    <a:p>
                      <a:r>
                        <a:rPr sz="950" b="0" i="0">
                          <a:solidFill>
                            <a:srgbClr val="202020"/>
                          </a:solidFill>
                          <a:latin typeface="Calibri"/>
                        </a:rPr>
                        <a:t>On-demand billable lookups (ingest-item)</a:t>
                      </a:r>
                    </a:p>
                  </a:txBody>
                  <a:tcPr marT="12700" marB="12700">
                    <a:solidFill>
                      <a:srgbClr val="F7F9FC"/>
                    </a:solidFill>
                  </a:tcPr>
                </a:tc>
                <a:tc>
                  <a:txBody>
                    <a:bodyPr wrap="square"/>
                    <a:lstStyle/>
                    <a:p>
                      <a:r>
                        <a:rPr sz="950" b="0" i="0">
                          <a:solidFill>
                            <a:srgbClr val="202020"/>
                          </a:solidFill>
                          <a:latin typeface="Calibri"/>
                        </a:rPr>
                        <a:t>Altrata data feed provider (base/token URL, client id/secret)</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586</a:t>
            </a:r>
          </a:p>
        </p:txBody>
      </p:sp>
    </p:spTree>
  </p:cSld>
  <p:clrMapOvr>
    <a:masterClrMapping/>
  </p:clrMapOvr>
</p:sld>
</file>

<file path=ppt/slides/slide5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Connection parameters</a:t>
            </a:r>
          </a:p>
        </p:txBody>
      </p:sp>
      <p:sp>
        <p:nvSpPr>
          <p:cNvPr id="5" name="Rectangle 4"/>
          <p:cNvSpPr/>
          <p:nvPr/>
        </p:nvSpPr>
        <p:spPr>
          <a:xfrm>
            <a:off x="502920" y="1463040"/>
            <a:ext cx="11185855" cy="3291840"/>
          </a:xfrm>
          <a:prstGeom prst="rect">
            <a:avLst/>
          </a:prstGeom>
          <a:solidFill>
            <a:srgbClr val="F0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6A3D9A"/>
                </a:solidFill>
                <a:latin typeface="Calibri"/>
              </a:rPr>
              <a:t>Information to request:  </a:t>
            </a:r>
            <a:r>
              <a:rPr sz="1400" b="1" i="0">
                <a:solidFill>
                  <a:srgbClr val="202020"/>
                </a:solidFill>
                <a:latin typeface="Calibri"/>
              </a:rPr>
              <a:t>Information to request: </a:t>
            </a:r>
            <a:r>
              <a:rPr sz="1400" b="0" i="0">
                <a:solidFill>
                  <a:srgbClr val="202020"/>
                </a:solidFill>
                <a:latin typeface="Calibri"/>
              </a:rPr>
              <a:t>Before you can point the connector at the feed, get these from the owning teams: the </a:t>
            </a:r>
            <a:r>
              <a:rPr sz="1400" b="1" i="0">
                <a:solidFill>
                  <a:srgbClr val="202020"/>
                </a:solidFill>
                <a:latin typeface="Calibri"/>
              </a:rPr>
              <a:t>feed delivery location and SFTP credentials</a:t>
            </a:r>
            <a:r>
              <a:rPr sz="1400" b="0" i="0">
                <a:solidFill>
                  <a:srgbClr val="202020"/>
                </a:solidFill>
                <a:latin typeface="Calibri"/>
              </a:rPr>
              <a:t> (Altrata data feed provider, plus network/firewall for egress to the SFTP host); the </a:t>
            </a:r>
            <a:r>
              <a:rPr sz="1400" b="1" i="0">
                <a:solidFill>
                  <a:srgbClr val="202020"/>
                </a:solidFill>
                <a:latin typeface="Calibri"/>
              </a:rPr>
              <a:t>manifest format</a:t>
            </a:r>
            <a:r>
              <a:rPr sz="1400" b="0" i="0">
                <a:solidFill>
                  <a:srgbClr val="202020"/>
                </a:solidFill>
                <a:latin typeface="Calibri"/>
              </a:rPr>
              <a:t> and </a:t>
            </a:r>
            <a:r>
              <a:rPr sz="1400" b="1" i="0">
                <a:solidFill>
                  <a:srgbClr val="202020"/>
                </a:solidFill>
                <a:latin typeface="Calibri"/>
              </a:rPr>
              <a:t>delivery schedule</a:t>
            </a:r>
            <a:r>
              <a:rPr sz="1400" b="0" i="0">
                <a:solidFill>
                  <a:srgbClr val="202020"/>
                </a:solidFill>
                <a:latin typeface="Calibri"/>
              </a:rPr>
              <a:t> (Altrata data feed provider); and the </a:t>
            </a:r>
            <a:r>
              <a:rPr sz="1400" b="1" i="0">
                <a:solidFill>
                  <a:srgbClr val="202020"/>
                </a:solidFill>
                <a:latin typeface="Calibri"/>
              </a:rPr>
              <a:t>licensing / seat-list source</a:t>
            </a:r>
            <a:r>
              <a:rPr sz="1400" b="0" i="0">
                <a:solidFill>
                  <a:srgbClr val="202020"/>
                </a:solidFill>
                <a:latin typeface="Calibri"/>
              </a:rPr>
              <a:t> — which users are licensed, and whether that lives in a file or an Entra group (Entra tenant admin / licence owner).</a:t>
            </a:r>
          </a:p>
        </p:txBody>
      </p:sp>
      <p:sp>
        <p:nvSpPr>
          <p:cNvPr id="6" name="Rectangle 5"/>
          <p:cNvSpPr/>
          <p:nvPr/>
        </p:nvSpPr>
        <p:spPr>
          <a:xfrm>
            <a:off x="502920" y="1463040"/>
            <a:ext cx="128016" cy="3291840"/>
          </a:xfrm>
          <a:prstGeom prst="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587</a:t>
            </a:r>
          </a:p>
        </p:txBody>
      </p:sp>
    </p:spTree>
  </p:cSld>
  <p:clrMapOvr>
    <a:masterClrMapping/>
  </p:clrMapOvr>
</p:sld>
</file>

<file path=ppt/slides/slide5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Altrata Connector</a:t>
            </a:r>
          </a:p>
          <a:p>
            <a:r>
              <a:rPr sz="3000" b="1" i="0">
                <a:solidFill>
                  <a:srgbClr val="1F3864"/>
                </a:solidFill>
                <a:latin typeface="Calibri"/>
              </a:rPr>
              <a:t>5. How Altrata data appears in the Copilot index</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588</a:t>
            </a:r>
          </a:p>
        </p:txBody>
      </p:sp>
    </p:spTree>
  </p:cSld>
  <p:clrMapOvr>
    <a:masterClrMapping/>
  </p:clrMapOvr>
</p:sld>
</file>

<file path=ppt/slides/slide5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 How Altrata data appears in the Copilot index</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Each Altrata record becomes one </a:t>
            </a:r>
            <a:r>
              <a:rPr sz="1250" b="1" i="0">
                <a:solidFill>
                  <a:srgbClr val="202020"/>
                </a:solidFill>
                <a:latin typeface="Calibri"/>
              </a:rPr>
              <a:t>external item</a:t>
            </a:r>
            <a:r>
              <a:rPr sz="1250" b="0" i="0">
                <a:solidFill>
                  <a:srgbClr val="202020"/>
                </a:solidFill>
                <a:latin typeface="Calibri"/>
              </a:rPr>
              <a:t> (</a:t>
            </a:r>
            <a:r>
              <a:rPr sz="1200" b="0" i="0">
                <a:solidFill>
                  <a:srgbClr val="202020"/>
                </a:solidFill>
                <a:latin typeface="Consolas"/>
              </a:rPr>
              <a:t>microsoft.graph.externalItem</a:t>
            </a:r>
            <a:r>
              <a:rPr sz="1250" b="0" i="0">
                <a:solidFill>
                  <a:srgbClr val="202020"/>
                </a:solidFill>
                <a:latin typeface="Calibri"/>
              </a:rPr>
              <a:t>) in the Graph external connection. An item has three parts: an </a:t>
            </a:r>
            <a:r>
              <a:rPr sz="1250" b="1" i="0">
                <a:solidFill>
                  <a:srgbClr val="202020"/>
                </a:solidFill>
                <a:latin typeface="Calibri"/>
              </a:rPr>
              <a:t>id</a:t>
            </a:r>
            <a:r>
              <a:rPr sz="1250" b="0" i="0">
                <a:solidFill>
                  <a:srgbClr val="202020"/>
                </a:solidFill>
                <a:latin typeface="Calibri"/>
              </a:rPr>
              <a:t>, a set of </a:t>
            </a:r>
            <a:r>
              <a:rPr sz="1250" b="1" i="0">
                <a:solidFill>
                  <a:srgbClr val="202020"/>
                </a:solidFill>
                <a:latin typeface="Calibri"/>
              </a:rPr>
              <a:t>properties</a:t>
            </a:r>
            <a:r>
              <a:rPr sz="1250" b="0" i="0">
                <a:solidFill>
                  <a:srgbClr val="202020"/>
                </a:solidFill>
                <a:latin typeface="Calibri"/>
              </a:rPr>
              <a:t> (mapped from the record and used for search, filtering and display), and an </a:t>
            </a:r>
            <a:r>
              <a:rPr sz="1250" b="1" i="0">
                <a:solidFill>
                  <a:srgbClr val="202020"/>
                </a:solidFill>
                <a:latin typeface="Calibri"/>
              </a:rPr>
              <a:t>ACL</a:t>
            </a:r>
            <a:r>
              <a:rPr sz="1250" b="0" i="0">
                <a:solidFill>
                  <a:srgbClr val="202020"/>
                </a:solidFill>
                <a:latin typeface="Calibri"/>
              </a:rPr>
              <a:t> (who may see it). External items and ACLs are explained in the Common Guide §6.</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589</a:t>
            </a:r>
          </a:p>
        </p:txBody>
      </p:sp>
    </p:spTree>
  </p:cSld>
  <p:clrMapOvr>
    <a:masterClrMapping/>
  </p:clrMapOvr>
</p:sld>
</file>

<file path=ppt/slides/slide5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Item ids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item id is </a:t>
            </a:r>
            <a:r>
              <a:rPr sz="1200" b="0" i="0">
                <a:solidFill>
                  <a:srgbClr val="202020"/>
                </a:solidFill>
                <a:latin typeface="Consolas"/>
              </a:rPr>
              <a:t>{dataset}-{recordId}</a:t>
            </a:r>
            <a:r>
              <a:rPr sz="1250" b="0" i="0">
                <a:solidFill>
                  <a:srgbClr val="202020"/>
                </a:solidFill>
                <a:latin typeface="Calibri"/>
              </a:rPr>
              <a:t> for record ids that are already Graph-safe (ASCII letters, digits and </a:t>
            </a:r>
            <a:r>
              <a:rPr sz="1200" b="0" i="0">
                <a:solidFill>
                  <a:srgbClr val="202020"/>
                </a:solidFill>
                <a:latin typeface="Consolas"/>
              </a:rPr>
              <a:t>-</a:t>
            </a:r>
            <a:r>
              <a:rPr sz="1250" b="0" i="0">
                <a:solidFill>
                  <a:srgbClr val="202020"/>
                </a:solidFill>
                <a:latin typeface="Calibri"/>
              </a:rPr>
              <a:t>). Ids containing any other character are sanitised and suffixed with a short SHA-256 of the raw id, so two different records can never collide onto the same item id. The mapping is deterministic, which is what lets a tombstone or an erasure re-target exactly the same item.</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590</a:t>
            </a:r>
          </a:p>
        </p:txBody>
      </p:sp>
    </p:spTree>
  </p:cSld>
  <p:clrMapOvr>
    <a:masterClrMapping/>
  </p:clrMapOvr>
</p:sld>
</file>

<file path=ppt/slides/slide5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Property mapping</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full schema is </a:t>
            </a:r>
            <a:r>
              <a:rPr sz="1200" b="0" i="0">
                <a:solidFill>
                  <a:srgbClr val="202020"/>
                </a:solidFill>
                <a:latin typeface="Consolas"/>
              </a:rPr>
              <a:t>config/graph-schema.json</a:t>
            </a:r>
            <a:r>
              <a:rPr sz="1250" b="0" i="0">
                <a:solidFill>
                  <a:srgbClr val="202020"/>
                </a:solidFill>
                <a:latin typeface="Calibri"/>
              </a:rPr>
              <a:t>. The main properties and where they come from:</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591</a:t>
            </a:r>
          </a:p>
        </p:txBody>
      </p:sp>
    </p:spTree>
  </p:cSld>
  <p:clrMapOvr>
    <a:masterClrMapping/>
  </p:clrMapOvr>
</p:sld>
</file>

<file path=ppt/slides/slide5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Property mapping</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External item property</a:t>
                      </a:r>
                    </a:p>
                  </a:txBody>
                  <a:tcPr marT="25400" marB="25400">
                    <a:solidFill>
                      <a:srgbClr val="2E5496"/>
                    </a:solidFill>
                  </a:tcPr>
                </a:tc>
                <a:tc>
                  <a:txBody>
                    <a:bodyPr wrap="square"/>
                    <a:lstStyle/>
                    <a:p>
                      <a:r>
                        <a:rPr sz="1050" b="1" i="0">
                          <a:solidFill>
                            <a:srgbClr val="FFFFFF"/>
                          </a:solidFill>
                          <a:latin typeface="Calibri"/>
                        </a:rPr>
                        <a:t>Source Altrata field(s)</a:t>
                      </a:r>
                    </a:p>
                  </a:txBody>
                  <a:tcPr marT="25400" marB="25400">
                    <a:solidFill>
                      <a:srgbClr val="2E5496"/>
                    </a:solidFill>
                  </a:tcPr>
                </a:tc>
                <a:tc>
                  <a:txBody>
                    <a:bodyPr wrap="square"/>
                    <a:lstStyle/>
                    <a:p>
                      <a:r>
                        <a:rPr sz="1050" b="1" i="0">
                          <a:solidFill>
                            <a:srgbClr val="FFFFFF"/>
                          </a:solidFill>
                          <a:latin typeface="Calibri"/>
                        </a:rPr>
                        <a:t>How Copilot / Search uses it</a:t>
                      </a:r>
                    </a:p>
                  </a:txBody>
                  <a:tcPr marT="25400" marB="25400">
                    <a:solidFill>
                      <a:srgbClr val="2E5496"/>
                    </a:solidFill>
                  </a:tcPr>
                </a:tc>
              </a:tr>
              <a:tr h="384048">
                <a:tc>
                  <a:txBody>
                    <a:bodyPr wrap="square"/>
                    <a:lstStyle/>
                    <a:p>
                      <a:r>
                        <a:rPr sz="950" b="0" i="0">
                          <a:solidFill>
                            <a:srgbClr val="202020"/>
                          </a:solidFill>
                          <a:latin typeface="Calibri"/>
                        </a:rPr>
                        <a:t>title</a:t>
                      </a:r>
                    </a:p>
                  </a:txBody>
                  <a:tcPr marT="12700" marB="12700">
                    <a:solidFill>
                      <a:srgbClr val="FFFFFF"/>
                    </a:solidFill>
                  </a:tcPr>
                </a:tc>
                <a:tc>
                  <a:txBody>
                    <a:bodyPr wrap="square"/>
                    <a:lstStyle/>
                    <a:p>
                      <a:r>
                        <a:rPr sz="950" b="0" i="0">
                          <a:solidFill>
                            <a:srgbClr val="202020"/>
                          </a:solidFill>
                          <a:latin typeface="Calibri"/>
                        </a:rPr>
                        <a:t>person / organisation name (built per dataset)</a:t>
                      </a:r>
                    </a:p>
                  </a:txBody>
                  <a:tcPr marT="12700" marB="12700">
                    <a:solidFill>
                      <a:srgbClr val="FFFFFF"/>
                    </a:solidFill>
                  </a:tcPr>
                </a:tc>
                <a:tc>
                  <a:txBody>
                    <a:bodyPr wrap="square"/>
                    <a:lstStyle/>
                    <a:p>
                      <a:r>
                        <a:rPr sz="950" b="0" i="0">
                          <a:solidFill>
                            <a:srgbClr val="202020"/>
                          </a:solidFill>
                          <a:latin typeface="Calibri"/>
                        </a:rPr>
                        <a:t>Searchable; the result heading</a:t>
                      </a:r>
                    </a:p>
                  </a:txBody>
                  <a:tcPr marT="12700" marB="12700">
                    <a:solidFill>
                      <a:srgbClr val="FFFFFF"/>
                    </a:solidFill>
                  </a:tcPr>
                </a:tc>
              </a:tr>
              <a:tr h="384048">
                <a:tc>
                  <a:txBody>
                    <a:bodyPr wrap="square"/>
                    <a:lstStyle/>
                    <a:p>
                      <a:r>
                        <a:rPr sz="950" b="0" i="0">
                          <a:solidFill>
                            <a:srgbClr val="202020"/>
                          </a:solidFill>
                          <a:latin typeface="Calibri"/>
                        </a:rPr>
                        <a:t>altrataId</a:t>
                      </a:r>
                    </a:p>
                  </a:txBody>
                  <a:tcPr marT="12700" marB="12700">
                    <a:solidFill>
                      <a:srgbClr val="F7F9FC"/>
                    </a:solidFill>
                  </a:tcPr>
                </a:tc>
                <a:tc>
                  <a:txBody>
                    <a:bodyPr wrap="square"/>
                    <a:lstStyle/>
                    <a:p>
                      <a:r>
                        <a:rPr sz="950" b="0" i="0">
                          <a:solidFill>
                            <a:srgbClr val="202020"/>
                          </a:solidFill>
                          <a:latin typeface="Calibri"/>
                        </a:rPr>
                        <a:t>id / altrata_id / person_id</a:t>
                      </a:r>
                    </a:p>
                  </a:txBody>
                  <a:tcPr marT="12700" marB="12700">
                    <a:solidFill>
                      <a:srgbClr val="F7F9FC"/>
                    </a:solidFill>
                  </a:tcPr>
                </a:tc>
                <a:tc>
                  <a:txBody>
                    <a:bodyPr wrap="square"/>
                    <a:lstStyle/>
                    <a:p>
                      <a:r>
                        <a:rPr sz="950" b="0" i="0">
                          <a:solidFill>
                            <a:srgbClr val="202020"/>
                          </a:solidFill>
                          <a:latin typeface="Calibri"/>
                        </a:rPr>
                        <a:t>Queryable; the vendor record id</a:t>
                      </a:r>
                    </a:p>
                  </a:txBody>
                  <a:tcPr marT="12700" marB="12700">
                    <a:solidFill>
                      <a:srgbClr val="F7F9FC"/>
                    </a:solidFill>
                  </a:tcPr>
                </a:tc>
              </a:tr>
              <a:tr h="384048">
                <a:tc>
                  <a:txBody>
                    <a:bodyPr wrap="square"/>
                    <a:lstStyle/>
                    <a:p>
                      <a:r>
                        <a:rPr sz="950" b="0" i="0">
                          <a:solidFill>
                            <a:srgbClr val="202020"/>
                          </a:solidFill>
                          <a:latin typeface="Calibri"/>
                        </a:rPr>
                        <a:t>dataset</a:t>
                      </a:r>
                    </a:p>
                  </a:txBody>
                  <a:tcPr marT="12700" marB="12700">
                    <a:solidFill>
                      <a:srgbClr val="FFFFFF"/>
                    </a:solidFill>
                  </a:tcPr>
                </a:tc>
                <a:tc>
                  <a:txBody>
                    <a:bodyPr wrap="square"/>
                    <a:lstStyle/>
                    <a:p>
                      <a:r>
                        <a:rPr sz="950" b="0" i="0">
                          <a:solidFill>
                            <a:srgbClr val="202020"/>
                          </a:solidFill>
                          <a:latin typeface="Calibri"/>
                        </a:rPr>
                        <a:t>the record's dataset</a:t>
                      </a:r>
                    </a:p>
                  </a:txBody>
                  <a:tcPr marT="12700" marB="12700">
                    <a:solidFill>
                      <a:srgbClr val="FFFFFF"/>
                    </a:solidFill>
                  </a:tcPr>
                </a:tc>
                <a:tc>
                  <a:txBody>
                    <a:bodyPr wrap="square"/>
                    <a:lstStyle/>
                    <a:p>
                      <a:r>
                        <a:rPr sz="950" b="0" i="0">
                          <a:solidFill>
                            <a:srgbClr val="202020"/>
                          </a:solidFill>
                          <a:latin typeface="Calibri"/>
                        </a:rPr>
                        <a:t>Queryable &amp; refinable (filter by type)</a:t>
                      </a:r>
                    </a:p>
                  </a:txBody>
                  <a:tcPr marT="12700" marB="12700">
                    <a:solidFill>
                      <a:srgbClr val="FFFFFF"/>
                    </a:solidFill>
                  </a:tcPr>
                </a:tc>
              </a:tr>
              <a:tr h="384048">
                <a:tc>
                  <a:txBody>
                    <a:bodyPr wrap="square"/>
                    <a:lstStyle/>
                    <a:p>
                      <a:r>
                        <a:rPr sz="950" b="0" i="0">
                          <a:solidFill>
                            <a:srgbClr val="202020"/>
                          </a:solidFill>
                          <a:latin typeface="Calibri"/>
                        </a:rPr>
                        <a:t>personName</a:t>
                      </a:r>
                    </a:p>
                  </a:txBody>
                  <a:tcPr marT="12700" marB="12700">
                    <a:solidFill>
                      <a:srgbClr val="F7F9FC"/>
                    </a:solidFill>
                  </a:tcPr>
                </a:tc>
                <a:tc>
                  <a:txBody>
                    <a:bodyPr wrap="square"/>
                    <a:lstStyle/>
                    <a:p>
                      <a:r>
                        <a:rPr sz="950" b="0" i="0">
                          <a:solidFill>
                            <a:srgbClr val="202020"/>
                          </a:solidFill>
                          <a:latin typeface="Calibri"/>
                        </a:rPr>
                        <a:t>person_name / name / full_name</a:t>
                      </a:r>
                    </a:p>
                  </a:txBody>
                  <a:tcPr marT="12700" marB="12700">
                    <a:solidFill>
                      <a:srgbClr val="F7F9FC"/>
                    </a:solidFill>
                  </a:tcPr>
                </a:tc>
                <a:tc>
                  <a:txBody>
                    <a:bodyPr wrap="square"/>
                    <a:lstStyle/>
                    <a:p>
                      <a:r>
                        <a:rPr sz="950" b="0" i="0">
                          <a:solidFill>
                            <a:srgbClr val="202020"/>
                          </a:solidFill>
                          <a:latin typeface="Calibri"/>
                        </a:rPr>
                        <a:t>Searchable</a:t>
                      </a:r>
                    </a:p>
                  </a:txBody>
                  <a:tcPr marT="12700" marB="12700">
                    <a:solidFill>
                      <a:srgbClr val="F7F9FC"/>
                    </a:solidFill>
                  </a:tcPr>
                </a:tc>
              </a:tr>
              <a:tr h="384048">
                <a:tc>
                  <a:txBody>
                    <a:bodyPr wrap="square"/>
                    <a:lstStyle/>
                    <a:p>
                      <a:r>
                        <a:rPr sz="950" b="0" i="0">
                          <a:solidFill>
                            <a:srgbClr val="202020"/>
                          </a:solidFill>
                          <a:latin typeface="Calibri"/>
                        </a:rPr>
                        <a:t>organizationName</a:t>
                      </a:r>
                    </a:p>
                  </a:txBody>
                  <a:tcPr marT="12700" marB="12700">
                    <a:solidFill>
                      <a:srgbClr val="FFFFFF"/>
                    </a:solidFill>
                  </a:tcPr>
                </a:tc>
                <a:tc>
                  <a:txBody>
                    <a:bodyPr wrap="square"/>
                    <a:lstStyle/>
                    <a:p>
                      <a:r>
                        <a:rPr sz="950" b="0" i="0">
                          <a:solidFill>
                            <a:srgbClr val="202020"/>
                          </a:solidFill>
                          <a:latin typeface="Calibri"/>
                        </a:rPr>
                        <a:t>organization_name / org_name / employer</a:t>
                      </a:r>
                    </a:p>
                  </a:txBody>
                  <a:tcPr marT="12700" marB="12700">
                    <a:solidFill>
                      <a:srgbClr val="FFFFFF"/>
                    </a:solidFill>
                  </a:tcPr>
                </a:tc>
                <a:tc>
                  <a:txBody>
                    <a:bodyPr wrap="square"/>
                    <a:lstStyle/>
                    <a:p>
                      <a:r>
                        <a:rPr sz="950" b="0" i="0">
                          <a:solidFill>
                            <a:srgbClr val="202020"/>
                          </a:solidFill>
                          <a:latin typeface="Calibri"/>
                        </a:rPr>
                        <a:t>Searchable</a:t>
                      </a:r>
                    </a:p>
                  </a:txBody>
                  <a:tcPr marT="12700" marB="12700">
                    <a:solidFill>
                      <a:srgbClr val="FFFFFF"/>
                    </a:solidFill>
                  </a:tcPr>
                </a:tc>
              </a:tr>
              <a:tr h="384048">
                <a:tc>
                  <a:txBody>
                    <a:bodyPr wrap="square"/>
                    <a:lstStyle/>
                    <a:p>
                      <a:r>
                        <a:rPr sz="950" b="0" i="0">
                          <a:solidFill>
                            <a:srgbClr val="202020"/>
                          </a:solidFill>
                          <a:latin typeface="Calibri"/>
                        </a:rPr>
                        <a:t>roleTitle</a:t>
                      </a:r>
                    </a:p>
                  </a:txBody>
                  <a:tcPr marT="12700" marB="12700">
                    <a:solidFill>
                      <a:srgbClr val="F7F9FC"/>
                    </a:solidFill>
                  </a:tcPr>
                </a:tc>
                <a:tc>
                  <a:txBody>
                    <a:bodyPr wrap="square"/>
                    <a:lstStyle/>
                    <a:p>
                      <a:r>
                        <a:rPr sz="950" b="0" i="0">
                          <a:solidFill>
                            <a:srgbClr val="202020"/>
                          </a:solidFill>
                          <a:latin typeface="Calibri"/>
                        </a:rPr>
                        <a:t>role / title / position</a:t>
                      </a:r>
                    </a:p>
                  </a:txBody>
                  <a:tcPr marT="12700" marB="12700">
                    <a:solidFill>
                      <a:srgbClr val="F7F9FC"/>
                    </a:solidFill>
                  </a:tcPr>
                </a:tc>
                <a:tc>
                  <a:txBody>
                    <a:bodyPr wrap="square"/>
                    <a:lstStyle/>
                    <a:p>
                      <a:r>
                        <a:rPr sz="950" b="0" i="0">
                          <a:solidFill>
                            <a:srgbClr val="202020"/>
                          </a:solidFill>
                          <a:latin typeface="Calibri"/>
                        </a:rPr>
                        <a:t>Searchable</a:t>
                      </a:r>
                    </a:p>
                  </a:txBody>
                  <a:tcPr marT="12700" marB="12700">
                    <a:solidFill>
                      <a:srgbClr val="F7F9FC"/>
                    </a:solidFill>
                  </a:tcPr>
                </a:tc>
              </a:tr>
              <a:tr h="384048">
                <a:tc>
                  <a:txBody>
                    <a:bodyPr wrap="square"/>
                    <a:lstStyle/>
                    <a:p>
                      <a:r>
                        <a:rPr sz="950" b="0" i="0">
                          <a:solidFill>
                            <a:srgbClr val="202020"/>
                          </a:solidFill>
                          <a:latin typeface="Calibri"/>
                        </a:rPr>
                        <a:t>country</a:t>
                      </a:r>
                    </a:p>
                  </a:txBody>
                  <a:tcPr marT="12700" marB="12700">
                    <a:solidFill>
                      <a:srgbClr val="FFFFFF"/>
                    </a:solidFill>
                  </a:tcPr>
                </a:tc>
                <a:tc>
                  <a:txBody>
                    <a:bodyPr wrap="square"/>
                    <a:lstStyle/>
                    <a:p>
                      <a:r>
                        <a:rPr sz="950" b="0" i="0">
                          <a:solidFill>
                            <a:srgbClr val="202020"/>
                          </a:solidFill>
                          <a:latin typeface="Calibri"/>
                        </a:rPr>
                        <a:t>country</a:t>
                      </a:r>
                    </a:p>
                  </a:txBody>
                  <a:tcPr marT="12700" marB="12700">
                    <a:solidFill>
                      <a:srgbClr val="FFFFFF"/>
                    </a:solidFill>
                  </a:tcPr>
                </a:tc>
                <a:tc>
                  <a:txBody>
                    <a:bodyPr wrap="square"/>
                    <a:lstStyle/>
                    <a:p>
                      <a:r>
                        <a:rPr sz="950" b="0" i="0">
                          <a:solidFill>
                            <a:srgbClr val="202020"/>
                          </a:solidFill>
                          <a:latin typeface="Calibri"/>
                        </a:rPr>
                        <a:t>Queryable &amp; refinable</a:t>
                      </a:r>
                    </a:p>
                  </a:txBody>
                  <a:tcPr marT="12700" marB="12700">
                    <a:solidFill>
                      <a:srgbClr val="FFFFFF"/>
                    </a:solidFill>
                  </a:tcPr>
                </a:tc>
              </a:tr>
              <a:tr h="384048">
                <a:tc>
                  <a:txBody>
                    <a:bodyPr wrap="square"/>
                    <a:lstStyle/>
                    <a:p>
                      <a:r>
                        <a:rPr sz="950" b="0" i="0">
                          <a:solidFill>
                            <a:srgbClr val="202020"/>
                          </a:solidFill>
                          <a:latin typeface="Calibri"/>
                        </a:rPr>
                        <a:t>netWorthUsd</a:t>
                      </a:r>
                    </a:p>
                  </a:txBody>
                  <a:tcPr marT="12700" marB="12700">
                    <a:solidFill>
                      <a:srgbClr val="F7F9FC"/>
                    </a:solidFill>
                  </a:tcPr>
                </a:tc>
                <a:tc>
                  <a:txBody>
                    <a:bodyPr wrap="square"/>
                    <a:lstStyle/>
                    <a:p>
                      <a:r>
                        <a:rPr sz="950" b="0" i="0">
                          <a:solidFill>
                            <a:srgbClr val="202020"/>
                          </a:solidFill>
                          <a:latin typeface="Calibri"/>
                        </a:rPr>
                        <a:t>net_worth_usd / estimated_net_worth</a:t>
                      </a:r>
                    </a:p>
                  </a:txBody>
                  <a:tcPr marT="12700" marB="12700">
                    <a:solidFill>
                      <a:srgbClr val="F7F9FC"/>
                    </a:solidFill>
                  </a:tcPr>
                </a:tc>
                <a:tc>
                  <a:txBody>
                    <a:bodyPr wrap="square"/>
                    <a:lstStyle/>
                    <a:p>
                      <a:r>
                        <a:rPr sz="950" b="0" i="0">
                          <a:solidFill>
                            <a:srgbClr val="202020"/>
                          </a:solidFill>
                          <a:latin typeface="Calibri"/>
                        </a:rPr>
                        <a:t>Retrievable (sensitive)</a:t>
                      </a:r>
                    </a:p>
                  </a:txBody>
                  <a:tcPr marT="12700" marB="12700">
                    <a:solidFill>
                      <a:srgbClr val="F7F9FC"/>
                    </a:solidFill>
                  </a:tcPr>
                </a:tc>
              </a:tr>
              <a:tr h="384048">
                <a:tc>
                  <a:txBody>
                    <a:bodyPr wrap="square"/>
                    <a:lstStyle/>
                    <a:p>
                      <a:r>
                        <a:rPr sz="950" b="0" i="0">
                          <a:solidFill>
                            <a:srgbClr val="202020"/>
                          </a:solidFill>
                          <a:latin typeface="Calibri"/>
                        </a:rPr>
                        <a:t>piiClassification</a:t>
                      </a:r>
                    </a:p>
                  </a:txBody>
                  <a:tcPr marT="12700" marB="12700">
                    <a:solidFill>
                      <a:srgbClr val="FFFFFF"/>
                    </a:solidFill>
                  </a:tcPr>
                </a:tc>
                <a:tc>
                  <a:txBody>
                    <a:bodyPr wrap="square"/>
                    <a:lstStyle/>
                    <a:p>
                      <a:r>
                        <a:rPr sz="950" b="0" i="0">
                          <a:solidFill>
                            <a:srgbClr val="202020"/>
                          </a:solidFill>
                          <a:latin typeface="Calibri"/>
                        </a:rPr>
                        <a:t>derived from dataset + fields</a:t>
                      </a:r>
                    </a:p>
                  </a:txBody>
                  <a:tcPr marT="12700" marB="12700">
                    <a:solidFill>
                      <a:srgbClr val="FFFFFF"/>
                    </a:solidFill>
                  </a:tcPr>
                </a:tc>
                <a:tc>
                  <a:txBody>
                    <a:bodyPr wrap="square"/>
                    <a:lstStyle/>
                    <a:p>
                      <a:r>
                        <a:rPr sz="950" b="0" i="0">
                          <a:solidFill>
                            <a:srgbClr val="202020"/>
                          </a:solidFill>
                          <a:latin typeface="Calibri"/>
                        </a:rPr>
                        <a:t>Refinable: Non-Personal / PII-Personal / PII-Sensitive-Wealth</a:t>
                      </a:r>
                    </a:p>
                  </a:txBody>
                  <a:tcPr marT="12700" marB="12700">
                    <a:solidFill>
                      <a:srgbClr val="FFFFFF"/>
                    </a:solidFill>
                  </a:tcPr>
                </a:tc>
              </a:tr>
              <a:tr h="384048">
                <a:tc>
                  <a:txBody>
                    <a:bodyPr wrap="square"/>
                    <a:lstStyle/>
                    <a:p>
                      <a:r>
                        <a:rPr sz="950" b="0" i="0">
                          <a:solidFill>
                            <a:srgbClr val="202020"/>
                          </a:solidFill>
                          <a:latin typeface="Calibri"/>
                        </a:rPr>
                        <a:t>crmContactId (+ rule, confidence)</a:t>
                      </a:r>
                    </a:p>
                  </a:txBody>
                  <a:tcPr marT="12700" marB="12700">
                    <a:solidFill>
                      <a:srgbClr val="F7F9FC"/>
                    </a:solidFill>
                  </a:tcPr>
                </a:tc>
                <a:tc>
                  <a:txBody>
                    <a:bodyPr wrap="square"/>
                    <a:lstStyle/>
                    <a:p>
                      <a:r>
                        <a:rPr sz="950" b="0" i="0">
                          <a:solidFill>
                            <a:srgbClr val="202020"/>
                          </a:solidFill>
                          <a:latin typeface="Calibri"/>
                        </a:rPr>
                        <a:t>optional link to your internal CRM contact</a:t>
                      </a:r>
                    </a:p>
                  </a:txBody>
                  <a:tcPr marT="12700" marB="12700">
                    <a:solidFill>
                      <a:srgbClr val="F7F9FC"/>
                    </a:solidFill>
                  </a:tcPr>
                </a:tc>
                <a:tc>
                  <a:txBody>
                    <a:bodyPr wrap="square"/>
                    <a:lstStyle/>
                    <a:p>
                      <a:r>
                        <a:rPr sz="950" b="0" i="0">
                          <a:solidFill>
                            <a:srgbClr val="202020"/>
                          </a:solidFill>
                          <a:latin typeface="Calibri"/>
                        </a:rPr>
                        <a:t>Queryable; joins a profile to a known client</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592</a:t>
            </a:r>
          </a:p>
        </p:txBody>
      </p:sp>
    </p:spTree>
  </p:cSld>
  <p:clrMapOvr>
    <a:masterClrMapping/>
  </p:clrMapOvr>
</p:sld>
</file>

<file path=ppt/slides/slide5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Property mapping (cont.)</a:t>
            </a:r>
          </a:p>
        </p:txBody>
      </p:sp>
      <p:graphicFrame>
        <p:nvGraphicFramePr>
          <p:cNvPr id="5" name="Table 4"/>
          <p:cNvGraphicFramePr>
            <a:graphicFrameLocks noGrp="1"/>
          </p:cNvGraphicFramePr>
          <p:nvPr/>
        </p:nvGraphicFramePr>
        <p:xfrm>
          <a:off x="502920" y="1188720"/>
          <a:ext cx="11185855" cy="1152144"/>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External item property</a:t>
                      </a:r>
                    </a:p>
                  </a:txBody>
                  <a:tcPr marT="25400" marB="25400">
                    <a:solidFill>
                      <a:srgbClr val="2E5496"/>
                    </a:solidFill>
                  </a:tcPr>
                </a:tc>
                <a:tc>
                  <a:txBody>
                    <a:bodyPr wrap="square"/>
                    <a:lstStyle/>
                    <a:p>
                      <a:r>
                        <a:rPr sz="1050" b="1" i="0">
                          <a:solidFill>
                            <a:srgbClr val="FFFFFF"/>
                          </a:solidFill>
                          <a:latin typeface="Calibri"/>
                        </a:rPr>
                        <a:t>Source Altrata field(s)</a:t>
                      </a:r>
                    </a:p>
                  </a:txBody>
                  <a:tcPr marT="25400" marB="25400">
                    <a:solidFill>
                      <a:srgbClr val="2E5496"/>
                    </a:solidFill>
                  </a:tcPr>
                </a:tc>
                <a:tc>
                  <a:txBody>
                    <a:bodyPr wrap="square"/>
                    <a:lstStyle/>
                    <a:p>
                      <a:r>
                        <a:rPr sz="1050" b="1" i="0">
                          <a:solidFill>
                            <a:srgbClr val="FFFFFF"/>
                          </a:solidFill>
                          <a:latin typeface="Calibri"/>
                        </a:rPr>
                        <a:t>How Copilot / Search uses it</a:t>
                      </a:r>
                    </a:p>
                  </a:txBody>
                  <a:tcPr marT="25400" marB="25400">
                    <a:solidFill>
                      <a:srgbClr val="2E5496"/>
                    </a:solidFill>
                  </a:tcPr>
                </a:tc>
              </a:tr>
              <a:tr h="384048">
                <a:tc>
                  <a:txBody>
                    <a:bodyPr wrap="square"/>
                    <a:lstStyle/>
                    <a:p>
                      <a:r>
                        <a:rPr sz="950" b="0" i="0">
                          <a:solidFill>
                            <a:srgbClr val="202020"/>
                          </a:solidFill>
                          <a:latin typeface="Calibri"/>
                        </a:rPr>
                        <a:t>path properties (firstDegreeCount, pathCount, strongestPathSummary, ...)</a:t>
                      </a:r>
                    </a:p>
                  </a:txBody>
                  <a:tcPr marT="12700" marB="12700">
                    <a:solidFill>
                      <a:srgbClr val="FFFFFF"/>
                    </a:solidFill>
                  </a:tcPr>
                </a:tc>
                <a:tc>
                  <a:txBody>
                    <a:bodyPr wrap="square"/>
                    <a:lstStyle/>
                    <a:p>
                      <a:r>
                        <a:rPr sz="950" b="0" i="0">
                          <a:solidFill>
                            <a:srgbClr val="202020"/>
                          </a:solidFill>
                          <a:latin typeface="Calibri"/>
                        </a:rPr>
                        <a:t>optional RELATIONSHIP_PATHS feature</a:t>
                      </a:r>
                    </a:p>
                  </a:txBody>
                  <a:tcPr marT="12700" marB="12700">
                    <a:solidFill>
                      <a:srgbClr val="FFFFFF"/>
                    </a:solidFill>
                  </a:tcPr>
                </a:tc>
                <a:tc>
                  <a:txBody>
                    <a:bodyPr wrap="square"/>
                    <a:lstStyle/>
                    <a:p>
                      <a:r>
                        <a:rPr sz="950" b="0" i="0">
                          <a:solidFill>
                            <a:srgbClr val="202020"/>
                          </a:solidFill>
                          <a:latin typeface="Calibri"/>
                        </a:rPr>
                        <a:t>Refinable / searchable network summary</a:t>
                      </a:r>
                    </a:p>
                  </a:txBody>
                  <a:tcPr marT="12700" marB="12700">
                    <a:solidFill>
                      <a:srgbClr val="FFFFFF"/>
                    </a:solidFill>
                  </a:tcPr>
                </a:tc>
              </a:tr>
              <a:tr h="384048">
                <a:tc>
                  <a:txBody>
                    <a:bodyPr wrap="square"/>
                    <a:lstStyle/>
                    <a:p>
                      <a:r>
                        <a:rPr sz="950" b="0" i="0">
                          <a:solidFill>
                            <a:srgbClr val="202020"/>
                          </a:solidFill>
                          <a:latin typeface="Calibri"/>
                        </a:rPr>
                        <a:t>sourceUpdated</a:t>
                      </a:r>
                    </a:p>
                  </a:txBody>
                  <a:tcPr marT="12700" marB="12700">
                    <a:solidFill>
                      <a:srgbClr val="F7F9FC"/>
                    </a:solidFill>
                  </a:tcPr>
                </a:tc>
                <a:tc>
                  <a:txBody>
                    <a:bodyPr wrap="square"/>
                    <a:lstStyle/>
                    <a:p>
                      <a:r>
                        <a:rPr sz="950" b="0" i="0">
                          <a:solidFill>
                            <a:srgbClr val="202020"/>
                          </a:solidFill>
                          <a:latin typeface="Calibri"/>
                        </a:rPr>
                        <a:t>updated_utc / last_updated / as_of_date</a:t>
                      </a:r>
                    </a:p>
                  </a:txBody>
                  <a:tcPr marT="12700" marB="12700">
                    <a:solidFill>
                      <a:srgbClr val="F7F9FC"/>
                    </a:solidFill>
                  </a:tcPr>
                </a:tc>
                <a:tc>
                  <a:txBody>
                    <a:bodyPr wrap="square"/>
                    <a:lstStyle/>
                    <a:p>
                      <a:r>
                        <a:rPr sz="950" b="0" i="0">
                          <a:solidFill>
                            <a:srgbClr val="202020"/>
                          </a:solidFill>
                          <a:latin typeface="Calibri"/>
                        </a:rPr>
                        <a:t>Item last-modified date</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593</a:t>
            </a:r>
          </a:p>
        </p:txBody>
      </p:sp>
    </p:spTree>
  </p:cSld>
  <p:clrMapOvr>
    <a:masterClrMapping/>
  </p:clrMapOvr>
</p:sld>
</file>

<file path=ppt/slides/slide5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Searchable content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Alongside the properties, each item carries a compact text body — the record's fields rendered as </a:t>
            </a:r>
            <a:r>
              <a:rPr sz="1200" b="0" i="0">
                <a:solidFill>
                  <a:srgbClr val="202020"/>
                </a:solidFill>
                <a:latin typeface="Consolas"/>
              </a:rPr>
              <a:t>field: value</a:t>
            </a:r>
            <a:r>
              <a:rPr sz="1250" b="0" i="0">
                <a:solidFill>
                  <a:srgbClr val="202020"/>
                </a:solidFill>
                <a:latin typeface="Calibri"/>
              </a:rPr>
              <a:t> lines — so Copilot can reason over the profile semantically, not just match keywords.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594</a:t>
            </a:r>
          </a:p>
        </p:txBody>
      </p:sp>
    </p:spTree>
  </p:cSld>
  <p:clrMapOvr>
    <a:masterClrMapping/>
  </p:clrMapOvr>
</p:sld>
</file>

<file path=ppt/slides/slide5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The access list is seat-only</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Every item's ACL is built </a:t>
            </a:r>
            <a:r>
              <a:rPr sz="1250" b="1" i="0">
                <a:solidFill>
                  <a:srgbClr val="202020"/>
                </a:solidFill>
                <a:latin typeface="Calibri"/>
              </a:rPr>
              <a:t>exclusively</a:t>
            </a:r>
            <a:r>
              <a:rPr sz="1250" b="0" i="0">
                <a:solidFill>
                  <a:srgbClr val="202020"/>
                </a:solidFill>
                <a:latin typeface="Calibri"/>
              </a:rPr>
              <a:t> from your licensed seats — never “everyone”. This is the connector's signature control and it has its own section next.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595</a:t>
            </a:r>
          </a:p>
        </p:txBody>
      </p:sp>
    </p:spTree>
  </p:cSld>
  <p:clrMapOvr>
    <a:masterClrMapping/>
  </p:clrMapOvr>
</p:sld>
</file>

<file path=ppt/slides/slide5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Altrata Connector</a:t>
            </a:r>
          </a:p>
          <a:p>
            <a:r>
              <a:rPr sz="3000" b="1" i="0">
                <a:solidFill>
                  <a:srgbClr val="1F3864"/>
                </a:solidFill>
                <a:latin typeface="Calibri"/>
              </a:rPr>
              <a:t>6. Seat-only entitlement (signature feature)</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596</a:t>
            </a:r>
          </a:p>
        </p:txBody>
      </p:sp>
    </p:spTree>
  </p:cSld>
  <p:clrMapOvr>
    <a:masterClrMapping/>
  </p:clrMapOvr>
</p:sld>
</file>

<file path=ppt/slides/slide5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 Seat-only entitlement (signature feature)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Altrata data is licensed per seat, and it is sensitive personal data. The connector enforces both facts with one rule: an item is visible only to the licensed seats, and it fails closed if that list is ever missing or empty.</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597</a:t>
            </a:r>
          </a:p>
        </p:txBody>
      </p:sp>
    </p:spTree>
  </p:cSld>
  <p:clrMapOvr>
    <a:masterClrMapping/>
  </p:clrMapOvr>
</p:sld>
</file>

<file path=ppt/slides/slide5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The rule, precisely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0" i="0">
                <a:solidFill>
                  <a:srgbClr val="202020"/>
                </a:solidFill>
                <a:latin typeface="Calibri"/>
              </a:rPr>
              <a:t>Every external item's ACL is built </a:t>
            </a:r>
            <a:r>
              <a:rPr sz="1250" b="1" i="0">
                <a:solidFill>
                  <a:srgbClr val="202020"/>
                </a:solidFill>
                <a:latin typeface="Calibri"/>
              </a:rPr>
              <a:t>only</a:t>
            </a:r>
            <a:r>
              <a:rPr sz="1250" b="0" i="0">
                <a:solidFill>
                  <a:srgbClr val="202020"/>
                </a:solidFill>
                <a:latin typeface="Calibri"/>
              </a:rPr>
              <a:t> from the seat list — the licensed UPNs / object IDs, or one Entra group.</a:t>
            </a:r>
          </a:p>
          <a:p>
            <a:pPr>
              <a:spcBef>
                <a:spcPts val="100"/>
              </a:spcBef>
              <a:spcAft>
                <a:spcPts val="200"/>
              </a:spcAft>
            </a:pPr>
            <a:r>
              <a:rPr sz="1250" b="1" i="0">
                <a:solidFill>
                  <a:srgbClr val="2E5496"/>
                </a:solidFill>
                <a:latin typeface="Calibri"/>
              </a:rPr>
              <a:t>•  </a:t>
            </a:r>
            <a:r>
              <a:rPr sz="1250" b="0" i="0">
                <a:solidFill>
                  <a:srgbClr val="202020"/>
                </a:solidFill>
                <a:latin typeface="Calibri"/>
              </a:rPr>
              <a:t>An </a:t>
            </a:r>
            <a:r>
              <a:rPr sz="1250" b="1" i="0">
                <a:solidFill>
                  <a:srgbClr val="202020"/>
                </a:solidFill>
                <a:latin typeface="Calibri"/>
              </a:rPr>
              <a:t>“everyone” / “everyoneExceptGuests” grant is structurally impossible</a:t>
            </a:r>
            <a:r>
              <a:rPr sz="1250" b="0" i="0">
                <a:solidFill>
                  <a:srgbClr val="202020"/>
                </a:solidFill>
                <a:latin typeface="Calibri"/>
              </a:rPr>
              <a:t>: the ACL builder refuses to emit one, and that refusal is re-checked at every stage (single PUT, batched PUT, ACL update, and dead-letter replay).</a:t>
            </a:r>
          </a:p>
          <a:p>
            <a:pPr>
              <a:spcBef>
                <a:spcPts val="100"/>
              </a:spcBef>
              <a:spcAft>
                <a:spcPts val="200"/>
              </a:spcAft>
            </a:pPr>
            <a:r>
              <a:rPr sz="1250" b="1" i="0">
                <a:solidFill>
                  <a:srgbClr val="2E5496"/>
                </a:solidFill>
                <a:latin typeface="Calibri"/>
              </a:rPr>
              <a:t>•  </a:t>
            </a:r>
            <a:r>
              <a:rPr sz="1250" b="0" i="0">
                <a:solidFill>
                  <a:srgbClr val="202020"/>
                </a:solidFill>
                <a:latin typeface="Calibri"/>
              </a:rPr>
              <a:t>An </a:t>
            </a:r>
            <a:r>
              <a:rPr sz="1250" b="1" i="0">
                <a:solidFill>
                  <a:srgbClr val="202020"/>
                </a:solidFill>
                <a:latin typeface="Calibri"/>
              </a:rPr>
              <a:t>empty seat list stops ingestion</a:t>
            </a:r>
            <a:r>
              <a:rPr sz="1250" b="0" i="0">
                <a:solidFill>
                  <a:srgbClr val="202020"/>
                </a:solidFill>
                <a:latin typeface="Calibri"/>
              </a:rPr>
              <a:t> — the connector refuses to index anything rather than fall open. Refusals are counted (</a:t>
            </a:r>
            <a:r>
              <a:rPr sz="1200" b="0" i="0">
                <a:solidFill>
                  <a:srgbClr val="202020"/>
                </a:solidFill>
                <a:latin typeface="Consolas"/>
              </a:rPr>
              <a:t>altrata_entitlement_refusals_total</a:t>
            </a:r>
            <a:r>
              <a:rPr sz="1250" b="0" i="0">
                <a:solidFill>
                  <a:srgbClr val="202020"/>
                </a:solidFill>
                <a:latin typeface="Calibri"/>
              </a:rPr>
              <a:t>) and raise a critical </a:t>
            </a:r>
            <a:r>
              <a:rPr sz="1200" b="0" i="0">
                <a:solidFill>
                  <a:srgbClr val="202020"/>
                </a:solidFill>
                <a:latin typeface="Consolas"/>
              </a:rPr>
              <a:t>entitlement_violation</a:t>
            </a:r>
            <a:r>
              <a:rPr sz="1250" b="0" i="0">
                <a:solidFill>
                  <a:srgbClr val="202020"/>
                </a:solidFill>
                <a:latin typeface="Calibri"/>
              </a:rPr>
              <a:t> alert.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598</a:t>
            </a:r>
          </a:p>
        </p:txBody>
      </p:sp>
    </p:spTree>
  </p:cSld>
  <p:clrMapOvr>
    <a:masterClrMapping/>
  </p:clrMapOvr>
</p:sld>
</file>

<file path=ppt/slides/slide6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The rule, precisely</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1" i="0">
                <a:solidFill>
                  <a:srgbClr val="202020"/>
                </a:solidFill>
                <a:latin typeface="Calibri"/>
              </a:rPr>
              <a:t>Why this matters twice.</a:t>
            </a:r>
            <a:r>
              <a:rPr sz="1250" b="0" i="0">
                <a:solidFill>
                  <a:srgbClr val="202020"/>
                </a:solidFill>
                <a:latin typeface="Calibri"/>
              </a:rPr>
              <a:t> For </a:t>
            </a:r>
            <a:r>
              <a:rPr sz="1250" b="1" i="0">
                <a:solidFill>
                  <a:srgbClr val="202020"/>
                </a:solidFill>
                <a:latin typeface="Calibri"/>
              </a:rPr>
              <a:t>licence compliance</a:t>
            </a:r>
            <a:r>
              <a:rPr sz="1250" b="0" i="0">
                <a:solidFill>
                  <a:srgbClr val="202020"/>
                </a:solidFill>
                <a:latin typeface="Calibri"/>
              </a:rPr>
              <a:t>, only the seats you pay for ever see Altrata results. For </a:t>
            </a:r>
            <a:r>
              <a:rPr sz="1250" b="1" i="0">
                <a:solidFill>
                  <a:srgbClr val="202020"/>
                </a:solidFill>
                <a:latin typeface="Calibri"/>
              </a:rPr>
              <a:t>data protection</a:t>
            </a:r>
            <a:r>
              <a:rPr sz="1250" b="0" i="0">
                <a:solidFill>
                  <a:srgbClr val="202020"/>
                </a:solidFill>
                <a:latin typeface="Calibri"/>
              </a:rPr>
              <a:t>, it minimises exposure of HNW personal and wealth data to the smallest necessary audience — the opposite of a broadly shared SharePoint site.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599</a:t>
            </a:r>
          </a:p>
        </p:txBody>
      </p:sp>
    </p:spTree>
  </p:cSld>
  <p:clrMapOvr>
    <a:masterClrMapping/>
  </p:clrMapOvr>
</p:sld>
</file>

<file path=ppt/slides/slide6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Where the seat list comes from</a:t>
            </a:r>
          </a:p>
        </p:txBody>
      </p:sp>
      <p:graphicFrame>
        <p:nvGraphicFramePr>
          <p:cNvPr id="5" name="Table 4"/>
          <p:cNvGraphicFramePr>
            <a:graphicFrameLocks noGrp="1"/>
          </p:cNvGraphicFramePr>
          <p:nvPr/>
        </p:nvGraphicFramePr>
        <p:xfrm>
          <a:off x="502920" y="1188720"/>
          <a:ext cx="11185855" cy="1152144"/>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Seat source</a:t>
                      </a:r>
                    </a:p>
                  </a:txBody>
                  <a:tcPr marT="25400" marB="25400">
                    <a:solidFill>
                      <a:srgbClr val="2E5496"/>
                    </a:solidFill>
                  </a:tcPr>
                </a:tc>
                <a:tc>
                  <a:txBody>
                    <a:bodyPr wrap="square"/>
                    <a:lstStyle/>
                    <a:p>
                      <a:r>
                        <a:rPr sz="1050" b="1" i="0">
                          <a:solidFill>
                            <a:srgbClr val="FFFFFF"/>
                          </a:solidFill>
                          <a:latin typeface="Calibri"/>
                        </a:rPr>
                        <a:t>How to set it</a:t>
                      </a:r>
                    </a:p>
                  </a:txBody>
                  <a:tcPr marT="25400" marB="25400">
                    <a:solidFill>
                      <a:srgbClr val="2E5496"/>
                    </a:solidFill>
                  </a:tcPr>
                </a:tc>
                <a:tc>
                  <a:txBody>
                    <a:bodyPr wrap="square"/>
                    <a:lstStyle/>
                    <a:p>
                      <a:r>
                        <a:rPr sz="1050" b="1" i="0">
                          <a:solidFill>
                            <a:srgbClr val="FFFFFF"/>
                          </a:solidFill>
                          <a:latin typeface="Calibri"/>
                        </a:rPr>
                        <a:t>When to use it</a:t>
                      </a:r>
                    </a:p>
                  </a:txBody>
                  <a:tcPr marT="25400" marB="25400">
                    <a:solidFill>
                      <a:srgbClr val="2E5496"/>
                    </a:solidFill>
                  </a:tcPr>
                </a:tc>
              </a:tr>
              <a:tr h="384048">
                <a:tc>
                  <a:txBody>
                    <a:bodyPr wrap="square"/>
                    <a:lstStyle/>
                    <a:p>
                      <a:r>
                        <a:rPr sz="950" b="0" i="0">
                          <a:solidFill>
                            <a:srgbClr val="202020"/>
                          </a:solidFill>
                          <a:latin typeface="Calibri"/>
                        </a:rPr>
                        <a:t>Entra group</a:t>
                      </a:r>
                    </a:p>
                  </a:txBody>
                  <a:tcPr marT="12700" marB="12700">
                    <a:solidFill>
                      <a:srgbClr val="FFFFFF"/>
                    </a:solidFill>
                  </a:tcPr>
                </a:tc>
                <a:tc>
                  <a:txBody>
                    <a:bodyPr wrap="square"/>
                    <a:lstStyle/>
                    <a:p>
                      <a:r>
                        <a:rPr sz="950" b="0" i="0">
                          <a:solidFill>
                            <a:srgbClr val="202020"/>
                          </a:solidFill>
                          <a:latin typeface="Calibri"/>
                        </a:rPr>
                        <a:t>SEAT_GROUP_ID = one security-group object id</a:t>
                      </a:r>
                    </a:p>
                  </a:txBody>
                  <a:tcPr marT="12700" marB="12700">
                    <a:solidFill>
                      <a:srgbClr val="FFFFFF"/>
                    </a:solidFill>
                  </a:tcPr>
                </a:tc>
                <a:tc>
                  <a:txBody>
                    <a:bodyPr wrap="square"/>
                    <a:lstStyle/>
                    <a:p>
                      <a:r>
                        <a:rPr sz="950" b="0" i="0">
                          <a:solidFill>
                            <a:srgbClr val="202020"/>
                          </a:solidFill>
                          <a:latin typeface="Calibri"/>
                        </a:rPr>
                        <a:t>Preferred: seat management lives in Entra; Microsoft evaluates membership at query time</a:t>
                      </a:r>
                    </a:p>
                  </a:txBody>
                  <a:tcPr marT="12700" marB="12700">
                    <a:solidFill>
                      <a:srgbClr val="FFFFFF"/>
                    </a:solidFill>
                  </a:tcPr>
                </a:tc>
              </a:tr>
              <a:tr h="384048">
                <a:tc>
                  <a:txBody>
                    <a:bodyPr wrap="square"/>
                    <a:lstStyle/>
                    <a:p>
                      <a:r>
                        <a:rPr sz="950" b="0" i="0">
                          <a:solidFill>
                            <a:srgbClr val="202020"/>
                          </a:solidFill>
                          <a:latin typeface="Calibri"/>
                        </a:rPr>
                        <a:t>Seat-list file</a:t>
                      </a:r>
                    </a:p>
                  </a:txBody>
                  <a:tcPr marT="12700" marB="12700">
                    <a:solidFill>
                      <a:srgbClr val="F7F9FC"/>
                    </a:solidFill>
                  </a:tcPr>
                </a:tc>
                <a:tc>
                  <a:txBody>
                    <a:bodyPr wrap="square"/>
                    <a:lstStyle/>
                    <a:p>
                      <a:r>
                        <a:rPr sz="950" b="0" i="0">
                          <a:solidFill>
                            <a:srgbClr val="202020"/>
                          </a:solidFill>
                          <a:latin typeface="Calibri"/>
                        </a:rPr>
                        <a:t>config/seats.json (or SEAT_LIST_PATH): {"users": [...], "groups": [...]}</a:t>
                      </a:r>
                    </a:p>
                  </a:txBody>
                  <a:tcPr marT="12700" marB="12700">
                    <a:solidFill>
                      <a:srgbClr val="F7F9FC"/>
                    </a:solidFill>
                  </a:tcPr>
                </a:tc>
                <a:tc>
                  <a:txBody>
                    <a:bodyPr wrap="square"/>
                    <a:lstStyle/>
                    <a:p>
                      <a:r>
                        <a:rPr sz="950" b="0" i="0">
                          <a:solidFill>
                            <a:srgbClr val="202020"/>
                          </a:solidFill>
                          <a:latin typeface="Calibri"/>
                        </a:rPr>
                        <a:t>When the licensed list is managed as a file under change control</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600</a:t>
            </a:r>
          </a:p>
        </p:txBody>
      </p:sp>
    </p:spTree>
  </p:cSld>
  <p:clrMapOvr>
    <a:masterClrMapping/>
  </p:clrMapOvr>
</p:sld>
</file>

<file path=ppt/slides/slide6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Where the seat list comes from</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UPNs and object IDs are auto-detected and duplicates removed. Exactly one source is used; if </a:t>
            </a:r>
            <a:r>
              <a:rPr sz="1200" b="0" i="0">
                <a:solidFill>
                  <a:srgbClr val="202020"/>
                </a:solidFill>
                <a:latin typeface="Consolas"/>
              </a:rPr>
              <a:t>SEAT_GROUP_ID</a:t>
            </a:r>
            <a:r>
              <a:rPr sz="1250" b="0" i="0">
                <a:solidFill>
                  <a:srgbClr val="202020"/>
                </a:solidFill>
                <a:latin typeface="Calibri"/>
              </a:rPr>
              <a:t> is set it wins.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601</a:t>
            </a:r>
          </a:p>
        </p:txBody>
      </p:sp>
    </p:spTree>
  </p:cSld>
  <p:clrMapOvr>
    <a:masterClrMapping/>
  </p:clrMapOvr>
</p:sld>
</file>

<file path=ppt/slides/slide6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Refreshing the seat list (joiners and leavers)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connector stores a hash of the seat set. When the set changes, the next crawl (or an explicit </a:t>
            </a:r>
            <a:r>
              <a:rPr sz="1200" b="0" i="0">
                <a:solidFill>
                  <a:srgbClr val="202020"/>
                </a:solidFill>
                <a:latin typeface="Consolas"/>
              </a:rPr>
              <a:t>seat-sync</a:t>
            </a:r>
            <a:r>
              <a:rPr sz="1250" b="0" i="0">
                <a:solidFill>
                  <a:srgbClr val="202020"/>
                </a:solidFill>
                <a:latin typeface="Calibri"/>
              </a:rPr>
              <a:t>) runs a </a:t>
            </a:r>
            <a:r>
              <a:rPr sz="1250" b="1" i="0">
                <a:solidFill>
                  <a:srgbClr val="202020"/>
                </a:solidFill>
                <a:latin typeface="Calibri"/>
              </a:rPr>
              <a:t>re-ACL pass</a:t>
            </a:r>
            <a:r>
              <a:rPr sz="1250" b="0" i="0">
                <a:solidFill>
                  <a:srgbClr val="202020"/>
                </a:solidFill>
                <a:latin typeface="Calibri"/>
              </a:rPr>
              <a:t>: every item whose stored ACL hash differs is updated to the current seats, and only after the pass completes is the new hash committed — so an interrupted pass simply re-runs next time. To refresh:</a:t>
            </a:r>
          </a:p>
          <a:p>
            <a:pPr>
              <a:spcBef>
                <a:spcPts val="100"/>
              </a:spcBef>
              <a:spcAft>
                <a:spcPts val="200"/>
              </a:spcAft>
            </a:pPr>
            <a:r>
              <a:rPr sz="1250" b="1" i="0">
                <a:solidFill>
                  <a:srgbClr val="2E5496"/>
                </a:solidFill>
                <a:latin typeface="Calibri"/>
              </a:rPr>
              <a:t>•  </a:t>
            </a:r>
            <a:r>
              <a:rPr sz="1250" b="1" i="0">
                <a:solidFill>
                  <a:srgbClr val="202020"/>
                </a:solidFill>
                <a:latin typeface="Calibri"/>
              </a:rPr>
              <a:t>Preview</a:t>
            </a:r>
            <a:r>
              <a:rPr sz="1250" b="0" i="0">
                <a:solidFill>
                  <a:srgbClr val="202020"/>
                </a:solidFill>
                <a:latin typeface="Calibri"/>
              </a:rPr>
              <a:t> — edit the seat source, then run </a:t>
            </a:r>
            <a:r>
              <a:rPr sz="1200" b="0" i="0">
                <a:solidFill>
                  <a:srgbClr val="202020"/>
                </a:solidFill>
                <a:latin typeface="Consolas"/>
              </a:rPr>
              <a:t>identity-dry-run</a:t>
            </a:r>
            <a:r>
              <a:rPr sz="1250" b="0" i="0">
                <a:solidFill>
                  <a:srgbClr val="202020"/>
                </a:solidFill>
                <a:latin typeface="Calibri"/>
              </a:rPr>
              <a:t>. It prints the seat source, the seat count, the stored vs computed hash and whether a re-ACL would trigger, and it never touches ACLs.</a:t>
            </a:r>
          </a:p>
          <a:p>
            <a:pPr>
              <a:spcBef>
                <a:spcPts val="100"/>
              </a:spcBef>
              <a:spcAft>
                <a:spcPts val="200"/>
              </a:spcAft>
            </a:pPr>
            <a:r>
              <a:rPr sz="1250" b="1" i="0">
                <a:solidFill>
                  <a:srgbClr val="2E5496"/>
                </a:solidFill>
                <a:latin typeface="Calibri"/>
              </a:rPr>
              <a:t>•  </a:t>
            </a:r>
            <a:r>
              <a:rPr sz="1250" b="1" i="0">
                <a:solidFill>
                  <a:srgbClr val="202020"/>
                </a:solidFill>
                <a:latin typeface="Calibri"/>
              </a:rPr>
              <a:t>Apply</a:t>
            </a:r>
            <a:r>
              <a:rPr sz="1250" b="0" i="0">
                <a:solidFill>
                  <a:srgbClr val="202020"/>
                </a:solidFill>
                <a:latin typeface="Calibri"/>
              </a:rPr>
              <a:t> — run </a:t>
            </a:r>
            <a:r>
              <a:rPr sz="1200" b="0" i="0">
                <a:solidFill>
                  <a:srgbClr val="202020"/>
                </a:solidFill>
                <a:latin typeface="Consolas"/>
              </a:rPr>
              <a:t>seat-sync</a:t>
            </a:r>
            <a:r>
              <a:rPr sz="1250" b="0" i="0">
                <a:solidFill>
                  <a:srgbClr val="202020"/>
                </a:solidFill>
                <a:latin typeface="Calibri"/>
              </a:rPr>
              <a:t>. A changed list triggers the batched re-ACL pass; </a:t>
            </a:r>
            <a:r>
              <a:rPr sz="1200" b="0" i="0">
                <a:solidFill>
                  <a:srgbClr val="202020"/>
                </a:solidFill>
                <a:latin typeface="Consolas"/>
              </a:rPr>
              <a:t>altrata_seat_count</a:t>
            </a:r>
            <a:r>
              <a:rPr sz="1250" b="0" i="0">
                <a:solidFill>
                  <a:srgbClr val="202020"/>
                </a:solidFill>
                <a:latin typeface="Calibri"/>
              </a:rPr>
              <a:t> and </a:t>
            </a:r>
            <a:r>
              <a:rPr sz="1200" b="0" i="0">
                <a:solidFill>
                  <a:srgbClr val="202020"/>
                </a:solidFill>
                <a:latin typeface="Consolas"/>
              </a:rPr>
              <a:t>altrata_reacl_passes_total</a:t>
            </a:r>
            <a:r>
              <a:rPr sz="1250" b="0" i="0">
                <a:solidFill>
                  <a:srgbClr val="202020"/>
                </a:solidFill>
                <a:latin typeface="Calibri"/>
              </a:rPr>
              <a:t> report the result.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602</a:t>
            </a:r>
          </a:p>
        </p:txBody>
      </p:sp>
    </p:spTree>
  </p:cSld>
  <p:clrMapOvr>
    <a:masterClrMapping/>
  </p:clrMapOvr>
</p:sld>
</file>

<file path=ppt/slides/slide6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How often the re-ACL sweep runs (IDENTITY_SYNC_ON_INCREMENTAL)</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seat list is re-read on </a:t>
            </a:r>
            <a:r>
              <a:rPr sz="1250" b="1" i="0">
                <a:solidFill>
                  <a:srgbClr val="202020"/>
                </a:solidFill>
                <a:latin typeface="Calibri"/>
              </a:rPr>
              <a:t>every</a:t>
            </a:r>
            <a:r>
              <a:rPr sz="1250" b="0" i="0">
                <a:solidFill>
                  <a:srgbClr val="202020"/>
                </a:solidFill>
                <a:latin typeface="Calibri"/>
              </a:rPr>
              <a:t> crawl (full and incremental), so a newly ingested item always carries the current ACL and a seat change is always detected. </a:t>
            </a:r>
            <a:r>
              <a:rPr sz="1200" b="0" i="0">
                <a:solidFill>
                  <a:srgbClr val="202020"/>
                </a:solidFill>
                <a:latin typeface="Consolas"/>
              </a:rPr>
              <a:t>IDENTITY_SYNC_ON_INCREMENTAL</a:t>
            </a:r>
            <a:r>
              <a:rPr sz="1250" b="0" i="0">
                <a:solidFill>
                  <a:srgbClr val="202020"/>
                </a:solidFill>
                <a:latin typeface="Calibri"/>
              </a:rPr>
              <a:t> (default </a:t>
            </a:r>
            <a:r>
              <a:rPr sz="1200" b="0" i="0">
                <a:solidFill>
                  <a:srgbClr val="202020"/>
                </a:solidFill>
                <a:latin typeface="Consolas"/>
              </a:rPr>
              <a:t>true</a:t>
            </a:r>
            <a:r>
              <a:rPr sz="1250" b="0" i="0">
                <a:solidFill>
                  <a:srgbClr val="202020"/>
                </a:solidFill>
                <a:latin typeface="Calibri"/>
              </a:rPr>
              <a:t>) governs only the </a:t>
            </a:r>
            <a:r>
              <a:rPr sz="1250" b="1" i="0">
                <a:solidFill>
                  <a:srgbClr val="202020"/>
                </a:solidFill>
                <a:latin typeface="Calibri"/>
              </a:rPr>
              <a:t>sweep over already-indexed items</a:t>
            </a:r>
            <a:r>
              <a:rPr sz="1250" b="0" i="0">
                <a:solidFill>
                  <a:srgbClr val="202020"/>
                </a:solidFill>
                <a:latin typeface="Calibri"/>
              </a:rPr>
              <a:t>: at the default it runs on incremental crawls too, which </a:t>
            </a:r>
            <a:r>
              <a:rPr sz="1250" b="1" i="0">
                <a:solidFill>
                  <a:srgbClr val="202020"/>
                </a:solidFill>
                <a:latin typeface="Calibri"/>
              </a:rPr>
              <a:t>matches this connector's prior behaviour of re-ACLing on any crawl</a:t>
            </a:r>
            <a:r>
              <a:rPr sz="1250" b="0" i="0">
                <a:solidFill>
                  <a:srgbClr val="202020"/>
                </a:solidFill>
                <a:latin typeface="Calibri"/>
              </a:rPr>
              <a:t> — so leaving it alone changes nothing. Set it </a:t>
            </a:r>
            <a:r>
              <a:rPr sz="1200" b="0" i="0">
                <a:solidFill>
                  <a:srgbClr val="202020"/>
                </a:solidFill>
                <a:latin typeface="Consolas"/>
              </a:rPr>
              <a:t>false</a:t>
            </a:r>
            <a:r>
              <a:rPr sz="1250" b="0" i="0">
                <a:solidFill>
                  <a:srgbClr val="202020"/>
                </a:solidFill>
                <a:latin typeface="Calibri"/>
              </a:rPr>
              <a:t> only if the sweep is large enough to warrant </a:t>
            </a:r>
            <a:r>
              <a:rPr sz="1250" b="1" i="0">
                <a:solidFill>
                  <a:srgbClr val="202020"/>
                </a:solidFill>
                <a:latin typeface="Calibri"/>
              </a:rPr>
              <a:t>deferring it to full crawls only</a:t>
            </a:r>
            <a:r>
              <a:rPr sz="1250" b="0" i="0">
                <a:solidFill>
                  <a:srgbClr val="202020"/>
                </a:solidFill>
                <a:latin typeface="Calibri"/>
              </a:rPr>
              <a:t>; be aware that this widens the window in which a removed seat still resolves against older items.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603</a:t>
            </a:r>
          </a:p>
        </p:txBody>
      </p:sp>
    </p:spTree>
  </p:cSld>
  <p:clrMapOvr>
    <a:masterClrMapping/>
  </p:clrMapOvr>
</p:sld>
</file>

<file path=ppt/slides/slide6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How often the re-ACL sweep runs (IDENTITY_SYNC_ON_INCREMENTAL)</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The re-ACL cadence is </a:t>
            </a:r>
            <a:r>
              <a:rPr sz="1400" b="1" i="0">
                <a:solidFill>
                  <a:srgbClr val="202020"/>
                </a:solidFill>
                <a:latin typeface="Calibri"/>
              </a:rPr>
              <a:t>not real-time</a:t>
            </a:r>
            <a:r>
              <a:rPr sz="1400" b="0" i="0">
                <a:solidFill>
                  <a:srgbClr val="202020"/>
                </a:solidFill>
                <a:latin typeface="Calibri"/>
              </a:rPr>
              <a:t>: a mid-cycle leaver is fully revoked at the </a:t>
            </a:r>
            <a:r>
              <a:rPr sz="1400" b="1" i="0">
                <a:solidFill>
                  <a:srgbClr val="202020"/>
                </a:solidFill>
                <a:latin typeface="Calibri"/>
              </a:rPr>
              <a:t>next</a:t>
            </a:r>
            <a:r>
              <a:rPr sz="1400" b="0" i="0">
                <a:solidFill>
                  <a:srgbClr val="202020"/>
                </a:solidFill>
                <a:latin typeface="Calibri"/>
              </a:rPr>
              <a:t> crawl that runs the sweep, not the instant you edit the seat source. Keep incrementals frequent (or run </a:t>
            </a:r>
            <a:r>
              <a:rPr sz="1350" b="0" i="0">
                <a:solidFill>
                  <a:srgbClr val="202020"/>
                </a:solidFill>
                <a:latin typeface="Consolas"/>
              </a:rPr>
              <a:t>seat-sync</a:t>
            </a:r>
            <a:r>
              <a:rPr sz="1400" b="0" i="0">
                <a:solidFill>
                  <a:srgbClr val="202020"/>
                </a:solidFill>
                <a:latin typeface="Calibri"/>
              </a:rPr>
              <a:t> on departure) so the worst-case exposure of a de-provisioned seat is bounded by that interval. For hard, immediate cut-off of the most sensitive tier, lock it to a small reviewer group with </a:t>
            </a:r>
            <a:r>
              <a:rPr sz="1350" b="0" i="0">
                <a:solidFill>
                  <a:srgbClr val="202020"/>
                </a:solidFill>
                <a:latin typeface="Consolas"/>
              </a:rPr>
              <a:t>CLASSIFICATION_ENFORCE_ACL</a:t>
            </a:r>
            <a:r>
              <a:rPr sz="1400" b="0" i="0">
                <a:solidFill>
                  <a:srgbClr val="202020"/>
                </a:solidFill>
                <a:latin typeface="Calibri"/>
              </a:rPr>
              <a:t> (section 15).</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604</a:t>
            </a:r>
          </a:p>
        </p:txBody>
      </p:sp>
    </p:spTree>
  </p:cSld>
  <p:clrMapOvr>
    <a:masterClrMapping/>
  </p:clrMapOvr>
</p:sld>
</file>

<file path=ppt/slides/slide6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How often the re-ACL sweep runs (IDENTITY_SYNC_ON_INCREMENTAL)</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When someone leaves a licensed team, remove them from the seat source and run </a:t>
            </a:r>
            <a:r>
              <a:rPr sz="1350" b="0" i="0">
                <a:solidFill>
                  <a:srgbClr val="202020"/>
                </a:solidFill>
                <a:latin typeface="Consolas"/>
              </a:rPr>
              <a:t>seat-sync</a:t>
            </a:r>
            <a:r>
              <a:rPr sz="1400" b="0" i="0">
                <a:solidFill>
                  <a:srgbClr val="202020"/>
                </a:solidFill>
                <a:latin typeface="Calibri"/>
              </a:rPr>
              <a:t> promptly — the re-ACL pass is what actually revokes their access to every already-indexed profile. Adding people who are not on the Altrata licence is both a licence breach and a data-protection breach.</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605</a:t>
            </a:r>
          </a:p>
        </p:txBody>
      </p:sp>
    </p:spTree>
  </p:cSld>
  <p:clrMapOvr>
    <a:masterClrMapping/>
  </p:clrMapOvr>
</p:sld>
</file>

<file path=ppt/slides/slide6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Verifying nothing is over-shared</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00" b="0" i="0">
                <a:solidFill>
                  <a:srgbClr val="202020"/>
                </a:solidFill>
                <a:latin typeface="Consolas"/>
              </a:rPr>
              <a:t>identity-dry-run</a:t>
            </a:r>
            <a:r>
              <a:rPr sz="1250" b="0" i="0">
                <a:solidFill>
                  <a:srgbClr val="202020"/>
                </a:solidFill>
                <a:latin typeface="Calibri"/>
              </a:rPr>
              <a:t> — confirm the seat count matches your licence and no unexpected principals appear.</a:t>
            </a:r>
          </a:p>
          <a:p>
            <a:pPr>
              <a:spcBef>
                <a:spcPts val="100"/>
              </a:spcBef>
              <a:spcAft>
                <a:spcPts val="200"/>
              </a:spcAft>
            </a:pPr>
            <a:r>
              <a:rPr sz="1250" b="1" i="0">
                <a:solidFill>
                  <a:srgbClr val="2E5496"/>
                </a:solidFill>
                <a:latin typeface="Calibri"/>
              </a:rPr>
              <a:t>•  </a:t>
            </a:r>
            <a:r>
              <a:rPr sz="1250" b="0" i="0">
                <a:solidFill>
                  <a:srgbClr val="202020"/>
                </a:solidFill>
                <a:latin typeface="Calibri"/>
              </a:rPr>
              <a:t>In Copilot / Search — sign in as a </a:t>
            </a:r>
            <a:r>
              <a:rPr sz="1250" b="1" i="0">
                <a:solidFill>
                  <a:srgbClr val="202020"/>
                </a:solidFill>
                <a:latin typeface="Calibri"/>
              </a:rPr>
              <a:t>seated</a:t>
            </a:r>
            <a:r>
              <a:rPr sz="1250" b="0" i="0">
                <a:solidFill>
                  <a:srgbClr val="202020"/>
                </a:solidFill>
                <a:latin typeface="Calibri"/>
              </a:rPr>
              <a:t> user and confirm profiles are found; sign in as a </a:t>
            </a:r>
            <a:r>
              <a:rPr sz="1250" b="1" i="0">
                <a:solidFill>
                  <a:srgbClr val="202020"/>
                </a:solidFill>
                <a:latin typeface="Calibri"/>
              </a:rPr>
              <a:t>non-seated</a:t>
            </a:r>
            <a:r>
              <a:rPr sz="1250" b="0" i="0">
                <a:solidFill>
                  <a:srgbClr val="202020"/>
                </a:solidFill>
                <a:latin typeface="Calibri"/>
              </a:rPr>
              <a:t> user and confirm they are not.</a:t>
            </a:r>
          </a:p>
          <a:p>
            <a:pPr>
              <a:spcBef>
                <a:spcPts val="100"/>
              </a:spcBef>
              <a:spcAft>
                <a:spcPts val="200"/>
              </a:spcAft>
            </a:pPr>
            <a:r>
              <a:rPr sz="1250" b="1" i="0">
                <a:solidFill>
                  <a:srgbClr val="2E5496"/>
                </a:solidFill>
                <a:latin typeface="Calibri"/>
              </a:rPr>
              <a:t>•  </a:t>
            </a:r>
            <a:r>
              <a:rPr sz="1250" b="0" i="0">
                <a:solidFill>
                  <a:srgbClr val="202020"/>
                </a:solidFill>
                <a:latin typeface="Calibri"/>
              </a:rPr>
              <a:t>On </a:t>
            </a:r>
            <a:r>
              <a:rPr sz="1200" b="0" i="0">
                <a:solidFill>
                  <a:srgbClr val="202020"/>
                </a:solidFill>
                <a:latin typeface="Consolas"/>
              </a:rPr>
              <a:t>/metrics</a:t>
            </a:r>
            <a:r>
              <a:rPr sz="1250" b="0" i="0">
                <a:solidFill>
                  <a:srgbClr val="202020"/>
                </a:solidFill>
                <a:latin typeface="Calibri"/>
              </a:rPr>
              <a:t> — </a:t>
            </a:r>
            <a:r>
              <a:rPr sz="1200" b="0" i="0">
                <a:solidFill>
                  <a:srgbClr val="202020"/>
                </a:solidFill>
                <a:latin typeface="Consolas"/>
              </a:rPr>
              <a:t>altrata_seat_count</a:t>
            </a:r>
            <a:r>
              <a:rPr sz="1250" b="0" i="0">
                <a:solidFill>
                  <a:srgbClr val="202020"/>
                </a:solidFill>
                <a:latin typeface="Calibri"/>
              </a:rPr>
              <a:t> matches the licence; </a:t>
            </a:r>
            <a:r>
              <a:rPr sz="1200" b="0" i="0">
                <a:solidFill>
                  <a:srgbClr val="202020"/>
                </a:solidFill>
                <a:latin typeface="Consolas"/>
              </a:rPr>
              <a:t>altrata_entitlement_refusals_total</a:t>
            </a:r>
            <a:r>
              <a:rPr sz="1250" b="0" i="0">
                <a:solidFill>
                  <a:srgbClr val="202020"/>
                </a:solidFill>
                <a:latin typeface="Calibri"/>
              </a:rPr>
              <a:t> stays flat (a jump means the list went empty or a forbidden grant was attempted and refused).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606</a:t>
            </a:r>
          </a:p>
        </p:txBody>
      </p:sp>
    </p:spTree>
  </p:cSld>
  <p:clrMapOvr>
    <a:masterClrMapping/>
  </p:clrMapOvr>
</p:sld>
</file>

<file path=ppt/slides/slide6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Altrata Connector</a:t>
            </a:r>
          </a:p>
          <a:p>
            <a:r>
              <a:rPr sz="3000" b="1" i="0">
                <a:solidFill>
                  <a:srgbClr val="1F3864"/>
                </a:solidFill>
                <a:latin typeface="Calibri"/>
              </a:rPr>
              <a:t>7. DSAR / right-to-be-forgotten (signature feature)</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607</a:t>
            </a:r>
          </a:p>
        </p:txBody>
      </p:sp>
    </p:spTree>
  </p:cSld>
  <p:clrMapOvr>
    <a:masterClrMapping/>
  </p:clrMapOvr>
</p:sld>
</file>

<file path=ppt/slides/slide6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 DSAR / right-to-be-forgotten (signature feature)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When a data subject asks to be erased, you must remove them from the Copilot index and keep them removed even though Altrata will keep sending them. This is the most important workflow in the connector — read it fully before you ever need it.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608</a:t>
            </a:r>
          </a:p>
        </p:txBody>
      </p:sp>
    </p:spTree>
  </p:cSld>
  <p:clrMapOvr>
    <a:masterClrMapping/>
  </p:clrMapOvr>
</p:sld>
</file>

<file path=ppt/slides/slide6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 DSAR / right-to-be-forgotten (signature feature)</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350" b="0" i="0">
                <a:solidFill>
                  <a:srgbClr val="202020"/>
                </a:solidFill>
                <a:latin typeface="Consolas"/>
              </a:rPr>
              <a:t>forget-subject</a:t>
            </a:r>
            <a:r>
              <a:rPr sz="1400" b="0" i="0">
                <a:solidFill>
                  <a:srgbClr val="202020"/>
                </a:solidFill>
                <a:latin typeface="Calibri"/>
              </a:rPr>
              <a:t> fulfils a legal obligation. Run it under your DSAR process, record the actor and ticket, and treat an incomplete run as an open DSAR clock, not a closed ticket. The completeness limits at the end of this section must be disclosed to the DPO.</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609</a:t>
            </a:r>
          </a:p>
        </p:txBody>
      </p:sp>
    </p:spTree>
  </p:cSld>
  <p:clrMapOvr>
    <a:masterClrMapping/>
  </p:clrMapOvr>
</p:sld>
</file>

<file path=ppt/slides/slide6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The command</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00" b="0" i="0">
                <a:solidFill>
                  <a:srgbClr val="202020"/>
                </a:solidFill>
                <a:latin typeface="Consolas"/>
              </a:rPr>
              <a:t>forget-subject --id &lt;altrataId&gt;</a:t>
            </a:r>
            <a:r>
              <a:rPr sz="1250" b="0" i="0">
                <a:solidFill>
                  <a:srgbClr val="202020"/>
                </a:solidFill>
                <a:latin typeface="Calibri"/>
              </a:rPr>
              <a:t> or </a:t>
            </a:r>
            <a:r>
              <a:rPr sz="1200" b="0" i="0">
                <a:solidFill>
                  <a:srgbClr val="202020"/>
                </a:solidFill>
                <a:latin typeface="Consolas"/>
              </a:rPr>
              <a:t>--email &lt;address&gt;</a:t>
            </a:r>
            <a:r>
              <a:rPr sz="1250" b="0" i="0">
                <a:solidFill>
                  <a:srgbClr val="202020"/>
                </a:solidFill>
                <a:latin typeface="Calibri"/>
              </a:rPr>
              <a:t> prints a </a:t>
            </a:r>
            <a:r>
              <a:rPr sz="1250" b="1" i="0">
                <a:solidFill>
                  <a:srgbClr val="202020"/>
                </a:solidFill>
                <a:latin typeface="Calibri"/>
              </a:rPr>
              <a:t>dry-run</a:t>
            </a:r>
            <a:r>
              <a:rPr sz="1250" b="0" i="0">
                <a:solidFill>
                  <a:srgbClr val="202020"/>
                </a:solidFill>
                <a:latin typeface="Calibri"/>
              </a:rPr>
              <a:t> report by default; add </a:t>
            </a:r>
            <a:r>
              <a:rPr sz="1200" b="0" i="0">
                <a:solidFill>
                  <a:srgbClr val="202020"/>
                </a:solidFill>
                <a:latin typeface="Consolas"/>
              </a:rPr>
              <a:t>--confirm</a:t>
            </a:r>
            <a:r>
              <a:rPr sz="1250" b="0" i="0">
                <a:solidFill>
                  <a:srgbClr val="202020"/>
                </a:solidFill>
                <a:latin typeface="Calibri"/>
              </a:rPr>
              <a:t> to execute. </a:t>
            </a:r>
            <a:r>
              <a:rPr sz="1200" b="0" i="0">
                <a:solidFill>
                  <a:srgbClr val="202020"/>
                </a:solidFill>
                <a:latin typeface="Consolas"/>
              </a:rPr>
              <a:t>--requested-by &lt;actor&gt;</a:t>
            </a:r>
            <a:r>
              <a:rPr sz="1250" b="0" i="0">
                <a:solidFill>
                  <a:srgbClr val="202020"/>
                </a:solidFill>
                <a:latin typeface="Calibri"/>
              </a:rPr>
              <a:t> records who asked. </a:t>
            </a:r>
            <a:r>
              <a:rPr sz="1200" b="0" i="0">
                <a:solidFill>
                  <a:srgbClr val="202020"/>
                </a:solidFill>
                <a:latin typeface="Consolas"/>
              </a:rPr>
              <a:t>unsuppress-subject --id &lt;altrataId&gt; --confirm</a:t>
            </a:r>
            <a:r>
              <a:rPr sz="1250" b="0" i="0">
                <a:solidFill>
                  <a:srgbClr val="202020"/>
                </a:solidFill>
                <a:latin typeface="Calibri"/>
              </a:rPr>
              <a:t> reverses a suppression if a person is erased in error.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610</a:t>
            </a:r>
          </a:p>
        </p:txBody>
      </p:sp>
    </p:spTree>
  </p:cSld>
  <p:clrMapOvr>
    <a:masterClrMapping/>
  </p:clrMapOvr>
</p:sld>
</file>

<file path=ppt/slides/slide6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What forget-subject --confirm does, in order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order is deliberate and each step is defensive:</a:t>
            </a:r>
          </a:p>
          <a:p>
            <a:pPr>
              <a:spcBef>
                <a:spcPts val="100"/>
              </a:spcBef>
              <a:spcAft>
                <a:spcPts val="200"/>
              </a:spcAft>
            </a:pPr>
            <a:r>
              <a:rPr sz="1250" b="1" i="0">
                <a:solidFill>
                  <a:srgbClr val="2E5496"/>
                </a:solidFill>
                <a:latin typeface="Calibri"/>
              </a:rPr>
              <a:t>•  </a:t>
            </a:r>
            <a:r>
              <a:rPr sz="1250" b="1" i="0">
                <a:solidFill>
                  <a:srgbClr val="202020"/>
                </a:solidFill>
                <a:latin typeface="Calibri"/>
              </a:rPr>
              <a:t>1  Resolve the subject.</a:t>
            </a:r>
            <a:r>
              <a:rPr sz="1250" b="0" i="0">
                <a:solidFill>
                  <a:srgbClr val="202020"/>
                </a:solidFill>
                <a:latin typeface="Calibri"/>
              </a:rPr>
              <a:t> By Altrata id, or by email: the email's CRM contact is looked up and every Altrata id linked to it through the entity-resolution crosswalk is erased.</a:t>
            </a:r>
          </a:p>
          <a:p>
            <a:pPr>
              <a:spcBef>
                <a:spcPts val="100"/>
              </a:spcBef>
              <a:spcAft>
                <a:spcPts val="200"/>
              </a:spcAft>
            </a:pPr>
            <a:r>
              <a:rPr sz="1250" b="1" i="0">
                <a:solidFill>
                  <a:srgbClr val="2E5496"/>
                </a:solidFill>
                <a:latin typeface="Calibri"/>
              </a:rPr>
              <a:t>•  </a:t>
            </a:r>
            <a:r>
              <a:rPr sz="1250" b="1" i="0">
                <a:solidFill>
                  <a:srgbClr val="202020"/>
                </a:solidFill>
                <a:latin typeface="Calibri"/>
              </a:rPr>
              <a:t>2  Suppress first.</a:t>
            </a:r>
            <a:r>
              <a:rPr sz="1250" b="0" i="0">
                <a:solidFill>
                  <a:srgbClr val="202020"/>
                </a:solidFill>
                <a:latin typeface="Calibri"/>
              </a:rPr>
              <a:t> The subject id goes onto the durable </a:t>
            </a:r>
            <a:r>
              <a:rPr sz="1250" b="1" i="0">
                <a:solidFill>
                  <a:srgbClr val="202020"/>
                </a:solidFill>
                <a:latin typeface="Calibri"/>
              </a:rPr>
              <a:t>suppression list</a:t>
            </a:r>
            <a:r>
              <a:rPr sz="1250" b="0" i="0">
                <a:solidFill>
                  <a:srgbClr val="202020"/>
                </a:solidFill>
                <a:latin typeface="Calibri"/>
              </a:rPr>
              <a:t> before any withdrawal. This makes the workflow safe against a crawl racing the erasure: an in-flight feed PUT re-checks the suppression list after it lands and withdraws itself (a compensating withdrawal).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611</a:t>
            </a:r>
          </a:p>
        </p:txBody>
      </p:sp>
    </p:spTree>
  </p:cSld>
  <p:clrMapOvr>
    <a:masterClrMapping/>
  </p:clrMapOvr>
</p:sld>
</file>

<file path=ppt/slides/slide6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What forget-subject --confirm does, in order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3  Scrub the dead-letter queue.</a:t>
            </a:r>
            <a:r>
              <a:rPr sz="1250" b="0" i="0">
                <a:solidFill>
                  <a:srgbClr val="202020"/>
                </a:solidFill>
                <a:latin typeface="Calibri"/>
              </a:rPr>
              <a:t> Any queued add/update records for the subject are dropped so no copy of the profile is left waiting at rest; queued DELETEs are kept because they complete withdrawals.</a:t>
            </a:r>
          </a:p>
          <a:p>
            <a:pPr>
              <a:spcBef>
                <a:spcPts val="100"/>
              </a:spcBef>
              <a:spcAft>
                <a:spcPts val="200"/>
              </a:spcAft>
            </a:pPr>
            <a:r>
              <a:rPr sz="1250" b="1" i="0">
                <a:solidFill>
                  <a:srgbClr val="2E5496"/>
                </a:solidFill>
                <a:latin typeface="Calibri"/>
              </a:rPr>
              <a:t>•  </a:t>
            </a:r>
            <a:r>
              <a:rPr sz="1250" b="1" i="0">
                <a:solidFill>
                  <a:srgbClr val="202020"/>
                </a:solidFill>
                <a:latin typeface="Calibri"/>
              </a:rPr>
              <a:t>4  Withdraw every item.</a:t>
            </a:r>
            <a:r>
              <a:rPr sz="1250" b="0" i="0">
                <a:solidFill>
                  <a:srgbClr val="202020"/>
                </a:solidFill>
                <a:latin typeface="Calibri"/>
              </a:rPr>
              <a:t> Using an item↔subject reverse index built at ingest, the connector deletes the PersonProfile item </a:t>
            </a:r>
            <a:r>
              <a:rPr sz="1250" b="1" i="0">
                <a:solidFill>
                  <a:srgbClr val="202020"/>
                </a:solidFill>
                <a:latin typeface="Calibri"/>
              </a:rPr>
              <a:t>and all derived items</a:t>
            </a:r>
            <a:r>
              <a:rPr sz="1250" b="0" i="0">
                <a:solidFill>
                  <a:srgbClr val="202020"/>
                </a:solidFill>
                <a:latin typeface="Calibri"/>
              </a:rPr>
              <a:t> — WealthIndicator, BoardMembership, CareerHistory, and RelationshipPath (both ends of a connection). Deletes are idempotent.</a:t>
            </a:r>
          </a:p>
          <a:p>
            <a:pPr>
              <a:spcBef>
                <a:spcPts val="100"/>
              </a:spcBef>
              <a:spcAft>
                <a:spcPts val="200"/>
              </a:spcAft>
            </a:pPr>
            <a:r>
              <a:rPr sz="1250" b="1" i="0">
                <a:solidFill>
                  <a:srgbClr val="2E5496"/>
                </a:solidFill>
                <a:latin typeface="Calibri"/>
              </a:rPr>
              <a:t>•  </a:t>
            </a:r>
            <a:r>
              <a:rPr sz="1250" b="1" i="0">
                <a:solidFill>
                  <a:srgbClr val="202020"/>
                </a:solidFill>
                <a:latin typeface="Calibri"/>
              </a:rPr>
              <a:t>5  Remove local traces.</a:t>
            </a:r>
            <a:r>
              <a:rPr sz="1250" b="0" i="0">
                <a:solidFill>
                  <a:srgbClr val="202020"/>
                </a:solidFill>
                <a:latin typeface="Calibri"/>
              </a:rPr>
              <a:t> The crosswalk row and relationship-path entries for the person are removed from every store.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612</a:t>
            </a:r>
          </a:p>
        </p:txBody>
      </p:sp>
    </p:spTree>
  </p:cSld>
  <p:clrMapOvr>
    <a:masterClrMapping/>
  </p:clrMapOvr>
</p:sld>
</file>

<file path=ppt/slides/slide6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What forget-subject --confirm does, in order</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6  Ledger it.</a:t>
            </a:r>
            <a:r>
              <a:rPr sz="1250" b="0" i="0">
                <a:solidFill>
                  <a:srgbClr val="202020"/>
                </a:solidFill>
                <a:latin typeface="Calibri"/>
              </a:rPr>
              <a:t> A tamper-evident entry is appended to the erasure ledger, then the whole chain is re-verified.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613</a:t>
            </a:r>
          </a:p>
        </p:txBody>
      </p:sp>
    </p:spTree>
  </p:cSld>
  <p:clrMapOvr>
    <a:masterClrMapping/>
  </p:clrMapOvr>
</p:sld>
</file>

<file path=ppt/slides/slide6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Durability against re-delivery — the suppression list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Erasure would be pointless if the next feed brought the person back. Erased ids live on a persisted </a:t>
            </a:r>
            <a:r>
              <a:rPr sz="1250" b="1" i="0">
                <a:solidFill>
                  <a:srgbClr val="202020"/>
                </a:solidFill>
                <a:latin typeface="Calibri"/>
              </a:rPr>
              <a:t>suppression list</a:t>
            </a:r>
            <a:r>
              <a:rPr sz="1250" b="0" i="0">
                <a:solidFill>
                  <a:srgbClr val="202020"/>
                </a:solidFill>
                <a:latin typeface="Calibri"/>
              </a:rPr>
              <a:t>; every crawl checks each record against it and </a:t>
            </a:r>
            <a:r>
              <a:rPr sz="1250" b="1" i="0">
                <a:solidFill>
                  <a:srgbClr val="202020"/>
                </a:solidFill>
                <a:latin typeface="Calibri"/>
              </a:rPr>
              <a:t>skips suppressed subjects</a:t>
            </a:r>
            <a:r>
              <a:rPr sz="1250" b="0" i="0">
                <a:solidFill>
                  <a:srgbClr val="202020"/>
                </a:solidFill>
                <a:latin typeface="Calibri"/>
              </a:rPr>
              <a:t> (and their derived records). Skips are counted as </a:t>
            </a:r>
            <a:r>
              <a:rPr sz="1200" b="0" i="0">
                <a:solidFill>
                  <a:srgbClr val="202020"/>
                </a:solidFill>
                <a:latin typeface="Consolas"/>
              </a:rPr>
              <a:t>suppressed</a:t>
            </a:r>
            <a:r>
              <a:rPr sz="1250" b="0" i="0">
                <a:solidFill>
                  <a:srgbClr val="202020"/>
                </a:solidFill>
                <a:latin typeface="Calibri"/>
              </a:rPr>
              <a:t> in reconciliation — the delivery still reconciles cleanly — and are never dead-lettered. The block stays until you run </a:t>
            </a:r>
            <a:r>
              <a:rPr sz="1200" b="0" i="0">
                <a:solidFill>
                  <a:srgbClr val="202020"/>
                </a:solidFill>
                <a:latin typeface="Consolas"/>
              </a:rPr>
              <a:t>unsuppress-subject</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614</a:t>
            </a:r>
          </a:p>
        </p:txBody>
      </p:sp>
    </p:spTree>
  </p:cSld>
  <p:clrMapOvr>
    <a:masterClrMapping/>
  </p:clrMapOvr>
</p:sld>
</file>

<file path=ppt/slides/slide6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Durability against re-delivery — the suppression list</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Suppression stops the connector re-indexing the person, but it does </a:t>
            </a:r>
            <a:r>
              <a:rPr sz="1400" b="1" i="0">
                <a:solidFill>
                  <a:srgbClr val="202020"/>
                </a:solidFill>
                <a:latin typeface="Calibri"/>
              </a:rPr>
              <a:t>not</a:t>
            </a:r>
            <a:r>
              <a:rPr sz="1400" b="0" i="0">
                <a:solidFill>
                  <a:srgbClr val="202020"/>
                </a:solidFill>
                <a:latin typeface="Calibri"/>
              </a:rPr>
              <a:t> erase them at Altrata. Erasing at source is a separate request to the vendor under your data-processing agreement; suppression is what protects the Copilot index in the meantime.</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615</a:t>
            </a:r>
          </a:p>
        </p:txBody>
      </p:sp>
    </p:spTree>
  </p:cSld>
  <p:clrMapOvr>
    <a:masterClrMapping/>
  </p:clrMapOvr>
</p:sld>
</file>

<file path=ppt/slides/slide6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Proof for auditors — the erasure ledger</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Every erase and unsuppress is appended to </a:t>
            </a:r>
            <a:r>
              <a:rPr sz="1200" b="0" i="0">
                <a:solidFill>
                  <a:srgbClr val="202020"/>
                </a:solidFill>
                <a:latin typeface="Consolas"/>
              </a:rPr>
              <a:t>logs/erasure_ledger_{CONNECTOR_ID}.jsonl</a:t>
            </a:r>
            <a:r>
              <a:rPr sz="1250" b="0" i="0">
                <a:solidFill>
                  <a:srgbClr val="202020"/>
                </a:solidFill>
                <a:latin typeface="Calibri"/>
              </a:rPr>
              <a:t>: an append-only file where each entry records the actor, action, subject id (and email if supplied), the items removed, a correlation id, and a </a:t>
            </a:r>
            <a:r>
              <a:rPr sz="1250" b="1" i="0">
                <a:solidFill>
                  <a:srgbClr val="202020"/>
                </a:solidFill>
                <a:latin typeface="Calibri"/>
              </a:rPr>
              <a:t>SHA-256 hash</a:t>
            </a:r>
            <a:r>
              <a:rPr sz="1250" b="0" i="0">
                <a:solidFill>
                  <a:srgbClr val="202020"/>
                </a:solidFill>
                <a:latin typeface="Calibri"/>
              </a:rPr>
              <a:t> that covers the previous entry's hash. That makes it a </a:t>
            </a:r>
            <a:r>
              <a:rPr sz="1250" b="1" i="0">
                <a:solidFill>
                  <a:srgbClr val="202020"/>
                </a:solidFill>
                <a:latin typeface="Calibri"/>
              </a:rPr>
              <a:t>hash chain</a:t>
            </a:r>
            <a:r>
              <a:rPr sz="1250" b="0" i="0">
                <a:solidFill>
                  <a:srgbClr val="202020"/>
                </a:solidFill>
                <a:latin typeface="Calibri"/>
              </a:rPr>
              <a:t>: editing, reordering or deleting any entry breaks every later link, so </a:t>
            </a:r>
            <a:r>
              <a:rPr sz="1200" b="0" i="0">
                <a:solidFill>
                  <a:srgbClr val="202020"/>
                </a:solidFill>
                <a:latin typeface="Consolas"/>
              </a:rPr>
              <a:t>Verify()</a:t>
            </a:r>
            <a:r>
              <a:rPr sz="1250" b="0" i="0">
                <a:solidFill>
                  <a:srgbClr val="202020"/>
                </a:solidFill>
                <a:latin typeface="Calibri"/>
              </a:rPr>
              <a:t> detects tampering without any external system. The connector even refuses to append to a chain it cannot read, so tampering can never be buried under fresh entries. The ledger is kept even through a full license-end purge — it is the compliance record.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616</a:t>
            </a:r>
          </a:p>
        </p:txBody>
      </p:sp>
    </p:spTree>
  </p:cSld>
  <p:clrMapOvr>
    <a:masterClrMapping/>
  </p:clrMapOvr>
</p:sld>
</file>

<file path=ppt/slides/slide6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Proof for auditors — the erasure ledger</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A failed ledger verification (</a:t>
            </a:r>
            <a:r>
              <a:rPr sz="1350" b="0" i="0">
                <a:solidFill>
                  <a:srgbClr val="202020"/>
                </a:solidFill>
                <a:latin typeface="Consolas"/>
              </a:rPr>
              <a:t>altrata_erasure_ledger_broken == 1</a:t>
            </a:r>
            <a:r>
              <a:rPr sz="1400" b="0" i="0">
                <a:solidFill>
                  <a:srgbClr val="202020"/>
                </a:solidFill>
                <a:latin typeface="Calibri"/>
              </a:rPr>
              <a:t>) is a </a:t>
            </a:r>
            <a:r>
              <a:rPr sz="1400" b="1" i="0">
                <a:solidFill>
                  <a:srgbClr val="202020"/>
                </a:solidFill>
                <a:latin typeface="Calibri"/>
              </a:rPr>
              <a:t>security-critical</a:t>
            </a:r>
            <a:r>
              <a:rPr sz="1400" b="0" i="0">
                <a:solidFill>
                  <a:srgbClr val="202020"/>
                </a:solidFill>
                <a:latin typeface="Calibri"/>
              </a:rPr>
              <a:t> signal. There are two very different causes — a torn final line from a crash, versus real tampering — and they escalate differently. Do not edit, delete or append to the ledger; follow the tamper-vs-torn procedure in section 13.</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617</a:t>
            </a:r>
          </a:p>
        </p:txBody>
      </p:sp>
    </p:spTree>
  </p:cSld>
  <p:clrMapOvr>
    <a:masterClrMapping/>
  </p:clrMapOvr>
</p:sld>
</file>

<file path=ppt/slides/slide6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If a withdrawal fails part-way (compensating withdrawal)</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Erasure is durable regardless of transient Graph errors. If a Graph DELETE fails mid-flight, the subject is </a:t>
            </a:r>
            <a:r>
              <a:rPr sz="1250" b="1" i="0">
                <a:solidFill>
                  <a:srgbClr val="202020"/>
                </a:solidFill>
                <a:latin typeface="Calibri"/>
              </a:rPr>
              <a:t>still</a:t>
            </a:r>
            <a:r>
              <a:rPr sz="1250" b="0" i="0">
                <a:solidFill>
                  <a:srgbClr val="202020"/>
                </a:solidFill>
                <a:latin typeface="Calibri"/>
              </a:rPr>
              <a:t> suppressed and ledgered, the item is removed from local inventory, and the failed DELETE is dead-lettered as an </a:t>
            </a:r>
            <a:r>
              <a:rPr sz="1200" b="0" i="0">
                <a:solidFill>
                  <a:srgbClr val="202020"/>
                </a:solidFill>
                <a:latin typeface="Consolas"/>
              </a:rPr>
              <a:t>op: delete</a:t>
            </a:r>
            <a:r>
              <a:rPr sz="1250" b="0" i="0">
                <a:solidFill>
                  <a:srgbClr val="202020"/>
                </a:solidFill>
                <a:latin typeface="Calibri"/>
              </a:rPr>
              <a:t> record. The command exits non-zero and tells you how many are outstanding. Run </a:t>
            </a:r>
            <a:r>
              <a:rPr sz="1200" b="0" i="0">
                <a:solidFill>
                  <a:srgbClr val="202020"/>
                </a:solidFill>
                <a:latin typeface="Consolas"/>
              </a:rPr>
              <a:t>retry-failed</a:t>
            </a:r>
            <a:r>
              <a:rPr sz="1250" b="0" i="0">
                <a:solidFill>
                  <a:srgbClr val="202020"/>
                </a:solidFill>
                <a:latin typeface="Calibri"/>
              </a:rPr>
              <a:t> to finish: erasure DELETEs replay first-class and the suppression guard never blocks them (they complete the erasure). Then re-run </a:t>
            </a:r>
            <a:r>
              <a:rPr sz="1200" b="0" i="0">
                <a:solidFill>
                  <a:srgbClr val="202020"/>
                </a:solidFill>
                <a:latin typeface="Consolas"/>
              </a:rPr>
              <a:t>forget-subject --id &lt;id&gt;</a:t>
            </a:r>
            <a:r>
              <a:rPr sz="1250" b="0" i="0">
                <a:solidFill>
                  <a:srgbClr val="202020"/>
                </a:solidFill>
                <a:latin typeface="Calibri"/>
              </a:rPr>
              <a:t> as a dry-run — it must report </a:t>
            </a:r>
            <a:r>
              <a:rPr sz="1200" b="0" i="0">
                <a:solidFill>
                  <a:srgbClr val="202020"/>
                </a:solidFill>
                <a:latin typeface="Consolas"/>
              </a:rPr>
              <a:t>Items to withdraw : 0</a:t>
            </a:r>
            <a:r>
              <a:rPr sz="1250" b="0" i="0">
                <a:solidFill>
                  <a:srgbClr val="202020"/>
                </a:solidFill>
                <a:latin typeface="Calibri"/>
              </a:rPr>
              <a:t> and </a:t>
            </a:r>
            <a:r>
              <a:rPr sz="1200" b="0" i="0">
                <a:solidFill>
                  <a:srgbClr val="202020"/>
                </a:solidFill>
                <a:latin typeface="Consolas"/>
              </a:rPr>
              <a:t>Already suppressed : 1 / 1</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618</a:t>
            </a:r>
          </a:p>
        </p:txBody>
      </p:sp>
    </p:spTree>
  </p:cSld>
  <p:clrMapOvr>
    <a:masterClrMapping/>
  </p:clrMapOvr>
</p:sld>
</file>

<file path=ppt/slides/slide6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Completeness limits to disclose to the DPO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erasure is complete on the connector's side at ledger time, but a few things are outside the connector's control and must be understood:</a:t>
            </a:r>
          </a:p>
          <a:p>
            <a:pPr>
              <a:spcBef>
                <a:spcPts val="100"/>
              </a:spcBef>
              <a:spcAft>
                <a:spcPts val="200"/>
              </a:spcAft>
            </a:pPr>
            <a:r>
              <a:rPr sz="1250" b="1" i="0">
                <a:solidFill>
                  <a:srgbClr val="2E5496"/>
                </a:solidFill>
                <a:latin typeface="Calibri"/>
              </a:rPr>
              <a:t>•  </a:t>
            </a:r>
            <a:r>
              <a:rPr sz="1250" b="1" i="0">
                <a:solidFill>
                  <a:srgbClr val="202020"/>
                </a:solidFill>
                <a:latin typeface="Calibri"/>
              </a:rPr>
              <a:t>Index propagation delay.</a:t>
            </a:r>
            <a:r>
              <a:rPr sz="1250" b="0" i="0">
                <a:solidFill>
                  <a:srgbClr val="202020"/>
                </a:solidFill>
                <a:latin typeface="Calibri"/>
              </a:rPr>
              <a:t> A deleted external item can linger in Microsoft Search and Copilot grounding for minutes to hours until Microsoft's index catches up. Visibility follows the DELETE asynchronously.</a:t>
            </a:r>
          </a:p>
          <a:p>
            <a:pPr>
              <a:spcBef>
                <a:spcPts val="100"/>
              </a:spcBef>
              <a:spcAft>
                <a:spcPts val="200"/>
              </a:spcAft>
            </a:pPr>
            <a:r>
              <a:rPr sz="1250" b="1" i="0">
                <a:solidFill>
                  <a:srgbClr val="2E5496"/>
                </a:solidFill>
                <a:latin typeface="Calibri"/>
              </a:rPr>
              <a:t>•  </a:t>
            </a:r>
            <a:r>
              <a:rPr sz="1250" b="1" i="0">
                <a:solidFill>
                  <a:srgbClr val="202020"/>
                </a:solidFill>
                <a:latin typeface="Calibri"/>
              </a:rPr>
              <a:t>Copilot chat history.</a:t>
            </a:r>
            <a:r>
              <a:rPr sz="1250" b="0" i="0">
                <a:solidFill>
                  <a:srgbClr val="202020"/>
                </a:solidFill>
                <a:latin typeface="Calibri"/>
              </a:rPr>
              <a:t> Answers already generated for a seat holder persist in their chat history, which is Microsoft Purview's domain, not this connector's.</a:t>
            </a:r>
          </a:p>
          <a:p>
            <a:pPr>
              <a:spcBef>
                <a:spcPts val="100"/>
              </a:spcBef>
              <a:spcAft>
                <a:spcPts val="200"/>
              </a:spcAft>
            </a:pPr>
            <a:r>
              <a:rPr sz="1250" b="1" i="0">
                <a:solidFill>
                  <a:srgbClr val="2E5496"/>
                </a:solidFill>
                <a:latin typeface="Calibri"/>
              </a:rPr>
              <a:t>•  </a:t>
            </a:r>
            <a:r>
              <a:rPr sz="1250" b="1" i="0">
                <a:solidFill>
                  <a:srgbClr val="202020"/>
                </a:solidFill>
                <a:latin typeface="Calibri"/>
              </a:rPr>
              <a:t>Feed re-delivery.</a:t>
            </a:r>
            <a:r>
              <a:rPr sz="1250" b="0" i="0">
                <a:solidFill>
                  <a:srgbClr val="202020"/>
                </a:solidFill>
                <a:latin typeface="Calibri"/>
              </a:rPr>
              <a:t> Altrata keeps sending the person; suppression skips them (counted </a:t>
            </a:r>
            <a:r>
              <a:rPr sz="1200" b="0" i="0">
                <a:solidFill>
                  <a:srgbClr val="202020"/>
                </a:solidFill>
                <a:latin typeface="Consolas"/>
              </a:rPr>
              <a:t>altrata_items_suppressed_total</a:t>
            </a:r>
            <a:r>
              <a:rPr sz="1250" b="0" i="0">
                <a:solidFill>
                  <a:srgbClr val="202020"/>
                </a:solidFill>
                <a:latin typeface="Calibri"/>
              </a:rPr>
              <a:t>). Erasure at source needs a request to Altrata.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619</a:t>
            </a:r>
          </a:p>
        </p:txBody>
      </p:sp>
    </p:spTree>
  </p:cSld>
  <p:clrMapOvr>
    <a:masterClrMapping/>
  </p:clrMapOvr>
</p:sld>
</file>

<file path=ppt/slides/slide6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Completeness limits to disclose to the DPO</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Backups.</a:t>
            </a:r>
            <a:r>
              <a:rPr sz="1250" b="0" i="0">
                <a:solidFill>
                  <a:srgbClr val="202020"/>
                </a:solidFill>
                <a:latin typeface="Calibri"/>
              </a:rPr>
              <a:t> State or ledger backups taken before the erasure still contain the subject; a restore must bring the suppression list with it (section 14) so the next crawl re-erases them.</a:t>
            </a:r>
          </a:p>
          <a:p>
            <a:pPr>
              <a:spcBef>
                <a:spcPts val="100"/>
              </a:spcBef>
              <a:spcAft>
                <a:spcPts val="200"/>
              </a:spcAft>
            </a:pPr>
            <a:r>
              <a:rPr sz="1250" b="1" i="0">
                <a:solidFill>
                  <a:srgbClr val="2E5496"/>
                </a:solidFill>
                <a:latin typeface="Calibri"/>
              </a:rPr>
              <a:t>•  </a:t>
            </a:r>
            <a:r>
              <a:rPr sz="1250" b="1" i="0">
                <a:solidFill>
                  <a:srgbClr val="202020"/>
                </a:solidFill>
                <a:latin typeface="Calibri"/>
              </a:rPr>
              <a:t>The ledger keeps the subject id (and email).</a:t>
            </a:r>
            <a:r>
              <a:rPr sz="1250" b="0" i="0">
                <a:solidFill>
                  <a:srgbClr val="202020"/>
                </a:solidFill>
                <a:latin typeface="Calibri"/>
              </a:rPr>
              <a:t> That retention is intentional — it is the Article 17(3)(b) compliance record. Note it in your record of processing activities (RoPA).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620</a:t>
            </a:r>
          </a:p>
        </p:txBody>
      </p:sp>
    </p:spTree>
  </p:cSld>
  <p:clrMapOvr>
    <a:masterClrMapping/>
  </p:clrMapOvr>
</p:sld>
</file>

<file path=ppt/slides/slide6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Altrata Connector</a:t>
            </a:r>
          </a:p>
          <a:p>
            <a:r>
              <a:rPr sz="3000" b="1" i="0">
                <a:solidFill>
                  <a:srgbClr val="1F3864"/>
                </a:solidFill>
                <a:latin typeface="Calibri"/>
              </a:rPr>
              <a:t>8. Privacy by construction</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621</a:t>
            </a:r>
          </a:p>
        </p:txBody>
      </p:sp>
    </p:spTree>
  </p:cSld>
  <p:clrMapOvr>
    <a:masterClrMapping/>
  </p:clrMapOvr>
</p:sld>
</file>

<file path=ppt/slides/slide6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8. Privacy by construction</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connector is built so that its own operational surfaces — logs, traces, the review queue, and the dead-letter queue — do not become a second, un-governed copy of the sensitive data.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622</a:t>
            </a:r>
          </a:p>
        </p:txBody>
      </p:sp>
    </p:spTree>
  </p:cSld>
  <p:clrMapOvr>
    <a:masterClrMapping/>
  </p:clrMapOvr>
</p:sld>
</file>

<file path=ppt/slides/slide6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Identities are stored as hashes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Wherever the connector needs to match or de-duplicate people outside the seat-gated index, it uses one-way </a:t>
            </a:r>
            <a:r>
              <a:rPr sz="1250" b="1" i="0">
                <a:solidFill>
                  <a:srgbClr val="202020"/>
                </a:solidFill>
                <a:latin typeface="Calibri"/>
              </a:rPr>
              <a:t>SHA-256 hashes</a:t>
            </a:r>
            <a:r>
              <a:rPr sz="1250" b="0" i="0">
                <a:solidFill>
                  <a:srgbClr val="202020"/>
                </a:solidFill>
                <a:latin typeface="Calibri"/>
              </a:rPr>
              <a:t>, not the raw values: subject-id hashes join dead-letter records to the suppression list, the entity review queue stores hashes of names/employers (not the values themselves), and the seat set, item ids and ledger chain all use SHA-256. A hash lets the connector recognise “the same person” without holding their name.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623</a:t>
            </a:r>
          </a:p>
        </p:txBody>
      </p:sp>
    </p:spTree>
  </p:cSld>
  <p:clrMapOvr>
    <a:masterClrMapping/>
  </p:clrMapOvr>
</p:sld>
</file>

<file path=ppt/slides/slide6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No raw PII in logs, traces or the review queue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Log lines, the Windows Event Log mirror, and OpenTelemetry spans carry only opaque ids, counts, hashes and enums — never names, emails or wealth figures. For traces this is enforced structurally: every span tag passes through an allow-list, and any key not on it is dropped. The entity-match </a:t>
            </a:r>
            <a:r>
              <a:rPr sz="1250" b="1" i="0">
                <a:solidFill>
                  <a:srgbClr val="202020"/>
                </a:solidFill>
                <a:latin typeface="Calibri"/>
              </a:rPr>
              <a:t>review queue</a:t>
            </a:r>
            <a:r>
              <a:rPr sz="1250" b="0" i="0">
                <a:solidFill>
                  <a:srgbClr val="202020"/>
                </a:solidFill>
                <a:latin typeface="Calibri"/>
              </a:rPr>
              <a:t> likewise holds ids, scores and hashes only; an adjudicator dereferences the two sides through the feed and the identity store. These properties are covered by automated no-PII tests.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624</a:t>
            </a:r>
          </a:p>
        </p:txBody>
      </p:sp>
    </p:spTree>
  </p:cSld>
  <p:clrMapOvr>
    <a:masterClrMapping/>
  </p:clrMapOvr>
</p:sld>
</file>

<file path=ppt/slides/slide6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The dead-letter queue defaults to redacted (this connector differs)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When a record cannot be written to Graph after retries, it is parked on the </a:t>
            </a:r>
            <a:r>
              <a:rPr sz="1250" b="1" i="0">
                <a:solidFill>
                  <a:srgbClr val="202020"/>
                </a:solidFill>
                <a:latin typeface="Calibri"/>
              </a:rPr>
              <a:t>dead-letter queue</a:t>
            </a:r>
            <a:r>
              <a:rPr sz="1250" b="0" i="0">
                <a:solidFill>
                  <a:srgbClr val="202020"/>
                </a:solidFill>
                <a:latin typeface="Calibri"/>
              </a:rPr>
              <a:t>. That queue is the single worst place for sensitive data to sit at rest: it lives in a log directory (or a SQL table) that operators tail, copy into tickets, and back up with ordinary logs. Because Altrata is the most sensitive dataset in the connector family, this connector sets </a:t>
            </a:r>
            <a:r>
              <a:rPr sz="1200" b="0" i="0">
                <a:solidFill>
                  <a:srgbClr val="202020"/>
                </a:solidFill>
                <a:latin typeface="Consolas"/>
              </a:rPr>
              <a:t>DEADLETTER_PAYLOAD_MODE</a:t>
            </a:r>
            <a:r>
              <a:rPr sz="1250" b="0" i="0">
                <a:solidFill>
                  <a:srgbClr val="202020"/>
                </a:solidFill>
                <a:latin typeface="Calibri"/>
              </a:rPr>
              <a:t> to </a:t>
            </a:r>
            <a:r>
              <a:rPr sz="1200" b="0" i="0">
                <a:solidFill>
                  <a:srgbClr val="202020"/>
                </a:solidFill>
                <a:latin typeface="Consolas"/>
              </a:rPr>
              <a:t>redacted</a:t>
            </a:r>
            <a:r>
              <a:rPr sz="1250" b="0" i="0">
                <a:solidFill>
                  <a:srgbClr val="202020"/>
                </a:solidFill>
                <a:latin typeface="Calibri"/>
              </a:rPr>
              <a:t> </a:t>
            </a:r>
            <a:r>
              <a:rPr sz="1250" b="1" i="0">
                <a:solidFill>
                  <a:srgbClr val="202020"/>
                </a:solidFill>
                <a:latin typeface="Calibri"/>
              </a:rPr>
              <a:t>by default</a:t>
            </a:r>
            <a:r>
              <a:rPr sz="1250" b="0" i="0">
                <a:solidFill>
                  <a:srgbClr val="202020"/>
                </a:solidFill>
                <a:latin typeface="Calibri"/>
              </a:rPr>
              <a:t> — its siblings default to </a:t>
            </a:r>
            <a:r>
              <a:rPr sz="1200" b="0" i="0">
                <a:solidFill>
                  <a:srgbClr val="202020"/>
                </a:solidFill>
                <a:latin typeface="Consolas"/>
              </a:rPr>
              <a:t>full</a:t>
            </a:r>
            <a:r>
              <a:rPr sz="1250" b="0" i="0">
                <a:solidFill>
                  <a:srgbClr val="202020"/>
                </a:solidFill>
                <a:latin typeface="Calibri"/>
              </a:rPr>
              <a:t>. An </a:t>
            </a:r>
            <a:r>
              <a:rPr sz="1250" b="1" i="0">
                <a:solidFill>
                  <a:srgbClr val="202020"/>
                </a:solidFill>
                <a:latin typeface="Calibri"/>
              </a:rPr>
              <a:t>unrecognised value now fails fast at config load</a:t>
            </a:r>
            <a:r>
              <a:rPr sz="1250" b="0" i="0">
                <a:solidFill>
                  <a:srgbClr val="202020"/>
                </a:solidFill>
                <a:latin typeface="Calibri"/>
              </a:rPr>
              <a:t>, naming the setting, rather than silently falling back to a default.</a:t>
            </a:r>
          </a:p>
          <a:p>
            <a:pPr>
              <a:spcBef>
                <a:spcPts val="100"/>
              </a:spcBef>
              <a:spcAft>
                <a:spcPts val="200"/>
              </a:spcAft>
            </a:pPr>
            <a:r>
              <a:rPr sz="1250" b="1" i="0">
                <a:solidFill>
                  <a:srgbClr val="2E5496"/>
                </a:solidFill>
                <a:latin typeface="Calibri"/>
              </a:rPr>
              <a:t>•  </a:t>
            </a:r>
            <a:r>
              <a:rPr sz="1200" b="0" i="0">
                <a:solidFill>
                  <a:srgbClr val="202020"/>
                </a:solidFill>
                <a:latin typeface="Consolas"/>
              </a:rPr>
              <a:t>redacted</a:t>
            </a:r>
            <a:r>
              <a:rPr sz="1250" b="0" i="0">
                <a:solidFill>
                  <a:srgbClr val="202020"/>
                </a:solidFill>
                <a:latin typeface="Calibri"/>
              </a:rPr>
              <a:t> </a:t>
            </a:r>
            <a:r>
              <a:rPr sz="1250" b="1" i="0">
                <a:solidFill>
                  <a:srgbClr val="202020"/>
                </a:solidFill>
                <a:latin typeface="Calibri"/>
              </a:rPr>
              <a:t>(default here)</a:t>
            </a:r>
            <a:r>
              <a:rPr sz="1250" b="0" i="0">
                <a:solidFill>
                  <a:srgbClr val="202020"/>
                </a:solidFill>
                <a:latin typeface="Calibri"/>
              </a:rPr>
              <a:t> — the queue holds ids, subject hashes, the error and the attempt count only. On replay, </a:t>
            </a:r>
            <a:r>
              <a:rPr sz="1200" b="0" i="0">
                <a:solidFill>
                  <a:srgbClr val="202020"/>
                </a:solidFill>
                <a:latin typeface="Consolas"/>
              </a:rPr>
              <a:t>retry-failed</a:t>
            </a:r>
            <a:r>
              <a:rPr sz="1250" b="0" i="0">
                <a:solidFill>
                  <a:srgbClr val="202020"/>
                </a:solidFill>
                <a:latin typeface="Calibri"/>
              </a:rPr>
              <a:t> re-fetches the record from the checksum-verified feed delivery and re-transforms it.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625</a:t>
            </a:r>
          </a:p>
        </p:txBody>
      </p:sp>
    </p:spTree>
  </p:cSld>
  <p:clrMapOvr>
    <a:masterClrMapping/>
  </p:clrMapOvr>
</p:sld>
</file>

<file path=ppt/slides/slide6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The dead-letter queue defaults to redacted (this connector differs)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00" b="0" i="0">
                <a:solidFill>
                  <a:srgbClr val="202020"/>
                </a:solidFill>
                <a:latin typeface="Consolas"/>
              </a:rPr>
              <a:t>full</a:t>
            </a:r>
            <a:r>
              <a:rPr sz="1250" b="0" i="0">
                <a:solidFill>
                  <a:srgbClr val="202020"/>
                </a:solidFill>
                <a:latin typeface="Calibri"/>
              </a:rPr>
              <a:t> </a:t>
            </a:r>
            <a:r>
              <a:rPr sz="1250" b="1" i="0">
                <a:solidFill>
                  <a:srgbClr val="202020"/>
                </a:solidFill>
                <a:latin typeface="Calibri"/>
              </a:rPr>
              <a:t>(opt-in)</a:t>
            </a:r>
            <a:r>
              <a:rPr sz="1250" b="0" i="0">
                <a:solidFill>
                  <a:srgbClr val="202020"/>
                </a:solidFill>
                <a:latin typeface="Calibri"/>
              </a:rPr>
              <a:t> — the transformed profile is captured verbatim so it can be replayed even after the feed delivery is gone. This re-introduces the at-rest exposure and is a conscious trade-off.</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626</a:t>
            </a:r>
          </a:p>
        </p:txBody>
      </p:sp>
    </p:spTree>
  </p:cSld>
  <p:clrMapOvr>
    <a:masterClrMapping/>
  </p:clrMapOvr>
</p:sld>
</file>

<file path=ppt/slides/slide6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The dead-letter queue defaults to redacted (this connector differs)</a:t>
            </a:r>
          </a:p>
        </p:txBody>
      </p:sp>
      <p:sp>
        <p:nvSpPr>
          <p:cNvPr id="5" name="Rectangle 4"/>
          <p:cNvSpPr/>
          <p:nvPr/>
        </p:nvSpPr>
        <p:spPr>
          <a:xfrm>
            <a:off x="502920" y="1463040"/>
            <a:ext cx="11185855" cy="3291840"/>
          </a:xfrm>
          <a:prstGeom prst="rect">
            <a:avLst/>
          </a:prstGeom>
          <a:solidFill>
            <a:srgbClr val="E7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7D32"/>
                </a:solidFill>
                <a:latin typeface="Calibri"/>
              </a:rPr>
              <a:t>Tip:  </a:t>
            </a:r>
            <a:r>
              <a:rPr sz="1400" b="1" i="0">
                <a:solidFill>
                  <a:srgbClr val="202020"/>
                </a:solidFill>
                <a:latin typeface="Calibri"/>
              </a:rPr>
              <a:t>Tip: </a:t>
            </a:r>
            <a:r>
              <a:rPr sz="1400" b="0" i="0">
                <a:solidFill>
                  <a:srgbClr val="202020"/>
                </a:solidFill>
                <a:latin typeface="Calibri"/>
              </a:rPr>
              <a:t>The redacted default has one operational consequence: </a:t>
            </a:r>
            <a:r>
              <a:rPr sz="1400" b="1" i="0">
                <a:solidFill>
                  <a:srgbClr val="202020"/>
                </a:solidFill>
                <a:latin typeface="Calibri"/>
              </a:rPr>
              <a:t>replay needs the original feed delivery still on disk</a:t>
            </a:r>
            <a:r>
              <a:rPr sz="1400" b="0" i="0">
                <a:solidFill>
                  <a:srgbClr val="202020"/>
                </a:solidFill>
                <a:latin typeface="Calibri"/>
              </a:rPr>
              <a:t> (under </a:t>
            </a:r>
            <a:r>
              <a:rPr sz="1350" b="0" i="0">
                <a:solidFill>
                  <a:srgbClr val="202020"/>
                </a:solidFill>
                <a:latin typeface="Consolas"/>
              </a:rPr>
              <a:t>FEED_PATH</a:t>
            </a:r>
            <a:r>
              <a:rPr sz="1400" b="0" i="0">
                <a:solidFill>
                  <a:srgbClr val="202020"/>
                </a:solidFill>
                <a:latin typeface="Calibri"/>
              </a:rPr>
              <a:t> or its </a:t>
            </a:r>
            <a:r>
              <a:rPr sz="1350" b="0" i="0">
                <a:solidFill>
                  <a:srgbClr val="202020"/>
                </a:solidFill>
                <a:latin typeface="Consolas"/>
              </a:rPr>
              <a:t>archive/</a:t>
            </a:r>
            <a:r>
              <a:rPr sz="1400" b="0" i="0">
                <a:solidFill>
                  <a:srgbClr val="202020"/>
                </a:solidFill>
                <a:latin typeface="Calibri"/>
              </a:rPr>
              <a:t>). Drain the dead-letter queue before retention removes deliveries — keep archives until </a:t>
            </a:r>
            <a:r>
              <a:rPr sz="1350" b="0" i="0">
                <a:solidFill>
                  <a:srgbClr val="202020"/>
                </a:solidFill>
                <a:latin typeface="Consolas"/>
              </a:rPr>
              <a:t>altrata_deadletter_depth</a:t>
            </a:r>
            <a:r>
              <a:rPr sz="1400" b="0" i="0">
                <a:solidFill>
                  <a:srgbClr val="202020"/>
                </a:solidFill>
                <a:latin typeface="Calibri"/>
              </a:rPr>
              <a:t> is 0. If you truly need standalone replay (for example </a:t>
            </a:r>
            <a:r>
              <a:rPr sz="1350" b="0" i="0">
                <a:solidFill>
                  <a:srgbClr val="202020"/>
                </a:solidFill>
                <a:latin typeface="Consolas"/>
              </a:rPr>
              <a:t>RETENTION_MODE=delete</a:t>
            </a:r>
            <a:r>
              <a:rPr sz="1400" b="0" i="0">
                <a:solidFill>
                  <a:srgbClr val="202020"/>
                </a:solidFill>
                <a:latin typeface="Calibri"/>
              </a:rPr>
              <a:t> with short windows), set </a:t>
            </a:r>
            <a:r>
              <a:rPr sz="1350" b="0" i="0">
                <a:solidFill>
                  <a:srgbClr val="202020"/>
                </a:solidFill>
                <a:latin typeface="Consolas"/>
              </a:rPr>
              <a:t>DEADLETTER_PAYLOAD_MODE=full</a:t>
            </a:r>
            <a:r>
              <a:rPr sz="1400" b="0" i="0">
                <a:solidFill>
                  <a:srgbClr val="202020"/>
                </a:solidFill>
                <a:latin typeface="Calibri"/>
              </a:rPr>
              <a:t> deliberately and treat the queue file as sensitive personal data.</a:t>
            </a:r>
          </a:p>
        </p:txBody>
      </p:sp>
      <p:sp>
        <p:nvSpPr>
          <p:cNvPr id="6" name="Rectangle 5"/>
          <p:cNvSpPr/>
          <p:nvPr/>
        </p:nvSpPr>
        <p:spPr>
          <a:xfrm>
            <a:off x="502920" y="1463040"/>
            <a:ext cx="128016" cy="32918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627</a:t>
            </a:r>
          </a:p>
        </p:txBody>
      </p:sp>
    </p:spTree>
  </p:cSld>
  <p:clrMapOvr>
    <a:masterClrMapping/>
  </p:clrMapOvr>
</p:sld>
</file>

<file path=ppt/slides/slide6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Owner-only state and log directories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At startup the connector creates its </a:t>
            </a:r>
            <a:r>
              <a:rPr sz="1200" b="0" i="0">
                <a:solidFill>
                  <a:srgbClr val="202020"/>
                </a:solidFill>
                <a:latin typeface="Consolas"/>
              </a:rPr>
              <a:t>logs/</a:t>
            </a:r>
            <a:r>
              <a:rPr sz="1250" b="0" i="0">
                <a:solidFill>
                  <a:srgbClr val="202020"/>
                </a:solidFill>
                <a:latin typeface="Calibri"/>
              </a:rPr>
              <a:t>, state (</a:t>
            </a:r>
            <a:r>
              <a:rPr sz="1200" b="0" i="0">
                <a:solidFill>
                  <a:srgbClr val="202020"/>
                </a:solidFill>
                <a:latin typeface="Consolas"/>
              </a:rPr>
              <a:t>data/</a:t>
            </a:r>
            <a:r>
              <a:rPr sz="1250" b="0" i="0">
                <a:solidFill>
                  <a:srgbClr val="202020"/>
                </a:solidFill>
                <a:latin typeface="Calibri"/>
              </a:rPr>
              <a:t>) and dead-letter directories </a:t>
            </a:r>
            <a:r>
              <a:rPr sz="1250" b="1" i="0">
                <a:solidFill>
                  <a:srgbClr val="202020"/>
                </a:solidFill>
                <a:latin typeface="Calibri"/>
              </a:rPr>
              <a:t>owner-only</a:t>
            </a:r>
            <a:r>
              <a:rPr sz="1250" b="0" i="0">
                <a:solidFill>
                  <a:srgbClr val="202020"/>
                </a:solidFill>
                <a:latin typeface="Calibri"/>
              </a:rPr>
              <a:t> — POSIX </a:t>
            </a:r>
            <a:r>
              <a:rPr sz="1200" b="0" i="0">
                <a:solidFill>
                  <a:srgbClr val="202020"/>
                </a:solidFill>
                <a:latin typeface="Consolas"/>
              </a:rPr>
              <a:t>chmod 0700</a:t>
            </a:r>
            <a:r>
              <a:rPr sz="1250" b="0" i="0">
                <a:solidFill>
                  <a:srgbClr val="202020"/>
                </a:solidFill>
                <a:latin typeface="Calibri"/>
              </a:rPr>
              <a:t>; on Windows a best-effort </a:t>
            </a:r>
            <a:r>
              <a:rPr sz="1200" b="0" i="0">
                <a:solidFill>
                  <a:srgbClr val="202020"/>
                </a:solidFill>
                <a:latin typeface="Consolas"/>
              </a:rPr>
              <a:t>icacls</a:t>
            </a:r>
            <a:r>
              <a:rPr sz="1250" b="0" i="0">
                <a:solidFill>
                  <a:srgbClr val="202020"/>
                </a:solidFill>
                <a:latin typeface="Calibri"/>
              </a:rPr>
              <a:t> breaks inheritance and grants owner + Administrators only. This is defence-in-depth </a:t>
            </a:r>
            <a:r>
              <a:rPr sz="1250" b="1" i="0">
                <a:solidFill>
                  <a:srgbClr val="202020"/>
                </a:solidFill>
                <a:latin typeface="Calibri"/>
              </a:rPr>
              <a:t>beneath</a:t>
            </a:r>
            <a:r>
              <a:rPr sz="1250" b="0" i="0">
                <a:solidFill>
                  <a:srgbClr val="202020"/>
                </a:solidFill>
                <a:latin typeface="Calibri"/>
              </a:rPr>
              <a:t> the file ACLs you set at deployment (section 9), not a replacement for them: it is best-effort and never fatal — a share or volume that cannot express the mode logs a WARNING and continues, so still apply the tier ACLs out of band and secure such locations yourself.</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628</a:t>
            </a:r>
          </a:p>
        </p:txBody>
      </p:sp>
    </p:spTree>
  </p:cSld>
  <p:clrMapOvr>
    <a:masterClrMapping/>
  </p:clrMapOvr>
</p:sld>
</file>

<file path=ppt/slides/slide6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Altrata Connector</a:t>
            </a:r>
          </a:p>
          <a:p>
            <a:r>
              <a:rPr sz="3000" b="1" i="0">
                <a:solidFill>
                  <a:srgbClr val="1F3864"/>
                </a:solidFill>
                <a:latin typeface="Calibri"/>
              </a:rPr>
              <a:t>9. Before you start: prerequisites &amp; intake checklist</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629</a:t>
            </a:r>
          </a:p>
        </p:txBody>
      </p:sp>
    </p:spTree>
  </p:cSld>
  <p:clrMapOvr>
    <a:masterClrMapping/>
  </p:clrMapOvr>
</p:sld>
</file>

<file path=ppt/slides/slide6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 Before you start: prerequisites &amp; intake checklist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Gather everything below before installing. Fill in the last column as you collect each item and who provided it — it doubles as your go-live record.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630</a:t>
            </a:r>
          </a:p>
        </p:txBody>
      </p:sp>
    </p:spTree>
  </p:cSld>
  <p:clrMapOvr>
    <a:masterClrMapping/>
  </p:clrMapOvr>
</p:sld>
</file>

<file path=ppt/slides/slide6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 Before you start: prerequisites &amp; intake checklist</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Item</a:t>
                      </a:r>
                    </a:p>
                  </a:txBody>
                  <a:tcPr marT="25400" marB="25400">
                    <a:solidFill>
                      <a:srgbClr val="2E5496"/>
                    </a:solidFill>
                  </a:tcPr>
                </a:tc>
                <a:tc>
                  <a:txBody>
                    <a:bodyPr wrap="square"/>
                    <a:lstStyle/>
                    <a:p>
                      <a:r>
                        <a:rPr sz="1050" b="1" i="0">
                          <a:solidFill>
                            <a:srgbClr val="FFFFFF"/>
                          </a:solidFill>
                          <a:latin typeface="Calibri"/>
                        </a:rPr>
                        <a:t>Where it comes from / who owns it</a:t>
                      </a:r>
                    </a:p>
                  </a:txBody>
                  <a:tcPr marT="25400" marB="25400">
                    <a:solidFill>
                      <a:srgbClr val="2E5496"/>
                    </a:solidFill>
                  </a:tcPr>
                </a:tc>
                <a:tc>
                  <a:txBody>
                    <a:bodyPr wrap="square"/>
                    <a:lstStyle/>
                    <a:p>
                      <a:r>
                        <a:rPr sz="1050" b="1" i="0">
                          <a:solidFill>
                            <a:srgbClr val="FFFFFF"/>
                          </a:solidFill>
                          <a:latin typeface="Calibri"/>
                        </a:rPr>
                        <a:t>Value / provided by</a:t>
                      </a:r>
                    </a:p>
                  </a:txBody>
                  <a:tcPr marT="25400" marB="25400">
                    <a:solidFill>
                      <a:srgbClr val="2E5496"/>
                    </a:solidFill>
                  </a:tcPr>
                </a:tc>
              </a:tr>
              <a:tr h="384048">
                <a:tc>
                  <a:txBody>
                    <a:bodyPr wrap="square"/>
                    <a:lstStyle/>
                    <a:p>
                      <a:r>
                        <a:rPr sz="950" b="0" i="0">
                          <a:solidFill>
                            <a:srgbClr val="202020"/>
                          </a:solidFill>
                          <a:latin typeface="Calibri"/>
                        </a:rPr>
                        <a:t>Entra tenant id, app (client) id</a:t>
                      </a:r>
                    </a:p>
                  </a:txBody>
                  <a:tcPr marT="12700" marB="12700">
                    <a:solidFill>
                      <a:srgbClr val="FFFFFF"/>
                    </a:solidFill>
                  </a:tcPr>
                </a:tc>
                <a:tc>
                  <a:txBody>
                    <a:bodyPr wrap="square"/>
                    <a:lstStyle/>
                    <a:p>
                      <a:r>
                        <a:rPr sz="950" b="0" i="0">
                          <a:solidFill>
                            <a:srgbClr val="202020"/>
                          </a:solidFill>
                          <a:latin typeface="Calibri"/>
                        </a:rPr>
                        <a:t>Entra tenant admin</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App credential: client secret or client certificate</a:t>
                      </a:r>
                    </a:p>
                  </a:txBody>
                  <a:tcPr marT="12700" marB="12700">
                    <a:solidFill>
                      <a:srgbClr val="F7F9FC"/>
                    </a:solidFill>
                  </a:tcPr>
                </a:tc>
                <a:tc>
                  <a:txBody>
                    <a:bodyPr wrap="square"/>
                    <a:lstStyle/>
                    <a:p>
                      <a:r>
                        <a:rPr sz="950" b="0" i="0">
                          <a:solidFill>
                            <a:srgbClr val="202020"/>
                          </a:solidFill>
                          <a:latin typeface="Calibri"/>
                        </a:rPr>
                        <a:t>Entra tenant admin</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Admin consent: ExternalConnection.ReadWrite.OwnedBy + ExternalItem.ReadWrite.OwnedBy</a:t>
                      </a:r>
                    </a:p>
                  </a:txBody>
                  <a:tcPr marT="12700" marB="12700">
                    <a:solidFill>
                      <a:srgbClr val="FFFFFF"/>
                    </a:solidFill>
                  </a:tcPr>
                </a:tc>
                <a:tc>
                  <a:txBody>
                    <a:bodyPr wrap="square"/>
                    <a:lstStyle/>
                    <a:p>
                      <a:r>
                        <a:rPr sz="950" b="0" i="0">
                          <a:solidFill>
                            <a:srgbClr val="202020"/>
                          </a:solidFill>
                          <a:latin typeface="Calibri"/>
                        </a:rPr>
                        <a:t>Entra tenant admin</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Key Vault URI (if using USE_KEY_VAULT)</a:t>
                      </a:r>
                    </a:p>
                  </a:txBody>
                  <a:tcPr marT="12700" marB="12700">
                    <a:solidFill>
                      <a:srgbClr val="F7F9FC"/>
                    </a:solidFill>
                  </a:tcPr>
                </a:tc>
                <a:tc>
                  <a:txBody>
                    <a:bodyPr wrap="square"/>
                    <a:lstStyle/>
                    <a:p>
                      <a:r>
                        <a:rPr sz="950" b="0" i="0">
                          <a:solidFill>
                            <a:srgbClr val="202020"/>
                          </a:solidFill>
                          <a:latin typeface="Calibri"/>
                        </a:rPr>
                        <a:t>Entra tenant admin / platform</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onsolas"/>
                        </a:rPr>
                        <a:t>CONNECTOR_ID / CONNECTOR_NAME</a:t>
                      </a:r>
                    </a:p>
                  </a:txBody>
                  <a:tcPr marT="12700" marB="12700">
                    <a:solidFill>
                      <a:srgbClr val="FFFFFF"/>
                    </a:solidFill>
                  </a:tcPr>
                </a:tc>
                <a:tc>
                  <a:txBody>
                    <a:bodyPr wrap="square"/>
                    <a:lstStyle/>
                    <a:p>
                      <a:r>
                        <a:rPr sz="950" b="0" i="0">
                          <a:solidFill>
                            <a:srgbClr val="202020"/>
                          </a:solidFill>
                          <a:latin typeface="Calibri"/>
                        </a:rPr>
                        <a:t>You / platform team</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Feed delivery endpoint (FEED_PATH) + SFTP credentials</a:t>
                      </a:r>
                    </a:p>
                  </a:txBody>
                  <a:tcPr marT="12700" marB="12700">
                    <a:solidFill>
                      <a:srgbClr val="F7F9FC"/>
                    </a:solidFill>
                  </a:tcPr>
                </a:tc>
                <a:tc>
                  <a:txBody>
                    <a:bodyPr wrap="square"/>
                    <a:lstStyle/>
                    <a:p>
                      <a:r>
                        <a:rPr sz="950" b="0" i="0">
                          <a:solidFill>
                            <a:srgbClr val="202020"/>
                          </a:solidFill>
                          <a:latin typeface="Calibri"/>
                        </a:rPr>
                        <a:t>Altrata data feed provider + network/firewall</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Manifest spec (datasets, SHA-256, counts) + delivery schedule</a:t>
                      </a:r>
                    </a:p>
                  </a:txBody>
                  <a:tcPr marT="12700" marB="12700">
                    <a:solidFill>
                      <a:srgbClr val="FFFFFF"/>
                    </a:solidFill>
                  </a:tcPr>
                </a:tc>
                <a:tc>
                  <a:txBody>
                    <a:bodyPr wrap="square"/>
                    <a:lstStyle/>
                    <a:p>
                      <a:r>
                        <a:rPr sz="950" b="0" i="0">
                          <a:solidFill>
                            <a:srgbClr val="202020"/>
                          </a:solidFill>
                          <a:latin typeface="Calibri"/>
                        </a:rPr>
                        <a:t>Altrata data feed provider</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Licensed seat-list source + owner (config/seats.json or SEAT_GROUP_ID)</a:t>
                      </a:r>
                    </a:p>
                  </a:txBody>
                  <a:tcPr marT="12700" marB="12700">
                    <a:solidFill>
                      <a:srgbClr val="F7F9FC"/>
                    </a:solidFill>
                  </a:tcPr>
                </a:tc>
                <a:tc>
                  <a:txBody>
                    <a:bodyPr wrap="square"/>
                    <a:lstStyle/>
                    <a:p>
                      <a:r>
                        <a:rPr sz="950" b="0" i="0">
                          <a:solidFill>
                            <a:srgbClr val="202020"/>
                          </a:solidFill>
                          <a:latin typeface="Calibri"/>
                        </a:rPr>
                        <a:t>Licence owner / Entra tenant admin</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DPO / compliance sign-off (DSAR process, RoPA, residency)</a:t>
                      </a:r>
                    </a:p>
                  </a:txBody>
                  <a:tcPr marT="12700" marB="12700">
                    <a:solidFill>
                      <a:srgbClr val="FFFFFF"/>
                    </a:solidFill>
                  </a:tcPr>
                </a:tc>
                <a:tc>
                  <a:txBody>
                    <a:bodyPr wrap="square"/>
                    <a:lstStyle/>
                    <a:p>
                      <a:r>
                        <a:rPr sz="950" b="0" i="0">
                          <a:solidFill>
                            <a:srgbClr val="202020"/>
                          </a:solidFill>
                          <a:latin typeface="Calibri"/>
                        </a:rPr>
                        <a:t>Data protection officer / compliance</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Service account (gMSA) to run the service</a:t>
                      </a:r>
                    </a:p>
                  </a:txBody>
                  <a:tcPr marT="12700" marB="12700">
                    <a:solidFill>
                      <a:srgbClr val="F7F9FC"/>
                    </a:solidFill>
                  </a:tcPr>
                </a:tc>
                <a:tc>
                  <a:txBody>
                    <a:bodyPr wrap="square"/>
                    <a:lstStyle/>
                    <a:p>
                      <a:r>
                        <a:rPr sz="950" b="0" i="0">
                          <a:solidFill>
                            <a:srgbClr val="202020"/>
                          </a:solidFill>
                          <a:latin typeface="Calibri"/>
                        </a:rPr>
                        <a:t>Windows / platform team</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631</a:t>
            </a:r>
          </a:p>
        </p:txBody>
      </p:sp>
    </p:spTree>
  </p:cSld>
  <p:clrMapOvr>
    <a:masterClrMapping/>
  </p:clrMapOvr>
</p:sld>
</file>

<file path=ppt/slides/slide6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 Before you start: prerequisites &amp; intake checklist (cont.)</a:t>
            </a:r>
          </a:p>
        </p:txBody>
      </p:sp>
      <p:graphicFrame>
        <p:nvGraphicFramePr>
          <p:cNvPr id="5" name="Table 4"/>
          <p:cNvGraphicFramePr>
            <a:graphicFrameLocks noGrp="1"/>
          </p:cNvGraphicFramePr>
          <p:nvPr/>
        </p:nvGraphicFramePr>
        <p:xfrm>
          <a:off x="502920" y="1188720"/>
          <a:ext cx="11185855" cy="1536192"/>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Item</a:t>
                      </a:r>
                    </a:p>
                  </a:txBody>
                  <a:tcPr marT="25400" marB="25400">
                    <a:solidFill>
                      <a:srgbClr val="2E5496"/>
                    </a:solidFill>
                  </a:tcPr>
                </a:tc>
                <a:tc>
                  <a:txBody>
                    <a:bodyPr wrap="square"/>
                    <a:lstStyle/>
                    <a:p>
                      <a:r>
                        <a:rPr sz="1050" b="1" i="0">
                          <a:solidFill>
                            <a:srgbClr val="FFFFFF"/>
                          </a:solidFill>
                          <a:latin typeface="Calibri"/>
                        </a:rPr>
                        <a:t>Where it comes from / who owns it</a:t>
                      </a:r>
                    </a:p>
                  </a:txBody>
                  <a:tcPr marT="25400" marB="25400">
                    <a:solidFill>
                      <a:srgbClr val="2E5496"/>
                    </a:solidFill>
                  </a:tcPr>
                </a:tc>
                <a:tc>
                  <a:txBody>
                    <a:bodyPr wrap="square"/>
                    <a:lstStyle/>
                    <a:p>
                      <a:r>
                        <a:rPr sz="1050" b="1" i="0">
                          <a:solidFill>
                            <a:srgbClr val="FFFFFF"/>
                          </a:solidFill>
                          <a:latin typeface="Calibri"/>
                        </a:rPr>
                        <a:t>Value / provided by</a:t>
                      </a:r>
                    </a:p>
                  </a:txBody>
                  <a:tcPr marT="25400" marB="25400">
                    <a:solidFill>
                      <a:srgbClr val="2E5496"/>
                    </a:solidFill>
                  </a:tcPr>
                </a:tc>
              </a:tr>
              <a:tr h="384048">
                <a:tc>
                  <a:txBody>
                    <a:bodyPr wrap="square"/>
                    <a:lstStyle/>
                    <a:p>
                      <a:r>
                        <a:rPr sz="950" b="0" i="0">
                          <a:solidFill>
                            <a:srgbClr val="202020"/>
                          </a:solidFill>
                          <a:latin typeface="Calibri"/>
                        </a:rPr>
                        <a:t>STRICT file ACLs on the ledger / suppression / state directories</a:t>
                      </a:r>
                    </a:p>
                  </a:txBody>
                  <a:tcPr marT="12700" marB="12700">
                    <a:solidFill>
                      <a:srgbClr val="FFFFFF"/>
                    </a:solidFill>
                  </a:tcPr>
                </a:tc>
                <a:tc>
                  <a:txBody>
                    <a:bodyPr wrap="square"/>
                    <a:lstStyle/>
                    <a:p>
                      <a:r>
                        <a:rPr sz="950" b="0" i="0">
                          <a:solidFill>
                            <a:srgbClr val="202020"/>
                          </a:solidFill>
                          <a:latin typeface="Calibri"/>
                        </a:rPr>
                        <a:t>Windows / platform team</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Forward proxy + CA bundle (if egress is inspected)</a:t>
                      </a:r>
                    </a:p>
                  </a:txBody>
                  <a:tcPr marT="12700" marB="12700">
                    <a:solidFill>
                      <a:srgbClr val="F7F9FC"/>
                    </a:solidFill>
                  </a:tcPr>
                </a:tc>
                <a:tc>
                  <a:txBody>
                    <a:bodyPr wrap="square"/>
                    <a:lstStyle/>
                    <a:p>
                      <a:r>
                        <a:rPr sz="950" b="0" i="0">
                          <a:solidFill>
                            <a:srgbClr val="202020"/>
                          </a:solidFill>
                          <a:latin typeface="Calibri"/>
                        </a:rPr>
                        <a:t>Network / firewall</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SQL Server connection string + least-privilege login (if USE_SQL_SERVER)</a:t>
                      </a:r>
                    </a:p>
                  </a:txBody>
                  <a:tcPr marT="12700" marB="12700">
                    <a:solidFill>
                      <a:srgbClr val="FFFFFF"/>
                    </a:solidFill>
                  </a:tcPr>
                </a:tc>
                <a:tc>
                  <a:txBody>
                    <a:bodyPr wrap="square"/>
                    <a:lstStyle/>
                    <a:p>
                      <a:r>
                        <a:rPr sz="950" b="0" i="0">
                          <a:solidFill>
                            <a:srgbClr val="202020"/>
                          </a:solidFill>
                          <a:latin typeface="Calibri"/>
                        </a:rPr>
                        <a:t>DBA / platform team</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632</a:t>
            </a:r>
          </a:p>
        </p:txBody>
      </p:sp>
    </p:spTree>
  </p:cSld>
  <p:clrMapOvr>
    <a:masterClrMapping/>
  </p:clrMapOvr>
</p:sld>
</file>

<file path=ppt/slides/slide6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 Before you start: prerequisites &amp; intake checklist</a:t>
            </a:r>
          </a:p>
        </p:txBody>
      </p:sp>
      <p:sp>
        <p:nvSpPr>
          <p:cNvPr id="5" name="Rectangle 4"/>
          <p:cNvSpPr/>
          <p:nvPr/>
        </p:nvSpPr>
        <p:spPr>
          <a:xfrm>
            <a:off x="502920" y="1463040"/>
            <a:ext cx="11185855" cy="3291840"/>
          </a:xfrm>
          <a:prstGeom prst="rect">
            <a:avLst/>
          </a:prstGeom>
          <a:solidFill>
            <a:srgbClr val="F0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6A3D9A"/>
                </a:solidFill>
                <a:latin typeface="Calibri"/>
              </a:rPr>
              <a:t>Information to request:  </a:t>
            </a:r>
            <a:r>
              <a:rPr sz="1400" b="1" i="0">
                <a:solidFill>
                  <a:srgbClr val="202020"/>
                </a:solidFill>
                <a:latin typeface="Calibri"/>
              </a:rPr>
              <a:t>Information to request: </a:t>
            </a:r>
            <a:r>
              <a:rPr sz="1400" b="0" i="0">
                <a:solidFill>
                  <a:srgbClr val="202020"/>
                </a:solidFill>
                <a:latin typeface="Calibri"/>
              </a:rPr>
              <a:t>Confirm the four external dependencies with their owners up front: the </a:t>
            </a:r>
            <a:r>
              <a:rPr sz="1400" b="1" i="0">
                <a:solidFill>
                  <a:srgbClr val="202020"/>
                </a:solidFill>
                <a:latin typeface="Calibri"/>
              </a:rPr>
              <a:t>feed delivery location + SFTP credentials</a:t>
            </a:r>
            <a:r>
              <a:rPr sz="1400" b="0" i="0">
                <a:solidFill>
                  <a:srgbClr val="202020"/>
                </a:solidFill>
                <a:latin typeface="Calibri"/>
              </a:rPr>
              <a:t> (Altrata data feed provider; network/firewall for the egress rule), the </a:t>
            </a:r>
            <a:r>
              <a:rPr sz="1400" b="1" i="0">
                <a:solidFill>
                  <a:srgbClr val="202020"/>
                </a:solidFill>
                <a:latin typeface="Calibri"/>
              </a:rPr>
              <a:t>manifest format and schedule</a:t>
            </a:r>
            <a:r>
              <a:rPr sz="1400" b="0" i="0">
                <a:solidFill>
                  <a:srgbClr val="202020"/>
                </a:solidFill>
                <a:latin typeface="Calibri"/>
              </a:rPr>
              <a:t> (Altrata data feed provider), the </a:t>
            </a:r>
            <a:r>
              <a:rPr sz="1400" b="1" i="0">
                <a:solidFill>
                  <a:srgbClr val="202020"/>
                </a:solidFill>
                <a:latin typeface="Calibri"/>
              </a:rPr>
              <a:t>licensed seat-list source</a:t>
            </a:r>
            <a:r>
              <a:rPr sz="1400" b="0" i="0">
                <a:solidFill>
                  <a:srgbClr val="202020"/>
                </a:solidFill>
                <a:latin typeface="Calibri"/>
              </a:rPr>
              <a:t> (Entra tenant admin / licence owner), and </a:t>
            </a:r>
            <a:r>
              <a:rPr sz="1400" b="1" i="0">
                <a:solidFill>
                  <a:srgbClr val="202020"/>
                </a:solidFill>
                <a:latin typeface="Calibri"/>
              </a:rPr>
              <a:t>written DSAR / compliance sign-off</a:t>
            </a:r>
            <a:r>
              <a:rPr sz="1400" b="0" i="0">
                <a:solidFill>
                  <a:srgbClr val="202020"/>
                </a:solidFill>
                <a:latin typeface="Calibri"/>
              </a:rPr>
              <a:t> (data protection officer / compliance).</a:t>
            </a:r>
          </a:p>
        </p:txBody>
      </p:sp>
      <p:sp>
        <p:nvSpPr>
          <p:cNvPr id="6" name="Rectangle 5"/>
          <p:cNvSpPr/>
          <p:nvPr/>
        </p:nvSpPr>
        <p:spPr>
          <a:xfrm>
            <a:off x="502920" y="1463040"/>
            <a:ext cx="128016" cy="3291840"/>
          </a:xfrm>
          <a:prstGeom prst="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633</a:t>
            </a:r>
          </a:p>
        </p:txBody>
      </p:sp>
    </p:spTree>
  </p:cSld>
  <p:clrMapOvr>
    <a:masterClrMapping/>
  </p:clrMapOvr>
</p:sld>
</file>

<file path=ppt/slides/slide6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Altrata Connector</a:t>
            </a:r>
          </a:p>
          <a:p>
            <a:r>
              <a:rPr sz="3000" b="1" i="0">
                <a:solidFill>
                  <a:srgbClr val="1F3864"/>
                </a:solidFill>
                <a:latin typeface="Calibri"/>
              </a:rPr>
              <a:t>10. Setting it up, step by step</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634</a:t>
            </a:r>
          </a:p>
        </p:txBody>
      </p:sp>
    </p:spTree>
  </p:cSld>
  <p:clrMapOvr>
    <a:masterClrMapping/>
  </p:clrMapOvr>
</p:sld>
</file>

<file path=ppt/slides/slide6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 Setting it up, step by step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Do these in order on a host that already meets the prerequisites in section 9. Commands are shown without the runner prefix; run them as documented in the Common Guide §7 (</a:t>
            </a:r>
            <a:r>
              <a:rPr sz="1200" b="0" i="0">
                <a:solidFill>
                  <a:srgbClr val="202020"/>
                </a:solidFill>
                <a:latin typeface="Consolas"/>
              </a:rPr>
              <a:t>dotnet run --project ...</a:t>
            </a:r>
            <a:r>
              <a:rPr sz="1250" b="0" i="0">
                <a:solidFill>
                  <a:srgbClr val="202020"/>
                </a:solidFill>
                <a:latin typeface="Calibri"/>
              </a:rPr>
              <a:t>, the published executable, or the service binary).</a:t>
            </a:r>
          </a:p>
          <a:p>
            <a:pPr>
              <a:spcBef>
                <a:spcPts val="100"/>
              </a:spcBef>
              <a:spcAft>
                <a:spcPts val="200"/>
              </a:spcAft>
            </a:pPr>
            <a:r>
              <a:rPr sz="1250" b="1" i="0">
                <a:solidFill>
                  <a:srgbClr val="2E5496"/>
                </a:solidFill>
                <a:latin typeface="Calibri"/>
              </a:rPr>
              <a:t>1.  </a:t>
            </a:r>
            <a:r>
              <a:rPr sz="1250" b="1" i="0">
                <a:solidFill>
                  <a:srgbClr val="202020"/>
                </a:solidFill>
                <a:latin typeface="Calibri"/>
              </a:rPr>
              <a:t>Confirm prerequisites and sign-off.</a:t>
            </a:r>
            <a:r>
              <a:rPr sz="1250" b="0" i="0">
                <a:solidFill>
                  <a:srgbClr val="202020"/>
                </a:solidFill>
                <a:latin typeface="Calibri"/>
              </a:rPr>
              <a:t> Work through the section 9 checklist and get written DPO / compliance approval before any personal data is ingested.</a:t>
            </a:r>
          </a:p>
          <a:p>
            <a:pPr>
              <a:spcBef>
                <a:spcPts val="100"/>
              </a:spcBef>
              <a:spcAft>
                <a:spcPts val="200"/>
              </a:spcAft>
            </a:pPr>
            <a:r>
              <a:rPr sz="1250" b="1" i="0">
                <a:solidFill>
                  <a:srgbClr val="2E5496"/>
                </a:solidFill>
                <a:latin typeface="Calibri"/>
              </a:rPr>
              <a:t>2.  </a:t>
            </a:r>
            <a:r>
              <a:rPr sz="1250" b="1" i="0">
                <a:solidFill>
                  <a:srgbClr val="202020"/>
                </a:solidFill>
                <a:latin typeface="Calibri"/>
              </a:rPr>
              <a:t>Install the connector.</a:t>
            </a:r>
            <a:r>
              <a:rPr sz="1250" b="0" i="0">
                <a:solidFill>
                  <a:srgbClr val="202020"/>
                </a:solidFill>
                <a:latin typeface="Calibri"/>
              </a:rPr>
              <a:t> Deploy the binaries and lay out </a:t>
            </a:r>
            <a:r>
              <a:rPr sz="1200" b="0" i="0">
                <a:solidFill>
                  <a:srgbClr val="202020"/>
                </a:solidFill>
                <a:latin typeface="Consolas"/>
              </a:rPr>
              <a:t>config\</a:t>
            </a:r>
            <a:r>
              <a:rPr sz="1250" b="0" i="0">
                <a:solidFill>
                  <a:srgbClr val="202020"/>
                </a:solidFill>
                <a:latin typeface="Calibri"/>
              </a:rPr>
              <a:t>, </a:t>
            </a:r>
            <a:r>
              <a:rPr sz="1200" b="0" i="0">
                <a:solidFill>
                  <a:srgbClr val="202020"/>
                </a:solidFill>
                <a:latin typeface="Consolas"/>
              </a:rPr>
              <a:t>env\</a:t>
            </a:r>
            <a:r>
              <a:rPr sz="1250" b="0" i="0">
                <a:solidFill>
                  <a:srgbClr val="202020"/>
                </a:solidFill>
                <a:latin typeface="Calibri"/>
              </a:rPr>
              <a:t>, </a:t>
            </a:r>
            <a:r>
              <a:rPr sz="1200" b="0" i="0">
                <a:solidFill>
                  <a:srgbClr val="202020"/>
                </a:solidFill>
                <a:latin typeface="Consolas"/>
              </a:rPr>
              <a:t>data\</a:t>
            </a:r>
            <a:r>
              <a:rPr sz="1250" b="0" i="0">
                <a:solidFill>
                  <a:srgbClr val="202020"/>
                </a:solidFill>
                <a:latin typeface="Calibri"/>
              </a:rPr>
              <a:t> and </a:t>
            </a:r>
            <a:r>
              <a:rPr sz="1200" b="0" i="0">
                <a:solidFill>
                  <a:srgbClr val="202020"/>
                </a:solidFill>
                <a:latin typeface="Consolas"/>
              </a:rPr>
              <a:t>logs\</a:t>
            </a:r>
            <a:r>
              <a:rPr sz="1250" b="0" i="0">
                <a:solidFill>
                  <a:srgbClr val="202020"/>
                </a:solidFill>
                <a:latin typeface="Calibri"/>
              </a:rPr>
              <a:t> as described in the Common Guide §7; on Windows Server install it as a service with </a:t>
            </a:r>
            <a:r>
              <a:rPr sz="1200" b="0" i="0">
                <a:solidFill>
                  <a:srgbClr val="202020"/>
                </a:solidFill>
                <a:latin typeface="Consolas"/>
              </a:rPr>
              <a:t>install-windows-service.ps1</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635</a:t>
            </a:r>
          </a:p>
        </p:txBody>
      </p:sp>
    </p:spTree>
  </p:cSld>
  <p:clrMapOvr>
    <a:masterClrMapping/>
  </p:clrMapOvr>
</p:sld>
</file>

<file path=ppt/slides/slide6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 Setting it up, step by step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3.  </a:t>
            </a:r>
            <a:r>
              <a:rPr sz="1250" b="1" i="0">
                <a:solidFill>
                  <a:srgbClr val="202020"/>
                </a:solidFill>
                <a:latin typeface="Calibri"/>
              </a:rPr>
              <a:t>Set the environment.</a:t>
            </a:r>
            <a:r>
              <a:rPr sz="1250" b="0" i="0">
                <a:solidFill>
                  <a:srgbClr val="202020"/>
                </a:solidFill>
                <a:latin typeface="Calibri"/>
              </a:rPr>
              <a:t> Copy </a:t>
            </a:r>
            <a:r>
              <a:rPr sz="1200" b="0" i="0">
                <a:solidFill>
                  <a:srgbClr val="202020"/>
                </a:solidFill>
                <a:latin typeface="Consolas"/>
              </a:rPr>
              <a:t>env/.env.local.example</a:t>
            </a:r>
            <a:r>
              <a:rPr sz="1250" b="0" i="0">
                <a:solidFill>
                  <a:srgbClr val="202020"/>
                </a:solidFill>
                <a:latin typeface="Calibri"/>
              </a:rPr>
              <a:t> to </a:t>
            </a:r>
            <a:r>
              <a:rPr sz="1200" b="0" i="0">
                <a:solidFill>
                  <a:srgbClr val="202020"/>
                </a:solidFill>
                <a:latin typeface="Consolas"/>
              </a:rPr>
              <a:t>env/.env.local</a:t>
            </a:r>
            <a:r>
              <a:rPr sz="1250" b="0" i="0">
                <a:solidFill>
                  <a:srgbClr val="202020"/>
                </a:solidFill>
                <a:latin typeface="Calibri"/>
              </a:rPr>
              <a:t>; set </a:t>
            </a:r>
            <a:r>
              <a:rPr sz="1200" b="0" i="0">
                <a:solidFill>
                  <a:srgbClr val="202020"/>
                </a:solidFill>
                <a:latin typeface="Consolas"/>
              </a:rPr>
              <a:t>CONNECTOR_ID</a:t>
            </a:r>
            <a:r>
              <a:rPr sz="1250" b="0" i="0">
                <a:solidFill>
                  <a:srgbClr val="202020"/>
                </a:solidFill>
                <a:latin typeface="Calibri"/>
              </a:rPr>
              <a:t>, </a:t>
            </a:r>
            <a:r>
              <a:rPr sz="1200" b="0" i="0">
                <a:solidFill>
                  <a:srgbClr val="202020"/>
                </a:solidFill>
                <a:latin typeface="Consolas"/>
              </a:rPr>
              <a:t>CONNECTOR_NAME</a:t>
            </a:r>
            <a:r>
              <a:rPr sz="1250" b="0" i="0">
                <a:solidFill>
                  <a:srgbClr val="202020"/>
                </a:solidFill>
                <a:latin typeface="Calibri"/>
              </a:rPr>
              <a:t>, </a:t>
            </a:r>
            <a:r>
              <a:rPr sz="1200" b="0" i="0">
                <a:solidFill>
                  <a:srgbClr val="202020"/>
                </a:solidFill>
                <a:latin typeface="Consolas"/>
              </a:rPr>
              <a:t>AAD_APP_CLIENT_ID</a:t>
            </a:r>
            <a:r>
              <a:rPr sz="1250" b="0" i="0">
                <a:solidFill>
                  <a:srgbClr val="202020"/>
                </a:solidFill>
                <a:latin typeface="Calibri"/>
              </a:rPr>
              <a:t> and </a:t>
            </a:r>
            <a:r>
              <a:rPr sz="1200" b="0" i="0">
                <a:solidFill>
                  <a:srgbClr val="202020"/>
                </a:solidFill>
                <a:latin typeface="Consolas"/>
              </a:rPr>
              <a:t>AAD_APP_TENANT_ID</a:t>
            </a:r>
            <a:r>
              <a:rPr sz="1250" b="0" i="0">
                <a:solidFill>
                  <a:srgbClr val="202020"/>
                </a:solidFill>
                <a:latin typeface="Calibri"/>
              </a:rPr>
              <a:t>; put </a:t>
            </a:r>
            <a:r>
              <a:rPr sz="1200" b="0" i="0">
                <a:solidFill>
                  <a:srgbClr val="202020"/>
                </a:solidFill>
                <a:latin typeface="Consolas"/>
              </a:rPr>
              <a:t>SECRET_AAD_APP_CLIENT_SECRET</a:t>
            </a:r>
            <a:r>
              <a:rPr sz="1250" b="0" i="0">
                <a:solidFill>
                  <a:srgbClr val="202020"/>
                </a:solidFill>
                <a:latin typeface="Calibri"/>
              </a:rPr>
              <a:t> in </a:t>
            </a:r>
            <a:r>
              <a:rPr sz="1200" b="0" i="0">
                <a:solidFill>
                  <a:srgbClr val="202020"/>
                </a:solidFill>
                <a:latin typeface="Consolas"/>
              </a:rPr>
              <a:t>env/.env.local.user</a:t>
            </a:r>
            <a:r>
              <a:rPr sz="1250" b="0" i="0">
                <a:solidFill>
                  <a:srgbClr val="202020"/>
                </a:solidFill>
                <a:latin typeface="Calibri"/>
              </a:rPr>
              <a:t> (or use a certificate / Key Vault). Leave </a:t>
            </a:r>
            <a:r>
              <a:rPr sz="1200" b="0" i="0">
                <a:solidFill>
                  <a:srgbClr val="202020"/>
                </a:solidFill>
                <a:latin typeface="Consolas"/>
              </a:rPr>
              <a:t>DEADLETTER_PAYLOAD_MODE</a:t>
            </a:r>
            <a:r>
              <a:rPr sz="1250" b="0" i="0">
                <a:solidFill>
                  <a:srgbClr val="202020"/>
                </a:solidFill>
                <a:latin typeface="Calibri"/>
              </a:rPr>
              <a:t> unset so it stays </a:t>
            </a:r>
            <a:r>
              <a:rPr sz="1200" b="0" i="0">
                <a:solidFill>
                  <a:srgbClr val="202020"/>
                </a:solidFill>
                <a:latin typeface="Consolas"/>
              </a:rPr>
              <a:t>redacted</a:t>
            </a:r>
            <a:r>
              <a:rPr sz="1250" b="0" i="0">
                <a:solidFill>
                  <a:srgbClr val="202020"/>
                </a:solidFill>
                <a:latin typeface="Calibri"/>
              </a:rPr>
              <a:t> (see section 8).</a:t>
            </a:r>
          </a:p>
          <a:p>
            <a:pPr>
              <a:spcBef>
                <a:spcPts val="100"/>
              </a:spcBef>
              <a:spcAft>
                <a:spcPts val="200"/>
              </a:spcAft>
            </a:pPr>
            <a:r>
              <a:rPr sz="1250" b="1" i="0">
                <a:solidFill>
                  <a:srgbClr val="2E5496"/>
                </a:solidFill>
                <a:latin typeface="Calibri"/>
              </a:rPr>
              <a:t>4.  </a:t>
            </a:r>
            <a:r>
              <a:rPr sz="1250" b="1" i="0">
                <a:solidFill>
                  <a:srgbClr val="202020"/>
                </a:solidFill>
                <a:latin typeface="Calibri"/>
              </a:rPr>
              <a:t>Point at the feed.</a:t>
            </a:r>
            <a:r>
              <a:rPr sz="1250" b="0" i="0">
                <a:solidFill>
                  <a:srgbClr val="202020"/>
                </a:solidFill>
                <a:latin typeface="Calibri"/>
              </a:rPr>
              <a:t> Set </a:t>
            </a:r>
            <a:r>
              <a:rPr sz="1200" b="0" i="0">
                <a:solidFill>
                  <a:srgbClr val="202020"/>
                </a:solidFill>
                <a:latin typeface="Consolas"/>
              </a:rPr>
              <a:t>FEED_PATH</a:t>
            </a:r>
            <a:r>
              <a:rPr sz="1250" b="0" i="0">
                <a:solidFill>
                  <a:srgbClr val="202020"/>
                </a:solidFill>
                <a:latin typeface="Calibri"/>
              </a:rPr>
              <a:t> to the SFTP drop directory and confirm at least one delivery with a </a:t>
            </a:r>
            <a:r>
              <a:rPr sz="1200" b="0" i="0">
                <a:solidFill>
                  <a:srgbClr val="202020"/>
                </a:solidFill>
                <a:latin typeface="Consolas"/>
              </a:rPr>
              <a:t>manifest.json</a:t>
            </a:r>
            <a:r>
              <a:rPr sz="1250" b="0" i="0">
                <a:solidFill>
                  <a:srgbClr val="202020"/>
                </a:solidFill>
                <a:latin typeface="Calibri"/>
              </a:rPr>
              <a:t> has landed.</a:t>
            </a:r>
          </a:p>
          <a:p>
            <a:pPr>
              <a:spcBef>
                <a:spcPts val="100"/>
              </a:spcBef>
              <a:spcAft>
                <a:spcPts val="200"/>
              </a:spcAft>
            </a:pPr>
            <a:r>
              <a:rPr sz="1250" b="1" i="0">
                <a:solidFill>
                  <a:srgbClr val="2E5496"/>
                </a:solidFill>
                <a:latin typeface="Calibri"/>
              </a:rPr>
              <a:t>5.  </a:t>
            </a:r>
            <a:r>
              <a:rPr sz="1250" b="1" i="0">
                <a:solidFill>
                  <a:srgbClr val="202020"/>
                </a:solidFill>
                <a:latin typeface="Calibri"/>
              </a:rPr>
              <a:t>Supply the seat list.</a:t>
            </a:r>
            <a:r>
              <a:rPr sz="1250" b="0" i="0">
                <a:solidFill>
                  <a:srgbClr val="202020"/>
                </a:solidFill>
                <a:latin typeface="Calibri"/>
              </a:rPr>
              <a:t> Put the licensed UPNs / object IDs in </a:t>
            </a:r>
            <a:r>
              <a:rPr sz="1200" b="0" i="0">
                <a:solidFill>
                  <a:srgbClr val="202020"/>
                </a:solidFill>
                <a:latin typeface="Consolas"/>
              </a:rPr>
              <a:t>config/seats.json</a:t>
            </a:r>
            <a:r>
              <a:rPr sz="1250" b="0" i="0">
                <a:solidFill>
                  <a:srgbClr val="202020"/>
                </a:solidFill>
                <a:latin typeface="Calibri"/>
              </a:rPr>
              <a:t>, or set </a:t>
            </a:r>
            <a:r>
              <a:rPr sz="1200" b="0" i="0">
                <a:solidFill>
                  <a:srgbClr val="202020"/>
                </a:solidFill>
                <a:latin typeface="Consolas"/>
              </a:rPr>
              <a:t>SEAT_GROUP_ID</a:t>
            </a:r>
            <a:r>
              <a:rPr sz="1250" b="0" i="0">
                <a:solidFill>
                  <a:srgbClr val="202020"/>
                </a:solidFill>
                <a:latin typeface="Calibri"/>
              </a:rPr>
              <a:t> to one Entra group; preview it with </a:t>
            </a:r>
            <a:r>
              <a:rPr sz="1200" b="0" i="0">
                <a:solidFill>
                  <a:srgbClr val="202020"/>
                </a:solidFill>
                <a:latin typeface="Consolas"/>
              </a:rPr>
              <a:t>identity-dry-run</a:t>
            </a:r>
            <a:r>
              <a:rPr sz="1250" b="0" i="0">
                <a:solidFill>
                  <a:srgbClr val="202020"/>
                </a:solidFill>
                <a:latin typeface="Calibri"/>
              </a:rPr>
              <a:t>. Never start with an empty list.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636</a:t>
            </a:r>
          </a:p>
        </p:txBody>
      </p:sp>
    </p:spTree>
  </p:cSld>
  <p:clrMapOvr>
    <a:masterClrMapping/>
  </p:clrMapOvr>
</p:sld>
</file>

<file path=ppt/slides/slide6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 Setting it up, step by step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6.  </a:t>
            </a:r>
            <a:r>
              <a:rPr sz="1250" b="1" i="0">
                <a:solidFill>
                  <a:srgbClr val="202020"/>
                </a:solidFill>
                <a:latin typeface="Calibri"/>
              </a:rPr>
              <a:t>Preflight.</a:t>
            </a:r>
            <a:r>
              <a:rPr sz="1250" b="0" i="0">
                <a:solidFill>
                  <a:srgbClr val="202020"/>
                </a:solidFill>
                <a:latin typeface="Calibri"/>
              </a:rPr>
              <a:t> Run </a:t>
            </a:r>
            <a:r>
              <a:rPr sz="1200" b="0" i="0">
                <a:solidFill>
                  <a:srgbClr val="202020"/>
                </a:solidFill>
                <a:latin typeface="Consolas"/>
              </a:rPr>
              <a:t>validate-config --strict</a:t>
            </a:r>
            <a:r>
              <a:rPr sz="1250" b="0" i="0">
                <a:solidFill>
                  <a:srgbClr val="202020"/>
                </a:solidFill>
                <a:latin typeface="Calibri"/>
              </a:rPr>
              <a:t> — it checks env vars, config files, the feed path and Graph / API reachability.</a:t>
            </a:r>
          </a:p>
          <a:p>
            <a:pPr>
              <a:spcBef>
                <a:spcPts val="100"/>
              </a:spcBef>
              <a:spcAft>
                <a:spcPts val="200"/>
              </a:spcAft>
            </a:pPr>
            <a:r>
              <a:rPr sz="1250" b="1" i="0">
                <a:solidFill>
                  <a:srgbClr val="2E5496"/>
                </a:solidFill>
                <a:latin typeface="Calibri"/>
              </a:rPr>
              <a:t>7.  </a:t>
            </a:r>
            <a:r>
              <a:rPr sz="1250" b="1" i="0">
                <a:solidFill>
                  <a:srgbClr val="202020"/>
                </a:solidFill>
                <a:latin typeface="Calibri"/>
              </a:rPr>
              <a:t>Create the connection and schema.</a:t>
            </a:r>
            <a:r>
              <a:rPr sz="1250" b="0" i="0">
                <a:solidFill>
                  <a:srgbClr val="202020"/>
                </a:solidFill>
                <a:latin typeface="Calibri"/>
              </a:rPr>
              <a:t> Run </a:t>
            </a:r>
            <a:r>
              <a:rPr sz="1200" b="0" i="0">
                <a:solidFill>
                  <a:srgbClr val="202020"/>
                </a:solidFill>
                <a:latin typeface="Consolas"/>
              </a:rPr>
              <a:t>setup-connection</a:t>
            </a:r>
            <a:r>
              <a:rPr sz="1250" b="0" i="0">
                <a:solidFill>
                  <a:srgbClr val="202020"/>
                </a:solidFill>
                <a:latin typeface="Calibri"/>
              </a:rPr>
              <a:t> to create the Graph external connection and register </a:t>
            </a:r>
            <a:r>
              <a:rPr sz="1200" b="0" i="0">
                <a:solidFill>
                  <a:srgbClr val="202020"/>
                </a:solidFill>
                <a:latin typeface="Consolas"/>
              </a:rPr>
              <a:t>config/graph-schema.json</a:t>
            </a:r>
            <a:r>
              <a:rPr sz="1250" b="0" i="0">
                <a:solidFill>
                  <a:srgbClr val="202020"/>
                </a:solidFill>
                <a:latin typeface="Calibri"/>
              </a:rPr>
              <a:t> (no data is ingested yet).</a:t>
            </a:r>
          </a:p>
          <a:p>
            <a:pPr>
              <a:spcBef>
                <a:spcPts val="100"/>
              </a:spcBef>
              <a:spcAft>
                <a:spcPts val="200"/>
              </a:spcAft>
            </a:pPr>
            <a:r>
              <a:rPr sz="1250" b="1" i="0">
                <a:solidFill>
                  <a:srgbClr val="2E5496"/>
                </a:solidFill>
                <a:latin typeface="Calibri"/>
              </a:rPr>
              <a:t>8.  </a:t>
            </a:r>
            <a:r>
              <a:rPr sz="1250" b="1" i="0">
                <a:solidFill>
                  <a:srgbClr val="202020"/>
                </a:solidFill>
                <a:latin typeface="Calibri"/>
              </a:rPr>
              <a:t>First full ingest.</a:t>
            </a:r>
            <a:r>
              <a:rPr sz="1250" b="0" i="0">
                <a:solidFill>
                  <a:srgbClr val="202020"/>
                </a:solidFill>
                <a:latin typeface="Calibri"/>
              </a:rPr>
              <a:t> Run </a:t>
            </a:r>
            <a:r>
              <a:rPr sz="1200" b="0" i="0">
                <a:solidFill>
                  <a:srgbClr val="202020"/>
                </a:solidFill>
                <a:latin typeface="Consolas"/>
              </a:rPr>
              <a:t>full-deployment</a:t>
            </a:r>
            <a:r>
              <a:rPr sz="1250" b="0" i="0">
                <a:solidFill>
                  <a:srgbClr val="202020"/>
                </a:solidFill>
                <a:latin typeface="Calibri"/>
              </a:rPr>
              <a:t> (or </a:t>
            </a:r>
            <a:r>
              <a:rPr sz="1200" b="0" i="0">
                <a:solidFill>
                  <a:srgbClr val="202020"/>
                </a:solidFill>
                <a:latin typeface="Consolas"/>
              </a:rPr>
              <a:t>ingest</a:t>
            </a:r>
            <a:r>
              <a:rPr sz="1250" b="0" i="0">
                <a:solidFill>
                  <a:srgbClr val="202020"/>
                </a:solidFill>
                <a:latin typeface="Calibri"/>
              </a:rPr>
              <a:t>). Watch the reconciliation report under </a:t>
            </a:r>
            <a:r>
              <a:rPr sz="1200" b="0" i="0">
                <a:solidFill>
                  <a:srgbClr val="202020"/>
                </a:solidFill>
                <a:latin typeface="Consolas"/>
              </a:rPr>
              <a:t>logs\</a:t>
            </a:r>
            <a:r>
              <a:rPr sz="1250" b="0" i="0">
                <a:solidFill>
                  <a:srgbClr val="202020"/>
                </a:solidFill>
                <a:latin typeface="Calibri"/>
              </a:rPr>
              <a:t> and </a:t>
            </a:r>
            <a:r>
              <a:rPr sz="1200" b="0" i="0">
                <a:solidFill>
                  <a:srgbClr val="202020"/>
                </a:solidFill>
                <a:latin typeface="Consolas"/>
              </a:rPr>
              <a:t>altrata_items_ingested_total</a:t>
            </a:r>
            <a:r>
              <a:rPr sz="1250" b="0" i="0">
                <a:solidFill>
                  <a:srgbClr val="202020"/>
                </a:solidFill>
                <a:latin typeface="Calibri"/>
              </a:rPr>
              <a:t>.</a:t>
            </a:r>
          </a:p>
          <a:p>
            <a:pPr>
              <a:spcBef>
                <a:spcPts val="100"/>
              </a:spcBef>
              <a:spcAft>
                <a:spcPts val="200"/>
              </a:spcAft>
            </a:pPr>
            <a:r>
              <a:rPr sz="1250" b="1" i="0">
                <a:solidFill>
                  <a:srgbClr val="2E5496"/>
                </a:solidFill>
                <a:latin typeface="Calibri"/>
              </a:rPr>
              <a:t>9.  </a:t>
            </a:r>
            <a:r>
              <a:rPr sz="1250" b="1" i="0">
                <a:solidFill>
                  <a:srgbClr val="202020"/>
                </a:solidFill>
                <a:latin typeface="Calibri"/>
              </a:rPr>
              <a:t>Verify entitlement in Copilot.</a:t>
            </a:r>
            <a:r>
              <a:rPr sz="1250" b="0" i="0">
                <a:solidFill>
                  <a:srgbClr val="202020"/>
                </a:solidFill>
                <a:latin typeface="Calibri"/>
              </a:rPr>
              <a:t> Sign in as a seated user and confirm profiles are found; sign in as a non-seated user and confirm they are NOT. Check that </a:t>
            </a:r>
            <a:r>
              <a:rPr sz="1200" b="0" i="0">
                <a:solidFill>
                  <a:srgbClr val="202020"/>
                </a:solidFill>
                <a:latin typeface="Consolas"/>
              </a:rPr>
              <a:t>altrata_seat_count</a:t>
            </a:r>
            <a:r>
              <a:rPr sz="1250" b="0" i="0">
                <a:solidFill>
                  <a:srgbClr val="202020"/>
                </a:solidFill>
                <a:latin typeface="Calibri"/>
              </a:rPr>
              <a:t> matches your licence.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637</a:t>
            </a:r>
          </a:p>
        </p:txBody>
      </p:sp>
    </p:spTree>
  </p:cSld>
  <p:clrMapOvr>
    <a:masterClrMapping/>
  </p:clrMapOvr>
</p:sld>
</file>

<file path=ppt/slides/slide6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 Setting it up, step by step</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10.  </a:t>
            </a:r>
            <a:r>
              <a:rPr sz="1250" b="1" i="0">
                <a:solidFill>
                  <a:srgbClr val="202020"/>
                </a:solidFill>
                <a:latin typeface="Calibri"/>
              </a:rPr>
              <a:t>Test a DSAR erasure.</a:t>
            </a:r>
            <a:r>
              <a:rPr sz="1250" b="0" i="0">
                <a:solidFill>
                  <a:srgbClr val="202020"/>
                </a:solidFill>
                <a:latin typeface="Calibri"/>
              </a:rPr>
              <a:t> On a test subject, run </a:t>
            </a:r>
            <a:r>
              <a:rPr sz="1200" b="0" i="0">
                <a:solidFill>
                  <a:srgbClr val="202020"/>
                </a:solidFill>
                <a:latin typeface="Consolas"/>
              </a:rPr>
              <a:t>forget-subject --id &lt;id&gt;</a:t>
            </a:r>
            <a:r>
              <a:rPr sz="1250" b="0" i="0">
                <a:solidFill>
                  <a:srgbClr val="202020"/>
                </a:solidFill>
                <a:latin typeface="Calibri"/>
              </a:rPr>
              <a:t> (dry-run), then </a:t>
            </a:r>
            <a:r>
              <a:rPr sz="1200" b="0" i="0">
                <a:solidFill>
                  <a:srgbClr val="202020"/>
                </a:solidFill>
                <a:latin typeface="Consolas"/>
              </a:rPr>
              <a:t>--confirm</a:t>
            </a:r>
            <a:r>
              <a:rPr sz="1250" b="0" i="0">
                <a:solidFill>
                  <a:srgbClr val="202020"/>
                </a:solidFill>
                <a:latin typeface="Calibri"/>
              </a:rPr>
              <a:t>; confirm with a second dry-run (</a:t>
            </a:r>
            <a:r>
              <a:rPr sz="1200" b="0" i="0">
                <a:solidFill>
                  <a:srgbClr val="202020"/>
                </a:solidFill>
                <a:latin typeface="Consolas"/>
              </a:rPr>
              <a:t>Items to withdraw : 0</a:t>
            </a:r>
            <a:r>
              <a:rPr sz="1250" b="0" i="0">
                <a:solidFill>
                  <a:srgbClr val="202020"/>
                </a:solidFill>
                <a:latin typeface="Calibri"/>
              </a:rPr>
              <a:t>, </a:t>
            </a:r>
            <a:r>
              <a:rPr sz="1200" b="0" i="0">
                <a:solidFill>
                  <a:srgbClr val="202020"/>
                </a:solidFill>
                <a:latin typeface="Consolas"/>
              </a:rPr>
              <a:t>Already suppressed : 1 / 1</a:t>
            </a:r>
            <a:r>
              <a:rPr sz="1250" b="0" i="0">
                <a:solidFill>
                  <a:srgbClr val="202020"/>
                </a:solidFill>
                <a:latin typeface="Calibri"/>
              </a:rPr>
              <a:t>) and that </a:t>
            </a:r>
            <a:r>
              <a:rPr sz="1200" b="0" i="0">
                <a:solidFill>
                  <a:srgbClr val="202020"/>
                </a:solidFill>
                <a:latin typeface="Consolas"/>
              </a:rPr>
              <a:t>altrata_erasure_ledger_broken</a:t>
            </a:r>
            <a:r>
              <a:rPr sz="1250" b="0" i="0">
                <a:solidFill>
                  <a:srgbClr val="202020"/>
                </a:solidFill>
                <a:latin typeface="Calibri"/>
              </a:rPr>
              <a:t> is 0.</a:t>
            </a:r>
          </a:p>
          <a:p>
            <a:pPr>
              <a:spcBef>
                <a:spcPts val="100"/>
              </a:spcBef>
              <a:spcAft>
                <a:spcPts val="200"/>
              </a:spcAft>
            </a:pPr>
            <a:r>
              <a:rPr sz="1250" b="1" i="0">
                <a:solidFill>
                  <a:srgbClr val="2E5496"/>
                </a:solidFill>
                <a:latin typeface="Calibri"/>
              </a:rPr>
              <a:t>11.  </a:t>
            </a:r>
            <a:r>
              <a:rPr sz="1250" b="1" i="0">
                <a:solidFill>
                  <a:srgbClr val="202020"/>
                </a:solidFill>
                <a:latin typeface="Calibri"/>
              </a:rPr>
              <a:t>Go live.</a:t>
            </a:r>
            <a:r>
              <a:rPr sz="1250" b="0" i="0">
                <a:solidFill>
                  <a:srgbClr val="202020"/>
                </a:solidFill>
                <a:latin typeface="Calibri"/>
              </a:rPr>
              <a:t> Start the service (</a:t>
            </a:r>
            <a:r>
              <a:rPr sz="1200" b="0" i="0">
                <a:solidFill>
                  <a:srgbClr val="202020"/>
                </a:solidFill>
                <a:latin typeface="Consolas"/>
              </a:rPr>
              <a:t>full-deployment --continuous</a:t>
            </a:r>
            <a:r>
              <a:rPr sz="1250" b="0" i="0">
                <a:solidFill>
                  <a:srgbClr val="202020"/>
                </a:solidFill>
                <a:latin typeface="Calibri"/>
              </a:rPr>
              <a:t>), enable monitoring (section 12) and turn on the tier-1 erasure backups (section 14).</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638</a:t>
            </a:r>
          </a:p>
        </p:txBody>
      </p:sp>
    </p:spTree>
  </p:cSld>
  <p:clrMapOvr>
    <a:masterClrMapping/>
  </p:clrMapOvr>
</p:sld>
</file>

<file path=ppt/slides/slide6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 Setting it up, step by step</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Steps 9 and 10 are your privacy gate: do not enable continuous mode until you have seen entitlement hold (a non-seated user sees nothing) and a test erasure complete and verify. If step 6 or 8 reports an empty seat list, that is the connector failing closed by design — fix the seat source, never widen it to “unblock”.</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639</a:t>
            </a:r>
          </a:p>
        </p:txBody>
      </p:sp>
    </p:spTree>
  </p:cSld>
  <p:clrMapOvr>
    <a:masterClrMapping/>
  </p:clrMapOvr>
</p:sld>
</file>

<file path=ppt/slides/slide6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Altrata Connector</a:t>
            </a:r>
          </a:p>
          <a:p>
            <a:r>
              <a:rPr sz="3000" b="1" i="0">
                <a:solidFill>
                  <a:srgbClr val="1F3864"/>
                </a:solidFill>
                <a:latin typeface="Calibri"/>
              </a:rPr>
              <a:t>11. Running it day to day</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640</a:t>
            </a:r>
          </a:p>
        </p:txBody>
      </p:sp>
    </p:spTree>
  </p:cSld>
  <p:clrMapOvr>
    <a:masterClrMapping/>
  </p:clrMapOvr>
</p:sld>
</file>

<file path=ppt/slides/slide6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Feed cadence and crawls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In continuous mode the connector runs a </a:t>
            </a:r>
            <a:r>
              <a:rPr sz="1250" b="1" i="0">
                <a:solidFill>
                  <a:srgbClr val="202020"/>
                </a:solidFill>
                <a:latin typeface="Calibri"/>
              </a:rPr>
              <a:t>full</a:t>
            </a:r>
            <a:r>
              <a:rPr sz="1250" b="0" i="0">
                <a:solidFill>
                  <a:srgbClr val="202020"/>
                </a:solidFill>
                <a:latin typeface="Calibri"/>
              </a:rPr>
              <a:t> crawl every 24 hours and an </a:t>
            </a:r>
            <a:r>
              <a:rPr sz="1250" b="1" i="0">
                <a:solidFill>
                  <a:srgbClr val="202020"/>
                </a:solidFill>
                <a:latin typeface="Calibri"/>
              </a:rPr>
              <a:t>incremental</a:t>
            </a:r>
            <a:r>
              <a:rPr sz="1250" b="0" i="0">
                <a:solidFill>
                  <a:srgbClr val="202020"/>
                </a:solidFill>
                <a:latin typeface="Calibri"/>
              </a:rPr>
              <a:t> crawl every 4 hours by default (</a:t>
            </a:r>
            <a:r>
              <a:rPr sz="1200" b="0" i="0">
                <a:solidFill>
                  <a:srgbClr val="202020"/>
                </a:solidFill>
                <a:latin typeface="Consolas"/>
              </a:rPr>
              <a:t>--full-crawl-hours</a:t>
            </a:r>
            <a:r>
              <a:rPr sz="1250" b="0" i="0">
                <a:solidFill>
                  <a:srgbClr val="202020"/>
                </a:solidFill>
                <a:latin typeface="Calibri"/>
              </a:rPr>
              <a:t> / </a:t>
            </a:r>
            <a:r>
              <a:rPr sz="1200" b="0" i="0">
                <a:solidFill>
                  <a:srgbClr val="202020"/>
                </a:solidFill>
                <a:latin typeface="Consolas"/>
              </a:rPr>
              <a:t>--incremental-hours</a:t>
            </a:r>
            <a:r>
              <a:rPr sz="1250" b="0" i="0">
                <a:solidFill>
                  <a:srgbClr val="202020"/>
                </a:solidFill>
                <a:latin typeface="Calibri"/>
              </a:rPr>
              <a:t>). A full crawl reprocesses every delivery on disk (writes are idempotent); an incremental crawl processes only deliveries not yet in the processed ledger. You rarely need to intervene — the schedule keeps the index in step with the drops.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641</a:t>
            </a:r>
          </a:p>
        </p:txBody>
      </p:sp>
    </p:spTree>
  </p:cSld>
  <p:clrMapOvr>
    <a:masterClrMapping/>
  </p:clrMapOvr>
</p:sld>
</file>

<file path=ppt/slides/slide6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Deltas and tombstones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Delta deliveries and tombstones are handled automatically: adds/updates are written, </a:t>
            </a:r>
            <a:r>
              <a:rPr sz="1200" b="0" i="0">
                <a:solidFill>
                  <a:srgbClr val="202020"/>
                </a:solidFill>
                <a:latin typeface="Consolas"/>
              </a:rPr>
              <a:t>op: delete</a:t>
            </a:r>
            <a:r>
              <a:rPr sz="1250" b="0" i="0">
                <a:solidFill>
                  <a:srgbClr val="202020"/>
                </a:solidFill>
                <a:latin typeface="Calibri"/>
              </a:rPr>
              <a:t> records withdraw their item. Nothing manual is needed unless a withdrawal fails (it dead-letters as </a:t>
            </a:r>
            <a:r>
              <a:rPr sz="1200" b="0" i="0">
                <a:solidFill>
                  <a:srgbClr val="202020"/>
                </a:solidFill>
                <a:latin typeface="Consolas"/>
              </a:rPr>
              <a:t>op: delete</a:t>
            </a:r>
            <a:r>
              <a:rPr sz="1250" b="0" i="0">
                <a:solidFill>
                  <a:srgbClr val="202020"/>
                </a:solidFill>
                <a:latin typeface="Calibri"/>
              </a:rPr>
              <a:t> for </a:t>
            </a:r>
            <a:r>
              <a:rPr sz="1200" b="0" i="0">
                <a:solidFill>
                  <a:srgbClr val="202020"/>
                </a:solidFill>
                <a:latin typeface="Consolas"/>
              </a:rPr>
              <a:t>retry-failed</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642</a:t>
            </a:r>
          </a:p>
        </p:txBody>
      </p:sp>
    </p:spTree>
  </p:cSld>
  <p:clrMapOvr>
    <a:masterClrMapping/>
  </p:clrMapOvr>
</p:sld>
</file>

<file path=ppt/slides/slide6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Seat-list refresh</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On any joiner/leaver change, edit the seat source and run </a:t>
            </a:r>
            <a:r>
              <a:rPr sz="1200" b="0" i="0">
                <a:solidFill>
                  <a:srgbClr val="202020"/>
                </a:solidFill>
                <a:latin typeface="Consolas"/>
              </a:rPr>
              <a:t>seat-sync</a:t>
            </a:r>
            <a:r>
              <a:rPr sz="1250" b="0" i="0">
                <a:solidFill>
                  <a:srgbClr val="202020"/>
                </a:solidFill>
                <a:latin typeface="Calibri"/>
              </a:rPr>
              <a:t>; a changed list triggers the re-ACL pass. Use </a:t>
            </a:r>
            <a:r>
              <a:rPr sz="1200" b="0" i="0">
                <a:solidFill>
                  <a:srgbClr val="202020"/>
                </a:solidFill>
                <a:latin typeface="Consolas"/>
              </a:rPr>
              <a:t>identity-dry-run</a:t>
            </a:r>
            <a:r>
              <a:rPr sz="1250" b="0" i="0">
                <a:solidFill>
                  <a:srgbClr val="202020"/>
                </a:solidFill>
                <a:latin typeface="Calibri"/>
              </a:rPr>
              <a:t> first if you want to preview the effect.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643</a:t>
            </a:r>
          </a:p>
        </p:txBody>
      </p:sp>
    </p:spTree>
  </p:cSld>
  <p:clrMapOvr>
    <a:masterClrMapping/>
  </p:clrMapOvr>
</p:sld>
</file>

<file path=ppt/slides/slide6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DSAR requests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For each erasure request: </a:t>
            </a:r>
            <a:r>
              <a:rPr sz="1200" b="0" i="0">
                <a:solidFill>
                  <a:srgbClr val="202020"/>
                </a:solidFill>
                <a:latin typeface="Consolas"/>
              </a:rPr>
              <a:t>forget-subject --id &lt;id&gt;</a:t>
            </a:r>
            <a:r>
              <a:rPr sz="1250" b="0" i="0">
                <a:solidFill>
                  <a:srgbClr val="202020"/>
                </a:solidFill>
                <a:latin typeface="Calibri"/>
              </a:rPr>
              <a:t> (or </a:t>
            </a:r>
            <a:r>
              <a:rPr sz="1200" b="0" i="0">
                <a:solidFill>
                  <a:srgbClr val="202020"/>
                </a:solidFill>
                <a:latin typeface="Consolas"/>
              </a:rPr>
              <a:t>--email</a:t>
            </a:r>
            <a:r>
              <a:rPr sz="1250" b="0" i="0">
                <a:solidFill>
                  <a:srgbClr val="202020"/>
                </a:solidFill>
                <a:latin typeface="Calibri"/>
              </a:rPr>
              <a:t>) as a dry-run to see the scope, then </a:t>
            </a:r>
            <a:r>
              <a:rPr sz="1200" b="0" i="0">
                <a:solidFill>
                  <a:srgbClr val="202020"/>
                </a:solidFill>
                <a:latin typeface="Consolas"/>
              </a:rPr>
              <a:t>--confirm</a:t>
            </a:r>
            <a:r>
              <a:rPr sz="1250" b="0" i="0">
                <a:solidFill>
                  <a:srgbClr val="202020"/>
                </a:solidFill>
                <a:latin typeface="Calibri"/>
              </a:rPr>
              <a:t> to execute, then a dry-run again to confirm </a:t>
            </a:r>
            <a:r>
              <a:rPr sz="1200" b="0" i="0">
                <a:solidFill>
                  <a:srgbClr val="202020"/>
                </a:solidFill>
                <a:latin typeface="Consolas"/>
              </a:rPr>
              <a:t>Items to withdraw : 0</a:t>
            </a:r>
            <a:r>
              <a:rPr sz="1250" b="0" i="0">
                <a:solidFill>
                  <a:srgbClr val="202020"/>
                </a:solidFill>
                <a:latin typeface="Calibri"/>
              </a:rPr>
              <a:t>. Use </a:t>
            </a:r>
            <a:r>
              <a:rPr sz="1200" b="0" i="0">
                <a:solidFill>
                  <a:srgbClr val="202020"/>
                </a:solidFill>
                <a:latin typeface="Consolas"/>
              </a:rPr>
              <a:t>unsuppress-subject --id &lt;id&gt; --confirm</a:t>
            </a:r>
            <a:r>
              <a:rPr sz="1250" b="0" i="0">
                <a:solidFill>
                  <a:srgbClr val="202020"/>
                </a:solidFill>
                <a:latin typeface="Calibri"/>
              </a:rPr>
              <a:t> only to reverse an erasure made in error. Record the actor and the ticket every time.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644</a:t>
            </a:r>
          </a:p>
        </p:txBody>
      </p:sp>
    </p:spTree>
  </p:cSld>
  <p:clrMapOvr>
    <a:masterClrMapping/>
  </p:clrMapOvr>
</p:sld>
</file>

<file path=ppt/slides/slide6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Reconcile and drain</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0" i="0">
                <a:solidFill>
                  <a:srgbClr val="202020"/>
                </a:solidFill>
                <a:latin typeface="Calibri"/>
              </a:rPr>
              <a:t>Check reconciliation reports (</a:t>
            </a:r>
            <a:r>
              <a:rPr sz="1200" b="0" i="0">
                <a:solidFill>
                  <a:srgbClr val="202020"/>
                </a:solidFill>
                <a:latin typeface="Consolas"/>
              </a:rPr>
              <a:t>logs/reconciliation_*</a:t>
            </a:r>
            <a:r>
              <a:rPr sz="1250" b="0" i="0">
                <a:solidFill>
                  <a:srgbClr val="202020"/>
                </a:solidFill>
                <a:latin typeface="Calibri"/>
              </a:rPr>
              <a:t>) for any </a:t>
            </a:r>
            <a:r>
              <a:rPr sz="1200" b="0" i="0">
                <a:solidFill>
                  <a:srgbClr val="202020"/>
                </a:solidFill>
                <a:latin typeface="Consolas"/>
              </a:rPr>
              <a:t>mismatch</a:t>
            </a:r>
            <a:r>
              <a:rPr sz="1250" b="0" i="0">
                <a:solidFill>
                  <a:srgbClr val="202020"/>
                </a:solidFill>
                <a:latin typeface="Calibri"/>
              </a:rPr>
              <a:t>; a mismatched delivery is left eligible for the next crawl.</a:t>
            </a:r>
          </a:p>
          <a:p>
            <a:pPr>
              <a:spcBef>
                <a:spcPts val="100"/>
              </a:spcBef>
              <a:spcAft>
                <a:spcPts val="200"/>
              </a:spcAft>
            </a:pPr>
            <a:r>
              <a:rPr sz="1250" b="1" i="0">
                <a:solidFill>
                  <a:srgbClr val="2E5496"/>
                </a:solidFill>
                <a:latin typeface="Calibri"/>
              </a:rPr>
              <a:t>•  </a:t>
            </a:r>
            <a:r>
              <a:rPr sz="1250" b="0" i="0">
                <a:solidFill>
                  <a:srgbClr val="202020"/>
                </a:solidFill>
                <a:latin typeface="Calibri"/>
              </a:rPr>
              <a:t>Run </a:t>
            </a:r>
            <a:r>
              <a:rPr sz="1200" b="0" i="0">
                <a:solidFill>
                  <a:srgbClr val="202020"/>
                </a:solidFill>
                <a:latin typeface="Consolas"/>
              </a:rPr>
              <a:t>retry-failed</a:t>
            </a:r>
            <a:r>
              <a:rPr sz="1250" b="0" i="0">
                <a:solidFill>
                  <a:srgbClr val="202020"/>
                </a:solidFill>
                <a:latin typeface="Calibri"/>
              </a:rPr>
              <a:t> to drain the dead-letter queue (add </a:t>
            </a:r>
            <a:r>
              <a:rPr sz="1200" b="0" i="0">
                <a:solidFill>
                  <a:srgbClr val="202020"/>
                </a:solidFill>
                <a:latin typeface="Consolas"/>
              </a:rPr>
              <a:t>--clear-on-success</a:t>
            </a:r>
            <a:r>
              <a:rPr sz="1250" b="0" i="0">
                <a:solidFill>
                  <a:srgbClr val="202020"/>
                </a:solidFill>
                <a:latin typeface="Calibri"/>
              </a:rPr>
              <a:t> to remove a fully drained queue file). Replay erasure DELETEs first — they finish DSARs.</a:t>
            </a:r>
          </a:p>
          <a:p>
            <a:pPr>
              <a:spcBef>
                <a:spcPts val="100"/>
              </a:spcBef>
              <a:spcAft>
                <a:spcPts val="200"/>
              </a:spcAft>
            </a:pPr>
            <a:r>
              <a:rPr sz="1250" b="1" i="0">
                <a:solidFill>
                  <a:srgbClr val="2E5496"/>
                </a:solidFill>
                <a:latin typeface="Calibri"/>
              </a:rPr>
              <a:t>•  </a:t>
            </a:r>
            <a:r>
              <a:rPr sz="1250" b="0" i="0">
                <a:solidFill>
                  <a:srgbClr val="202020"/>
                </a:solidFill>
                <a:latin typeface="Calibri"/>
              </a:rPr>
              <a:t>In redacted mode, drain the queue </a:t>
            </a:r>
            <a:r>
              <a:rPr sz="1250" b="1" i="0">
                <a:solidFill>
                  <a:srgbClr val="202020"/>
                </a:solidFill>
                <a:latin typeface="Calibri"/>
              </a:rPr>
              <a:t>before</a:t>
            </a:r>
            <a:r>
              <a:rPr sz="1250" b="0" i="0">
                <a:solidFill>
                  <a:srgbClr val="202020"/>
                </a:solidFill>
                <a:latin typeface="Calibri"/>
              </a:rPr>
              <a:t> retention archives or deletes the feed deliveries the replay re-fetches from.</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645</a:t>
            </a:r>
          </a:p>
        </p:txBody>
      </p:sp>
    </p:spTree>
  </p:cSld>
  <p:clrMapOvr>
    <a:masterClrMapping/>
  </p:clrMapOvr>
</p:sld>
</file>

<file path=ppt/slides/slide6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Ledger verification</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erasure ledger is re-verified automatically after every erase / unsuppress. Keep the metric </a:t>
            </a:r>
            <a:r>
              <a:rPr sz="1200" b="0" i="0">
                <a:solidFill>
                  <a:srgbClr val="202020"/>
                </a:solidFill>
                <a:latin typeface="Consolas"/>
              </a:rPr>
              <a:t>altrata_erasure_ledger_broken</a:t>
            </a:r>
            <a:r>
              <a:rPr sz="1250" b="0" i="0">
                <a:solidFill>
                  <a:srgbClr val="202020"/>
                </a:solidFill>
                <a:latin typeface="Calibri"/>
              </a:rPr>
              <a:t> at 0 on your dashboard and keep shipping ledger lines to the SIEM (section 12) as an independent, append-only copy.</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646</a:t>
            </a:r>
          </a:p>
        </p:txBody>
      </p:sp>
    </p:spTree>
  </p:cSld>
  <p:clrMapOvr>
    <a:masterClrMapping/>
  </p:clrMapOvr>
</p:sld>
</file>

<file path=ppt/slides/slide6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Altrata Connector</a:t>
            </a:r>
          </a:p>
          <a:p>
            <a:r>
              <a:rPr sz="3000" b="1" i="0">
                <a:solidFill>
                  <a:srgbClr val="1F3864"/>
                </a:solidFill>
                <a:latin typeface="Calibri"/>
              </a:rPr>
              <a:t>12. Monitoring this connector</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647</a:t>
            </a:r>
          </a:p>
        </p:txBody>
      </p:sp>
    </p:spTree>
  </p:cSld>
  <p:clrMapOvr>
    <a:masterClrMapping/>
  </p:clrMapOvr>
</p:sld>
</file>

<file path=ppt/slides/slide6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Health endpoints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Set </a:t>
            </a:r>
            <a:r>
              <a:rPr sz="1200" b="0" i="0">
                <a:solidFill>
                  <a:srgbClr val="202020"/>
                </a:solidFill>
                <a:latin typeface="Consolas"/>
              </a:rPr>
              <a:t>HEALTH_PORT</a:t>
            </a:r>
            <a:r>
              <a:rPr sz="1250" b="0" i="0">
                <a:solidFill>
                  <a:srgbClr val="202020"/>
                </a:solidFill>
                <a:latin typeface="Calibri"/>
              </a:rPr>
              <a:t> (e.g. </a:t>
            </a:r>
            <a:r>
              <a:rPr sz="1200" b="0" i="0">
                <a:solidFill>
                  <a:srgbClr val="202020"/>
                </a:solidFill>
                <a:latin typeface="Consolas"/>
              </a:rPr>
              <a:t>9090</a:t>
            </a:r>
            <a:r>
              <a:rPr sz="1250" b="0" i="0">
                <a:solidFill>
                  <a:srgbClr val="202020"/>
                </a:solidFill>
                <a:latin typeface="Calibri"/>
              </a:rPr>
              <a:t>) to expose: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648</a:t>
            </a:r>
          </a:p>
        </p:txBody>
      </p:sp>
    </p:spTree>
  </p:cSld>
  <p:clrMapOvr>
    <a:masterClrMapping/>
  </p:clrMapOvr>
</p:sld>
</file>

<file path=ppt/slides/slide6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Health endpoints</a:t>
            </a:r>
          </a:p>
        </p:txBody>
      </p:sp>
      <p:graphicFrame>
        <p:nvGraphicFramePr>
          <p:cNvPr id="5" name="Table 4"/>
          <p:cNvGraphicFramePr>
            <a:graphicFrameLocks noGrp="1"/>
          </p:cNvGraphicFramePr>
          <p:nvPr/>
        </p:nvGraphicFramePr>
        <p:xfrm>
          <a:off x="502920" y="1188720"/>
          <a:ext cx="11185854" cy="1536192"/>
        </p:xfrm>
        <a:graphic>
          <a:graphicData uri="http://schemas.openxmlformats.org/drawingml/2006/table">
            <a:tbl>
              <a:tblPr firstRow="1" bandRow="1">
                <a:tableStyleId>{5C22544A-7EE6-4342-B048-85BDC9FD1C3A}</a:tableStyleId>
              </a:tblPr>
              <a:tblGrid>
                <a:gridCol w="3803190"/>
                <a:gridCol w="7382664"/>
              </a:tblGrid>
              <a:tr h="384048">
                <a:tc>
                  <a:txBody>
                    <a:bodyPr wrap="square"/>
                    <a:lstStyle/>
                    <a:p>
                      <a:r>
                        <a:rPr sz="1050" b="1" i="0">
                          <a:solidFill>
                            <a:srgbClr val="FFFFFF"/>
                          </a:solidFill>
                          <a:latin typeface="Calibri"/>
                        </a:rPr>
                        <a:t>Route</a:t>
                      </a:r>
                    </a:p>
                  </a:txBody>
                  <a:tcPr marT="25400" marB="25400">
                    <a:solidFill>
                      <a:srgbClr val="2E5496"/>
                    </a:solidFill>
                  </a:tcPr>
                </a:tc>
                <a:tc>
                  <a:txBody>
                    <a:bodyPr wrap="square"/>
                    <a:lstStyle/>
                    <a:p>
                      <a:r>
                        <a:rPr sz="1050" b="1" i="0">
                          <a:solidFill>
                            <a:srgbClr val="FFFFFF"/>
                          </a:solidFill>
                          <a:latin typeface="Calibri"/>
                        </a:rPr>
                        <a:t>Returns</a:t>
                      </a:r>
                    </a:p>
                  </a:txBody>
                  <a:tcPr marT="25400" marB="25400">
                    <a:solidFill>
                      <a:srgbClr val="2E5496"/>
                    </a:solidFill>
                  </a:tcPr>
                </a:tc>
              </a:tr>
              <a:tr h="384048">
                <a:tc>
                  <a:txBody>
                    <a:bodyPr wrap="square"/>
                    <a:lstStyle/>
                    <a:p>
                      <a:r>
                        <a:rPr sz="950" b="0" i="0">
                          <a:solidFill>
                            <a:srgbClr val="202020"/>
                          </a:solidFill>
                          <a:latin typeface="Calibri"/>
                        </a:rPr>
                        <a:t>GET /health</a:t>
                      </a:r>
                    </a:p>
                  </a:txBody>
                  <a:tcPr marT="12700" marB="12700">
                    <a:solidFill>
                      <a:srgbClr val="FFFFFF"/>
                    </a:solidFill>
                  </a:tcPr>
                </a:tc>
                <a:tc>
                  <a:txBody>
                    <a:bodyPr wrap="square"/>
                    <a:lstStyle/>
                    <a:p>
                      <a:r>
                        <a:rPr sz="950" b="0" i="0">
                          <a:solidFill>
                            <a:srgbClr val="202020"/>
                          </a:solidFill>
                          <a:latin typeface="Calibri"/>
                        </a:rPr>
                        <a:t>200 OK — liveness; stays up even in degraded mode</a:t>
                      </a:r>
                    </a:p>
                  </a:txBody>
                  <a:tcPr marT="12700" marB="12700">
                    <a:solidFill>
                      <a:srgbClr val="FFFFFF"/>
                    </a:solidFill>
                  </a:tcPr>
                </a:tc>
              </a:tr>
              <a:tr h="384048">
                <a:tc>
                  <a:txBody>
                    <a:bodyPr wrap="square"/>
                    <a:lstStyle/>
                    <a:p>
                      <a:r>
                        <a:rPr sz="950" b="0" i="0">
                          <a:solidFill>
                            <a:srgbClr val="202020"/>
                          </a:solidFill>
                          <a:latin typeface="Calibri"/>
                        </a:rPr>
                        <a:t>GET /ready</a:t>
                      </a:r>
                    </a:p>
                  </a:txBody>
                  <a:tcPr marT="12700" marB="12700">
                    <a:solidFill>
                      <a:srgbClr val="F7F9FC"/>
                    </a:solidFill>
                  </a:tcPr>
                </a:tc>
                <a:tc>
                  <a:txBody>
                    <a:bodyPr wrap="square"/>
                    <a:lstStyle/>
                    <a:p>
                      <a:r>
                        <a:rPr sz="950" b="0" i="0">
                          <a:solidFill>
                            <a:srgbClr val="202020"/>
                          </a:solidFill>
                          <a:latin typeface="Calibri"/>
                        </a:rPr>
                        <a:t>200 READY, or 503 NOT READY when a critical (Graph) breaker is open</a:t>
                      </a:r>
                    </a:p>
                  </a:txBody>
                  <a:tcPr marT="12700" marB="12700">
                    <a:solidFill>
                      <a:srgbClr val="F7F9FC"/>
                    </a:solidFill>
                  </a:tcPr>
                </a:tc>
              </a:tr>
              <a:tr h="384048">
                <a:tc>
                  <a:txBody>
                    <a:bodyPr wrap="square"/>
                    <a:lstStyle/>
                    <a:p>
                      <a:r>
                        <a:rPr sz="950" b="0" i="0">
                          <a:solidFill>
                            <a:srgbClr val="202020"/>
                          </a:solidFill>
                          <a:latin typeface="Calibri"/>
                        </a:rPr>
                        <a:t>GET /metrics</a:t>
                      </a:r>
                    </a:p>
                  </a:txBody>
                  <a:tcPr marT="12700" marB="12700">
                    <a:solidFill>
                      <a:srgbClr val="FFFFFF"/>
                    </a:solidFill>
                  </a:tcPr>
                </a:tc>
                <a:tc>
                  <a:txBody>
                    <a:bodyPr wrap="square"/>
                    <a:lstStyle/>
                    <a:p>
                      <a:r>
                        <a:rPr sz="950" b="0" i="0">
                          <a:solidFill>
                            <a:srgbClr val="202020"/>
                          </a:solidFill>
                          <a:latin typeface="Calibri"/>
                        </a:rPr>
                        <a:t>Prometheus text — all the metrics below</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649</a:t>
            </a:r>
          </a:p>
        </p:txBody>
      </p:sp>
    </p:spTree>
  </p:cSld>
  <p:clrMapOvr>
    <a:masterClrMapping/>
  </p:clrMapOvr>
</p:sld>
</file>

<file path=ppt/slides/slide6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Key metrics</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Metric</a:t>
                      </a:r>
                    </a:p>
                  </a:txBody>
                  <a:tcPr marT="25400" marB="25400">
                    <a:solidFill>
                      <a:srgbClr val="2E5496"/>
                    </a:solidFill>
                  </a:tcPr>
                </a:tc>
                <a:tc>
                  <a:txBody>
                    <a:bodyPr wrap="square"/>
                    <a:lstStyle/>
                    <a:p>
                      <a:r>
                        <a:rPr sz="1050" b="1" i="0">
                          <a:solidFill>
                            <a:srgbClr val="FFFFFF"/>
                          </a:solidFill>
                          <a:latin typeface="Calibri"/>
                        </a:rPr>
                        <a:t>Type</a:t>
                      </a:r>
                    </a:p>
                  </a:txBody>
                  <a:tcPr marT="25400" marB="25400">
                    <a:solidFill>
                      <a:srgbClr val="2E5496"/>
                    </a:solidFill>
                  </a:tcPr>
                </a:tc>
                <a:tc>
                  <a:txBody>
                    <a:bodyPr wrap="square"/>
                    <a:lstStyle/>
                    <a:p>
                      <a:r>
                        <a:rPr sz="1050" b="1" i="0">
                          <a:solidFill>
                            <a:srgbClr val="FFFFFF"/>
                          </a:solidFill>
                          <a:latin typeface="Calibri"/>
                        </a:rPr>
                        <a:t>What it tells you</a:t>
                      </a:r>
                    </a:p>
                  </a:txBody>
                  <a:tcPr marT="25400" marB="25400">
                    <a:solidFill>
                      <a:srgbClr val="2E5496"/>
                    </a:solidFill>
                  </a:tcPr>
                </a:tc>
              </a:tr>
              <a:tr h="384048">
                <a:tc>
                  <a:txBody>
                    <a:bodyPr wrap="square"/>
                    <a:lstStyle/>
                    <a:p>
                      <a:r>
                        <a:rPr sz="950" b="0" i="0">
                          <a:solidFill>
                            <a:srgbClr val="202020"/>
                          </a:solidFill>
                          <a:latin typeface="Calibri"/>
                        </a:rPr>
                        <a:t>altrata_items_ingested_total / _failed_total / _deleted_total</a:t>
                      </a:r>
                    </a:p>
                  </a:txBody>
                  <a:tcPr marT="12700" marB="12700">
                    <a:solidFill>
                      <a:srgbClr val="FFFFFF"/>
                    </a:solidFill>
                  </a:tcPr>
                </a:tc>
                <a:tc>
                  <a:txBody>
                    <a:bodyPr wrap="square"/>
                    <a:lstStyle/>
                    <a:p>
                      <a:r>
                        <a:rPr sz="950" b="0" i="0">
                          <a:solidFill>
                            <a:srgbClr val="202020"/>
                          </a:solidFill>
                          <a:latin typeface="Calibri"/>
                        </a:rPr>
                        <a:t>counter</a:t>
                      </a:r>
                    </a:p>
                  </a:txBody>
                  <a:tcPr marT="12700" marB="12700">
                    <a:solidFill>
                      <a:srgbClr val="FFFFFF"/>
                    </a:solidFill>
                  </a:tcPr>
                </a:tc>
                <a:tc>
                  <a:txBody>
                    <a:bodyPr wrap="square"/>
                    <a:lstStyle/>
                    <a:p>
                      <a:r>
                        <a:rPr sz="950" b="0" i="0">
                          <a:solidFill>
                            <a:srgbClr val="202020"/>
                          </a:solidFill>
                          <a:latin typeface="Calibri"/>
                        </a:rPr>
                        <a:t>Throughput: items written, dead-lettered, withdrawn</a:t>
                      </a:r>
                    </a:p>
                  </a:txBody>
                  <a:tcPr marT="12700" marB="12700">
                    <a:solidFill>
                      <a:srgbClr val="FFFFFF"/>
                    </a:solidFill>
                  </a:tcPr>
                </a:tc>
              </a:tr>
              <a:tr h="384048">
                <a:tc>
                  <a:txBody>
                    <a:bodyPr wrap="square"/>
                    <a:lstStyle/>
                    <a:p>
                      <a:r>
                        <a:rPr sz="950" b="0" i="0">
                          <a:solidFill>
                            <a:srgbClr val="202020"/>
                          </a:solidFill>
                          <a:latin typeface="Calibri"/>
                        </a:rPr>
                        <a:t>altrata_deliveries_processed_total / _rejected_total</a:t>
                      </a:r>
                    </a:p>
                  </a:txBody>
                  <a:tcPr marT="12700" marB="12700">
                    <a:solidFill>
                      <a:srgbClr val="F7F9FC"/>
                    </a:solidFill>
                  </a:tcPr>
                </a:tc>
                <a:tc>
                  <a:txBody>
                    <a:bodyPr wrap="square"/>
                    <a:lstStyle/>
                    <a:p>
                      <a:r>
                        <a:rPr sz="950" b="0" i="0">
                          <a:solidFill>
                            <a:srgbClr val="202020"/>
                          </a:solidFill>
                          <a:latin typeface="Calibri"/>
                        </a:rPr>
                        <a:t>counter</a:t>
                      </a:r>
                    </a:p>
                  </a:txBody>
                  <a:tcPr marT="12700" marB="12700">
                    <a:solidFill>
                      <a:srgbClr val="F7F9FC"/>
                    </a:solidFill>
                  </a:tcPr>
                </a:tc>
                <a:tc>
                  <a:txBody>
                    <a:bodyPr wrap="square"/>
                    <a:lstStyle/>
                    <a:p>
                      <a:r>
                        <a:rPr sz="950" b="0" i="0">
                          <a:solidFill>
                            <a:srgbClr val="202020"/>
                          </a:solidFill>
                          <a:latin typeface="Calibri"/>
                        </a:rPr>
                        <a:t>Deliveries reconciled vs checksum-rejected</a:t>
                      </a:r>
                    </a:p>
                  </a:txBody>
                  <a:tcPr marT="12700" marB="12700">
                    <a:solidFill>
                      <a:srgbClr val="F7F9FC"/>
                    </a:solidFill>
                  </a:tcPr>
                </a:tc>
              </a:tr>
              <a:tr h="384048">
                <a:tc>
                  <a:txBody>
                    <a:bodyPr wrap="square"/>
                    <a:lstStyle/>
                    <a:p>
                      <a:r>
                        <a:rPr sz="950" b="0" i="0">
                          <a:solidFill>
                            <a:srgbClr val="202020"/>
                          </a:solidFill>
                          <a:latin typeface="Calibri"/>
                        </a:rPr>
                        <a:t>altrata_seat_count</a:t>
                      </a:r>
                    </a:p>
                  </a:txBody>
                  <a:tcPr marT="12700" marB="12700">
                    <a:solidFill>
                      <a:srgbClr val="FFFFFF"/>
                    </a:solidFill>
                  </a:tcPr>
                </a:tc>
                <a:tc>
                  <a:txBody>
                    <a:bodyPr wrap="square"/>
                    <a:lstStyle/>
                    <a:p>
                      <a:r>
                        <a:rPr sz="950" b="0" i="0">
                          <a:solidFill>
                            <a:srgbClr val="202020"/>
                          </a:solidFill>
                          <a:latin typeface="Calibri"/>
                        </a:rPr>
                        <a:t>gauge</a:t>
                      </a:r>
                    </a:p>
                  </a:txBody>
                  <a:tcPr marT="12700" marB="12700">
                    <a:solidFill>
                      <a:srgbClr val="FFFFFF"/>
                    </a:solidFill>
                  </a:tcPr>
                </a:tc>
                <a:tc>
                  <a:txBody>
                    <a:bodyPr wrap="square"/>
                    <a:lstStyle/>
                    <a:p>
                      <a:r>
                        <a:rPr sz="950" b="0" i="0">
                          <a:solidFill>
                            <a:srgbClr val="202020"/>
                          </a:solidFill>
                          <a:latin typeface="Calibri"/>
                        </a:rPr>
                        <a:t>Current seat principals — should match your licence</a:t>
                      </a:r>
                    </a:p>
                  </a:txBody>
                  <a:tcPr marT="12700" marB="12700">
                    <a:solidFill>
                      <a:srgbClr val="FFFFFF"/>
                    </a:solidFill>
                  </a:tcPr>
                </a:tc>
              </a:tr>
              <a:tr h="384048">
                <a:tc>
                  <a:txBody>
                    <a:bodyPr wrap="square"/>
                    <a:lstStyle/>
                    <a:p>
                      <a:r>
                        <a:rPr sz="950" b="0" i="0">
                          <a:solidFill>
                            <a:srgbClr val="202020"/>
                          </a:solidFill>
                          <a:latin typeface="Calibri"/>
                        </a:rPr>
                        <a:t>altrata_entitlement_refusals_total</a:t>
                      </a:r>
                    </a:p>
                  </a:txBody>
                  <a:tcPr marT="12700" marB="12700">
                    <a:solidFill>
                      <a:srgbClr val="F7F9FC"/>
                    </a:solidFill>
                  </a:tcPr>
                </a:tc>
                <a:tc>
                  <a:txBody>
                    <a:bodyPr wrap="square"/>
                    <a:lstStyle/>
                    <a:p>
                      <a:r>
                        <a:rPr sz="950" b="0" i="0">
                          <a:solidFill>
                            <a:srgbClr val="202020"/>
                          </a:solidFill>
                          <a:latin typeface="Calibri"/>
                        </a:rPr>
                        <a:t>counter</a:t>
                      </a:r>
                    </a:p>
                  </a:txBody>
                  <a:tcPr marT="12700" marB="12700">
                    <a:solidFill>
                      <a:srgbClr val="F7F9FC"/>
                    </a:solidFill>
                  </a:tcPr>
                </a:tc>
                <a:tc>
                  <a:txBody>
                    <a:bodyPr wrap="square"/>
                    <a:lstStyle/>
                    <a:p>
                      <a:r>
                        <a:rPr sz="950" b="0" i="0">
                          <a:solidFill>
                            <a:srgbClr val="202020"/>
                          </a:solidFill>
                          <a:latin typeface="Calibri"/>
                        </a:rPr>
                        <a:t>Fail-closed events (empty list / forbidden grant) — should stay flat</a:t>
                      </a:r>
                    </a:p>
                  </a:txBody>
                  <a:tcPr marT="12700" marB="12700">
                    <a:solidFill>
                      <a:srgbClr val="F7F9FC"/>
                    </a:solidFill>
                  </a:tcPr>
                </a:tc>
              </a:tr>
              <a:tr h="384048">
                <a:tc>
                  <a:txBody>
                    <a:bodyPr wrap="square"/>
                    <a:lstStyle/>
                    <a:p>
                      <a:r>
                        <a:rPr sz="950" b="0" i="0">
                          <a:solidFill>
                            <a:srgbClr val="202020"/>
                          </a:solidFill>
                          <a:latin typeface="Calibri"/>
                        </a:rPr>
                        <a:t>altrata_reacl_passes_total</a:t>
                      </a:r>
                    </a:p>
                  </a:txBody>
                  <a:tcPr marT="12700" marB="12700">
                    <a:solidFill>
                      <a:srgbClr val="FFFFFF"/>
                    </a:solidFill>
                  </a:tcPr>
                </a:tc>
                <a:tc>
                  <a:txBody>
                    <a:bodyPr wrap="square"/>
                    <a:lstStyle/>
                    <a:p>
                      <a:r>
                        <a:rPr sz="950" b="0" i="0">
                          <a:solidFill>
                            <a:srgbClr val="202020"/>
                          </a:solidFill>
                          <a:latin typeface="Calibri"/>
                        </a:rPr>
                        <a:t>counter</a:t>
                      </a:r>
                    </a:p>
                  </a:txBody>
                  <a:tcPr marT="12700" marB="12700">
                    <a:solidFill>
                      <a:srgbClr val="FFFFFF"/>
                    </a:solidFill>
                  </a:tcPr>
                </a:tc>
                <a:tc>
                  <a:txBody>
                    <a:bodyPr wrap="square"/>
                    <a:lstStyle/>
                    <a:p>
                      <a:r>
                        <a:rPr sz="950" b="0" i="0">
                          <a:solidFill>
                            <a:srgbClr val="202020"/>
                          </a:solidFill>
                          <a:latin typeface="Calibri"/>
                        </a:rPr>
                        <a:t>Completed seat-change re-ACL passes</a:t>
                      </a:r>
                    </a:p>
                  </a:txBody>
                  <a:tcPr marT="12700" marB="12700">
                    <a:solidFill>
                      <a:srgbClr val="FFFFFF"/>
                    </a:solidFill>
                  </a:tcPr>
                </a:tc>
              </a:tr>
              <a:tr h="384048">
                <a:tc>
                  <a:txBody>
                    <a:bodyPr wrap="square"/>
                    <a:lstStyle/>
                    <a:p>
                      <a:r>
                        <a:rPr sz="950" b="0" i="0">
                          <a:solidFill>
                            <a:srgbClr val="202020"/>
                          </a:solidFill>
                          <a:latin typeface="Calibri"/>
                        </a:rPr>
                        <a:t>altrata_subjects_erased_total / altrata_items_erased_total</a:t>
                      </a:r>
                    </a:p>
                  </a:txBody>
                  <a:tcPr marT="12700" marB="12700">
                    <a:solidFill>
                      <a:srgbClr val="F7F9FC"/>
                    </a:solidFill>
                  </a:tcPr>
                </a:tc>
                <a:tc>
                  <a:txBody>
                    <a:bodyPr wrap="square"/>
                    <a:lstStyle/>
                    <a:p>
                      <a:r>
                        <a:rPr sz="950" b="0" i="0">
                          <a:solidFill>
                            <a:srgbClr val="202020"/>
                          </a:solidFill>
                          <a:latin typeface="Calibri"/>
                        </a:rPr>
                        <a:t>counter</a:t>
                      </a:r>
                    </a:p>
                  </a:txBody>
                  <a:tcPr marT="12700" marB="12700">
                    <a:solidFill>
                      <a:srgbClr val="F7F9FC"/>
                    </a:solidFill>
                  </a:tcPr>
                </a:tc>
                <a:tc>
                  <a:txBody>
                    <a:bodyPr wrap="square"/>
                    <a:lstStyle/>
                    <a:p>
                      <a:r>
                        <a:rPr sz="950" b="0" i="0">
                          <a:solidFill>
                            <a:srgbClr val="202020"/>
                          </a:solidFill>
                          <a:latin typeface="Calibri"/>
                        </a:rPr>
                        <a:t>DSAR erasures: subjects and items removed</a:t>
                      </a:r>
                    </a:p>
                  </a:txBody>
                  <a:tcPr marT="12700" marB="12700">
                    <a:solidFill>
                      <a:srgbClr val="F7F9FC"/>
                    </a:solidFill>
                  </a:tcPr>
                </a:tc>
              </a:tr>
              <a:tr h="384048">
                <a:tc>
                  <a:txBody>
                    <a:bodyPr wrap="square"/>
                    <a:lstStyle/>
                    <a:p>
                      <a:r>
                        <a:rPr sz="950" b="0" i="0">
                          <a:solidFill>
                            <a:srgbClr val="202020"/>
                          </a:solidFill>
                          <a:latin typeface="Calibri"/>
                        </a:rPr>
                        <a:t>altrata_items_suppressed_total</a:t>
                      </a:r>
                    </a:p>
                  </a:txBody>
                  <a:tcPr marT="12700" marB="12700">
                    <a:solidFill>
                      <a:srgbClr val="FFFFFF"/>
                    </a:solidFill>
                  </a:tcPr>
                </a:tc>
                <a:tc>
                  <a:txBody>
                    <a:bodyPr wrap="square"/>
                    <a:lstStyle/>
                    <a:p>
                      <a:r>
                        <a:rPr sz="950" b="0" i="0">
                          <a:solidFill>
                            <a:srgbClr val="202020"/>
                          </a:solidFill>
                          <a:latin typeface="Calibri"/>
                        </a:rPr>
                        <a:t>counter</a:t>
                      </a:r>
                    </a:p>
                  </a:txBody>
                  <a:tcPr marT="12700" marB="12700">
                    <a:solidFill>
                      <a:srgbClr val="FFFFFF"/>
                    </a:solidFill>
                  </a:tcPr>
                </a:tc>
                <a:tc>
                  <a:txBody>
                    <a:bodyPr wrap="square"/>
                    <a:lstStyle/>
                    <a:p>
                      <a:r>
                        <a:rPr sz="950" b="0" i="0">
                          <a:solidFill>
                            <a:srgbClr val="202020"/>
                          </a:solidFill>
                          <a:latin typeface="Calibri"/>
                        </a:rPr>
                        <a:t>Records skipped at crawl time (subject on the suppression list)</a:t>
                      </a:r>
                    </a:p>
                  </a:txBody>
                  <a:tcPr marT="12700" marB="12700">
                    <a:solidFill>
                      <a:srgbClr val="FFFFFF"/>
                    </a:solidFill>
                  </a:tcPr>
                </a:tc>
              </a:tr>
              <a:tr h="384048">
                <a:tc>
                  <a:txBody>
                    <a:bodyPr wrap="square"/>
                    <a:lstStyle/>
                    <a:p>
                      <a:r>
                        <a:rPr sz="950" b="0" i="0">
                          <a:solidFill>
                            <a:srgbClr val="202020"/>
                          </a:solidFill>
                          <a:latin typeface="Calibri"/>
                        </a:rPr>
                        <a:t>altrata_suppression_list_size</a:t>
                      </a:r>
                    </a:p>
                  </a:txBody>
                  <a:tcPr marT="12700" marB="12700">
                    <a:solidFill>
                      <a:srgbClr val="F7F9FC"/>
                    </a:solidFill>
                  </a:tcPr>
                </a:tc>
                <a:tc>
                  <a:txBody>
                    <a:bodyPr wrap="square"/>
                    <a:lstStyle/>
                    <a:p>
                      <a:r>
                        <a:rPr sz="950" b="0" i="0">
                          <a:solidFill>
                            <a:srgbClr val="202020"/>
                          </a:solidFill>
                          <a:latin typeface="Calibri"/>
                        </a:rPr>
                        <a:t>gauge</a:t>
                      </a:r>
                    </a:p>
                  </a:txBody>
                  <a:tcPr marT="12700" marB="12700">
                    <a:solidFill>
                      <a:srgbClr val="F7F9FC"/>
                    </a:solidFill>
                  </a:tcPr>
                </a:tc>
                <a:tc>
                  <a:txBody>
                    <a:bodyPr wrap="square"/>
                    <a:lstStyle/>
                    <a:p>
                      <a:r>
                        <a:rPr sz="950" b="0" i="0">
                          <a:solidFill>
                            <a:srgbClr val="202020"/>
                          </a:solidFill>
                          <a:latin typeface="Calibri"/>
                        </a:rPr>
                        <a:t>Erased subjects currently suppressed from re-ingestion</a:t>
                      </a:r>
                    </a:p>
                  </a:txBody>
                  <a:tcPr marT="12700" marB="12700">
                    <a:solidFill>
                      <a:srgbClr val="F7F9FC"/>
                    </a:solidFill>
                  </a:tcPr>
                </a:tc>
              </a:tr>
              <a:tr h="384048">
                <a:tc>
                  <a:txBody>
                    <a:bodyPr wrap="square"/>
                    <a:lstStyle/>
                    <a:p>
                      <a:r>
                        <a:rPr sz="950" b="0" i="0">
                          <a:solidFill>
                            <a:srgbClr val="202020"/>
                          </a:solidFill>
                          <a:latin typeface="Calibri"/>
                        </a:rPr>
                        <a:t>altrata_erasure_ledger_broken</a:t>
                      </a:r>
                    </a:p>
                  </a:txBody>
                  <a:tcPr marT="12700" marB="12700">
                    <a:solidFill>
                      <a:srgbClr val="FFFFFF"/>
                    </a:solidFill>
                  </a:tcPr>
                </a:tc>
                <a:tc>
                  <a:txBody>
                    <a:bodyPr wrap="square"/>
                    <a:lstStyle/>
                    <a:p>
                      <a:r>
                        <a:rPr sz="950" b="0" i="0">
                          <a:solidFill>
                            <a:srgbClr val="202020"/>
                          </a:solidFill>
                          <a:latin typeface="Calibri"/>
                        </a:rPr>
                        <a:t>gauge</a:t>
                      </a:r>
                    </a:p>
                  </a:txBody>
                  <a:tcPr marT="12700" marB="12700">
                    <a:solidFill>
                      <a:srgbClr val="FFFFFF"/>
                    </a:solidFill>
                  </a:tcPr>
                </a:tc>
                <a:tc>
                  <a:txBody>
                    <a:bodyPr wrap="square"/>
                    <a:lstStyle/>
                    <a:p>
                      <a:r>
                        <a:rPr sz="950" b="0" i="0">
                          <a:solidFill>
                            <a:srgbClr val="202020"/>
                          </a:solidFill>
                          <a:latin typeface="Calibri"/>
                        </a:rPr>
                        <a:t>1 = ledger failed verification — SECURITY-critical (must be 0)</a:t>
                      </a:r>
                    </a:p>
                  </a:txBody>
                  <a:tcPr marT="12700" marB="12700">
                    <a:solidFill>
                      <a:srgbClr val="FFFFFF"/>
                    </a:solidFill>
                  </a:tcPr>
                </a:tc>
              </a:tr>
              <a:tr h="384048">
                <a:tc>
                  <a:txBody>
                    <a:bodyPr wrap="square"/>
                    <a:lstStyle/>
                    <a:p>
                      <a:r>
                        <a:rPr sz="950" b="0" i="0">
                          <a:solidFill>
                            <a:srgbClr val="202020"/>
                          </a:solidFill>
                          <a:latin typeface="Calibri"/>
                        </a:rPr>
                        <a:t>altrata_match_review_depth</a:t>
                      </a:r>
                    </a:p>
                  </a:txBody>
                  <a:tcPr marT="12700" marB="12700">
                    <a:solidFill>
                      <a:srgbClr val="F7F9FC"/>
                    </a:solidFill>
                  </a:tcPr>
                </a:tc>
                <a:tc>
                  <a:txBody>
                    <a:bodyPr wrap="square"/>
                    <a:lstStyle/>
                    <a:p>
                      <a:r>
                        <a:rPr sz="950" b="0" i="0">
                          <a:solidFill>
                            <a:srgbClr val="202020"/>
                          </a:solidFill>
                          <a:latin typeface="Calibri"/>
                        </a:rPr>
                        <a:t>gauge</a:t>
                      </a:r>
                    </a:p>
                  </a:txBody>
                  <a:tcPr marT="12700" marB="12700">
                    <a:solidFill>
                      <a:srgbClr val="F7F9FC"/>
                    </a:solidFill>
                  </a:tcPr>
                </a:tc>
                <a:tc>
                  <a:txBody>
                    <a:bodyPr wrap="square"/>
                    <a:lstStyle/>
                    <a:p>
                      <a:r>
                        <a:rPr sz="950" b="0" i="0">
                          <a:solidFill>
                            <a:srgbClr val="202020"/>
                          </a:solidFill>
                          <a:latin typeface="Calibri"/>
                        </a:rPr>
                        <a:t>Entity-match review backlog awaiting a human</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650</a:t>
            </a:r>
          </a:p>
        </p:txBody>
      </p:sp>
    </p:spTree>
  </p:cSld>
  <p:clrMapOvr>
    <a:masterClrMapping/>
  </p:clrMapOvr>
</p:sld>
</file>

<file path=ppt/slides/slide6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Key metrics (cont.)</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Metric</a:t>
                      </a:r>
                    </a:p>
                  </a:txBody>
                  <a:tcPr marT="25400" marB="25400">
                    <a:solidFill>
                      <a:srgbClr val="2E5496"/>
                    </a:solidFill>
                  </a:tcPr>
                </a:tc>
                <a:tc>
                  <a:txBody>
                    <a:bodyPr wrap="square"/>
                    <a:lstStyle/>
                    <a:p>
                      <a:r>
                        <a:rPr sz="1050" b="1" i="0">
                          <a:solidFill>
                            <a:srgbClr val="FFFFFF"/>
                          </a:solidFill>
                          <a:latin typeface="Calibri"/>
                        </a:rPr>
                        <a:t>Type</a:t>
                      </a:r>
                    </a:p>
                  </a:txBody>
                  <a:tcPr marT="25400" marB="25400">
                    <a:solidFill>
                      <a:srgbClr val="2E5496"/>
                    </a:solidFill>
                  </a:tcPr>
                </a:tc>
                <a:tc>
                  <a:txBody>
                    <a:bodyPr wrap="square"/>
                    <a:lstStyle/>
                    <a:p>
                      <a:r>
                        <a:rPr sz="1050" b="1" i="0">
                          <a:solidFill>
                            <a:srgbClr val="FFFFFF"/>
                          </a:solidFill>
                          <a:latin typeface="Calibri"/>
                        </a:rPr>
                        <a:t>What it tells you</a:t>
                      </a:r>
                    </a:p>
                  </a:txBody>
                  <a:tcPr marT="25400" marB="25400">
                    <a:solidFill>
                      <a:srgbClr val="2E5496"/>
                    </a:solidFill>
                  </a:tcPr>
                </a:tc>
              </a:tr>
              <a:tr h="384048">
                <a:tc>
                  <a:txBody>
                    <a:bodyPr wrap="square"/>
                    <a:lstStyle/>
                    <a:p>
                      <a:r>
                        <a:rPr sz="950" b="0" i="0">
                          <a:solidFill>
                            <a:srgbClr val="202020"/>
                          </a:solidFill>
                          <a:latin typeface="Calibri"/>
                        </a:rPr>
                        <a:t>altrata_deadletter_depth / _unreplayable</a:t>
                      </a:r>
                    </a:p>
                  </a:txBody>
                  <a:tcPr marT="12700" marB="12700">
                    <a:solidFill>
                      <a:srgbClr val="FFFFFF"/>
                    </a:solidFill>
                  </a:tcPr>
                </a:tc>
                <a:tc>
                  <a:txBody>
                    <a:bodyPr wrap="square"/>
                    <a:lstStyle/>
                    <a:p>
                      <a:r>
                        <a:rPr sz="950" b="0" i="0">
                          <a:solidFill>
                            <a:srgbClr val="202020"/>
                          </a:solidFill>
                          <a:latin typeface="Calibri"/>
                        </a:rPr>
                        <a:t>gauge</a:t>
                      </a:r>
                    </a:p>
                  </a:txBody>
                  <a:tcPr marT="12700" marB="12700">
                    <a:solidFill>
                      <a:srgbClr val="FFFFFF"/>
                    </a:solidFill>
                  </a:tcPr>
                </a:tc>
                <a:tc>
                  <a:txBody>
                    <a:bodyPr wrap="square"/>
                    <a:lstStyle/>
                    <a:p>
                      <a:r>
                        <a:rPr sz="950" b="0" i="0">
                          <a:solidFill>
                            <a:srgbClr val="202020"/>
                          </a:solidFill>
                          <a:latin typeface="Calibri"/>
                        </a:rPr>
                        <a:t>Replayable queue depth / transform failures needing a feed fix</a:t>
                      </a:r>
                    </a:p>
                  </a:txBody>
                  <a:tcPr marT="12700" marB="12700">
                    <a:solidFill>
                      <a:srgbClr val="FFFFFF"/>
                    </a:solidFill>
                  </a:tcPr>
                </a:tc>
              </a:tr>
              <a:tr h="384048">
                <a:tc>
                  <a:txBody>
                    <a:bodyPr wrap="square"/>
                    <a:lstStyle/>
                    <a:p>
                      <a:r>
                        <a:rPr sz="950" b="0" i="0">
                          <a:solidFill>
                            <a:srgbClr val="202020"/>
                          </a:solidFill>
                          <a:latin typeface="Calibri"/>
                        </a:rPr>
                        <a:t>altrata_breaker_open / altrata_breaker_state{dependency}</a:t>
                      </a:r>
                    </a:p>
                  </a:txBody>
                  <a:tcPr marT="12700" marB="12700">
                    <a:solidFill>
                      <a:srgbClr val="F7F9FC"/>
                    </a:solidFill>
                  </a:tcPr>
                </a:tc>
                <a:tc>
                  <a:txBody>
                    <a:bodyPr wrap="square"/>
                    <a:lstStyle/>
                    <a:p>
                      <a:r>
                        <a:rPr sz="950" b="0" i="0">
                          <a:solidFill>
                            <a:srgbClr val="202020"/>
                          </a:solidFill>
                          <a:latin typeface="Calibri"/>
                        </a:rPr>
                        <a:t>gauge</a:t>
                      </a:r>
                    </a:p>
                  </a:txBody>
                  <a:tcPr marT="12700" marB="12700">
                    <a:solidFill>
                      <a:srgbClr val="F7F9FC"/>
                    </a:solidFill>
                  </a:tcPr>
                </a:tc>
                <a:tc>
                  <a:txBody>
                    <a:bodyPr wrap="square"/>
                    <a:lstStyle/>
                    <a:p>
                      <a:r>
                        <a:rPr sz="950" b="0" i="0">
                          <a:solidFill>
                            <a:srgbClr val="202020"/>
                          </a:solidFill>
                          <a:latin typeface="Calibri"/>
                        </a:rPr>
                        <a:t>Degraded mode; per-dependency breaker state (0/1/2)</a:t>
                      </a:r>
                    </a:p>
                  </a:txBody>
                  <a:tcPr marT="12700" marB="12700">
                    <a:solidFill>
                      <a:srgbClr val="F7F9FC"/>
                    </a:solidFill>
                  </a:tcPr>
                </a:tc>
              </a:tr>
              <a:tr h="384048">
                <a:tc>
                  <a:txBody>
                    <a:bodyPr wrap="square"/>
                    <a:lstStyle/>
                    <a:p>
                      <a:r>
                        <a:rPr sz="950" b="0" i="0">
                          <a:solidFill>
                            <a:srgbClr val="202020"/>
                          </a:solidFill>
                          <a:latin typeface="Calibri"/>
                        </a:rPr>
                        <a:t>altrata_graph_throttle_429_total</a:t>
                      </a:r>
                    </a:p>
                  </a:txBody>
                  <a:tcPr marT="12700" marB="12700">
                    <a:solidFill>
                      <a:srgbClr val="FFFFFF"/>
                    </a:solidFill>
                  </a:tcPr>
                </a:tc>
                <a:tc>
                  <a:txBody>
                    <a:bodyPr wrap="square"/>
                    <a:lstStyle/>
                    <a:p>
                      <a:r>
                        <a:rPr sz="950" b="0" i="0">
                          <a:solidFill>
                            <a:srgbClr val="202020"/>
                          </a:solidFill>
                          <a:latin typeface="Calibri"/>
                        </a:rPr>
                        <a:t>counter</a:t>
                      </a:r>
                    </a:p>
                  </a:txBody>
                  <a:tcPr marT="12700" marB="12700">
                    <a:solidFill>
                      <a:srgbClr val="FFFFFF"/>
                    </a:solidFill>
                  </a:tcPr>
                </a:tc>
                <a:tc>
                  <a:txBody>
                    <a:bodyPr wrap="square"/>
                    <a:lstStyle/>
                    <a:p>
                      <a:r>
                        <a:rPr sz="950" b="0" i="0">
                          <a:solidFill>
                            <a:srgbClr val="202020"/>
                          </a:solidFill>
                          <a:latin typeface="Calibri"/>
                        </a:rPr>
                        <a:t>Graph 429 throttling events</a:t>
                      </a:r>
                    </a:p>
                  </a:txBody>
                  <a:tcPr marT="12700" marB="12700">
                    <a:solidFill>
                      <a:srgbClr val="FFFFFF"/>
                    </a:solidFill>
                  </a:tcPr>
                </a:tc>
              </a:tr>
              <a:tr h="384048">
                <a:tc>
                  <a:txBody>
                    <a:bodyPr wrap="square"/>
                    <a:lstStyle/>
                    <a:p>
                      <a:r>
                        <a:rPr sz="950" b="0" i="0">
                          <a:solidFill>
                            <a:srgbClr val="202020"/>
                          </a:solidFill>
                          <a:latin typeface="Calibri"/>
                        </a:rPr>
                        <a:t>altrata_ha_leases_held / altrata_crawl_in_progress</a:t>
                      </a:r>
                    </a:p>
                  </a:txBody>
                  <a:tcPr marT="12700" marB="12700">
                    <a:solidFill>
                      <a:srgbClr val="F7F9FC"/>
                    </a:solidFill>
                  </a:tcPr>
                </a:tc>
                <a:tc>
                  <a:txBody>
                    <a:bodyPr wrap="square"/>
                    <a:lstStyle/>
                    <a:p>
                      <a:r>
                        <a:rPr sz="950" b="0" i="0">
                          <a:solidFill>
                            <a:srgbClr val="202020"/>
                          </a:solidFill>
                          <a:latin typeface="Calibri"/>
                        </a:rPr>
                        <a:t>gauge</a:t>
                      </a:r>
                    </a:p>
                  </a:txBody>
                  <a:tcPr marT="12700" marB="12700">
                    <a:solidFill>
                      <a:srgbClr val="F7F9FC"/>
                    </a:solidFill>
                  </a:tcPr>
                </a:tc>
                <a:tc>
                  <a:txBody>
                    <a:bodyPr wrap="square"/>
                    <a:lstStyle/>
                    <a:p>
                      <a:r>
                        <a:rPr sz="950" b="0" i="0">
                          <a:solidFill>
                            <a:srgbClr val="202020"/>
                          </a:solidFill>
                          <a:latin typeface="Calibri"/>
                        </a:rPr>
                        <a:t>HA lease ownership / whether a crawl is running now</a:t>
                      </a:r>
                    </a:p>
                  </a:txBody>
                  <a:tcPr marT="12700" marB="12700">
                    <a:solidFill>
                      <a:srgbClr val="F7F9FC"/>
                    </a:solidFill>
                  </a:tcPr>
                </a:tc>
              </a:tr>
              <a:tr h="384048">
                <a:tc>
                  <a:txBody>
                    <a:bodyPr wrap="square"/>
                    <a:lstStyle/>
                    <a:p>
                      <a:r>
                        <a:rPr sz="950" b="0" i="0">
                          <a:solidFill>
                            <a:srgbClr val="202020"/>
                          </a:solidFill>
                          <a:latin typeface="Calibri"/>
                        </a:rPr>
                        <a:t>altrata_last_full_crawl_timestamp_seconds / ..._incremental_...</a:t>
                      </a:r>
                    </a:p>
                  </a:txBody>
                  <a:tcPr marT="12700" marB="12700">
                    <a:solidFill>
                      <a:srgbClr val="FFFFFF"/>
                    </a:solidFill>
                  </a:tcPr>
                </a:tc>
                <a:tc>
                  <a:txBody>
                    <a:bodyPr wrap="square"/>
                    <a:lstStyle/>
                    <a:p>
                      <a:r>
                        <a:rPr sz="950" b="0" i="0">
                          <a:solidFill>
                            <a:srgbClr val="202020"/>
                          </a:solidFill>
                          <a:latin typeface="Calibri"/>
                        </a:rPr>
                        <a:t>gauge</a:t>
                      </a:r>
                    </a:p>
                  </a:txBody>
                  <a:tcPr marT="12700" marB="12700">
                    <a:solidFill>
                      <a:srgbClr val="FFFFFF"/>
                    </a:solidFill>
                  </a:tcPr>
                </a:tc>
                <a:tc>
                  <a:txBody>
                    <a:bodyPr wrap="square"/>
                    <a:lstStyle/>
                    <a:p>
                      <a:r>
                        <a:rPr sz="950" b="0" i="0">
                          <a:solidFill>
                            <a:srgbClr val="202020"/>
                          </a:solidFill>
                          <a:latin typeface="Calibri"/>
                        </a:rPr>
                        <a:t>When the last crawl completed — should keep advancing</a:t>
                      </a:r>
                    </a:p>
                  </a:txBody>
                  <a:tcPr marT="12700" marB="12700">
                    <a:solidFill>
                      <a:srgbClr val="FFFFFF"/>
                    </a:solidFill>
                  </a:tcPr>
                </a:tc>
              </a:tr>
              <a:tr h="384048">
                <a:tc>
                  <a:txBody>
                    <a:bodyPr wrap="square"/>
                    <a:lstStyle/>
                    <a:p>
                      <a:r>
                        <a:rPr sz="950" b="0" i="0">
                          <a:solidFill>
                            <a:srgbClr val="202020"/>
                          </a:solidFill>
                          <a:latin typeface="Calibri"/>
                        </a:rPr>
                        <a:t>altrata_api_billable_lookups_total</a:t>
                      </a:r>
                    </a:p>
                  </a:txBody>
                  <a:tcPr marT="12700" marB="12700">
                    <a:solidFill>
                      <a:srgbClr val="F7F9FC"/>
                    </a:solidFill>
                  </a:tcPr>
                </a:tc>
                <a:tc>
                  <a:txBody>
                    <a:bodyPr wrap="square"/>
                    <a:lstStyle/>
                    <a:p>
                      <a:r>
                        <a:rPr sz="950" b="0" i="0">
                          <a:solidFill>
                            <a:srgbClr val="202020"/>
                          </a:solidFill>
                          <a:latin typeface="Calibri"/>
                        </a:rPr>
                        <a:t>counter</a:t>
                      </a:r>
                    </a:p>
                  </a:txBody>
                  <a:tcPr marT="12700" marB="12700">
                    <a:solidFill>
                      <a:srgbClr val="F7F9FC"/>
                    </a:solidFill>
                  </a:tcPr>
                </a:tc>
                <a:tc>
                  <a:txBody>
                    <a:bodyPr wrap="square"/>
                    <a:lstStyle/>
                    <a:p>
                      <a:r>
                        <a:rPr sz="950" b="0" i="0">
                          <a:solidFill>
                            <a:srgbClr val="202020"/>
                          </a:solidFill>
                          <a:latin typeface="Calibri"/>
                        </a:rPr>
                        <a:t>Lifetime billable Altrata API lookups (cost tracking)</a:t>
                      </a:r>
                    </a:p>
                  </a:txBody>
                  <a:tcPr marT="12700" marB="12700">
                    <a:solidFill>
                      <a:srgbClr val="F7F9FC"/>
                    </a:solidFill>
                  </a:tcPr>
                </a:tc>
              </a:tr>
              <a:tr h="384048">
                <a:tc>
                  <a:txBody>
                    <a:bodyPr wrap="square"/>
                    <a:lstStyle/>
                    <a:p>
                      <a:r>
                        <a:rPr sz="950" b="0" i="0">
                          <a:solidFill>
                            <a:srgbClr val="202020"/>
                          </a:solidFill>
                          <a:latin typeface="Calibri"/>
                        </a:rPr>
                        <a:t>altrata_purpose_denied_total</a:t>
                      </a:r>
                    </a:p>
                  </a:txBody>
                  <a:tcPr marT="12700" marB="12700">
                    <a:solidFill>
                      <a:srgbClr val="FFFFFF"/>
                    </a:solidFill>
                  </a:tcPr>
                </a:tc>
                <a:tc>
                  <a:txBody>
                    <a:bodyPr wrap="square"/>
                    <a:lstStyle/>
                    <a:p>
                      <a:r>
                        <a:rPr sz="950" b="0" i="0">
                          <a:solidFill>
                            <a:srgbClr val="202020"/>
                          </a:solidFill>
                          <a:latin typeface="Calibri"/>
                        </a:rPr>
                        <a:t>counter</a:t>
                      </a:r>
                    </a:p>
                  </a:txBody>
                  <a:tcPr marT="12700" marB="12700">
                    <a:solidFill>
                      <a:srgbClr val="FFFFFF"/>
                    </a:solidFill>
                  </a:tcPr>
                </a:tc>
                <a:tc>
                  <a:txBody>
                    <a:bodyPr wrap="square"/>
                    <a:lstStyle/>
                    <a:p>
                      <a:r>
                        <a:rPr sz="950" b="0" i="0">
                          <a:solidFill>
                            <a:srgbClr val="202020"/>
                          </a:solidFill>
                          <a:latin typeface="Calibri"/>
                        </a:rPr>
                        <a:t>Lookups vetoed fail-closed by PURPOSE_ALLOWLIST (disallowed/empty purpose)</a:t>
                      </a:r>
                    </a:p>
                  </a:txBody>
                  <a:tcPr marT="12700" marB="12700">
                    <a:solidFill>
                      <a:srgbClr val="FFFFFF"/>
                    </a:solidFill>
                  </a:tcPr>
                </a:tc>
              </a:tr>
              <a:tr h="384048">
                <a:tc>
                  <a:txBody>
                    <a:bodyPr wrap="square"/>
                    <a:lstStyle/>
                    <a:p>
                      <a:r>
                        <a:rPr sz="950" b="0" i="0">
                          <a:solidFill>
                            <a:srgbClr val="202020"/>
                          </a:solidFill>
                          <a:latin typeface="Calibri"/>
                        </a:rPr>
                        <a:t>altrata_decision_ledger_broken</a:t>
                      </a:r>
                    </a:p>
                  </a:txBody>
                  <a:tcPr marT="12700" marB="12700">
                    <a:solidFill>
                      <a:srgbClr val="F7F9FC"/>
                    </a:solidFill>
                  </a:tcPr>
                </a:tc>
                <a:tc>
                  <a:txBody>
                    <a:bodyPr wrap="square"/>
                    <a:lstStyle/>
                    <a:p>
                      <a:r>
                        <a:rPr sz="950" b="0" i="0">
                          <a:solidFill>
                            <a:srgbClr val="202020"/>
                          </a:solidFill>
                          <a:latin typeface="Calibri"/>
                        </a:rPr>
                        <a:t>gauge</a:t>
                      </a:r>
                    </a:p>
                  </a:txBody>
                  <a:tcPr marT="12700" marB="12700">
                    <a:solidFill>
                      <a:srgbClr val="F7F9FC"/>
                    </a:solidFill>
                  </a:tcPr>
                </a:tc>
                <a:tc>
                  <a:txBody>
                    <a:bodyPr wrap="square"/>
                    <a:lstStyle/>
                    <a:p>
                      <a:r>
                        <a:rPr sz="950" b="0" i="0">
                          <a:solidFill>
                            <a:srgbClr val="202020"/>
                          </a:solidFill>
                          <a:latin typeface="Calibri"/>
                        </a:rPr>
                        <a:t>1 = decision ledger failed verification — SECURITY-critical (must be 0)</a:t>
                      </a:r>
                    </a:p>
                  </a:txBody>
                  <a:tcPr marT="12700" marB="12700">
                    <a:solidFill>
                      <a:srgbClr val="F7F9FC"/>
                    </a:solidFill>
                  </a:tcPr>
                </a:tc>
              </a:tr>
              <a:tr h="384048">
                <a:tc>
                  <a:txBody>
                    <a:bodyPr wrap="square"/>
                    <a:lstStyle/>
                    <a:p>
                      <a:r>
                        <a:rPr sz="950" b="0" i="0">
                          <a:solidFill>
                            <a:srgbClr val="202020"/>
                          </a:solidFill>
                          <a:latin typeface="Calibri"/>
                        </a:rPr>
                        <a:t>altrata_items_acl_restricted_total</a:t>
                      </a:r>
                    </a:p>
                  </a:txBody>
                  <a:tcPr marT="12700" marB="12700">
                    <a:solidFill>
                      <a:srgbClr val="FFFFFF"/>
                    </a:solidFill>
                  </a:tcPr>
                </a:tc>
                <a:tc>
                  <a:txBody>
                    <a:bodyPr wrap="square"/>
                    <a:lstStyle/>
                    <a:p>
                      <a:r>
                        <a:rPr sz="950" b="0" i="0">
                          <a:solidFill>
                            <a:srgbClr val="202020"/>
                          </a:solidFill>
                          <a:latin typeface="Calibri"/>
                        </a:rPr>
                        <a:t>counter</a:t>
                      </a:r>
                    </a:p>
                  </a:txBody>
                  <a:tcPr marT="12700" marB="12700">
                    <a:solidFill>
                      <a:srgbClr val="FFFFFF"/>
                    </a:solidFill>
                  </a:tcPr>
                </a:tc>
                <a:tc>
                  <a:txBody>
                    <a:bodyPr wrap="square"/>
                    <a:lstStyle/>
                    <a:p>
                      <a:r>
                        <a:rPr sz="950" b="0" i="0">
                          <a:solidFill>
                            <a:srgbClr val="202020"/>
                          </a:solidFill>
                          <a:latin typeface="Calibri"/>
                        </a:rPr>
                        <a:t>Restricted-tier items locked to the enforcement group (CLASSIFICATION_ENFORCE_ACL)</a:t>
                      </a:r>
                    </a:p>
                  </a:txBody>
                  <a:tcPr marT="12700" marB="12700">
                    <a:solidFill>
                      <a:srgbClr val="FFFFFF"/>
                    </a:solidFill>
                  </a:tcPr>
                </a:tc>
              </a:tr>
              <a:tr h="384048">
                <a:tc>
                  <a:txBody>
                    <a:bodyPr wrap="square"/>
                    <a:lstStyle/>
                    <a:p>
                      <a:r>
                        <a:rPr sz="950" b="0" i="0">
                          <a:solidFill>
                            <a:srgbClr val="202020"/>
                          </a:solidFill>
                          <a:latin typeface="Calibri"/>
                        </a:rPr>
                        <a:t>altrata_items_expiring_total</a:t>
                      </a:r>
                    </a:p>
                  </a:txBody>
                  <a:tcPr marT="12700" marB="12700">
                    <a:solidFill>
                      <a:srgbClr val="F7F9FC"/>
                    </a:solidFill>
                  </a:tcPr>
                </a:tc>
                <a:tc>
                  <a:txBody>
                    <a:bodyPr wrap="square"/>
                    <a:lstStyle/>
                    <a:p>
                      <a:r>
                        <a:rPr sz="950" b="0" i="0">
                          <a:solidFill>
                            <a:srgbClr val="202020"/>
                          </a:solidFill>
                          <a:latin typeface="Calibri"/>
                        </a:rPr>
                        <a:t>counter</a:t>
                      </a:r>
                    </a:p>
                  </a:txBody>
                  <a:tcPr marT="12700" marB="12700">
                    <a:solidFill>
                      <a:srgbClr val="F7F9FC"/>
                    </a:solidFill>
                  </a:tcPr>
                </a:tc>
                <a:tc>
                  <a:txBody>
                    <a:bodyPr wrap="square"/>
                    <a:lstStyle/>
                    <a:p>
                      <a:r>
                        <a:rPr sz="950" b="0" i="0">
                          <a:solidFill>
                            <a:srgbClr val="202020"/>
                          </a:solidFill>
                          <a:latin typeface="Calibri"/>
                        </a:rPr>
                        <a:t>Items stamped an expirationDateTime (GRAPH_ITEM_TTL_DAYS)</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651</a:t>
            </a:r>
          </a:p>
        </p:txBody>
      </p:sp>
    </p:spTree>
  </p:cSld>
  <p:clrMapOvr>
    <a:masterClrMapping/>
  </p:clrMapOvr>
</p:sld>
</file>

<file path=ppt/slides/slide6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Dashboard panels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shipped Grafana dashboard (</a:t>
            </a:r>
            <a:r>
              <a:rPr sz="1200" b="0" i="0">
                <a:solidFill>
                  <a:srgbClr val="202020"/>
                </a:solidFill>
                <a:latin typeface="Consolas"/>
              </a:rPr>
              <a:t>ops/grafana-dashboard.json</a:t>
            </a:r>
            <a:r>
              <a:rPr sz="1250" b="0" i="0">
                <a:solidFill>
                  <a:srgbClr val="202020"/>
                </a:solidFill>
                <a:latin typeface="Calibri"/>
              </a:rPr>
              <a:t>) has panels for: Ingest throughput; Ingested vs failed vs suppressed; Dead-letter depth; Graph 429 throttles &amp; retries; Circuit breaker; </a:t>
            </a:r>
            <a:r>
              <a:rPr sz="1250" b="1" i="0">
                <a:solidFill>
                  <a:srgbClr val="202020"/>
                </a:solidFill>
                <a:latin typeface="Calibri"/>
              </a:rPr>
              <a:t>Erasure ledger integrity</a:t>
            </a:r>
            <a:r>
              <a:rPr sz="1250" b="0" i="0">
                <a:solidFill>
                  <a:srgbClr val="202020"/>
                </a:solidFill>
                <a:latin typeface="Calibri"/>
              </a:rPr>
              <a:t>; </a:t>
            </a:r>
            <a:r>
              <a:rPr sz="1250" b="1" i="0">
                <a:solidFill>
                  <a:srgbClr val="202020"/>
                </a:solidFill>
                <a:latin typeface="Calibri"/>
              </a:rPr>
              <a:t>Entitlement refusals</a:t>
            </a:r>
            <a:r>
              <a:rPr sz="1250" b="0" i="0">
                <a:solidFill>
                  <a:srgbClr val="202020"/>
                </a:solidFill>
                <a:latin typeface="Calibri"/>
              </a:rPr>
              <a:t>; </a:t>
            </a:r>
            <a:r>
              <a:rPr sz="1250" b="1" i="0">
                <a:solidFill>
                  <a:srgbClr val="202020"/>
                </a:solidFill>
                <a:latin typeface="Calibri"/>
              </a:rPr>
              <a:t>Erasure operations (DSAR)</a:t>
            </a:r>
            <a:r>
              <a:rPr sz="1250" b="0" i="0">
                <a:solidFill>
                  <a:srgbClr val="202020"/>
                </a:solidFill>
                <a:latin typeface="Calibri"/>
              </a:rPr>
              <a:t>; Review queue &amp; HA leases; Deliveries processed vs rejected; Crawl freshness; and Ops counters.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652</a:t>
            </a:r>
          </a:p>
        </p:txBody>
      </p:sp>
    </p:spTree>
  </p:cSld>
  <p:clrMapOvr>
    <a:masterClrMapping/>
  </p:clrMapOvr>
</p:sld>
</file>

<file path=ppt/slides/slide6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Alerts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Metric alerts ship in </a:t>
            </a:r>
            <a:r>
              <a:rPr sz="1200" b="0" i="0">
                <a:solidFill>
                  <a:srgbClr val="202020"/>
                </a:solidFill>
                <a:latin typeface="Consolas"/>
              </a:rPr>
              <a:t>ops/prometheus-alerts.yml</a:t>
            </a:r>
            <a:r>
              <a:rPr sz="1250" b="0" i="0">
                <a:solidFill>
                  <a:srgbClr val="202020"/>
                </a:solidFill>
                <a:latin typeface="Calibri"/>
              </a:rPr>
              <a:t> / </a:t>
            </a:r>
            <a:r>
              <a:rPr sz="1200" b="0" i="0">
                <a:solidFill>
                  <a:srgbClr val="202020"/>
                </a:solidFill>
                <a:latin typeface="Consolas"/>
              </a:rPr>
              <a:t>ops/azure-monitor-alerts.kql</a:t>
            </a:r>
            <a:r>
              <a:rPr sz="1250" b="0" i="0">
                <a:solidFill>
                  <a:srgbClr val="202020"/>
                </a:solidFill>
                <a:latin typeface="Calibri"/>
              </a:rPr>
              <a:t>; each links to a runbook. The two security-class rules must page the security rotation, not just ops.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653</a:t>
            </a:r>
          </a:p>
        </p:txBody>
      </p:sp>
    </p:spTree>
  </p:cSld>
  <p:clrMapOvr>
    <a:masterClrMapping/>
  </p:clrMapOvr>
</p:sld>
</file>

<file path=ppt/slides/slide6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Alerts</a:t>
            </a:r>
          </a:p>
        </p:txBody>
      </p:sp>
      <p:graphicFrame>
        <p:nvGraphicFramePr>
          <p:cNvPr id="5" name="Table 4"/>
          <p:cNvGraphicFramePr>
            <a:graphicFrameLocks noGrp="1"/>
          </p:cNvGraphicFramePr>
          <p:nvPr/>
        </p:nvGraphicFramePr>
        <p:xfrm>
          <a:off x="502920" y="1188720"/>
          <a:ext cx="11185855" cy="3456432"/>
        </p:xfrm>
        <a:graphic>
          <a:graphicData uri="http://schemas.openxmlformats.org/drawingml/2006/table">
            <a:tbl>
              <a:tblPr firstRow="1" bandRow="1">
                <a:tableStyleId>{5C22544A-7EE6-4342-B048-85BDC9FD1C3A}</a:tableStyleId>
              </a:tblPr>
              <a:tblGrid>
                <a:gridCol w="2796463"/>
                <a:gridCol w="2796463"/>
                <a:gridCol w="2796463"/>
                <a:gridCol w="2796466"/>
              </a:tblGrid>
              <a:tr h="384048">
                <a:tc>
                  <a:txBody>
                    <a:bodyPr wrap="square"/>
                    <a:lstStyle/>
                    <a:p>
                      <a:r>
                        <a:rPr sz="1050" b="1" i="0">
                          <a:solidFill>
                            <a:srgbClr val="FFFFFF"/>
                          </a:solidFill>
                          <a:latin typeface="Calibri"/>
                        </a:rPr>
                        <a:t>Alert</a:t>
                      </a:r>
                    </a:p>
                  </a:txBody>
                  <a:tcPr marT="25400" marB="25400">
                    <a:solidFill>
                      <a:srgbClr val="2E5496"/>
                    </a:solidFill>
                  </a:tcPr>
                </a:tc>
                <a:tc>
                  <a:txBody>
                    <a:bodyPr wrap="square"/>
                    <a:lstStyle/>
                    <a:p>
                      <a:r>
                        <a:rPr sz="1050" b="1" i="0">
                          <a:solidFill>
                            <a:srgbClr val="FFFFFF"/>
                          </a:solidFill>
                          <a:latin typeface="Calibri"/>
                        </a:rPr>
                        <a:t>Severity</a:t>
                      </a:r>
                    </a:p>
                  </a:txBody>
                  <a:tcPr marT="25400" marB="25400">
                    <a:solidFill>
                      <a:srgbClr val="2E5496"/>
                    </a:solidFill>
                  </a:tcPr>
                </a:tc>
                <a:tc>
                  <a:txBody>
                    <a:bodyPr wrap="square"/>
                    <a:lstStyle/>
                    <a:p>
                      <a:r>
                        <a:rPr sz="1050" b="1" i="0">
                          <a:solidFill>
                            <a:srgbClr val="FFFFFF"/>
                          </a:solidFill>
                          <a:latin typeface="Calibri"/>
                        </a:rPr>
                        <a:t>Fires when</a:t>
                      </a:r>
                    </a:p>
                  </a:txBody>
                  <a:tcPr marT="25400" marB="25400">
                    <a:solidFill>
                      <a:srgbClr val="2E5496"/>
                    </a:solidFill>
                  </a:tcPr>
                </a:tc>
                <a:tc>
                  <a:txBody>
                    <a:bodyPr wrap="square"/>
                    <a:lstStyle/>
                    <a:p>
                      <a:r>
                        <a:rPr sz="1050" b="1" i="0">
                          <a:solidFill>
                            <a:srgbClr val="FFFFFF"/>
                          </a:solidFill>
                          <a:latin typeface="Calibri"/>
                        </a:rPr>
                        <a:t>Action</a:t>
                      </a:r>
                    </a:p>
                  </a:txBody>
                  <a:tcPr marT="25400" marB="25400">
                    <a:solidFill>
                      <a:srgbClr val="2E5496"/>
                    </a:solidFill>
                  </a:tcPr>
                </a:tc>
              </a:tr>
              <a:tr h="384048">
                <a:tc>
                  <a:txBody>
                    <a:bodyPr wrap="square"/>
                    <a:lstStyle/>
                    <a:p>
                      <a:r>
                        <a:rPr sz="950" b="0" i="0">
                          <a:solidFill>
                            <a:srgbClr val="202020"/>
                          </a:solidFill>
                          <a:latin typeface="Calibri"/>
                        </a:rPr>
                        <a:t>AltrataErasureLedgerBroken</a:t>
                      </a:r>
                    </a:p>
                  </a:txBody>
                  <a:tcPr marT="12700" marB="12700">
                    <a:solidFill>
                      <a:srgbClr val="FFFFFF"/>
                    </a:solidFill>
                  </a:tcPr>
                </a:tc>
                <a:tc>
                  <a:txBody>
                    <a:bodyPr wrap="square"/>
                    <a:lstStyle/>
                    <a:p>
                      <a:r>
                        <a:rPr sz="950" b="0" i="0">
                          <a:solidFill>
                            <a:srgbClr val="202020"/>
                          </a:solidFill>
                          <a:latin typeface="Calibri"/>
                        </a:rPr>
                        <a:t>critical / security</a:t>
                      </a:r>
                    </a:p>
                  </a:txBody>
                  <a:tcPr marT="12700" marB="12700">
                    <a:solidFill>
                      <a:srgbClr val="FFFFFF"/>
                    </a:solidFill>
                  </a:tcPr>
                </a:tc>
                <a:tc>
                  <a:txBody>
                    <a:bodyPr wrap="square"/>
                    <a:lstStyle/>
                    <a:p>
                      <a:r>
                        <a:rPr sz="950" b="0" i="0">
                          <a:solidFill>
                            <a:srgbClr val="202020"/>
                          </a:solidFill>
                          <a:latin typeface="Calibri"/>
                        </a:rPr>
                        <a:t>Ledger fails hash-chain verification</a:t>
                      </a:r>
                    </a:p>
                  </a:txBody>
                  <a:tcPr marT="12700" marB="12700">
                    <a:solidFill>
                      <a:srgbClr val="FFFFFF"/>
                    </a:solidFill>
                  </a:tcPr>
                </a:tc>
                <a:tc>
                  <a:txBody>
                    <a:bodyPr wrap="square"/>
                    <a:lstStyle/>
                    <a:p>
                      <a:r>
                        <a:rPr sz="950" b="0" i="0">
                          <a:solidFill>
                            <a:srgbClr val="202020"/>
                          </a:solidFill>
                          <a:latin typeface="Calibri"/>
                        </a:rPr>
                        <a:t>Do not touch the ledger; triage tamper vs torn (section 13); tamper = security incident + DPO</a:t>
                      </a:r>
                    </a:p>
                  </a:txBody>
                  <a:tcPr marT="12700" marB="12700">
                    <a:solidFill>
                      <a:srgbClr val="FFFFFF"/>
                    </a:solidFill>
                  </a:tcPr>
                </a:tc>
              </a:tr>
              <a:tr h="384048">
                <a:tc>
                  <a:txBody>
                    <a:bodyPr wrap="square"/>
                    <a:lstStyle/>
                    <a:p>
                      <a:r>
                        <a:rPr sz="950" b="0" i="0">
                          <a:solidFill>
                            <a:srgbClr val="202020"/>
                          </a:solidFill>
                          <a:latin typeface="Calibri"/>
                        </a:rPr>
                        <a:t>AltrataEntitlementRefusals</a:t>
                      </a:r>
                    </a:p>
                  </a:txBody>
                  <a:tcPr marT="12700" marB="12700">
                    <a:solidFill>
                      <a:srgbClr val="F7F9FC"/>
                    </a:solidFill>
                  </a:tcPr>
                </a:tc>
                <a:tc>
                  <a:txBody>
                    <a:bodyPr wrap="square"/>
                    <a:lstStyle/>
                    <a:p>
                      <a:r>
                        <a:rPr sz="950" b="0" i="0">
                          <a:solidFill>
                            <a:srgbClr val="202020"/>
                          </a:solidFill>
                          <a:latin typeface="Calibri"/>
                        </a:rPr>
                        <a:t>high / security</a:t>
                      </a:r>
                    </a:p>
                  </a:txBody>
                  <a:tcPr marT="12700" marB="12700">
                    <a:solidFill>
                      <a:srgbClr val="F7F9FC"/>
                    </a:solidFill>
                  </a:tcPr>
                </a:tc>
                <a:tc>
                  <a:txBody>
                    <a:bodyPr wrap="square"/>
                    <a:lstStyle/>
                    <a:p>
                      <a:r>
                        <a:rPr sz="950" b="0" i="0">
                          <a:solidFill>
                            <a:srgbClr val="202020"/>
                          </a:solidFill>
                          <a:latin typeface="Calibri"/>
                        </a:rPr>
                        <a:t>Any entitlement refusal in 15m</a:t>
                      </a:r>
                    </a:p>
                  </a:txBody>
                  <a:tcPr marT="12700" marB="12700">
                    <a:solidFill>
                      <a:srgbClr val="F7F9FC"/>
                    </a:solidFill>
                  </a:tcPr>
                </a:tc>
                <a:tc>
                  <a:txBody>
                    <a:bodyPr wrap="square"/>
                    <a:lstStyle/>
                    <a:p>
                      <a:r>
                        <a:rPr sz="950" b="0" i="0">
                          <a:solidFill>
                            <a:srgbClr val="202020"/>
                          </a:solidFill>
                          <a:latin typeface="Calibri"/>
                        </a:rPr>
                        <a:t>Fix the seat source; never widen it; a burst may be boundary probing</a:t>
                      </a:r>
                    </a:p>
                  </a:txBody>
                  <a:tcPr marT="12700" marB="12700">
                    <a:solidFill>
                      <a:srgbClr val="F7F9FC"/>
                    </a:solidFill>
                  </a:tcPr>
                </a:tc>
              </a:tr>
              <a:tr h="384048">
                <a:tc>
                  <a:txBody>
                    <a:bodyPr wrap="square"/>
                    <a:lstStyle/>
                    <a:p>
                      <a:r>
                        <a:rPr sz="950" b="0" i="0">
                          <a:solidFill>
                            <a:srgbClr val="202020"/>
                          </a:solidFill>
                          <a:latin typeface="Calibri"/>
                        </a:rPr>
                        <a:t>AltrataDeliveryRejected</a:t>
                      </a:r>
                    </a:p>
                  </a:txBody>
                  <a:tcPr marT="12700" marB="12700">
                    <a:solidFill>
                      <a:srgbClr val="FFFFFF"/>
                    </a:solidFill>
                  </a:tcPr>
                </a:tc>
                <a:tc>
                  <a:txBody>
                    <a:bodyPr wrap="square"/>
                    <a:lstStyle/>
                    <a:p>
                      <a:r>
                        <a:rPr sz="950" b="0" i="0">
                          <a:solidFill>
                            <a:srgbClr val="202020"/>
                          </a:solidFill>
                          <a:latin typeface="Calibri"/>
                        </a:rPr>
                        <a:t>high</a:t>
                      </a:r>
                    </a:p>
                  </a:txBody>
                  <a:tcPr marT="12700" marB="12700">
                    <a:solidFill>
                      <a:srgbClr val="FFFFFF"/>
                    </a:solidFill>
                  </a:tcPr>
                </a:tc>
                <a:tc>
                  <a:txBody>
                    <a:bodyPr wrap="square"/>
                    <a:lstStyle/>
                    <a:p>
                      <a:r>
                        <a:rPr sz="950" b="0" i="0">
                          <a:solidFill>
                            <a:srgbClr val="202020"/>
                          </a:solidFill>
                          <a:latin typeface="Calibri"/>
                        </a:rPr>
                        <a:t>A delivery is checksum-rejected</a:t>
                      </a:r>
                    </a:p>
                  </a:txBody>
                  <a:tcPr marT="12700" marB="12700">
                    <a:solidFill>
                      <a:srgbClr val="FFFFFF"/>
                    </a:solidFill>
                  </a:tcPr>
                </a:tc>
                <a:tc>
                  <a:txBody>
                    <a:bodyPr wrap="square"/>
                    <a:lstStyle/>
                    <a:p>
                      <a:r>
                        <a:rPr sz="950" b="0" i="0">
                          <a:solidFill>
                            <a:srgbClr val="202020"/>
                          </a:solidFill>
                          <a:latin typeface="Calibri"/>
                        </a:rPr>
                        <a:t>Re-transfer; unexplained mismatch = possible tampering, escalate to security</a:t>
                      </a:r>
                    </a:p>
                  </a:txBody>
                  <a:tcPr marT="12700" marB="12700">
                    <a:solidFill>
                      <a:srgbClr val="FFFFFF"/>
                    </a:solidFill>
                  </a:tcPr>
                </a:tc>
              </a:tr>
              <a:tr h="384048">
                <a:tc>
                  <a:txBody>
                    <a:bodyPr wrap="square"/>
                    <a:lstStyle/>
                    <a:p>
                      <a:r>
                        <a:rPr sz="950" b="0" i="0">
                          <a:solidFill>
                            <a:srgbClr val="202020"/>
                          </a:solidFill>
                          <a:latin typeface="Calibri"/>
                        </a:rPr>
                        <a:t>AltrataBreakerOpen</a:t>
                      </a:r>
                    </a:p>
                  </a:txBody>
                  <a:tcPr marT="12700" marB="12700">
                    <a:solidFill>
                      <a:srgbClr val="F7F9FC"/>
                    </a:solidFill>
                  </a:tcPr>
                </a:tc>
                <a:tc>
                  <a:txBody>
                    <a:bodyPr wrap="square"/>
                    <a:lstStyle/>
                    <a:p>
                      <a:r>
                        <a:rPr sz="950" b="0" i="0">
                          <a:solidFill>
                            <a:srgbClr val="202020"/>
                          </a:solidFill>
                          <a:latin typeface="Calibri"/>
                        </a:rPr>
                        <a:t>warning</a:t>
                      </a:r>
                    </a:p>
                  </a:txBody>
                  <a:tcPr marT="12700" marB="12700">
                    <a:solidFill>
                      <a:srgbClr val="F7F9FC"/>
                    </a:solidFill>
                  </a:tcPr>
                </a:tc>
                <a:tc>
                  <a:txBody>
                    <a:bodyPr wrap="square"/>
                    <a:lstStyle/>
                    <a:p>
                      <a:r>
                        <a:rPr sz="950" b="0" i="0">
                          <a:solidFill>
                            <a:srgbClr val="202020"/>
                          </a:solidFill>
                          <a:latin typeface="Calibri"/>
                        </a:rPr>
                        <a:t>Graph breaker open &gt; 5m</a:t>
                      </a:r>
                    </a:p>
                  </a:txBody>
                  <a:tcPr marT="12700" marB="12700">
                    <a:solidFill>
                      <a:srgbClr val="F7F9FC"/>
                    </a:solidFill>
                  </a:tcPr>
                </a:tc>
                <a:tc>
                  <a:txBody>
                    <a:bodyPr wrap="square"/>
                    <a:lstStyle/>
                    <a:p>
                      <a:r>
                        <a:rPr sz="950" b="0" i="0">
                          <a:solidFill>
                            <a:srgbClr val="202020"/>
                          </a:solidFill>
                          <a:latin typeface="Calibri"/>
                        </a:rPr>
                        <a:t>Investigate egress / proxy / Microsoft health</a:t>
                      </a:r>
                    </a:p>
                  </a:txBody>
                  <a:tcPr marT="12700" marB="12700">
                    <a:solidFill>
                      <a:srgbClr val="F7F9FC"/>
                    </a:solidFill>
                  </a:tcPr>
                </a:tc>
              </a:tr>
              <a:tr h="384048">
                <a:tc>
                  <a:txBody>
                    <a:bodyPr wrap="square"/>
                    <a:lstStyle/>
                    <a:p>
                      <a:r>
                        <a:rPr sz="950" b="0" i="0">
                          <a:solidFill>
                            <a:srgbClr val="202020"/>
                          </a:solidFill>
                          <a:latin typeface="Calibri"/>
                        </a:rPr>
                        <a:t>AltrataDeadLetterGrowing / ...Stuck</a:t>
                      </a:r>
                    </a:p>
                  </a:txBody>
                  <a:tcPr marT="12700" marB="12700">
                    <a:solidFill>
                      <a:srgbClr val="FFFFFF"/>
                    </a:solidFill>
                  </a:tcPr>
                </a:tc>
                <a:tc>
                  <a:txBody>
                    <a:bodyPr wrap="square"/>
                    <a:lstStyle/>
                    <a:p>
                      <a:r>
                        <a:rPr sz="950" b="0" i="0">
                          <a:solidFill>
                            <a:srgbClr val="202020"/>
                          </a:solidFill>
                          <a:latin typeface="Calibri"/>
                        </a:rPr>
                        <a:t>warning</a:t>
                      </a:r>
                    </a:p>
                  </a:txBody>
                  <a:tcPr marT="12700" marB="12700">
                    <a:solidFill>
                      <a:srgbClr val="FFFFFF"/>
                    </a:solidFill>
                  </a:tcPr>
                </a:tc>
                <a:tc>
                  <a:txBody>
                    <a:bodyPr wrap="square"/>
                    <a:lstStyle/>
                    <a:p>
                      <a:r>
                        <a:rPr sz="950" b="0" i="0">
                          <a:solidFill>
                            <a:srgbClr val="202020"/>
                          </a:solidFill>
                          <a:latin typeface="Calibri"/>
                        </a:rPr>
                        <a:t>Depth &gt; 100 for 30m, or &gt; 0 for 24h</a:t>
                      </a:r>
                    </a:p>
                  </a:txBody>
                  <a:tcPr marT="12700" marB="12700">
                    <a:solidFill>
                      <a:srgbClr val="FFFFFF"/>
                    </a:solidFill>
                  </a:tcPr>
                </a:tc>
                <a:tc>
                  <a:txBody>
                    <a:bodyPr wrap="square"/>
                    <a:lstStyle/>
                    <a:p>
                      <a:r>
                        <a:rPr sz="950" b="0" i="0">
                          <a:solidFill>
                            <a:srgbClr val="202020"/>
                          </a:solidFill>
                          <a:latin typeface="Calibri"/>
                        </a:rPr>
                        <a:t>retry-failed; a stuck queue may hide erasure DELETEs (open DSAR clock)</a:t>
                      </a:r>
                    </a:p>
                  </a:txBody>
                  <a:tcPr marT="12700" marB="12700">
                    <a:solidFill>
                      <a:srgbClr val="FFFFFF"/>
                    </a:solidFill>
                  </a:tcPr>
                </a:tc>
              </a:tr>
              <a:tr h="384048">
                <a:tc>
                  <a:txBody>
                    <a:bodyPr wrap="square"/>
                    <a:lstStyle/>
                    <a:p>
                      <a:r>
                        <a:rPr sz="950" b="0" i="0">
                          <a:solidFill>
                            <a:srgbClr val="202020"/>
                          </a:solidFill>
                          <a:latin typeface="Calibri"/>
                        </a:rPr>
                        <a:t>Altrata429Storm</a:t>
                      </a:r>
                    </a:p>
                  </a:txBody>
                  <a:tcPr marT="12700" marB="12700">
                    <a:solidFill>
                      <a:srgbClr val="F7F9FC"/>
                    </a:solidFill>
                  </a:tcPr>
                </a:tc>
                <a:tc>
                  <a:txBody>
                    <a:bodyPr wrap="square"/>
                    <a:lstStyle/>
                    <a:p>
                      <a:r>
                        <a:rPr sz="950" b="0" i="0">
                          <a:solidFill>
                            <a:srgbClr val="202020"/>
                          </a:solidFill>
                          <a:latin typeface="Calibri"/>
                        </a:rPr>
                        <a:t>warning</a:t>
                      </a:r>
                    </a:p>
                  </a:txBody>
                  <a:tcPr marT="12700" marB="12700">
                    <a:solidFill>
                      <a:srgbClr val="F7F9FC"/>
                    </a:solidFill>
                  </a:tcPr>
                </a:tc>
                <a:tc>
                  <a:txBody>
                    <a:bodyPr wrap="square"/>
                    <a:lstStyle/>
                    <a:p>
                      <a:r>
                        <a:rPr sz="950" b="0" i="0">
                          <a:solidFill>
                            <a:srgbClr val="202020"/>
                          </a:solidFill>
                          <a:latin typeface="Calibri"/>
                        </a:rPr>
                        <a:t>Sustained Graph 429s</a:t>
                      </a:r>
                    </a:p>
                  </a:txBody>
                  <a:tcPr marT="12700" marB="12700">
                    <a:solidFill>
                      <a:srgbClr val="F7F9FC"/>
                    </a:solidFill>
                  </a:tcPr>
                </a:tc>
                <a:tc>
                  <a:txBody>
                    <a:bodyPr wrap="square"/>
                    <a:lstStyle/>
                    <a:p>
                      <a:r>
                        <a:rPr sz="950" b="0" i="0">
                          <a:solidFill>
                            <a:srgbClr val="202020"/>
                          </a:solidFill>
                          <a:latin typeface="Calibri"/>
                        </a:rPr>
                        <a:t>Lower workers/batch size, add jitter, reschedule, or shard</a:t>
                      </a:r>
                    </a:p>
                  </a:txBody>
                  <a:tcPr marT="12700" marB="12700">
                    <a:solidFill>
                      <a:srgbClr val="F7F9FC"/>
                    </a:solidFill>
                  </a:tcPr>
                </a:tc>
              </a:tr>
              <a:tr h="384048">
                <a:tc>
                  <a:txBody>
                    <a:bodyPr wrap="square"/>
                    <a:lstStyle/>
                    <a:p>
                      <a:r>
                        <a:rPr sz="950" b="0" i="0">
                          <a:solidFill>
                            <a:srgbClr val="202020"/>
                          </a:solidFill>
                          <a:latin typeface="Calibri"/>
                        </a:rPr>
                        <a:t>AltrataReviewQueueGrowth</a:t>
                      </a:r>
                    </a:p>
                  </a:txBody>
                  <a:tcPr marT="12700" marB="12700">
                    <a:solidFill>
                      <a:srgbClr val="FFFFFF"/>
                    </a:solidFill>
                  </a:tcPr>
                </a:tc>
                <a:tc>
                  <a:txBody>
                    <a:bodyPr wrap="square"/>
                    <a:lstStyle/>
                    <a:p>
                      <a:r>
                        <a:rPr sz="950" b="0" i="0">
                          <a:solidFill>
                            <a:srgbClr val="202020"/>
                          </a:solidFill>
                          <a:latin typeface="Calibri"/>
                        </a:rPr>
                        <a:t>info</a:t>
                      </a:r>
                    </a:p>
                  </a:txBody>
                  <a:tcPr marT="12700" marB="12700">
                    <a:solidFill>
                      <a:srgbClr val="FFFFFF"/>
                    </a:solidFill>
                  </a:tcPr>
                </a:tc>
                <a:tc>
                  <a:txBody>
                    <a:bodyPr wrap="square"/>
                    <a:lstStyle/>
                    <a:p>
                      <a:r>
                        <a:rPr sz="950" b="0" i="0">
                          <a:solidFill>
                            <a:srgbClr val="202020"/>
                          </a:solidFill>
                          <a:latin typeface="Calibri"/>
                        </a:rPr>
                        <a:t>Review depth &gt; 500 for 6h</a:t>
                      </a:r>
                    </a:p>
                  </a:txBody>
                  <a:tcPr marT="12700" marB="12700">
                    <a:solidFill>
                      <a:srgbClr val="FFFFFF"/>
                    </a:solidFill>
                  </a:tcPr>
                </a:tc>
                <a:tc>
                  <a:txBody>
                    <a:bodyPr wrap="square"/>
                    <a:lstStyle/>
                    <a:p>
                      <a:r>
                        <a:rPr sz="950" b="0" i="0">
                          <a:solidFill>
                            <a:srgbClr val="202020"/>
                          </a:solidFill>
                          <a:latin typeface="Calibri"/>
                        </a:rPr>
                        <a:t>Staff the adjudication pass or tune the thresholds</a:t>
                      </a:r>
                    </a:p>
                  </a:txBody>
                  <a:tcPr marT="12700" marB="12700">
                    <a:solidFill>
                      <a:srgbClr val="FFFFFF"/>
                    </a:solidFill>
                  </a:tcPr>
                </a:tc>
              </a:tr>
              <a:tr h="384048">
                <a:tc>
                  <a:txBody>
                    <a:bodyPr wrap="square"/>
                    <a:lstStyle/>
                    <a:p>
                      <a:r>
                        <a:rPr sz="950" b="0" i="0">
                          <a:solidFill>
                            <a:srgbClr val="202020"/>
                          </a:solidFill>
                          <a:latin typeface="Calibri"/>
                        </a:rPr>
                        <a:t>AltrataMetricsDown / ...CrawlStale / ...HaLeaseStuckSuspected</a:t>
                      </a:r>
                    </a:p>
                  </a:txBody>
                  <a:tcPr marT="12700" marB="12700">
                    <a:solidFill>
                      <a:srgbClr val="F7F9FC"/>
                    </a:solidFill>
                  </a:tcPr>
                </a:tc>
                <a:tc>
                  <a:txBody>
                    <a:bodyPr wrap="square"/>
                    <a:lstStyle/>
                    <a:p>
                      <a:r>
                        <a:rPr sz="950" b="0" i="0">
                          <a:solidFill>
                            <a:srgbClr val="202020"/>
                          </a:solidFill>
                          <a:latin typeface="Calibri"/>
                        </a:rPr>
                        <a:t>warning</a:t>
                      </a:r>
                    </a:p>
                  </a:txBody>
                  <a:tcPr marT="12700" marB="12700">
                    <a:solidFill>
                      <a:srgbClr val="F7F9FC"/>
                    </a:solidFill>
                  </a:tcPr>
                </a:tc>
                <a:tc>
                  <a:txBody>
                    <a:bodyPr wrap="square"/>
                    <a:lstStyle/>
                    <a:p>
                      <a:r>
                        <a:rPr sz="950" b="0" i="0">
                          <a:solidFill>
                            <a:srgbClr val="202020"/>
                          </a:solidFill>
                          <a:latin typeface="Calibri"/>
                        </a:rPr>
                        <a:t>No scrape / no full crawl in 48h / idle lease</a:t>
                      </a:r>
                    </a:p>
                  </a:txBody>
                  <a:tcPr marT="12700" marB="12700">
                    <a:solidFill>
                      <a:srgbClr val="F7F9FC"/>
                    </a:solidFill>
                  </a:tcPr>
                </a:tc>
                <a:tc>
                  <a:txBody>
                    <a:bodyPr wrap="square"/>
                    <a:lstStyle/>
                    <a:p>
                      <a:r>
                        <a:rPr sz="950" b="0" i="0">
                          <a:solidFill>
                            <a:srgbClr val="202020"/>
                          </a:solidFill>
                          <a:latin typeface="Calibri"/>
                        </a:rPr>
                        <a:t>Check service, HA leases and crawl schedule (section 13)</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654</a:t>
            </a:r>
          </a:p>
        </p:txBody>
      </p:sp>
    </p:spTree>
  </p:cSld>
  <p:clrMapOvr>
    <a:masterClrMapping/>
  </p:clrMapOvr>
</p:sld>
</file>

<file path=ppt/slides/slide6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Alerts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Webhook alerts (</a:t>
            </a:r>
            <a:r>
              <a:rPr sz="1200" b="0" i="0">
                <a:solidFill>
                  <a:srgbClr val="202020"/>
                </a:solidFill>
                <a:latin typeface="Consolas"/>
              </a:rPr>
              <a:t>ALERT_WEBHOOK_URL</a:t>
            </a:r>
            <a:r>
              <a:rPr sz="1250" b="0" i="0">
                <a:solidFill>
                  <a:srgbClr val="202020"/>
                </a:solidFill>
                <a:latin typeface="Calibri"/>
              </a:rPr>
              <a:t>) carry the same taxonomy: </a:t>
            </a:r>
            <a:r>
              <a:rPr sz="1200" b="0" i="0">
                <a:solidFill>
                  <a:srgbClr val="202020"/>
                </a:solidFill>
                <a:latin typeface="Consolas"/>
              </a:rPr>
              <a:t>delivery_rejected</a:t>
            </a:r>
            <a:r>
              <a:rPr sz="1250" b="0" i="0">
                <a:solidFill>
                  <a:srgbClr val="202020"/>
                </a:solidFill>
                <a:latin typeface="Calibri"/>
              </a:rPr>
              <a:t>, </a:t>
            </a:r>
            <a:r>
              <a:rPr sz="1200" b="0" i="0">
                <a:solidFill>
                  <a:srgbClr val="202020"/>
                </a:solidFill>
                <a:latin typeface="Consolas"/>
              </a:rPr>
              <a:t>entitlement_violation</a:t>
            </a:r>
            <a:r>
              <a:rPr sz="1250" b="0" i="0">
                <a:solidFill>
                  <a:srgbClr val="202020"/>
                </a:solidFill>
                <a:latin typeface="Calibri"/>
              </a:rPr>
              <a:t>, </a:t>
            </a:r>
            <a:r>
              <a:rPr sz="1200" b="0" i="0">
                <a:solidFill>
                  <a:srgbClr val="202020"/>
                </a:solidFill>
                <a:latin typeface="Consolas"/>
              </a:rPr>
              <a:t>reconciliation_mismatch</a:t>
            </a:r>
            <a:r>
              <a:rPr sz="1250" b="0" i="0">
                <a:solidFill>
                  <a:srgbClr val="202020"/>
                </a:solidFill>
                <a:latin typeface="Calibri"/>
              </a:rPr>
              <a:t>, </a:t>
            </a:r>
            <a:r>
              <a:rPr sz="1200" b="0" i="0">
                <a:solidFill>
                  <a:srgbClr val="202020"/>
                </a:solidFill>
                <a:latin typeface="Consolas"/>
              </a:rPr>
              <a:t>reacl_incomplete</a:t>
            </a:r>
            <a:r>
              <a:rPr sz="1250" b="0" i="0">
                <a:solidFill>
                  <a:srgbClr val="202020"/>
                </a:solidFill>
                <a:latin typeface="Calibri"/>
              </a:rPr>
              <a:t>, </a:t>
            </a:r>
            <a:r>
              <a:rPr sz="1200" b="0" i="0">
                <a:solidFill>
                  <a:srgbClr val="202020"/>
                </a:solidFill>
                <a:latin typeface="Consolas"/>
              </a:rPr>
              <a:t>deadletter_threshold</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655</a:t>
            </a:r>
          </a:p>
        </p:txBody>
      </p:sp>
    </p:spTree>
  </p:cSld>
  <p:clrMapOvr>
    <a:masterClrMapping/>
  </p:clrMapOvr>
</p:sld>
</file>

<file path=ppt/slides/slide6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What good looks like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00" b="0" i="0">
                <a:solidFill>
                  <a:srgbClr val="202020"/>
                </a:solidFill>
                <a:latin typeface="Consolas"/>
              </a:rPr>
              <a:t>/ready</a:t>
            </a:r>
            <a:r>
              <a:rPr sz="1250" b="0" i="0">
                <a:solidFill>
                  <a:srgbClr val="202020"/>
                </a:solidFill>
                <a:latin typeface="Calibri"/>
              </a:rPr>
              <a:t> returns 200; </a:t>
            </a:r>
            <a:r>
              <a:rPr sz="1200" b="0" i="0">
                <a:solidFill>
                  <a:srgbClr val="202020"/>
                </a:solidFill>
                <a:latin typeface="Consolas"/>
              </a:rPr>
              <a:t>altrata_breaker_open</a:t>
            </a:r>
            <a:r>
              <a:rPr sz="1250" b="0" i="0">
                <a:solidFill>
                  <a:srgbClr val="202020"/>
                </a:solidFill>
                <a:latin typeface="Calibri"/>
              </a:rPr>
              <a:t> is 0.</a:t>
            </a:r>
          </a:p>
          <a:p>
            <a:pPr>
              <a:spcBef>
                <a:spcPts val="100"/>
              </a:spcBef>
              <a:spcAft>
                <a:spcPts val="200"/>
              </a:spcAft>
            </a:pPr>
            <a:r>
              <a:rPr sz="1250" b="1" i="0">
                <a:solidFill>
                  <a:srgbClr val="2E5496"/>
                </a:solidFill>
                <a:latin typeface="Calibri"/>
              </a:rPr>
              <a:t>•  </a:t>
            </a:r>
            <a:r>
              <a:rPr sz="1200" b="0" i="0">
                <a:solidFill>
                  <a:srgbClr val="202020"/>
                </a:solidFill>
                <a:latin typeface="Consolas"/>
              </a:rPr>
              <a:t>altrata_erasure_ledger_broken</a:t>
            </a:r>
            <a:r>
              <a:rPr sz="1250" b="0" i="0">
                <a:solidFill>
                  <a:srgbClr val="202020"/>
                </a:solidFill>
                <a:latin typeface="Calibri"/>
              </a:rPr>
              <a:t> is 0 and </a:t>
            </a:r>
            <a:r>
              <a:rPr sz="1200" b="0" i="0">
                <a:solidFill>
                  <a:srgbClr val="202020"/>
                </a:solidFill>
                <a:latin typeface="Consolas"/>
              </a:rPr>
              <a:t>altrata_entitlement_refusals_total</a:t>
            </a:r>
            <a:r>
              <a:rPr sz="1250" b="0" i="0">
                <a:solidFill>
                  <a:srgbClr val="202020"/>
                </a:solidFill>
                <a:latin typeface="Calibri"/>
              </a:rPr>
              <a:t> is flat.</a:t>
            </a:r>
          </a:p>
          <a:p>
            <a:pPr>
              <a:spcBef>
                <a:spcPts val="100"/>
              </a:spcBef>
              <a:spcAft>
                <a:spcPts val="200"/>
              </a:spcAft>
            </a:pPr>
            <a:r>
              <a:rPr sz="1250" b="1" i="0">
                <a:solidFill>
                  <a:srgbClr val="2E5496"/>
                </a:solidFill>
                <a:latin typeface="Calibri"/>
              </a:rPr>
              <a:t>•  </a:t>
            </a:r>
            <a:r>
              <a:rPr sz="1200" b="0" i="0">
                <a:solidFill>
                  <a:srgbClr val="202020"/>
                </a:solidFill>
                <a:latin typeface="Consolas"/>
              </a:rPr>
              <a:t>altrata_deadletter_depth</a:t>
            </a:r>
            <a:r>
              <a:rPr sz="1250" b="0" i="0">
                <a:solidFill>
                  <a:srgbClr val="202020"/>
                </a:solidFill>
                <a:latin typeface="Calibri"/>
              </a:rPr>
              <a:t> is at or near 0; crawl timestamps keep advancing.</a:t>
            </a:r>
          </a:p>
          <a:p>
            <a:pPr>
              <a:spcBef>
                <a:spcPts val="100"/>
              </a:spcBef>
              <a:spcAft>
                <a:spcPts val="200"/>
              </a:spcAft>
            </a:pPr>
            <a:r>
              <a:rPr sz="1250" b="1" i="0">
                <a:solidFill>
                  <a:srgbClr val="2E5496"/>
                </a:solidFill>
                <a:latin typeface="Calibri"/>
              </a:rPr>
              <a:t>•  </a:t>
            </a:r>
            <a:r>
              <a:rPr sz="1250" b="0" i="0">
                <a:solidFill>
                  <a:srgbClr val="202020"/>
                </a:solidFill>
                <a:latin typeface="Calibri"/>
              </a:rPr>
              <a:t>Deliveries processed increases with zero rejected; </a:t>
            </a:r>
            <a:r>
              <a:rPr sz="1200" b="0" i="0">
                <a:solidFill>
                  <a:srgbClr val="202020"/>
                </a:solidFill>
                <a:latin typeface="Consolas"/>
              </a:rPr>
              <a:t>altrata_seat_count</a:t>
            </a:r>
            <a:r>
              <a:rPr sz="1250" b="0" i="0">
                <a:solidFill>
                  <a:srgbClr val="202020"/>
                </a:solidFill>
                <a:latin typeface="Calibri"/>
              </a:rPr>
              <a:t> matches the licence.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656</a:t>
            </a:r>
          </a:p>
        </p:txBody>
      </p:sp>
    </p:spTree>
  </p:cSld>
  <p:clrMapOvr>
    <a:masterClrMapping/>
  </p:clrMapOvr>
</p:sld>
</file>

<file path=ppt/slides/slide6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Altrata Connector</a:t>
            </a:r>
          </a:p>
          <a:p>
            <a:r>
              <a:rPr sz="3000" b="1" i="0">
                <a:solidFill>
                  <a:srgbClr val="1F3864"/>
                </a:solidFill>
                <a:latin typeface="Calibri"/>
              </a:rPr>
              <a:t>13. Troubleshooting</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657</a:t>
            </a:r>
          </a:p>
        </p:txBody>
      </p:sp>
    </p:spTree>
  </p:cSld>
  <p:clrMapOvr>
    <a:masterClrMapping/>
  </p:clrMapOvr>
</p:sld>
</file>

<file path=ppt/slides/slide6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13. Troubleshooting</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Symptom → likely cause → what to do, drawn from the runbooks. Entitlement and erasure incidents are security escalations, not just ops.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658</a:t>
            </a:r>
          </a:p>
        </p:txBody>
      </p:sp>
    </p:spTree>
  </p:cSld>
  <p:clrMapOvr>
    <a:masterClrMapping/>
  </p:clrMapOvr>
</p:sld>
</file>

<file path=ppt/slides/slide6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13. Troubleshooting</a:t>
            </a:r>
          </a:p>
        </p:txBody>
      </p:sp>
      <p:graphicFrame>
        <p:nvGraphicFramePr>
          <p:cNvPr id="5" name="Table 4"/>
          <p:cNvGraphicFramePr>
            <a:graphicFrameLocks noGrp="1"/>
          </p:cNvGraphicFramePr>
          <p:nvPr/>
        </p:nvGraphicFramePr>
        <p:xfrm>
          <a:off x="502920" y="1188720"/>
          <a:ext cx="11185855" cy="3456432"/>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Symptom</a:t>
                      </a:r>
                    </a:p>
                  </a:txBody>
                  <a:tcPr marT="25400" marB="25400">
                    <a:solidFill>
                      <a:srgbClr val="2E5496"/>
                    </a:solidFill>
                  </a:tcPr>
                </a:tc>
                <a:tc>
                  <a:txBody>
                    <a:bodyPr wrap="square"/>
                    <a:lstStyle/>
                    <a:p>
                      <a:r>
                        <a:rPr sz="1050" b="1" i="0">
                          <a:solidFill>
                            <a:srgbClr val="FFFFFF"/>
                          </a:solidFill>
                          <a:latin typeface="Calibri"/>
                        </a:rPr>
                        <a:t>Likely cause</a:t>
                      </a:r>
                    </a:p>
                  </a:txBody>
                  <a:tcPr marT="25400" marB="25400">
                    <a:solidFill>
                      <a:srgbClr val="2E5496"/>
                    </a:solidFill>
                  </a:tcPr>
                </a:tc>
                <a:tc>
                  <a:txBody>
                    <a:bodyPr wrap="square"/>
                    <a:lstStyle/>
                    <a:p>
                      <a:r>
                        <a:rPr sz="1050" b="1" i="0">
                          <a:solidFill>
                            <a:srgbClr val="FFFFFF"/>
                          </a:solidFill>
                          <a:latin typeface="Calibri"/>
                        </a:rPr>
                        <a:t>What to do</a:t>
                      </a:r>
                    </a:p>
                  </a:txBody>
                  <a:tcPr marT="25400" marB="25400">
                    <a:solidFill>
                      <a:srgbClr val="2E5496"/>
                    </a:solidFill>
                  </a:tcPr>
                </a:tc>
              </a:tr>
              <a:tr h="384048">
                <a:tc>
                  <a:txBody>
                    <a:bodyPr wrap="square"/>
                    <a:lstStyle/>
                    <a:p>
                      <a:r>
                        <a:rPr sz="950" b="0" i="0">
                          <a:solidFill>
                            <a:srgbClr val="202020"/>
                          </a:solidFill>
                          <a:latin typeface="Calibri"/>
                        </a:rPr>
                        <a:t>delivery_rejected alert; log Delivery 'X' REJECTED: checksum mismatch; nothing ingested</a:t>
                      </a:r>
                    </a:p>
                  </a:txBody>
                  <a:tcPr marT="12700" marB="12700">
                    <a:solidFill>
                      <a:srgbClr val="FFFFFF"/>
                    </a:solidFill>
                  </a:tcPr>
                </a:tc>
                <a:tc>
                  <a:txBody>
                    <a:bodyPr wrap="square"/>
                    <a:lstStyle/>
                    <a:p>
                      <a:r>
                        <a:rPr sz="950" b="0" i="0">
                          <a:solidFill>
                            <a:srgbClr val="202020"/>
                          </a:solidFill>
                          <a:latin typeface="Calibri"/>
                        </a:rPr>
                        <a:t>Truncated/interrupted SFTP transfer (benign); or a file changed after the first check</a:t>
                      </a:r>
                    </a:p>
                  </a:txBody>
                  <a:tcPr marT="12700" marB="12700">
                    <a:solidFill>
                      <a:srgbClr val="FFFFFF"/>
                    </a:solidFill>
                  </a:tcPr>
                </a:tc>
                <a:tc>
                  <a:txBody>
                    <a:bodyPr wrap="square"/>
                    <a:lstStyle/>
                    <a:p>
                      <a:r>
                        <a:rPr sz="950" b="0" i="0">
                          <a:solidFill>
                            <a:srgbClr val="202020"/>
                          </a:solidFill>
                          <a:latin typeface="Calibri"/>
                        </a:rPr>
                        <a:t>Re-transfer and run ingest --incremental. A mismatch you cannot attribute to a short transfer = possible tampering → preserve read-only and escalate to security</a:t>
                      </a:r>
                    </a:p>
                  </a:txBody>
                  <a:tcPr marT="12700" marB="12700">
                    <a:solidFill>
                      <a:srgbClr val="FFFFFF"/>
                    </a:solidFill>
                  </a:tcPr>
                </a:tc>
              </a:tr>
              <a:tr h="384048">
                <a:tc>
                  <a:txBody>
                    <a:bodyPr wrap="square"/>
                    <a:lstStyle/>
                    <a:p>
                      <a:r>
                        <a:rPr sz="950" b="0" i="0">
                          <a:solidFill>
                            <a:srgbClr val="202020"/>
                          </a:solidFill>
                          <a:latin typeface="Calibri"/>
                        </a:rPr>
                        <a:t>forget-subject --confirm exits non-zero: N withdrawn, M queued for retry</a:t>
                      </a:r>
                    </a:p>
                  </a:txBody>
                  <a:tcPr marT="12700" marB="12700">
                    <a:solidFill>
                      <a:srgbClr val="F7F9FC"/>
                    </a:solidFill>
                  </a:tcPr>
                </a:tc>
                <a:tc>
                  <a:txBody>
                    <a:bodyPr wrap="square"/>
                    <a:lstStyle/>
                    <a:p>
                      <a:r>
                        <a:rPr sz="950" b="0" i="0">
                          <a:solidFill>
                            <a:srgbClr val="202020"/>
                          </a:solidFill>
                          <a:latin typeface="Calibri"/>
                        </a:rPr>
                        <a:t>A Graph DELETE failed mid-flight</a:t>
                      </a:r>
                    </a:p>
                  </a:txBody>
                  <a:tcPr marT="12700" marB="12700">
                    <a:solidFill>
                      <a:srgbClr val="F7F9FC"/>
                    </a:solidFill>
                  </a:tcPr>
                </a:tc>
                <a:tc>
                  <a:txBody>
                    <a:bodyPr wrap="square"/>
                    <a:lstStyle/>
                    <a:p>
                      <a:r>
                        <a:rPr sz="950" b="0" i="0">
                          <a:solidFill>
                            <a:srgbClr val="202020"/>
                          </a:solidFill>
                          <a:latin typeface="Calibri"/>
                        </a:rPr>
                        <a:t>Suppression + ledger already held. Fix Graph connectivity, run retry-failed (erasure DELETEs replay first), then a dry-run forget-subject must show 0 items. Treat as an open DSAR clock</a:t>
                      </a:r>
                    </a:p>
                  </a:txBody>
                  <a:tcPr marT="12700" marB="12700">
                    <a:solidFill>
                      <a:srgbClr val="F7F9FC"/>
                    </a:solidFill>
                  </a:tcPr>
                </a:tc>
              </a:tr>
              <a:tr h="384048">
                <a:tc>
                  <a:txBody>
                    <a:bodyPr wrap="square"/>
                    <a:lstStyle/>
                    <a:p>
                      <a:r>
                        <a:rPr sz="950" b="0" i="0">
                          <a:solidFill>
                            <a:srgbClr val="202020"/>
                          </a:solidFill>
                          <a:latin typeface="Calibri"/>
                        </a:rPr>
                        <a:t>altrata_match_review_depth climbing</a:t>
                      </a:r>
                    </a:p>
                  </a:txBody>
                  <a:tcPr marT="12700" marB="12700">
                    <a:solidFill>
                      <a:srgbClr val="FFFFFF"/>
                    </a:solidFill>
                  </a:tcPr>
                </a:tc>
                <a:tc>
                  <a:txBody>
                    <a:bodyPr wrap="square"/>
                    <a:lstStyle/>
                    <a:p>
                      <a:r>
                        <a:rPr sz="950" b="0" i="0">
                          <a:solidFill>
                            <a:srgbClr val="202020"/>
                          </a:solidFill>
                          <a:latin typeface="Calibri"/>
                        </a:rPr>
                        <a:t>Genuinely new below-threshold fuzzy match candidates</a:t>
                      </a:r>
                    </a:p>
                  </a:txBody>
                  <a:tcPr marT="12700" marB="12700">
                    <a:solidFill>
                      <a:srgbClr val="FFFFFF"/>
                    </a:solidFill>
                  </a:tcPr>
                </a:tc>
                <a:tc>
                  <a:txBody>
                    <a:bodyPr wrap="square"/>
                    <a:lstStyle/>
                    <a:p>
                      <a:r>
                        <a:rPr sz="950" b="0" i="0">
                          <a:solidFill>
                            <a:srgbClr val="202020"/>
                          </a:solidFill>
                          <a:latin typeface="Calibri"/>
                        </a:rPr>
                        <a:t>Staff the adjudication pass; raise ENTITY_REVIEW_FLOOR toward the threshold; a 10x spike after one delivery = feed data-quality issue, raise with Altrata</a:t>
                      </a:r>
                    </a:p>
                  </a:txBody>
                  <a:tcPr marT="12700" marB="12700">
                    <a:solidFill>
                      <a:srgbClr val="FFFFFF"/>
                    </a:solidFill>
                  </a:tcPr>
                </a:tc>
              </a:tr>
              <a:tr h="384048">
                <a:tc>
                  <a:txBody>
                    <a:bodyPr wrap="square"/>
                    <a:lstStyle/>
                    <a:p>
                      <a:r>
                        <a:rPr sz="950" b="0" i="0">
                          <a:solidFill>
                            <a:srgbClr val="202020"/>
                          </a:solidFill>
                          <a:latin typeface="Consolas"/>
                        </a:rPr>
                        <a:t>/ready 503; altrata_breaker_open == 1; crawl PAUSED (degraded)</a:t>
                      </a:r>
                    </a:p>
                  </a:txBody>
                  <a:tcPr marT="12700" marB="12700">
                    <a:solidFill>
                      <a:srgbClr val="F7F9FC"/>
                    </a:solidFill>
                  </a:tcPr>
                </a:tc>
                <a:tc>
                  <a:txBody>
                    <a:bodyPr wrap="square"/>
                    <a:lstStyle/>
                    <a:p>
                      <a:r>
                        <a:rPr sz="950" b="0" i="0">
                          <a:solidFill>
                            <a:srgbClr val="202020"/>
                          </a:solidFill>
                          <a:latin typeface="Calibri"/>
                        </a:rPr>
                        <a:t>Sustained Graph 5xx/timeouts tripped the breaker (4xx/429 do not)</a:t>
                      </a:r>
                    </a:p>
                  </a:txBody>
                  <a:tcPr marT="12700" marB="12700">
                    <a:solidFill>
                      <a:srgbClr val="F7F9FC"/>
                    </a:solidFill>
                  </a:tcPr>
                </a:tc>
                <a:tc>
                  <a:txBody>
                    <a:bodyPr wrap="square"/>
                    <a:lstStyle/>
                    <a:p>
                      <a:r>
                        <a:rPr sz="950" b="0" i="0">
                          <a:solidFill>
                            <a:srgbClr val="202020"/>
                          </a:solidFill>
                          <a:latin typeface="Calibri"/>
                        </a:rPr>
                        <a:t>Usually self-heals: it half-opens after ~30s and the next crawl resumes from checkpoint. If egress broke, fix PROXY_URL / CA_BUNDLE_PATH and restart</a:t>
                      </a:r>
                    </a:p>
                  </a:txBody>
                  <a:tcPr marT="12700" marB="12700">
                    <a:solidFill>
                      <a:srgbClr val="F7F9FC"/>
                    </a:solidFill>
                  </a:tcPr>
                </a:tc>
              </a:tr>
              <a:tr h="384048">
                <a:tc>
                  <a:txBody>
                    <a:bodyPr wrap="square"/>
                    <a:lstStyle/>
                    <a:p>
                      <a:r>
                        <a:rPr sz="950" b="0" i="0">
                          <a:solidFill>
                            <a:srgbClr val="202020"/>
                          </a:solidFill>
                          <a:latin typeface="Calibri"/>
                        </a:rPr>
                        <a:t>altrata_graph_throttle_429_total climbing fast; throughput sagging</a:t>
                      </a:r>
                    </a:p>
                  </a:txBody>
                  <a:tcPr marT="12700" marB="12700">
                    <a:solidFill>
                      <a:srgbClr val="FFFFFF"/>
                    </a:solidFill>
                  </a:tcPr>
                </a:tc>
                <a:tc>
                  <a:txBody>
                    <a:bodyPr wrap="square"/>
                    <a:lstStyle/>
                    <a:p>
                      <a:r>
                        <a:rPr sz="950" b="0" i="0">
                          <a:solidFill>
                            <a:srgbClr val="202020"/>
                          </a:solidFill>
                          <a:latin typeface="Calibri"/>
                        </a:rPr>
                        <a:t>Tenant Graph quota contention</a:t>
                      </a:r>
                    </a:p>
                  </a:txBody>
                  <a:tcPr marT="12700" marB="12700">
                    <a:solidFill>
                      <a:srgbClr val="FFFFFF"/>
                    </a:solidFill>
                  </a:tcPr>
                </a:tc>
                <a:tc>
                  <a:txBody>
                    <a:bodyPr wrap="square"/>
                    <a:lstStyle/>
                    <a:p>
                      <a:r>
                        <a:rPr sz="950" b="0" i="0">
                          <a:solidFill>
                            <a:srgbClr val="202020"/>
                          </a:solidFill>
                          <a:latin typeface="Calibri"/>
                        </a:rPr>
                        <a:t>Lower GRAPH_BATCH_WORKERS / GRAPH_BATCH_SIZE; set GRAPH_RETRY_JITTER=true in HA; reschedule; shard connections; then retry-failed</a:t>
                      </a:r>
                    </a:p>
                  </a:txBody>
                  <a:tcPr marT="12700" marB="12700">
                    <a:solidFill>
                      <a:srgbClr val="FFFFFF"/>
                    </a:solidFill>
                  </a:tcPr>
                </a:tc>
              </a:tr>
              <a:tr h="384048">
                <a:tc>
                  <a:txBody>
                    <a:bodyPr wrap="square"/>
                    <a:lstStyle/>
                    <a:p>
                      <a:r>
                        <a:rPr sz="950" b="0" i="0">
                          <a:solidFill>
                            <a:srgbClr val="202020"/>
                          </a:solidFill>
                          <a:latin typeface="Calibri"/>
                        </a:rPr>
                        <a:t>Nodes log Delivery leased by another node — skipping</a:t>
                      </a:r>
                    </a:p>
                  </a:txBody>
                  <a:tcPr marT="12700" marB="12700">
                    <a:solidFill>
                      <a:srgbClr val="F7F9FC"/>
                    </a:solidFill>
                  </a:tcPr>
                </a:tc>
                <a:tc>
                  <a:txBody>
                    <a:bodyPr wrap="square"/>
                    <a:lstStyle/>
                    <a:p>
                      <a:r>
                        <a:rPr sz="950" b="0" i="0">
                          <a:solidFill>
                            <a:srgbClr val="202020"/>
                          </a:solidFill>
                          <a:latin typeface="Calibri"/>
                        </a:rPr>
                        <a:t>HA failover: a node's leases expire and a survivor takes over</a:t>
                      </a:r>
                    </a:p>
                  </a:txBody>
                  <a:tcPr marT="12700" marB="12700">
                    <a:solidFill>
                      <a:srgbClr val="F7F9FC"/>
                    </a:solidFill>
                  </a:tcPr>
                </a:tc>
                <a:tc>
                  <a:txBody>
                    <a:bodyPr wrap="square"/>
                    <a:lstStyle/>
                    <a:p>
                      <a:r>
                        <a:rPr sz="950" b="0" i="0">
                          <a:solidFill>
                            <a:srgbClr val="202020"/>
                          </a:solidFill>
                          <a:latin typeface="Calibri"/>
                        </a:rPr>
                        <a:t>Normally no action (5-minute lease TTL). To force takeover after the TTL, run ingest --incremental on a survivor. Persistent skew wedges: fix NTP (see runbooks)</a:t>
                      </a:r>
                    </a:p>
                  </a:txBody>
                  <a:tcPr marT="12700" marB="12700">
                    <a:solidFill>
                      <a:srgbClr val="F7F9FC"/>
                    </a:solidFill>
                  </a:tcPr>
                </a:tc>
              </a:tr>
              <a:tr h="384048">
                <a:tc>
                  <a:txBody>
                    <a:bodyPr wrap="square"/>
                    <a:lstStyle/>
                    <a:p>
                      <a:r>
                        <a:rPr sz="950" b="0" i="0">
                          <a:solidFill>
                            <a:srgbClr val="202020"/>
                          </a:solidFill>
                          <a:latin typeface="Calibri"/>
                        </a:rPr>
                        <a:t>Loud one-time State file unreadable ... EMPTY state document / Checkpoint ... NO checkpoint</a:t>
                      </a:r>
                    </a:p>
                  </a:txBody>
                  <a:tcPr marT="12700" marB="12700">
                    <a:solidFill>
                      <a:srgbClr val="FFFFFF"/>
                    </a:solidFill>
                  </a:tcPr>
                </a:tc>
                <a:tc>
                  <a:txBody>
                    <a:bodyPr wrap="square"/>
                    <a:lstStyle/>
                    <a:p>
                      <a:r>
                        <a:rPr sz="950" b="0" i="0">
                          <a:solidFill>
                            <a:srgbClr val="202020"/>
                          </a:solidFill>
                          <a:latin typeface="Calibri"/>
                        </a:rPr>
                        <a:t>Corrupt state file</a:t>
                      </a:r>
                    </a:p>
                  </a:txBody>
                  <a:tcPr marT="12700" marB="12700">
                    <a:solidFill>
                      <a:srgbClr val="FFFFFF"/>
                    </a:solidFill>
                  </a:tcPr>
                </a:tc>
                <a:tc>
                  <a:txBody>
                    <a:bodyPr wrap="square"/>
                    <a:lstStyle/>
                    <a:p>
                      <a:r>
                        <a:rPr sz="950" b="0" i="0">
                          <a:solidFill>
                            <a:srgbClr val="202020"/>
                          </a:solidFill>
                          <a:latin typeface="Calibri"/>
                        </a:rPr>
                        <a:t>Checkpoint loss is safe (re-ingest is idempotent). State-doc loss loses the suppression list → restore from backup or rebuild from the ledger BEFORE the next crawl (section 14)</a:t>
                      </a:r>
                    </a:p>
                  </a:txBody>
                  <a:tcPr marT="12700" marB="12700">
                    <a:solidFill>
                      <a:srgbClr val="FFFFFF"/>
                    </a:solidFill>
                  </a:tcPr>
                </a:tc>
              </a:tr>
              <a:tr h="384048">
                <a:tc>
                  <a:txBody>
                    <a:bodyPr wrap="square"/>
                    <a:lstStyle/>
                    <a:p>
                      <a:r>
                        <a:rPr sz="950" b="0" i="0">
                          <a:solidFill>
                            <a:srgbClr val="202020"/>
                          </a:solidFill>
                          <a:latin typeface="Calibri"/>
                        </a:rPr>
                        <a:t>Commands fail with Token request failed (400/401) or every Graph call 401/403</a:t>
                      </a:r>
                    </a:p>
                  </a:txBody>
                  <a:tcPr marT="12700" marB="12700">
                    <a:solidFill>
                      <a:srgbClr val="F7F9FC"/>
                    </a:solidFill>
                  </a:tcPr>
                </a:tc>
                <a:tc>
                  <a:txBody>
                    <a:bodyPr wrap="square"/>
                    <a:lstStyle/>
                    <a:p>
                      <a:r>
                        <a:rPr sz="950" b="0" i="0">
                          <a:solidFill>
                            <a:srgbClr val="202020"/>
                          </a:solidFill>
                          <a:latin typeface="Calibri"/>
                        </a:rPr>
                        <a:t>Expired secret / unregistered or expired certificate / missing admin consent</a:t>
                      </a:r>
                    </a:p>
                  </a:txBody>
                  <a:tcPr marT="12700" marB="12700">
                    <a:solidFill>
                      <a:srgbClr val="F7F9FC"/>
                    </a:solidFill>
                  </a:tcPr>
                </a:tc>
                <a:tc>
                  <a:txBody>
                    <a:bodyPr wrap="square"/>
                    <a:lstStyle/>
                    <a:p>
                      <a:r>
                        <a:rPr sz="950" b="0" i="0">
                          <a:solidFill>
                            <a:srgbClr val="202020"/>
                          </a:solidFill>
                          <a:latin typeface="Calibri"/>
                        </a:rPr>
                        <a:t>Identify the auth mode from the run log; rotate per the Common Guide §5 / SECURITY runbooks; validate-config --strict; 403 with a valid token = missing consent or wrong owning app</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659</a:t>
            </a:r>
          </a:p>
        </p:txBody>
      </p:sp>
    </p:spTree>
  </p:cSld>
  <p:clrMapOvr>
    <a:masterClrMapping/>
  </p:clrMapOvr>
</p:sld>
</file>

<file path=ppt/slides/slide6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Seat-file parse failure — what NOT to do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1" i="0">
                <a:solidFill>
                  <a:srgbClr val="202020"/>
                </a:solidFill>
                <a:latin typeface="Calibri"/>
              </a:rPr>
              <a:t>Symptom</a:t>
            </a:r>
            <a:r>
              <a:rPr sz="1250" b="0" i="0">
                <a:solidFill>
                  <a:srgbClr val="202020"/>
                </a:solidFill>
                <a:latin typeface="Calibri"/>
              </a:rPr>
              <a:t> — every ingest command fails fast with </a:t>
            </a:r>
            <a:r>
              <a:rPr sz="1200" b="0" i="0">
                <a:solidFill>
                  <a:srgbClr val="202020"/>
                </a:solidFill>
                <a:latin typeface="Consolas"/>
              </a:rPr>
              <a:t>Seat list ... is not valid</a:t>
            </a:r>
            <a:r>
              <a:rPr sz="1250" b="0" i="0">
                <a:solidFill>
                  <a:srgbClr val="202020"/>
                </a:solidFill>
                <a:latin typeface="Calibri"/>
              </a:rPr>
              <a:t>, </a:t>
            </a:r>
            <a:r>
              <a:rPr sz="1200" b="0" i="0">
                <a:solidFill>
                  <a:srgbClr val="202020"/>
                </a:solidFill>
                <a:latin typeface="Consolas"/>
              </a:rPr>
              <a:t>Seat source yielded zero principals</a:t>
            </a:r>
            <a:r>
              <a:rPr sz="1250" b="0" i="0">
                <a:solidFill>
                  <a:srgbClr val="202020"/>
                </a:solidFill>
                <a:latin typeface="Calibri"/>
              </a:rPr>
              <a:t>, or </a:t>
            </a:r>
            <a:r>
              <a:rPr sz="1200" b="0" i="0">
                <a:solidFill>
                  <a:srgbClr val="202020"/>
                </a:solidFill>
                <a:latin typeface="Consolas"/>
              </a:rPr>
              <a:t>ENTITLEMENT: Seat list is empty</a:t>
            </a:r>
            <a:r>
              <a:rPr sz="1250" b="0" i="0">
                <a:solidFill>
                  <a:srgbClr val="202020"/>
                </a:solidFill>
                <a:latin typeface="Calibri"/>
              </a:rPr>
              <a:t>; </a:t>
            </a:r>
            <a:r>
              <a:rPr sz="1200" b="0" i="0">
                <a:solidFill>
                  <a:srgbClr val="202020"/>
                </a:solidFill>
                <a:latin typeface="Consolas"/>
              </a:rPr>
              <a:t>altrata_entitlement_refusals_total</a:t>
            </a:r>
            <a:r>
              <a:rPr sz="1250" b="0" i="0">
                <a:solidFill>
                  <a:srgbClr val="202020"/>
                </a:solidFill>
                <a:latin typeface="Calibri"/>
              </a:rPr>
              <a:t> increments. This is entitlement </a:t>
            </a:r>
            <a:r>
              <a:rPr sz="1250" b="1" i="0">
                <a:solidFill>
                  <a:srgbClr val="202020"/>
                </a:solidFill>
                <a:latin typeface="Calibri"/>
              </a:rPr>
              <a:t>failing closed</a:t>
            </a:r>
            <a:r>
              <a:rPr sz="1250" b="0" i="0">
                <a:solidFill>
                  <a:srgbClr val="202020"/>
                </a:solidFill>
                <a:latin typeface="Calibri"/>
              </a:rPr>
              <a:t> — the connector stopping is the designed outcome, not the incident.</a:t>
            </a:r>
          </a:p>
          <a:p>
            <a:pPr>
              <a:spcBef>
                <a:spcPts val="100"/>
              </a:spcBef>
              <a:spcAft>
                <a:spcPts val="200"/>
              </a:spcAft>
            </a:pPr>
            <a:r>
              <a:rPr sz="1250" b="1" i="0">
                <a:solidFill>
                  <a:srgbClr val="2E5496"/>
                </a:solidFill>
                <a:latin typeface="Calibri"/>
              </a:rPr>
              <a:t>•  </a:t>
            </a:r>
            <a:r>
              <a:rPr sz="1250" b="0" i="0">
                <a:solidFill>
                  <a:srgbClr val="202020"/>
                </a:solidFill>
                <a:latin typeface="Calibri"/>
              </a:rPr>
              <a:t>Do </a:t>
            </a:r>
            <a:r>
              <a:rPr sz="1250" b="1" i="0">
                <a:solidFill>
                  <a:srgbClr val="202020"/>
                </a:solidFill>
                <a:latin typeface="Calibri"/>
              </a:rPr>
              <a:t>not</a:t>
            </a:r>
            <a:r>
              <a:rPr sz="1250" b="0" i="0">
                <a:solidFill>
                  <a:srgbClr val="202020"/>
                </a:solidFill>
                <a:latin typeface="Calibri"/>
              </a:rPr>
              <a:t> “unblock” by adding a placeholder or wildcard principal, a broad all-staff group, or anyone not on the Altrata licence — the next crawl would re-ACL every item to them.</a:t>
            </a:r>
          </a:p>
          <a:p>
            <a:pPr>
              <a:spcBef>
                <a:spcPts val="100"/>
              </a:spcBef>
              <a:spcAft>
                <a:spcPts val="200"/>
              </a:spcAft>
            </a:pPr>
            <a:r>
              <a:rPr sz="1250" b="1" i="0">
                <a:solidFill>
                  <a:srgbClr val="2E5496"/>
                </a:solidFill>
                <a:latin typeface="Calibri"/>
              </a:rPr>
              <a:t>•  </a:t>
            </a:r>
            <a:r>
              <a:rPr sz="1250" b="0" i="0">
                <a:solidFill>
                  <a:srgbClr val="202020"/>
                </a:solidFill>
                <a:latin typeface="Calibri"/>
              </a:rPr>
              <a:t>Do </a:t>
            </a:r>
            <a:r>
              <a:rPr sz="1250" b="1" i="0">
                <a:solidFill>
                  <a:srgbClr val="202020"/>
                </a:solidFill>
                <a:latin typeface="Calibri"/>
              </a:rPr>
              <a:t>not</a:t>
            </a:r>
            <a:r>
              <a:rPr sz="1250" b="0" i="0">
                <a:solidFill>
                  <a:srgbClr val="202020"/>
                </a:solidFill>
                <a:latin typeface="Calibri"/>
              </a:rPr>
              <a:t> restore an old </a:t>
            </a:r>
            <a:r>
              <a:rPr sz="1200" b="0" i="0">
                <a:solidFill>
                  <a:srgbClr val="202020"/>
                </a:solidFill>
                <a:latin typeface="Consolas"/>
              </a:rPr>
              <a:t>seats.json</a:t>
            </a:r>
            <a:r>
              <a:rPr sz="1250" b="0" i="0">
                <a:solidFill>
                  <a:srgbClr val="202020"/>
                </a:solidFill>
                <a:latin typeface="Calibri"/>
              </a:rPr>
              <a:t> from backup without checking leavers — a stale file re-grants access to revoked seats.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660</a:t>
            </a:r>
          </a:p>
        </p:txBody>
      </p:sp>
    </p:spTree>
  </p:cSld>
  <p:clrMapOvr>
    <a:masterClrMapping/>
  </p:clrMapOvr>
</p:sld>
</file>

<file path=ppt/slides/slide6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Seat-file parse failure — what NOT to do</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0" i="0">
                <a:solidFill>
                  <a:srgbClr val="202020"/>
                </a:solidFill>
                <a:latin typeface="Calibri"/>
              </a:rPr>
              <a:t>Do </a:t>
            </a:r>
            <a:r>
              <a:rPr sz="1250" b="1" i="0">
                <a:solidFill>
                  <a:srgbClr val="202020"/>
                </a:solidFill>
                <a:latin typeface="Calibri"/>
              </a:rPr>
              <a:t>not</a:t>
            </a:r>
            <a:r>
              <a:rPr sz="1250" b="0" i="0">
                <a:solidFill>
                  <a:srgbClr val="202020"/>
                </a:solidFill>
                <a:latin typeface="Calibri"/>
              </a:rPr>
              <a:t> delete the state store to “reset” the seat hash — the re-ACL pass exists precisely to reconcile items to the current list.</a:t>
            </a:r>
          </a:p>
          <a:p>
            <a:pPr>
              <a:spcBef>
                <a:spcPts val="100"/>
              </a:spcBef>
              <a:spcAft>
                <a:spcPts val="400"/>
              </a:spcAft>
            </a:pPr>
            <a:r>
              <a:rPr sz="1250" b="1" i="0">
                <a:solidFill>
                  <a:srgbClr val="202020"/>
                </a:solidFill>
                <a:latin typeface="Calibri"/>
              </a:rPr>
              <a:t>Fix</a:t>
            </a:r>
            <a:r>
              <a:rPr sz="1250" b="0" i="0">
                <a:solidFill>
                  <a:srgbClr val="202020"/>
                </a:solidFill>
                <a:latin typeface="Calibri"/>
              </a:rPr>
              <a:t> — run </a:t>
            </a:r>
            <a:r>
              <a:rPr sz="1200" b="0" i="0">
                <a:solidFill>
                  <a:srgbClr val="202020"/>
                </a:solidFill>
                <a:latin typeface="Consolas"/>
              </a:rPr>
              <a:t>identity-dry-run</a:t>
            </a:r>
            <a:r>
              <a:rPr sz="1250" b="0" i="0">
                <a:solidFill>
                  <a:srgbClr val="202020"/>
                </a:solidFill>
                <a:latin typeface="Calibri"/>
              </a:rPr>
              <a:t> to see the parse result and counts, correct the JSON (or repoint </a:t>
            </a:r>
            <a:r>
              <a:rPr sz="1200" b="0" i="0">
                <a:solidFill>
                  <a:srgbClr val="202020"/>
                </a:solidFill>
                <a:latin typeface="Consolas"/>
              </a:rPr>
              <a:t>SEAT_LIST_PATH</a:t>
            </a:r>
            <a:r>
              <a:rPr sz="1250" b="0" i="0">
                <a:solidFill>
                  <a:srgbClr val="202020"/>
                </a:solidFill>
                <a:latin typeface="Calibri"/>
              </a:rPr>
              <a:t>), re-run </a:t>
            </a:r>
            <a:r>
              <a:rPr sz="1200" b="0" i="0">
                <a:solidFill>
                  <a:srgbClr val="202020"/>
                </a:solidFill>
                <a:latin typeface="Consolas"/>
              </a:rPr>
              <a:t>identity-dry-run</a:t>
            </a:r>
            <a:r>
              <a:rPr sz="1250" b="0" i="0">
                <a:solidFill>
                  <a:srgbClr val="202020"/>
                </a:solidFill>
                <a:latin typeface="Calibri"/>
              </a:rPr>
              <a:t> until the counts look right, then </a:t>
            </a:r>
            <a:r>
              <a:rPr sz="1200" b="0" i="0">
                <a:solidFill>
                  <a:srgbClr val="202020"/>
                </a:solidFill>
                <a:latin typeface="Consolas"/>
              </a:rPr>
              <a:t>seat-sync</a:t>
            </a:r>
            <a:r>
              <a:rPr sz="1250" b="0" i="0">
                <a:solidFill>
                  <a:srgbClr val="202020"/>
                </a:solidFill>
                <a:latin typeface="Calibri"/>
              </a:rPr>
              <a:t>. If the seat file changed without a change ticket, treat it as a security event (it is the entitlement boundary).</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661</a:t>
            </a:r>
          </a:p>
        </p:txBody>
      </p:sp>
    </p:spTree>
  </p:cSld>
  <p:clrMapOvr>
    <a:masterClrMapping/>
  </p:clrMapOvr>
</p:sld>
</file>

<file path=ppt/slides/slide6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Ledger Verify failure — tamper vs torn line (different escalations)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1" i="0">
                <a:solidFill>
                  <a:srgbClr val="202020"/>
                </a:solidFill>
                <a:latin typeface="Calibri"/>
              </a:rPr>
              <a:t>Symptom</a:t>
            </a:r>
            <a:r>
              <a:rPr sz="1250" b="0" i="0">
                <a:solidFill>
                  <a:srgbClr val="202020"/>
                </a:solidFill>
                <a:latin typeface="Calibri"/>
              </a:rPr>
              <a:t> — </a:t>
            </a:r>
            <a:r>
              <a:rPr sz="1200" b="0" i="0">
                <a:solidFill>
                  <a:srgbClr val="202020"/>
                </a:solidFill>
                <a:latin typeface="Consolas"/>
              </a:rPr>
              <a:t>altrata_erasure_ledger_broken == 1</a:t>
            </a:r>
            <a:r>
              <a:rPr sz="1250" b="0" i="0">
                <a:solidFill>
                  <a:srgbClr val="202020"/>
                </a:solidFill>
                <a:latin typeface="Calibri"/>
              </a:rPr>
              <a:t>; log </a:t>
            </a:r>
            <a:r>
              <a:rPr sz="1200" b="0" i="0">
                <a:solidFill>
                  <a:srgbClr val="202020"/>
                </a:solidFill>
                <a:latin typeface="Consolas"/>
              </a:rPr>
              <a:t>FAILED verification: chain broken at seq N</a:t>
            </a:r>
            <a:r>
              <a:rPr sz="1250" b="0" i="0">
                <a:solidFill>
                  <a:srgbClr val="202020"/>
                </a:solidFill>
                <a:latin typeface="Calibri"/>
              </a:rPr>
              <a:t>, or an erasure refuses with </a:t>
            </a:r>
            <a:r>
              <a:rPr sz="1200" b="0" i="0">
                <a:solidFill>
                  <a:srgbClr val="202020"/>
                </a:solidFill>
                <a:latin typeface="Consolas"/>
              </a:rPr>
              <a:t>REFUSING to append ... to a corrupt chain</a:t>
            </a:r>
            <a:r>
              <a:rPr sz="1250" b="0" i="0">
                <a:solidFill>
                  <a:srgbClr val="202020"/>
                </a:solidFill>
                <a:latin typeface="Calibri"/>
              </a:rPr>
              <a:t>. Open the ledger at line N and decide which case you are in — the escalation is different.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662</a:t>
            </a:r>
          </a:p>
        </p:txBody>
      </p:sp>
    </p:spTree>
  </p:cSld>
  <p:clrMapOvr>
    <a:masterClrMapping/>
  </p:clrMapOvr>
</p:sld>
</file>

<file path=ppt/slides/slide6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Ledger Verify failure — tamper vs torn line (different escalations)</a:t>
            </a:r>
          </a:p>
        </p:txBody>
      </p:sp>
      <p:graphicFrame>
        <p:nvGraphicFramePr>
          <p:cNvPr id="5" name="Table 4"/>
          <p:cNvGraphicFramePr>
            <a:graphicFrameLocks noGrp="1"/>
          </p:cNvGraphicFramePr>
          <p:nvPr/>
        </p:nvGraphicFramePr>
        <p:xfrm>
          <a:off x="502920" y="1188720"/>
          <a:ext cx="11185855" cy="1152144"/>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Case</a:t>
                      </a:r>
                    </a:p>
                  </a:txBody>
                  <a:tcPr marT="25400" marB="25400">
                    <a:solidFill>
                      <a:srgbClr val="2E5496"/>
                    </a:solidFill>
                  </a:tcPr>
                </a:tc>
                <a:tc>
                  <a:txBody>
                    <a:bodyPr wrap="square"/>
                    <a:lstStyle/>
                    <a:p>
                      <a:r>
                        <a:rPr sz="1050" b="1" i="0">
                          <a:solidFill>
                            <a:srgbClr val="FFFFFF"/>
                          </a:solidFill>
                          <a:latin typeface="Calibri"/>
                        </a:rPr>
                        <a:t>How to recognise it</a:t>
                      </a:r>
                    </a:p>
                  </a:txBody>
                  <a:tcPr marT="25400" marB="25400">
                    <a:solidFill>
                      <a:srgbClr val="2E5496"/>
                    </a:solidFill>
                  </a:tcPr>
                </a:tc>
                <a:tc>
                  <a:txBody>
                    <a:bodyPr wrap="square"/>
                    <a:lstStyle/>
                    <a:p>
                      <a:r>
                        <a:rPr sz="1050" b="1" i="0">
                          <a:solidFill>
                            <a:srgbClr val="FFFFFF"/>
                          </a:solidFill>
                          <a:latin typeface="Calibri"/>
                        </a:rPr>
                        <a:t>Escalation</a:t>
                      </a:r>
                    </a:p>
                  </a:txBody>
                  <a:tcPr marT="25400" marB="25400">
                    <a:solidFill>
                      <a:srgbClr val="2E5496"/>
                    </a:solidFill>
                  </a:tcPr>
                </a:tc>
              </a:tr>
              <a:tr h="384048">
                <a:tc>
                  <a:txBody>
                    <a:bodyPr wrap="square"/>
                    <a:lstStyle/>
                    <a:p>
                      <a:r>
                        <a:rPr sz="950" b="0" i="0">
                          <a:solidFill>
                            <a:srgbClr val="202020"/>
                          </a:solidFill>
                          <a:latin typeface="Calibri"/>
                        </a:rPr>
                        <a:t>Torn line (ops incident)</a:t>
                      </a:r>
                    </a:p>
                  </a:txBody>
                  <a:tcPr marT="12700" marB="12700">
                    <a:solidFill>
                      <a:srgbClr val="FFFFFF"/>
                    </a:solidFill>
                  </a:tcPr>
                </a:tc>
                <a:tc>
                  <a:txBody>
                    <a:bodyPr wrap="square"/>
                    <a:lstStyle/>
                    <a:p>
                      <a:r>
                        <a:rPr sz="950" b="0" i="0">
                          <a:solidFill>
                            <a:srgbClr val="202020"/>
                          </a:solidFill>
                          <a:latin typeface="Calibri"/>
                        </a:rPr>
                        <a:t>The LAST line is truncated/unparseable JSON and every earlier line verifies (crash / disk-full during append)</a:t>
                      </a:r>
                    </a:p>
                  </a:txBody>
                  <a:tcPr marT="12700" marB="12700">
                    <a:solidFill>
                      <a:srgbClr val="FFFFFF"/>
                    </a:solidFill>
                  </a:tcPr>
                </a:tc>
                <a:tc>
                  <a:txBody>
                    <a:bodyPr wrap="square"/>
                    <a:lstStyle/>
                    <a:p>
                      <a:r>
                        <a:rPr sz="950" b="0" i="0">
                          <a:solidFill>
                            <a:srgbClr val="202020"/>
                          </a:solidFill>
                          <a:latin typeface="Calibri"/>
                        </a:rPr>
                        <a:t>Normal severity. Restore from the last backup; or if only the final line is torn and the SIEM copy confirms nothing is missing, remove that line, re-run verify, then re-run the interrupted erasure</a:t>
                      </a:r>
                    </a:p>
                  </a:txBody>
                  <a:tcPr marT="12700" marB="12700">
                    <a:solidFill>
                      <a:srgbClr val="FFFFFF"/>
                    </a:solidFill>
                  </a:tcPr>
                </a:tc>
              </a:tr>
              <a:tr h="384048">
                <a:tc>
                  <a:txBody>
                    <a:bodyPr wrap="square"/>
                    <a:lstStyle/>
                    <a:p>
                      <a:r>
                        <a:rPr sz="950" b="0" i="0">
                          <a:solidFill>
                            <a:srgbClr val="202020"/>
                          </a:solidFill>
                          <a:latin typeface="Calibri"/>
                        </a:rPr>
                        <a:t>Tamper (SECURITY incident)</a:t>
                      </a:r>
                    </a:p>
                  </a:txBody>
                  <a:tcPr marT="12700" marB="12700">
                    <a:solidFill>
                      <a:srgbClr val="F7F9FC"/>
                    </a:solidFill>
                  </a:tcPr>
                </a:tc>
                <a:tc>
                  <a:txBody>
                    <a:bodyPr wrap="square"/>
                    <a:lstStyle/>
                    <a:p>
                      <a:r>
                        <a:rPr sz="950" b="0" i="0">
                          <a:solidFill>
                            <a:srgbClr val="202020"/>
                          </a:solidFill>
                          <a:latin typeface="Calibri"/>
                        </a:rPr>
                        <a:t>The break is NOT the final line, or a line parses but its hash/link mismatches, or the file shrank vs the SIEM copy</a:t>
                      </a:r>
                    </a:p>
                  </a:txBody>
                  <a:tcPr marT="12700" marB="12700">
                    <a:solidFill>
                      <a:srgbClr val="F7F9FC"/>
                    </a:solidFill>
                  </a:tcPr>
                </a:tc>
                <a:tc>
                  <a:txBody>
                    <a:bodyPr wrap="square"/>
                    <a:lstStyle/>
                    <a:p>
                      <a:r>
                        <a:rPr sz="950" b="0" i="0">
                          <a:solidFill>
                            <a:srgbClr val="202020"/>
                          </a:solidFill>
                          <a:latin typeface="Calibri"/>
                        </a:rPr>
                        <a:t>Critical / security. Do NOT edit, delete or append. Preserve the file and timestamps; notify security + DPO; forensics on who could write it; restore a verified copy to a NEW path only after imaging</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663</a:t>
            </a:r>
          </a:p>
        </p:txBody>
      </p:sp>
    </p:spTree>
  </p:cSld>
  <p:clrMapOvr>
    <a:masterClrMapping/>
  </p:clrMapOvr>
</p:sld>
</file>

<file path=ppt/slides/slide6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Ledger Verify failure — tamper vs torn line (different escalations)</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Any edit anywhere in the chain breaks every later link, so a mid-file break is edit/reorder/delete by definition. Cross-check the local file against the append-only copy your SIEM ingested. Keep both the metric and log alert paths enabled — they cross-check each other.</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664</a:t>
            </a:r>
          </a:p>
        </p:txBody>
      </p:sp>
    </p:spTree>
  </p:cSld>
  <p:clrMapOvr>
    <a:masterClrMapping/>
  </p:clrMapOvr>
</p:sld>
</file>

<file path=ppt/slides/slide6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Altrata Connector</a:t>
            </a:r>
          </a:p>
          <a:p>
            <a:r>
              <a:rPr sz="3000" b="1" i="0">
                <a:solidFill>
                  <a:srgbClr val="1F3864"/>
                </a:solidFill>
                <a:latin typeface="Calibri"/>
              </a:rPr>
              <a:t>14. Backup &amp; recovery specifics</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665</a:t>
            </a:r>
          </a:p>
        </p:txBody>
      </p:sp>
    </p:spTree>
  </p:cSld>
  <p:clrMapOvr>
    <a:masterClrMapping/>
  </p:clrMapOvr>
</p:sld>
</file>

<file path=ppt/slides/slide6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 Backup &amp; recovery specifics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Graph index is a rebuildable cache and almost everything can be recreated by re-crawling. Two files cannot — and losing them has compliance consequences, so they get the strictest backup tier.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666</a:t>
            </a:r>
          </a:p>
        </p:txBody>
      </p:sp>
    </p:spTree>
  </p:cSld>
  <p:clrMapOvr>
    <a:masterClrMapping/>
  </p:clrMapOvr>
</p:sld>
</file>

<file path=ppt/slides/slide6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The only state not recoverable by re-crawl</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Suppression list</a:t>
            </a:r>
            <a:r>
              <a:rPr sz="1250" b="0" i="0">
                <a:solidFill>
                  <a:srgbClr val="202020"/>
                </a:solidFill>
                <a:latin typeface="Calibri"/>
              </a:rPr>
              <a:t> (inside </a:t>
            </a:r>
            <a:r>
              <a:rPr sz="1200" b="0" i="0">
                <a:solidFill>
                  <a:srgbClr val="202020"/>
                </a:solidFill>
                <a:latin typeface="Consolas"/>
              </a:rPr>
              <a:t>data/{ID}_state.json</a:t>
            </a:r>
            <a:r>
              <a:rPr sz="1250" b="0" i="0">
                <a:solidFill>
                  <a:srgbClr val="202020"/>
                </a:solidFill>
                <a:latin typeface="Calibri"/>
              </a:rPr>
              <a:t>, or </a:t>
            </a:r>
            <a:r>
              <a:rPr sz="1200" b="0" i="0">
                <a:solidFill>
                  <a:srgbClr val="202020"/>
                </a:solidFill>
                <a:latin typeface="Consolas"/>
              </a:rPr>
              <a:t>dbo.altrata_suppressed</a:t>
            </a:r>
            <a:r>
              <a:rPr sz="1250" b="0" i="0">
                <a:solidFill>
                  <a:srgbClr val="202020"/>
                </a:solidFill>
                <a:latin typeface="Calibri"/>
              </a:rPr>
              <a:t> in SQL mode) — the erased subject ids. If it is lost, the next feed delivery </a:t>
            </a:r>
            <a:r>
              <a:rPr sz="1250" b="1" i="0">
                <a:solidFill>
                  <a:srgbClr val="202020"/>
                </a:solidFill>
                <a:latin typeface="Calibri"/>
              </a:rPr>
              <a:t>re-ingests erased people</a:t>
            </a:r>
            <a:r>
              <a:rPr sz="1250" b="0" i="0">
                <a:solidFill>
                  <a:srgbClr val="202020"/>
                </a:solidFill>
                <a:latin typeface="Calibri"/>
              </a:rPr>
              <a:t>: a compliance failure in waiting.</a:t>
            </a:r>
          </a:p>
          <a:p>
            <a:pPr>
              <a:spcBef>
                <a:spcPts val="100"/>
              </a:spcBef>
              <a:spcAft>
                <a:spcPts val="200"/>
              </a:spcAft>
            </a:pPr>
            <a:r>
              <a:rPr sz="1250" b="1" i="0">
                <a:solidFill>
                  <a:srgbClr val="2E5496"/>
                </a:solidFill>
                <a:latin typeface="Calibri"/>
              </a:rPr>
              <a:t>•  </a:t>
            </a:r>
            <a:r>
              <a:rPr sz="1250" b="1" i="0">
                <a:solidFill>
                  <a:srgbClr val="202020"/>
                </a:solidFill>
                <a:latin typeface="Calibri"/>
              </a:rPr>
              <a:t>Erasure ledger</a:t>
            </a:r>
            <a:r>
              <a:rPr sz="1250" b="0" i="0">
                <a:solidFill>
                  <a:srgbClr val="202020"/>
                </a:solidFill>
                <a:latin typeface="Calibri"/>
              </a:rPr>
              <a:t> (</a:t>
            </a:r>
            <a:r>
              <a:rPr sz="1200" b="0" i="0">
                <a:solidFill>
                  <a:srgbClr val="202020"/>
                </a:solidFill>
                <a:latin typeface="Consolas"/>
              </a:rPr>
              <a:t>logs/erasure_ledger_{ID}.jsonl</a:t>
            </a:r>
            <a:r>
              <a:rPr sz="1250" b="0" i="0">
                <a:solidFill>
                  <a:srgbClr val="202020"/>
                </a:solidFill>
                <a:latin typeface="Calibri"/>
              </a:rPr>
              <a:t>) — the tamper-evident proof that DSARs were carried out. If it is lost, that proof is gone.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667</a:t>
            </a:r>
          </a:p>
        </p:txBody>
      </p:sp>
    </p:spTree>
  </p:cSld>
  <p:clrMapOvr>
    <a:masterClrMapping/>
  </p:clrMapOvr>
</p:sld>
</file>

<file path=ppt/slides/slide6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The only state not recoverable by re-crawl</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Because losing the suppression list re-exposes erased individuals, back up these two on a </a:t>
            </a:r>
            <a:r>
              <a:rPr sz="1400" b="1" i="0">
                <a:solidFill>
                  <a:srgbClr val="202020"/>
                </a:solidFill>
                <a:latin typeface="Calibri"/>
              </a:rPr>
              <a:t>stricter tier than everything else</a:t>
            </a:r>
            <a:r>
              <a:rPr sz="1400" b="0" i="0">
                <a:solidFill>
                  <a:srgbClr val="202020"/>
                </a:solidFill>
                <a:latin typeface="Calibri"/>
              </a:rPr>
              <a:t>: copy them </a:t>
            </a:r>
            <a:r>
              <a:rPr sz="1400" b="1" i="0">
                <a:solidFill>
                  <a:srgbClr val="202020"/>
                </a:solidFill>
                <a:latin typeface="Calibri"/>
              </a:rPr>
              <a:t>immediately after every erasure command</a:t>
            </a:r>
            <a:r>
              <a:rPr sz="1400" b="0" i="0">
                <a:solidFill>
                  <a:srgbClr val="202020"/>
                </a:solidFill>
                <a:latin typeface="Calibri"/>
              </a:rPr>
              <a:t> (not on a nightly cycle), so no completed erasure is ever unprotected (target RPO: zero erasures). Both files are tiny. Also ship every ledger append to the SIEM as an append-only remote copy, and keep them on immutable / WORM storage for your DSAR evidence retention period.</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668</a:t>
            </a:r>
          </a:p>
        </p:txBody>
      </p:sp>
    </p:spTree>
  </p:cSld>
  <p:clrMapOvr>
    <a:masterClrMapping/>
  </p:clrMapOvr>
</p:sld>
</file>

<file path=ppt/slides/slide6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Everything else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crawl checkpoint, sync timestamps, delivery ledger, identity database (inventory, crosswalk, path index, seats) and dead-letter queue are all rebuildable by a full crawl plus </a:t>
            </a:r>
            <a:r>
              <a:rPr sz="1200" b="0" i="0">
                <a:solidFill>
                  <a:srgbClr val="202020"/>
                </a:solidFill>
                <a:latin typeface="Consolas"/>
              </a:rPr>
              <a:t>seat-sync</a:t>
            </a:r>
            <a:r>
              <a:rPr sz="1250" b="0" i="0">
                <a:solidFill>
                  <a:srgbClr val="202020"/>
                </a:solidFill>
                <a:latin typeface="Calibri"/>
              </a:rPr>
              <a:t>, so a nightly (tier-2) backup is enough. The general disaster-recovery model, RPO/RTO targets and the upgrade/rollback procedure are in the Common Guide (DR) — this section only adds the erasure-specific tier-1 rule and the reconciliation step below.</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669</a:t>
            </a:r>
          </a:p>
        </p:txBody>
      </p:sp>
    </p:spTree>
  </p:cSld>
  <p:clrMapOvr>
    <a:masterClrMapping/>
  </p:clrMapOvr>
</p:sld>
</file>

<file path=ppt/slides/slide6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Restore order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After any restore, do these in order:</a:t>
            </a:r>
          </a:p>
          <a:p>
            <a:pPr>
              <a:spcBef>
                <a:spcPts val="100"/>
              </a:spcBef>
              <a:spcAft>
                <a:spcPts val="200"/>
              </a:spcAft>
            </a:pPr>
            <a:r>
              <a:rPr sz="1250" b="1" i="0">
                <a:solidFill>
                  <a:srgbClr val="2E5496"/>
                </a:solidFill>
                <a:latin typeface="Calibri"/>
              </a:rPr>
              <a:t>•  </a:t>
            </a:r>
            <a:r>
              <a:rPr sz="1250" b="1" i="0">
                <a:solidFill>
                  <a:srgbClr val="202020"/>
                </a:solidFill>
                <a:latin typeface="Calibri"/>
              </a:rPr>
              <a:t>1</a:t>
            </a:r>
            <a:r>
              <a:rPr sz="1250" b="0" i="0">
                <a:solidFill>
                  <a:srgbClr val="202020"/>
                </a:solidFill>
                <a:latin typeface="Calibri"/>
              </a:rPr>
              <a:t> Stop the service (a graceful SCM stop finishes the current chunk and saves the checkpoint).</a:t>
            </a:r>
          </a:p>
          <a:p>
            <a:pPr>
              <a:spcBef>
                <a:spcPts val="100"/>
              </a:spcBef>
              <a:spcAft>
                <a:spcPts val="200"/>
              </a:spcAft>
            </a:pPr>
            <a:r>
              <a:rPr sz="1250" b="1" i="0">
                <a:solidFill>
                  <a:srgbClr val="2E5496"/>
                </a:solidFill>
                <a:latin typeface="Calibri"/>
              </a:rPr>
              <a:t>•  </a:t>
            </a:r>
            <a:r>
              <a:rPr sz="1250" b="1" i="0">
                <a:solidFill>
                  <a:srgbClr val="202020"/>
                </a:solidFill>
                <a:latin typeface="Calibri"/>
              </a:rPr>
              <a:t>2</a:t>
            </a:r>
            <a:r>
              <a:rPr sz="1250" b="0" i="0">
                <a:solidFill>
                  <a:srgbClr val="202020"/>
                </a:solidFill>
                <a:latin typeface="Calibri"/>
              </a:rPr>
              <a:t> Restore </a:t>
            </a:r>
            <a:r>
              <a:rPr sz="1250" b="1" i="0">
                <a:solidFill>
                  <a:srgbClr val="202020"/>
                </a:solidFill>
                <a:latin typeface="Calibri"/>
              </a:rPr>
              <a:t>tier 1 first</a:t>
            </a:r>
            <a:r>
              <a:rPr sz="1250" b="0" i="0">
                <a:solidFill>
                  <a:srgbClr val="202020"/>
                </a:solidFill>
                <a:latin typeface="Calibri"/>
              </a:rPr>
              <a:t> — the state doc (or at least its suppression list) and the erasure ledger; then run any erasure command once so the ledger </a:t>
            </a:r>
            <a:r>
              <a:rPr sz="1200" b="0" i="0">
                <a:solidFill>
                  <a:srgbClr val="202020"/>
                </a:solidFill>
                <a:latin typeface="Consolas"/>
              </a:rPr>
              <a:t>Verify()</a:t>
            </a:r>
            <a:r>
              <a:rPr sz="1250" b="0" i="0">
                <a:solidFill>
                  <a:srgbClr val="202020"/>
                </a:solidFill>
                <a:latin typeface="Calibri"/>
              </a:rPr>
              <a:t> refreshes </a:t>
            </a:r>
            <a:r>
              <a:rPr sz="1200" b="0" i="0">
                <a:solidFill>
                  <a:srgbClr val="202020"/>
                </a:solidFill>
                <a:latin typeface="Consolas"/>
              </a:rPr>
              <a:t>altrata_erasure_ledger_broken</a:t>
            </a:r>
            <a:r>
              <a:rPr sz="1250" b="0" i="0">
                <a:solidFill>
                  <a:srgbClr val="202020"/>
                </a:solidFill>
                <a:latin typeface="Calibri"/>
              </a:rPr>
              <a:t>.</a:t>
            </a:r>
          </a:p>
          <a:p>
            <a:pPr>
              <a:spcBef>
                <a:spcPts val="100"/>
              </a:spcBef>
              <a:spcAft>
                <a:spcPts val="200"/>
              </a:spcAft>
            </a:pPr>
            <a:r>
              <a:rPr sz="1250" b="1" i="0">
                <a:solidFill>
                  <a:srgbClr val="2E5496"/>
                </a:solidFill>
                <a:latin typeface="Calibri"/>
              </a:rPr>
              <a:t>•  </a:t>
            </a:r>
            <a:r>
              <a:rPr sz="1250" b="1" i="0">
                <a:solidFill>
                  <a:srgbClr val="202020"/>
                </a:solidFill>
                <a:latin typeface="Calibri"/>
              </a:rPr>
              <a:t>3</a:t>
            </a:r>
            <a:r>
              <a:rPr sz="1250" b="0" i="0">
                <a:solidFill>
                  <a:srgbClr val="202020"/>
                </a:solidFill>
                <a:latin typeface="Calibri"/>
              </a:rPr>
              <a:t> Restore tier 2 — identity database, dead-letter queue, checkpoint.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670</a:t>
            </a:r>
          </a:p>
        </p:txBody>
      </p:sp>
    </p:spTree>
  </p:cSld>
  <p:clrMapOvr>
    <a:masterClrMapping/>
  </p:clrMapOvr>
</p:sld>
</file>

<file path=ppt/slides/slide6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Restore order</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4</a:t>
            </a:r>
            <a:r>
              <a:rPr sz="1250" b="0" i="0">
                <a:solidFill>
                  <a:srgbClr val="202020"/>
                </a:solidFill>
                <a:latin typeface="Calibri"/>
              </a:rPr>
              <a:t> </a:t>
            </a:r>
            <a:r>
              <a:rPr sz="1250" b="1" i="0">
                <a:solidFill>
                  <a:srgbClr val="202020"/>
                </a:solidFill>
                <a:latin typeface="Calibri"/>
              </a:rPr>
              <a:t>Erasure reconciliation (mandatory if the restored state is older than your last erasure):</a:t>
            </a:r>
            <a:r>
              <a:rPr sz="1250" b="0" i="0">
                <a:solidFill>
                  <a:srgbClr val="202020"/>
                </a:solidFill>
                <a:latin typeface="Calibri"/>
              </a:rPr>
              <a:t> for every ledger </a:t>
            </a:r>
            <a:r>
              <a:rPr sz="1200" b="0" i="0">
                <a:solidFill>
                  <a:srgbClr val="202020"/>
                </a:solidFill>
                <a:latin typeface="Consolas"/>
              </a:rPr>
              <a:t>erase</a:t>
            </a:r>
            <a:r>
              <a:rPr sz="1250" b="0" i="0">
                <a:solidFill>
                  <a:srgbClr val="202020"/>
                </a:solidFill>
                <a:latin typeface="Calibri"/>
              </a:rPr>
              <a:t> entry without a later </a:t>
            </a:r>
            <a:r>
              <a:rPr sz="1200" b="0" i="0">
                <a:solidFill>
                  <a:srgbClr val="202020"/>
                </a:solidFill>
                <a:latin typeface="Consolas"/>
              </a:rPr>
              <a:t>unsuppress</a:t>
            </a:r>
            <a:r>
              <a:rPr sz="1250" b="0" i="0">
                <a:solidFill>
                  <a:srgbClr val="202020"/>
                </a:solidFill>
                <a:latin typeface="Calibri"/>
              </a:rPr>
              <a:t>, dry-run </a:t>
            </a:r>
            <a:r>
              <a:rPr sz="1200" b="0" i="0">
                <a:solidFill>
                  <a:srgbClr val="202020"/>
                </a:solidFill>
                <a:latin typeface="Consolas"/>
              </a:rPr>
              <a:t>forget-subject --id &lt;subject&gt;</a:t>
            </a:r>
            <a:r>
              <a:rPr sz="1250" b="0" i="0">
                <a:solidFill>
                  <a:srgbClr val="202020"/>
                </a:solidFill>
                <a:latin typeface="Calibri"/>
              </a:rPr>
              <a:t> — it must show </a:t>
            </a:r>
            <a:r>
              <a:rPr sz="1200" b="0" i="0">
                <a:solidFill>
                  <a:srgbClr val="202020"/>
                </a:solidFill>
                <a:latin typeface="Consolas"/>
              </a:rPr>
              <a:t>Items to withdraw : 0</a:t>
            </a:r>
            <a:r>
              <a:rPr sz="1250" b="0" i="0">
                <a:solidFill>
                  <a:srgbClr val="202020"/>
                </a:solidFill>
                <a:latin typeface="Calibri"/>
              </a:rPr>
              <a:t> and </a:t>
            </a:r>
            <a:r>
              <a:rPr sz="1200" b="0" i="0">
                <a:solidFill>
                  <a:srgbClr val="202020"/>
                </a:solidFill>
                <a:latin typeface="Consolas"/>
              </a:rPr>
              <a:t>Already suppressed : 1 / 1</a:t>
            </a:r>
            <a:r>
              <a:rPr sz="1250" b="0" i="0">
                <a:solidFill>
                  <a:srgbClr val="202020"/>
                </a:solidFill>
                <a:latin typeface="Calibri"/>
              </a:rPr>
              <a:t>; if not, re-run with </a:t>
            </a:r>
            <a:r>
              <a:rPr sz="1200" b="0" i="0">
                <a:solidFill>
                  <a:srgbClr val="202020"/>
                </a:solidFill>
                <a:latin typeface="Consolas"/>
              </a:rPr>
              <a:t>--confirm</a:t>
            </a:r>
            <a:r>
              <a:rPr sz="1250" b="0" i="0">
                <a:solidFill>
                  <a:srgbClr val="202020"/>
                </a:solidFill>
                <a:latin typeface="Calibri"/>
              </a:rPr>
              <a:t> (it is idempotent).</a:t>
            </a:r>
          </a:p>
          <a:p>
            <a:pPr>
              <a:spcBef>
                <a:spcPts val="100"/>
              </a:spcBef>
              <a:spcAft>
                <a:spcPts val="200"/>
              </a:spcAft>
            </a:pPr>
            <a:r>
              <a:rPr sz="1250" b="1" i="0">
                <a:solidFill>
                  <a:srgbClr val="2E5496"/>
                </a:solidFill>
                <a:latin typeface="Calibri"/>
              </a:rPr>
              <a:t>•  </a:t>
            </a:r>
            <a:r>
              <a:rPr sz="1250" b="1" i="0">
                <a:solidFill>
                  <a:srgbClr val="202020"/>
                </a:solidFill>
                <a:latin typeface="Calibri"/>
              </a:rPr>
              <a:t>5</a:t>
            </a:r>
            <a:r>
              <a:rPr sz="1250" b="0" i="0">
                <a:solidFill>
                  <a:srgbClr val="202020"/>
                </a:solidFill>
                <a:latin typeface="Calibri"/>
              </a:rPr>
              <a:t> Run </a:t>
            </a:r>
            <a:r>
              <a:rPr sz="1200" b="0" i="0">
                <a:solidFill>
                  <a:srgbClr val="202020"/>
                </a:solidFill>
                <a:latin typeface="Consolas"/>
              </a:rPr>
              <a:t>validate-config --strict</a:t>
            </a:r>
            <a:r>
              <a:rPr sz="1250" b="0" i="0">
                <a:solidFill>
                  <a:srgbClr val="202020"/>
                </a:solidFill>
                <a:latin typeface="Calibri"/>
              </a:rPr>
              <a:t>, then one supervised </a:t>
            </a:r>
            <a:r>
              <a:rPr sz="1200" b="0" i="0">
                <a:solidFill>
                  <a:srgbClr val="202020"/>
                </a:solidFill>
                <a:latin typeface="Consolas"/>
              </a:rPr>
              <a:t>ingest --incremental</a:t>
            </a:r>
            <a:r>
              <a:rPr sz="1250" b="0" i="0">
                <a:solidFill>
                  <a:srgbClr val="202020"/>
                </a:solidFill>
                <a:latin typeface="Calibri"/>
              </a:rPr>
              <a:t>, then re-enable continuous mode.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671</a:t>
            </a:r>
          </a:p>
        </p:txBody>
      </p:sp>
    </p:spTree>
  </p:cSld>
  <p:clrMapOvr>
    <a:masterClrMapping/>
  </p:clrMapOvr>
</p:sld>
</file>

<file path=ppt/slides/slide6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Restore order</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Do the reconciliation in step 4 </a:t>
            </a:r>
            <a:r>
              <a:rPr sz="1400" b="1" i="0">
                <a:solidFill>
                  <a:srgbClr val="202020"/>
                </a:solidFill>
                <a:latin typeface="Calibri"/>
              </a:rPr>
              <a:t>before</a:t>
            </a:r>
            <a:r>
              <a:rPr sz="1400" b="0" i="0">
                <a:solidFill>
                  <a:srgbClr val="202020"/>
                </a:solidFill>
                <a:latin typeface="Calibri"/>
              </a:rPr>
              <a:t> re-enabling scheduled crawls. A crawl run against a stale suppression list will re-ingest erased subjects; even though the later reconciliation erases them again, they were searchable in between — log that exposure window for the DPO.</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672</a:t>
            </a:r>
          </a:p>
        </p:txBody>
      </p:sp>
    </p:spTree>
  </p:cSld>
  <p:clrMapOvr>
    <a:masterClrMapping/>
  </p:clrMapOvr>
</p:sld>
</file>

<file path=ppt/slides/slide6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Altrata Connector</a:t>
            </a:r>
          </a:p>
          <a:p>
            <a:r>
              <a:rPr sz="3000" b="1" i="0">
                <a:solidFill>
                  <a:srgbClr val="1F3864"/>
                </a:solidFill>
                <a:latin typeface="Calibri"/>
              </a:rPr>
              <a:t>15. Configuration reference</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673</a:t>
            </a:r>
          </a:p>
        </p:txBody>
      </p:sp>
    </p:spTree>
  </p:cSld>
  <p:clrMapOvr>
    <a:masterClrMapping/>
  </p:clrMapOvr>
</p:sld>
</file>

<file path=ppt/slides/slide6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15. Configuration reference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Every knob is documented inline in </a:t>
            </a:r>
            <a:r>
              <a:rPr sz="1200" b="0" i="0">
                <a:solidFill>
                  <a:srgbClr val="202020"/>
                </a:solidFill>
                <a:latin typeface="Consolas"/>
              </a:rPr>
              <a:t>env/.env.local.example</a:t>
            </a:r>
            <a:r>
              <a:rPr sz="1250" b="0" i="0">
                <a:solidFill>
                  <a:srgbClr val="202020"/>
                </a:solidFill>
                <a:latin typeface="Calibri"/>
              </a:rPr>
              <a:t>. Layering: the real process environment wins, then </a:t>
            </a:r>
            <a:r>
              <a:rPr sz="1200" b="0" i="0">
                <a:solidFill>
                  <a:srgbClr val="202020"/>
                </a:solidFill>
                <a:latin typeface="Consolas"/>
              </a:rPr>
              <a:t>env/.env.local</a:t>
            </a:r>
            <a:r>
              <a:rPr sz="1250" b="0" i="0">
                <a:solidFill>
                  <a:srgbClr val="202020"/>
                </a:solidFill>
                <a:latin typeface="Calibri"/>
              </a:rPr>
              <a:t> (non-secret), then </a:t>
            </a:r>
            <a:r>
              <a:rPr sz="1200" b="0" i="0">
                <a:solidFill>
                  <a:srgbClr val="202020"/>
                </a:solidFill>
                <a:latin typeface="Consolas"/>
              </a:rPr>
              <a:t>env/.env.local.user</a:t>
            </a:r>
            <a:r>
              <a:rPr sz="1250" b="0" i="0">
                <a:solidFill>
                  <a:srgbClr val="202020"/>
                </a:solidFill>
                <a:latin typeface="Calibri"/>
              </a:rPr>
              <a:t> (</a:t>
            </a:r>
            <a:r>
              <a:rPr sz="1200" b="0" i="0">
                <a:solidFill>
                  <a:srgbClr val="202020"/>
                </a:solidFill>
                <a:latin typeface="Consolas"/>
              </a:rPr>
              <a:t>SECRET_*</a:t>
            </a:r>
            <a:r>
              <a:rPr sz="1250" b="0" i="0">
                <a:solidFill>
                  <a:srgbClr val="202020"/>
                </a:solidFill>
                <a:latin typeface="Calibri"/>
              </a:rPr>
              <a:t> only). The most operationally relevant variables: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674</a:t>
            </a:r>
          </a:p>
        </p:txBody>
      </p:sp>
    </p:spTree>
  </p:cSld>
  <p:clrMapOvr>
    <a:masterClrMapping/>
  </p:clrMapOvr>
</p:sld>
</file>

<file path=ppt/slides/slide6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Core, Graph and feeds</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2796463"/>
                <a:gridCol w="2796463"/>
                <a:gridCol w="2796463"/>
                <a:gridCol w="2796466"/>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Required?</a:t>
                      </a:r>
                    </a:p>
                  </a:txBody>
                  <a:tcPr marT="25400" marB="25400">
                    <a:solidFill>
                      <a:srgbClr val="2E5496"/>
                    </a:solidFill>
                  </a:tcPr>
                </a:tc>
                <a:tc>
                  <a:txBody>
                    <a:bodyPr wrap="square"/>
                    <a:lstStyle/>
                    <a:p>
                      <a:r>
                        <a:rPr sz="1050" b="1" i="0">
                          <a:solidFill>
                            <a:srgbClr val="FFFFFF"/>
                          </a:solidFill>
                          <a:latin typeface="Calibri"/>
                        </a:rPr>
                        <a:t>Default</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r>
              <a:tr h="384048">
                <a:tc>
                  <a:txBody>
                    <a:bodyPr wrap="square"/>
                    <a:lstStyle/>
                    <a:p>
                      <a:r>
                        <a:rPr sz="950" b="0" i="0">
                          <a:solidFill>
                            <a:srgbClr val="202020"/>
                          </a:solidFill>
                          <a:latin typeface="Consolas"/>
                        </a:rPr>
                        <a:t>CONNECTOR_ID</a:t>
                      </a:r>
                    </a:p>
                  </a:txBody>
                  <a:tcPr marT="12700" marB="12700">
                    <a:solidFill>
                      <a:srgbClr val="FFFFFF"/>
                    </a:solidFill>
                  </a:tcPr>
                </a:tc>
                <a:tc>
                  <a:txBody>
                    <a:bodyPr wrap="square"/>
                    <a:lstStyle/>
                    <a:p>
                      <a:r>
                        <a:rPr sz="950" b="0" i="0">
                          <a:solidFill>
                            <a:srgbClr val="202020"/>
                          </a:solidFill>
                          <a:latin typeface="Calibri"/>
                        </a:rPr>
                        <a:t>yes</a:t>
                      </a:r>
                    </a:p>
                  </a:txBody>
                  <a:tcPr marT="12700" marB="12700">
                    <a:solidFill>
                      <a:srgbClr val="FFFFFF"/>
                    </a:solidFill>
                  </a:tcPr>
                </a:tc>
                <a:tc>
                  <a:txBody>
                    <a:bodyPr wrap="square"/>
                    <a:lstStyle/>
                    <a:p>
                      <a:r>
                        <a:rPr sz="950" b="0" i="0">
                          <a:solidFill>
                            <a:srgbClr val="202020"/>
                          </a:solidFill>
                          <a:latin typeface="Calibri"/>
                        </a:rPr>
                        <a:t>—</a:t>
                      </a:r>
                    </a:p>
                  </a:txBody>
                  <a:tcPr marT="12700" marB="12700">
                    <a:solidFill>
                      <a:srgbClr val="FFFFFF"/>
                    </a:solidFill>
                  </a:tcPr>
                </a:tc>
                <a:tc>
                  <a:txBody>
                    <a:bodyPr wrap="square"/>
                    <a:lstStyle/>
                    <a:p>
                      <a:r>
                        <a:rPr sz="950" b="0" i="0">
                          <a:solidFill>
                            <a:srgbClr val="202020"/>
                          </a:solidFill>
                          <a:latin typeface="Calibri"/>
                        </a:rPr>
                        <a:t>Unique connection id (3-32 alphanumeric); also the on-disk state key</a:t>
                      </a:r>
                    </a:p>
                  </a:txBody>
                  <a:tcPr marT="12700" marB="12700">
                    <a:solidFill>
                      <a:srgbClr val="FFFFFF"/>
                    </a:solidFill>
                  </a:tcPr>
                </a:tc>
              </a:tr>
              <a:tr h="384048">
                <a:tc>
                  <a:txBody>
                    <a:bodyPr wrap="square"/>
                    <a:lstStyle/>
                    <a:p>
                      <a:r>
                        <a:rPr sz="950" b="0" i="0">
                          <a:solidFill>
                            <a:srgbClr val="202020"/>
                          </a:solidFill>
                          <a:latin typeface="Consolas"/>
                        </a:rPr>
                        <a:t>CONNECTOR_NAME / CONNECTOR_DESCRIPTION</a:t>
                      </a:r>
                    </a:p>
                  </a:txBody>
                  <a:tcPr marT="12700" marB="12700">
                    <a:solidFill>
                      <a:srgbClr val="F7F9FC"/>
                    </a:solidFill>
                  </a:tcPr>
                </a:tc>
                <a:tc>
                  <a:txBody>
                    <a:bodyPr wrap="square"/>
                    <a:lstStyle/>
                    <a:p>
                      <a:r>
                        <a:rPr sz="950" b="0" i="0">
                          <a:solidFill>
                            <a:srgbClr val="202020"/>
                          </a:solidFill>
                          <a:latin typeface="Calibri"/>
                        </a:rPr>
                        <a:t>yes</a:t>
                      </a:r>
                    </a:p>
                  </a:txBody>
                  <a:tcPr marT="12700" marB="12700">
                    <a:solidFill>
                      <a:srgbClr val="F7F9FC"/>
                    </a:solidFill>
                  </a:tcPr>
                </a:tc>
                <a:tc>
                  <a:txBody>
                    <a:bodyPr wrap="square"/>
                    <a:lstStyle/>
                    <a:p>
                      <a:r>
                        <a:rPr sz="950" b="0" i="0">
                          <a:solidFill>
                            <a:srgbClr val="202020"/>
                          </a:solidFill>
                          <a:latin typeface="Calibri"/>
                        </a:rPr>
                        <a:t>—</a:t>
                      </a:r>
                    </a:p>
                  </a:txBody>
                  <a:tcPr marT="12700" marB="12700">
                    <a:solidFill>
                      <a:srgbClr val="F7F9FC"/>
                    </a:solidFill>
                  </a:tcPr>
                </a:tc>
                <a:tc>
                  <a:txBody>
                    <a:bodyPr wrap="square"/>
                    <a:lstStyle/>
                    <a:p>
                      <a:r>
                        <a:rPr sz="950" b="0" i="0">
                          <a:solidFill>
                            <a:srgbClr val="202020"/>
                          </a:solidFill>
                          <a:latin typeface="Calibri"/>
                        </a:rPr>
                        <a:t>Display name / description in the admin UI</a:t>
                      </a:r>
                    </a:p>
                  </a:txBody>
                  <a:tcPr marT="12700" marB="12700">
                    <a:solidFill>
                      <a:srgbClr val="F7F9FC"/>
                    </a:solidFill>
                  </a:tcPr>
                </a:tc>
              </a:tr>
              <a:tr h="384048">
                <a:tc>
                  <a:txBody>
                    <a:bodyPr wrap="square"/>
                    <a:lstStyle/>
                    <a:p>
                      <a:r>
                        <a:rPr sz="950" b="0" i="0">
                          <a:solidFill>
                            <a:srgbClr val="202020"/>
                          </a:solidFill>
                          <a:latin typeface="Consolas"/>
                        </a:rPr>
                        <a:t>AAD_APP_CLIENT_ID / AAD_APP_TENANT_ID</a:t>
                      </a:r>
                    </a:p>
                  </a:txBody>
                  <a:tcPr marT="12700" marB="12700">
                    <a:solidFill>
                      <a:srgbClr val="FFFFFF"/>
                    </a:solidFill>
                  </a:tcPr>
                </a:tc>
                <a:tc>
                  <a:txBody>
                    <a:bodyPr wrap="square"/>
                    <a:lstStyle/>
                    <a:p>
                      <a:r>
                        <a:rPr sz="950" b="0" i="0">
                          <a:solidFill>
                            <a:srgbClr val="202020"/>
                          </a:solidFill>
                          <a:latin typeface="Calibri"/>
                        </a:rPr>
                        <a:t>yes</a:t>
                      </a:r>
                    </a:p>
                  </a:txBody>
                  <a:tcPr marT="12700" marB="12700">
                    <a:solidFill>
                      <a:srgbClr val="FFFFFF"/>
                    </a:solidFill>
                  </a:tcPr>
                </a:tc>
                <a:tc>
                  <a:txBody>
                    <a:bodyPr wrap="square"/>
                    <a:lstStyle/>
                    <a:p>
                      <a:r>
                        <a:rPr sz="950" b="0" i="0">
                          <a:solidFill>
                            <a:srgbClr val="202020"/>
                          </a:solidFill>
                          <a:latin typeface="Calibri"/>
                        </a:rPr>
                        <a:t>—</a:t>
                      </a:r>
                    </a:p>
                  </a:txBody>
                  <a:tcPr marT="12700" marB="12700">
                    <a:solidFill>
                      <a:srgbClr val="FFFFFF"/>
                    </a:solidFill>
                  </a:tcPr>
                </a:tc>
                <a:tc>
                  <a:txBody>
                    <a:bodyPr wrap="square"/>
                    <a:lstStyle/>
                    <a:p>
                      <a:r>
                        <a:rPr sz="950" b="0" i="0">
                          <a:solidFill>
                            <a:srgbClr val="202020"/>
                          </a:solidFill>
                          <a:latin typeface="Calibri"/>
                        </a:rPr>
                        <a:t>Entra app (client) and tenant ids</a:t>
                      </a:r>
                    </a:p>
                  </a:txBody>
                  <a:tcPr marT="12700" marB="12700">
                    <a:solidFill>
                      <a:srgbClr val="FFFFFF"/>
                    </a:solidFill>
                  </a:tcPr>
                </a:tc>
              </a:tr>
              <a:tr h="384048">
                <a:tc>
                  <a:txBody>
                    <a:bodyPr wrap="square"/>
                    <a:lstStyle/>
                    <a:p>
                      <a:r>
                        <a:rPr sz="950" b="0" i="0">
                          <a:solidFill>
                            <a:srgbClr val="202020"/>
                          </a:solidFill>
                          <a:latin typeface="Consolas"/>
                        </a:rPr>
                        <a:t>SECRET_AAD_APP_CLIENT_SECRET</a:t>
                      </a:r>
                    </a:p>
                  </a:txBody>
                  <a:tcPr marT="12700" marB="12700">
                    <a:solidFill>
                      <a:srgbClr val="F7F9FC"/>
                    </a:solidFill>
                  </a:tcPr>
                </a:tc>
                <a:tc>
                  <a:txBody>
                    <a:bodyPr wrap="square"/>
                    <a:lstStyle/>
                    <a:p>
                      <a:r>
                        <a:rPr sz="950" b="0" i="0">
                          <a:solidFill>
                            <a:srgbClr val="202020"/>
                          </a:solidFill>
                          <a:latin typeface="Calibri"/>
                        </a:rPr>
                        <a:t>yes*</a:t>
                      </a:r>
                    </a:p>
                  </a:txBody>
                  <a:tcPr marT="12700" marB="12700">
                    <a:solidFill>
                      <a:srgbClr val="F7F9FC"/>
                    </a:solidFill>
                  </a:tcPr>
                </a:tc>
                <a:tc>
                  <a:txBody>
                    <a:bodyPr wrap="square"/>
                    <a:lstStyle/>
                    <a:p>
                      <a:r>
                        <a:rPr sz="950" b="0" i="0">
                          <a:solidFill>
                            <a:srgbClr val="202020"/>
                          </a:solidFill>
                          <a:latin typeface="Calibri"/>
                        </a:rPr>
                        <a:t>—</a:t>
                      </a:r>
                    </a:p>
                  </a:txBody>
                  <a:tcPr marT="12700" marB="12700">
                    <a:solidFill>
                      <a:srgbClr val="F7F9FC"/>
                    </a:solidFill>
                  </a:tcPr>
                </a:tc>
                <a:tc>
                  <a:txBody>
                    <a:bodyPr wrap="square"/>
                    <a:lstStyle/>
                    <a:p>
                      <a:r>
                        <a:rPr sz="950" b="0" i="0">
                          <a:solidFill>
                            <a:srgbClr val="202020"/>
                          </a:solidFill>
                          <a:latin typeface="Calibri"/>
                        </a:rPr>
                        <a:t>App secret (in .env.local.user / Key Vault). *Optional if a client certificate is set</a:t>
                      </a:r>
                    </a:p>
                  </a:txBody>
                  <a:tcPr marT="12700" marB="12700">
                    <a:solidFill>
                      <a:srgbClr val="F7F9FC"/>
                    </a:solidFill>
                  </a:tcPr>
                </a:tc>
              </a:tr>
              <a:tr h="384048">
                <a:tc>
                  <a:txBody>
                    <a:bodyPr wrap="square"/>
                    <a:lstStyle/>
                    <a:p>
                      <a:r>
                        <a:rPr sz="950" b="0" i="0">
                          <a:solidFill>
                            <a:srgbClr val="202020"/>
                          </a:solidFill>
                          <a:latin typeface="Consolas"/>
                        </a:rPr>
                        <a:t>FEED_PATH</a:t>
                      </a:r>
                    </a:p>
                  </a:txBody>
                  <a:tcPr marT="12700" marB="12700">
                    <a:solidFill>
                      <a:srgbClr val="FFFFFF"/>
                    </a:solidFill>
                  </a:tcPr>
                </a:tc>
                <a:tc>
                  <a:txBody>
                    <a:bodyPr wrap="square"/>
                    <a:lstStyle/>
                    <a:p>
                      <a:r>
                        <a:rPr sz="950" b="0" i="0">
                          <a:solidFill>
                            <a:srgbClr val="202020"/>
                          </a:solidFill>
                          <a:latin typeface="Calibri"/>
                        </a:rPr>
                        <a:t>for ingest</a:t>
                      </a:r>
                    </a:p>
                  </a:txBody>
                  <a:tcPr marT="12700" marB="12700">
                    <a:solidFill>
                      <a:srgbClr val="FFFFFF"/>
                    </a:solidFill>
                  </a:tcPr>
                </a:tc>
                <a:tc>
                  <a:txBody>
                    <a:bodyPr wrap="square"/>
                    <a:lstStyle/>
                    <a:p>
                      <a:r>
                        <a:rPr sz="950" b="0" i="0">
                          <a:solidFill>
                            <a:srgbClr val="202020"/>
                          </a:solidFill>
                          <a:latin typeface="Calibri"/>
                        </a:rPr>
                        <a:t>—</a:t>
                      </a:r>
                    </a:p>
                  </a:txBody>
                  <a:tcPr marT="12700" marB="12700">
                    <a:solidFill>
                      <a:srgbClr val="FFFFFF"/>
                    </a:solidFill>
                  </a:tcPr>
                </a:tc>
                <a:tc>
                  <a:txBody>
                    <a:bodyPr wrap="square"/>
                    <a:lstStyle/>
                    <a:p>
                      <a:r>
                        <a:rPr sz="950" b="0" i="0">
                          <a:solidFill>
                            <a:srgbClr val="202020"/>
                          </a:solidFill>
                          <a:latin typeface="Calibri"/>
                        </a:rPr>
                        <a:t>Local SFTP drop directory the connector reads</a:t>
                      </a:r>
                    </a:p>
                  </a:txBody>
                  <a:tcPr marT="12700" marB="12700">
                    <a:solidFill>
                      <a:srgbClr val="FFFFFF"/>
                    </a:solidFill>
                  </a:tcPr>
                </a:tc>
              </a:tr>
              <a:tr h="384048">
                <a:tc>
                  <a:txBody>
                    <a:bodyPr wrap="square"/>
                    <a:lstStyle/>
                    <a:p>
                      <a:r>
                        <a:rPr sz="950" b="0" i="0">
                          <a:solidFill>
                            <a:srgbClr val="202020"/>
                          </a:solidFill>
                          <a:latin typeface="Consolas"/>
                        </a:rPr>
                        <a:t>FEED_JSON_MAX_MB</a:t>
                      </a:r>
                    </a:p>
                  </a:txBody>
                  <a:tcPr marT="12700" marB="12700">
                    <a:solidFill>
                      <a:srgbClr val="F7F9FC"/>
                    </a:solidFill>
                  </a:tcPr>
                </a:tc>
                <a:tc>
                  <a:txBody>
                    <a:bodyPr wrap="square"/>
                    <a:lstStyle/>
                    <a:p>
                      <a:r>
                        <a:rPr sz="950" b="0" i="0">
                          <a:solidFill>
                            <a:srgbClr val="202020"/>
                          </a:solidFill>
                          <a:latin typeface="Calibri"/>
                        </a:rPr>
                        <a:t>no</a:t>
                      </a:r>
                    </a:p>
                  </a:txBody>
                  <a:tcPr marT="12700" marB="12700">
                    <a:solidFill>
                      <a:srgbClr val="F7F9FC"/>
                    </a:solidFill>
                  </a:tcPr>
                </a:tc>
                <a:tc>
                  <a:txBody>
                    <a:bodyPr wrap="square"/>
                    <a:lstStyle/>
                    <a:p>
                      <a:r>
                        <a:rPr sz="950" b="0" i="0">
                          <a:solidFill>
                            <a:srgbClr val="202020"/>
                          </a:solidFill>
                          <a:latin typeface="Calibri"/>
                        </a:rPr>
                        <a:t>256</a:t>
                      </a:r>
                    </a:p>
                  </a:txBody>
                  <a:tcPr marT="12700" marB="12700">
                    <a:solidFill>
                      <a:srgbClr val="F7F9FC"/>
                    </a:solidFill>
                  </a:tcPr>
                </a:tc>
                <a:tc>
                  <a:txBody>
                    <a:bodyPr wrap="square"/>
                    <a:lstStyle/>
                    <a:p>
                      <a:r>
                        <a:rPr sz="950" b="0" i="0">
                          <a:solidFill>
                            <a:srgbClr val="202020"/>
                          </a:solidFill>
                          <a:latin typeface="Calibri"/>
                        </a:rPr>
                        <a:t>Size cap for in-memory .json arrays</a:t>
                      </a:r>
                    </a:p>
                  </a:txBody>
                  <a:tcPr marT="12700" marB="12700">
                    <a:solidFill>
                      <a:srgbClr val="F7F9FC"/>
                    </a:solidFill>
                  </a:tcPr>
                </a:tc>
              </a:tr>
              <a:tr h="384048">
                <a:tc>
                  <a:txBody>
                    <a:bodyPr wrap="square"/>
                    <a:lstStyle/>
                    <a:p>
                      <a:r>
                        <a:rPr sz="950" b="0" i="0">
                          <a:solidFill>
                            <a:srgbClr val="202020"/>
                          </a:solidFill>
                          <a:latin typeface="Consolas"/>
                        </a:rPr>
                        <a:t>RETENTION_DAYS / RETENTION_MODE</a:t>
                      </a:r>
                    </a:p>
                  </a:txBody>
                  <a:tcPr marT="12700" marB="12700">
                    <a:solidFill>
                      <a:srgbClr val="FFFFFF"/>
                    </a:solidFill>
                  </a:tcPr>
                </a:tc>
                <a:tc>
                  <a:txBody>
                    <a:bodyPr wrap="square"/>
                    <a:lstStyle/>
                    <a:p>
                      <a:r>
                        <a:rPr sz="950" b="0" i="0">
                          <a:solidFill>
                            <a:srgbClr val="202020"/>
                          </a:solidFill>
                          <a:latin typeface="Calibri"/>
                        </a:rPr>
                        <a:t>no</a:t>
                      </a:r>
                    </a:p>
                  </a:txBody>
                  <a:tcPr marT="12700" marB="12700">
                    <a:solidFill>
                      <a:srgbClr val="FFFFFF"/>
                    </a:solidFill>
                  </a:tcPr>
                </a:tc>
                <a:tc>
                  <a:txBody>
                    <a:bodyPr wrap="square"/>
                    <a:lstStyle/>
                    <a:p>
                      <a:r>
                        <a:rPr sz="950" b="0" i="0">
                          <a:solidFill>
                            <a:srgbClr val="202020"/>
                          </a:solidFill>
                          <a:latin typeface="Calibri"/>
                        </a:rPr>
                        <a:t>0 / archive</a:t>
                      </a:r>
                    </a:p>
                  </a:txBody>
                  <a:tcPr marT="12700" marB="12700">
                    <a:solidFill>
                      <a:srgbClr val="FFFFFF"/>
                    </a:solidFill>
                  </a:tcPr>
                </a:tc>
                <a:tc>
                  <a:txBody>
                    <a:bodyPr wrap="square"/>
                    <a:lstStyle/>
                    <a:p>
                      <a:r>
                        <a:rPr sz="950" b="0" i="0">
                          <a:solidFill>
                            <a:srgbClr val="202020"/>
                          </a:solidFill>
                          <a:latin typeface="Calibri"/>
                        </a:rPr>
                        <a:t>Archive or delete processed feed files after N days</a:t>
                      </a:r>
                    </a:p>
                  </a:txBody>
                  <a:tcPr marT="12700" marB="12700">
                    <a:solidFill>
                      <a:srgbClr val="FFFFFF"/>
                    </a:solidFill>
                  </a:tcPr>
                </a:tc>
              </a:tr>
              <a:tr h="384048">
                <a:tc>
                  <a:txBody>
                    <a:bodyPr wrap="square"/>
                    <a:lstStyle/>
                    <a:p>
                      <a:r>
                        <a:rPr sz="950" b="0" i="0">
                          <a:solidFill>
                            <a:srgbClr val="202020"/>
                          </a:solidFill>
                          <a:latin typeface="Consolas"/>
                        </a:rPr>
                        <a:t>GRAPH_BATCH_SIZE / GRAPH_BATCH_WORKERS</a:t>
                      </a:r>
                    </a:p>
                  </a:txBody>
                  <a:tcPr marT="12700" marB="12700">
                    <a:solidFill>
                      <a:srgbClr val="F7F9FC"/>
                    </a:solidFill>
                  </a:tcPr>
                </a:tc>
                <a:tc>
                  <a:txBody>
                    <a:bodyPr wrap="square"/>
                    <a:lstStyle/>
                    <a:p>
                      <a:r>
                        <a:rPr sz="950" b="0" i="0">
                          <a:solidFill>
                            <a:srgbClr val="202020"/>
                          </a:solidFill>
                          <a:latin typeface="Calibri"/>
                        </a:rPr>
                        <a:t>no</a:t>
                      </a:r>
                    </a:p>
                  </a:txBody>
                  <a:tcPr marT="12700" marB="12700">
                    <a:solidFill>
                      <a:srgbClr val="F7F9FC"/>
                    </a:solidFill>
                  </a:tcPr>
                </a:tc>
                <a:tc>
                  <a:txBody>
                    <a:bodyPr wrap="square"/>
                    <a:lstStyle/>
                    <a:p>
                      <a:r>
                        <a:rPr sz="950" b="0" i="0">
                          <a:solidFill>
                            <a:srgbClr val="202020"/>
                          </a:solidFill>
                          <a:latin typeface="Calibri"/>
                        </a:rPr>
                        <a:t>20 / 8</a:t>
                      </a:r>
                    </a:p>
                  </a:txBody>
                  <a:tcPr marT="12700" marB="12700">
                    <a:solidFill>
                      <a:srgbClr val="F7F9FC"/>
                    </a:solidFill>
                  </a:tcPr>
                </a:tc>
                <a:tc>
                  <a:txBody>
                    <a:bodyPr wrap="square"/>
                    <a:lstStyle/>
                    <a:p>
                      <a:r>
                        <a:rPr sz="950" b="0" i="0">
                          <a:solidFill>
                            <a:srgbClr val="202020"/>
                          </a:solidFill>
                          <a:latin typeface="Calibri"/>
                        </a:rPr>
                        <a:t>$batch size and concurrent workers (adaptive on 429)</a:t>
                      </a:r>
                    </a:p>
                  </a:txBody>
                  <a:tcPr marT="12700" marB="12700">
                    <a:solidFill>
                      <a:srgbClr val="F7F9FC"/>
                    </a:solidFill>
                  </a:tcPr>
                </a:tc>
              </a:tr>
              <a:tr h="384048">
                <a:tc>
                  <a:txBody>
                    <a:bodyPr wrap="square"/>
                    <a:lstStyle/>
                    <a:p>
                      <a:r>
                        <a:rPr sz="950" b="0" i="0">
                          <a:solidFill>
                            <a:srgbClr val="202020"/>
                          </a:solidFill>
                          <a:latin typeface="Consolas"/>
                        </a:rPr>
                        <a:t>GRAPH_BASE_URL / GRAPH_SCOPE</a:t>
                      </a:r>
                    </a:p>
                  </a:txBody>
                  <a:tcPr marT="12700" marB="12700">
                    <a:solidFill>
                      <a:srgbClr val="FFFFFF"/>
                    </a:solidFill>
                  </a:tcPr>
                </a:tc>
                <a:tc>
                  <a:txBody>
                    <a:bodyPr wrap="square"/>
                    <a:lstStyle/>
                    <a:p>
                      <a:r>
                        <a:rPr sz="950" b="0" i="0">
                          <a:solidFill>
                            <a:srgbClr val="202020"/>
                          </a:solidFill>
                          <a:latin typeface="Calibri"/>
                        </a:rPr>
                        <a:t>no</a:t>
                      </a:r>
                    </a:p>
                  </a:txBody>
                  <a:tcPr marT="12700" marB="12700">
                    <a:solidFill>
                      <a:srgbClr val="FFFFFF"/>
                    </a:solidFill>
                  </a:tcPr>
                </a:tc>
                <a:tc>
                  <a:txBody>
                    <a:bodyPr wrap="square"/>
                    <a:lstStyle/>
                    <a:p>
                      <a:r>
                        <a:rPr sz="950" b="0" i="0">
                          <a:solidFill>
                            <a:srgbClr val="202020"/>
                          </a:solidFill>
                          <a:latin typeface="Calibri"/>
                        </a:rPr>
                        <a:t>public cloud</a:t>
                      </a:r>
                    </a:p>
                  </a:txBody>
                  <a:tcPr marT="12700" marB="12700">
                    <a:solidFill>
                      <a:srgbClr val="FFFFFF"/>
                    </a:solidFill>
                  </a:tcPr>
                </a:tc>
                <a:tc>
                  <a:txBody>
                    <a:bodyPr wrap="square"/>
                    <a:lstStyle/>
                    <a:p>
                      <a:r>
                        <a:rPr sz="950" b="0" i="0">
                          <a:solidFill>
                            <a:srgbClr val="202020"/>
                          </a:solidFill>
                          <a:latin typeface="Calibri"/>
                        </a:rPr>
                        <a:t>Sovereign-cloud Graph endpoint (US Gov / 21Vianet)</a:t>
                      </a:r>
                    </a:p>
                  </a:txBody>
                  <a:tcPr marT="12700" marB="12700">
                    <a:solidFill>
                      <a:srgbClr val="FFFFFF"/>
                    </a:solidFill>
                  </a:tcPr>
                </a:tc>
              </a:tr>
              <a:tr h="384048">
                <a:tc>
                  <a:txBody>
                    <a:bodyPr wrap="square"/>
                    <a:lstStyle/>
                    <a:p>
                      <a:r>
                        <a:rPr sz="950" b="0" i="0">
                          <a:solidFill>
                            <a:srgbClr val="202020"/>
                          </a:solidFill>
                          <a:latin typeface="Consolas"/>
                        </a:rPr>
                        <a:t>GRAPH_CONNECTION_SHARDS</a:t>
                      </a:r>
                    </a:p>
                  </a:txBody>
                  <a:tcPr marT="12700" marB="12700">
                    <a:solidFill>
                      <a:srgbClr val="F7F9FC"/>
                    </a:solidFill>
                  </a:tcPr>
                </a:tc>
                <a:tc>
                  <a:txBody>
                    <a:bodyPr wrap="square"/>
                    <a:lstStyle/>
                    <a:p>
                      <a:r>
                        <a:rPr sz="950" b="0" i="0">
                          <a:solidFill>
                            <a:srgbClr val="202020"/>
                          </a:solidFill>
                          <a:latin typeface="Calibri"/>
                        </a:rPr>
                        <a:t>no</a:t>
                      </a:r>
                    </a:p>
                  </a:txBody>
                  <a:tcPr marT="12700" marB="12700">
                    <a:solidFill>
                      <a:srgbClr val="F7F9FC"/>
                    </a:solidFill>
                  </a:tcPr>
                </a:tc>
                <a:tc>
                  <a:txBody>
                    <a:bodyPr wrap="square"/>
                    <a:lstStyle/>
                    <a:p>
                      <a:r>
                        <a:rPr sz="950" b="0" i="0">
                          <a:solidFill>
                            <a:srgbClr val="202020"/>
                          </a:solidFill>
                          <a:latin typeface="Calibri"/>
                        </a:rPr>
                        <a:t>off</a:t>
                      </a:r>
                    </a:p>
                  </a:txBody>
                  <a:tcPr marT="12700" marB="12700">
                    <a:solidFill>
                      <a:srgbClr val="F7F9FC"/>
                    </a:solidFill>
                  </a:tcPr>
                </a:tc>
                <a:tc>
                  <a:txBody>
                    <a:bodyPr wrap="square"/>
                    <a:lstStyle/>
                    <a:p>
                      <a:r>
                        <a:rPr sz="950" b="0" i="0">
                          <a:solidFill>
                            <a:srgbClr val="202020"/>
                          </a:solidFill>
                          <a:latin typeface="Calibri"/>
                        </a:rPr>
                        <a:t>Shard datasets across multiple Graph connections</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675</a:t>
            </a:r>
          </a:p>
        </p:txBody>
      </p:sp>
    </p:spTree>
  </p:cSld>
  <p:clrMapOvr>
    <a:masterClrMapping/>
  </p:clrMapOvr>
</p:sld>
</file>

<file path=ppt/slides/slide6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Entitlement, DSAR and privacy</a:t>
            </a:r>
          </a:p>
        </p:txBody>
      </p:sp>
      <p:graphicFrame>
        <p:nvGraphicFramePr>
          <p:cNvPr id="5" name="Table 4"/>
          <p:cNvGraphicFramePr>
            <a:graphicFrameLocks noGrp="1"/>
          </p:cNvGraphicFramePr>
          <p:nvPr/>
        </p:nvGraphicFramePr>
        <p:xfrm>
          <a:off x="502920" y="1188720"/>
          <a:ext cx="11185855" cy="3456432"/>
        </p:xfrm>
        <a:graphic>
          <a:graphicData uri="http://schemas.openxmlformats.org/drawingml/2006/table">
            <a:tbl>
              <a:tblPr firstRow="1" bandRow="1">
                <a:tableStyleId>{5C22544A-7EE6-4342-B048-85BDC9FD1C3A}</a:tableStyleId>
              </a:tblPr>
              <a:tblGrid>
                <a:gridCol w="2796463"/>
                <a:gridCol w="2796463"/>
                <a:gridCol w="2796463"/>
                <a:gridCol w="2796466"/>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Required?</a:t>
                      </a:r>
                    </a:p>
                  </a:txBody>
                  <a:tcPr marT="25400" marB="25400">
                    <a:solidFill>
                      <a:srgbClr val="2E5496"/>
                    </a:solidFill>
                  </a:tcPr>
                </a:tc>
                <a:tc>
                  <a:txBody>
                    <a:bodyPr wrap="square"/>
                    <a:lstStyle/>
                    <a:p>
                      <a:r>
                        <a:rPr sz="1050" b="1" i="0">
                          <a:solidFill>
                            <a:srgbClr val="FFFFFF"/>
                          </a:solidFill>
                          <a:latin typeface="Calibri"/>
                        </a:rPr>
                        <a:t>Default</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r>
              <a:tr h="384048">
                <a:tc>
                  <a:txBody>
                    <a:bodyPr wrap="square"/>
                    <a:lstStyle/>
                    <a:p>
                      <a:r>
                        <a:rPr sz="950" b="0" i="0">
                          <a:solidFill>
                            <a:srgbClr val="202020"/>
                          </a:solidFill>
                          <a:latin typeface="Consolas"/>
                        </a:rPr>
                        <a:t>SEAT_GROUP_ID</a:t>
                      </a:r>
                    </a:p>
                  </a:txBody>
                  <a:tcPr marT="12700" marB="12700">
                    <a:solidFill>
                      <a:srgbClr val="FFFFFF"/>
                    </a:solidFill>
                  </a:tcPr>
                </a:tc>
                <a:tc>
                  <a:txBody>
                    <a:bodyPr wrap="square"/>
                    <a:lstStyle/>
                    <a:p>
                      <a:r>
                        <a:rPr sz="950" b="0" i="0">
                          <a:solidFill>
                            <a:srgbClr val="202020"/>
                          </a:solidFill>
                          <a:latin typeface="Calibri"/>
                        </a:rPr>
                        <a:t>one seat source</a:t>
                      </a:r>
                    </a:p>
                  </a:txBody>
                  <a:tcPr marT="12700" marB="12700">
                    <a:solidFill>
                      <a:srgbClr val="FFFFFF"/>
                    </a:solidFill>
                  </a:tcPr>
                </a:tc>
                <a:tc>
                  <a:txBody>
                    <a:bodyPr wrap="square"/>
                    <a:lstStyle/>
                    <a:p>
                      <a:r>
                        <a:rPr sz="950" b="0" i="0">
                          <a:solidFill>
                            <a:srgbClr val="202020"/>
                          </a:solidFill>
                          <a:latin typeface="Calibri"/>
                        </a:rPr>
                        <a:t>—</a:t>
                      </a:r>
                    </a:p>
                  </a:txBody>
                  <a:tcPr marT="12700" marB="12700">
                    <a:solidFill>
                      <a:srgbClr val="FFFFFF"/>
                    </a:solidFill>
                  </a:tcPr>
                </a:tc>
                <a:tc>
                  <a:txBody>
                    <a:bodyPr wrap="square"/>
                    <a:lstStyle/>
                    <a:p>
                      <a:r>
                        <a:rPr sz="950" b="0" i="0">
                          <a:solidFill>
                            <a:srgbClr val="202020"/>
                          </a:solidFill>
                          <a:latin typeface="Calibri"/>
                        </a:rPr>
                        <a:t>Single Entra group as the seat list (wins over the file)</a:t>
                      </a:r>
                    </a:p>
                  </a:txBody>
                  <a:tcPr marT="12700" marB="12700">
                    <a:solidFill>
                      <a:srgbClr val="FFFFFF"/>
                    </a:solidFill>
                  </a:tcPr>
                </a:tc>
              </a:tr>
              <a:tr h="384048">
                <a:tc>
                  <a:txBody>
                    <a:bodyPr wrap="square"/>
                    <a:lstStyle/>
                    <a:p>
                      <a:r>
                        <a:rPr sz="950" b="0" i="0">
                          <a:solidFill>
                            <a:srgbClr val="202020"/>
                          </a:solidFill>
                          <a:latin typeface="Consolas"/>
                        </a:rPr>
                        <a:t>SEAT_LIST_PATH</a:t>
                      </a:r>
                    </a:p>
                  </a:txBody>
                  <a:tcPr marT="12700" marB="12700">
                    <a:solidFill>
                      <a:srgbClr val="F7F9FC"/>
                    </a:solidFill>
                  </a:tcPr>
                </a:tc>
                <a:tc>
                  <a:txBody>
                    <a:bodyPr wrap="square"/>
                    <a:lstStyle/>
                    <a:p>
                      <a:r>
                        <a:rPr sz="950" b="0" i="0">
                          <a:solidFill>
                            <a:srgbClr val="202020"/>
                          </a:solidFill>
                          <a:latin typeface="Calibri"/>
                        </a:rPr>
                        <a:t>one seat source</a:t>
                      </a:r>
                    </a:p>
                  </a:txBody>
                  <a:tcPr marT="12700" marB="12700">
                    <a:solidFill>
                      <a:srgbClr val="F7F9FC"/>
                    </a:solidFill>
                  </a:tcPr>
                </a:tc>
                <a:tc>
                  <a:txBody>
                    <a:bodyPr wrap="square"/>
                    <a:lstStyle/>
                    <a:p>
                      <a:r>
                        <a:rPr sz="950" b="0" i="0">
                          <a:solidFill>
                            <a:srgbClr val="202020"/>
                          </a:solidFill>
                          <a:latin typeface="Calibri"/>
                        </a:rPr>
                        <a:t>config/seats.json</a:t>
                      </a:r>
                    </a:p>
                  </a:txBody>
                  <a:tcPr marT="12700" marB="12700">
                    <a:solidFill>
                      <a:srgbClr val="F7F9FC"/>
                    </a:solidFill>
                  </a:tcPr>
                </a:tc>
                <a:tc>
                  <a:txBody>
                    <a:bodyPr wrap="square"/>
                    <a:lstStyle/>
                    <a:p>
                      <a:r>
                        <a:rPr sz="950" b="0" i="0">
                          <a:solidFill>
                            <a:srgbClr val="202020"/>
                          </a:solidFill>
                          <a:latin typeface="Calibri"/>
                        </a:rPr>
                        <a:t>Seat-list file (UPNs / object IDs)</a:t>
                      </a:r>
                    </a:p>
                  </a:txBody>
                  <a:tcPr marT="12700" marB="12700">
                    <a:solidFill>
                      <a:srgbClr val="F7F9FC"/>
                    </a:solidFill>
                  </a:tcPr>
                </a:tc>
              </a:tr>
              <a:tr h="384048">
                <a:tc>
                  <a:txBody>
                    <a:bodyPr wrap="square"/>
                    <a:lstStyle/>
                    <a:p>
                      <a:r>
                        <a:rPr sz="950" b="0" i="0">
                          <a:solidFill>
                            <a:srgbClr val="202020"/>
                          </a:solidFill>
                          <a:latin typeface="Consolas"/>
                        </a:rPr>
                        <a:t>IDENTITY_SYNC_ON_INCREMENTAL</a:t>
                      </a:r>
                    </a:p>
                  </a:txBody>
                  <a:tcPr marT="12700" marB="12700">
                    <a:solidFill>
                      <a:srgbClr val="FFFFFF"/>
                    </a:solidFill>
                  </a:tcPr>
                </a:tc>
                <a:tc>
                  <a:txBody>
                    <a:bodyPr wrap="square"/>
                    <a:lstStyle/>
                    <a:p>
                      <a:r>
                        <a:rPr sz="950" b="0" i="0">
                          <a:solidFill>
                            <a:srgbClr val="202020"/>
                          </a:solidFill>
                          <a:latin typeface="Calibri"/>
                        </a:rPr>
                        <a:t>no</a:t>
                      </a:r>
                    </a:p>
                  </a:txBody>
                  <a:tcPr marT="12700" marB="12700">
                    <a:solidFill>
                      <a:srgbClr val="FFFFFF"/>
                    </a:solidFill>
                  </a:tcPr>
                </a:tc>
                <a:tc>
                  <a:txBody>
                    <a:bodyPr wrap="square"/>
                    <a:lstStyle/>
                    <a:p>
                      <a:r>
                        <a:rPr sz="950" b="0" i="0">
                          <a:solidFill>
                            <a:srgbClr val="202020"/>
                          </a:solidFill>
                          <a:latin typeface="Calibri"/>
                        </a:rPr>
                        <a:t>true</a:t>
                      </a:r>
                    </a:p>
                  </a:txBody>
                  <a:tcPr marT="12700" marB="12700">
                    <a:solidFill>
                      <a:srgbClr val="FFFFFF"/>
                    </a:solidFill>
                  </a:tcPr>
                </a:tc>
                <a:tc>
                  <a:txBody>
                    <a:bodyPr wrap="square"/>
                    <a:lstStyle/>
                    <a:p>
                      <a:r>
                        <a:rPr sz="950" b="0" i="0">
                          <a:solidFill>
                            <a:srgbClr val="202020"/>
                          </a:solidFill>
                          <a:latin typeface="Calibri"/>
                        </a:rPr>
                        <a:t>Run the seat-change re-ACL sweep over existing items on incremental crawls too (matches prior always-re-ACL behaviour); false defers the sweep to full crawls only</a:t>
                      </a:r>
                    </a:p>
                  </a:txBody>
                  <a:tcPr marT="12700" marB="12700">
                    <a:solidFill>
                      <a:srgbClr val="FFFFFF"/>
                    </a:solidFill>
                  </a:tcPr>
                </a:tc>
              </a:tr>
              <a:tr h="384048">
                <a:tc>
                  <a:txBody>
                    <a:bodyPr wrap="square"/>
                    <a:lstStyle/>
                    <a:p>
                      <a:r>
                        <a:rPr sz="950" b="0" i="0">
                          <a:solidFill>
                            <a:srgbClr val="202020"/>
                          </a:solidFill>
                          <a:latin typeface="Consolas"/>
                        </a:rPr>
                        <a:t>DEADLETTER_PAYLOAD_MODE</a:t>
                      </a:r>
                    </a:p>
                  </a:txBody>
                  <a:tcPr marT="12700" marB="12700">
                    <a:solidFill>
                      <a:srgbClr val="F7F9FC"/>
                    </a:solidFill>
                  </a:tcPr>
                </a:tc>
                <a:tc>
                  <a:txBody>
                    <a:bodyPr wrap="square"/>
                    <a:lstStyle/>
                    <a:p>
                      <a:r>
                        <a:rPr sz="950" b="0" i="0">
                          <a:solidFill>
                            <a:srgbClr val="202020"/>
                          </a:solidFill>
                          <a:latin typeface="Calibri"/>
                        </a:rPr>
                        <a:t>no</a:t>
                      </a:r>
                    </a:p>
                  </a:txBody>
                  <a:tcPr marT="12700" marB="12700">
                    <a:solidFill>
                      <a:srgbClr val="F7F9FC"/>
                    </a:solidFill>
                  </a:tcPr>
                </a:tc>
                <a:tc>
                  <a:txBody>
                    <a:bodyPr wrap="square"/>
                    <a:lstStyle/>
                    <a:p>
                      <a:r>
                        <a:rPr sz="950" b="0" i="0">
                          <a:solidFill>
                            <a:srgbClr val="202020"/>
                          </a:solidFill>
                          <a:latin typeface="Calibri"/>
                        </a:rPr>
                        <a:t>redacted</a:t>
                      </a:r>
                    </a:p>
                  </a:txBody>
                  <a:tcPr marT="12700" marB="12700">
                    <a:solidFill>
                      <a:srgbClr val="F7F9FC"/>
                    </a:solidFill>
                  </a:tcPr>
                </a:tc>
                <a:tc>
                  <a:txBody>
                    <a:bodyPr wrap="square"/>
                    <a:lstStyle/>
                    <a:p>
                      <a:r>
                        <a:rPr sz="950" b="0" i="0">
                          <a:solidFill>
                            <a:srgbClr val="202020"/>
                          </a:solidFill>
                          <a:latin typeface="Calibri"/>
                        </a:rPr>
                        <a:t>Redacted here by design (siblings default to full): dead-letter holds hashes only; full captures the profile verbatim. An unrecognised value fails fast at config load</a:t>
                      </a:r>
                    </a:p>
                  </a:txBody>
                  <a:tcPr marT="12700" marB="12700">
                    <a:solidFill>
                      <a:srgbClr val="F7F9FC"/>
                    </a:solidFill>
                  </a:tcPr>
                </a:tc>
              </a:tr>
              <a:tr h="384048">
                <a:tc>
                  <a:txBody>
                    <a:bodyPr wrap="square"/>
                    <a:lstStyle/>
                    <a:p>
                      <a:r>
                        <a:rPr sz="950" b="0" i="0">
                          <a:solidFill>
                            <a:srgbClr val="202020"/>
                          </a:solidFill>
                          <a:latin typeface="Consolas"/>
                        </a:rPr>
                        <a:t>CRM_CONTACTS_PATH</a:t>
                      </a:r>
                    </a:p>
                  </a:txBody>
                  <a:tcPr marT="12700" marB="12700">
                    <a:solidFill>
                      <a:srgbClr val="FFFFFF"/>
                    </a:solidFill>
                  </a:tcPr>
                </a:tc>
                <a:tc>
                  <a:txBody>
                    <a:bodyPr wrap="square"/>
                    <a:lstStyle/>
                    <a:p>
                      <a:r>
                        <a:rPr sz="950" b="0" i="0">
                          <a:solidFill>
                            <a:srgbClr val="202020"/>
                          </a:solidFill>
                          <a:latin typeface="Calibri"/>
                        </a:rPr>
                        <a:t>no</a:t>
                      </a:r>
                    </a:p>
                  </a:txBody>
                  <a:tcPr marT="12700" marB="12700">
                    <a:solidFill>
                      <a:srgbClr val="FFFFFF"/>
                    </a:solidFill>
                  </a:tcPr>
                </a:tc>
                <a:tc>
                  <a:txBody>
                    <a:bodyPr wrap="square"/>
                    <a:lstStyle/>
                    <a:p>
                      <a:r>
                        <a:rPr sz="950" b="0" i="0">
                          <a:solidFill>
                            <a:srgbClr val="202020"/>
                          </a:solidFill>
                          <a:latin typeface="Calibri"/>
                        </a:rPr>
                        <a:t>—</a:t>
                      </a:r>
                    </a:p>
                  </a:txBody>
                  <a:tcPr marT="12700" marB="12700">
                    <a:solidFill>
                      <a:srgbClr val="FFFFFF"/>
                    </a:solidFill>
                  </a:tcPr>
                </a:tc>
                <a:tc>
                  <a:txBody>
                    <a:bodyPr wrap="square"/>
                    <a:lstStyle/>
                    <a:p>
                      <a:r>
                        <a:rPr sz="950" b="0" i="0">
                          <a:solidFill>
                            <a:srgbClr val="202020"/>
                          </a:solidFill>
                          <a:latin typeface="Calibri"/>
                        </a:rPr>
                        <a:t>CRM export for entity resolution (crmContactId linking)</a:t>
                      </a:r>
                    </a:p>
                  </a:txBody>
                  <a:tcPr marT="12700" marB="12700">
                    <a:solidFill>
                      <a:srgbClr val="FFFFFF"/>
                    </a:solidFill>
                  </a:tcPr>
                </a:tc>
              </a:tr>
              <a:tr h="384048">
                <a:tc>
                  <a:txBody>
                    <a:bodyPr wrap="square"/>
                    <a:lstStyle/>
                    <a:p>
                      <a:r>
                        <a:rPr sz="950" b="0" i="0">
                          <a:solidFill>
                            <a:srgbClr val="202020"/>
                          </a:solidFill>
                          <a:latin typeface="Consolas"/>
                        </a:rPr>
                        <a:t>ENTITY_FUZZY_MATCHING</a:t>
                      </a:r>
                    </a:p>
                  </a:txBody>
                  <a:tcPr marT="12700" marB="12700">
                    <a:solidFill>
                      <a:srgbClr val="F7F9FC"/>
                    </a:solidFill>
                  </a:tcPr>
                </a:tc>
                <a:tc>
                  <a:txBody>
                    <a:bodyPr wrap="square"/>
                    <a:lstStyle/>
                    <a:p>
                      <a:r>
                        <a:rPr sz="950" b="0" i="0">
                          <a:solidFill>
                            <a:srgbClr val="202020"/>
                          </a:solidFill>
                          <a:latin typeface="Calibri"/>
                        </a:rPr>
                        <a:t>no</a:t>
                      </a:r>
                    </a:p>
                  </a:txBody>
                  <a:tcPr marT="12700" marB="12700">
                    <a:solidFill>
                      <a:srgbClr val="F7F9FC"/>
                    </a:solidFill>
                  </a:tcPr>
                </a:tc>
                <a:tc>
                  <a:txBody>
                    <a:bodyPr wrap="square"/>
                    <a:lstStyle/>
                    <a:p>
                      <a:r>
                        <a:rPr sz="950" b="0" i="0">
                          <a:solidFill>
                            <a:srgbClr val="202020"/>
                          </a:solidFill>
                          <a:latin typeface="Calibri"/>
                        </a:rPr>
                        <a:t>false</a:t>
                      </a:r>
                    </a:p>
                  </a:txBody>
                  <a:tcPr marT="12700" marB="12700">
                    <a:solidFill>
                      <a:srgbClr val="F7F9FC"/>
                    </a:solidFill>
                  </a:tcPr>
                </a:tc>
                <a:tc>
                  <a:txBody>
                    <a:bodyPr wrap="square"/>
                    <a:lstStyle/>
                    <a:p>
                      <a:r>
                        <a:rPr sz="950" b="0" i="0">
                          <a:solidFill>
                            <a:srgbClr val="202020"/>
                          </a:solidFill>
                          <a:latin typeface="Calibri"/>
                        </a:rPr>
                        <a:t>Enable the scored fuzzy match tier beneath the deterministic rules</a:t>
                      </a:r>
                    </a:p>
                  </a:txBody>
                  <a:tcPr marT="12700" marB="12700">
                    <a:solidFill>
                      <a:srgbClr val="F7F9FC"/>
                    </a:solidFill>
                  </a:tcPr>
                </a:tc>
              </a:tr>
              <a:tr h="384048">
                <a:tc>
                  <a:txBody>
                    <a:bodyPr wrap="square"/>
                    <a:lstStyle/>
                    <a:p>
                      <a:r>
                        <a:rPr sz="950" b="0" i="0">
                          <a:solidFill>
                            <a:srgbClr val="202020"/>
                          </a:solidFill>
                          <a:latin typeface="Consolas"/>
                        </a:rPr>
                        <a:t>ENTITY_MATCH_THRESHOLD / ENTITY_REVIEW_FLOOR</a:t>
                      </a:r>
                    </a:p>
                  </a:txBody>
                  <a:tcPr marT="12700" marB="12700">
                    <a:solidFill>
                      <a:srgbClr val="FFFFFF"/>
                    </a:solidFill>
                  </a:tcPr>
                </a:tc>
                <a:tc>
                  <a:txBody>
                    <a:bodyPr wrap="square"/>
                    <a:lstStyle/>
                    <a:p>
                      <a:r>
                        <a:rPr sz="950" b="0" i="0">
                          <a:solidFill>
                            <a:srgbClr val="202020"/>
                          </a:solidFill>
                          <a:latin typeface="Calibri"/>
                        </a:rPr>
                        <a:t>no</a:t>
                      </a:r>
                    </a:p>
                  </a:txBody>
                  <a:tcPr marT="12700" marB="12700">
                    <a:solidFill>
                      <a:srgbClr val="FFFFFF"/>
                    </a:solidFill>
                  </a:tcPr>
                </a:tc>
                <a:tc>
                  <a:txBody>
                    <a:bodyPr wrap="square"/>
                    <a:lstStyle/>
                    <a:p>
                      <a:r>
                        <a:rPr sz="950" b="0" i="0">
                          <a:solidFill>
                            <a:srgbClr val="202020"/>
                          </a:solidFill>
                          <a:latin typeface="Calibri"/>
                        </a:rPr>
                        <a:t>0.85 / 0.6</a:t>
                      </a:r>
                    </a:p>
                  </a:txBody>
                  <a:tcPr marT="12700" marB="12700">
                    <a:solidFill>
                      <a:srgbClr val="FFFFFF"/>
                    </a:solidFill>
                  </a:tcPr>
                </a:tc>
                <a:tc>
                  <a:txBody>
                    <a:bodyPr wrap="square"/>
                    <a:lstStyle/>
                    <a:p>
                      <a:r>
                        <a:rPr sz="950" b="0" i="0">
                          <a:solidFill>
                            <a:srgbClr val="202020"/>
                          </a:solidFill>
                          <a:latin typeface="Calibri"/>
                        </a:rPr>
                        <a:t>Auto-link at/above the threshold; review-queue in the band below</a:t>
                      </a:r>
                    </a:p>
                  </a:txBody>
                  <a:tcPr marT="12700" marB="12700">
                    <a:solidFill>
                      <a:srgbClr val="FFFFFF"/>
                    </a:solidFill>
                  </a:tcPr>
                </a:tc>
              </a:tr>
              <a:tr h="384048">
                <a:tc>
                  <a:txBody>
                    <a:bodyPr wrap="square"/>
                    <a:lstStyle/>
                    <a:p>
                      <a:r>
                        <a:rPr sz="950" b="0" i="0">
                          <a:solidFill>
                            <a:srgbClr val="202020"/>
                          </a:solidFill>
                          <a:latin typeface="Consolas"/>
                        </a:rPr>
                        <a:t>RELATIONSHIP_PATHS / RELATIONSHIP_TOP_ORGS</a:t>
                      </a:r>
                    </a:p>
                  </a:txBody>
                  <a:tcPr marT="12700" marB="12700">
                    <a:solidFill>
                      <a:srgbClr val="F7F9FC"/>
                    </a:solidFill>
                  </a:tcPr>
                </a:tc>
                <a:tc>
                  <a:txBody>
                    <a:bodyPr wrap="square"/>
                    <a:lstStyle/>
                    <a:p>
                      <a:r>
                        <a:rPr sz="950" b="0" i="0">
                          <a:solidFill>
                            <a:srgbClr val="202020"/>
                          </a:solidFill>
                          <a:latin typeface="Calibri"/>
                        </a:rPr>
                        <a:t>no</a:t>
                      </a:r>
                    </a:p>
                  </a:txBody>
                  <a:tcPr marT="12700" marB="12700">
                    <a:solidFill>
                      <a:srgbClr val="F7F9FC"/>
                    </a:solidFill>
                  </a:tcPr>
                </a:tc>
                <a:tc>
                  <a:txBody>
                    <a:bodyPr wrap="square"/>
                    <a:lstStyle/>
                    <a:p>
                      <a:r>
                        <a:rPr sz="950" b="0" i="0">
                          <a:solidFill>
                            <a:srgbClr val="202020"/>
                          </a:solidFill>
                          <a:latin typeface="Calibri"/>
                        </a:rPr>
                        <a:t>false / 3</a:t>
                      </a:r>
                    </a:p>
                  </a:txBody>
                  <a:tcPr marT="12700" marB="12700">
                    <a:solidFill>
                      <a:srgbClr val="F7F9FC"/>
                    </a:solidFill>
                  </a:tcPr>
                </a:tc>
                <a:tc>
                  <a:txBody>
                    <a:bodyPr wrap="square"/>
                    <a:lstStyle/>
                    <a:p>
                      <a:r>
                        <a:rPr sz="950" b="0" i="0">
                          <a:solidFill>
                            <a:srgbClr val="202020"/>
                          </a:solidFill>
                          <a:latin typeface="Calibri"/>
                        </a:rPr>
                        <a:t>Materialise per-person network summaries onto profiles</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676</a:t>
            </a:r>
          </a:p>
        </p:txBody>
      </p:sp>
    </p:spTree>
  </p:cSld>
  <p:clrMapOvr>
    <a:masterClrMapping/>
  </p:clrMapOvr>
</p:sld>
</file>

<file path=ppt/slides/slide6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Data governance &amp; compliance controls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These control </a:t>
            </a:r>
            <a:r>
              <a:rPr sz="1250" b="1" i="0">
                <a:solidFill>
                  <a:srgbClr val="202020"/>
                </a:solidFill>
                <a:latin typeface="Calibri"/>
              </a:rPr>
              <a:t>purpose-of-use authorization</a:t>
            </a:r>
            <a:r>
              <a:rPr sz="1250" b="0" i="0">
                <a:solidFill>
                  <a:srgbClr val="202020"/>
                </a:solidFill>
                <a:latin typeface="Calibri"/>
              </a:rPr>
              <a:t>, </a:t>
            </a:r>
            <a:r>
              <a:rPr sz="1250" b="1" i="0">
                <a:solidFill>
                  <a:srgbClr val="202020"/>
                </a:solidFill>
                <a:latin typeface="Calibri"/>
              </a:rPr>
              <a:t>classification</a:t>
            </a:r>
            <a:r>
              <a:rPr sz="1250" b="0" i="0">
                <a:solidFill>
                  <a:srgbClr val="202020"/>
                </a:solidFill>
                <a:latin typeface="Calibri"/>
              </a:rPr>
              <a:t> (including its one hard-enforcement mode), </a:t>
            </a:r>
            <a:r>
              <a:rPr sz="1250" b="1" i="0">
                <a:solidFill>
                  <a:srgbClr val="202020"/>
                </a:solidFill>
                <a:latin typeface="Calibri"/>
              </a:rPr>
              <a:t>stale-index self-expiry</a:t>
            </a:r>
            <a:r>
              <a:rPr sz="1250" b="0" i="0">
                <a:solidFill>
                  <a:srgbClr val="202020"/>
                </a:solidFill>
                <a:latin typeface="Calibri"/>
              </a:rPr>
              <a:t> and the </a:t>
            </a:r>
            <a:r>
              <a:rPr sz="1250" b="1" i="0">
                <a:solidFill>
                  <a:srgbClr val="202020"/>
                </a:solidFill>
                <a:latin typeface="Calibri"/>
              </a:rPr>
              <a:t>decision ledger</a:t>
            </a:r>
            <a:r>
              <a:rPr sz="1250" b="0" i="0">
                <a:solidFill>
                  <a:srgbClr val="202020"/>
                </a:solidFill>
                <a:latin typeface="Calibri"/>
              </a:rPr>
              <a:t>. All are new in 1.1; every one is OFF or unchanged unless you set it.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677</a:t>
            </a:r>
          </a:p>
        </p:txBody>
      </p:sp>
    </p:spTree>
  </p:cSld>
  <p:clrMapOvr>
    <a:masterClrMapping/>
  </p:clrMapOvr>
</p:sld>
</file>

<file path=ppt/slides/slide6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Data governance &amp; compliance controls</a:t>
            </a:r>
          </a:p>
        </p:txBody>
      </p:sp>
      <p:graphicFrame>
        <p:nvGraphicFramePr>
          <p:cNvPr id="5" name="Table 4"/>
          <p:cNvGraphicFramePr>
            <a:graphicFrameLocks noGrp="1"/>
          </p:cNvGraphicFramePr>
          <p:nvPr/>
        </p:nvGraphicFramePr>
        <p:xfrm>
          <a:off x="502920" y="1188720"/>
          <a:ext cx="11185855" cy="3456432"/>
        </p:xfrm>
        <a:graphic>
          <a:graphicData uri="http://schemas.openxmlformats.org/drawingml/2006/table">
            <a:tbl>
              <a:tblPr firstRow="1" bandRow="1">
                <a:tableStyleId>{5C22544A-7EE6-4342-B048-85BDC9FD1C3A}</a:tableStyleId>
              </a:tblPr>
              <a:tblGrid>
                <a:gridCol w="2796463"/>
                <a:gridCol w="2796463"/>
                <a:gridCol w="2796463"/>
                <a:gridCol w="2796466"/>
              </a:tblGrid>
              <a:tr h="384048">
                <a:tc>
                  <a:txBody>
                    <a:bodyPr wrap="square"/>
                    <a:lstStyle/>
                    <a:p>
                      <a:r>
                        <a:rPr sz="1050" b="1" i="0">
                          <a:solidFill>
                            <a:srgbClr val="FFFFFF"/>
                          </a:solidFill>
                          <a:latin typeface="Calibri"/>
                        </a:rPr>
                        <a:t>Variable / control</a:t>
                      </a:r>
                    </a:p>
                  </a:txBody>
                  <a:tcPr marT="25400" marB="25400">
                    <a:solidFill>
                      <a:srgbClr val="2E5496"/>
                    </a:solidFill>
                  </a:tcPr>
                </a:tc>
                <a:tc>
                  <a:txBody>
                    <a:bodyPr wrap="square"/>
                    <a:lstStyle/>
                    <a:p>
                      <a:r>
                        <a:rPr sz="1050" b="1" i="0">
                          <a:solidFill>
                            <a:srgbClr val="FFFFFF"/>
                          </a:solidFill>
                          <a:latin typeface="Calibri"/>
                        </a:rPr>
                        <a:t>Required?</a:t>
                      </a:r>
                    </a:p>
                  </a:txBody>
                  <a:tcPr marT="25400" marB="25400">
                    <a:solidFill>
                      <a:srgbClr val="2E5496"/>
                    </a:solidFill>
                  </a:tcPr>
                </a:tc>
                <a:tc>
                  <a:txBody>
                    <a:bodyPr wrap="square"/>
                    <a:lstStyle/>
                    <a:p>
                      <a:r>
                        <a:rPr sz="1050" b="1" i="0">
                          <a:solidFill>
                            <a:srgbClr val="FFFFFF"/>
                          </a:solidFill>
                          <a:latin typeface="Calibri"/>
                        </a:rPr>
                        <a:t>Default</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r>
              <a:tr h="384048">
                <a:tc>
                  <a:txBody>
                    <a:bodyPr wrap="square"/>
                    <a:lstStyle/>
                    <a:p>
                      <a:r>
                        <a:rPr sz="950" b="0" i="0">
                          <a:solidFill>
                            <a:srgbClr val="202020"/>
                          </a:solidFill>
                          <a:latin typeface="Consolas"/>
                        </a:rPr>
                        <a:t>PURPOSE_ALLOWLIST</a:t>
                      </a:r>
                    </a:p>
                  </a:txBody>
                  <a:tcPr marT="12700" marB="12700">
                    <a:solidFill>
                      <a:srgbClr val="FFFFFF"/>
                    </a:solidFill>
                  </a:tcPr>
                </a:tc>
                <a:tc>
                  <a:txBody>
                    <a:bodyPr wrap="square"/>
                    <a:lstStyle/>
                    <a:p>
                      <a:r>
                        <a:rPr sz="950" b="0" i="0">
                          <a:solidFill>
                            <a:srgbClr val="202020"/>
                          </a:solidFill>
                          <a:latin typeface="Calibri"/>
                        </a:rPr>
                        <a:t>no</a:t>
                      </a:r>
                    </a:p>
                  </a:txBody>
                  <a:tcPr marT="12700" marB="12700">
                    <a:solidFill>
                      <a:srgbClr val="FFFFFF"/>
                    </a:solidFill>
                  </a:tcPr>
                </a:tc>
                <a:tc>
                  <a:txBody>
                    <a:bodyPr wrap="square"/>
                    <a:lstStyle/>
                    <a:p>
                      <a:r>
                        <a:rPr sz="950" b="0" i="0">
                          <a:solidFill>
                            <a:srgbClr val="202020"/>
                          </a:solidFill>
                          <a:latin typeface="Calibri"/>
                        </a:rPr>
                        <a:t>unset (record-only)</a:t>
                      </a:r>
                    </a:p>
                  </a:txBody>
                  <a:tcPr marT="12700" marB="12700">
                    <a:solidFill>
                      <a:srgbClr val="FFFFFF"/>
                    </a:solidFill>
                  </a:tcPr>
                </a:tc>
                <a:tc>
                  <a:txBody>
                    <a:bodyPr wrap="square"/>
                    <a:lstStyle/>
                    <a:p>
                      <a:r>
                        <a:rPr sz="950" b="0" i="0">
                          <a:solidFill>
                            <a:srgbClr val="202020"/>
                          </a:solidFill>
                          <a:latin typeface="Calibri"/>
                        </a:rPr>
                        <a:t>Comma-separated permitted --purpose values (case-insensitive, trimmed). When SET, an ingest-item with a disallowed or empty purpose is DENIED fail-closed and audited (Decision=deny, altrata_purpose_denied_total) BEFORE any billable/token/HTTP work. Unset = purpose recorded only (unchanged)</a:t>
                      </a:r>
                    </a:p>
                  </a:txBody>
                  <a:tcPr marT="12700" marB="12700">
                    <a:solidFill>
                      <a:srgbClr val="FFFFFF"/>
                    </a:solidFill>
                  </a:tcPr>
                </a:tc>
              </a:tr>
              <a:tr h="384048">
                <a:tc>
                  <a:txBody>
                    <a:bodyPr wrap="square"/>
                    <a:lstStyle/>
                    <a:p>
                      <a:r>
                        <a:rPr sz="950" b="0" i="0">
                          <a:solidFill>
                            <a:srgbClr val="202020"/>
                          </a:solidFill>
                          <a:latin typeface="Consolas"/>
                        </a:rPr>
                        <a:t>CLASSIFICATION</a:t>
                      </a:r>
                    </a:p>
                  </a:txBody>
                  <a:tcPr marT="12700" marB="12700">
                    <a:solidFill>
                      <a:srgbClr val="F7F9FC"/>
                    </a:solidFill>
                  </a:tcPr>
                </a:tc>
                <a:tc>
                  <a:txBody>
                    <a:bodyPr wrap="square"/>
                    <a:lstStyle/>
                    <a:p>
                      <a:r>
                        <a:rPr sz="950" b="0" i="0">
                          <a:solidFill>
                            <a:srgbClr val="202020"/>
                          </a:solidFill>
                          <a:latin typeface="Calibri"/>
                        </a:rPr>
                        <a:t>no</a:t>
                      </a:r>
                    </a:p>
                  </a:txBody>
                  <a:tcPr marT="12700" marB="12700">
                    <a:solidFill>
                      <a:srgbClr val="F7F9FC"/>
                    </a:solidFill>
                  </a:tcPr>
                </a:tc>
                <a:tc>
                  <a:txBody>
                    <a:bodyPr wrap="square"/>
                    <a:lstStyle/>
                    <a:p>
                      <a:r>
                        <a:rPr sz="950" b="0" i="0">
                          <a:solidFill>
                            <a:srgbClr val="202020"/>
                          </a:solidFill>
                          <a:latin typeface="Calibri"/>
                        </a:rPr>
                        <a:t>false</a:t>
                      </a:r>
                    </a:p>
                  </a:txBody>
                  <a:tcPr marT="12700" marB="12700">
                    <a:solidFill>
                      <a:srgbClr val="F7F9FC"/>
                    </a:solidFill>
                  </a:tcPr>
                </a:tc>
                <a:tc>
                  <a:txBody>
                    <a:bodyPr wrap="square"/>
                    <a:lstStyle/>
                    <a:p>
                      <a:r>
                        <a:rPr sz="950" b="0" i="0">
                          <a:solidFill>
                            <a:srgbClr val="202020"/>
                          </a:solidFill>
                          <a:latin typeface="Calibri"/>
                        </a:rPr>
                        <a:t>Stamp the advisory sensitivityLabel / detectedCategories / dataResidency tags on items (labels/categories only — never raw detected values). Advisory metadata, NOT a Purview-enforced label (see the note below)</a:t>
                      </a:r>
                    </a:p>
                  </a:txBody>
                  <a:tcPr marT="12700" marB="12700">
                    <a:solidFill>
                      <a:srgbClr val="F7F9FC"/>
                    </a:solidFill>
                  </a:tcPr>
                </a:tc>
              </a:tr>
              <a:tr h="384048">
                <a:tc>
                  <a:txBody>
                    <a:bodyPr wrap="square"/>
                    <a:lstStyle/>
                    <a:p>
                      <a:r>
                        <a:rPr sz="950" b="0" i="0">
                          <a:solidFill>
                            <a:srgbClr val="202020"/>
                          </a:solidFill>
                          <a:latin typeface="Consolas"/>
                        </a:rPr>
                        <a:t>DATA_RESIDENCY</a:t>
                      </a:r>
                    </a:p>
                  </a:txBody>
                  <a:tcPr marT="12700" marB="12700">
                    <a:solidFill>
                      <a:srgbClr val="FFFFFF"/>
                    </a:solidFill>
                  </a:tcPr>
                </a:tc>
                <a:tc>
                  <a:txBody>
                    <a:bodyPr wrap="square"/>
                    <a:lstStyle/>
                    <a:p>
                      <a:r>
                        <a:rPr sz="950" b="0" i="0">
                          <a:solidFill>
                            <a:srgbClr val="202020"/>
                          </a:solidFill>
                          <a:latin typeface="Calibri"/>
                        </a:rPr>
                        <a:t>no</a:t>
                      </a:r>
                    </a:p>
                  </a:txBody>
                  <a:tcPr marT="12700" marB="12700">
                    <a:solidFill>
                      <a:srgbClr val="FFFFFF"/>
                    </a:solidFill>
                  </a:tcPr>
                </a:tc>
                <a:tc>
                  <a:txBody>
                    <a:bodyPr wrap="square"/>
                    <a:lstStyle/>
                    <a:p>
                      <a:r>
                        <a:rPr sz="950" b="0" i="0">
                          <a:solidFill>
                            <a:srgbClr val="202020"/>
                          </a:solidFill>
                          <a:latin typeface="Calibri"/>
                        </a:rPr>
                        <a:t>—</a:t>
                      </a:r>
                    </a:p>
                  </a:txBody>
                  <a:tcPr marT="12700" marB="12700">
                    <a:solidFill>
                      <a:srgbClr val="FFFFFF"/>
                    </a:solidFill>
                  </a:tcPr>
                </a:tc>
                <a:tc>
                  <a:txBody>
                    <a:bodyPr wrap="square"/>
                    <a:lstStyle/>
                    <a:p>
                      <a:r>
                        <a:rPr sz="950" b="0" i="0">
                          <a:solidFill>
                            <a:srgbClr val="202020"/>
                          </a:solidFill>
                          <a:latin typeface="Calibri"/>
                        </a:rPr>
                        <a:t>Governance residency tag stamped on items, e.g. EU / US</a:t>
                      </a:r>
                    </a:p>
                  </a:txBody>
                  <a:tcPr marT="12700" marB="12700">
                    <a:solidFill>
                      <a:srgbClr val="FFFFFF"/>
                    </a:solidFill>
                  </a:tcPr>
                </a:tc>
              </a:tr>
              <a:tr h="384048">
                <a:tc>
                  <a:txBody>
                    <a:bodyPr wrap="square"/>
                    <a:lstStyle/>
                    <a:p>
                      <a:r>
                        <a:rPr sz="950" b="0" i="0">
                          <a:solidFill>
                            <a:srgbClr val="202020"/>
                          </a:solidFill>
                          <a:latin typeface="Consolas"/>
                        </a:rPr>
                        <a:t>CLASSIFICATION_MANIFEST</a:t>
                      </a:r>
                    </a:p>
                  </a:txBody>
                  <a:tcPr marT="12700" marB="12700">
                    <a:solidFill>
                      <a:srgbClr val="F7F9FC"/>
                    </a:solidFill>
                  </a:tcPr>
                </a:tc>
                <a:tc>
                  <a:txBody>
                    <a:bodyPr wrap="square"/>
                    <a:lstStyle/>
                    <a:p>
                      <a:r>
                        <a:rPr sz="950" b="0" i="0">
                          <a:solidFill>
                            <a:srgbClr val="202020"/>
                          </a:solidFill>
                          <a:latin typeface="Calibri"/>
                        </a:rPr>
                        <a:t>no</a:t>
                      </a:r>
                    </a:p>
                  </a:txBody>
                  <a:tcPr marT="12700" marB="12700">
                    <a:solidFill>
                      <a:srgbClr val="F7F9FC"/>
                    </a:solidFill>
                  </a:tcPr>
                </a:tc>
                <a:tc>
                  <a:txBody>
                    <a:bodyPr wrap="square"/>
                    <a:lstStyle/>
                    <a:p>
                      <a:r>
                        <a:rPr sz="950" b="0" i="0">
                          <a:solidFill>
                            <a:srgbClr val="202020"/>
                          </a:solidFill>
                          <a:latin typeface="Calibri"/>
                        </a:rPr>
                        <a:t>false</a:t>
                      </a:r>
                    </a:p>
                  </a:txBody>
                  <a:tcPr marT="12700" marB="12700">
                    <a:solidFill>
                      <a:srgbClr val="F7F9FC"/>
                    </a:solidFill>
                  </a:tcPr>
                </a:tc>
                <a:tc>
                  <a:txBody>
                    <a:bodyPr wrap="square"/>
                    <a:lstStyle/>
                    <a:p>
                      <a:r>
                        <a:rPr sz="950" b="0" i="0">
                          <a:solidFill>
                            <a:srgbClr val="202020"/>
                          </a:solidFill>
                          <a:latin typeface="Calibri"/>
                        </a:rPr>
                        <a:t>Write a per-delivery classification summary JSONL (counts + item→label; no personal values)</a:t>
                      </a:r>
                    </a:p>
                  </a:txBody>
                  <a:tcPr marT="12700" marB="12700">
                    <a:solidFill>
                      <a:srgbClr val="F7F9FC"/>
                    </a:solidFill>
                  </a:tcPr>
                </a:tc>
              </a:tr>
              <a:tr h="384048">
                <a:tc>
                  <a:txBody>
                    <a:bodyPr wrap="square"/>
                    <a:lstStyle/>
                    <a:p>
                      <a:r>
                        <a:rPr sz="950" b="0" i="0">
                          <a:solidFill>
                            <a:srgbClr val="202020"/>
                          </a:solidFill>
                          <a:latin typeface="Consolas"/>
                        </a:rPr>
                        <a:t>CLASSIFICATION_ENFORCE_ACL</a:t>
                      </a:r>
                    </a:p>
                  </a:txBody>
                  <a:tcPr marT="12700" marB="12700">
                    <a:solidFill>
                      <a:srgbClr val="FFFFFF"/>
                    </a:solidFill>
                  </a:tcPr>
                </a:tc>
                <a:tc>
                  <a:txBody>
                    <a:bodyPr wrap="square"/>
                    <a:lstStyle/>
                    <a:p>
                      <a:r>
                        <a:rPr sz="950" b="0" i="0">
                          <a:solidFill>
                            <a:srgbClr val="202020"/>
                          </a:solidFill>
                          <a:latin typeface="Calibri"/>
                        </a:rPr>
                        <a:t>no</a:t>
                      </a:r>
                    </a:p>
                  </a:txBody>
                  <a:tcPr marT="12700" marB="12700">
                    <a:solidFill>
                      <a:srgbClr val="FFFFFF"/>
                    </a:solidFill>
                  </a:tcPr>
                </a:tc>
                <a:tc>
                  <a:txBody>
                    <a:bodyPr wrap="square"/>
                    <a:lstStyle/>
                    <a:p>
                      <a:r>
                        <a:rPr sz="950" b="0" i="0">
                          <a:solidFill>
                            <a:srgbClr val="202020"/>
                          </a:solidFill>
                          <a:latin typeface="Calibri"/>
                        </a:rPr>
                        <a:t>false</a:t>
                      </a:r>
                    </a:p>
                  </a:txBody>
                  <a:tcPr marT="12700" marB="12700">
                    <a:solidFill>
                      <a:srgbClr val="FFFFFF"/>
                    </a:solidFill>
                  </a:tcPr>
                </a:tc>
                <a:tc>
                  <a:txBody>
                    <a:bodyPr wrap="square"/>
                    <a:lstStyle/>
                    <a:p>
                      <a:r>
                        <a:rPr sz="950" b="0" i="0">
                          <a:solidFill>
                            <a:srgbClr val="202020"/>
                          </a:solidFill>
                          <a:latin typeface="Calibri"/>
                        </a:rPr>
                        <a:t>The ONE place the tag becomes a hard control: top-tier (Restricted) items have their ACL locked to CLASSIFICATION_ENFORCE_GROUP_ID only (non-Restricted items keep the seat ACL). Requires CLASSIFICATION=true; startup fails naming the setting if on without the group</a:t>
                      </a:r>
                    </a:p>
                  </a:txBody>
                  <a:tcPr marT="12700" marB="12700">
                    <a:solidFill>
                      <a:srgbClr val="FFFFFF"/>
                    </a:solidFill>
                  </a:tcPr>
                </a:tc>
              </a:tr>
              <a:tr h="384048">
                <a:tc>
                  <a:txBody>
                    <a:bodyPr wrap="square"/>
                    <a:lstStyle/>
                    <a:p>
                      <a:r>
                        <a:rPr sz="950" b="0" i="0">
                          <a:solidFill>
                            <a:srgbClr val="202020"/>
                          </a:solidFill>
                          <a:latin typeface="Consolas"/>
                        </a:rPr>
                        <a:t>CLASSIFICATION_ENFORCE_GROUP_ID</a:t>
                      </a:r>
                    </a:p>
                  </a:txBody>
                  <a:tcPr marT="12700" marB="12700">
                    <a:solidFill>
                      <a:srgbClr val="F7F9FC"/>
                    </a:solidFill>
                  </a:tcPr>
                </a:tc>
                <a:tc>
                  <a:txBody>
                    <a:bodyPr wrap="square"/>
                    <a:lstStyle/>
                    <a:p>
                      <a:r>
                        <a:rPr sz="950" b="0" i="0">
                          <a:solidFill>
                            <a:srgbClr val="202020"/>
                          </a:solidFill>
                          <a:latin typeface="Calibri"/>
                        </a:rPr>
                        <a:t>if enforcing</a:t>
                      </a:r>
                    </a:p>
                  </a:txBody>
                  <a:tcPr marT="12700" marB="12700">
                    <a:solidFill>
                      <a:srgbClr val="F7F9FC"/>
                    </a:solidFill>
                  </a:tcPr>
                </a:tc>
                <a:tc>
                  <a:txBody>
                    <a:bodyPr wrap="square"/>
                    <a:lstStyle/>
                    <a:p>
                      <a:r>
                        <a:rPr sz="950" b="0" i="0">
                          <a:solidFill>
                            <a:srgbClr val="202020"/>
                          </a:solidFill>
                          <a:latin typeface="Calibri"/>
                        </a:rPr>
                        <a:t>—</a:t>
                      </a:r>
                    </a:p>
                  </a:txBody>
                  <a:tcPr marT="12700" marB="12700">
                    <a:solidFill>
                      <a:srgbClr val="F7F9FC"/>
                    </a:solidFill>
                  </a:tcPr>
                </a:tc>
                <a:tc>
                  <a:txBody>
                    <a:bodyPr wrap="square"/>
                    <a:lstStyle/>
                    <a:p>
                      <a:r>
                        <a:rPr sz="950" b="0" i="0">
                          <a:solidFill>
                            <a:srgbClr val="202020"/>
                          </a:solidFill>
                          <a:latin typeface="Calibri"/>
                        </a:rPr>
                        <a:t>The single Entra group Restricted items are locked to — should be a subset of the seats (the small reviewer group for the most sensitive tier)</a:t>
                      </a:r>
                    </a:p>
                  </a:txBody>
                  <a:tcPr marT="12700" marB="12700">
                    <a:solidFill>
                      <a:srgbClr val="F7F9FC"/>
                    </a:solidFill>
                  </a:tcPr>
                </a:tc>
              </a:tr>
              <a:tr h="384048">
                <a:tc>
                  <a:txBody>
                    <a:bodyPr wrap="square"/>
                    <a:lstStyle/>
                    <a:p>
                      <a:r>
                        <a:rPr sz="950" b="0" i="0">
                          <a:solidFill>
                            <a:srgbClr val="202020"/>
                          </a:solidFill>
                          <a:latin typeface="Consolas"/>
                        </a:rPr>
                        <a:t>GRAPH_ITEM_TTL_DAYS</a:t>
                      </a:r>
                    </a:p>
                  </a:txBody>
                  <a:tcPr marT="12700" marB="12700">
                    <a:solidFill>
                      <a:srgbClr val="FFFFFF"/>
                    </a:solidFill>
                  </a:tcPr>
                </a:tc>
                <a:tc>
                  <a:txBody>
                    <a:bodyPr wrap="square"/>
                    <a:lstStyle/>
                    <a:p>
                      <a:r>
                        <a:rPr sz="950" b="0" i="0">
                          <a:solidFill>
                            <a:srgbClr val="202020"/>
                          </a:solidFill>
                          <a:latin typeface="Calibri"/>
                        </a:rPr>
                        <a:t>no</a:t>
                      </a:r>
                    </a:p>
                  </a:txBody>
                  <a:tcPr marT="12700" marB="12700">
                    <a:solidFill>
                      <a:srgbClr val="FFFFFF"/>
                    </a:solidFill>
                  </a:tcPr>
                </a:tc>
                <a:tc>
                  <a:txBody>
                    <a:bodyPr wrap="square"/>
                    <a:lstStyle/>
                    <a:p>
                      <a:r>
                        <a:rPr sz="950" b="0" i="0">
                          <a:solidFill>
                            <a:srgbClr val="202020"/>
                          </a:solidFill>
                          <a:latin typeface="Calibri"/>
                        </a:rPr>
                        <a:t>0 (off)</a:t>
                      </a:r>
                    </a:p>
                  </a:txBody>
                  <a:tcPr marT="12700" marB="12700">
                    <a:solidFill>
                      <a:srgbClr val="FFFFFF"/>
                    </a:solidFill>
                  </a:tcPr>
                </a:tc>
                <a:tc>
                  <a:txBody>
                    <a:bodyPr wrap="square"/>
                    <a:lstStyle/>
                    <a:p>
                      <a:r>
                        <a:rPr sz="950" b="0" i="0">
                          <a:solidFill>
                            <a:srgbClr val="202020"/>
                          </a:solidFill>
                          <a:latin typeface="Calibri"/>
                        </a:rPr>
                        <a:t>When &gt; 0, stamp every ingested item with expirationDateTime = now + N days so the index SELF-EXPIRES if crawling stops after an outage; a healthy crawl re-stamps each pass. 0 = items never expire (unchanged)</a:t>
                      </a:r>
                    </a:p>
                  </a:txBody>
                  <a:tcPr marT="12700" marB="12700">
                    <a:solidFill>
                      <a:srgbClr val="FFFFFF"/>
                    </a:solidFill>
                  </a:tcPr>
                </a:tc>
              </a:tr>
              <a:tr h="384048">
                <a:tc>
                  <a:txBody>
                    <a:bodyPr wrap="square"/>
                    <a:lstStyle/>
                    <a:p>
                      <a:r>
                        <a:rPr sz="950" b="0" i="0">
                          <a:solidFill>
                            <a:srgbClr val="202020"/>
                          </a:solidFill>
                          <a:latin typeface="Calibri"/>
                        </a:rPr>
                        <a:t>Decision ledger</a:t>
                      </a:r>
                    </a:p>
                  </a:txBody>
                  <a:tcPr marT="12700" marB="12700">
                    <a:solidFill>
                      <a:srgbClr val="F7F9FC"/>
                    </a:solidFill>
                  </a:tcPr>
                </a:tc>
                <a:tc>
                  <a:txBody>
                    <a:bodyPr wrap="square"/>
                    <a:lstStyle/>
                    <a:p>
                      <a:r>
                        <a:rPr sz="950" b="0" i="0">
                          <a:solidFill>
                            <a:srgbClr val="202020"/>
                          </a:solidFill>
                          <a:latin typeface="Calibri"/>
                        </a:rPr>
                        <a:t>n/a (always on)</a:t>
                      </a:r>
                    </a:p>
                  </a:txBody>
                  <a:tcPr marT="12700" marB="12700">
                    <a:solidFill>
                      <a:srgbClr val="F7F9FC"/>
                    </a:solidFill>
                  </a:tcPr>
                </a:tc>
                <a:tc>
                  <a:txBody>
                    <a:bodyPr wrap="square"/>
                    <a:lstStyle/>
                    <a:p>
                      <a:r>
                        <a:rPr sz="950" b="0" i="0">
                          <a:solidFill>
                            <a:srgbClr val="202020"/>
                          </a:solidFill>
                          <a:latin typeface="Calibri"/>
                        </a:rPr>
                        <a:t>on</a:t>
                      </a:r>
                    </a:p>
                  </a:txBody>
                  <a:tcPr marT="12700" marB="12700">
                    <a:solidFill>
                      <a:srgbClr val="F7F9FC"/>
                    </a:solidFill>
                  </a:tcPr>
                </a:tc>
                <a:tc>
                  <a:txBody>
                    <a:bodyPr wrap="square"/>
                    <a:lstStyle/>
                    <a:p>
                      <a:r>
                        <a:rPr sz="950" b="0" i="0">
                          <a:solidFill>
                            <a:srgbClr val="202020"/>
                          </a:solidFill>
                          <a:latin typeface="Calibri"/>
                        </a:rPr>
                        <a:t>Append-only, SHA-256 hash-chained record of EXCLUSION and ACL-RESTRICTION decisions (logs/decision_ledger_{ID}.jsonl; ids/reasons only, no PII). Same hash-chain substrate as the erasure ledger; Verify surfaces as altrata_decision_ledger_broken. No env knob</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678</a:t>
            </a:r>
          </a:p>
        </p:txBody>
      </p:sp>
    </p:spTree>
  </p:cSld>
  <p:clrMapOvr>
    <a:masterClrMapping/>
  </p:clrMapOvr>
</p:sld>
</file>

<file path=ppt/slides/slide6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Data governance &amp; compliance controls</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350" b="0" i="0">
                <a:solidFill>
                  <a:srgbClr val="202020"/>
                </a:solidFill>
                <a:latin typeface="Consolas"/>
              </a:rPr>
              <a:t>sensitivityLabel</a:t>
            </a:r>
            <a:r>
              <a:rPr sz="1400" b="0" i="0">
                <a:solidFill>
                  <a:srgbClr val="202020"/>
                </a:solidFill>
                <a:latin typeface="Calibri"/>
              </a:rPr>
              <a:t> is an </a:t>
            </a:r>
            <a:r>
              <a:rPr sz="1400" b="1" i="0">
                <a:solidFill>
                  <a:srgbClr val="202020"/>
                </a:solidFill>
                <a:latin typeface="Calibri"/>
              </a:rPr>
              <a:t>advisory, connector-applied classification tag</a:t>
            </a:r>
            <a:r>
              <a:rPr sz="1400" b="0" i="0">
                <a:solidFill>
                  <a:srgbClr val="202020"/>
                </a:solidFill>
                <a:latin typeface="Calibri"/>
              </a:rPr>
              <a:t> — Purview-*aligned in naming only*. It is searchable/refinable so admins can build Microsoft Search policies on it, but it is </a:t>
            </a:r>
            <a:r>
              <a:rPr sz="1400" b="1" i="0">
                <a:solidFill>
                  <a:srgbClr val="202020"/>
                </a:solidFill>
                <a:latin typeface="Calibri"/>
              </a:rPr>
              <a:t>not a Microsoft Purview sensitivity label</a:t>
            </a:r>
            <a:r>
              <a:rPr sz="1400" b="0" i="0">
                <a:solidFill>
                  <a:srgbClr val="202020"/>
                </a:solidFill>
                <a:latin typeface="Calibri"/>
              </a:rPr>
              <a:t> and carries no Purview encryption, DLP or downstream honouring. The only place the tag becomes a hard control is </a:t>
            </a:r>
            <a:r>
              <a:rPr sz="1350" b="0" i="0">
                <a:solidFill>
                  <a:srgbClr val="202020"/>
                </a:solidFill>
                <a:latin typeface="Consolas"/>
              </a:rPr>
              <a:t>CLASSIFICATION_ENFORCE_ACL</a:t>
            </a:r>
            <a:r>
              <a:rPr sz="1400" b="0" i="0">
                <a:solidFill>
                  <a:srgbClr val="202020"/>
                </a:solidFill>
                <a:latin typeface="Calibri"/>
              </a:rPr>
              <a:t>. </a:t>
            </a:r>
            <a:r>
              <a:rPr sz="1400" b="1" i="0">
                <a:solidFill>
                  <a:srgbClr val="202020"/>
                </a:solidFill>
                <a:latin typeface="Calibri"/>
              </a:rPr>
              <a:t>Honest caveat:</a:t>
            </a:r>
            <a:r>
              <a:rPr sz="1400" b="0" i="0">
                <a:solidFill>
                  <a:srgbClr val="202020"/>
                </a:solidFill>
                <a:latin typeface="Calibri"/>
              </a:rPr>
              <a:t> a seat-change re-ACL sweep rebuilds ACLs from the seat list and can therefore overwrite the classification-enforced group ACL on a Restricted item; the next crawl re-applies enforcement at transform time. If you need enforcement to hold continuously, keep crawls frequent — do not rely on it as an instantaneous lock between crawls.</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679</a:t>
            </a:r>
          </a:p>
        </p:txBody>
      </p:sp>
    </p:spTree>
  </p:cSld>
  <p:clrMapOvr>
    <a:masterClrMapping/>
  </p:clrMapOvr>
</p:sld>
</file>

<file path=ppt/slides/slide6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State, resilience and observability</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2796463"/>
                <a:gridCol w="2796463"/>
                <a:gridCol w="2796463"/>
                <a:gridCol w="2796466"/>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Required?</a:t>
                      </a:r>
                    </a:p>
                  </a:txBody>
                  <a:tcPr marT="25400" marB="25400">
                    <a:solidFill>
                      <a:srgbClr val="2E5496"/>
                    </a:solidFill>
                  </a:tcPr>
                </a:tc>
                <a:tc>
                  <a:txBody>
                    <a:bodyPr wrap="square"/>
                    <a:lstStyle/>
                    <a:p>
                      <a:r>
                        <a:rPr sz="1050" b="1" i="0">
                          <a:solidFill>
                            <a:srgbClr val="FFFFFF"/>
                          </a:solidFill>
                          <a:latin typeface="Calibri"/>
                        </a:rPr>
                        <a:t>Default</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r>
              <a:tr h="384048">
                <a:tc>
                  <a:txBody>
                    <a:bodyPr wrap="square"/>
                    <a:lstStyle/>
                    <a:p>
                      <a:r>
                        <a:rPr sz="950" b="0" i="0">
                          <a:solidFill>
                            <a:srgbClr val="202020"/>
                          </a:solidFill>
                          <a:latin typeface="Consolas"/>
                        </a:rPr>
                        <a:t>USE_SQL_SERVER / SQL_CONNECTION_STRING</a:t>
                      </a:r>
                    </a:p>
                  </a:txBody>
                  <a:tcPr marT="12700" marB="12700">
                    <a:solidFill>
                      <a:srgbClr val="FFFFFF"/>
                    </a:solidFill>
                  </a:tcPr>
                </a:tc>
                <a:tc>
                  <a:txBody>
                    <a:bodyPr wrap="square"/>
                    <a:lstStyle/>
                    <a:p>
                      <a:r>
                        <a:rPr sz="950" b="0" i="0">
                          <a:solidFill>
                            <a:srgbClr val="202020"/>
                          </a:solidFill>
                          <a:latin typeface="Calibri"/>
                        </a:rPr>
                        <a:t>no</a:t>
                      </a:r>
                    </a:p>
                  </a:txBody>
                  <a:tcPr marT="12700" marB="12700">
                    <a:solidFill>
                      <a:srgbClr val="FFFFFF"/>
                    </a:solidFill>
                  </a:tcPr>
                </a:tc>
                <a:tc>
                  <a:txBody>
                    <a:bodyPr wrap="square"/>
                    <a:lstStyle/>
                    <a:p>
                      <a:r>
                        <a:rPr sz="950" b="0" i="0">
                          <a:solidFill>
                            <a:srgbClr val="202020"/>
                          </a:solidFill>
                          <a:latin typeface="Calibri"/>
                        </a:rPr>
                        <a:t>false</a:t>
                      </a:r>
                    </a:p>
                  </a:txBody>
                  <a:tcPr marT="12700" marB="12700">
                    <a:solidFill>
                      <a:srgbClr val="FFFFFF"/>
                    </a:solidFill>
                  </a:tcPr>
                </a:tc>
                <a:tc>
                  <a:txBody>
                    <a:bodyPr wrap="square"/>
                    <a:lstStyle/>
                    <a:p>
                      <a:r>
                        <a:rPr sz="950" b="0" i="0">
                          <a:solidFill>
                            <a:srgbClr val="202020"/>
                          </a:solidFill>
                          <a:latin typeface="Calibri"/>
                        </a:rPr>
                        <a:t>Move all state to SQL Server (required for HA)</a:t>
                      </a:r>
                    </a:p>
                  </a:txBody>
                  <a:tcPr marT="12700" marB="12700">
                    <a:solidFill>
                      <a:srgbClr val="FFFFFF"/>
                    </a:solidFill>
                  </a:tcPr>
                </a:tc>
              </a:tr>
              <a:tr h="384048">
                <a:tc>
                  <a:txBody>
                    <a:bodyPr wrap="square"/>
                    <a:lstStyle/>
                    <a:p>
                      <a:r>
                        <a:rPr sz="950" b="0" i="0">
                          <a:solidFill>
                            <a:srgbClr val="202020"/>
                          </a:solidFill>
                          <a:latin typeface="Consolas"/>
                        </a:rPr>
                        <a:t>SQL_USE_MANAGED_IDENTITY</a:t>
                      </a:r>
                    </a:p>
                  </a:txBody>
                  <a:tcPr marT="12700" marB="12700">
                    <a:solidFill>
                      <a:srgbClr val="F7F9FC"/>
                    </a:solidFill>
                  </a:tcPr>
                </a:tc>
                <a:tc>
                  <a:txBody>
                    <a:bodyPr wrap="square"/>
                    <a:lstStyle/>
                    <a:p>
                      <a:r>
                        <a:rPr sz="950" b="0" i="0">
                          <a:solidFill>
                            <a:srgbClr val="202020"/>
                          </a:solidFill>
                          <a:latin typeface="Calibri"/>
                        </a:rPr>
                        <a:t>no</a:t>
                      </a:r>
                    </a:p>
                  </a:txBody>
                  <a:tcPr marT="12700" marB="12700">
                    <a:solidFill>
                      <a:srgbClr val="F7F9FC"/>
                    </a:solidFill>
                  </a:tcPr>
                </a:tc>
                <a:tc>
                  <a:txBody>
                    <a:bodyPr wrap="square"/>
                    <a:lstStyle/>
                    <a:p>
                      <a:r>
                        <a:rPr sz="950" b="0" i="0">
                          <a:solidFill>
                            <a:srgbClr val="202020"/>
                          </a:solidFill>
                          <a:latin typeface="Calibri"/>
                        </a:rPr>
                        <a:t>false</a:t>
                      </a:r>
                    </a:p>
                  </a:txBody>
                  <a:tcPr marT="12700" marB="12700">
                    <a:solidFill>
                      <a:srgbClr val="F7F9FC"/>
                    </a:solidFill>
                  </a:tcPr>
                </a:tc>
                <a:tc>
                  <a:txBody>
                    <a:bodyPr wrap="square"/>
                    <a:lstStyle/>
                    <a:p>
                      <a:r>
                        <a:rPr sz="950" b="0" i="0">
                          <a:solidFill>
                            <a:srgbClr val="202020"/>
                          </a:solidFill>
                          <a:latin typeface="Calibri"/>
                        </a:rPr>
                        <a:t>Entra managed-identity auth to SQL</a:t>
                      </a:r>
                    </a:p>
                  </a:txBody>
                  <a:tcPr marT="12700" marB="12700">
                    <a:solidFill>
                      <a:srgbClr val="F7F9FC"/>
                    </a:solidFill>
                  </a:tcPr>
                </a:tc>
              </a:tr>
              <a:tr h="384048">
                <a:tc>
                  <a:txBody>
                    <a:bodyPr wrap="square"/>
                    <a:lstStyle/>
                    <a:p>
                      <a:r>
                        <a:rPr sz="950" b="0" i="0">
                          <a:solidFill>
                            <a:srgbClr val="202020"/>
                          </a:solidFill>
                          <a:latin typeface="Consolas"/>
                        </a:rPr>
                        <a:t>HA_MODE / HA_NODE_ID</a:t>
                      </a:r>
                    </a:p>
                  </a:txBody>
                  <a:tcPr marT="12700" marB="12700">
                    <a:solidFill>
                      <a:srgbClr val="FFFFFF"/>
                    </a:solidFill>
                  </a:tcPr>
                </a:tc>
                <a:tc>
                  <a:txBody>
                    <a:bodyPr wrap="square"/>
                    <a:lstStyle/>
                    <a:p>
                      <a:r>
                        <a:rPr sz="950" b="0" i="0">
                          <a:solidFill>
                            <a:srgbClr val="202020"/>
                          </a:solidFill>
                          <a:latin typeface="Calibri"/>
                        </a:rPr>
                        <a:t>no</a:t>
                      </a:r>
                    </a:p>
                  </a:txBody>
                  <a:tcPr marT="12700" marB="12700">
                    <a:solidFill>
                      <a:srgbClr val="FFFFFF"/>
                    </a:solidFill>
                  </a:tcPr>
                </a:tc>
                <a:tc>
                  <a:txBody>
                    <a:bodyPr wrap="square"/>
                    <a:lstStyle/>
                    <a:p>
                      <a:r>
                        <a:rPr sz="950" b="0" i="0">
                          <a:solidFill>
                            <a:srgbClr val="202020"/>
                          </a:solidFill>
                          <a:latin typeface="Calibri"/>
                        </a:rPr>
                        <a:t>false / machine:pid</a:t>
                      </a:r>
                    </a:p>
                  </a:txBody>
                  <a:tcPr marT="12700" marB="12700">
                    <a:solidFill>
                      <a:srgbClr val="FFFFFF"/>
                    </a:solidFill>
                  </a:tcPr>
                </a:tc>
                <a:tc>
                  <a:txBody>
                    <a:bodyPr wrap="square"/>
                    <a:lstStyle/>
                    <a:p>
                      <a:r>
                        <a:rPr sz="950" b="0" i="0">
                          <a:solidFill>
                            <a:srgbClr val="202020"/>
                          </a:solidFill>
                          <a:latin typeface="Calibri"/>
                        </a:rPr>
                        <a:t>Active-active multi-node crawling via SQL leases</a:t>
                      </a:r>
                    </a:p>
                  </a:txBody>
                  <a:tcPr marT="12700" marB="12700">
                    <a:solidFill>
                      <a:srgbClr val="FFFFFF"/>
                    </a:solidFill>
                  </a:tcPr>
                </a:tc>
              </a:tr>
              <a:tr h="384048">
                <a:tc>
                  <a:txBody>
                    <a:bodyPr wrap="square"/>
                    <a:lstStyle/>
                    <a:p>
                      <a:r>
                        <a:rPr sz="950" b="0" i="0">
                          <a:solidFill>
                            <a:srgbClr val="202020"/>
                          </a:solidFill>
                          <a:latin typeface="Consolas"/>
                        </a:rPr>
                        <a:t>USE_KEY_VAULT / KEY_VAULT_URI</a:t>
                      </a:r>
                    </a:p>
                  </a:txBody>
                  <a:tcPr marT="12700" marB="12700">
                    <a:solidFill>
                      <a:srgbClr val="F7F9FC"/>
                    </a:solidFill>
                  </a:tcPr>
                </a:tc>
                <a:tc>
                  <a:txBody>
                    <a:bodyPr wrap="square"/>
                    <a:lstStyle/>
                    <a:p>
                      <a:r>
                        <a:rPr sz="950" b="0" i="0">
                          <a:solidFill>
                            <a:srgbClr val="202020"/>
                          </a:solidFill>
                          <a:latin typeface="Calibri"/>
                        </a:rPr>
                        <a:t>no</a:t>
                      </a:r>
                    </a:p>
                  </a:txBody>
                  <a:tcPr marT="12700" marB="12700">
                    <a:solidFill>
                      <a:srgbClr val="F7F9FC"/>
                    </a:solidFill>
                  </a:tcPr>
                </a:tc>
                <a:tc>
                  <a:txBody>
                    <a:bodyPr wrap="square"/>
                    <a:lstStyle/>
                    <a:p>
                      <a:r>
                        <a:rPr sz="950" b="0" i="0">
                          <a:solidFill>
                            <a:srgbClr val="202020"/>
                          </a:solidFill>
                          <a:latin typeface="Calibri"/>
                        </a:rPr>
                        <a:t>false</a:t>
                      </a:r>
                    </a:p>
                  </a:txBody>
                  <a:tcPr marT="12700" marB="12700">
                    <a:solidFill>
                      <a:srgbClr val="F7F9FC"/>
                    </a:solidFill>
                  </a:tcPr>
                </a:tc>
                <a:tc>
                  <a:txBody>
                    <a:bodyPr wrap="square"/>
                    <a:lstStyle/>
                    <a:p>
                      <a:r>
                        <a:rPr sz="950" b="0" i="0">
                          <a:solidFill>
                            <a:srgbClr val="202020"/>
                          </a:solidFill>
                          <a:latin typeface="Calibri"/>
                        </a:rPr>
                        <a:t>Resolve SECRET_* from Azure Key Vault</a:t>
                      </a:r>
                    </a:p>
                  </a:txBody>
                  <a:tcPr marT="12700" marB="12700">
                    <a:solidFill>
                      <a:srgbClr val="F7F9FC"/>
                    </a:solidFill>
                  </a:tcPr>
                </a:tc>
              </a:tr>
              <a:tr h="384048">
                <a:tc>
                  <a:txBody>
                    <a:bodyPr wrap="square"/>
                    <a:lstStyle/>
                    <a:p>
                      <a:r>
                        <a:rPr sz="950" b="0" i="0">
                          <a:solidFill>
                            <a:srgbClr val="202020"/>
                          </a:solidFill>
                          <a:latin typeface="Consolas"/>
                        </a:rPr>
                        <a:t>HEALTH_PORT</a:t>
                      </a:r>
                    </a:p>
                  </a:txBody>
                  <a:tcPr marT="12700" marB="12700">
                    <a:solidFill>
                      <a:srgbClr val="FFFFFF"/>
                    </a:solidFill>
                  </a:tcPr>
                </a:tc>
                <a:tc>
                  <a:txBody>
                    <a:bodyPr wrap="square"/>
                    <a:lstStyle/>
                    <a:p>
                      <a:r>
                        <a:rPr sz="950" b="0" i="0">
                          <a:solidFill>
                            <a:srgbClr val="202020"/>
                          </a:solidFill>
                          <a:latin typeface="Calibri"/>
                        </a:rPr>
                        <a:t>no</a:t>
                      </a:r>
                    </a:p>
                  </a:txBody>
                  <a:tcPr marT="12700" marB="12700">
                    <a:solidFill>
                      <a:srgbClr val="FFFFFF"/>
                    </a:solidFill>
                  </a:tcPr>
                </a:tc>
                <a:tc>
                  <a:txBody>
                    <a:bodyPr wrap="square"/>
                    <a:lstStyle/>
                    <a:p>
                      <a:r>
                        <a:rPr sz="950" b="0" i="0">
                          <a:solidFill>
                            <a:srgbClr val="202020"/>
                          </a:solidFill>
                          <a:latin typeface="Calibri"/>
                        </a:rPr>
                        <a:t>off</a:t>
                      </a:r>
                    </a:p>
                  </a:txBody>
                  <a:tcPr marT="12700" marB="12700">
                    <a:solidFill>
                      <a:srgbClr val="FFFFFF"/>
                    </a:solidFill>
                  </a:tcPr>
                </a:tc>
                <a:tc>
                  <a:txBody>
                    <a:bodyPr wrap="square"/>
                    <a:lstStyle/>
                    <a:p>
                      <a:r>
                        <a:rPr sz="950" b="0" i="0">
                          <a:solidFill>
                            <a:srgbClr val="202020"/>
                          </a:solidFill>
                          <a:latin typeface="Calibri"/>
                        </a:rPr>
                        <a:t>Serve /health, /ready, /metrics</a:t>
                      </a:r>
                    </a:p>
                  </a:txBody>
                  <a:tcPr marT="12700" marB="12700">
                    <a:solidFill>
                      <a:srgbClr val="FFFFFF"/>
                    </a:solidFill>
                  </a:tcPr>
                </a:tc>
              </a:tr>
              <a:tr h="384048">
                <a:tc>
                  <a:txBody>
                    <a:bodyPr wrap="square"/>
                    <a:lstStyle/>
                    <a:p>
                      <a:r>
                        <a:rPr sz="950" b="0" i="0">
                          <a:solidFill>
                            <a:srgbClr val="202020"/>
                          </a:solidFill>
                          <a:latin typeface="Consolas"/>
                        </a:rPr>
                        <a:t>LOG_FORMAT / LOG_LEVEL / LOG_RETENTION_DAYS</a:t>
                      </a:r>
                    </a:p>
                  </a:txBody>
                  <a:tcPr marT="12700" marB="12700">
                    <a:solidFill>
                      <a:srgbClr val="F7F9FC"/>
                    </a:solidFill>
                  </a:tcPr>
                </a:tc>
                <a:tc>
                  <a:txBody>
                    <a:bodyPr wrap="square"/>
                    <a:lstStyle/>
                    <a:p>
                      <a:r>
                        <a:rPr sz="950" b="0" i="0">
                          <a:solidFill>
                            <a:srgbClr val="202020"/>
                          </a:solidFill>
                          <a:latin typeface="Calibri"/>
                        </a:rPr>
                        <a:t>no</a:t>
                      </a:r>
                    </a:p>
                  </a:txBody>
                  <a:tcPr marT="12700" marB="12700">
                    <a:solidFill>
                      <a:srgbClr val="F7F9FC"/>
                    </a:solidFill>
                  </a:tcPr>
                </a:tc>
                <a:tc>
                  <a:txBody>
                    <a:bodyPr wrap="square"/>
                    <a:lstStyle/>
                    <a:p>
                      <a:r>
                        <a:rPr sz="950" b="0" i="0">
                          <a:solidFill>
                            <a:srgbClr val="202020"/>
                          </a:solidFill>
                          <a:latin typeface="Calibri"/>
                        </a:rPr>
                        <a:t>text / info / off</a:t>
                      </a:r>
                    </a:p>
                  </a:txBody>
                  <a:tcPr marT="12700" marB="12700">
                    <a:solidFill>
                      <a:srgbClr val="F7F9FC"/>
                    </a:solidFill>
                  </a:tcPr>
                </a:tc>
                <a:tc>
                  <a:txBody>
                    <a:bodyPr wrap="square"/>
                    <a:lstStyle/>
                    <a:p>
                      <a:r>
                        <a:rPr sz="950" b="0" i="0">
                          <a:solidFill>
                            <a:srgbClr val="202020"/>
                          </a:solidFill>
                          <a:latin typeface="Calibri"/>
                        </a:rPr>
                        <a:t>Structured JSON logs, verbosity, run-log pruning</a:t>
                      </a:r>
                    </a:p>
                  </a:txBody>
                  <a:tcPr marT="12700" marB="12700">
                    <a:solidFill>
                      <a:srgbClr val="F7F9FC"/>
                    </a:solidFill>
                  </a:tcPr>
                </a:tc>
              </a:tr>
              <a:tr h="384048">
                <a:tc>
                  <a:txBody>
                    <a:bodyPr wrap="square"/>
                    <a:lstStyle/>
                    <a:p>
                      <a:r>
                        <a:rPr sz="950" b="0" i="0">
                          <a:solidFill>
                            <a:srgbClr val="202020"/>
                          </a:solidFill>
                          <a:latin typeface="Consolas"/>
                        </a:rPr>
                        <a:t>ALERT_WEBHOOK_URL / ALERT_DEADLETTER_THRESHOLD</a:t>
                      </a:r>
                    </a:p>
                  </a:txBody>
                  <a:tcPr marT="12700" marB="12700">
                    <a:solidFill>
                      <a:srgbClr val="FFFFFF"/>
                    </a:solidFill>
                  </a:tcPr>
                </a:tc>
                <a:tc>
                  <a:txBody>
                    <a:bodyPr wrap="square"/>
                    <a:lstStyle/>
                    <a:p>
                      <a:r>
                        <a:rPr sz="950" b="0" i="0">
                          <a:solidFill>
                            <a:srgbClr val="202020"/>
                          </a:solidFill>
                          <a:latin typeface="Calibri"/>
                        </a:rPr>
                        <a:t>no</a:t>
                      </a:r>
                    </a:p>
                  </a:txBody>
                  <a:tcPr marT="12700" marB="12700">
                    <a:solidFill>
                      <a:srgbClr val="FFFFFF"/>
                    </a:solidFill>
                  </a:tcPr>
                </a:tc>
                <a:tc>
                  <a:txBody>
                    <a:bodyPr wrap="square"/>
                    <a:lstStyle/>
                    <a:p>
                      <a:r>
                        <a:rPr sz="950" b="0" i="0">
                          <a:solidFill>
                            <a:srgbClr val="202020"/>
                          </a:solidFill>
                          <a:latin typeface="Calibri"/>
                        </a:rPr>
                        <a:t>off / 0</a:t>
                      </a:r>
                    </a:p>
                  </a:txBody>
                  <a:tcPr marT="12700" marB="12700">
                    <a:solidFill>
                      <a:srgbClr val="FFFFFF"/>
                    </a:solidFill>
                  </a:tcPr>
                </a:tc>
                <a:tc>
                  <a:txBody>
                    <a:bodyPr wrap="square"/>
                    <a:lstStyle/>
                    <a:p>
                      <a:r>
                        <a:rPr sz="950" b="0" i="0">
                          <a:solidFill>
                            <a:srgbClr val="202020"/>
                          </a:solidFill>
                          <a:latin typeface="Calibri"/>
                        </a:rPr>
                        <a:t>POST alerts to Teams/Slack; dead-letter depth alert</a:t>
                      </a:r>
                    </a:p>
                  </a:txBody>
                  <a:tcPr marT="12700" marB="12700">
                    <a:solidFill>
                      <a:srgbClr val="FFFFFF"/>
                    </a:solidFill>
                  </a:tcPr>
                </a:tc>
              </a:tr>
              <a:tr h="384048">
                <a:tc>
                  <a:txBody>
                    <a:bodyPr wrap="square"/>
                    <a:lstStyle/>
                    <a:p>
                      <a:r>
                        <a:rPr sz="950" b="0" i="0">
                          <a:solidFill>
                            <a:srgbClr val="202020"/>
                          </a:solidFill>
                          <a:latin typeface="Consolas"/>
                        </a:rPr>
                        <a:t>OTEL_EXPORTER_OTLP_ENDPOINT</a:t>
                      </a:r>
                    </a:p>
                  </a:txBody>
                  <a:tcPr marT="12700" marB="12700">
                    <a:solidFill>
                      <a:srgbClr val="F7F9FC"/>
                    </a:solidFill>
                  </a:tcPr>
                </a:tc>
                <a:tc>
                  <a:txBody>
                    <a:bodyPr wrap="square"/>
                    <a:lstStyle/>
                    <a:p>
                      <a:r>
                        <a:rPr sz="950" b="0" i="0">
                          <a:solidFill>
                            <a:srgbClr val="202020"/>
                          </a:solidFill>
                          <a:latin typeface="Calibri"/>
                        </a:rPr>
                        <a:t>no</a:t>
                      </a:r>
                    </a:p>
                  </a:txBody>
                  <a:tcPr marT="12700" marB="12700">
                    <a:solidFill>
                      <a:srgbClr val="F7F9FC"/>
                    </a:solidFill>
                  </a:tcPr>
                </a:tc>
                <a:tc>
                  <a:txBody>
                    <a:bodyPr wrap="square"/>
                    <a:lstStyle/>
                    <a:p>
                      <a:r>
                        <a:rPr sz="950" b="0" i="0">
                          <a:solidFill>
                            <a:srgbClr val="202020"/>
                          </a:solidFill>
                          <a:latin typeface="Calibri"/>
                        </a:rPr>
                        <a:t>off</a:t>
                      </a:r>
                    </a:p>
                  </a:txBody>
                  <a:tcPr marT="12700" marB="12700">
                    <a:solidFill>
                      <a:srgbClr val="F7F9FC"/>
                    </a:solidFill>
                  </a:tcPr>
                </a:tc>
                <a:tc>
                  <a:txBody>
                    <a:bodyPr wrap="square"/>
                    <a:lstStyle/>
                    <a:p>
                      <a:r>
                        <a:rPr sz="950" b="0" i="0">
                          <a:solidFill>
                            <a:srgbClr val="202020"/>
                          </a:solidFill>
                          <a:latin typeface="Calibri"/>
                        </a:rPr>
                        <a:t>Export OpenTelemetry spans (PII-safe, allow-listed tags)</a:t>
                      </a:r>
                    </a:p>
                  </a:txBody>
                  <a:tcPr marT="12700" marB="12700">
                    <a:solidFill>
                      <a:srgbClr val="F7F9FC"/>
                    </a:solidFill>
                  </a:tcPr>
                </a:tc>
              </a:tr>
              <a:tr h="384048">
                <a:tc>
                  <a:txBody>
                    <a:bodyPr wrap="square"/>
                    <a:lstStyle/>
                    <a:p>
                      <a:r>
                        <a:rPr sz="950" b="0" i="0">
                          <a:solidFill>
                            <a:srgbClr val="202020"/>
                          </a:solidFill>
                          <a:latin typeface="Consolas"/>
                        </a:rPr>
                        <a:t>CIRCUIT_BREAKER*</a:t>
                      </a:r>
                    </a:p>
                  </a:txBody>
                  <a:tcPr marT="12700" marB="12700">
                    <a:solidFill>
                      <a:srgbClr val="FFFFFF"/>
                    </a:solidFill>
                  </a:tcPr>
                </a:tc>
                <a:tc>
                  <a:txBody>
                    <a:bodyPr wrap="square"/>
                    <a:lstStyle/>
                    <a:p>
                      <a:r>
                        <a:rPr sz="950" b="0" i="0">
                          <a:solidFill>
                            <a:srgbClr val="202020"/>
                          </a:solidFill>
                          <a:latin typeface="Calibri"/>
                        </a:rPr>
                        <a:t>no</a:t>
                      </a:r>
                    </a:p>
                  </a:txBody>
                  <a:tcPr marT="12700" marB="12700">
                    <a:solidFill>
                      <a:srgbClr val="FFFFFF"/>
                    </a:solidFill>
                  </a:tcPr>
                </a:tc>
                <a:tc>
                  <a:txBody>
                    <a:bodyPr wrap="square"/>
                    <a:lstStyle/>
                    <a:p>
                      <a:r>
                        <a:rPr sz="950" b="0" i="0">
                          <a:solidFill>
                            <a:srgbClr val="202020"/>
                          </a:solidFill>
                          <a:latin typeface="Calibri"/>
                        </a:rPr>
                        <a:t>on / 5 / 60s / 30s / 2</a:t>
                      </a:r>
                    </a:p>
                  </a:txBody>
                  <a:tcPr marT="12700" marB="12700">
                    <a:solidFill>
                      <a:srgbClr val="FFFFFF"/>
                    </a:solidFill>
                  </a:tcPr>
                </a:tc>
                <a:tc>
                  <a:txBody>
                    <a:bodyPr wrap="square"/>
                    <a:lstStyle/>
                    <a:p>
                      <a:r>
                        <a:rPr sz="950" b="0" i="0">
                          <a:solidFill>
                            <a:srgbClr val="202020"/>
                          </a:solidFill>
                          <a:latin typeface="Calibri"/>
                        </a:rPr>
                        <a:t>Per-dependency breakers (Graph critical, API non-critical)</a:t>
                      </a:r>
                    </a:p>
                  </a:txBody>
                  <a:tcPr marT="12700" marB="12700">
                    <a:solidFill>
                      <a:srgbClr val="FFFFFF"/>
                    </a:solidFill>
                  </a:tcPr>
                </a:tc>
              </a:tr>
              <a:tr h="384048">
                <a:tc>
                  <a:txBody>
                    <a:bodyPr wrap="square"/>
                    <a:lstStyle/>
                    <a:p>
                      <a:r>
                        <a:rPr sz="950" b="0" i="0">
                          <a:solidFill>
                            <a:srgbClr val="202020"/>
                          </a:solidFill>
                          <a:latin typeface="Consolas"/>
                        </a:rPr>
                        <a:t>EVENTLOG_ENABLED</a:t>
                      </a:r>
                    </a:p>
                  </a:txBody>
                  <a:tcPr marT="12700" marB="12700">
                    <a:solidFill>
                      <a:srgbClr val="F7F9FC"/>
                    </a:solidFill>
                  </a:tcPr>
                </a:tc>
                <a:tc>
                  <a:txBody>
                    <a:bodyPr wrap="square"/>
                    <a:lstStyle/>
                    <a:p>
                      <a:r>
                        <a:rPr sz="950" b="0" i="0">
                          <a:solidFill>
                            <a:srgbClr val="202020"/>
                          </a:solidFill>
                          <a:latin typeface="Calibri"/>
                        </a:rPr>
                        <a:t>no</a:t>
                      </a:r>
                    </a:p>
                  </a:txBody>
                  <a:tcPr marT="12700" marB="12700">
                    <a:solidFill>
                      <a:srgbClr val="F7F9FC"/>
                    </a:solidFill>
                  </a:tcPr>
                </a:tc>
                <a:tc>
                  <a:txBody>
                    <a:bodyPr wrap="square"/>
                    <a:lstStyle/>
                    <a:p>
                      <a:r>
                        <a:rPr sz="950" b="0" i="0">
                          <a:solidFill>
                            <a:srgbClr val="202020"/>
                          </a:solidFill>
                          <a:latin typeface="Calibri"/>
                        </a:rPr>
                        <a:t>false</a:t>
                      </a:r>
                    </a:p>
                  </a:txBody>
                  <a:tcPr marT="12700" marB="12700">
                    <a:solidFill>
                      <a:srgbClr val="F7F9FC"/>
                    </a:solidFill>
                  </a:tcPr>
                </a:tc>
                <a:tc>
                  <a:txBody>
                    <a:bodyPr wrap="square"/>
                    <a:lstStyle/>
                    <a:p>
                      <a:r>
                        <a:rPr sz="950" b="0" i="0">
                          <a:solidFill>
                            <a:srgbClr val="202020"/>
                          </a:solidFill>
                          <a:latin typeface="Calibri"/>
                        </a:rPr>
                        <a:t>Mirror WARNING/ERROR to the Windows Application log (SIEM)</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680</a:t>
            </a:r>
          </a:p>
        </p:txBody>
      </p:sp>
    </p:spTree>
  </p:cSld>
  <p:clrMapOvr>
    <a:masterClrMapping/>
  </p:clrMapOvr>
</p:sld>
</file>

<file path=ppt/slides/slide6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State, resilience and observability (cont.)</a:t>
            </a:r>
          </a:p>
        </p:txBody>
      </p:sp>
      <p:graphicFrame>
        <p:nvGraphicFramePr>
          <p:cNvPr id="5" name="Table 4"/>
          <p:cNvGraphicFramePr>
            <a:graphicFrameLocks noGrp="1"/>
          </p:cNvGraphicFramePr>
          <p:nvPr/>
        </p:nvGraphicFramePr>
        <p:xfrm>
          <a:off x="502920" y="1188720"/>
          <a:ext cx="11185855" cy="1152144"/>
        </p:xfrm>
        <a:graphic>
          <a:graphicData uri="http://schemas.openxmlformats.org/drawingml/2006/table">
            <a:tbl>
              <a:tblPr firstRow="1" bandRow="1">
                <a:tableStyleId>{5C22544A-7EE6-4342-B048-85BDC9FD1C3A}</a:tableStyleId>
              </a:tblPr>
              <a:tblGrid>
                <a:gridCol w="2796463"/>
                <a:gridCol w="2796463"/>
                <a:gridCol w="2796463"/>
                <a:gridCol w="2796466"/>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Required?</a:t>
                      </a:r>
                    </a:p>
                  </a:txBody>
                  <a:tcPr marT="25400" marB="25400">
                    <a:solidFill>
                      <a:srgbClr val="2E5496"/>
                    </a:solidFill>
                  </a:tcPr>
                </a:tc>
                <a:tc>
                  <a:txBody>
                    <a:bodyPr wrap="square"/>
                    <a:lstStyle/>
                    <a:p>
                      <a:r>
                        <a:rPr sz="1050" b="1" i="0">
                          <a:solidFill>
                            <a:srgbClr val="FFFFFF"/>
                          </a:solidFill>
                          <a:latin typeface="Calibri"/>
                        </a:rPr>
                        <a:t>Default</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r>
              <a:tr h="384048">
                <a:tc>
                  <a:txBody>
                    <a:bodyPr wrap="square"/>
                    <a:lstStyle/>
                    <a:p>
                      <a:r>
                        <a:rPr sz="950" b="0" i="0">
                          <a:solidFill>
                            <a:srgbClr val="202020"/>
                          </a:solidFill>
                          <a:latin typeface="Consolas"/>
                        </a:rPr>
                        <a:t>PROXY_URL / PROXY_BYPASS / CA_BUNDLE_PATH</a:t>
                      </a:r>
                    </a:p>
                  </a:txBody>
                  <a:tcPr marT="12700" marB="12700">
                    <a:solidFill>
                      <a:srgbClr val="FFFFFF"/>
                    </a:solidFill>
                  </a:tcPr>
                </a:tc>
                <a:tc>
                  <a:txBody>
                    <a:bodyPr wrap="square"/>
                    <a:lstStyle/>
                    <a:p>
                      <a:r>
                        <a:rPr sz="950" b="0" i="0">
                          <a:solidFill>
                            <a:srgbClr val="202020"/>
                          </a:solidFill>
                          <a:latin typeface="Calibri"/>
                        </a:rPr>
                        <a:t>no</a:t>
                      </a:r>
                    </a:p>
                  </a:txBody>
                  <a:tcPr marT="12700" marB="12700">
                    <a:solidFill>
                      <a:srgbClr val="FFFFFF"/>
                    </a:solidFill>
                  </a:tcPr>
                </a:tc>
                <a:tc>
                  <a:txBody>
                    <a:bodyPr wrap="square"/>
                    <a:lstStyle/>
                    <a:p>
                      <a:r>
                        <a:rPr sz="950" b="0" i="0">
                          <a:solidFill>
                            <a:srgbClr val="202020"/>
                          </a:solidFill>
                          <a:latin typeface="Calibri"/>
                        </a:rPr>
                        <a:t>direct / none / none</a:t>
                      </a:r>
                    </a:p>
                  </a:txBody>
                  <a:tcPr marT="12700" marB="12700">
                    <a:solidFill>
                      <a:srgbClr val="FFFFFF"/>
                    </a:solidFill>
                  </a:tcPr>
                </a:tc>
                <a:tc>
                  <a:txBody>
                    <a:bodyPr wrap="square"/>
                    <a:lstStyle/>
                    <a:p>
                      <a:r>
                        <a:rPr sz="950" b="0" i="0">
                          <a:solidFill>
                            <a:srgbClr val="202020"/>
                          </a:solidFill>
                          <a:latin typeface="Calibri"/>
                        </a:rPr>
                        <a:t>Forward proxy and additive TLS-inspection trust roots</a:t>
                      </a:r>
                    </a:p>
                  </a:txBody>
                  <a:tcPr marT="12700" marB="12700">
                    <a:solidFill>
                      <a:srgbClr val="FFFFFF"/>
                    </a:solidFill>
                  </a:tcPr>
                </a:tc>
              </a:tr>
              <a:tr h="384048">
                <a:tc>
                  <a:txBody>
                    <a:bodyPr wrap="square"/>
                    <a:lstStyle/>
                    <a:p>
                      <a:r>
                        <a:rPr sz="950" b="0" i="0">
                          <a:solidFill>
                            <a:srgbClr val="202020"/>
                          </a:solidFill>
                          <a:latin typeface="Consolas"/>
                        </a:rPr>
                        <a:t>GRAPH_CLIENT_CERT_PATH / _THUMBPRINT / _PASSWORD</a:t>
                      </a:r>
                    </a:p>
                  </a:txBody>
                  <a:tcPr marT="12700" marB="12700">
                    <a:solidFill>
                      <a:srgbClr val="F7F9FC"/>
                    </a:solidFill>
                  </a:tcPr>
                </a:tc>
                <a:tc>
                  <a:txBody>
                    <a:bodyPr wrap="square"/>
                    <a:lstStyle/>
                    <a:p>
                      <a:r>
                        <a:rPr sz="950" b="0" i="0">
                          <a:solidFill>
                            <a:srgbClr val="202020"/>
                          </a:solidFill>
                          <a:latin typeface="Calibri"/>
                        </a:rPr>
                        <a:t>no</a:t>
                      </a:r>
                    </a:p>
                  </a:txBody>
                  <a:tcPr marT="12700" marB="12700">
                    <a:solidFill>
                      <a:srgbClr val="F7F9FC"/>
                    </a:solidFill>
                  </a:tcPr>
                </a:tc>
                <a:tc>
                  <a:txBody>
                    <a:bodyPr wrap="square"/>
                    <a:lstStyle/>
                    <a:p>
                      <a:r>
                        <a:rPr sz="950" b="0" i="0">
                          <a:solidFill>
                            <a:srgbClr val="202020"/>
                          </a:solidFill>
                          <a:latin typeface="Calibri"/>
                        </a:rPr>
                        <a:t>none</a:t>
                      </a:r>
                    </a:p>
                  </a:txBody>
                  <a:tcPr marT="12700" marB="12700">
                    <a:solidFill>
                      <a:srgbClr val="F7F9FC"/>
                    </a:solidFill>
                  </a:tcPr>
                </a:tc>
                <a:tc>
                  <a:txBody>
                    <a:bodyPr wrap="square"/>
                    <a:lstStyle/>
                    <a:p>
                      <a:r>
                        <a:rPr sz="950" b="0" i="0">
                          <a:solidFill>
                            <a:srgbClr val="202020"/>
                          </a:solidFill>
                          <a:latin typeface="Calibri"/>
                        </a:rPr>
                        <a:t>Certificate credential for Graph (wins over the secret)</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681</a:t>
            </a:r>
          </a:p>
        </p:txBody>
      </p:sp>
    </p:spTree>
  </p:cSld>
  <p:clrMapOvr>
    <a:masterClrMapping/>
  </p:clrMapOvr>
</p:sld>
</file>

<file path=ppt/slides/slide6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State, resilience and observability</a:t>
            </a:r>
          </a:p>
        </p:txBody>
      </p:sp>
      <p:sp>
        <p:nvSpPr>
          <p:cNvPr id="5" name="Rectangle 4"/>
          <p:cNvSpPr/>
          <p:nvPr/>
        </p:nvSpPr>
        <p:spPr>
          <a:xfrm>
            <a:off x="502920" y="1463040"/>
            <a:ext cx="11185855" cy="3291840"/>
          </a:xfrm>
          <a:prstGeom prst="rect">
            <a:avLst/>
          </a:prstGeom>
          <a:solidFill>
            <a:srgbClr val="E7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7D32"/>
                </a:solidFill>
                <a:latin typeface="Calibri"/>
              </a:rPr>
              <a:t>Tip:  </a:t>
            </a:r>
            <a:r>
              <a:rPr sz="1400" b="1" i="0">
                <a:solidFill>
                  <a:srgbClr val="202020"/>
                </a:solidFill>
                <a:latin typeface="Calibri"/>
              </a:rPr>
              <a:t>Tip: </a:t>
            </a:r>
            <a:r>
              <a:rPr sz="1350" b="0" i="0">
                <a:solidFill>
                  <a:srgbClr val="202020"/>
                </a:solidFill>
                <a:latin typeface="Consolas"/>
              </a:rPr>
              <a:t>DEADLETTER_PAYLOAD_MODE</a:t>
            </a:r>
            <a:r>
              <a:rPr sz="1400" b="0" i="0">
                <a:solidFill>
                  <a:srgbClr val="202020"/>
                </a:solidFill>
                <a:latin typeface="Calibri"/>
              </a:rPr>
              <a:t> is the one setting to leave alone: its default here is </a:t>
            </a:r>
            <a:r>
              <a:rPr sz="1350" b="0" i="0">
                <a:solidFill>
                  <a:srgbClr val="202020"/>
                </a:solidFill>
                <a:latin typeface="Consolas"/>
              </a:rPr>
              <a:t>redacted</a:t>
            </a:r>
            <a:r>
              <a:rPr sz="1400" b="0" i="0">
                <a:solidFill>
                  <a:srgbClr val="202020"/>
                </a:solidFill>
                <a:latin typeface="Calibri"/>
              </a:rPr>
              <a:t>, which is the safer choice for this dataset. Only set it to </a:t>
            </a:r>
            <a:r>
              <a:rPr sz="1350" b="0" i="0">
                <a:solidFill>
                  <a:srgbClr val="202020"/>
                </a:solidFill>
                <a:latin typeface="Consolas"/>
              </a:rPr>
              <a:t>full</a:t>
            </a:r>
            <a:r>
              <a:rPr sz="1400" b="0" i="0">
                <a:solidFill>
                  <a:srgbClr val="202020"/>
                </a:solidFill>
                <a:latin typeface="Calibri"/>
              </a:rPr>
              <a:t> after reading section 8 and accepting that the dead-letter queue then holds full profiles at rest.</a:t>
            </a:r>
          </a:p>
        </p:txBody>
      </p:sp>
      <p:sp>
        <p:nvSpPr>
          <p:cNvPr id="6" name="Rectangle 5"/>
          <p:cNvSpPr/>
          <p:nvPr/>
        </p:nvSpPr>
        <p:spPr>
          <a:xfrm>
            <a:off x="502920" y="1463040"/>
            <a:ext cx="128016" cy="32918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682</a:t>
            </a:r>
          </a:p>
        </p:txBody>
      </p:sp>
    </p:spTree>
  </p:cSld>
  <p:clrMapOvr>
    <a:masterClrMapping/>
  </p:clrMapOvr>
</p:sld>
</file>

<file path=ppt/slides/slide6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Altrata Connector</a:t>
            </a:r>
          </a:p>
          <a:p>
            <a:r>
              <a:rPr sz="3000" b="1" i="0">
                <a:solidFill>
                  <a:srgbClr val="1F3864"/>
                </a:solidFill>
                <a:latin typeface="Calibri"/>
              </a:rPr>
              <a:t>16. Glossary</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683</a:t>
            </a:r>
          </a:p>
        </p:txBody>
      </p:sp>
    </p:spTree>
  </p:cSld>
  <p:clrMapOvr>
    <a:masterClrMapping/>
  </p:clrMapOvr>
</p:sld>
</file>

<file path=ppt/slides/slide6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Relationship &amp; wealth intelligence</a:t>
            </a:r>
          </a:p>
          <a:p>
            <a:pPr>
              <a:spcAft>
                <a:spcPts val="0"/>
              </a:spcAft>
            </a:pPr>
            <a:r>
              <a:rPr sz="1000" b="1" i="0">
                <a:solidFill>
                  <a:srgbClr val="595959"/>
                </a:solidFill>
                <a:latin typeface="Calibri"/>
              </a:rPr>
              <a:t>What it is  </a:t>
            </a:r>
            <a:r>
              <a:rPr sz="1100" b="0" i="0">
                <a:solidFill>
                  <a:srgbClr val="202020"/>
                </a:solidFill>
                <a:latin typeface="Calibri"/>
              </a:rPr>
              <a:t>Commercial data on individuals' estimated wealth, income/liquidity, career, board seats and personal/professional connections (Altrata = BoardEx / WealthEngine / Wealth-X family).</a:t>
            </a:r>
          </a:p>
          <a:p>
            <a:pPr>
              <a:spcAft>
                <a:spcPts val="200"/>
              </a:spcAft>
            </a:pPr>
            <a:r>
              <a:rPr sz="1000" b="1" i="0">
                <a:solidFill>
                  <a:srgbClr val="595959"/>
                </a:solidFill>
                <a:latin typeface="Calibri"/>
              </a:rPr>
              <a:t>Why it matters  </a:t>
            </a:r>
            <a:r>
              <a:rPr sz="1100" b="0" i="0">
                <a:solidFill>
                  <a:srgbClr val="202020"/>
                </a:solidFill>
                <a:latin typeface="Calibri"/>
              </a:rPr>
              <a:t>It is licensed personal data about identifiable people, much of it “sensitive” (wealth), so every rule in this guide follows from that.</a:t>
            </a:r>
          </a:p>
          <a:p>
            <a:pPr>
              <a:spcBef>
                <a:spcPts val="600"/>
              </a:spcBef>
              <a:spcAft>
                <a:spcPts val="100"/>
              </a:spcAft>
            </a:pPr>
            <a:r>
              <a:rPr sz="1400" b="1" i="0">
                <a:solidFill>
                  <a:srgbClr val="1F3864"/>
                </a:solidFill>
                <a:latin typeface="Calibri"/>
              </a:rPr>
              <a:t>Licensed feed</a:t>
            </a:r>
          </a:p>
          <a:p>
            <a:pPr>
              <a:spcAft>
                <a:spcPts val="0"/>
              </a:spcAft>
            </a:pPr>
            <a:r>
              <a:rPr sz="1000" b="1" i="0">
                <a:solidFill>
                  <a:srgbClr val="595959"/>
                </a:solidFill>
                <a:latin typeface="Calibri"/>
              </a:rPr>
              <a:t>What it is  </a:t>
            </a:r>
            <a:r>
              <a:rPr sz="1100" b="0" i="0">
                <a:solidFill>
                  <a:srgbClr val="202020"/>
                </a:solidFill>
                <a:latin typeface="Calibri"/>
              </a:rPr>
              <a:t>The bulk data Altrata delivers under contract, as files dropped by SFTP into FEED_PATH.</a:t>
            </a:r>
          </a:p>
          <a:p>
            <a:pPr>
              <a:spcAft>
                <a:spcPts val="200"/>
              </a:spcAft>
            </a:pPr>
            <a:r>
              <a:rPr sz="1000" b="1" i="0">
                <a:solidFill>
                  <a:srgbClr val="595959"/>
                </a:solidFill>
                <a:latin typeface="Calibri"/>
              </a:rPr>
              <a:t>Why it matters  </a:t>
            </a:r>
            <a:r>
              <a:rPr sz="1100" b="0" i="0">
                <a:solidFill>
                  <a:srgbClr val="202020"/>
                </a:solidFill>
                <a:latin typeface="Calibri"/>
              </a:rPr>
              <a:t>It is the primary source; your licence and seat count govern who may see it.</a:t>
            </a:r>
          </a:p>
          <a:p>
            <a:pPr>
              <a:spcBef>
                <a:spcPts val="600"/>
              </a:spcBef>
              <a:spcAft>
                <a:spcPts val="100"/>
              </a:spcAft>
            </a:pPr>
            <a:r>
              <a:rPr sz="1400" b="1" i="0">
                <a:solidFill>
                  <a:srgbClr val="1F3864"/>
                </a:solidFill>
                <a:latin typeface="Calibri"/>
              </a:rPr>
              <a:t>Manifest (manifest.json)</a:t>
            </a:r>
          </a:p>
          <a:p>
            <a:pPr>
              <a:spcAft>
                <a:spcPts val="0"/>
              </a:spcAft>
            </a:pPr>
            <a:r>
              <a:rPr sz="1000" b="1" i="0">
                <a:solidFill>
                  <a:srgbClr val="595959"/>
                </a:solidFill>
                <a:latin typeface="Calibri"/>
              </a:rPr>
              <a:t>What it is  </a:t>
            </a:r>
            <a:r>
              <a:rPr sz="1100" b="0" i="0">
                <a:solidFill>
                  <a:srgbClr val="202020"/>
                </a:solidFill>
                <a:latin typeface="Calibri"/>
              </a:rPr>
              <a:t>The per-delivery index listing each file's dataset, SHA-256 checksum and record count.</a:t>
            </a:r>
          </a:p>
          <a:p>
            <a:pPr>
              <a:spcAft>
                <a:spcPts val="200"/>
              </a:spcAft>
            </a:pPr>
            <a:r>
              <a:rPr sz="1000" b="1" i="0">
                <a:solidFill>
                  <a:srgbClr val="595959"/>
                </a:solidFill>
                <a:latin typeface="Calibri"/>
              </a:rPr>
              <a:t>Why it matters  </a:t>
            </a:r>
            <a:r>
              <a:rPr sz="1100" b="0" i="0">
                <a:solidFill>
                  <a:srgbClr val="202020"/>
                </a:solidFill>
                <a:latin typeface="Calibri"/>
              </a:rPr>
              <a:t>The connector rejects an entire delivery if any checksum or count is wrong, so nothing tampered or truncated is indexed.</a:t>
            </a:r>
          </a:p>
          <a:p>
            <a:pPr>
              <a:spcBef>
                <a:spcPts val="600"/>
              </a:spcBef>
              <a:spcAft>
                <a:spcPts val="100"/>
              </a:spcAft>
            </a:pPr>
            <a:r>
              <a:rPr sz="1400" b="1" i="0">
                <a:solidFill>
                  <a:srgbClr val="1F3864"/>
                </a:solidFill>
                <a:latin typeface="Calibri"/>
              </a:rPr>
              <a:t>Seat / seat-based entitlement</a:t>
            </a:r>
          </a:p>
          <a:p>
            <a:pPr>
              <a:spcAft>
                <a:spcPts val="0"/>
              </a:spcAft>
            </a:pPr>
            <a:r>
              <a:rPr sz="1000" b="1" i="0">
                <a:solidFill>
                  <a:srgbClr val="595959"/>
                </a:solidFill>
                <a:latin typeface="Calibri"/>
              </a:rPr>
              <a:t>What it is  </a:t>
            </a:r>
            <a:r>
              <a:rPr sz="1100" b="0" i="0">
                <a:solidFill>
                  <a:srgbClr val="202020"/>
                </a:solidFill>
                <a:latin typeface="Calibri"/>
              </a:rPr>
              <a:t>A licensed user (UPN / object id) or Entra group entitled to see Altrata results; every item's ACL is built only from the seat list.</a:t>
            </a:r>
          </a:p>
          <a:p>
            <a:pPr>
              <a:spcAft>
                <a:spcPts val="200"/>
              </a:spcAft>
            </a:pPr>
            <a:r>
              <a:rPr sz="1000" b="1" i="0">
                <a:solidFill>
                  <a:srgbClr val="595959"/>
                </a:solidFill>
                <a:latin typeface="Calibri"/>
              </a:rPr>
              <a:t>Why it matters  </a:t>
            </a:r>
            <a:r>
              <a:rPr sz="1100" b="0" i="0">
                <a:solidFill>
                  <a:srgbClr val="202020"/>
                </a:solidFill>
                <a:latin typeface="Calibri"/>
              </a:rPr>
              <a:t>It enforces the licence and data-protection minimisation at once — access is never “everyone” and an empty list fails closed.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684</a:t>
            </a:r>
          </a:p>
        </p:txBody>
      </p:sp>
    </p:spTree>
  </p:cSld>
  <p:clrMapOvr>
    <a:masterClrMapping/>
  </p:clrMapOvr>
</p:sld>
</file>

<file path=ppt/slides/slide6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DSAR / right to be forgotten</a:t>
            </a:r>
          </a:p>
          <a:p>
            <a:pPr>
              <a:spcAft>
                <a:spcPts val="0"/>
              </a:spcAft>
            </a:pPr>
            <a:r>
              <a:rPr sz="1000" b="1" i="0">
                <a:solidFill>
                  <a:srgbClr val="595959"/>
                </a:solidFill>
                <a:latin typeface="Calibri"/>
              </a:rPr>
              <a:t>What it is  </a:t>
            </a:r>
            <a:r>
              <a:rPr sz="1100" b="0" i="0">
                <a:solidFill>
                  <a:srgbClr val="202020"/>
                </a:solidFill>
                <a:latin typeface="Calibri"/>
              </a:rPr>
              <a:t>A data subject's legal request to have their personal data erased (GDPR Art. 17).</a:t>
            </a:r>
          </a:p>
          <a:p>
            <a:pPr>
              <a:spcAft>
                <a:spcPts val="200"/>
              </a:spcAft>
            </a:pPr>
            <a:r>
              <a:rPr sz="1000" b="1" i="0">
                <a:solidFill>
                  <a:srgbClr val="595959"/>
                </a:solidFill>
                <a:latin typeface="Calibri"/>
              </a:rPr>
              <a:t>Why it matters  </a:t>
            </a:r>
            <a:r>
              <a:rPr sz="1100" b="0" i="0">
                <a:solidFill>
                  <a:srgbClr val="202020"/>
                </a:solidFill>
                <a:latin typeface="Calibri"/>
              </a:rPr>
              <a:t>The bank must be able to remove one person on request and keep them removed; this connector is built for exactly that.</a:t>
            </a:r>
          </a:p>
          <a:p>
            <a:pPr>
              <a:spcBef>
                <a:spcPts val="600"/>
              </a:spcBef>
              <a:spcAft>
                <a:spcPts val="100"/>
              </a:spcAft>
            </a:pPr>
            <a:r>
              <a:rPr sz="1400" b="1" i="0">
                <a:solidFill>
                  <a:srgbClr val="1F3864"/>
                </a:solidFill>
                <a:latin typeface="Calibri"/>
              </a:rPr>
              <a:t>forget-subject</a:t>
            </a:r>
          </a:p>
          <a:p>
            <a:pPr>
              <a:spcAft>
                <a:spcPts val="0"/>
              </a:spcAft>
            </a:pPr>
            <a:r>
              <a:rPr sz="1000" b="1" i="0">
                <a:solidFill>
                  <a:srgbClr val="595959"/>
                </a:solidFill>
                <a:latin typeface="Calibri"/>
              </a:rPr>
              <a:t>What it is  </a:t>
            </a:r>
            <a:r>
              <a:rPr sz="1100" b="0" i="0">
                <a:solidFill>
                  <a:srgbClr val="202020"/>
                </a:solidFill>
                <a:latin typeface="Calibri"/>
              </a:rPr>
              <a:t>The command that erases one person: withdraws all their items, suppresses re-ingestion, and records the erasure in the ledger.</a:t>
            </a:r>
          </a:p>
          <a:p>
            <a:pPr>
              <a:spcAft>
                <a:spcPts val="200"/>
              </a:spcAft>
            </a:pPr>
            <a:r>
              <a:rPr sz="1000" b="1" i="0">
                <a:solidFill>
                  <a:srgbClr val="595959"/>
                </a:solidFill>
                <a:latin typeface="Calibri"/>
              </a:rPr>
              <a:t>Why it matters  </a:t>
            </a:r>
            <a:r>
              <a:rPr sz="1100" b="0" i="0">
                <a:solidFill>
                  <a:srgbClr val="202020"/>
                </a:solidFill>
                <a:latin typeface="Calibri"/>
              </a:rPr>
              <a:t>It is how you actually fulfil a DSAR against the Copilot index.</a:t>
            </a:r>
          </a:p>
          <a:p>
            <a:pPr>
              <a:spcBef>
                <a:spcPts val="600"/>
              </a:spcBef>
              <a:spcAft>
                <a:spcPts val="100"/>
              </a:spcAft>
            </a:pPr>
            <a:r>
              <a:rPr sz="1400" b="1" i="0">
                <a:solidFill>
                  <a:srgbClr val="1F3864"/>
                </a:solidFill>
                <a:latin typeface="Calibri"/>
              </a:rPr>
              <a:t>Suppression list</a:t>
            </a:r>
          </a:p>
          <a:p>
            <a:pPr>
              <a:spcAft>
                <a:spcPts val="0"/>
              </a:spcAft>
            </a:pPr>
            <a:r>
              <a:rPr sz="1000" b="1" i="0">
                <a:solidFill>
                  <a:srgbClr val="595959"/>
                </a:solidFill>
                <a:latin typeface="Calibri"/>
              </a:rPr>
              <a:t>What it is  </a:t>
            </a:r>
            <a:r>
              <a:rPr sz="1100" b="0" i="0">
                <a:solidFill>
                  <a:srgbClr val="202020"/>
                </a:solidFill>
                <a:latin typeface="Calibri"/>
              </a:rPr>
              <a:t>The durable list of erased subject ids; every crawl skips them.</a:t>
            </a:r>
          </a:p>
          <a:p>
            <a:pPr>
              <a:spcAft>
                <a:spcPts val="200"/>
              </a:spcAft>
            </a:pPr>
            <a:r>
              <a:rPr sz="1000" b="1" i="0">
                <a:solidFill>
                  <a:srgbClr val="595959"/>
                </a:solidFill>
                <a:latin typeface="Calibri"/>
              </a:rPr>
              <a:t>Why it matters  </a:t>
            </a:r>
            <a:r>
              <a:rPr sz="1100" b="0" i="0">
                <a:solidFill>
                  <a:srgbClr val="202020"/>
                </a:solidFill>
                <a:latin typeface="Calibri"/>
              </a:rPr>
              <a:t>Without it the next feed delivery would re-introduce an erased person; it is the only state whose loss re-exposes erased subjects.</a:t>
            </a:r>
          </a:p>
          <a:p>
            <a:pPr>
              <a:spcBef>
                <a:spcPts val="600"/>
              </a:spcBef>
              <a:spcAft>
                <a:spcPts val="100"/>
              </a:spcAft>
            </a:pPr>
            <a:r>
              <a:rPr sz="1400" b="1" i="0">
                <a:solidFill>
                  <a:srgbClr val="1F3864"/>
                </a:solidFill>
                <a:latin typeface="Calibri"/>
              </a:rPr>
              <a:t>Erasure ledger / hash chain</a:t>
            </a:r>
          </a:p>
          <a:p>
            <a:pPr>
              <a:spcAft>
                <a:spcPts val="0"/>
              </a:spcAft>
            </a:pPr>
            <a:r>
              <a:rPr sz="1000" b="1" i="0">
                <a:solidFill>
                  <a:srgbClr val="595959"/>
                </a:solidFill>
                <a:latin typeface="Calibri"/>
              </a:rPr>
              <a:t>What it is  </a:t>
            </a:r>
            <a:r>
              <a:rPr sz="1100" b="0" i="0">
                <a:solidFill>
                  <a:srgbClr val="202020"/>
                </a:solidFill>
                <a:latin typeface="Calibri"/>
              </a:rPr>
              <a:t>The append-only, SHA-256 hash-chained record of every erase / unsuppress (logs/erasure_ledger_{ID}.jsonl), where each entry's hash covers the previous one.</a:t>
            </a:r>
          </a:p>
          <a:p>
            <a:pPr>
              <a:spcAft>
                <a:spcPts val="200"/>
              </a:spcAft>
            </a:pPr>
            <a:r>
              <a:rPr sz="1000" b="1" i="0">
                <a:solidFill>
                  <a:srgbClr val="595959"/>
                </a:solidFill>
                <a:latin typeface="Calibri"/>
              </a:rPr>
              <a:t>Why it matters  </a:t>
            </a:r>
            <a:r>
              <a:rPr sz="1100" b="0" i="0">
                <a:solidFill>
                  <a:srgbClr val="202020"/>
                </a:solidFill>
                <a:latin typeface="Calibri"/>
              </a:rPr>
              <a:t>It is tamper-evident proof for auditors; any edit breaks the chain and raises a security-critical alert.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685</a:t>
            </a:r>
          </a:p>
        </p:txBody>
      </p:sp>
    </p:spTree>
  </p:cSld>
  <p:clrMapOvr>
    <a:masterClrMapping/>
  </p:clrMapOvr>
</p:sld>
</file>

<file path=ppt/slides/slide6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Compensating withdrawal</a:t>
            </a:r>
          </a:p>
          <a:p>
            <a:pPr>
              <a:spcAft>
                <a:spcPts val="0"/>
              </a:spcAft>
            </a:pPr>
            <a:r>
              <a:rPr sz="1000" b="1" i="0">
                <a:solidFill>
                  <a:srgbClr val="595959"/>
                </a:solidFill>
                <a:latin typeface="Calibri"/>
              </a:rPr>
              <a:t>What it is  </a:t>
            </a:r>
            <a:r>
              <a:rPr sz="1100" b="0" i="0">
                <a:solidFill>
                  <a:srgbClr val="202020"/>
                </a:solidFill>
                <a:latin typeface="Calibri"/>
              </a:rPr>
              <a:t>A follow-up DELETE that removes an item which slipped in — a feed PUT that raced an erasure, or a failed erase DELETE re-queued for retry-failed.</a:t>
            </a:r>
          </a:p>
          <a:p>
            <a:pPr>
              <a:spcAft>
                <a:spcPts val="200"/>
              </a:spcAft>
            </a:pPr>
            <a:r>
              <a:rPr sz="1000" b="1" i="0">
                <a:solidFill>
                  <a:srgbClr val="595959"/>
                </a:solidFill>
                <a:latin typeface="Calibri"/>
              </a:rPr>
              <a:t>Why it matters  </a:t>
            </a:r>
            <a:r>
              <a:rPr sz="1100" b="0" i="0">
                <a:solidFill>
                  <a:srgbClr val="202020"/>
                </a:solidFill>
                <a:latin typeface="Calibri"/>
              </a:rPr>
              <a:t>It guarantees an erased subject cannot survive a race or a transient Graph error.</a:t>
            </a:r>
          </a:p>
          <a:p>
            <a:pPr>
              <a:spcBef>
                <a:spcPts val="600"/>
              </a:spcBef>
              <a:spcAft>
                <a:spcPts val="100"/>
              </a:spcAft>
            </a:pPr>
            <a:r>
              <a:rPr sz="1400" b="1" i="0">
                <a:solidFill>
                  <a:srgbClr val="1F3864"/>
                </a:solidFill>
                <a:latin typeface="Calibri"/>
              </a:rPr>
              <a:t>Tombstone</a:t>
            </a:r>
          </a:p>
          <a:p>
            <a:pPr>
              <a:spcAft>
                <a:spcPts val="0"/>
              </a:spcAft>
            </a:pPr>
            <a:r>
              <a:rPr sz="1000" b="1" i="0">
                <a:solidFill>
                  <a:srgbClr val="595959"/>
                </a:solidFill>
                <a:latin typeface="Calibri"/>
              </a:rPr>
              <a:t>What it is  </a:t>
            </a:r>
            <a:r>
              <a:rPr sz="1100" b="0" i="0">
                <a:solidFill>
                  <a:srgbClr val="202020"/>
                </a:solidFill>
                <a:latin typeface="Calibri"/>
              </a:rPr>
              <a:t>A feed record marked op: delete (in a delta delivery) telling the connector to withdraw that item instead of adding it.</a:t>
            </a:r>
          </a:p>
          <a:p>
            <a:pPr>
              <a:spcAft>
                <a:spcPts val="200"/>
              </a:spcAft>
            </a:pPr>
            <a:r>
              <a:rPr sz="1000" b="1" i="0">
                <a:solidFill>
                  <a:srgbClr val="595959"/>
                </a:solidFill>
                <a:latin typeface="Calibri"/>
              </a:rPr>
              <a:t>Why it matters  </a:t>
            </a:r>
            <a:r>
              <a:rPr sz="1100" b="0" i="0">
                <a:solidFill>
                  <a:srgbClr val="202020"/>
                </a:solidFill>
                <a:latin typeface="Calibri"/>
              </a:rPr>
              <a:t>It keeps the index current on incremental crawls without full re-crawls.</a:t>
            </a:r>
          </a:p>
          <a:p>
            <a:pPr>
              <a:spcBef>
                <a:spcPts val="600"/>
              </a:spcBef>
              <a:spcAft>
                <a:spcPts val="100"/>
              </a:spcAft>
            </a:pPr>
            <a:r>
              <a:rPr sz="1400" b="1" i="0">
                <a:solidFill>
                  <a:srgbClr val="1F3864"/>
                </a:solidFill>
                <a:latin typeface="Calibri"/>
              </a:rPr>
              <a:t>PII-safe / hashed identity</a:t>
            </a:r>
          </a:p>
          <a:p>
            <a:pPr>
              <a:spcAft>
                <a:spcPts val="0"/>
              </a:spcAft>
            </a:pPr>
            <a:r>
              <a:rPr sz="1000" b="1" i="0">
                <a:solidFill>
                  <a:srgbClr val="595959"/>
                </a:solidFill>
                <a:latin typeface="Calibri"/>
              </a:rPr>
              <a:t>What it is  </a:t>
            </a:r>
            <a:r>
              <a:rPr sz="1100" b="0" i="0">
                <a:solidFill>
                  <a:srgbClr val="202020"/>
                </a:solidFill>
                <a:latin typeface="Calibri"/>
              </a:rPr>
              <a:t>The discipline of storing and logging only opaque ids, counts, enums and one-way hashes — never names, emails or wealth figures.</a:t>
            </a:r>
          </a:p>
          <a:p>
            <a:pPr>
              <a:spcAft>
                <a:spcPts val="200"/>
              </a:spcAft>
            </a:pPr>
            <a:r>
              <a:rPr sz="1000" b="1" i="0">
                <a:solidFill>
                  <a:srgbClr val="595959"/>
                </a:solidFill>
                <a:latin typeface="Calibri"/>
              </a:rPr>
              <a:t>Why it matters  </a:t>
            </a:r>
            <a:r>
              <a:rPr sz="1100" b="0" i="0">
                <a:solidFill>
                  <a:srgbClr val="202020"/>
                </a:solidFill>
                <a:latin typeface="Calibri"/>
              </a:rPr>
              <a:t>It stops the connector's logs, traces, review queue and (by default) dead-letter queue from becoming a second copy of the sensitive data.</a:t>
            </a:r>
          </a:p>
          <a:p>
            <a:pPr>
              <a:spcBef>
                <a:spcPts val="600"/>
              </a:spcBef>
              <a:spcAft>
                <a:spcPts val="100"/>
              </a:spcAft>
            </a:pPr>
            <a:r>
              <a:rPr sz="1400" b="1" i="0">
                <a:solidFill>
                  <a:srgbClr val="1F3864"/>
                </a:solidFill>
                <a:latin typeface="Calibri"/>
              </a:rPr>
              <a:t>Dead-letter redaction</a:t>
            </a:r>
          </a:p>
          <a:p>
            <a:pPr>
              <a:spcAft>
                <a:spcPts val="0"/>
              </a:spcAft>
            </a:pPr>
            <a:r>
              <a:rPr sz="1000" b="1" i="0">
                <a:solidFill>
                  <a:srgbClr val="595959"/>
                </a:solidFill>
                <a:latin typeface="Calibri"/>
              </a:rPr>
              <a:t>What it is  </a:t>
            </a:r>
            <a:r>
              <a:rPr sz="1100" b="0" i="0">
                <a:solidFill>
                  <a:srgbClr val="202020"/>
                </a:solidFill>
                <a:latin typeface="Calibri"/>
              </a:rPr>
              <a:t>The default DEADLETTER_PAYLOAD_MODE=redacted posture: a record that cannot be written to Graph is parked with only its ids, subject hashes, error and attempt count — never the transformed profile — and retry-failed re-fetches the record from the checksum-verified feed delivery on replay.</a:t>
            </a:r>
          </a:p>
          <a:p>
            <a:pPr>
              <a:spcAft>
                <a:spcPts val="200"/>
              </a:spcAft>
            </a:pPr>
            <a:r>
              <a:rPr sz="1000" b="1" i="0">
                <a:solidFill>
                  <a:srgbClr val="595959"/>
                </a:solidFill>
                <a:latin typeface="Calibri"/>
              </a:rPr>
              <a:t>Why it matters  </a:t>
            </a:r>
            <a:r>
              <a:rPr sz="1100" b="0" i="0">
                <a:solidFill>
                  <a:srgbClr val="202020"/>
                </a:solidFill>
                <a:latin typeface="Calibri"/>
              </a:rPr>
              <a:t>It keeps the connector's single worst PII-at-rest surface free of wealth and relationship data; the trade-off is that replay needs the original delivery still on disk.</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686</a:t>
            </a:r>
          </a:p>
        </p:txBody>
      </p:sp>
    </p:spTree>
  </p:cSld>
  <p:clrMapOvr>
    <a:masterClrMapping/>
  </p:clrMapOvr>
</p:sld>
</file>

<file path=ppt/slides/slide6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Purpose-of-use authorization</a:t>
            </a:r>
          </a:p>
          <a:p>
            <a:pPr>
              <a:spcAft>
                <a:spcPts val="0"/>
              </a:spcAft>
            </a:pPr>
            <a:r>
              <a:rPr sz="1000" b="1" i="0">
                <a:solidFill>
                  <a:srgbClr val="595959"/>
                </a:solidFill>
                <a:latin typeface="Calibri"/>
              </a:rPr>
              <a:t>What it is  </a:t>
            </a:r>
            <a:r>
              <a:rPr sz="1100" b="0" i="0">
                <a:solidFill>
                  <a:srgbClr val="202020"/>
                </a:solidFill>
                <a:latin typeface="Calibri"/>
              </a:rPr>
              <a:t>The PURPOSE_ALLOWLIST control: when a list of permitted purposes is set, an on-demand API lookup whose --purpose is not on the list (or is empty) is vetoed fail-closed and audited BEFORE any billable, token or HTTP work.</a:t>
            </a:r>
          </a:p>
          <a:p>
            <a:pPr>
              <a:spcAft>
                <a:spcPts val="200"/>
              </a:spcAft>
            </a:pPr>
            <a:r>
              <a:rPr sz="1000" b="1" i="0">
                <a:solidFill>
                  <a:srgbClr val="595959"/>
                </a:solidFill>
                <a:latin typeface="Calibri"/>
              </a:rPr>
              <a:t>Why it matters  </a:t>
            </a:r>
            <a:r>
              <a:rPr sz="1100" b="0" i="0">
                <a:solidFill>
                  <a:srgbClr val="202020"/>
                </a:solidFill>
                <a:latin typeface="Calibri"/>
              </a:rPr>
              <a:t>It turns the purpose-of-use audit trail into an actual gate on the billable Altrata API — lawful-basis enforcement, not just a record. Unset keeps the old record-only behaviour.</a:t>
            </a:r>
          </a:p>
          <a:p>
            <a:pPr>
              <a:spcBef>
                <a:spcPts val="600"/>
              </a:spcBef>
              <a:spcAft>
                <a:spcPts val="100"/>
              </a:spcAft>
            </a:pPr>
            <a:r>
              <a:rPr sz="1400" b="1" i="0">
                <a:solidFill>
                  <a:srgbClr val="1F3864"/>
                </a:solidFill>
                <a:latin typeface="Calibri"/>
              </a:rPr>
              <a:t>Classification enforcement (advisory tag → ACL)</a:t>
            </a:r>
          </a:p>
          <a:p>
            <a:pPr>
              <a:spcAft>
                <a:spcPts val="0"/>
              </a:spcAft>
            </a:pPr>
            <a:r>
              <a:rPr sz="1000" b="1" i="0">
                <a:solidFill>
                  <a:srgbClr val="595959"/>
                </a:solidFill>
                <a:latin typeface="Calibri"/>
              </a:rPr>
              <a:t>What it is  </a:t>
            </a:r>
            <a:r>
              <a:rPr sz="1100" b="0" i="0">
                <a:solidFill>
                  <a:srgbClr val="202020"/>
                </a:solidFill>
                <a:latin typeface="Calibri"/>
              </a:rPr>
              <a:t>CLASSIFICATION_ENFORCE_ACL (+ CLASSIFICATION_ENFORCE_GROUP_ID): normally sensitivityLabel is an advisory tag with no access effect, but this option locks the top-tier (Restricted) items' ACL to one reviewer Entra group.</a:t>
            </a:r>
          </a:p>
          <a:p>
            <a:pPr>
              <a:spcAft>
                <a:spcPts val="200"/>
              </a:spcAft>
            </a:pPr>
            <a:r>
              <a:rPr sz="1000" b="1" i="0">
                <a:solidFill>
                  <a:srgbClr val="595959"/>
                </a:solidFill>
                <a:latin typeface="Calibri"/>
              </a:rPr>
              <a:t>Why it matters  </a:t>
            </a:r>
            <a:r>
              <a:rPr sz="1100" b="0" i="0">
                <a:solidFill>
                  <a:srgbClr val="202020"/>
                </a:solidFill>
                <a:latin typeface="Calibri"/>
              </a:rPr>
              <a:t>It is the ONE place the classification tag becomes a hard control. Note it is advisory-only otherwise — not a Purview-enforced label — and a seat-change re-ACL sweep can transiently overwrite the enforced ACL until the next crawl re-applies it.</a:t>
            </a:r>
          </a:p>
          <a:p>
            <a:pPr>
              <a:spcBef>
                <a:spcPts val="600"/>
              </a:spcBef>
              <a:spcAft>
                <a:spcPts val="100"/>
              </a:spcAft>
            </a:pPr>
            <a:r>
              <a:rPr sz="1400" b="1" i="0">
                <a:solidFill>
                  <a:srgbClr val="1F3864"/>
                </a:solidFill>
                <a:latin typeface="Calibri"/>
              </a:rPr>
              <a:t>Decision ledger</a:t>
            </a:r>
          </a:p>
          <a:p>
            <a:pPr>
              <a:spcAft>
                <a:spcPts val="0"/>
              </a:spcAft>
            </a:pPr>
            <a:r>
              <a:rPr sz="1000" b="1" i="0">
                <a:solidFill>
                  <a:srgbClr val="595959"/>
                </a:solidFill>
                <a:latin typeface="Calibri"/>
              </a:rPr>
              <a:t>What it is  </a:t>
            </a:r>
            <a:r>
              <a:rPr sz="1100" b="0" i="0">
                <a:solidFill>
                  <a:srgbClr val="202020"/>
                </a:solidFill>
                <a:latin typeface="Calibri"/>
              </a:rPr>
              <a:t>An append-only, SHA-256 hash-chained record of EXCLUSION and ACL-RESTRICTION decisions (logs/decision_ledger_{ID}.jsonl), built on the same hash chain as the erasure ledger and carrying ids/reasons only — no personal values.</a:t>
            </a:r>
          </a:p>
          <a:p>
            <a:pPr>
              <a:spcAft>
                <a:spcPts val="200"/>
              </a:spcAft>
            </a:pPr>
            <a:r>
              <a:rPr sz="1000" b="1" i="0">
                <a:solidFill>
                  <a:srgbClr val="595959"/>
                </a:solidFill>
                <a:latin typeface="Calibri"/>
              </a:rPr>
              <a:t>Why it matters  </a:t>
            </a:r>
            <a:r>
              <a:rPr sz="1100" b="0" i="0">
                <a:solidFill>
                  <a:srgbClr val="202020"/>
                </a:solidFill>
                <a:latin typeface="Calibri"/>
              </a:rPr>
              <a:t>It gives auditors tamper-evident proof of the governance decisions that narrow the index; any edit breaks the chain and sets altrata_decision_ledger_broken.</a:t>
            </a:r>
          </a:p>
          <a:p>
            <a:pPr>
              <a:spcBef>
                <a:spcPts val="600"/>
              </a:spcBef>
              <a:spcAft>
                <a:spcPts val="100"/>
              </a:spcAft>
            </a:pPr>
            <a:r>
              <a:rPr sz="1400" b="1" i="0">
                <a:solidFill>
                  <a:srgbClr val="1F3864"/>
                </a:solidFill>
                <a:latin typeface="Calibri"/>
              </a:rPr>
              <a:t>Stale-index item TTL / expirationDateTime</a:t>
            </a:r>
          </a:p>
          <a:p>
            <a:pPr>
              <a:spcAft>
                <a:spcPts val="0"/>
              </a:spcAft>
            </a:pPr>
            <a:r>
              <a:rPr sz="1000" b="1" i="0">
                <a:solidFill>
                  <a:srgbClr val="595959"/>
                </a:solidFill>
                <a:latin typeface="Calibri"/>
              </a:rPr>
              <a:t>What it is  </a:t>
            </a:r>
            <a:r>
              <a:rPr sz="1100" b="0" i="0">
                <a:solidFill>
                  <a:srgbClr val="202020"/>
                </a:solidFill>
                <a:latin typeface="Calibri"/>
              </a:rPr>
              <a:t>GRAPH_ITEM_TTL_DAYS: when &gt; 0, every item is stamped a top-level expirationDateTime of now + N days, so the index self-expires if crawling stops; a healthy crawl re-stamps items each pass, sliding the window forward.</a:t>
            </a:r>
          </a:p>
          <a:p>
            <a:pPr>
              <a:spcAft>
                <a:spcPts val="200"/>
              </a:spcAft>
            </a:pPr>
            <a:r>
              <a:rPr sz="1000" b="1" i="0">
                <a:solidFill>
                  <a:srgbClr val="595959"/>
                </a:solidFill>
                <a:latin typeface="Calibri"/>
              </a:rPr>
              <a:t>Why it matters  </a:t>
            </a:r>
            <a:r>
              <a:rPr sz="1100" b="0" i="0">
                <a:solidFill>
                  <a:srgbClr val="202020"/>
                </a:solidFill>
                <a:latin typeface="Calibri"/>
              </a:rPr>
              <a:t>It is defence-in-depth after an outage or decommission — the seat-gated data drains itself instead of lingering un-refreshed. 0 = items never expire.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Altrata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687</a:t>
            </a:r>
          </a:p>
        </p:txBody>
      </p:sp>
    </p:spTree>
  </p:cSld>
  <p:clrMapOvr>
    <a:masterClrMapping/>
  </p:clrMapOvr>
</p:sld>
</file>

<file path=ppt/slides/slide6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182880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331720"/>
            <a:ext cx="11185855" cy="1737360"/>
          </a:xfrm>
          <a:prstGeom prst="rect">
            <a:avLst/>
          </a:prstGeom>
          <a:noFill/>
        </p:spPr>
        <p:txBody>
          <a:bodyPr wrap="square" anchor="ctr" lIns="0" rIns="0" tIns="0" bIns="0">
            <a:spAutoFit/>
          </a:bodyPr>
          <a:lstStyle/>
          <a:p>
            <a:r>
              <a:rPr sz="2000" b="1" i="0">
                <a:solidFill>
                  <a:srgbClr val="C7D3EA"/>
                </a:solidFill>
                <a:latin typeface="Calibri"/>
              </a:rPr>
              <a:t>Part 5</a:t>
            </a:r>
          </a:p>
          <a:p>
            <a:r>
              <a:rPr sz="3400" b="1" i="0">
                <a:solidFill>
                  <a:srgbClr val="FFFFFF"/>
                </a:solidFill>
                <a:latin typeface="Calibri"/>
              </a:rPr>
              <a:t>Hadoop BDH Connector</a:t>
            </a:r>
          </a:p>
          <a:p>
            <a:r>
              <a:rPr sz="1600" b="0" i="0">
                <a:solidFill>
                  <a:srgbClr val="E0E8F5"/>
                </a:solidFill>
                <a:latin typeface="Calibri"/>
              </a:rPr>
              <a:t>BDH data mart — filter-first at 150M+ scale</a:t>
            </a:r>
          </a:p>
        </p:txBody>
      </p:sp>
    </p:spTree>
  </p:cSld>
  <p:clrMapOvr>
    <a:masterClrMapping/>
  </p:clrMapOvr>
</p:sld>
</file>

<file path=ppt/slides/slide6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Hadoop BDH Connector</a:t>
            </a:r>
          </a:p>
          <a:p>
            <a:r>
              <a:rPr sz="3000" b="1" i="0">
                <a:solidFill>
                  <a:srgbClr val="1F3864"/>
                </a:solidFill>
                <a:latin typeface="Calibri"/>
              </a:rPr>
              <a:t>1. About this guide</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689</a:t>
            </a:r>
          </a:p>
        </p:txBody>
      </p:sp>
    </p:spTree>
  </p:cSld>
  <p:clrMapOvr>
    <a:masterClrMapping/>
  </p:clrMapOvr>
</p:sld>
</file>

<file path=ppt/slides/slide6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 About this guide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This guide tells you how to install, run, monitor and troubleshoot the Hadoop BDH connector — the piece of software that copies Salesforce business records out of the bank's BDH Hadoop data mart into the Microsoft 365 Copilot search index, so Copilot can answer questions using them.</a:t>
            </a:r>
          </a:p>
          <a:p>
            <a:pPr>
              <a:spcBef>
                <a:spcPts val="100"/>
              </a:spcBef>
              <a:spcAft>
                <a:spcPts val="400"/>
              </a:spcAft>
            </a:pPr>
            <a:r>
              <a:rPr sz="1250" b="0" i="0">
                <a:solidFill>
                  <a:srgbClr val="202020"/>
                </a:solidFill>
                <a:latin typeface="Calibri"/>
              </a:rPr>
              <a:t>It is written for an IT operator who keeps the connector running day to day. You do not need to have built it or to know Hadoop or Salesforce beforehand. Every specialist term is explained the first time it appears, and the deeper ones are collected in the glossary at the end (</a:t>
            </a:r>
            <a:r>
              <a:rPr sz="1250" b="1" i="0">
                <a:solidFill>
                  <a:srgbClr val="202020"/>
                </a:solidFill>
                <a:latin typeface="Calibri"/>
              </a:rPr>
              <a:t>Section 15</a:t>
            </a:r>
            <a:r>
              <a:rPr sz="1250" b="0" i="0">
                <a:solidFill>
                  <a:srgbClr val="202020"/>
                </a:solidFill>
                <a:latin typeface="Calibri"/>
              </a:rPr>
              <a:t>). Keep this document open beside the connector — it is a reference, not something you read once.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690</a:t>
            </a:r>
          </a:p>
        </p:txBody>
      </p:sp>
    </p:spTree>
  </p:cSld>
  <p:clrMapOvr>
    <a:masterClrMapping/>
  </p:clrMapOvr>
</p:sld>
</file>

<file path=ppt/slides/slide6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 What is in this guide, and what is in the Common Guide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This connector is one of a family that all share the same engine (the "chassis"): the same command-line tool, the same way of talking to Microsoft Graph, the same health checks, the same Windows-service and high-availability behaviour. Those shared topics are documented once, in the </a:t>
            </a:r>
            <a:r>
              <a:rPr sz="1250" b="1" i="0">
                <a:solidFill>
                  <a:srgbClr val="202020"/>
                </a:solidFill>
                <a:latin typeface="Calibri"/>
              </a:rPr>
              <a:t>Tenant &amp; Common Concepts Guide (CONN-DOC-COMMON-01)</a:t>
            </a:r>
            <a:r>
              <a:rPr sz="1250" b="0" i="0">
                <a:solidFill>
                  <a:srgbClr val="202020"/>
                </a:solidFill>
                <a:latin typeface="Calibri"/>
              </a:rPr>
              <a:t> — referred to below simply as the </a:t>
            </a:r>
            <a:r>
              <a:rPr sz="1250" b="1" i="0">
                <a:solidFill>
                  <a:srgbClr val="202020"/>
                </a:solidFill>
                <a:latin typeface="Calibri"/>
              </a:rPr>
              <a:t>Common Guide</a:t>
            </a:r>
            <a:r>
              <a:rPr sz="1250" b="0" i="0">
                <a:solidFill>
                  <a:srgbClr val="202020"/>
                </a:solidFill>
                <a:latin typeface="Calibri"/>
              </a:rPr>
              <a:t>. This document covers only what is specific to BDH.</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691</a:t>
            </a:r>
          </a:p>
        </p:txBody>
      </p:sp>
    </p:spTree>
  </p:cSld>
  <p:clrMapOvr>
    <a:masterClrMapping/>
  </p:clrMapOvr>
</p:sld>
</file>

<file path=ppt/slides/slide6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 What is in this guide, and what is in the Common Guide</a:t>
            </a:r>
          </a:p>
        </p:txBody>
      </p:sp>
      <p:graphicFrame>
        <p:nvGraphicFramePr>
          <p:cNvPr id="5" name="Table 4"/>
          <p:cNvGraphicFramePr>
            <a:graphicFrameLocks noGrp="1"/>
          </p:cNvGraphicFramePr>
          <p:nvPr/>
        </p:nvGraphicFramePr>
        <p:xfrm>
          <a:off x="502920" y="1188720"/>
          <a:ext cx="11185854" cy="1920240"/>
        </p:xfrm>
        <a:graphic>
          <a:graphicData uri="http://schemas.openxmlformats.org/drawingml/2006/table">
            <a:tbl>
              <a:tblPr firstRow="1" bandRow="1">
                <a:tableStyleId>{5C22544A-7EE6-4342-B048-85BDC9FD1C3A}</a:tableStyleId>
              </a:tblPr>
              <a:tblGrid>
                <a:gridCol w="3803190"/>
                <a:gridCol w="7382664"/>
              </a:tblGrid>
              <a:tr h="384048">
                <a:tc>
                  <a:txBody>
                    <a:bodyPr wrap="square"/>
                    <a:lstStyle/>
                    <a:p>
                      <a:r>
                        <a:rPr sz="1050" b="1" i="0">
                          <a:solidFill>
                            <a:srgbClr val="FFFFFF"/>
                          </a:solidFill>
                          <a:latin typeface="Calibri"/>
                        </a:rPr>
                        <a:t>Read the Common Guide for…</a:t>
                      </a:r>
                    </a:p>
                  </a:txBody>
                  <a:tcPr marT="25400" marB="25400">
                    <a:solidFill>
                      <a:srgbClr val="2E5496"/>
                    </a:solidFill>
                  </a:tcPr>
                </a:tc>
                <a:tc>
                  <a:txBody>
                    <a:bodyPr wrap="square"/>
                    <a:lstStyle/>
                    <a:p>
                      <a:r>
                        <a:rPr sz="1050" b="1" i="0">
                          <a:solidFill>
                            <a:srgbClr val="FFFFFF"/>
                          </a:solidFill>
                          <a:latin typeface="Calibri"/>
                        </a:rPr>
                        <a:t>Read this guide for…</a:t>
                      </a:r>
                    </a:p>
                  </a:txBody>
                  <a:tcPr marT="25400" marB="25400">
                    <a:solidFill>
                      <a:srgbClr val="2E5496"/>
                    </a:solidFill>
                  </a:tcPr>
                </a:tc>
              </a:tr>
              <a:tr h="384048">
                <a:tc>
                  <a:txBody>
                    <a:bodyPr wrap="square"/>
                    <a:lstStyle/>
                    <a:p>
                      <a:r>
                        <a:rPr sz="950" b="0" i="0">
                          <a:solidFill>
                            <a:srgbClr val="202020"/>
                          </a:solidFill>
                          <a:latin typeface="Calibri"/>
                        </a:rPr>
                        <a:t>Microsoft Graph, external items, ACLs and Entra ID basics (Common Guide §5)</a:t>
                      </a:r>
                    </a:p>
                  </a:txBody>
                  <a:tcPr marT="12700" marB="12700">
                    <a:solidFill>
                      <a:srgbClr val="FFFFFF"/>
                    </a:solidFill>
                  </a:tcPr>
                </a:tc>
                <a:tc>
                  <a:txBody>
                    <a:bodyPr wrap="square"/>
                    <a:lstStyle/>
                    <a:p>
                      <a:r>
                        <a:rPr sz="950" b="0" i="0">
                          <a:solidFill>
                            <a:srgbClr val="202020"/>
                          </a:solidFill>
                          <a:latin typeface="Calibri"/>
                        </a:rPr>
                        <a:t>How BDH's Salesforce records become external items (Section 5)</a:t>
                      </a:r>
                    </a:p>
                  </a:txBody>
                  <a:tcPr marT="12700" marB="12700">
                    <a:solidFill>
                      <a:srgbClr val="FFFFFF"/>
                    </a:solidFill>
                  </a:tcPr>
                </a:tc>
              </a:tr>
              <a:tr h="384048">
                <a:tc>
                  <a:txBody>
                    <a:bodyPr wrap="square"/>
                    <a:lstStyle/>
                    <a:p>
                      <a:r>
                        <a:rPr sz="950" b="0" i="0">
                          <a:solidFill>
                            <a:srgbClr val="202020"/>
                          </a:solidFill>
                          <a:latin typeface="Calibri"/>
                        </a:rPr>
                        <a:t>The shared chassis, install, Windows service, Docker, SQL/HA (Common Guide §6)</a:t>
                      </a:r>
                    </a:p>
                  </a:txBody>
                  <a:tcPr marT="12700" marB="12700">
                    <a:solidFill>
                      <a:srgbClr val="F7F9FC"/>
                    </a:solidFill>
                  </a:tcPr>
                </a:tc>
                <a:tc>
                  <a:txBody>
                    <a:bodyPr wrap="square"/>
                    <a:lstStyle/>
                    <a:p>
                      <a:r>
                        <a:rPr sz="950" b="0" i="0">
                          <a:solidFill>
                            <a:srgbClr val="202020"/>
                          </a:solidFill>
                          <a:latin typeface="Calibri"/>
                        </a:rPr>
                        <a:t>The BDH source connection: WebHDFS or a mounted path (Section 4)</a:t>
                      </a:r>
                    </a:p>
                  </a:txBody>
                  <a:tcPr marT="12700" marB="12700">
                    <a:solidFill>
                      <a:srgbClr val="F7F9FC"/>
                    </a:solidFill>
                  </a:tcPr>
                </a:tc>
              </a:tr>
              <a:tr h="384048">
                <a:tc>
                  <a:txBody>
                    <a:bodyPr wrap="square"/>
                    <a:lstStyle/>
                    <a:p>
                      <a:r>
                        <a:rPr sz="950" b="0" i="0">
                          <a:solidFill>
                            <a:srgbClr val="202020"/>
                          </a:solidFill>
                          <a:latin typeface="Calibri"/>
                        </a:rPr>
                        <a:t>Security &amp; authentication, tenant quotas, monitoring, disaster recovery (Common Guide §8)</a:t>
                      </a:r>
                    </a:p>
                  </a:txBody>
                  <a:tcPr marT="12700" marB="12700">
                    <a:solidFill>
                      <a:srgbClr val="FFFFFF"/>
                    </a:solidFill>
                  </a:tcPr>
                </a:tc>
                <a:tc>
                  <a:txBody>
                    <a:bodyPr wrap="square"/>
                    <a:lstStyle/>
                    <a:p>
                      <a:r>
                        <a:rPr sz="950" b="0" i="0">
                          <a:solidFill>
                            <a:srgbClr val="202020"/>
                          </a:solidFill>
                          <a:latin typeface="Calibri"/>
                        </a:rPr>
                        <a:t>The filter-first design and the fail-closed scale guard (Sections 6–7)</a:t>
                      </a:r>
                    </a:p>
                  </a:txBody>
                  <a:tcPr marT="12700" marB="12700">
                    <a:solidFill>
                      <a:srgbClr val="FFFFFF"/>
                    </a:solidFill>
                  </a:tcPr>
                </a:tc>
              </a:tr>
              <a:tr h="384048">
                <a:tc>
                  <a:txBody>
                    <a:bodyPr wrap="square"/>
                    <a:lstStyle/>
                    <a:p>
                      <a:r>
                        <a:rPr sz="950" b="0" i="0">
                          <a:solidFill>
                            <a:srgbClr val="202020"/>
                          </a:solidFill>
                          <a:latin typeface="Calibri"/>
                        </a:rPr>
                        <a:t>The shared glossary of Microsoft 365 / connector terms (Common Guide §13)</a:t>
                      </a:r>
                    </a:p>
                  </a:txBody>
                  <a:tcPr marT="12700" marB="12700">
                    <a:solidFill>
                      <a:srgbClr val="F7F9FC"/>
                    </a:solidFill>
                  </a:tcPr>
                </a:tc>
                <a:tc>
                  <a:txBody>
                    <a:bodyPr wrap="square"/>
                    <a:lstStyle/>
                    <a:p>
                      <a:r>
                        <a:rPr sz="950" b="0" i="0">
                          <a:solidFill>
                            <a:srgbClr val="202020"/>
                          </a:solidFill>
                          <a:latin typeface="Calibri"/>
                        </a:rPr>
                        <a:t>The BDH- and Hadoop-specific glossary (Section 15)</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692</a:t>
            </a:r>
          </a:p>
        </p:txBody>
      </p:sp>
    </p:spTree>
  </p:cSld>
  <p:clrMapOvr>
    <a:masterClrMapping/>
  </p:clrMapOvr>
</p:sld>
</file>

<file path=ppt/slides/slide6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 How to read the callouts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Coloured boxes flag things that matter:</a:t>
            </a:r>
          </a:p>
          <a:p>
            <a:pPr>
              <a:spcBef>
                <a:spcPts val="100"/>
              </a:spcBef>
              <a:spcAft>
                <a:spcPts val="200"/>
              </a:spcAft>
            </a:pPr>
            <a:r>
              <a:rPr sz="1250" b="1" i="0">
                <a:solidFill>
                  <a:srgbClr val="2E5496"/>
                </a:solidFill>
                <a:latin typeface="Calibri"/>
              </a:rPr>
              <a:t>•  </a:t>
            </a:r>
            <a:r>
              <a:rPr sz="1250" b="1" i="0">
                <a:solidFill>
                  <a:srgbClr val="202020"/>
                </a:solidFill>
                <a:latin typeface="Calibri"/>
              </a:rPr>
              <a:t>Important</a:t>
            </a:r>
            <a:r>
              <a:rPr sz="1250" b="0" i="0">
                <a:solidFill>
                  <a:srgbClr val="202020"/>
                </a:solidFill>
                <a:latin typeface="Calibri"/>
              </a:rPr>
              <a:t> boxes are warnings — steps that can cause an outage, data loss, or a data-exposure mistake if you get them wrong.</a:t>
            </a:r>
          </a:p>
          <a:p>
            <a:pPr>
              <a:spcBef>
                <a:spcPts val="100"/>
              </a:spcBef>
              <a:spcAft>
                <a:spcPts val="200"/>
              </a:spcAft>
            </a:pPr>
            <a:r>
              <a:rPr sz="1250" b="1" i="0">
                <a:solidFill>
                  <a:srgbClr val="2E5496"/>
                </a:solidFill>
                <a:latin typeface="Calibri"/>
              </a:rPr>
              <a:t>•  </a:t>
            </a:r>
            <a:r>
              <a:rPr sz="1250" b="1" i="0">
                <a:solidFill>
                  <a:srgbClr val="202020"/>
                </a:solidFill>
                <a:latin typeface="Calibri"/>
              </a:rPr>
              <a:t>Tip</a:t>
            </a:r>
            <a:r>
              <a:rPr sz="1250" b="0" i="0">
                <a:solidFill>
                  <a:srgbClr val="202020"/>
                </a:solidFill>
                <a:latin typeface="Calibri"/>
              </a:rPr>
              <a:t> boxes are good-practice shortcuts.</a:t>
            </a:r>
          </a:p>
          <a:p>
            <a:pPr>
              <a:spcBef>
                <a:spcPts val="100"/>
              </a:spcBef>
              <a:spcAft>
                <a:spcPts val="200"/>
              </a:spcAft>
            </a:pPr>
            <a:r>
              <a:rPr sz="1250" b="1" i="0">
                <a:solidFill>
                  <a:srgbClr val="2E5496"/>
                </a:solidFill>
                <a:latin typeface="Calibri"/>
              </a:rPr>
              <a:t>•  </a:t>
            </a:r>
            <a:r>
              <a:rPr sz="1250" b="1" i="0">
                <a:solidFill>
                  <a:srgbClr val="202020"/>
                </a:solidFill>
                <a:latin typeface="Calibri"/>
              </a:rPr>
              <a:t>Information to request</a:t>
            </a:r>
            <a:r>
              <a:rPr sz="1250" b="0" i="0">
                <a:solidFill>
                  <a:srgbClr val="202020"/>
                </a:solidFill>
                <a:latin typeface="Calibri"/>
              </a:rPr>
              <a:t> boxes list a value you must get from another team before you can proceed. Each one names the value and who owns it (for example the </a:t>
            </a:r>
            <a:r>
              <a:rPr sz="1250" b="1" i="0">
                <a:solidFill>
                  <a:srgbClr val="202020"/>
                </a:solidFill>
                <a:latin typeface="Calibri"/>
              </a:rPr>
              <a:t>Hadoop/BDH platform team</a:t>
            </a:r>
            <a:r>
              <a:rPr sz="1250" b="0" i="0">
                <a:solidFill>
                  <a:srgbClr val="202020"/>
                </a:solidFill>
                <a:latin typeface="Calibri"/>
              </a:rPr>
              <a:t>, the </a:t>
            </a:r>
            <a:r>
              <a:rPr sz="1250" b="1" i="0">
                <a:solidFill>
                  <a:srgbClr val="202020"/>
                </a:solidFill>
                <a:latin typeface="Calibri"/>
              </a:rPr>
              <a:t>Entra tenant admin</a:t>
            </a:r>
            <a:r>
              <a:rPr sz="1250" b="0" i="0">
                <a:solidFill>
                  <a:srgbClr val="202020"/>
                </a:solidFill>
                <a:latin typeface="Calibri"/>
              </a:rPr>
              <a:t>, or your </a:t>
            </a:r>
            <a:r>
              <a:rPr sz="1250" b="1" i="0">
                <a:solidFill>
                  <a:srgbClr val="202020"/>
                </a:solidFill>
                <a:latin typeface="Calibri"/>
              </a:rPr>
              <a:t>network/firewall</a:t>
            </a:r>
            <a:r>
              <a:rPr sz="1250" b="0" i="0">
                <a:solidFill>
                  <a:srgbClr val="202020"/>
                </a:solidFill>
                <a:latin typeface="Calibri"/>
              </a:rPr>
              <a:t> team).</a:t>
            </a:r>
          </a:p>
          <a:p>
            <a:pPr>
              <a:spcBef>
                <a:spcPts val="100"/>
              </a:spcBef>
              <a:spcAft>
                <a:spcPts val="400"/>
              </a:spcAft>
            </a:pPr>
            <a:r>
              <a:rPr sz="1250" b="0" i="0">
                <a:solidFill>
                  <a:srgbClr val="202020"/>
                </a:solidFill>
                <a:latin typeface="Calibri"/>
              </a:rPr>
              <a:t>Text in </a:t>
            </a:r>
            <a:r>
              <a:rPr sz="1200" b="0" i="0">
                <a:solidFill>
                  <a:srgbClr val="202020"/>
                </a:solidFill>
                <a:latin typeface="Consolas"/>
              </a:rPr>
              <a:t>this monospaced font</a:t>
            </a:r>
            <a:r>
              <a:rPr sz="1250" b="0" i="0">
                <a:solidFill>
                  <a:srgbClr val="202020"/>
                </a:solidFill>
                <a:latin typeface="Calibri"/>
              </a:rPr>
              <a:t> is something you type or a name from a config file or environment variable. Windows paths appear as, for example, </a:t>
            </a:r>
            <a:r>
              <a:rPr sz="1200" b="0" i="0">
                <a:solidFill>
                  <a:srgbClr val="202020"/>
                </a:solidFill>
                <a:latin typeface="Consolas"/>
              </a:rPr>
              <a:t>C:\HadoopConnector</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693</a:t>
            </a:r>
          </a:p>
        </p:txBody>
      </p:sp>
    </p:spTree>
  </p:cSld>
  <p:clrMapOvr>
    <a:masterClrMapping/>
  </p:clrMapOvr>
</p:sld>
</file>

<file path=ppt/slides/slide6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1.3 What changed in this release — safe defaults</a:t>
            </a:r>
          </a:p>
        </p:txBody>
      </p:sp>
      <p:sp>
        <p:nvSpPr>
          <p:cNvPr id="5" name="Rectangle 4"/>
          <p:cNvSpPr/>
          <p:nvPr/>
        </p:nvSpPr>
        <p:spPr>
          <a:xfrm>
            <a:off x="502920" y="1463040"/>
            <a:ext cx="11185855" cy="329184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5496"/>
                </a:solidFill>
                <a:latin typeface="Calibri"/>
              </a:rPr>
              <a:t>Note:  </a:t>
            </a:r>
            <a:r>
              <a:rPr sz="1400" b="1" i="0">
                <a:solidFill>
                  <a:srgbClr val="202020"/>
                </a:solidFill>
                <a:latin typeface="Calibri"/>
              </a:rPr>
              <a:t>Note: </a:t>
            </a:r>
            <a:r>
              <a:rPr sz="1400" b="0" i="0">
                <a:solidFill>
                  <a:srgbClr val="202020"/>
                </a:solidFill>
                <a:latin typeface="Calibri"/>
              </a:rPr>
              <a:t>This is the </a:t>
            </a:r>
            <a:r>
              <a:rPr sz="1400" b="1" i="0">
                <a:solidFill>
                  <a:srgbClr val="202020"/>
                </a:solidFill>
                <a:latin typeface="Calibri"/>
              </a:rPr>
              <a:t>version 1.1 bank-grade hardening release</a:t>
            </a:r>
            <a:r>
              <a:rPr sz="1400" b="0" i="0">
                <a:solidFill>
                  <a:srgbClr val="202020"/>
                </a:solidFill>
                <a:latin typeface="Calibri"/>
              </a:rPr>
              <a:t>. Most of the changes below are safer DEFAULTS that take effect automatically when you upgrade — no action needed — plus a few opt-in governance controls. The connector's signature behaviour is unchanged: filter-first crawling, the fail-closed scale guard, and the dt-watermark overlap all work exactly as before.</a:t>
            </a:r>
          </a:p>
        </p:txBody>
      </p:sp>
      <p:sp>
        <p:nvSpPr>
          <p:cNvPr id="6" name="Rectangle 5"/>
          <p:cNvSpPr/>
          <p:nvPr/>
        </p:nvSpPr>
        <p:spPr>
          <a:xfrm>
            <a:off x="502920" y="1463040"/>
            <a:ext cx="128016" cy="329184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694</a:t>
            </a:r>
          </a:p>
        </p:txBody>
      </p:sp>
    </p:spTree>
  </p:cSld>
  <p:clrMapOvr>
    <a:masterClrMapping/>
  </p:clrMapOvr>
</p:sld>
</file>

<file path=ppt/slides/slide6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1.3 What changed in this release — safe defaults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behaviour-changing default flips for this connector:</a:t>
            </a:r>
          </a:p>
          <a:p>
            <a:pPr>
              <a:spcBef>
                <a:spcPts val="100"/>
              </a:spcBef>
              <a:spcAft>
                <a:spcPts val="200"/>
              </a:spcAft>
            </a:pPr>
            <a:r>
              <a:rPr sz="1250" b="1" i="0">
                <a:solidFill>
                  <a:srgbClr val="2E5496"/>
                </a:solidFill>
                <a:latin typeface="Calibri"/>
              </a:rPr>
              <a:t>•  </a:t>
            </a:r>
            <a:r>
              <a:rPr sz="1250" b="1" i="0">
                <a:solidFill>
                  <a:srgbClr val="202020"/>
                </a:solidFill>
                <a:latin typeface="Calibri"/>
              </a:rPr>
              <a:t>Dead-letter payloads are now redacted by default.</a:t>
            </a:r>
            <a:r>
              <a:rPr sz="1250" b="0" i="0">
                <a:solidFill>
                  <a:srgbClr val="202020"/>
                </a:solidFill>
                <a:latin typeface="Calibri"/>
              </a:rPr>
              <a:t> </a:t>
            </a:r>
            <a:r>
              <a:rPr sz="1200" b="0" i="0">
                <a:solidFill>
                  <a:srgbClr val="202020"/>
                </a:solidFill>
                <a:latin typeface="Consolas"/>
              </a:rPr>
              <a:t>DEADLETTER_PAYLOAD_MODE</a:t>
            </a:r>
            <a:r>
              <a:rPr sz="1250" b="0" i="0">
                <a:solidFill>
                  <a:srgbClr val="202020"/>
                </a:solidFill>
                <a:latin typeface="Calibri"/>
              </a:rPr>
              <a:t> defaults to </a:t>
            </a:r>
            <a:r>
              <a:rPr sz="1200" b="0" i="0">
                <a:solidFill>
                  <a:srgbClr val="202020"/>
                </a:solidFill>
                <a:latin typeface="Consolas"/>
              </a:rPr>
              <a:t>redacted</a:t>
            </a:r>
            <a:r>
              <a:rPr sz="1250" b="0" i="0">
                <a:solidFill>
                  <a:srgbClr val="202020"/>
                </a:solidFill>
                <a:latin typeface="Calibri"/>
              </a:rPr>
              <a:t> (was </a:t>
            </a:r>
            <a:r>
              <a:rPr sz="1200" b="0" i="0">
                <a:solidFill>
                  <a:srgbClr val="202020"/>
                </a:solidFill>
                <a:latin typeface="Consolas"/>
              </a:rPr>
              <a:t>full</a:t>
            </a:r>
            <a:r>
              <a:rPr sz="1250" b="0" i="0">
                <a:solidFill>
                  <a:srgbClr val="202020"/>
                </a:solidFill>
                <a:latin typeface="Calibri"/>
              </a:rPr>
              <a:t>): raw record values and PII no longer land in the dead-letter queue unless you explicitly set </a:t>
            </a:r>
            <a:r>
              <a:rPr sz="1200" b="0" i="0">
                <a:solidFill>
                  <a:srgbClr val="202020"/>
                </a:solidFill>
                <a:latin typeface="Consolas"/>
              </a:rPr>
              <a:t>full</a:t>
            </a:r>
            <a:r>
              <a:rPr sz="1250" b="0" i="0">
                <a:solidFill>
                  <a:srgbClr val="202020"/>
                </a:solidFill>
                <a:latin typeface="Calibri"/>
              </a:rPr>
              <a:t>. A typo in this setting now </a:t>
            </a:r>
            <a:r>
              <a:rPr sz="1250" b="1" i="0">
                <a:solidFill>
                  <a:srgbClr val="202020"/>
                </a:solidFill>
                <a:latin typeface="Calibri"/>
              </a:rPr>
              <a:t>fails fast at config load</a:t>
            </a:r>
            <a:r>
              <a:rPr sz="1250" b="0" i="0">
                <a:solidFill>
                  <a:srgbClr val="202020"/>
                </a:solidFill>
                <a:latin typeface="Calibri"/>
              </a:rPr>
              <a:t> instead of silently falling back to redacting (</a:t>
            </a:r>
            <a:r>
              <a:rPr sz="1250" b="1" i="0">
                <a:solidFill>
                  <a:srgbClr val="202020"/>
                </a:solidFill>
                <a:latin typeface="Calibri"/>
              </a:rPr>
              <a:t>Section 14.9</a:t>
            </a:r>
            <a:r>
              <a:rPr sz="1250" b="0" i="0">
                <a:solidFill>
                  <a:srgbClr val="202020"/>
                </a:solidFill>
                <a:latin typeface="Calibri"/>
              </a:rPr>
              <a:t>).</a:t>
            </a:r>
          </a:p>
          <a:p>
            <a:pPr>
              <a:spcBef>
                <a:spcPts val="100"/>
              </a:spcBef>
              <a:spcAft>
                <a:spcPts val="200"/>
              </a:spcAft>
            </a:pPr>
            <a:r>
              <a:rPr sz="1250" b="1" i="0">
                <a:solidFill>
                  <a:srgbClr val="2E5496"/>
                </a:solidFill>
                <a:latin typeface="Calibri"/>
              </a:rPr>
              <a:t>•  </a:t>
            </a:r>
            <a:r>
              <a:rPr sz="1250" b="1" i="0">
                <a:solidFill>
                  <a:srgbClr val="202020"/>
                </a:solidFill>
                <a:latin typeface="Calibri"/>
              </a:rPr>
              <a:t>Identity sync now runs on incremental crawls too.</a:t>
            </a:r>
            <a:r>
              <a:rPr sz="1250" b="0" i="0">
                <a:solidFill>
                  <a:srgbClr val="202020"/>
                </a:solidFill>
                <a:latin typeface="Calibri"/>
              </a:rPr>
              <a:t> </a:t>
            </a:r>
            <a:r>
              <a:rPr sz="1200" b="0" i="0">
                <a:solidFill>
                  <a:srgbClr val="202020"/>
                </a:solidFill>
                <a:latin typeface="Consolas"/>
              </a:rPr>
              <a:t>IDENTITY_SYNC_ON_INCREMENTAL</a:t>
            </a:r>
            <a:r>
              <a:rPr sz="1250" b="0" i="0">
                <a:solidFill>
                  <a:srgbClr val="202020"/>
                </a:solidFill>
                <a:latin typeface="Calibri"/>
              </a:rPr>
              <a:t> defaults to </a:t>
            </a:r>
            <a:r>
              <a:rPr sz="1200" b="0" i="0">
                <a:solidFill>
                  <a:srgbClr val="202020"/>
                </a:solidFill>
                <a:latin typeface="Consolas"/>
              </a:rPr>
              <a:t>true</a:t>
            </a:r>
            <a:r>
              <a:rPr sz="1250" b="0" i="0">
                <a:solidFill>
                  <a:srgbClr val="202020"/>
                </a:solidFill>
                <a:latin typeface="Calibri"/>
              </a:rPr>
              <a:t> (was </a:t>
            </a:r>
            <a:r>
              <a:rPr sz="1200" b="0" i="0">
                <a:solidFill>
                  <a:srgbClr val="202020"/>
                </a:solidFill>
                <a:latin typeface="Consolas"/>
              </a:rPr>
              <a:t>false</a:t>
            </a:r>
            <a:r>
              <a:rPr sz="1250" b="0" i="0">
                <a:solidFill>
                  <a:srgbClr val="202020"/>
                </a:solidFill>
                <a:latin typeface="Calibri"/>
              </a:rPr>
              <a:t>): entitlements re-sync every incremental crawl, so ACL staleness tracks the incremental cadence rather than waiting for the next full crawl (</a:t>
            </a:r>
            <a:r>
              <a:rPr sz="1250" b="1" i="0">
                <a:solidFill>
                  <a:srgbClr val="202020"/>
                </a:solidFill>
                <a:latin typeface="Calibri"/>
              </a:rPr>
              <a:t>Section 8.5</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695</a:t>
            </a:r>
          </a:p>
        </p:txBody>
      </p:sp>
    </p:spTree>
  </p:cSld>
  <p:clrMapOvr>
    <a:masterClrMapping/>
  </p:clrMapOvr>
</p:sld>
</file>

<file path=ppt/slides/slide6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1.3 What changed in this release — safe defaults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State directories are created owner-only at startup.</a:t>
            </a:r>
            <a:r>
              <a:rPr sz="1250" b="0" i="0">
                <a:solidFill>
                  <a:srgbClr val="202020"/>
                </a:solidFill>
                <a:latin typeface="Calibri"/>
              </a:rPr>
              <a:t> </a:t>
            </a:r>
            <a:r>
              <a:rPr sz="1200" b="0" i="0">
                <a:solidFill>
                  <a:srgbClr val="202020"/>
                </a:solidFill>
                <a:latin typeface="Consolas"/>
              </a:rPr>
              <a:t>logs/</a:t>
            </a:r>
            <a:r>
              <a:rPr sz="1250" b="0" i="0">
                <a:solidFill>
                  <a:srgbClr val="202020"/>
                </a:solidFill>
                <a:latin typeface="Calibri"/>
              </a:rPr>
              <a:t>, </a:t>
            </a:r>
            <a:r>
              <a:rPr sz="1200" b="0" i="0">
                <a:solidFill>
                  <a:srgbClr val="202020"/>
                </a:solidFill>
                <a:latin typeface="Consolas"/>
              </a:rPr>
              <a:t>data/</a:t>
            </a:r>
            <a:r>
              <a:rPr sz="1250" b="0" i="0">
                <a:solidFill>
                  <a:srgbClr val="202020"/>
                </a:solidFill>
                <a:latin typeface="Calibri"/>
              </a:rPr>
              <a:t> and the dead-letter directory are locked down (POSIX </a:t>
            </a:r>
            <a:r>
              <a:rPr sz="1200" b="0" i="0">
                <a:solidFill>
                  <a:srgbClr val="202020"/>
                </a:solidFill>
                <a:latin typeface="Consolas"/>
              </a:rPr>
              <a:t>0700</a:t>
            </a:r>
            <a:r>
              <a:rPr sz="1250" b="0" i="0">
                <a:solidFill>
                  <a:srgbClr val="202020"/>
                </a:solidFill>
                <a:latin typeface="Calibri"/>
              </a:rPr>
              <a:t>; on Windows, best-effort owner + Administrators) so other local accounts cannot read the state, identity store or dead-letter queue (</a:t>
            </a:r>
            <a:r>
              <a:rPr sz="1250" b="1" i="0">
                <a:solidFill>
                  <a:srgbClr val="202020"/>
                </a:solidFill>
                <a:latin typeface="Calibri"/>
              </a:rPr>
              <a:t>Section 10</a:t>
            </a:r>
            <a:r>
              <a:rPr sz="1250" b="0" i="0">
                <a:solidFill>
                  <a:srgbClr val="202020"/>
                </a:solidFill>
                <a:latin typeface="Calibri"/>
              </a:rPr>
              <a:t>).</a:t>
            </a:r>
          </a:p>
          <a:p>
            <a:pPr>
              <a:spcBef>
                <a:spcPts val="100"/>
              </a:spcBef>
              <a:spcAft>
                <a:spcPts val="400"/>
              </a:spcAft>
            </a:pPr>
            <a:r>
              <a:rPr sz="1250" b="0" i="0">
                <a:solidFill>
                  <a:srgbClr val="202020"/>
                </a:solidFill>
                <a:latin typeface="Calibri"/>
              </a:rPr>
              <a:t>New opt-in governance and compliance controls (all off/unset unless noted):</a:t>
            </a:r>
          </a:p>
          <a:p>
            <a:pPr>
              <a:spcBef>
                <a:spcPts val="100"/>
              </a:spcBef>
              <a:spcAft>
                <a:spcPts val="200"/>
              </a:spcAft>
            </a:pPr>
            <a:r>
              <a:rPr sz="1250" b="1" i="0">
                <a:solidFill>
                  <a:srgbClr val="2E5496"/>
                </a:solidFill>
                <a:latin typeface="Calibri"/>
              </a:rPr>
              <a:t>•  </a:t>
            </a:r>
            <a:r>
              <a:rPr sz="1250" b="1" i="0">
                <a:solidFill>
                  <a:srgbClr val="202020"/>
                </a:solidFill>
                <a:latin typeface="Calibri"/>
              </a:rPr>
              <a:t>Classification ACL enforcement</a:t>
            </a:r>
            <a:r>
              <a:rPr sz="1250" b="0" i="0">
                <a:solidFill>
                  <a:srgbClr val="202020"/>
                </a:solidFill>
                <a:latin typeface="Calibri"/>
              </a:rPr>
              <a:t> — </a:t>
            </a:r>
            <a:r>
              <a:rPr sz="1200" b="0" i="0">
                <a:solidFill>
                  <a:srgbClr val="202020"/>
                </a:solidFill>
                <a:latin typeface="Consolas"/>
              </a:rPr>
              <a:t>CLASSIFICATION_ENFORCE_ACL</a:t>
            </a:r>
            <a:r>
              <a:rPr sz="1250" b="0" i="0">
                <a:solidFill>
                  <a:srgbClr val="202020"/>
                </a:solidFill>
                <a:latin typeface="Calibri"/>
              </a:rPr>
              <a:t> (with </a:t>
            </a:r>
            <a:r>
              <a:rPr sz="1200" b="0" i="0">
                <a:solidFill>
                  <a:srgbClr val="202020"/>
                </a:solidFill>
                <a:latin typeface="Consolas"/>
              </a:rPr>
              <a:t>CLASSIFICATION_RESTRICTED_GROUP_ID</a:t>
            </a:r>
            <a:r>
              <a:rPr sz="1250" b="0" i="0">
                <a:solidFill>
                  <a:srgbClr val="202020"/>
                </a:solidFill>
                <a:latin typeface="Calibri"/>
              </a:rPr>
              <a:t>) turns the advisory sensitivity tag into a real access boundary for </a:t>
            </a:r>
            <a:r>
              <a:rPr sz="1200" b="0" i="0">
                <a:solidFill>
                  <a:srgbClr val="202020"/>
                </a:solidFill>
                <a:latin typeface="Consolas"/>
              </a:rPr>
              <a:t>Restricted</a:t>
            </a:r>
            <a:r>
              <a:rPr sz="1250" b="0" i="0">
                <a:solidFill>
                  <a:srgbClr val="202020"/>
                </a:solidFill>
                <a:latin typeface="Calibri"/>
              </a:rPr>
              <a:t> items (</a:t>
            </a:r>
            <a:r>
              <a:rPr sz="1250" b="1" i="0">
                <a:solidFill>
                  <a:srgbClr val="202020"/>
                </a:solidFill>
                <a:latin typeface="Calibri"/>
              </a:rPr>
              <a:t>Section 14.9</a:t>
            </a:r>
            <a:r>
              <a:rPr sz="1250" b="0" i="0">
                <a:solidFill>
                  <a:srgbClr val="202020"/>
                </a:solidFill>
                <a:latin typeface="Calibri"/>
              </a:rPr>
              <a:t>).</a:t>
            </a:r>
          </a:p>
          <a:p>
            <a:pPr>
              <a:spcBef>
                <a:spcPts val="100"/>
              </a:spcBef>
              <a:spcAft>
                <a:spcPts val="200"/>
              </a:spcAft>
            </a:pPr>
            <a:r>
              <a:rPr sz="1250" b="1" i="0">
                <a:solidFill>
                  <a:srgbClr val="2E5496"/>
                </a:solidFill>
                <a:latin typeface="Calibri"/>
              </a:rPr>
              <a:t>•  </a:t>
            </a:r>
            <a:r>
              <a:rPr sz="1250" b="1" i="0">
                <a:solidFill>
                  <a:srgbClr val="202020"/>
                </a:solidFill>
                <a:latin typeface="Calibri"/>
              </a:rPr>
              <a:t>Stale-index item TTL</a:t>
            </a:r>
            <a:r>
              <a:rPr sz="1250" b="0" i="0">
                <a:solidFill>
                  <a:srgbClr val="202020"/>
                </a:solidFill>
                <a:latin typeface="Calibri"/>
              </a:rPr>
              <a:t> — </a:t>
            </a:r>
            <a:r>
              <a:rPr sz="1200" b="0" i="0">
                <a:solidFill>
                  <a:srgbClr val="202020"/>
                </a:solidFill>
                <a:latin typeface="Consolas"/>
              </a:rPr>
              <a:t>GRAPH_ITEM_TTL_DAYS</a:t>
            </a:r>
            <a:r>
              <a:rPr sz="1250" b="0" i="0">
                <a:solidFill>
                  <a:srgbClr val="202020"/>
                </a:solidFill>
                <a:latin typeface="Calibri"/>
              </a:rPr>
              <a:t> stamps every item with an </a:t>
            </a:r>
            <a:r>
              <a:rPr sz="1200" b="0" i="0">
                <a:solidFill>
                  <a:srgbClr val="202020"/>
                </a:solidFill>
                <a:latin typeface="Consolas"/>
              </a:rPr>
              <a:t>expirationDateTime</a:t>
            </a:r>
            <a:r>
              <a:rPr sz="1250" b="0" i="0">
                <a:solidFill>
                  <a:srgbClr val="202020"/>
                </a:solidFill>
                <a:latin typeface="Calibri"/>
              </a:rPr>
              <a:t> so the index self-expires if crawling stops after an outage (</a:t>
            </a:r>
            <a:r>
              <a:rPr sz="1250" b="1" i="0">
                <a:solidFill>
                  <a:srgbClr val="202020"/>
                </a:solidFill>
                <a:latin typeface="Calibri"/>
              </a:rPr>
              <a:t>Section 14.9</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696</a:t>
            </a:r>
          </a:p>
        </p:txBody>
      </p:sp>
    </p:spTree>
  </p:cSld>
  <p:clrMapOvr>
    <a:masterClrMapping/>
  </p:clrMapOvr>
</p:sld>
</file>

<file path=ppt/slides/slide6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1.3 What changed in this release — safe defaults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Tamper-evident decision ledger</a:t>
            </a:r>
            <a:r>
              <a:rPr sz="1250" b="0" i="0">
                <a:solidFill>
                  <a:srgbClr val="202020"/>
                </a:solidFill>
                <a:latin typeface="Calibri"/>
              </a:rPr>
              <a:t> — </a:t>
            </a:r>
            <a:r>
              <a:rPr sz="1200" b="0" i="0">
                <a:solidFill>
                  <a:srgbClr val="202020"/>
                </a:solidFill>
                <a:latin typeface="Consolas"/>
              </a:rPr>
              <a:t>DECISION_LEDGER</a:t>
            </a:r>
            <a:r>
              <a:rPr sz="1250" b="0" i="0">
                <a:solidFill>
                  <a:srgbClr val="202020"/>
                </a:solidFill>
                <a:latin typeface="Calibri"/>
              </a:rPr>
              <a:t> (</a:t>
            </a:r>
            <a:r>
              <a:rPr sz="1250" b="1" i="0">
                <a:solidFill>
                  <a:srgbClr val="202020"/>
                </a:solidFill>
                <a:latin typeface="Calibri"/>
              </a:rPr>
              <a:t>ON by default</a:t>
            </a:r>
            <a:r>
              <a:rPr sz="1250" b="0" i="0">
                <a:solidFill>
                  <a:srgbClr val="202020"/>
                </a:solidFill>
                <a:latin typeface="Calibri"/>
              </a:rPr>
              <a:t> for this connector) hash-chains every exclusion and ACL-restriction decision so they cannot be altered undetectably (</a:t>
            </a:r>
            <a:r>
              <a:rPr sz="1250" b="1" i="0">
                <a:solidFill>
                  <a:srgbClr val="202020"/>
                </a:solidFill>
                <a:latin typeface="Calibri"/>
              </a:rPr>
              <a:t>Section 14.9</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697</a:t>
            </a:r>
          </a:p>
        </p:txBody>
      </p:sp>
    </p:spTree>
  </p:cSld>
  <p:clrMapOvr>
    <a:masterClrMapping/>
  </p:clrMapOvr>
</p:sld>
</file>

<file path=ppt/slides/slide6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1.3 What changed in this release — safe defaults</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350" b="0" i="0">
                <a:solidFill>
                  <a:srgbClr val="202020"/>
                </a:solidFill>
                <a:latin typeface="Consolas"/>
              </a:rPr>
              <a:t>SensitivityLabel</a:t>
            </a:r>
            <a:r>
              <a:rPr sz="1400" b="0" i="0">
                <a:solidFill>
                  <a:srgbClr val="202020"/>
                </a:solidFill>
                <a:latin typeface="Calibri"/>
              </a:rPr>
              <a:t> remains an </a:t>
            </a:r>
            <a:r>
              <a:rPr sz="1400" b="1" i="0">
                <a:solidFill>
                  <a:srgbClr val="202020"/>
                </a:solidFill>
                <a:latin typeface="Calibri"/>
              </a:rPr>
              <a:t>advisory, connector-applied classification tag</a:t>
            </a:r>
            <a:r>
              <a:rPr sz="1400" b="0" i="0">
                <a:solidFill>
                  <a:srgbClr val="202020"/>
                </a:solidFill>
                <a:latin typeface="Calibri"/>
              </a:rPr>
              <a:t> — Purview-aligned in naming only, NOT a Microsoft Purview-enforced label. On its own it does not encrypt content or gate access; it only restricts access when you turn on </a:t>
            </a:r>
            <a:r>
              <a:rPr sz="1350" b="0" i="0">
                <a:solidFill>
                  <a:srgbClr val="202020"/>
                </a:solidFill>
                <a:latin typeface="Consolas"/>
              </a:rPr>
              <a:t>CLASSIFICATION_ENFORCE_ACL</a:t>
            </a:r>
            <a:r>
              <a:rPr sz="1400" b="0" i="0">
                <a:solidFill>
                  <a:srgbClr val="202020"/>
                </a:solidFill>
                <a:latin typeface="Calibri"/>
              </a:rPr>
              <a:t> (</a:t>
            </a:r>
            <a:r>
              <a:rPr sz="1400" b="1" i="0">
                <a:solidFill>
                  <a:srgbClr val="202020"/>
                </a:solidFill>
                <a:latin typeface="Calibri"/>
              </a:rPr>
              <a:t>Section 14.9</a:t>
            </a:r>
            <a:r>
              <a:rPr sz="1400" b="0" i="0">
                <a:solidFill>
                  <a:srgbClr val="202020"/>
                </a:solidFill>
                <a:latin typeface="Calibri"/>
              </a:rPr>
              <a:t>).</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698</a:t>
            </a:r>
          </a:p>
        </p:txBody>
      </p:sp>
    </p:spTree>
  </p:cSld>
  <p:clrMapOvr>
    <a:masterClrMapping/>
  </p:clrMapOvr>
</p:sld>
</file>

<file path=ppt/slides/slide7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Hadoop BDH Connector</a:t>
            </a:r>
          </a:p>
          <a:p>
            <a:r>
              <a:rPr sz="3000" b="1" i="0">
                <a:solidFill>
                  <a:srgbClr val="1F3864"/>
                </a:solidFill>
                <a:latin typeface="Calibri"/>
              </a:rPr>
              <a:t>2. What is the BDH Hadoop data mart, and why connect to it instead of Salesforce?</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699</a:t>
            </a:r>
          </a:p>
        </p:txBody>
      </p:sp>
    </p:spTree>
  </p:cSld>
  <p:clrMapOvr>
    <a:masterClrMapping/>
  </p:clrMapOvr>
</p:sld>
</file>

<file path=ppt/slides/slide7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2. What is the BDH Hadoop data mart, and why connect to it instead of Salesforce?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short version: BDH is a nightly copy of Salesforce kept in the bank's big-data platform. Reading that copy is effectively free; reading Salesforce directly is metered and costs money. This connector indexes the free copy, accepting that the data is up to a day old and that its permissions are coarser.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700</a:t>
            </a:r>
          </a:p>
        </p:txBody>
      </p:sp>
    </p:spTree>
  </p:cSld>
  <p:clrMapOvr>
    <a:masterClrMapping/>
  </p:clrMapOvr>
</p:sld>
</file>

<file path=ppt/slides/slide7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2.1 The words, in plain language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1" i="0">
                <a:solidFill>
                  <a:srgbClr val="202020"/>
                </a:solidFill>
                <a:latin typeface="Calibri"/>
              </a:rPr>
              <a:t>Hadoop</a:t>
            </a:r>
          </a:p>
          <a:p>
            <a:pPr>
              <a:spcBef>
                <a:spcPts val="100"/>
              </a:spcBef>
              <a:spcAft>
                <a:spcPts val="400"/>
              </a:spcAft>
            </a:pPr>
            <a:r>
              <a:rPr sz="1250" b="1" i="0">
                <a:solidFill>
                  <a:srgbClr val="202020"/>
                </a:solidFill>
                <a:latin typeface="Calibri"/>
              </a:rPr>
              <a:t>What it is  </a:t>
            </a:r>
            <a:r>
              <a:rPr sz="1250" b="0" i="0">
                <a:solidFill>
                  <a:srgbClr val="202020"/>
                </a:solidFill>
                <a:latin typeface="Calibri"/>
              </a:rPr>
              <a:t>A platform for storing and processing very large amounts of data across many machines at once.</a:t>
            </a:r>
          </a:p>
          <a:p>
            <a:pPr>
              <a:spcBef>
                <a:spcPts val="100"/>
              </a:spcBef>
              <a:spcAft>
                <a:spcPts val="400"/>
              </a:spcAft>
            </a:pPr>
            <a:r>
              <a:rPr sz="1250" b="1" i="0">
                <a:solidFill>
                  <a:srgbClr val="202020"/>
                </a:solidFill>
                <a:latin typeface="Calibri"/>
              </a:rPr>
              <a:t>Why it matters  </a:t>
            </a:r>
            <a:r>
              <a:rPr sz="1250" b="0" i="0">
                <a:solidFill>
                  <a:srgbClr val="202020"/>
                </a:solidFill>
                <a:latin typeface="Calibri"/>
              </a:rPr>
              <a:t>BDH is built on Hadoop, so the connector has to read data the Hadoop way (files in directories) rather than by calling an application's API.</a:t>
            </a:r>
          </a:p>
          <a:p>
            <a:pPr>
              <a:spcBef>
                <a:spcPts val="100"/>
              </a:spcBef>
              <a:spcAft>
                <a:spcPts val="400"/>
              </a:spcAft>
            </a:pPr>
            <a:r>
              <a:rPr sz="1250" b="1" i="0">
                <a:solidFill>
                  <a:srgbClr val="202020"/>
                </a:solidFill>
                <a:latin typeface="Calibri"/>
              </a:rPr>
              <a:t>Data lake vs data mart</a:t>
            </a:r>
          </a:p>
          <a:p>
            <a:pPr>
              <a:spcBef>
                <a:spcPts val="100"/>
              </a:spcBef>
              <a:spcAft>
                <a:spcPts val="400"/>
              </a:spcAft>
            </a:pPr>
            <a:r>
              <a:rPr sz="1250" b="1" i="0">
                <a:solidFill>
                  <a:srgbClr val="202020"/>
                </a:solidFill>
                <a:latin typeface="Calibri"/>
              </a:rPr>
              <a:t>What it is  </a:t>
            </a:r>
            <a:r>
              <a:rPr sz="1250" b="0" i="0">
                <a:solidFill>
                  <a:srgbClr val="202020"/>
                </a:solidFill>
                <a:latin typeface="Calibri"/>
              </a:rPr>
              <a:t>A data lake is a huge central store of raw data from across a company. A data mart is a smaller, focused slice of it built for one purpose.</a:t>
            </a:r>
          </a:p>
          <a:p>
            <a:pPr>
              <a:spcBef>
                <a:spcPts val="100"/>
              </a:spcBef>
              <a:spcAft>
                <a:spcPts val="400"/>
              </a:spcAft>
            </a:pPr>
            <a:r>
              <a:rPr sz="1250" b="1" i="0">
                <a:solidFill>
                  <a:srgbClr val="202020"/>
                </a:solidFill>
                <a:latin typeface="Calibri"/>
              </a:rPr>
              <a:t>Why it matters  </a:t>
            </a:r>
            <a:r>
              <a:rPr sz="1250" b="0" i="0">
                <a:solidFill>
                  <a:srgbClr val="202020"/>
                </a:solidFill>
                <a:latin typeface="Calibri"/>
              </a:rPr>
              <a:t>BDH is the data mart that holds the Salesforce slice — the accounts, contacts, opportunities and cases you want Copilot to be able to search.</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701</a:t>
            </a:r>
          </a:p>
        </p:txBody>
      </p:sp>
    </p:spTree>
  </p:cSld>
  <p:clrMapOvr>
    <a:masterClrMapping/>
  </p:clrMapOvr>
</p:sld>
</file>

<file path=ppt/slides/slide7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2.1 The words, in plain language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1" i="0">
                <a:solidFill>
                  <a:srgbClr val="202020"/>
                </a:solidFill>
                <a:latin typeface="Calibri"/>
              </a:rPr>
              <a:t>BDH</a:t>
            </a:r>
          </a:p>
          <a:p>
            <a:pPr>
              <a:spcBef>
                <a:spcPts val="100"/>
              </a:spcBef>
              <a:spcAft>
                <a:spcPts val="400"/>
              </a:spcAft>
            </a:pPr>
            <a:r>
              <a:rPr sz="1250" b="1" i="0">
                <a:solidFill>
                  <a:srgbClr val="202020"/>
                </a:solidFill>
                <a:latin typeface="Calibri"/>
              </a:rPr>
              <a:t>What it is  </a:t>
            </a:r>
            <a:r>
              <a:rPr sz="1250" b="0" i="0">
                <a:solidFill>
                  <a:srgbClr val="202020"/>
                </a:solidFill>
                <a:latin typeface="Calibri"/>
              </a:rPr>
              <a:t>The bank's Hadoop data mart that mirrors Salesforce. Every night an automated job copies the Salesforce tables into BDH as files.</a:t>
            </a:r>
          </a:p>
          <a:p>
            <a:pPr>
              <a:spcBef>
                <a:spcPts val="100"/>
              </a:spcBef>
              <a:spcAft>
                <a:spcPts val="400"/>
              </a:spcAft>
            </a:pPr>
            <a:r>
              <a:rPr sz="1250" b="1" i="0">
                <a:solidFill>
                  <a:srgbClr val="202020"/>
                </a:solidFill>
                <a:latin typeface="Calibri"/>
              </a:rPr>
              <a:t>Why it matters  </a:t>
            </a:r>
            <a:r>
              <a:rPr sz="1250" b="0" i="0">
                <a:solidFill>
                  <a:srgbClr val="202020"/>
                </a:solidFill>
                <a:latin typeface="Calibri"/>
              </a:rPr>
              <a:t>It is the source system for this connector. The connector reads BDH; it never touches live Salesforce.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702</a:t>
            </a:r>
          </a:p>
        </p:txBody>
      </p:sp>
    </p:spTree>
  </p:cSld>
  <p:clrMapOvr>
    <a:masterClrMapping/>
  </p:clrMapOvr>
</p:sld>
</file>

<file path=ppt/slides/slide7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2.2 Why not just read Salesforce directly?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Salesforce charges for programmatic access: its API capacity is metered and shared across every integration the bank runs. A full crawl of millions of records against that API is slow and expensive, and it competes with other systems for the same quota. BDH already holds the same records — mirrored nightly — and reading files out of Hadoop costs the bank effectively nothing in Salesforce quota. So the bank indexes the cheap copy.</a:t>
            </a:r>
          </a:p>
          <a:p>
            <a:pPr>
              <a:spcBef>
                <a:spcPts val="100"/>
              </a:spcBef>
              <a:spcAft>
                <a:spcPts val="400"/>
              </a:spcAft>
            </a:pPr>
            <a:r>
              <a:rPr sz="1250" b="0" i="0">
                <a:solidFill>
                  <a:srgbClr val="202020"/>
                </a:solidFill>
                <a:latin typeface="Calibri"/>
              </a:rPr>
              <a:t>There are two costs to that choice, and they are deliberate trade-offs you need to understand because they change what Copilot can and cannot do:</a:t>
            </a:r>
          </a:p>
          <a:p>
            <a:pPr>
              <a:spcBef>
                <a:spcPts val="100"/>
              </a:spcBef>
              <a:spcAft>
                <a:spcPts val="200"/>
              </a:spcAft>
            </a:pPr>
            <a:r>
              <a:rPr sz="1250" b="1" i="0">
                <a:solidFill>
                  <a:srgbClr val="2E5496"/>
                </a:solidFill>
                <a:latin typeface="Calibri"/>
              </a:rPr>
              <a:t>•  </a:t>
            </a:r>
            <a:r>
              <a:rPr sz="1250" b="1" i="0">
                <a:solidFill>
                  <a:srgbClr val="202020"/>
                </a:solidFill>
                <a:latin typeface="Calibri"/>
              </a:rPr>
              <a:t>Freshness.</a:t>
            </a:r>
            <a:r>
              <a:rPr sz="1250" b="0" i="0">
                <a:solidFill>
                  <a:srgbClr val="202020"/>
                </a:solidFill>
                <a:latin typeface="Calibri"/>
              </a:rPr>
              <a:t> BDH is loaded once a night, so its data can be up to about 24 hours behind live Salesforce. Every indexed item is stamped with a "Data as of" date so a Copilot answer can show its age (see </a:t>
            </a:r>
            <a:r>
              <a:rPr sz="1250" b="1" i="0">
                <a:solidFill>
                  <a:srgbClr val="202020"/>
                </a:solidFill>
                <a:latin typeface="Calibri"/>
              </a:rPr>
              <a:t>Section 8</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703</a:t>
            </a:r>
          </a:p>
        </p:txBody>
      </p:sp>
    </p:spTree>
  </p:cSld>
  <p:clrMapOvr>
    <a:masterClrMapping/>
  </p:clrMapOvr>
</p:sld>
</file>

<file path=ppt/slides/slide7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2.2 Why not just read Salesforce directly?</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Permissions (ACLs).</a:t>
            </a:r>
            <a:r>
              <a:rPr sz="1250" b="0" i="0">
                <a:solidFill>
                  <a:srgbClr val="202020"/>
                </a:solidFill>
                <a:latin typeface="Calibri"/>
              </a:rPr>
              <a:t> BDH copies the Salesforce data but not the Salesforce sharing rules. This connector can only enforce a coarse owner / group / public permission model, not Salesforce's full role-hierarchy-and-sharing model (see </a:t>
            </a:r>
            <a:r>
              <a:rPr sz="1250" b="1" i="0">
                <a:solidFill>
                  <a:srgbClr val="202020"/>
                </a:solidFill>
                <a:latin typeface="Calibri"/>
              </a:rPr>
              <a:t>Section 5</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704</a:t>
            </a:r>
          </a:p>
        </p:txBody>
      </p:sp>
    </p:spTree>
  </p:cSld>
  <p:clrMapOvr>
    <a:masterClrMapping/>
  </p:clrMapOvr>
</p:sld>
</file>

<file path=ppt/slides/slide7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2.3 Live Salesforce connector vs this connector</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bank may run a separate connector against live Salesforce. This one is its cheaper, slightly-behind sibling. They are swappable because they produce the same item identities — which is exactly why they must never share one connection (see the warning in </a:t>
            </a:r>
            <a:r>
              <a:rPr sz="1250" b="1" i="0">
                <a:solidFill>
                  <a:srgbClr val="202020"/>
                </a:solidFill>
                <a:latin typeface="Calibri"/>
              </a:rPr>
              <a:t>Section 5</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705</a:t>
            </a:r>
          </a:p>
        </p:txBody>
      </p:sp>
    </p:spTree>
  </p:cSld>
  <p:clrMapOvr>
    <a:masterClrMapping/>
  </p:clrMapOvr>
</p:sld>
</file>

<file path=ppt/slides/slide7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2.3 Live Salesforce connector vs this connector</a:t>
            </a:r>
          </a:p>
        </p:txBody>
      </p:sp>
      <p:graphicFrame>
        <p:nvGraphicFramePr>
          <p:cNvPr id="5" name="Table 4"/>
          <p:cNvGraphicFramePr>
            <a:graphicFrameLocks noGrp="1"/>
          </p:cNvGraphicFramePr>
          <p:nvPr/>
        </p:nvGraphicFramePr>
        <p:xfrm>
          <a:off x="502920" y="1188720"/>
          <a:ext cx="11185855" cy="2688336"/>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Aspect</a:t>
                      </a:r>
                    </a:p>
                  </a:txBody>
                  <a:tcPr marT="25400" marB="25400">
                    <a:solidFill>
                      <a:srgbClr val="2E5496"/>
                    </a:solidFill>
                  </a:tcPr>
                </a:tc>
                <a:tc>
                  <a:txBody>
                    <a:bodyPr wrap="square"/>
                    <a:lstStyle/>
                    <a:p>
                      <a:r>
                        <a:rPr sz="1050" b="1" i="0">
                          <a:solidFill>
                            <a:srgbClr val="FFFFFF"/>
                          </a:solidFill>
                          <a:latin typeface="Calibri"/>
                        </a:rPr>
                        <a:t>Live Salesforce connector</a:t>
                      </a:r>
                    </a:p>
                  </a:txBody>
                  <a:tcPr marT="25400" marB="25400">
                    <a:solidFill>
                      <a:srgbClr val="2E5496"/>
                    </a:solidFill>
                  </a:tcPr>
                </a:tc>
                <a:tc>
                  <a:txBody>
                    <a:bodyPr wrap="square"/>
                    <a:lstStyle/>
                    <a:p>
                      <a:r>
                        <a:rPr sz="1050" b="1" i="0">
                          <a:solidFill>
                            <a:srgbClr val="FFFFFF"/>
                          </a:solidFill>
                          <a:latin typeface="Calibri"/>
                        </a:rPr>
                        <a:t>Hadoop BDH connector (this one)</a:t>
                      </a:r>
                    </a:p>
                  </a:txBody>
                  <a:tcPr marT="25400" marB="25400">
                    <a:solidFill>
                      <a:srgbClr val="2E5496"/>
                    </a:solidFill>
                  </a:tcPr>
                </a:tc>
              </a:tr>
              <a:tr h="384048">
                <a:tc>
                  <a:txBody>
                    <a:bodyPr wrap="square"/>
                    <a:lstStyle/>
                    <a:p>
                      <a:r>
                        <a:rPr sz="950" b="0" i="0">
                          <a:solidFill>
                            <a:srgbClr val="202020"/>
                          </a:solidFill>
                          <a:latin typeface="Calibri"/>
                        </a:rPr>
                        <a:t>Source</a:t>
                      </a:r>
                    </a:p>
                  </a:txBody>
                  <a:tcPr marT="12700" marB="12700">
                    <a:solidFill>
                      <a:srgbClr val="FFFFFF"/>
                    </a:solidFill>
                  </a:tcPr>
                </a:tc>
                <a:tc>
                  <a:txBody>
                    <a:bodyPr wrap="square"/>
                    <a:lstStyle/>
                    <a:p>
                      <a:r>
                        <a:rPr sz="950" b="0" i="0">
                          <a:solidFill>
                            <a:srgbClr val="202020"/>
                          </a:solidFill>
                          <a:latin typeface="Calibri"/>
                        </a:rPr>
                        <a:t>The live Salesforce org, over its API</a:t>
                      </a:r>
                    </a:p>
                  </a:txBody>
                  <a:tcPr marT="12700" marB="12700">
                    <a:solidFill>
                      <a:srgbClr val="FFFFFF"/>
                    </a:solidFill>
                  </a:tcPr>
                </a:tc>
                <a:tc>
                  <a:txBody>
                    <a:bodyPr wrap="square"/>
                    <a:lstStyle/>
                    <a:p>
                      <a:r>
                        <a:rPr sz="950" b="0" i="0">
                          <a:solidFill>
                            <a:srgbClr val="202020"/>
                          </a:solidFill>
                          <a:latin typeface="Calibri"/>
                        </a:rPr>
                        <a:t>BDH files in Hadoop, over WebHDFS or a mounted path</a:t>
                      </a:r>
                    </a:p>
                  </a:txBody>
                  <a:tcPr marT="12700" marB="12700">
                    <a:solidFill>
                      <a:srgbClr val="FFFFFF"/>
                    </a:solidFill>
                  </a:tcPr>
                </a:tc>
              </a:tr>
              <a:tr h="384048">
                <a:tc>
                  <a:txBody>
                    <a:bodyPr wrap="square"/>
                    <a:lstStyle/>
                    <a:p>
                      <a:r>
                        <a:rPr sz="950" b="0" i="0">
                          <a:solidFill>
                            <a:srgbClr val="202020"/>
                          </a:solidFill>
                          <a:latin typeface="Calibri"/>
                        </a:rPr>
                        <a:t>Source cost</a:t>
                      </a:r>
                    </a:p>
                  </a:txBody>
                  <a:tcPr marT="12700" marB="12700">
                    <a:solidFill>
                      <a:srgbClr val="F7F9FC"/>
                    </a:solidFill>
                  </a:tcPr>
                </a:tc>
                <a:tc>
                  <a:txBody>
                    <a:bodyPr wrap="square"/>
                    <a:lstStyle/>
                    <a:p>
                      <a:r>
                        <a:rPr sz="950" b="0" i="0">
                          <a:solidFill>
                            <a:srgbClr val="202020"/>
                          </a:solidFill>
                          <a:latin typeface="Calibri"/>
                        </a:rPr>
                        <a:t>Salesforce API calls — metered and shared</a:t>
                      </a:r>
                    </a:p>
                  </a:txBody>
                  <a:tcPr marT="12700" marB="12700">
                    <a:solidFill>
                      <a:srgbClr val="F7F9FC"/>
                    </a:solidFill>
                  </a:tcPr>
                </a:tc>
                <a:tc>
                  <a:txBody>
                    <a:bodyPr wrap="square"/>
                    <a:lstStyle/>
                    <a:p>
                      <a:r>
                        <a:rPr sz="950" b="0" i="0">
                          <a:solidFill>
                            <a:srgbClr val="202020"/>
                          </a:solidFill>
                          <a:latin typeface="Calibri"/>
                        </a:rPr>
                        <a:t>HDFS file reads — effectively free</a:t>
                      </a:r>
                    </a:p>
                  </a:txBody>
                  <a:tcPr marT="12700" marB="12700">
                    <a:solidFill>
                      <a:srgbClr val="F7F9FC"/>
                    </a:solidFill>
                  </a:tcPr>
                </a:tc>
              </a:tr>
              <a:tr h="384048">
                <a:tc>
                  <a:txBody>
                    <a:bodyPr wrap="square"/>
                    <a:lstStyle/>
                    <a:p>
                      <a:r>
                        <a:rPr sz="950" b="0" i="0">
                          <a:solidFill>
                            <a:srgbClr val="202020"/>
                          </a:solidFill>
                          <a:latin typeface="Calibri"/>
                        </a:rPr>
                        <a:t>Freshness</a:t>
                      </a:r>
                    </a:p>
                  </a:txBody>
                  <a:tcPr marT="12700" marB="12700">
                    <a:solidFill>
                      <a:srgbClr val="FFFFFF"/>
                    </a:solidFill>
                  </a:tcPr>
                </a:tc>
                <a:tc>
                  <a:txBody>
                    <a:bodyPr wrap="square"/>
                    <a:lstStyle/>
                    <a:p>
                      <a:r>
                        <a:rPr sz="950" b="0" i="0">
                          <a:solidFill>
                            <a:srgbClr val="202020"/>
                          </a:solidFill>
                          <a:latin typeface="Calibri"/>
                        </a:rPr>
                        <a:t>Near-live</a:t>
                      </a:r>
                    </a:p>
                  </a:txBody>
                  <a:tcPr marT="12700" marB="12700">
                    <a:solidFill>
                      <a:srgbClr val="FFFFFF"/>
                    </a:solidFill>
                  </a:tcPr>
                </a:tc>
                <a:tc>
                  <a:txBody>
                    <a:bodyPr wrap="square"/>
                    <a:lstStyle/>
                    <a:p>
                      <a:r>
                        <a:rPr sz="950" b="0" i="0">
                          <a:solidFill>
                            <a:srgbClr val="202020"/>
                          </a:solidFill>
                          <a:latin typeface="Calibri"/>
                        </a:rPr>
                        <a:t>Up to ~24 h behind (nightly load); each item carries a DataAsOf date</a:t>
                      </a:r>
                    </a:p>
                  </a:txBody>
                  <a:tcPr marT="12700" marB="12700">
                    <a:solidFill>
                      <a:srgbClr val="FFFFFF"/>
                    </a:solidFill>
                  </a:tcPr>
                </a:tc>
              </a:tr>
              <a:tr h="384048">
                <a:tc>
                  <a:txBody>
                    <a:bodyPr wrap="square"/>
                    <a:lstStyle/>
                    <a:p>
                      <a:r>
                        <a:rPr sz="950" b="0" i="0">
                          <a:solidFill>
                            <a:srgbClr val="202020"/>
                          </a:solidFill>
                          <a:latin typeface="Calibri"/>
                        </a:rPr>
                        <a:t>Permissions</a:t>
                      </a:r>
                    </a:p>
                  </a:txBody>
                  <a:tcPr marT="12700" marB="12700">
                    <a:solidFill>
                      <a:srgbClr val="F7F9FC"/>
                    </a:solidFill>
                  </a:tcPr>
                </a:tc>
                <a:tc>
                  <a:txBody>
                    <a:bodyPr wrap="square"/>
                    <a:lstStyle/>
                    <a:p>
                      <a:r>
                        <a:rPr sz="950" b="0" i="0">
                          <a:solidFill>
                            <a:srgbClr val="202020"/>
                          </a:solidFill>
                          <a:latin typeface="Calibri"/>
                        </a:rPr>
                        <a:t>Full Salesforce sharing model (roles, sharing rules, teams)</a:t>
                      </a:r>
                    </a:p>
                  </a:txBody>
                  <a:tcPr marT="12700" marB="12700">
                    <a:solidFill>
                      <a:srgbClr val="F7F9FC"/>
                    </a:solidFill>
                  </a:tcPr>
                </a:tc>
                <a:tc>
                  <a:txBody>
                    <a:bodyPr wrap="square"/>
                    <a:lstStyle/>
                    <a:p>
                      <a:r>
                        <a:rPr sz="950" b="0" i="0">
                          <a:solidFill>
                            <a:srgbClr val="202020"/>
                          </a:solidFill>
                          <a:latin typeface="Calibri"/>
                        </a:rPr>
                        <a:t>Coarse by design: ownerOnly / group / public per object</a:t>
                      </a:r>
                    </a:p>
                  </a:txBody>
                  <a:tcPr marT="12700" marB="12700">
                    <a:solidFill>
                      <a:srgbClr val="F7F9FC"/>
                    </a:solidFill>
                  </a:tcPr>
                </a:tc>
              </a:tr>
              <a:tr h="384048">
                <a:tc>
                  <a:txBody>
                    <a:bodyPr wrap="square"/>
                    <a:lstStyle/>
                    <a:p>
                      <a:r>
                        <a:rPr sz="950" b="0" i="0">
                          <a:solidFill>
                            <a:srgbClr val="202020"/>
                          </a:solidFill>
                          <a:latin typeface="Calibri"/>
                        </a:rPr>
                        <a:t>Scale control</a:t>
                      </a:r>
                    </a:p>
                  </a:txBody>
                  <a:tcPr marT="12700" marB="12700">
                    <a:solidFill>
                      <a:srgbClr val="FFFFFF"/>
                    </a:solidFill>
                  </a:tcPr>
                </a:tc>
                <a:tc>
                  <a:txBody>
                    <a:bodyPr wrap="square"/>
                    <a:lstStyle/>
                    <a:p>
                      <a:r>
                        <a:rPr sz="950" b="0" i="0">
                          <a:solidFill>
                            <a:srgbClr val="202020"/>
                          </a:solidFill>
                          <a:latin typeface="Calibri"/>
                        </a:rPr>
                        <a:t>Delta cursors on the API</a:t>
                      </a:r>
                    </a:p>
                  </a:txBody>
                  <a:tcPr marT="12700" marB="12700">
                    <a:solidFill>
                      <a:srgbClr val="FFFFFF"/>
                    </a:solidFill>
                  </a:tcPr>
                </a:tc>
                <a:tc>
                  <a:txBody>
                    <a:bodyPr wrap="square"/>
                    <a:lstStyle/>
                    <a:p>
                      <a:r>
                        <a:rPr sz="950" b="0" i="0">
                          <a:solidFill>
                            <a:srgbClr val="202020"/>
                          </a:solidFill>
                          <a:latin typeface="Calibri"/>
                        </a:rPr>
                        <a:t>A filter layer over 150M+ rows (partition pruning + record filters + row cap)</a:t>
                      </a:r>
                    </a:p>
                  </a:txBody>
                  <a:tcPr marT="12700" marB="12700">
                    <a:solidFill>
                      <a:srgbClr val="FFFFFF"/>
                    </a:solidFill>
                  </a:tcPr>
                </a:tc>
              </a:tr>
              <a:tr h="384048">
                <a:tc>
                  <a:txBody>
                    <a:bodyPr wrap="square"/>
                    <a:lstStyle/>
                    <a:p>
                      <a:r>
                        <a:rPr sz="950" b="0" i="0">
                          <a:solidFill>
                            <a:srgbClr val="202020"/>
                          </a:solidFill>
                          <a:latin typeface="Calibri"/>
                        </a:rPr>
                        <a:t>Item ids</a:t>
                      </a:r>
                    </a:p>
                  </a:txBody>
                  <a:tcPr marT="12700" marB="12700">
                    <a:solidFill>
                      <a:srgbClr val="F7F9FC"/>
                    </a:solidFill>
                  </a:tcPr>
                </a:tc>
                <a:tc>
                  <a:txBody>
                    <a:bodyPr wrap="square"/>
                    <a:lstStyle/>
                    <a:p>
                      <a:r>
                        <a:rPr sz="950" b="0" i="0">
                          <a:solidFill>
                            <a:srgbClr val="202020"/>
                          </a:solidFill>
                          <a:latin typeface="Calibri"/>
                        </a:rPr>
                        <a:t>Salesforce record Id</a:t>
                      </a:r>
                    </a:p>
                  </a:txBody>
                  <a:tcPr marT="12700" marB="12700">
                    <a:solidFill>
                      <a:srgbClr val="F7F9FC"/>
                    </a:solidFill>
                  </a:tcPr>
                </a:tc>
                <a:tc>
                  <a:txBody>
                    <a:bodyPr wrap="square"/>
                    <a:lstStyle/>
                    <a:p>
                      <a:r>
                        <a:rPr sz="950" b="0" i="0">
                          <a:solidFill>
                            <a:srgbClr val="202020"/>
                          </a:solidFill>
                          <a:latin typeface="Calibri"/>
                        </a:rPr>
                        <a:t>The same Salesforce record Id — so the two are interchangeable</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706</a:t>
            </a:r>
          </a:p>
        </p:txBody>
      </p:sp>
    </p:spTree>
  </p:cSld>
  <p:clrMapOvr>
    <a:masterClrMapping/>
  </p:clrMapOvr>
</p:sld>
</file>

<file path=ppt/slides/slide7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Hadoop BDH Connector</a:t>
            </a:r>
          </a:p>
          <a:p>
            <a:r>
              <a:rPr sz="3000" b="1" i="0">
                <a:solidFill>
                  <a:srgbClr val="1F3864"/>
                </a:solidFill>
                <a:latin typeface="Calibri"/>
              </a:rPr>
              <a:t>3. What this connector does</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707</a:t>
            </a:r>
          </a:p>
        </p:txBody>
      </p:sp>
    </p:spTree>
  </p:cSld>
  <p:clrMapOvr>
    <a:masterClrMapping/>
  </p:clrMapOvr>
</p:sld>
</file>

<file path=ppt/slides/slide7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3. What this connector does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connector reads Salesforce-shaped records out of BDH, keeps only the ones worth indexing, works out who is allowed to see each one, and writes them into a Microsoft Graph connection that Copilot searches.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708</a:t>
            </a:r>
          </a:p>
        </p:txBody>
      </p:sp>
    </p:spTree>
  </p:cSld>
  <p:clrMapOvr>
    <a:masterClrMapping/>
  </p:clrMapOvr>
</p:sld>
</file>

<file path=ppt/slides/slide7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3.1 The flow, end to end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Each crawl cycle moves data left to right:</a:t>
            </a:r>
          </a:p>
          <a:p>
            <a:pPr>
              <a:spcBef>
                <a:spcPts val="100"/>
              </a:spcBef>
              <a:spcAft>
                <a:spcPts val="400"/>
              </a:spcAft>
            </a:pPr>
            <a:r>
              <a:rPr sz="1250" b="1" i="0">
                <a:solidFill>
                  <a:srgbClr val="202020"/>
                </a:solidFill>
                <a:latin typeface="Calibri"/>
              </a:rPr>
              <a:t>BDH / HDFS</a:t>
            </a:r>
            <a:r>
              <a:rPr sz="1250" b="0" i="0">
                <a:solidFill>
                  <a:srgbClr val="202020"/>
                </a:solidFill>
                <a:latin typeface="Calibri"/>
              </a:rPr>
              <a:t>  →  </a:t>
            </a:r>
            <a:r>
              <a:rPr sz="1250" b="1" i="0">
                <a:solidFill>
                  <a:srgbClr val="202020"/>
                </a:solidFill>
                <a:latin typeface="Calibri"/>
              </a:rPr>
              <a:t>connector</a:t>
            </a:r>
            <a:r>
              <a:rPr sz="1250" b="0" i="0">
                <a:solidFill>
                  <a:srgbClr val="202020"/>
                </a:solidFill>
                <a:latin typeface="Calibri"/>
              </a:rPr>
              <a:t>  →  </a:t>
            </a:r>
            <a:r>
              <a:rPr sz="1250" b="1" i="0">
                <a:solidFill>
                  <a:srgbClr val="202020"/>
                </a:solidFill>
                <a:latin typeface="Calibri"/>
              </a:rPr>
              <a:t>Microsoft Graph external connection</a:t>
            </a:r>
            <a:r>
              <a:rPr sz="1250" b="0" i="0">
                <a:solidFill>
                  <a:srgbClr val="202020"/>
                </a:solidFill>
                <a:latin typeface="Calibri"/>
              </a:rPr>
              <a:t>  →  </a:t>
            </a:r>
            <a:r>
              <a:rPr sz="1250" b="1" i="0">
                <a:solidFill>
                  <a:srgbClr val="202020"/>
                </a:solidFill>
                <a:latin typeface="Calibri"/>
              </a:rPr>
              <a:t>Copilot search index</a:t>
            </a:r>
          </a:p>
          <a:p>
            <a:pPr>
              <a:spcBef>
                <a:spcPts val="100"/>
              </a:spcBef>
              <a:spcAft>
                <a:spcPts val="400"/>
              </a:spcAft>
            </a:pPr>
            <a:r>
              <a:rPr sz="1250" b="0" i="0">
                <a:solidFill>
                  <a:srgbClr val="202020"/>
                </a:solidFill>
                <a:latin typeface="Calibri"/>
              </a:rPr>
              <a:t>Inside the connector, every record goes through these stages, in order — each one cheaper than the stage it protects:</a:t>
            </a:r>
          </a:p>
          <a:p>
            <a:pPr>
              <a:spcBef>
                <a:spcPts val="100"/>
              </a:spcBef>
              <a:spcAft>
                <a:spcPts val="200"/>
              </a:spcAft>
            </a:pPr>
            <a:r>
              <a:rPr sz="1250" b="1" i="0">
                <a:solidFill>
                  <a:srgbClr val="2E5496"/>
                </a:solidFill>
                <a:latin typeface="Calibri"/>
              </a:rPr>
              <a:t>•  </a:t>
            </a:r>
            <a:r>
              <a:rPr sz="1250" b="1" i="0">
                <a:solidFill>
                  <a:srgbClr val="202020"/>
                </a:solidFill>
                <a:latin typeface="Calibri"/>
              </a:rPr>
              <a:t>Find the data.</a:t>
            </a:r>
            <a:r>
              <a:rPr sz="1250" b="0" i="0">
                <a:solidFill>
                  <a:srgbClr val="202020"/>
                </a:solidFill>
                <a:latin typeface="Calibri"/>
              </a:rPr>
              <a:t> Walk the object's directories in BDH and decide which ones are even worth opening (partition pruning — </a:t>
            </a:r>
            <a:r>
              <a:rPr sz="1250" b="1" i="0">
                <a:solidFill>
                  <a:srgbClr val="202020"/>
                </a:solidFill>
                <a:latin typeface="Calibri"/>
              </a:rPr>
              <a:t>Section 6</a:t>
            </a:r>
            <a:r>
              <a:rPr sz="1250" b="0" i="0">
                <a:solidFill>
                  <a:srgbClr val="202020"/>
                </a:solidFill>
                <a:latin typeface="Calibri"/>
              </a:rPr>
              <a:t>).</a:t>
            </a:r>
          </a:p>
          <a:p>
            <a:pPr>
              <a:spcBef>
                <a:spcPts val="100"/>
              </a:spcBef>
              <a:spcAft>
                <a:spcPts val="200"/>
              </a:spcAft>
            </a:pPr>
            <a:r>
              <a:rPr sz="1250" b="1" i="0">
                <a:solidFill>
                  <a:srgbClr val="2E5496"/>
                </a:solidFill>
                <a:latin typeface="Calibri"/>
              </a:rPr>
              <a:t>•  </a:t>
            </a:r>
            <a:r>
              <a:rPr sz="1250" b="1" i="0">
                <a:solidFill>
                  <a:srgbClr val="202020"/>
                </a:solidFill>
                <a:latin typeface="Calibri"/>
              </a:rPr>
              <a:t>Filter the rows.</a:t>
            </a:r>
            <a:r>
              <a:rPr sz="1250" b="0" i="0">
                <a:solidFill>
                  <a:srgbClr val="202020"/>
                </a:solidFill>
                <a:latin typeface="Calibri"/>
              </a:rPr>
              <a:t> Read the surviving files as a stream and keep only rows that match the filter for that object type; a per-object row cap is the final safety valve.</a:t>
            </a:r>
          </a:p>
          <a:p>
            <a:pPr>
              <a:spcBef>
                <a:spcPts val="100"/>
              </a:spcBef>
              <a:spcAft>
                <a:spcPts val="200"/>
              </a:spcAft>
            </a:pPr>
            <a:r>
              <a:rPr sz="1250" b="1" i="0">
                <a:solidFill>
                  <a:srgbClr val="2E5496"/>
                </a:solidFill>
                <a:latin typeface="Calibri"/>
              </a:rPr>
              <a:t>•  </a:t>
            </a:r>
            <a:r>
              <a:rPr sz="1250" b="1" i="0">
                <a:solidFill>
                  <a:srgbClr val="202020"/>
                </a:solidFill>
                <a:latin typeface="Calibri"/>
              </a:rPr>
              <a:t>Resolve permissions.</a:t>
            </a:r>
            <a:r>
              <a:rPr sz="1250" b="0" i="0">
                <a:solidFill>
                  <a:srgbClr val="202020"/>
                </a:solidFill>
                <a:latin typeface="Calibri"/>
              </a:rPr>
              <a:t> Work out the Entra ID identities allowed to see each kept record (the ACL — </a:t>
            </a:r>
            <a:r>
              <a:rPr sz="1250" b="1" i="0">
                <a:solidFill>
                  <a:srgbClr val="202020"/>
                </a:solidFill>
                <a:latin typeface="Calibri"/>
              </a:rPr>
              <a:t>Section 5</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709</a:t>
            </a:r>
          </a:p>
        </p:txBody>
      </p:sp>
    </p:spTree>
  </p:cSld>
  <p:clrMapOvr>
    <a:masterClrMapping/>
  </p:clrMapOvr>
</p:sld>
</file>

<file path=ppt/slides/slide7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3.1 The flow, end to end</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Convert.</a:t>
            </a:r>
            <a:r>
              <a:rPr sz="1250" b="0" i="0">
                <a:solidFill>
                  <a:srgbClr val="202020"/>
                </a:solidFill>
                <a:latin typeface="Calibri"/>
              </a:rPr>
              <a:t> Turn each record into a Graph external item: a set of properties plus a searchable text body, stamped with </a:t>
            </a:r>
            <a:r>
              <a:rPr sz="1200" b="0" i="0">
                <a:solidFill>
                  <a:srgbClr val="202020"/>
                </a:solidFill>
                <a:latin typeface="Consolas"/>
              </a:rPr>
              <a:t>SourceSystem</a:t>
            </a:r>
            <a:r>
              <a:rPr sz="1250" b="0" i="0">
                <a:solidFill>
                  <a:srgbClr val="202020"/>
                </a:solidFill>
                <a:latin typeface="Calibri"/>
              </a:rPr>
              <a:t> and </a:t>
            </a:r>
            <a:r>
              <a:rPr sz="1200" b="0" i="0">
                <a:solidFill>
                  <a:srgbClr val="202020"/>
                </a:solidFill>
                <a:latin typeface="Consolas"/>
              </a:rPr>
              <a:t>DataAsOf</a:t>
            </a:r>
            <a:r>
              <a:rPr sz="1250" b="0" i="0">
                <a:solidFill>
                  <a:srgbClr val="202020"/>
                </a:solidFill>
                <a:latin typeface="Calibri"/>
              </a:rPr>
              <a:t>.</a:t>
            </a:r>
          </a:p>
          <a:p>
            <a:pPr>
              <a:spcBef>
                <a:spcPts val="100"/>
              </a:spcBef>
              <a:spcAft>
                <a:spcPts val="200"/>
              </a:spcAft>
            </a:pPr>
            <a:r>
              <a:rPr sz="1250" b="1" i="0">
                <a:solidFill>
                  <a:srgbClr val="2E5496"/>
                </a:solidFill>
                <a:latin typeface="Calibri"/>
              </a:rPr>
              <a:t>•  </a:t>
            </a:r>
            <a:r>
              <a:rPr sz="1250" b="1" i="0">
                <a:solidFill>
                  <a:srgbClr val="202020"/>
                </a:solidFill>
                <a:latin typeface="Calibri"/>
              </a:rPr>
              <a:t>Ingest.</a:t>
            </a:r>
            <a:r>
              <a:rPr sz="1250" b="0" i="0">
                <a:solidFill>
                  <a:srgbClr val="202020"/>
                </a:solidFill>
                <a:latin typeface="Calibri"/>
              </a:rPr>
              <a:t> Write the items to the Graph connection in batches, remembering exactly where it got to so it can resume after a stop or crash.</a:t>
            </a:r>
          </a:p>
          <a:p>
            <a:pPr>
              <a:spcBef>
                <a:spcPts val="100"/>
              </a:spcBef>
              <a:spcAft>
                <a:spcPts val="200"/>
              </a:spcAft>
            </a:pPr>
            <a:r>
              <a:rPr sz="1250" b="1" i="0">
                <a:solidFill>
                  <a:srgbClr val="2E5496"/>
                </a:solidFill>
                <a:latin typeface="Calibri"/>
              </a:rPr>
              <a:t>•  </a:t>
            </a:r>
            <a:r>
              <a:rPr sz="1250" b="1" i="0">
                <a:solidFill>
                  <a:srgbClr val="202020"/>
                </a:solidFill>
                <a:latin typeface="Calibri"/>
              </a:rPr>
              <a:t>Sweep (full crawls only).</a:t>
            </a:r>
            <a:r>
              <a:rPr sz="1250" b="0" i="0">
                <a:solidFill>
                  <a:srgbClr val="202020"/>
                </a:solidFill>
                <a:latin typeface="Calibri"/>
              </a:rPr>
              <a:t> Remove from the index anything that has disappeared from BDH (deletion sync — </a:t>
            </a:r>
            <a:r>
              <a:rPr sz="1250" b="1" i="0">
                <a:solidFill>
                  <a:srgbClr val="202020"/>
                </a:solidFill>
                <a:latin typeface="Calibri"/>
              </a:rPr>
              <a:t>Section 11</a:t>
            </a:r>
            <a:r>
              <a:rPr sz="1250" b="0" i="0">
                <a:solidFill>
                  <a:srgbClr val="202020"/>
                </a:solidFill>
                <a:latin typeface="Calibri"/>
              </a:rPr>
              <a:t>).</a:t>
            </a:r>
          </a:p>
          <a:p>
            <a:pPr>
              <a:spcBef>
                <a:spcPts val="100"/>
              </a:spcBef>
              <a:spcAft>
                <a:spcPts val="400"/>
              </a:spcAft>
            </a:pPr>
            <a:r>
              <a:rPr sz="1250" b="0" i="0">
                <a:solidFill>
                  <a:srgbClr val="202020"/>
                </a:solidFill>
                <a:latin typeface="Calibri"/>
              </a:rPr>
              <a:t>An </a:t>
            </a:r>
            <a:r>
              <a:rPr sz="1250" b="1" i="0">
                <a:solidFill>
                  <a:srgbClr val="202020"/>
                </a:solidFill>
                <a:latin typeface="Calibri"/>
              </a:rPr>
              <a:t>external item</a:t>
            </a:r>
            <a:r>
              <a:rPr sz="1250" b="0" i="0">
                <a:solidFill>
                  <a:srgbClr val="202020"/>
                </a:solidFill>
                <a:latin typeface="Calibri"/>
              </a:rPr>
              <a:t> is simply one record as it lives in the Copilot index: an id, some searchable properties, a text body, and an access list. The external item concept, Microsoft Graph and Entra ID are covered in </a:t>
            </a:r>
            <a:r>
              <a:rPr sz="1250" b="1" i="0">
                <a:solidFill>
                  <a:srgbClr val="202020"/>
                </a:solidFill>
                <a:latin typeface="Calibri"/>
              </a:rPr>
              <a:t>Common Guide §5</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710</a:t>
            </a:r>
          </a:p>
        </p:txBody>
      </p:sp>
    </p:spTree>
  </p:cSld>
  <p:clrMapOvr>
    <a:masterClrMapping/>
  </p:clrMapOvr>
</p:sld>
</file>

<file path=ppt/slides/slide7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3.2 Key facts to keep in mind</a:t>
            </a:r>
          </a:p>
        </p:txBody>
      </p:sp>
      <p:graphicFrame>
        <p:nvGraphicFramePr>
          <p:cNvPr id="5" name="Table 4"/>
          <p:cNvGraphicFramePr>
            <a:graphicFrameLocks noGrp="1"/>
          </p:cNvGraphicFramePr>
          <p:nvPr/>
        </p:nvGraphicFramePr>
        <p:xfrm>
          <a:off x="502920" y="1188720"/>
          <a:ext cx="11185854" cy="2304288"/>
        </p:xfrm>
        <a:graphic>
          <a:graphicData uri="http://schemas.openxmlformats.org/drawingml/2006/table">
            <a:tbl>
              <a:tblPr firstRow="1" bandRow="1">
                <a:tableStyleId>{5C22544A-7EE6-4342-B048-85BDC9FD1C3A}</a:tableStyleId>
              </a:tblPr>
              <a:tblGrid>
                <a:gridCol w="3803190"/>
                <a:gridCol w="7382664"/>
              </a:tblGrid>
              <a:tr h="384048">
                <a:tc>
                  <a:txBody>
                    <a:bodyPr wrap="square"/>
                    <a:lstStyle/>
                    <a:p>
                      <a:r>
                        <a:rPr sz="1050" b="1" i="0">
                          <a:solidFill>
                            <a:srgbClr val="FFFFFF"/>
                          </a:solidFill>
                          <a:latin typeface="Calibri"/>
                        </a:rPr>
                        <a:t>Fact</a:t>
                      </a:r>
                    </a:p>
                  </a:txBody>
                  <a:tcPr marT="25400" marB="25400">
                    <a:solidFill>
                      <a:srgbClr val="2E5496"/>
                    </a:solidFill>
                  </a:tcPr>
                </a:tc>
                <a:tc>
                  <a:txBody>
                    <a:bodyPr wrap="square"/>
                    <a:lstStyle/>
                    <a:p>
                      <a:r>
                        <a:rPr sz="1050" b="1" i="0">
                          <a:solidFill>
                            <a:srgbClr val="FFFFFF"/>
                          </a:solidFill>
                          <a:latin typeface="Calibri"/>
                        </a:rPr>
                        <a:t>Why it matters to you</a:t>
                      </a:r>
                    </a:p>
                  </a:txBody>
                  <a:tcPr marT="25400" marB="25400">
                    <a:solidFill>
                      <a:srgbClr val="2E5496"/>
                    </a:solidFill>
                  </a:tcPr>
                </a:tc>
              </a:tr>
              <a:tr h="384048">
                <a:tc>
                  <a:txBody>
                    <a:bodyPr wrap="square"/>
                    <a:lstStyle/>
                    <a:p>
                      <a:r>
                        <a:rPr sz="950" b="0" i="0">
                          <a:solidFill>
                            <a:srgbClr val="202020"/>
                          </a:solidFill>
                          <a:latin typeface="Calibri"/>
                        </a:rPr>
                        <a:t>The source is BDH, not Salesforce</a:t>
                      </a:r>
                    </a:p>
                  </a:txBody>
                  <a:tcPr marT="12700" marB="12700">
                    <a:solidFill>
                      <a:srgbClr val="FFFFFF"/>
                    </a:solidFill>
                  </a:tcPr>
                </a:tc>
                <a:tc>
                  <a:txBody>
                    <a:bodyPr wrap="square"/>
                    <a:lstStyle/>
                    <a:p>
                      <a:r>
                        <a:rPr sz="950" b="0" i="0">
                          <a:solidFill>
                            <a:srgbClr val="202020"/>
                          </a:solidFill>
                          <a:latin typeface="Calibri"/>
                        </a:rPr>
                        <a:t>You are reading a big data lake of files, not calling a CRM. Source problems are Hadoop problems (see the BDH/Hadoop platform team), not Salesforce ones.</a:t>
                      </a:r>
                    </a:p>
                  </a:txBody>
                  <a:tcPr marT="12700" marB="12700">
                    <a:solidFill>
                      <a:srgbClr val="FFFFFF"/>
                    </a:solidFill>
                  </a:tcPr>
                </a:tc>
              </a:tr>
              <a:tr h="384048">
                <a:tc>
                  <a:txBody>
                    <a:bodyPr wrap="square"/>
                    <a:lstStyle/>
                    <a:p>
                      <a:r>
                        <a:rPr sz="950" b="0" i="0">
                          <a:solidFill>
                            <a:srgbClr val="202020"/>
                          </a:solidFill>
                          <a:latin typeface="Calibri"/>
                        </a:rPr>
                        <a:t>150M+ rows live in BDH</a:t>
                      </a:r>
                    </a:p>
                  </a:txBody>
                  <a:tcPr marT="12700" marB="12700">
                    <a:solidFill>
                      <a:srgbClr val="F7F9FC"/>
                    </a:solidFill>
                  </a:tcPr>
                </a:tc>
                <a:tc>
                  <a:txBody>
                    <a:bodyPr wrap="square"/>
                    <a:lstStyle/>
                    <a:p>
                      <a:r>
                        <a:rPr sz="950" b="0" i="0">
                          <a:solidFill>
                            <a:srgbClr val="202020"/>
                          </a:solidFill>
                          <a:latin typeface="Calibri"/>
                        </a:rPr>
                        <a:t>You must never crawl an object without a filter. The connector refuses to (see Section 7).</a:t>
                      </a:r>
                    </a:p>
                  </a:txBody>
                  <a:tcPr marT="12700" marB="12700">
                    <a:solidFill>
                      <a:srgbClr val="F7F9FC"/>
                    </a:solidFill>
                  </a:tcPr>
                </a:tc>
              </a:tr>
              <a:tr h="384048">
                <a:tc>
                  <a:txBody>
                    <a:bodyPr wrap="square"/>
                    <a:lstStyle/>
                    <a:p>
                      <a:r>
                        <a:rPr sz="950" b="0" i="0">
                          <a:solidFill>
                            <a:srgbClr val="202020"/>
                          </a:solidFill>
                          <a:latin typeface="Calibri"/>
                        </a:rPr>
                        <a:t>Data is up to ~24 h old</a:t>
                      </a:r>
                    </a:p>
                  </a:txBody>
                  <a:tcPr marT="12700" marB="12700">
                    <a:solidFill>
                      <a:srgbClr val="FFFFFF"/>
                    </a:solidFill>
                  </a:tcPr>
                </a:tc>
                <a:tc>
                  <a:txBody>
                    <a:bodyPr wrap="square"/>
                    <a:lstStyle/>
                    <a:p>
                      <a:r>
                        <a:rPr sz="950" b="0" i="0">
                          <a:solidFill>
                            <a:srgbClr val="202020"/>
                          </a:solidFill>
                          <a:latin typeface="Calibri"/>
                        </a:rPr>
                        <a:t>Copilot answers from this connector can lag the live org by a day. This is expected, not a fault (see Section 8).</a:t>
                      </a:r>
                    </a:p>
                  </a:txBody>
                  <a:tcPr marT="12700" marB="12700">
                    <a:solidFill>
                      <a:srgbClr val="FFFFFF"/>
                    </a:solidFill>
                  </a:tcPr>
                </a:tc>
              </a:tr>
              <a:tr h="384048">
                <a:tc>
                  <a:txBody>
                    <a:bodyPr wrap="square"/>
                    <a:lstStyle/>
                    <a:p>
                      <a:r>
                        <a:rPr sz="950" b="0" i="0">
                          <a:solidFill>
                            <a:srgbClr val="202020"/>
                          </a:solidFill>
                          <a:latin typeface="Calibri"/>
                        </a:rPr>
                        <a:t>Item ids are Salesforce record Ids</a:t>
                      </a:r>
                    </a:p>
                  </a:txBody>
                  <a:tcPr marT="12700" marB="12700">
                    <a:solidFill>
                      <a:srgbClr val="F7F9FC"/>
                    </a:solidFill>
                  </a:tcPr>
                </a:tc>
                <a:tc>
                  <a:txBody>
                    <a:bodyPr wrap="square"/>
                    <a:lstStyle/>
                    <a:p>
                      <a:r>
                        <a:rPr sz="950" b="0" i="0">
                          <a:solidFill>
                            <a:srgbClr val="202020"/>
                          </a:solidFill>
                          <a:latin typeface="Calibri"/>
                        </a:rPr>
                        <a:t>This connector MUST use its own, separate Graph connection so it does not collide with the live Salesforce connector (see Section 5).</a:t>
                      </a:r>
                    </a:p>
                  </a:txBody>
                  <a:tcPr marT="12700" marB="12700">
                    <a:solidFill>
                      <a:srgbClr val="F7F9FC"/>
                    </a:solidFill>
                  </a:tcPr>
                </a:tc>
              </a:tr>
              <a:tr h="384048">
                <a:tc>
                  <a:txBody>
                    <a:bodyPr wrap="square"/>
                    <a:lstStyle/>
                    <a:p>
                      <a:r>
                        <a:rPr sz="950" b="0" i="0">
                          <a:solidFill>
                            <a:srgbClr val="202020"/>
                          </a:solidFill>
                          <a:latin typeface="Calibri"/>
                        </a:rPr>
                        <a:t>Built on .NET 10; 988 automated tests</a:t>
                      </a:r>
                    </a:p>
                  </a:txBody>
                  <a:tcPr marT="12700" marB="12700">
                    <a:solidFill>
                      <a:srgbClr val="FFFFFF"/>
                    </a:solidFill>
                  </a:tcPr>
                </a:tc>
                <a:tc>
                  <a:txBody>
                    <a:bodyPr wrap="square"/>
                    <a:lstStyle/>
                    <a:p>
                      <a:r>
                        <a:rPr sz="950" b="0" i="0">
                          <a:solidFill>
                            <a:srgbClr val="202020"/>
                          </a:solidFill>
                          <a:latin typeface="Calibri"/>
                        </a:rPr>
                        <a:t>It runs as a Windows service on Windows Server; the shared chassis is the same as the other connectors (Common Guide §6).</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711</a:t>
            </a:r>
          </a:p>
        </p:txBody>
      </p:sp>
    </p:spTree>
  </p:cSld>
  <p:clrMapOvr>
    <a:masterClrMapping/>
  </p:clrMapOvr>
</p:sld>
</file>

<file path=ppt/slides/slide7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Hadoop BDH Connector</a:t>
            </a:r>
          </a:p>
          <a:p>
            <a:r>
              <a:rPr sz="3000" b="1" i="0">
                <a:solidFill>
                  <a:srgbClr val="1F3864"/>
                </a:solidFill>
                <a:latin typeface="Calibri"/>
              </a:rPr>
              <a:t>4. How the connector connects to BDH (the target system)</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712</a:t>
            </a:r>
          </a:p>
        </p:txBody>
      </p:sp>
    </p:spTree>
  </p:cSld>
  <p:clrMapOvr>
    <a:masterClrMapping/>
  </p:clrMapOvr>
</p:sld>
</file>

<file path=ppt/slides/slide7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 How the connector connects to BDH (the target system)</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BDH is the target system this connector reads from. It reaches BDH in one of two ways, set by the </a:t>
            </a:r>
            <a:r>
              <a:rPr sz="1200" b="0" i="0">
                <a:solidFill>
                  <a:srgbClr val="202020"/>
                </a:solidFill>
                <a:latin typeface="Consolas"/>
              </a:rPr>
              <a:t>HDFS_MODE</a:t>
            </a:r>
            <a:r>
              <a:rPr sz="1250" b="0" i="0">
                <a:solidFill>
                  <a:srgbClr val="202020"/>
                </a:solidFill>
                <a:latin typeface="Calibri"/>
              </a:rPr>
              <a:t> setting: over the network via WebHDFS, or by reading a directory that is already mounted on the crawl host.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713</a:t>
            </a:r>
          </a:p>
        </p:txBody>
      </p:sp>
    </p:spTree>
  </p:cSld>
  <p:clrMapOvr>
    <a:masterClrMapping/>
  </p:clrMapOvr>
</p:sld>
</file>

<file path=ppt/slides/slide7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4.1 The two access modes</a:t>
            </a:r>
          </a:p>
        </p:txBody>
      </p:sp>
      <p:graphicFrame>
        <p:nvGraphicFramePr>
          <p:cNvPr id="5" name="Table 4"/>
          <p:cNvGraphicFramePr>
            <a:graphicFrameLocks noGrp="1"/>
          </p:cNvGraphicFramePr>
          <p:nvPr/>
        </p:nvGraphicFramePr>
        <p:xfrm>
          <a:off x="502920" y="1188720"/>
          <a:ext cx="11185855" cy="1152144"/>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Mode (HDFS_MODE)</a:t>
                      </a:r>
                    </a:p>
                  </a:txBody>
                  <a:tcPr marT="25400" marB="25400">
                    <a:solidFill>
                      <a:srgbClr val="2E5496"/>
                    </a:solidFill>
                  </a:tcPr>
                </a:tc>
                <a:tc>
                  <a:txBody>
                    <a:bodyPr wrap="square"/>
                    <a:lstStyle/>
                    <a:p>
                      <a:r>
                        <a:rPr sz="1050" b="1" i="0">
                          <a:solidFill>
                            <a:srgbClr val="FFFFFF"/>
                          </a:solidFill>
                          <a:latin typeface="Calibri"/>
                        </a:rPr>
                        <a:t>What it is</a:t>
                      </a:r>
                    </a:p>
                  </a:txBody>
                  <a:tcPr marT="25400" marB="25400">
                    <a:solidFill>
                      <a:srgbClr val="2E5496"/>
                    </a:solidFill>
                  </a:tcPr>
                </a:tc>
                <a:tc>
                  <a:txBody>
                    <a:bodyPr wrap="square"/>
                    <a:lstStyle/>
                    <a:p>
                      <a:r>
                        <a:rPr sz="1050" b="1" i="0">
                          <a:solidFill>
                            <a:srgbClr val="FFFFFF"/>
                          </a:solidFill>
                          <a:latin typeface="Calibri"/>
                        </a:rPr>
                        <a:t>When it is used</a:t>
                      </a:r>
                    </a:p>
                  </a:txBody>
                  <a:tcPr marT="25400" marB="25400">
                    <a:solidFill>
                      <a:srgbClr val="2E5496"/>
                    </a:solidFill>
                  </a:tcPr>
                </a:tc>
              </a:tr>
              <a:tr h="384048">
                <a:tc>
                  <a:txBody>
                    <a:bodyPr wrap="square"/>
                    <a:lstStyle/>
                    <a:p>
                      <a:r>
                        <a:rPr sz="950" b="0" i="0">
                          <a:solidFill>
                            <a:srgbClr val="202020"/>
                          </a:solidFill>
                          <a:latin typeface="Calibri"/>
                        </a:rPr>
                        <a:t>webhdfs (default)</a:t>
                      </a:r>
                    </a:p>
                  </a:txBody>
                  <a:tcPr marT="12700" marB="12700">
                    <a:solidFill>
                      <a:srgbClr val="FFFFFF"/>
                    </a:solidFill>
                  </a:tcPr>
                </a:tc>
                <a:tc>
                  <a:txBody>
                    <a:bodyPr wrap="square"/>
                    <a:lstStyle/>
                    <a:p>
                      <a:r>
                        <a:rPr sz="950" b="0" i="0">
                          <a:solidFill>
                            <a:srgbClr val="202020"/>
                          </a:solidFill>
                          <a:latin typeface="Calibri"/>
                        </a:rPr>
                        <a:t>The connector calls WebHDFS — the HTTP/REST front door to Hadoop's file system — on the namenode (or a Knox gateway). It lists directories (LISTSTATUS) and streams files (OPEN).</a:t>
                      </a:r>
                    </a:p>
                  </a:txBody>
                  <a:tcPr marT="12700" marB="12700">
                    <a:solidFill>
                      <a:srgbClr val="FFFFFF"/>
                    </a:solidFill>
                  </a:tcPr>
                </a:tc>
                <a:tc>
                  <a:txBody>
                    <a:bodyPr wrap="square"/>
                    <a:lstStyle/>
                    <a:p>
                      <a:r>
                        <a:rPr sz="950" b="0" i="0">
                          <a:solidFill>
                            <a:srgbClr val="202020"/>
                          </a:solidFill>
                          <a:latin typeface="Calibri"/>
                        </a:rPr>
                        <a:t>The normal production choice: the crawl host talks to the BDH cluster over the network.</a:t>
                      </a:r>
                    </a:p>
                  </a:txBody>
                  <a:tcPr marT="12700" marB="12700">
                    <a:solidFill>
                      <a:srgbClr val="FFFFFF"/>
                    </a:solidFill>
                  </a:tcPr>
                </a:tc>
              </a:tr>
              <a:tr h="384048">
                <a:tc>
                  <a:txBody>
                    <a:bodyPr wrap="square"/>
                    <a:lstStyle/>
                    <a:p>
                      <a:r>
                        <a:rPr sz="950" b="0" i="0">
                          <a:solidFill>
                            <a:srgbClr val="202020"/>
                          </a:solidFill>
                          <a:latin typeface="Calibri"/>
                        </a:rPr>
                        <a:t>localpath</a:t>
                      </a:r>
                    </a:p>
                  </a:txBody>
                  <a:tcPr marT="12700" marB="12700">
                    <a:solidFill>
                      <a:srgbClr val="F7F9FC"/>
                    </a:solidFill>
                  </a:tcPr>
                </a:tc>
                <a:tc>
                  <a:txBody>
                    <a:bodyPr wrap="square"/>
                    <a:lstStyle/>
                    <a:p>
                      <a:r>
                        <a:rPr sz="950" b="0" i="0">
                          <a:solidFill>
                            <a:srgbClr val="202020"/>
                          </a:solidFill>
                          <a:latin typeface="Calibri"/>
                        </a:rPr>
                        <a:t>The connector reads the same folder layout from a local or SMB-mounted directory (BDH_EXPORT_PATH) instead of the network.</a:t>
                      </a:r>
                    </a:p>
                  </a:txBody>
                  <a:tcPr marT="12700" marB="12700">
                    <a:solidFill>
                      <a:srgbClr val="F7F9FC"/>
                    </a:solidFill>
                  </a:tcPr>
                </a:tc>
                <a:tc>
                  <a:txBody>
                    <a:bodyPr wrap="square"/>
                    <a:lstStyle/>
                    <a:p>
                      <a:r>
                        <a:rPr sz="950" b="0" i="0">
                          <a:solidFill>
                            <a:srgbClr val="202020"/>
                          </a:solidFill>
                          <a:latin typeface="Calibri"/>
                        </a:rPr>
                        <a:t>Development, disaster-recovery replicas, or air-gapped copies where the export is already on disk.</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714</a:t>
            </a:r>
          </a:p>
        </p:txBody>
      </p:sp>
    </p:spTree>
  </p:cSld>
  <p:clrMapOvr>
    <a:masterClrMapping/>
  </p:clrMapOvr>
</p:sld>
</file>

<file path=ppt/slides/slide7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4.1 The two access modes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a:t>
            </a:r>
            <a:r>
              <a:rPr sz="1250" b="1" i="0">
                <a:solidFill>
                  <a:srgbClr val="202020"/>
                </a:solidFill>
                <a:latin typeface="Calibri"/>
              </a:rPr>
              <a:t>namenode</a:t>
            </a:r>
            <a:r>
              <a:rPr sz="1250" b="0" i="0">
                <a:solidFill>
                  <a:srgbClr val="202020"/>
                </a:solidFill>
                <a:latin typeface="Calibri"/>
              </a:rPr>
              <a:t> is the Hadoop server that knows where every file lives; WebHDFS is its REST interface. When you </a:t>
            </a:r>
            <a:r>
              <a:rPr sz="1200" b="0" i="0">
                <a:solidFill>
                  <a:srgbClr val="202020"/>
                </a:solidFill>
                <a:latin typeface="Consolas"/>
              </a:rPr>
              <a:t>OPEN</a:t>
            </a:r>
            <a:r>
              <a:rPr sz="1250" b="0" i="0">
                <a:solidFill>
                  <a:srgbClr val="202020"/>
                </a:solidFill>
                <a:latin typeface="Calibri"/>
              </a:rPr>
              <a:t> a file the namenode sends a redirect to the actual data server (datanode) holding the bytes; the connector follows that redirect for you.</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715</a:t>
            </a:r>
          </a:p>
        </p:txBody>
      </p:sp>
    </p:spTree>
  </p:cSld>
  <p:clrMapOvr>
    <a:masterClrMapping/>
  </p:clrMapOvr>
</p:sld>
</file>

<file path=ppt/slides/slide7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4.2 How it authenticates to BDH</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WebHDFS client speaks </a:t>
            </a:r>
            <a:r>
              <a:rPr sz="1250" b="1" i="0">
                <a:solidFill>
                  <a:srgbClr val="202020"/>
                </a:solidFill>
                <a:latin typeface="Calibri"/>
              </a:rPr>
              <a:t>simple auth</a:t>
            </a:r>
            <a:r>
              <a:rPr sz="1250" b="0" i="0">
                <a:solidFill>
                  <a:srgbClr val="202020"/>
                </a:solidFill>
                <a:latin typeface="Calibri"/>
              </a:rPr>
              <a:t> and, optionally, a </a:t>
            </a:r>
            <a:r>
              <a:rPr sz="1250" b="1" i="0">
                <a:solidFill>
                  <a:srgbClr val="202020"/>
                </a:solidFill>
                <a:latin typeface="Calibri"/>
              </a:rPr>
              <a:t>delegation token</a:t>
            </a:r>
            <a:r>
              <a:rPr sz="1250" b="0" i="0">
                <a:solidFill>
                  <a:srgbClr val="202020"/>
                </a:solidFill>
                <a:latin typeface="Calibri"/>
              </a:rPr>
              <a:t>:</a:t>
            </a:r>
          </a:p>
          <a:p>
            <a:pPr>
              <a:spcBef>
                <a:spcPts val="100"/>
              </a:spcBef>
              <a:spcAft>
                <a:spcPts val="200"/>
              </a:spcAft>
            </a:pPr>
            <a:r>
              <a:rPr sz="1250" b="1" i="0">
                <a:solidFill>
                  <a:srgbClr val="2E5496"/>
                </a:solidFill>
                <a:latin typeface="Calibri"/>
              </a:rPr>
              <a:t>•  </a:t>
            </a:r>
            <a:r>
              <a:rPr sz="1250" b="1" i="0">
                <a:solidFill>
                  <a:srgbClr val="202020"/>
                </a:solidFill>
                <a:latin typeface="Calibri"/>
              </a:rPr>
              <a:t>Simple auth</a:t>
            </a:r>
            <a:r>
              <a:rPr sz="1250" b="0" i="0">
                <a:solidFill>
                  <a:srgbClr val="202020"/>
                </a:solidFill>
                <a:latin typeface="Calibri"/>
              </a:rPr>
              <a:t> — the connector sends a username (</a:t>
            </a:r>
            <a:r>
              <a:rPr sz="1200" b="0" i="0">
                <a:solidFill>
                  <a:srgbClr val="202020"/>
                </a:solidFill>
                <a:latin typeface="Consolas"/>
              </a:rPr>
              <a:t>HDFS_USER</a:t>
            </a:r>
            <a:r>
              <a:rPr sz="1250" b="0" i="0">
                <a:solidFill>
                  <a:srgbClr val="202020"/>
                </a:solidFill>
                <a:latin typeface="Calibri"/>
              </a:rPr>
              <a:t>) as </a:t>
            </a:r>
            <a:r>
              <a:rPr sz="1200" b="0" i="0">
                <a:solidFill>
                  <a:srgbClr val="202020"/>
                </a:solidFill>
                <a:latin typeface="Consolas"/>
              </a:rPr>
              <a:t>?user.name=</a:t>
            </a:r>
            <a:r>
              <a:rPr sz="1250" b="0" i="0">
                <a:solidFill>
                  <a:srgbClr val="202020"/>
                </a:solidFill>
                <a:latin typeface="Calibri"/>
              </a:rPr>
              <a:t> on each call. This is an identity assertion, not a password; the cluster's own authorization decides what that user may read.</a:t>
            </a:r>
          </a:p>
          <a:p>
            <a:pPr>
              <a:spcBef>
                <a:spcPts val="100"/>
              </a:spcBef>
              <a:spcAft>
                <a:spcPts val="200"/>
              </a:spcAft>
            </a:pPr>
            <a:r>
              <a:rPr sz="1250" b="1" i="0">
                <a:solidFill>
                  <a:srgbClr val="2E5496"/>
                </a:solidFill>
                <a:latin typeface="Calibri"/>
              </a:rPr>
              <a:t>•  </a:t>
            </a:r>
            <a:r>
              <a:rPr sz="1250" b="1" i="0">
                <a:solidFill>
                  <a:srgbClr val="202020"/>
                </a:solidFill>
                <a:latin typeface="Calibri"/>
              </a:rPr>
              <a:t>Delegation token</a:t>
            </a:r>
            <a:r>
              <a:rPr sz="1250" b="0" i="0">
                <a:solidFill>
                  <a:srgbClr val="202020"/>
                </a:solidFill>
                <a:latin typeface="Calibri"/>
              </a:rPr>
              <a:t> — a time-limited access token (</a:t>
            </a:r>
            <a:r>
              <a:rPr sz="1200" b="0" i="0">
                <a:solidFill>
                  <a:srgbClr val="202020"/>
                </a:solidFill>
                <a:latin typeface="Consolas"/>
              </a:rPr>
              <a:t>SECRET_HDFS_DELEGATION_TOKEN</a:t>
            </a:r>
            <a:r>
              <a:rPr sz="1250" b="0" i="0">
                <a:solidFill>
                  <a:srgbClr val="202020"/>
                </a:solidFill>
                <a:latin typeface="Calibri"/>
              </a:rPr>
              <a:t>) obtained out-of-band (for example with </a:t>
            </a:r>
            <a:r>
              <a:rPr sz="1200" b="0" i="0">
                <a:solidFill>
                  <a:srgbClr val="202020"/>
                </a:solidFill>
                <a:latin typeface="Consolas"/>
              </a:rPr>
              <a:t>hdfs fetchdt</a:t>
            </a:r>
            <a:r>
              <a:rPr sz="1250" b="0" i="0">
                <a:solidFill>
                  <a:srgbClr val="202020"/>
                </a:solidFill>
                <a:latin typeface="Calibri"/>
              </a:rPr>
              <a:t>) and sent as </a:t>
            </a:r>
            <a:r>
              <a:rPr sz="1200" b="0" i="0">
                <a:solidFill>
                  <a:srgbClr val="202020"/>
                </a:solidFill>
                <a:latin typeface="Consolas"/>
              </a:rPr>
              <a:t>?delegation=</a:t>
            </a:r>
            <a:r>
              <a:rPr sz="1250" b="0" i="0">
                <a:solidFill>
                  <a:srgbClr val="202020"/>
                </a:solidFill>
                <a:latin typeface="Calibri"/>
              </a:rPr>
              <a:t> on each call. Its renewal is handled outside the connector.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716</a:t>
            </a:r>
          </a:p>
        </p:txBody>
      </p:sp>
    </p:spTree>
  </p:cSld>
  <p:clrMapOvr>
    <a:masterClrMapping/>
  </p:clrMapOvr>
</p:sld>
</file>

<file path=ppt/slides/slide7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4.2 How it authenticates to BDH</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The delegation token is a live credential. The connector is built so it </a:t>
            </a:r>
            <a:r>
              <a:rPr sz="1400" b="1" i="0">
                <a:solidFill>
                  <a:srgbClr val="202020"/>
                </a:solidFill>
                <a:latin typeface="Calibri"/>
              </a:rPr>
              <a:t>never reaches a log line</a:t>
            </a:r>
            <a:r>
              <a:rPr sz="1400" b="0" i="0">
                <a:solidFill>
                  <a:srgbClr val="202020"/>
                </a:solidFill>
                <a:latin typeface="Calibri"/>
              </a:rPr>
              <a:t> — WebHDFS log entries print the path only, never the query string that carries the token. Do not defeat this: if you run a proxy in front of WebHDFS, make sure it does not log full URLs, and never paste a URL containing </a:t>
            </a:r>
            <a:r>
              <a:rPr sz="1350" b="0" i="0">
                <a:solidFill>
                  <a:srgbClr val="202020"/>
                </a:solidFill>
                <a:latin typeface="Consolas"/>
              </a:rPr>
              <a:t>delegation=</a:t>
            </a:r>
            <a:r>
              <a:rPr sz="1400" b="0" i="0">
                <a:solidFill>
                  <a:srgbClr val="202020"/>
                </a:solidFill>
                <a:latin typeface="Calibri"/>
              </a:rPr>
              <a:t> into a ticket or chat. A scheduled SIEM "canary" search exists specifically to prove these logs stay clean (see </a:t>
            </a:r>
            <a:r>
              <a:rPr sz="1400" b="1" i="0">
                <a:solidFill>
                  <a:srgbClr val="202020"/>
                </a:solidFill>
                <a:latin typeface="Calibri"/>
              </a:rPr>
              <a:t>Section 12</a:t>
            </a:r>
            <a:r>
              <a:rPr sz="1400" b="0" i="0">
                <a:solidFill>
                  <a:srgbClr val="202020"/>
                </a:solidFill>
                <a:latin typeface="Calibri"/>
              </a:rPr>
              <a:t>); a single hit is a security incident.</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717</a:t>
            </a:r>
          </a:p>
        </p:txBody>
      </p:sp>
    </p:spTree>
  </p:cSld>
  <p:clrMapOvr>
    <a:masterClrMapping/>
  </p:clrMapOvr>
</p:sld>
</file>

<file path=ppt/slides/slide7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4.2 How it authenticates to BDH</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1" i="0">
                <a:solidFill>
                  <a:srgbClr val="202020"/>
                </a:solidFill>
                <a:latin typeface="Calibri"/>
              </a:rPr>
              <a:t>Kerberos / SPNEGO is out of scope for the connector itself.</a:t>
            </a:r>
            <a:r>
              <a:rPr sz="1250" b="0" i="0">
                <a:solidFill>
                  <a:srgbClr val="202020"/>
                </a:solidFill>
                <a:latin typeface="Calibri"/>
              </a:rPr>
              <a:t> SPNEGO is the Kerberos-over-HTTP scheme that many hardened clusters require. If BDH is kerberized, do not try to make the connector speak Kerberos — instead put an </a:t>
            </a:r>
            <a:r>
              <a:rPr sz="1250" b="1" i="0">
                <a:solidFill>
                  <a:srgbClr val="202020"/>
                </a:solidFill>
                <a:latin typeface="Calibri"/>
              </a:rPr>
              <a:t>Apache Knox</a:t>
            </a:r>
            <a:r>
              <a:rPr sz="1250" b="0" i="0">
                <a:solidFill>
                  <a:srgbClr val="202020"/>
                </a:solidFill>
                <a:latin typeface="Calibri"/>
              </a:rPr>
              <a:t> gateway in front of the cluster (Knox terminates the Kerberos handshake) and point </a:t>
            </a:r>
            <a:r>
              <a:rPr sz="1200" b="0" i="0">
                <a:solidFill>
                  <a:srgbClr val="202020"/>
                </a:solidFill>
                <a:latin typeface="Consolas"/>
              </a:rPr>
              <a:t>HDFS_NAMENODE_URL</a:t>
            </a:r>
            <a:r>
              <a:rPr sz="1250" b="0" i="0">
                <a:solidFill>
                  <a:srgbClr val="202020"/>
                </a:solidFill>
                <a:latin typeface="Calibri"/>
              </a:rPr>
              <a:t> at the Knox URL. To the connector, Knox looks like an ordinary WebHDFS endpoint over TLS.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718</a:t>
            </a:r>
          </a:p>
        </p:txBody>
      </p:sp>
    </p:spTree>
  </p:cSld>
  <p:clrMapOvr>
    <a:masterClrMapping/>
  </p:clrMapOvr>
</p:sld>
</file>

<file path=ppt/slides/slide7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4.3 TLS and the private CA</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Internal WebHDFS endpoints (namenodes, datanodes, or Knox) almost always present TLS certificates issued by a </a:t>
            </a:r>
            <a:r>
              <a:rPr sz="1250" b="1" i="0">
                <a:solidFill>
                  <a:srgbClr val="202020"/>
                </a:solidFill>
                <a:latin typeface="Calibri"/>
              </a:rPr>
              <a:t>private enterprise certificate authority (CA)</a:t>
            </a:r>
            <a:r>
              <a:rPr sz="1250" b="0" i="0">
                <a:solidFill>
                  <a:srgbClr val="202020"/>
                </a:solidFill>
                <a:latin typeface="Calibri"/>
              </a:rPr>
              <a:t> rather than a public one. The connector will not trust those by default. Put the private CA chain (and any intermediates) into a PEM file and point </a:t>
            </a:r>
            <a:r>
              <a:rPr sz="1200" b="0" i="0">
                <a:solidFill>
                  <a:srgbClr val="202020"/>
                </a:solidFill>
                <a:latin typeface="Consolas"/>
              </a:rPr>
              <a:t>CA_BUNDLE_PATH</a:t>
            </a:r>
            <a:r>
              <a:rPr sz="1250" b="0" i="0">
                <a:solidFill>
                  <a:srgbClr val="202020"/>
                </a:solidFill>
                <a:latin typeface="Calibri"/>
              </a:rPr>
              <a:t> at it. This trust is </a:t>
            </a:r>
            <a:r>
              <a:rPr sz="1250" b="1" i="0">
                <a:solidFill>
                  <a:srgbClr val="202020"/>
                </a:solidFill>
                <a:latin typeface="Calibri"/>
              </a:rPr>
              <a:t>additive</a:t>
            </a:r>
            <a:r>
              <a:rPr sz="1250" b="0" i="0">
                <a:solidFill>
                  <a:srgbClr val="202020"/>
                </a:solidFill>
                <a:latin typeface="Calibri"/>
              </a:rPr>
              <a:t> — public certificates keep working, and a hostname that does not match its certificate still fails. Datanode redirects must chain to the same CA, so include the whole issuing chain.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719</a:t>
            </a:r>
          </a:p>
        </p:txBody>
      </p:sp>
    </p:spTree>
  </p:cSld>
  <p:clrMapOvr>
    <a:masterClrMapping/>
  </p:clrMapOvr>
</p:sld>
</file>

<file path=ppt/slides/slide7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4.3 TLS and the private CA</a:t>
            </a:r>
          </a:p>
        </p:txBody>
      </p:sp>
      <p:sp>
        <p:nvSpPr>
          <p:cNvPr id="5" name="Rectangle 4"/>
          <p:cNvSpPr/>
          <p:nvPr/>
        </p:nvSpPr>
        <p:spPr>
          <a:xfrm>
            <a:off x="502920" y="1463040"/>
            <a:ext cx="11185855" cy="3291840"/>
          </a:xfrm>
          <a:prstGeom prst="rect">
            <a:avLst/>
          </a:prstGeom>
          <a:solidFill>
            <a:srgbClr val="E7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7D32"/>
                </a:solidFill>
                <a:latin typeface="Calibri"/>
              </a:rPr>
              <a:t>Tip:  </a:t>
            </a:r>
            <a:r>
              <a:rPr sz="1400" b="1" i="0">
                <a:solidFill>
                  <a:srgbClr val="202020"/>
                </a:solidFill>
                <a:latin typeface="Calibri"/>
              </a:rPr>
              <a:t>Tip: </a:t>
            </a:r>
            <a:r>
              <a:rPr sz="1400" b="0" i="0">
                <a:solidFill>
                  <a:srgbClr val="202020"/>
                </a:solidFill>
                <a:latin typeface="Calibri"/>
              </a:rPr>
              <a:t>Plain </a:t>
            </a:r>
            <a:r>
              <a:rPr sz="1350" b="0" i="0">
                <a:solidFill>
                  <a:srgbClr val="202020"/>
                </a:solidFill>
                <a:latin typeface="Consolas"/>
              </a:rPr>
              <a:t>http://</a:t>
            </a:r>
            <a:r>
              <a:rPr sz="1400" b="0" i="0">
                <a:solidFill>
                  <a:srgbClr val="202020"/>
                </a:solidFill>
                <a:latin typeface="Calibri"/>
              </a:rPr>
              <a:t> namenode URLs are accepted but give you no transport authentication — anyone on the path could impersonate the namenode. Prefer </a:t>
            </a:r>
            <a:r>
              <a:rPr sz="1350" b="0" i="0">
                <a:solidFill>
                  <a:srgbClr val="202020"/>
                </a:solidFill>
                <a:latin typeface="Consolas"/>
              </a:rPr>
              <a:t>https://</a:t>
            </a:r>
            <a:r>
              <a:rPr sz="1400" b="0" i="0">
                <a:solidFill>
                  <a:srgbClr val="202020"/>
                </a:solidFill>
                <a:latin typeface="Calibri"/>
              </a:rPr>
              <a:t> (or a Knox front) with </a:t>
            </a:r>
            <a:r>
              <a:rPr sz="1350" b="0" i="0">
                <a:solidFill>
                  <a:srgbClr val="202020"/>
                </a:solidFill>
                <a:latin typeface="Consolas"/>
              </a:rPr>
              <a:t>CA_BUNDLE_PATH</a:t>
            </a:r>
            <a:r>
              <a:rPr sz="1400" b="0" i="0">
                <a:solidFill>
                  <a:srgbClr val="202020"/>
                </a:solidFill>
                <a:latin typeface="Calibri"/>
              </a:rPr>
              <a:t> set.</a:t>
            </a:r>
          </a:p>
        </p:txBody>
      </p:sp>
      <p:sp>
        <p:nvSpPr>
          <p:cNvPr id="6" name="Rectangle 5"/>
          <p:cNvSpPr/>
          <p:nvPr/>
        </p:nvSpPr>
        <p:spPr>
          <a:xfrm>
            <a:off x="502920" y="1463040"/>
            <a:ext cx="128016" cy="32918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720</a:t>
            </a:r>
          </a:p>
        </p:txBody>
      </p:sp>
    </p:spTree>
  </p:cSld>
  <p:clrMapOvr>
    <a:masterClrMapping/>
  </p:clrMapOvr>
</p:sld>
</file>

<file path=ppt/slides/slide7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4.4 Network egress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If outbound traffic must go through a corporate proxy, set </a:t>
            </a:r>
            <a:r>
              <a:rPr sz="1200" b="0" i="0">
                <a:solidFill>
                  <a:srgbClr val="202020"/>
                </a:solidFill>
                <a:latin typeface="Consolas"/>
              </a:rPr>
              <a:t>PROXY_URL</a:t>
            </a:r>
            <a:r>
              <a:rPr sz="1250" b="0" i="0">
                <a:solidFill>
                  <a:srgbClr val="202020"/>
                </a:solidFill>
                <a:latin typeface="Calibri"/>
              </a:rPr>
              <a:t>. The typical shape at a bank is: Microsoft Graph and the token endpoint go </a:t>
            </a:r>
            <a:r>
              <a:rPr sz="1250" b="1" i="0">
                <a:solidFill>
                  <a:srgbClr val="202020"/>
                </a:solidFill>
                <a:latin typeface="Calibri"/>
              </a:rPr>
              <a:t>via the proxy</a:t>
            </a:r>
            <a:r>
              <a:rPr sz="1250" b="0" i="0">
                <a:solidFill>
                  <a:srgbClr val="202020"/>
                </a:solidFill>
                <a:latin typeface="Calibri"/>
              </a:rPr>
              <a:t>, while the on-premises BDH cluster is reached </a:t>
            </a:r>
            <a:r>
              <a:rPr sz="1250" b="1" i="0">
                <a:solidFill>
                  <a:srgbClr val="202020"/>
                </a:solidFill>
                <a:latin typeface="Calibri"/>
              </a:rPr>
              <a:t>directly</a:t>
            </a:r>
            <a:r>
              <a:rPr sz="1250" b="0" i="0">
                <a:solidFill>
                  <a:srgbClr val="202020"/>
                </a:solidFill>
                <a:latin typeface="Calibri"/>
              </a:rPr>
              <a:t>. List the cluster hosts in </a:t>
            </a:r>
            <a:r>
              <a:rPr sz="1200" b="0" i="0">
                <a:solidFill>
                  <a:srgbClr val="202020"/>
                </a:solidFill>
                <a:latin typeface="Consolas"/>
              </a:rPr>
              <a:t>PROXY_BYPASS</a:t>
            </a:r>
            <a:r>
              <a:rPr sz="1250" b="0" i="0">
                <a:solidFill>
                  <a:srgbClr val="202020"/>
                </a:solidFill>
                <a:latin typeface="Calibri"/>
              </a:rPr>
              <a:t> (wildcards allowed, for example </a:t>
            </a:r>
            <a:r>
              <a:rPr sz="1200" b="0" i="0">
                <a:solidFill>
                  <a:srgbClr val="202020"/>
                </a:solidFill>
                <a:latin typeface="Consolas"/>
              </a:rPr>
              <a:t>*.hadoop.corp.local;namenode1;10.*</a:t>
            </a:r>
            <a:r>
              <a:rPr sz="1250" b="0" i="0">
                <a:solidFill>
                  <a:srgbClr val="202020"/>
                </a:solidFill>
                <a:latin typeface="Calibri"/>
              </a:rPr>
              <a:t>). Both </a:t>
            </a:r>
            <a:r>
              <a:rPr sz="1200" b="0" i="0">
                <a:solidFill>
                  <a:srgbClr val="202020"/>
                </a:solidFill>
                <a:latin typeface="Consolas"/>
              </a:rPr>
              <a:t>PROXY_URL</a:t>
            </a:r>
            <a:r>
              <a:rPr sz="1250" b="0" i="0">
                <a:solidFill>
                  <a:srgbClr val="202020"/>
                </a:solidFill>
                <a:latin typeface="Calibri"/>
              </a:rPr>
              <a:t> and </a:t>
            </a:r>
            <a:r>
              <a:rPr sz="1200" b="0" i="0">
                <a:solidFill>
                  <a:srgbClr val="202020"/>
                </a:solidFill>
                <a:latin typeface="Consolas"/>
              </a:rPr>
              <a:t>CA_BUNDLE_PATH</a:t>
            </a:r>
            <a:r>
              <a:rPr sz="1250" b="0" i="0">
                <a:solidFill>
                  <a:srgbClr val="202020"/>
                </a:solidFill>
                <a:latin typeface="Calibri"/>
              </a:rPr>
              <a:t> are checked at startup and fail fast, naming the setting, if they are wrong.</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721</a:t>
            </a:r>
          </a:p>
        </p:txBody>
      </p:sp>
    </p:spTree>
  </p:cSld>
  <p:clrMapOvr>
    <a:masterClrMapping/>
  </p:clrMapOvr>
</p:sld>
</file>

<file path=ppt/slides/slide7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4.5 The partition layout the connector expects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BDH lays every object out in </a:t>
            </a:r>
            <a:r>
              <a:rPr sz="1250" b="1" i="0">
                <a:solidFill>
                  <a:srgbClr val="202020"/>
                </a:solidFill>
                <a:latin typeface="Calibri"/>
              </a:rPr>
              <a:t>Hive partitions</a:t>
            </a:r>
            <a:r>
              <a:rPr sz="1250" b="0" i="0">
                <a:solidFill>
                  <a:srgbClr val="202020"/>
                </a:solidFill>
                <a:latin typeface="Calibri"/>
              </a:rPr>
              <a:t> — directories named </a:t>
            </a:r>
            <a:r>
              <a:rPr sz="1200" b="0" i="0">
                <a:solidFill>
                  <a:srgbClr val="202020"/>
                </a:solidFill>
                <a:latin typeface="Consolas"/>
              </a:rPr>
              <a:t>key=value</a:t>
            </a:r>
            <a:r>
              <a:rPr sz="1250" b="0" i="0">
                <a:solidFill>
                  <a:srgbClr val="202020"/>
                </a:solidFill>
                <a:latin typeface="Calibri"/>
              </a:rPr>
              <a:t> that both organise the data and let the connector skip whole chunks of it. Under the data-mart root (</a:t>
            </a:r>
            <a:r>
              <a:rPr sz="1200" b="0" i="0">
                <a:solidFill>
                  <a:srgbClr val="202020"/>
                </a:solidFill>
                <a:latin typeface="Consolas"/>
              </a:rPr>
              <a:t>BDH_ROOT_PATH</a:t>
            </a:r>
            <a:r>
              <a:rPr sz="1250" b="0" i="0">
                <a:solidFill>
                  <a:srgbClr val="202020"/>
                </a:solidFill>
                <a:latin typeface="Calibri"/>
              </a:rPr>
              <a:t>, default </a:t>
            </a:r>
            <a:r>
              <a:rPr sz="1200" b="0" i="0">
                <a:solidFill>
                  <a:srgbClr val="202020"/>
                </a:solidFill>
                <a:latin typeface="Consolas"/>
              </a:rPr>
              <a:t>/data/bdh</a:t>
            </a:r>
            <a:r>
              <a:rPr sz="1250" b="0" i="0">
                <a:solidFill>
                  <a:srgbClr val="202020"/>
                </a:solidFill>
                <a:latin typeface="Calibri"/>
              </a:rPr>
              <a:t>) the connector expects, for each object:</a:t>
            </a:r>
          </a:p>
          <a:p>
            <a:pPr>
              <a:spcBef>
                <a:spcPts val="100"/>
              </a:spcBef>
              <a:spcAft>
                <a:spcPts val="400"/>
              </a:spcAft>
            </a:pPr>
            <a:r>
              <a:rPr sz="1200" b="0" i="0">
                <a:solidFill>
                  <a:srgbClr val="202020"/>
                </a:solidFill>
                <a:latin typeface="Consolas"/>
              </a:rPr>
              <a:t>{BDH_ROOT_PATH}/{object}/dt=YYYY-MM-DD/part-00000.csv</a:t>
            </a:r>
          </a:p>
          <a:p>
            <a:pPr>
              <a:spcBef>
                <a:spcPts val="100"/>
              </a:spcBef>
              <a:spcAft>
                <a:spcPts val="400"/>
              </a:spcAft>
            </a:pPr>
            <a:r>
              <a:rPr sz="1200" b="0" i="0">
                <a:solidFill>
                  <a:srgbClr val="202020"/>
                </a:solidFill>
                <a:latin typeface="Consolas"/>
              </a:rPr>
              <a:t>{BDH_ROOT_PATH}/{object}/region=EMEA/dt=YYYY-MM-DD/part-*.jsonl</a:t>
            </a:r>
          </a:p>
          <a:p>
            <a:pPr>
              <a:spcBef>
                <a:spcPts val="100"/>
              </a:spcBef>
              <a:spcAft>
                <a:spcPts val="200"/>
              </a:spcAft>
            </a:pPr>
            <a:r>
              <a:rPr sz="1250" b="1" i="0">
                <a:solidFill>
                  <a:srgbClr val="2E5496"/>
                </a:solidFill>
                <a:latin typeface="Calibri"/>
              </a:rPr>
              <a:t>•  </a:t>
            </a:r>
            <a:r>
              <a:rPr sz="1200" b="1" i="0">
                <a:solidFill>
                  <a:srgbClr val="202020"/>
                </a:solidFill>
                <a:latin typeface="Consolas"/>
              </a:rPr>
              <a:t>dt=</a:t>
            </a:r>
            <a:r>
              <a:rPr sz="1250" b="0" i="0">
                <a:solidFill>
                  <a:srgbClr val="202020"/>
                </a:solidFill>
                <a:latin typeface="Calibri"/>
              </a:rPr>
              <a:t> is the load-date partition (</a:t>
            </a:r>
            <a:r>
              <a:rPr sz="1200" b="0" i="0">
                <a:solidFill>
                  <a:srgbClr val="202020"/>
                </a:solidFill>
                <a:latin typeface="Consolas"/>
              </a:rPr>
              <a:t>YYYY-MM-DD</a:t>
            </a:r>
            <a:r>
              <a:rPr sz="1250" b="0" i="0">
                <a:solidFill>
                  <a:srgbClr val="202020"/>
                </a:solidFill>
                <a:latin typeface="Calibri"/>
              </a:rPr>
              <a:t>). It exists in every layout and is the single most important key — it is what lets the connector read only recent data.</a:t>
            </a:r>
          </a:p>
          <a:p>
            <a:pPr>
              <a:spcBef>
                <a:spcPts val="100"/>
              </a:spcBef>
              <a:spcAft>
                <a:spcPts val="200"/>
              </a:spcAft>
            </a:pPr>
            <a:r>
              <a:rPr sz="1250" b="1" i="0">
                <a:solidFill>
                  <a:srgbClr val="2E5496"/>
                </a:solidFill>
                <a:latin typeface="Calibri"/>
              </a:rPr>
              <a:t>•  </a:t>
            </a:r>
            <a:r>
              <a:rPr sz="1200" b="1" i="0">
                <a:solidFill>
                  <a:srgbClr val="202020"/>
                </a:solidFill>
                <a:latin typeface="Consolas"/>
              </a:rPr>
              <a:t>region=</a:t>
            </a:r>
            <a:r>
              <a:rPr sz="1250" b="0" i="0">
                <a:solidFill>
                  <a:srgbClr val="202020"/>
                </a:solidFill>
                <a:latin typeface="Calibri"/>
              </a:rPr>
              <a:t> (and any other </a:t>
            </a:r>
            <a:r>
              <a:rPr sz="1200" b="0" i="0">
                <a:solidFill>
                  <a:srgbClr val="202020"/>
                </a:solidFill>
                <a:latin typeface="Consolas"/>
              </a:rPr>
              <a:t>key=value</a:t>
            </a:r>
            <a:r>
              <a:rPr sz="1250" b="0" i="0">
                <a:solidFill>
                  <a:srgbClr val="202020"/>
                </a:solidFill>
                <a:latin typeface="Calibri"/>
              </a:rPr>
              <a:t> folders) are extra partitions; they may appear at any level and in any order.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722</a:t>
            </a:r>
          </a:p>
        </p:txBody>
      </p:sp>
    </p:spTree>
  </p:cSld>
  <p:clrMapOvr>
    <a:masterClrMapping/>
  </p:clrMapOvr>
</p:sld>
</file>

<file path=ppt/slides/slide7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4.5 The partition layout the connector expects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0" i="0">
                <a:solidFill>
                  <a:srgbClr val="202020"/>
                </a:solidFill>
                <a:latin typeface="Calibri"/>
              </a:rPr>
              <a:t>Files are CSV (with a header row), JSONL, or small </a:t>
            </a:r>
            <a:r>
              <a:rPr sz="1200" b="0" i="0">
                <a:solidFill>
                  <a:srgbClr val="202020"/>
                </a:solidFill>
                <a:latin typeface="Consolas"/>
              </a:rPr>
              <a:t>.json</a:t>
            </a:r>
            <a:r>
              <a:rPr sz="1250" b="0" i="0">
                <a:solidFill>
                  <a:srgbClr val="202020"/>
                </a:solidFill>
                <a:latin typeface="Calibri"/>
              </a:rPr>
              <a:t> arrays. Helper files like </a:t>
            </a:r>
            <a:r>
              <a:rPr sz="1200" b="0" i="0">
                <a:solidFill>
                  <a:srgbClr val="202020"/>
                </a:solidFill>
                <a:latin typeface="Consolas"/>
              </a:rPr>
              <a:t>_SUCCESS</a:t>
            </a:r>
            <a:r>
              <a:rPr sz="1250" b="0" i="0">
                <a:solidFill>
                  <a:srgbClr val="202020"/>
                </a:solidFill>
                <a:latin typeface="Calibri"/>
              </a:rPr>
              <a:t>, dotfiles and </a:t>
            </a:r>
            <a:r>
              <a:rPr sz="1200" b="0" i="0">
                <a:solidFill>
                  <a:srgbClr val="202020"/>
                </a:solidFill>
                <a:latin typeface="Consolas"/>
              </a:rPr>
              <a:t>.tmp</a:t>
            </a:r>
            <a:r>
              <a:rPr sz="1250" b="0" i="0">
                <a:solidFill>
                  <a:srgbClr val="202020"/>
                </a:solidFill>
                <a:latin typeface="Calibri"/>
              </a:rPr>
              <a:t> files are ignored. Each file read is size-bounded (</a:t>
            </a:r>
            <a:r>
              <a:rPr sz="1200" b="0" i="0">
                <a:solidFill>
                  <a:srgbClr val="202020"/>
                </a:solidFill>
                <a:latin typeface="Consolas"/>
              </a:rPr>
              <a:t>BDH_MAX_FILE_BYTES</a:t>
            </a:r>
            <a:r>
              <a:rPr sz="1250" b="0" i="0">
                <a:solidFill>
                  <a:srgbClr val="202020"/>
                </a:solidFill>
                <a:latin typeface="Calibri"/>
              </a:rPr>
              <a:t>, default 1 GiB) and parsed as a stream so it never has to fit in memory.</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723</a:t>
            </a:r>
          </a:p>
        </p:txBody>
      </p:sp>
    </p:spTree>
  </p:cSld>
  <p:clrMapOvr>
    <a:masterClrMapping/>
  </p:clrMapOvr>
</p:sld>
</file>

<file path=ppt/slides/slide7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4.6 Connection settings</a:t>
            </a:r>
          </a:p>
        </p:txBody>
      </p:sp>
      <p:graphicFrame>
        <p:nvGraphicFramePr>
          <p:cNvPr id="5" name="Table 4"/>
          <p:cNvGraphicFramePr>
            <a:graphicFrameLocks noGrp="1"/>
          </p:cNvGraphicFramePr>
          <p:nvPr/>
        </p:nvGraphicFramePr>
        <p:xfrm>
          <a:off x="502920" y="1188720"/>
          <a:ext cx="11185855" cy="3456432"/>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Setting</a:t>
                      </a:r>
                    </a:p>
                  </a:txBody>
                  <a:tcPr marT="25400" marB="25400">
                    <a:solidFill>
                      <a:srgbClr val="2E5496"/>
                    </a:solidFill>
                  </a:tcPr>
                </a:tc>
                <a:tc>
                  <a:txBody>
                    <a:bodyPr wrap="square"/>
                    <a:lstStyle/>
                    <a:p>
                      <a:r>
                        <a:rPr sz="1050" b="1" i="0">
                          <a:solidFill>
                            <a:srgbClr val="FFFFFF"/>
                          </a:solidFill>
                          <a:latin typeface="Calibri"/>
                        </a:rPr>
                        <a:t>What it is / example</a:t>
                      </a:r>
                    </a:p>
                  </a:txBody>
                  <a:tcPr marT="25400" marB="25400">
                    <a:solidFill>
                      <a:srgbClr val="2E5496"/>
                    </a:solidFill>
                  </a:tcPr>
                </a:tc>
                <a:tc>
                  <a:txBody>
                    <a:bodyPr wrap="square"/>
                    <a:lstStyle/>
                    <a:p>
                      <a:r>
                        <a:rPr sz="1050" b="1" i="0">
                          <a:solidFill>
                            <a:srgbClr val="FFFFFF"/>
                          </a:solidFill>
                          <a:latin typeface="Calibri"/>
                        </a:rPr>
                        <a:t>Provided by</a:t>
                      </a:r>
                    </a:p>
                  </a:txBody>
                  <a:tcPr marT="25400" marB="25400">
                    <a:solidFill>
                      <a:srgbClr val="2E5496"/>
                    </a:solidFill>
                  </a:tcPr>
                </a:tc>
              </a:tr>
              <a:tr h="384048">
                <a:tc>
                  <a:txBody>
                    <a:bodyPr wrap="square"/>
                    <a:lstStyle/>
                    <a:p>
                      <a:r>
                        <a:rPr sz="950" b="0" i="0">
                          <a:solidFill>
                            <a:srgbClr val="202020"/>
                          </a:solidFill>
                          <a:latin typeface="Consolas"/>
                        </a:rPr>
                        <a:t>HDFS_MODE</a:t>
                      </a:r>
                    </a:p>
                  </a:txBody>
                  <a:tcPr marT="12700" marB="12700">
                    <a:solidFill>
                      <a:srgbClr val="FFFFFF"/>
                    </a:solidFill>
                  </a:tcPr>
                </a:tc>
                <a:tc>
                  <a:txBody>
                    <a:bodyPr wrap="square"/>
                    <a:lstStyle/>
                    <a:p>
                      <a:r>
                        <a:rPr sz="950" b="0" i="0">
                          <a:solidFill>
                            <a:srgbClr val="202020"/>
                          </a:solidFill>
                          <a:latin typeface="Calibri"/>
                        </a:rPr>
                        <a:t>webhdfs or localpath</a:t>
                      </a:r>
                    </a:p>
                  </a:txBody>
                  <a:tcPr marT="12700" marB="12700">
                    <a:solidFill>
                      <a:srgbClr val="FFFFFF"/>
                    </a:solidFill>
                  </a:tcPr>
                </a:tc>
                <a:tc>
                  <a:txBody>
                    <a:bodyPr wrap="square"/>
                    <a:lstStyle/>
                    <a:p>
                      <a:r>
                        <a:rPr sz="950" b="0" i="0">
                          <a:solidFill>
                            <a:srgbClr val="202020"/>
                          </a:solidFill>
                          <a:latin typeface="Calibri"/>
                        </a:rPr>
                        <a:t>You / platform team</a:t>
                      </a:r>
                    </a:p>
                  </a:txBody>
                  <a:tcPr marT="12700" marB="12700">
                    <a:solidFill>
                      <a:srgbClr val="FFFFFF"/>
                    </a:solidFill>
                  </a:tcPr>
                </a:tc>
              </a:tr>
              <a:tr h="384048">
                <a:tc>
                  <a:txBody>
                    <a:bodyPr wrap="square"/>
                    <a:lstStyle/>
                    <a:p>
                      <a:r>
                        <a:rPr sz="950" b="0" i="0">
                          <a:solidFill>
                            <a:srgbClr val="202020"/>
                          </a:solidFill>
                          <a:latin typeface="Consolas"/>
                        </a:rPr>
                        <a:t>HDFS_NAMENODE_URL</a:t>
                      </a:r>
                    </a:p>
                  </a:txBody>
                  <a:tcPr marT="12700" marB="12700">
                    <a:solidFill>
                      <a:srgbClr val="F7F9FC"/>
                    </a:solidFill>
                  </a:tcPr>
                </a:tc>
                <a:tc>
                  <a:txBody>
                    <a:bodyPr wrap="square"/>
                    <a:lstStyle/>
                    <a:p>
                      <a:r>
                        <a:rPr sz="950" b="0" i="0">
                          <a:solidFill>
                            <a:srgbClr val="202020"/>
                          </a:solidFill>
                          <a:latin typeface="Calibri"/>
                        </a:rPr>
                        <a:t>WebHDFS endpoint incl. the /webhdfs/v1 prefix, e.g. https://knox.corp:8443/webhdfs/v1 (or a Knox URL)</a:t>
                      </a:r>
                    </a:p>
                  </a:txBody>
                  <a:tcPr marT="12700" marB="12700">
                    <a:solidFill>
                      <a:srgbClr val="F7F9FC"/>
                    </a:solidFill>
                  </a:tcPr>
                </a:tc>
                <a:tc>
                  <a:txBody>
                    <a:bodyPr wrap="square"/>
                    <a:lstStyle/>
                    <a:p>
                      <a:r>
                        <a:rPr sz="950" b="0" i="0">
                          <a:solidFill>
                            <a:srgbClr val="202020"/>
                          </a:solidFill>
                          <a:latin typeface="Calibri"/>
                        </a:rPr>
                        <a:t>Hadoop/BDH platform team</a:t>
                      </a:r>
                    </a:p>
                  </a:txBody>
                  <a:tcPr marT="12700" marB="12700">
                    <a:solidFill>
                      <a:srgbClr val="F7F9FC"/>
                    </a:solidFill>
                  </a:tcPr>
                </a:tc>
              </a:tr>
              <a:tr h="384048">
                <a:tc>
                  <a:txBody>
                    <a:bodyPr wrap="square"/>
                    <a:lstStyle/>
                    <a:p>
                      <a:r>
                        <a:rPr sz="950" b="0" i="0">
                          <a:solidFill>
                            <a:srgbClr val="202020"/>
                          </a:solidFill>
                          <a:latin typeface="Consolas"/>
                        </a:rPr>
                        <a:t>HDFS_USER</a:t>
                      </a:r>
                    </a:p>
                  </a:txBody>
                  <a:tcPr marT="12700" marB="12700">
                    <a:solidFill>
                      <a:srgbClr val="FFFFFF"/>
                    </a:solidFill>
                  </a:tcPr>
                </a:tc>
                <a:tc>
                  <a:txBody>
                    <a:bodyPr wrap="square"/>
                    <a:lstStyle/>
                    <a:p>
                      <a:r>
                        <a:rPr sz="950" b="0" i="0">
                          <a:solidFill>
                            <a:srgbClr val="202020"/>
                          </a:solidFill>
                          <a:latin typeface="Calibri"/>
                        </a:rPr>
                        <a:t>Simple-auth read-only principal, e.g. svc-bdh-reader</a:t>
                      </a:r>
                    </a:p>
                  </a:txBody>
                  <a:tcPr marT="12700" marB="12700">
                    <a:solidFill>
                      <a:srgbClr val="FFFFFF"/>
                    </a:solidFill>
                  </a:tcPr>
                </a:tc>
                <a:tc>
                  <a:txBody>
                    <a:bodyPr wrap="square"/>
                    <a:lstStyle/>
                    <a:p>
                      <a:r>
                        <a:rPr sz="950" b="0" i="0">
                          <a:solidFill>
                            <a:srgbClr val="202020"/>
                          </a:solidFill>
                          <a:latin typeface="Calibri"/>
                        </a:rPr>
                        <a:t>Hadoop/BDH platform team</a:t>
                      </a:r>
                    </a:p>
                  </a:txBody>
                  <a:tcPr marT="12700" marB="12700">
                    <a:solidFill>
                      <a:srgbClr val="FFFFFF"/>
                    </a:solidFill>
                  </a:tcPr>
                </a:tc>
              </a:tr>
              <a:tr h="384048">
                <a:tc>
                  <a:txBody>
                    <a:bodyPr wrap="square"/>
                    <a:lstStyle/>
                    <a:p>
                      <a:r>
                        <a:rPr sz="950" b="0" i="0">
                          <a:solidFill>
                            <a:srgbClr val="202020"/>
                          </a:solidFill>
                          <a:latin typeface="Consolas"/>
                        </a:rPr>
                        <a:t>SECRET_HDFS_DELEGATION_TOKEN</a:t>
                      </a:r>
                    </a:p>
                  </a:txBody>
                  <a:tcPr marT="12700" marB="12700">
                    <a:solidFill>
                      <a:srgbClr val="F7F9FC"/>
                    </a:solidFill>
                  </a:tcPr>
                </a:tc>
                <a:tc>
                  <a:txBody>
                    <a:bodyPr wrap="square"/>
                    <a:lstStyle/>
                    <a:p>
                      <a:r>
                        <a:rPr sz="950" b="0" i="0">
                          <a:solidFill>
                            <a:srgbClr val="202020"/>
                          </a:solidFill>
                          <a:latin typeface="Calibri"/>
                        </a:rPr>
                        <a:t>Delegation token (secret; optional)</a:t>
                      </a:r>
                    </a:p>
                  </a:txBody>
                  <a:tcPr marT="12700" marB="12700">
                    <a:solidFill>
                      <a:srgbClr val="F7F9FC"/>
                    </a:solidFill>
                  </a:tcPr>
                </a:tc>
                <a:tc>
                  <a:txBody>
                    <a:bodyPr wrap="square"/>
                    <a:lstStyle/>
                    <a:p>
                      <a:r>
                        <a:rPr sz="950" b="0" i="0">
                          <a:solidFill>
                            <a:srgbClr val="202020"/>
                          </a:solidFill>
                          <a:latin typeface="Calibri"/>
                        </a:rPr>
                        <a:t>Hadoop/BDH platform team</a:t>
                      </a:r>
                    </a:p>
                  </a:txBody>
                  <a:tcPr marT="12700" marB="12700">
                    <a:solidFill>
                      <a:srgbClr val="F7F9FC"/>
                    </a:solidFill>
                  </a:tcPr>
                </a:tc>
              </a:tr>
              <a:tr h="384048">
                <a:tc>
                  <a:txBody>
                    <a:bodyPr wrap="square"/>
                    <a:lstStyle/>
                    <a:p>
                      <a:r>
                        <a:rPr sz="950" b="0" i="0">
                          <a:solidFill>
                            <a:srgbClr val="202020"/>
                          </a:solidFill>
                          <a:latin typeface="Consolas"/>
                        </a:rPr>
                        <a:t>BDH_ROOT_PATH</a:t>
                      </a:r>
                    </a:p>
                  </a:txBody>
                  <a:tcPr marT="12700" marB="12700">
                    <a:solidFill>
                      <a:srgbClr val="FFFFFF"/>
                    </a:solidFill>
                  </a:tcPr>
                </a:tc>
                <a:tc>
                  <a:txBody>
                    <a:bodyPr wrap="square"/>
                    <a:lstStyle/>
                    <a:p>
                      <a:r>
                        <a:rPr sz="950" b="0" i="0">
                          <a:solidFill>
                            <a:srgbClr val="202020"/>
                          </a:solidFill>
                          <a:latin typeface="Calibri"/>
                        </a:rPr>
                        <a:t>Data-mart root, e.g. /data/bdh</a:t>
                      </a:r>
                    </a:p>
                  </a:txBody>
                  <a:tcPr marT="12700" marB="12700">
                    <a:solidFill>
                      <a:srgbClr val="FFFFFF"/>
                    </a:solidFill>
                  </a:tcPr>
                </a:tc>
                <a:tc>
                  <a:txBody>
                    <a:bodyPr wrap="square"/>
                    <a:lstStyle/>
                    <a:p>
                      <a:r>
                        <a:rPr sz="950" b="0" i="0">
                          <a:solidFill>
                            <a:srgbClr val="202020"/>
                          </a:solidFill>
                          <a:latin typeface="Calibri"/>
                        </a:rPr>
                        <a:t>Hadoop/BDH platform team</a:t>
                      </a:r>
                    </a:p>
                  </a:txBody>
                  <a:tcPr marT="12700" marB="12700">
                    <a:solidFill>
                      <a:srgbClr val="FFFFFF"/>
                    </a:solidFill>
                  </a:tcPr>
                </a:tc>
              </a:tr>
              <a:tr h="384048">
                <a:tc>
                  <a:txBody>
                    <a:bodyPr wrap="square"/>
                    <a:lstStyle/>
                    <a:p>
                      <a:r>
                        <a:rPr sz="950" b="0" i="0">
                          <a:solidFill>
                            <a:srgbClr val="202020"/>
                          </a:solidFill>
                          <a:latin typeface="Consolas"/>
                        </a:rPr>
                        <a:t>BDH_EXPORT_PATH</a:t>
                      </a:r>
                    </a:p>
                  </a:txBody>
                  <a:tcPr marT="12700" marB="12700">
                    <a:solidFill>
                      <a:srgbClr val="F7F9FC"/>
                    </a:solidFill>
                  </a:tcPr>
                </a:tc>
                <a:tc>
                  <a:txBody>
                    <a:bodyPr wrap="square"/>
                    <a:lstStyle/>
                    <a:p>
                      <a:r>
                        <a:rPr sz="950" b="0" i="0">
                          <a:solidFill>
                            <a:srgbClr val="202020"/>
                          </a:solidFill>
                          <a:latin typeface="Calibri"/>
                        </a:rPr>
                        <a:t>Mounted export dir (localpath mode only), e.g. /mnt/bdh-export</a:t>
                      </a:r>
                    </a:p>
                  </a:txBody>
                  <a:tcPr marT="12700" marB="12700">
                    <a:solidFill>
                      <a:srgbClr val="F7F9FC"/>
                    </a:solidFill>
                  </a:tcPr>
                </a:tc>
                <a:tc>
                  <a:txBody>
                    <a:bodyPr wrap="square"/>
                    <a:lstStyle/>
                    <a:p>
                      <a:r>
                        <a:rPr sz="950" b="0" i="0">
                          <a:solidFill>
                            <a:srgbClr val="202020"/>
                          </a:solidFill>
                          <a:latin typeface="Calibri"/>
                        </a:rPr>
                        <a:t>Hadoop/BDH platform + storage</a:t>
                      </a:r>
                    </a:p>
                  </a:txBody>
                  <a:tcPr marT="12700" marB="12700">
                    <a:solidFill>
                      <a:srgbClr val="F7F9FC"/>
                    </a:solidFill>
                  </a:tcPr>
                </a:tc>
              </a:tr>
              <a:tr h="384048">
                <a:tc>
                  <a:txBody>
                    <a:bodyPr wrap="square"/>
                    <a:lstStyle/>
                    <a:p>
                      <a:r>
                        <a:rPr sz="950" b="0" i="0">
                          <a:solidFill>
                            <a:srgbClr val="202020"/>
                          </a:solidFill>
                          <a:latin typeface="Consolas"/>
                        </a:rPr>
                        <a:t>CA_BUNDLE_PATH</a:t>
                      </a:r>
                    </a:p>
                  </a:txBody>
                  <a:tcPr marT="12700" marB="12700">
                    <a:solidFill>
                      <a:srgbClr val="FFFFFF"/>
                    </a:solidFill>
                  </a:tcPr>
                </a:tc>
                <a:tc>
                  <a:txBody>
                    <a:bodyPr wrap="square"/>
                    <a:lstStyle/>
                    <a:p>
                      <a:r>
                        <a:rPr sz="950" b="0" i="0">
                          <a:solidFill>
                            <a:srgbClr val="202020"/>
                          </a:solidFill>
                          <a:latin typeface="Calibri"/>
                        </a:rPr>
                        <a:t>PEM bundle of the private CA chain</a:t>
                      </a:r>
                    </a:p>
                  </a:txBody>
                  <a:tcPr marT="12700" marB="12700">
                    <a:solidFill>
                      <a:srgbClr val="FFFFFF"/>
                    </a:solidFill>
                  </a:tcPr>
                </a:tc>
                <a:tc>
                  <a:txBody>
                    <a:bodyPr wrap="square"/>
                    <a:lstStyle/>
                    <a:p>
                      <a:r>
                        <a:rPr sz="950" b="0" i="0">
                          <a:solidFill>
                            <a:srgbClr val="202020"/>
                          </a:solidFill>
                          <a:latin typeface="Calibri"/>
                        </a:rPr>
                        <a:t>Network/PKI team</a:t>
                      </a:r>
                    </a:p>
                  </a:txBody>
                  <a:tcPr marT="12700" marB="12700">
                    <a:solidFill>
                      <a:srgbClr val="FFFFFF"/>
                    </a:solidFill>
                  </a:tcPr>
                </a:tc>
              </a:tr>
              <a:tr h="384048">
                <a:tc>
                  <a:txBody>
                    <a:bodyPr wrap="square"/>
                    <a:lstStyle/>
                    <a:p>
                      <a:r>
                        <a:rPr sz="950" b="0" i="0">
                          <a:solidFill>
                            <a:srgbClr val="202020"/>
                          </a:solidFill>
                          <a:latin typeface="Consolas"/>
                        </a:rPr>
                        <a:t>PROXY_URL / PROXY_BYPASS</a:t>
                      </a:r>
                    </a:p>
                  </a:txBody>
                  <a:tcPr marT="12700" marB="12700">
                    <a:solidFill>
                      <a:srgbClr val="F7F9FC"/>
                    </a:solidFill>
                  </a:tcPr>
                </a:tc>
                <a:tc>
                  <a:txBody>
                    <a:bodyPr wrap="square"/>
                    <a:lstStyle/>
                    <a:p>
                      <a:r>
                        <a:rPr sz="950" b="0" i="0">
                          <a:solidFill>
                            <a:srgbClr val="202020"/>
                          </a:solidFill>
                          <a:latin typeface="Calibri"/>
                        </a:rPr>
                        <a:t>Corporate proxy + bypass list</a:t>
                      </a:r>
                    </a:p>
                  </a:txBody>
                  <a:tcPr marT="12700" marB="12700">
                    <a:solidFill>
                      <a:srgbClr val="F7F9FC"/>
                    </a:solidFill>
                  </a:tcPr>
                </a:tc>
                <a:tc>
                  <a:txBody>
                    <a:bodyPr wrap="square"/>
                    <a:lstStyle/>
                    <a:p>
                      <a:r>
                        <a:rPr sz="950" b="0" i="0">
                          <a:solidFill>
                            <a:srgbClr val="202020"/>
                          </a:solidFill>
                          <a:latin typeface="Calibri"/>
                        </a:rPr>
                        <a:t>Network/firewall team</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724</a:t>
            </a:r>
          </a:p>
        </p:txBody>
      </p:sp>
    </p:spTree>
  </p:cSld>
  <p:clrMapOvr>
    <a:masterClrMapping/>
  </p:clrMapOvr>
</p:sld>
</file>

<file path=ppt/slides/slide7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4.6 Connection settings</a:t>
            </a:r>
          </a:p>
        </p:txBody>
      </p:sp>
      <p:sp>
        <p:nvSpPr>
          <p:cNvPr id="5" name="Rectangle 4"/>
          <p:cNvSpPr/>
          <p:nvPr/>
        </p:nvSpPr>
        <p:spPr>
          <a:xfrm>
            <a:off x="502920" y="1463040"/>
            <a:ext cx="11185855" cy="3291840"/>
          </a:xfrm>
          <a:prstGeom prst="rect">
            <a:avLst/>
          </a:prstGeom>
          <a:solidFill>
            <a:srgbClr val="F0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6A3D9A"/>
                </a:solidFill>
                <a:latin typeface="Calibri"/>
              </a:rPr>
              <a:t>Information to request:  </a:t>
            </a:r>
            <a:r>
              <a:rPr sz="1400" b="1" i="0">
                <a:solidFill>
                  <a:srgbClr val="202020"/>
                </a:solidFill>
                <a:latin typeface="Calibri"/>
              </a:rPr>
              <a:t>Information to request: </a:t>
            </a:r>
            <a:r>
              <a:rPr sz="1400" b="0" i="0">
                <a:solidFill>
                  <a:srgbClr val="202020"/>
                </a:solidFill>
                <a:latin typeface="Calibri"/>
              </a:rPr>
              <a:t>Before you configure Section 4, get these from the </a:t>
            </a:r>
            <a:r>
              <a:rPr sz="1400" b="1" i="0">
                <a:solidFill>
                  <a:srgbClr val="202020"/>
                </a:solidFill>
                <a:latin typeface="Calibri"/>
              </a:rPr>
              <a:t>Hadoop/BDH platform team</a:t>
            </a:r>
            <a:r>
              <a:rPr sz="1400" b="0" i="0">
                <a:solidFill>
                  <a:srgbClr val="202020"/>
                </a:solidFill>
                <a:latin typeface="Calibri"/>
              </a:rPr>
              <a:t>: the WebHDFS endpoint URL (or the mount path if using </a:t>
            </a:r>
            <a:r>
              <a:rPr sz="1350" b="0" i="0">
                <a:solidFill>
                  <a:srgbClr val="202020"/>
                </a:solidFill>
                <a:latin typeface="Consolas"/>
              </a:rPr>
              <a:t>localpath</a:t>
            </a:r>
            <a:r>
              <a:rPr sz="1400" b="0" i="0">
                <a:solidFill>
                  <a:srgbClr val="202020"/>
                </a:solidFill>
                <a:latin typeface="Calibri"/>
              </a:rPr>
              <a:t>); a </a:t>
            </a:r>
            <a:r>
              <a:rPr sz="1400" b="1" i="0">
                <a:solidFill>
                  <a:srgbClr val="202020"/>
                </a:solidFill>
                <a:latin typeface="Calibri"/>
              </a:rPr>
              <a:t>read-only</a:t>
            </a:r>
            <a:r>
              <a:rPr sz="1400" b="0" i="0">
                <a:solidFill>
                  <a:srgbClr val="202020"/>
                </a:solidFill>
                <a:latin typeface="Calibri"/>
              </a:rPr>
              <a:t> HDFS principal or delegation token scoped to </a:t>
            </a:r>
            <a:r>
              <a:rPr sz="1350" b="0" i="0">
                <a:solidFill>
                  <a:srgbClr val="202020"/>
                </a:solidFill>
                <a:latin typeface="Consolas"/>
              </a:rPr>
              <a:t>BDH_ROOT_PATH</a:t>
            </a:r>
            <a:r>
              <a:rPr sz="1400" b="0" i="0">
                <a:solidFill>
                  <a:srgbClr val="202020"/>
                </a:solidFill>
                <a:latin typeface="Calibri"/>
              </a:rPr>
              <a:t> only; the exact partition layout in use (which </a:t>
            </a:r>
            <a:r>
              <a:rPr sz="1350" b="0" i="0">
                <a:solidFill>
                  <a:srgbClr val="202020"/>
                </a:solidFill>
                <a:latin typeface="Consolas"/>
              </a:rPr>
              <a:t>key=</a:t>
            </a:r>
            <a:r>
              <a:rPr sz="1400" b="0" i="0">
                <a:solidFill>
                  <a:srgbClr val="202020"/>
                </a:solidFill>
                <a:latin typeface="Calibri"/>
              </a:rPr>
              <a:t> folders exist, and whether every object uses </a:t>
            </a:r>
            <a:r>
              <a:rPr sz="1350" b="0" i="0">
                <a:solidFill>
                  <a:srgbClr val="202020"/>
                </a:solidFill>
                <a:latin typeface="Consolas"/>
              </a:rPr>
              <a:t>dt=</a:t>
            </a:r>
            <a:r>
              <a:rPr sz="1400" b="0" i="0">
                <a:solidFill>
                  <a:srgbClr val="202020"/>
                </a:solidFill>
                <a:latin typeface="Calibri"/>
              </a:rPr>
              <a:t>); and the mapping from each object type to its directory under the root. From the </a:t>
            </a:r>
            <a:r>
              <a:rPr sz="1400" b="1" i="0">
                <a:solidFill>
                  <a:srgbClr val="202020"/>
                </a:solidFill>
                <a:latin typeface="Calibri"/>
              </a:rPr>
              <a:t>network/PKI team</a:t>
            </a:r>
            <a:r>
              <a:rPr sz="1400" b="0" i="0">
                <a:solidFill>
                  <a:srgbClr val="202020"/>
                </a:solidFill>
                <a:latin typeface="Calibri"/>
              </a:rPr>
              <a:t> get the private CA bundle for </a:t>
            </a:r>
            <a:r>
              <a:rPr sz="1350" b="0" i="0">
                <a:solidFill>
                  <a:srgbClr val="202020"/>
                </a:solidFill>
                <a:latin typeface="Consolas"/>
              </a:rPr>
              <a:t>CA_BUNDLE_PATH</a:t>
            </a:r>
            <a:r>
              <a:rPr sz="1400" b="0" i="0">
                <a:solidFill>
                  <a:srgbClr val="202020"/>
                </a:solidFill>
                <a:latin typeface="Calibri"/>
              </a:rPr>
              <a:t> and any proxy details.</a:t>
            </a:r>
          </a:p>
        </p:txBody>
      </p:sp>
      <p:sp>
        <p:nvSpPr>
          <p:cNvPr id="6" name="Rectangle 5"/>
          <p:cNvSpPr/>
          <p:nvPr/>
        </p:nvSpPr>
        <p:spPr>
          <a:xfrm>
            <a:off x="502920" y="1463040"/>
            <a:ext cx="128016" cy="3291840"/>
          </a:xfrm>
          <a:prstGeom prst="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725</a:t>
            </a:r>
          </a:p>
        </p:txBody>
      </p:sp>
    </p:spTree>
  </p:cSld>
  <p:clrMapOvr>
    <a:masterClrMapping/>
  </p:clrMapOvr>
</p:sld>
</file>

<file path=ppt/slides/slide7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4.6 Connection settings</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The HDFS principal must be </a:t>
            </a:r>
            <a:r>
              <a:rPr sz="1400" b="1" i="0">
                <a:solidFill>
                  <a:srgbClr val="202020"/>
                </a:solidFill>
                <a:latin typeface="Calibri"/>
              </a:rPr>
              <a:t>read-only</a:t>
            </a:r>
            <a:r>
              <a:rPr sz="1400" b="0" i="0">
                <a:solidFill>
                  <a:srgbClr val="202020"/>
                </a:solidFill>
                <a:latin typeface="Calibri"/>
              </a:rPr>
              <a:t> on </a:t>
            </a:r>
            <a:r>
              <a:rPr sz="1350" b="0" i="0">
                <a:solidFill>
                  <a:srgbClr val="202020"/>
                </a:solidFill>
                <a:latin typeface="Consolas"/>
              </a:rPr>
              <a:t>BDH_ROOT_PATH</a:t>
            </a:r>
            <a:r>
              <a:rPr sz="1400" b="0" i="0">
                <a:solidFill>
                  <a:srgbClr val="202020"/>
                </a:solidFill>
                <a:latin typeface="Calibri"/>
              </a:rPr>
              <a:t> and have no access anywhere else. The connector only ever lists and reads files; it never writes or deletes. A read-only principal means a compromise of the connector cannot damage the data mart it indexes.</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726</a:t>
            </a:r>
          </a:p>
        </p:txBody>
      </p:sp>
    </p:spTree>
  </p:cSld>
  <p:clrMapOvr>
    <a:masterClrMapping/>
  </p:clrMapOvr>
</p:sld>
</file>

<file path=ppt/slides/slide7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Hadoop BDH Connector</a:t>
            </a:r>
          </a:p>
          <a:p>
            <a:r>
              <a:rPr sz="3000" b="1" i="0">
                <a:solidFill>
                  <a:srgbClr val="1F3864"/>
                </a:solidFill>
                <a:latin typeface="Calibri"/>
              </a:rPr>
              <a:t>5. How BDH data appears in the Copilot index</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727</a:t>
            </a:r>
          </a:p>
        </p:txBody>
      </p:sp>
    </p:spTree>
  </p:cSld>
  <p:clrMapOvr>
    <a:masterClrMapping/>
  </p:clrMapOvr>
</p:sld>
</file>

<file path=ppt/slides/slide7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 How BDH data appears in the Copilot index</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Each BDH record becomes one external item in a Microsoft Graph external connection. This section explains the item's id, its properties, its searchable text, and — most importantly — the permission model.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728</a:t>
            </a:r>
          </a:p>
        </p:txBody>
      </p:sp>
    </p:spTree>
  </p:cSld>
  <p:clrMapOvr>
    <a:masterClrMapping/>
  </p:clrMapOvr>
</p:sld>
</file>

<file path=ppt/slides/slide7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5.1 The item id, and why this connector needs its own connection</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Every external item is keyed by the </a:t>
            </a:r>
            <a:r>
              <a:rPr sz="1250" b="1" i="0">
                <a:solidFill>
                  <a:srgbClr val="202020"/>
                </a:solidFill>
                <a:latin typeface="Calibri"/>
              </a:rPr>
              <a:t>Salesforce record Id</a:t>
            </a:r>
            <a:r>
              <a:rPr sz="1250" b="0" i="0">
                <a:solidFill>
                  <a:srgbClr val="202020"/>
                </a:solidFill>
                <a:latin typeface="Calibri"/>
              </a:rPr>
              <a:t> taken straight from BDH — the connector does not invent a new id. That is what makes this connector and the live Salesforce connector interchangeable: the same record has the same id in both. It is also a trap.</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729</a:t>
            </a:r>
          </a:p>
        </p:txBody>
      </p:sp>
    </p:spTree>
  </p:cSld>
  <p:clrMapOvr>
    <a:masterClrMapping/>
  </p:clrMapOvr>
</p:sld>
</file>

<file path=ppt/slides/slide7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5.1 The item id, and why this connector needs its own connection</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Use a SEPARATE Graph connection id (</a:t>
            </a:r>
            <a:r>
              <a:rPr sz="1350" b="0" i="0">
                <a:solidFill>
                  <a:srgbClr val="202020"/>
                </a:solidFill>
                <a:latin typeface="Consolas"/>
              </a:rPr>
              <a:t>CONNECTOR_ID</a:t>
            </a:r>
            <a:r>
              <a:rPr sz="1400" b="0" i="0">
                <a:solidFill>
                  <a:srgbClr val="202020"/>
                </a:solidFill>
                <a:latin typeface="Calibri"/>
              </a:rPr>
              <a:t>) from the live Salesforce connector. Because both connectors emit the same item ids, pointing them at one connection makes their crawls and their deletion sweeps fight each other — each would treat the other's items as strangers and delete them. Give this connector its own </a:t>
            </a:r>
            <a:r>
              <a:rPr sz="1350" b="0" i="0">
                <a:solidFill>
                  <a:srgbClr val="202020"/>
                </a:solidFill>
                <a:latin typeface="Consolas"/>
              </a:rPr>
              <a:t>CONNECTOR_ID</a:t>
            </a:r>
            <a:r>
              <a:rPr sz="1400" b="0" i="0">
                <a:solidFill>
                  <a:srgbClr val="202020"/>
                </a:solidFill>
                <a:latin typeface="Calibri"/>
              </a:rPr>
              <a:t> (for example </a:t>
            </a:r>
            <a:r>
              <a:rPr sz="1350" b="0" i="0">
                <a:solidFill>
                  <a:srgbClr val="202020"/>
                </a:solidFill>
                <a:latin typeface="Consolas"/>
              </a:rPr>
              <a:t>BdhHadoopMart</a:t>
            </a:r>
            <a:r>
              <a:rPr sz="1400" b="0" i="0">
                <a:solidFill>
                  <a:srgbClr val="202020"/>
                </a:solidFill>
                <a:latin typeface="Calibri"/>
              </a:rPr>
              <a:t>) and never reuse the live connector's id.</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730</a:t>
            </a:r>
          </a:p>
        </p:txBody>
      </p:sp>
    </p:spTree>
  </p:cSld>
  <p:clrMapOvr>
    <a:masterClrMapping/>
  </p:clrMapOvr>
</p:sld>
</file>

<file path=ppt/slides/slide7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5.2 Properties on every item</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connector always writes these standard properties, then adds the mapped fields for the object type: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731</a:t>
            </a:r>
          </a:p>
        </p:txBody>
      </p:sp>
    </p:spTree>
  </p:cSld>
  <p:clrMapOvr>
    <a:masterClrMapping/>
  </p:clrMapOvr>
</p:sld>
</file>

<file path=ppt/slides/slide7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5.2 Properties on every item</a:t>
            </a:r>
          </a:p>
        </p:txBody>
      </p:sp>
      <p:graphicFrame>
        <p:nvGraphicFramePr>
          <p:cNvPr id="5" name="Table 4"/>
          <p:cNvGraphicFramePr>
            <a:graphicFrameLocks noGrp="1"/>
          </p:cNvGraphicFramePr>
          <p:nvPr/>
        </p:nvGraphicFramePr>
        <p:xfrm>
          <a:off x="502920" y="1188720"/>
          <a:ext cx="11185855" cy="2688336"/>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Property</a:t>
                      </a:r>
                    </a:p>
                  </a:txBody>
                  <a:tcPr marT="25400" marB="25400">
                    <a:solidFill>
                      <a:srgbClr val="2E5496"/>
                    </a:solidFill>
                  </a:tcPr>
                </a:tc>
                <a:tc>
                  <a:txBody>
                    <a:bodyPr wrap="square"/>
                    <a:lstStyle/>
                    <a:p>
                      <a:r>
                        <a:rPr sz="1050" b="1" i="0">
                          <a:solidFill>
                            <a:srgbClr val="FFFFFF"/>
                          </a:solidFill>
                          <a:latin typeface="Calibri"/>
                        </a:rPr>
                        <a:t>Value / source</a:t>
                      </a:r>
                    </a:p>
                  </a:txBody>
                  <a:tcPr marT="25400" marB="25400">
                    <a:solidFill>
                      <a:srgbClr val="2E5496"/>
                    </a:solidFill>
                  </a:tcPr>
                </a:tc>
                <a:tc>
                  <a:txBody>
                    <a:bodyPr wrap="square"/>
                    <a:lstStyle/>
                    <a:p>
                      <a:r>
                        <a:rPr sz="1050" b="1" i="0">
                          <a:solidFill>
                            <a:srgbClr val="FFFFFF"/>
                          </a:solidFill>
                          <a:latin typeface="Calibri"/>
                        </a:rPr>
                        <a:t>Purpose</a:t>
                      </a:r>
                    </a:p>
                  </a:txBody>
                  <a:tcPr marT="25400" marB="25400">
                    <a:solidFill>
                      <a:srgbClr val="2E5496"/>
                    </a:solidFill>
                  </a:tcPr>
                </a:tc>
              </a:tr>
              <a:tr h="384048">
                <a:tc>
                  <a:txBody>
                    <a:bodyPr wrap="square"/>
                    <a:lstStyle/>
                    <a:p>
                      <a:r>
                        <a:rPr sz="950" b="0" i="0">
                          <a:solidFill>
                            <a:srgbClr val="202020"/>
                          </a:solidFill>
                          <a:latin typeface="Calibri"/>
                        </a:rPr>
                        <a:t>ObjectName</a:t>
                      </a:r>
                    </a:p>
                  </a:txBody>
                  <a:tcPr marT="12700" marB="12700">
                    <a:solidFill>
                      <a:srgbClr val="FFFFFF"/>
                    </a:solidFill>
                  </a:tcPr>
                </a:tc>
                <a:tc>
                  <a:txBody>
                    <a:bodyPr wrap="square"/>
                    <a:lstStyle/>
                    <a:p>
                      <a:r>
                        <a:rPr sz="950" b="0" i="0">
                          <a:solidFill>
                            <a:srgbClr val="202020"/>
                          </a:solidFill>
                          <a:latin typeface="Calibri"/>
                        </a:rPr>
                        <a:t>The object type, e.g. Contact</a:t>
                      </a:r>
                    </a:p>
                  </a:txBody>
                  <a:tcPr marT="12700" marB="12700">
                    <a:solidFill>
                      <a:srgbClr val="FFFFFF"/>
                    </a:solidFill>
                  </a:tcPr>
                </a:tc>
                <a:tc>
                  <a:txBody>
                    <a:bodyPr wrap="square"/>
                    <a:lstStyle/>
                    <a:p>
                      <a:r>
                        <a:rPr sz="950" b="0" i="0">
                          <a:solidFill>
                            <a:srgbClr val="202020"/>
                          </a:solidFill>
                          <a:latin typeface="Calibri"/>
                        </a:rPr>
                        <a:t>Lets Copilot and refiners group by type</a:t>
                      </a:r>
                    </a:p>
                  </a:txBody>
                  <a:tcPr marT="12700" marB="12700">
                    <a:solidFill>
                      <a:srgbClr val="FFFFFF"/>
                    </a:solidFill>
                  </a:tcPr>
                </a:tc>
              </a:tr>
              <a:tr h="384048">
                <a:tc>
                  <a:txBody>
                    <a:bodyPr wrap="square"/>
                    <a:lstStyle/>
                    <a:p>
                      <a:r>
                        <a:rPr sz="950" b="0" i="0">
                          <a:solidFill>
                            <a:srgbClr val="202020"/>
                          </a:solidFill>
                          <a:latin typeface="Calibri"/>
                        </a:rPr>
                        <a:t>Title</a:t>
                      </a:r>
                    </a:p>
                  </a:txBody>
                  <a:tcPr marT="12700" marB="12700">
                    <a:solidFill>
                      <a:srgbClr val="F7F9FC"/>
                    </a:solidFill>
                  </a:tcPr>
                </a:tc>
                <a:tc>
                  <a:txBody>
                    <a:bodyPr wrap="square"/>
                    <a:lstStyle/>
                    <a:p>
                      <a:r>
                        <a:rPr sz="950" b="0" i="0">
                          <a:solidFill>
                            <a:srgbClr val="202020"/>
                          </a:solidFill>
                          <a:latin typeface="Calibri"/>
                        </a:rPr>
                        <a:t>The record's Name / Subject</a:t>
                      </a:r>
                    </a:p>
                  </a:txBody>
                  <a:tcPr marT="12700" marB="12700">
                    <a:solidFill>
                      <a:srgbClr val="F7F9FC"/>
                    </a:solidFill>
                  </a:tcPr>
                </a:tc>
                <a:tc>
                  <a:txBody>
                    <a:bodyPr wrap="square"/>
                    <a:lstStyle/>
                    <a:p>
                      <a:r>
                        <a:rPr sz="950" b="0" i="0">
                          <a:solidFill>
                            <a:srgbClr val="202020"/>
                          </a:solidFill>
                          <a:latin typeface="Calibri"/>
                        </a:rPr>
                        <a:t>The result-card heading</a:t>
                      </a:r>
                    </a:p>
                  </a:txBody>
                  <a:tcPr marT="12700" marB="12700">
                    <a:solidFill>
                      <a:srgbClr val="F7F9FC"/>
                    </a:solidFill>
                  </a:tcPr>
                </a:tc>
              </a:tr>
              <a:tr h="384048">
                <a:tc>
                  <a:txBody>
                    <a:bodyPr wrap="square"/>
                    <a:lstStyle/>
                    <a:p>
                      <a:r>
                        <a:rPr sz="950" b="0" i="0">
                          <a:solidFill>
                            <a:srgbClr val="202020"/>
                          </a:solidFill>
                          <a:latin typeface="Calibri"/>
                        </a:rPr>
                        <a:t>Url</a:t>
                      </a:r>
                    </a:p>
                  </a:txBody>
                  <a:tcPr marT="12700" marB="12700">
                    <a:solidFill>
                      <a:srgbClr val="FFFFFF"/>
                    </a:solidFill>
                  </a:tcPr>
                </a:tc>
                <a:tc>
                  <a:txBody>
                    <a:bodyPr wrap="square"/>
                    <a:lstStyle/>
                    <a:p>
                      <a:r>
                        <a:rPr sz="950" b="0" i="0">
                          <a:solidFill>
                            <a:srgbClr val="202020"/>
                          </a:solidFill>
                          <a:latin typeface="Calibri"/>
                        </a:rPr>
                        <a:t>A deep link built from ITEM_URL_BASE + the record id</a:t>
                      </a:r>
                    </a:p>
                  </a:txBody>
                  <a:tcPr marT="12700" marB="12700">
                    <a:solidFill>
                      <a:srgbClr val="FFFFFF"/>
                    </a:solidFill>
                  </a:tcPr>
                </a:tc>
                <a:tc>
                  <a:txBody>
                    <a:bodyPr wrap="square"/>
                    <a:lstStyle/>
                    <a:p>
                      <a:r>
                        <a:rPr sz="950" b="0" i="0">
                          <a:solidFill>
                            <a:srgbClr val="202020"/>
                          </a:solidFill>
                          <a:latin typeface="Calibri"/>
                        </a:rPr>
                        <a:t>Opens the LIVE Salesforce record (same id) so users see current data</a:t>
                      </a:r>
                    </a:p>
                  </a:txBody>
                  <a:tcPr marT="12700" marB="12700">
                    <a:solidFill>
                      <a:srgbClr val="FFFFFF"/>
                    </a:solidFill>
                  </a:tcPr>
                </a:tc>
              </a:tr>
              <a:tr h="384048">
                <a:tc>
                  <a:txBody>
                    <a:bodyPr wrap="square"/>
                    <a:lstStyle/>
                    <a:p>
                      <a:r>
                        <a:rPr sz="950" b="0" i="0">
                          <a:solidFill>
                            <a:srgbClr val="202020"/>
                          </a:solidFill>
                          <a:latin typeface="Calibri"/>
                        </a:rPr>
                        <a:t>SourceSystem</a:t>
                      </a:r>
                    </a:p>
                  </a:txBody>
                  <a:tcPr marT="12700" marB="12700">
                    <a:solidFill>
                      <a:srgbClr val="F7F9FC"/>
                    </a:solidFill>
                  </a:tcPr>
                </a:tc>
                <a:tc>
                  <a:txBody>
                    <a:bodyPr wrap="square"/>
                    <a:lstStyle/>
                    <a:p>
                      <a:r>
                        <a:rPr sz="950" b="0" i="0">
                          <a:solidFill>
                            <a:srgbClr val="202020"/>
                          </a:solidFill>
                          <a:latin typeface="Calibri"/>
                        </a:rPr>
                        <a:t>Always BDH-Hadoop</a:t>
                      </a:r>
                    </a:p>
                  </a:txBody>
                  <a:tcPr marT="12700" marB="12700">
                    <a:solidFill>
                      <a:srgbClr val="F7F9FC"/>
                    </a:solidFill>
                  </a:tcPr>
                </a:tc>
                <a:tc>
                  <a:txBody>
                    <a:bodyPr wrap="square"/>
                    <a:lstStyle/>
                    <a:p>
                      <a:r>
                        <a:rPr sz="950" b="0" i="0">
                          <a:solidFill>
                            <a:srgbClr val="202020"/>
                          </a:solidFill>
                          <a:latin typeface="Calibri"/>
                        </a:rPr>
                        <a:t>Marks the item as coming from the cheap path</a:t>
                      </a:r>
                    </a:p>
                  </a:txBody>
                  <a:tcPr marT="12700" marB="12700">
                    <a:solidFill>
                      <a:srgbClr val="F7F9FC"/>
                    </a:solidFill>
                  </a:tcPr>
                </a:tc>
              </a:tr>
              <a:tr h="384048">
                <a:tc>
                  <a:txBody>
                    <a:bodyPr wrap="square"/>
                    <a:lstStyle/>
                    <a:p>
                      <a:r>
                        <a:rPr sz="950" b="0" i="0">
                          <a:solidFill>
                            <a:srgbClr val="202020"/>
                          </a:solidFill>
                          <a:latin typeface="Calibri"/>
                        </a:rPr>
                        <a:t>DataAsOf</a:t>
                      </a:r>
                    </a:p>
                  </a:txBody>
                  <a:tcPr marT="12700" marB="12700">
                    <a:solidFill>
                      <a:srgbClr val="FFFFFF"/>
                    </a:solidFill>
                  </a:tcPr>
                </a:tc>
                <a:tc>
                  <a:txBody>
                    <a:bodyPr wrap="square"/>
                    <a:lstStyle/>
                    <a:p>
                      <a:r>
                        <a:rPr sz="950" b="0" i="0">
                          <a:solidFill>
                            <a:srgbClr val="202020"/>
                          </a:solidFill>
                          <a:latin typeface="Calibri"/>
                        </a:rPr>
                        <a:t>The partition dt (or file sync date)</a:t>
                      </a:r>
                    </a:p>
                  </a:txBody>
                  <a:tcPr marT="12700" marB="12700">
                    <a:solidFill>
                      <a:srgbClr val="FFFFFF"/>
                    </a:solidFill>
                  </a:tcPr>
                </a:tc>
                <a:tc>
                  <a:txBody>
                    <a:bodyPr wrap="square"/>
                    <a:lstStyle/>
                    <a:p>
                      <a:r>
                        <a:rPr sz="950" b="0" i="0">
                          <a:solidFill>
                            <a:srgbClr val="202020"/>
                          </a:solidFill>
                          <a:latin typeface="Calibri"/>
                        </a:rPr>
                        <a:t>Shows how old the data is (see Section 8)</a:t>
                      </a:r>
                    </a:p>
                  </a:txBody>
                  <a:tcPr marT="12700" marB="12700">
                    <a:solidFill>
                      <a:srgbClr val="FFFFFF"/>
                    </a:solidFill>
                  </a:tcPr>
                </a:tc>
              </a:tr>
              <a:tr h="384048">
                <a:tc>
                  <a:txBody>
                    <a:bodyPr wrap="square"/>
                    <a:lstStyle/>
                    <a:p>
                      <a:r>
                        <a:rPr sz="950" b="0" i="0">
                          <a:solidFill>
                            <a:srgbClr val="202020"/>
                          </a:solidFill>
                          <a:latin typeface="Calibri"/>
                        </a:rPr>
                        <a:t>SensitivityLabel, DetectedCategories</a:t>
                      </a:r>
                    </a:p>
                  </a:txBody>
                  <a:tcPr marT="12700" marB="12700">
                    <a:solidFill>
                      <a:srgbClr val="F7F9FC"/>
                    </a:solidFill>
                  </a:tcPr>
                </a:tc>
                <a:tc>
                  <a:txBody>
                    <a:bodyPr wrap="square"/>
                    <a:lstStyle/>
                    <a:p>
                      <a:r>
                        <a:rPr sz="950" b="0" i="0">
                          <a:solidFill>
                            <a:srgbClr val="202020"/>
                          </a:solidFill>
                          <a:latin typeface="Calibri"/>
                        </a:rPr>
                        <a:t>Added only when classification is on</a:t>
                      </a:r>
                    </a:p>
                  </a:txBody>
                  <a:tcPr marT="12700" marB="12700">
                    <a:solidFill>
                      <a:srgbClr val="F7F9FC"/>
                    </a:solidFill>
                  </a:tcPr>
                </a:tc>
                <a:tc>
                  <a:txBody>
                    <a:bodyPr wrap="square"/>
                    <a:lstStyle/>
                    <a:p>
                      <a:r>
                        <a:rPr sz="950" b="0" i="0">
                          <a:solidFill>
                            <a:srgbClr val="202020"/>
                          </a:solidFill>
                          <a:latin typeface="Calibri"/>
                        </a:rPr>
                        <a:t>Advisory connector-applied classification tag — NOT a Purview-enforced label (off by default; Section 14.9)</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732</a:t>
            </a:r>
          </a:p>
        </p:txBody>
      </p:sp>
    </p:spTree>
  </p:cSld>
  <p:clrMapOvr>
    <a:masterClrMapping/>
  </p:clrMapOvr>
</p:sld>
</file>

<file path=ppt/slides/slide7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5.2 Properties on every item</a:t>
            </a:r>
          </a:p>
        </p:txBody>
      </p:sp>
      <p:sp>
        <p:nvSpPr>
          <p:cNvPr id="5" name="Rectangle 4"/>
          <p:cNvSpPr/>
          <p:nvPr/>
        </p:nvSpPr>
        <p:spPr>
          <a:xfrm>
            <a:off x="502920" y="1463040"/>
            <a:ext cx="11185855" cy="3291840"/>
          </a:xfrm>
          <a:prstGeom prst="rect">
            <a:avLst/>
          </a:prstGeom>
          <a:solidFill>
            <a:srgbClr val="E7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7D32"/>
                </a:solidFill>
                <a:latin typeface="Calibri"/>
              </a:rPr>
              <a:t>Tip:  </a:t>
            </a:r>
            <a:r>
              <a:rPr sz="1400" b="1" i="0">
                <a:solidFill>
                  <a:srgbClr val="202020"/>
                </a:solidFill>
                <a:latin typeface="Calibri"/>
              </a:rPr>
              <a:t>Tip: </a:t>
            </a:r>
            <a:r>
              <a:rPr sz="1400" b="0" i="0">
                <a:solidFill>
                  <a:srgbClr val="202020"/>
                </a:solidFill>
                <a:latin typeface="Calibri"/>
              </a:rPr>
              <a:t>Point </a:t>
            </a:r>
            <a:r>
              <a:rPr sz="1350" b="0" i="0">
                <a:solidFill>
                  <a:srgbClr val="202020"/>
                </a:solidFill>
                <a:latin typeface="Consolas"/>
              </a:rPr>
              <a:t>ITEM_URL_BASE</a:t>
            </a:r>
            <a:r>
              <a:rPr sz="1400" b="0" i="0">
                <a:solidFill>
                  <a:srgbClr val="202020"/>
                </a:solidFill>
                <a:latin typeface="Calibri"/>
              </a:rPr>
              <a:t> at your </a:t>
            </a:r>
            <a:r>
              <a:rPr sz="1400" b="1" i="0">
                <a:solidFill>
                  <a:srgbClr val="202020"/>
                </a:solidFill>
                <a:latin typeface="Calibri"/>
              </a:rPr>
              <a:t>live</a:t>
            </a:r>
            <a:r>
              <a:rPr sz="1400" b="0" i="0">
                <a:solidFill>
                  <a:srgbClr val="202020"/>
                </a:solidFill>
                <a:latin typeface="Calibri"/>
              </a:rPr>
              <a:t> Salesforce org (for example </a:t>
            </a:r>
            <a:r>
              <a:rPr sz="1350" b="0" i="0">
                <a:solidFill>
                  <a:srgbClr val="202020"/>
                </a:solidFill>
                <a:latin typeface="Consolas"/>
              </a:rPr>
              <a:t>https://your-org.lightning.force.com</a:t>
            </a:r>
            <a:r>
              <a:rPr sz="1400" b="0" i="0">
                <a:solidFill>
                  <a:srgbClr val="202020"/>
                </a:solidFill>
                <a:latin typeface="Calibri"/>
              </a:rPr>
              <a:t>). The indexed data is up to a day old, but the result card should deep-link to the current record — and because the ids are identical, that link always resolves.</a:t>
            </a:r>
          </a:p>
        </p:txBody>
      </p:sp>
      <p:sp>
        <p:nvSpPr>
          <p:cNvPr id="6" name="Rectangle 5"/>
          <p:cNvSpPr/>
          <p:nvPr/>
        </p:nvSpPr>
        <p:spPr>
          <a:xfrm>
            <a:off x="502920" y="1463040"/>
            <a:ext cx="128016" cy="32918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733</a:t>
            </a:r>
          </a:p>
        </p:txBody>
      </p:sp>
    </p:spTree>
  </p:cSld>
  <p:clrMapOvr>
    <a:masterClrMapping/>
  </p:clrMapOvr>
</p:sld>
</file>

<file path=ppt/slides/slide7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5.3 Field mapping and the searchable body</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Which BDH columns become which Graph properties is set per object type in </a:t>
            </a:r>
            <a:r>
              <a:rPr sz="1200" b="0" i="0">
                <a:solidFill>
                  <a:srgbClr val="202020"/>
                </a:solidFill>
                <a:latin typeface="Consolas"/>
              </a:rPr>
              <a:t>config/schema.json</a:t>
            </a:r>
            <a:r>
              <a:rPr sz="1250" b="0" i="0">
                <a:solidFill>
                  <a:srgbClr val="202020"/>
                </a:solidFill>
                <a:latin typeface="Calibri"/>
              </a:rPr>
              <a:t>. As a worked example, here is the shipped </a:t>
            </a:r>
            <a:r>
              <a:rPr sz="1200" b="0" i="0">
                <a:solidFill>
                  <a:srgbClr val="202020"/>
                </a:solidFill>
                <a:latin typeface="Consolas"/>
              </a:rPr>
              <a:t>Contact</a:t>
            </a:r>
            <a:r>
              <a:rPr sz="1250" b="0" i="0">
                <a:solidFill>
                  <a:srgbClr val="202020"/>
                </a:solidFill>
                <a:latin typeface="Calibri"/>
              </a:rPr>
              <a:t> mapping:</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734</a:t>
            </a:r>
          </a:p>
        </p:txBody>
      </p:sp>
    </p:spTree>
  </p:cSld>
  <p:clrMapOvr>
    <a:masterClrMapping/>
  </p:clrMapOvr>
</p:sld>
</file>

<file path=ppt/slides/slide7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5.3 Field mapping and the searchable body</a:t>
            </a:r>
          </a:p>
        </p:txBody>
      </p:sp>
      <p:graphicFrame>
        <p:nvGraphicFramePr>
          <p:cNvPr id="5" name="Table 4"/>
          <p:cNvGraphicFramePr>
            <a:graphicFrameLocks noGrp="1"/>
          </p:cNvGraphicFramePr>
          <p:nvPr/>
        </p:nvGraphicFramePr>
        <p:xfrm>
          <a:off x="502920" y="1188720"/>
          <a:ext cx="11185854" cy="3840480"/>
        </p:xfrm>
        <a:graphic>
          <a:graphicData uri="http://schemas.openxmlformats.org/drawingml/2006/table">
            <a:tbl>
              <a:tblPr firstRow="1" bandRow="1">
                <a:tableStyleId>{5C22544A-7EE6-4342-B048-85BDC9FD1C3A}</a:tableStyleId>
              </a:tblPr>
              <a:tblGrid>
                <a:gridCol w="3803190"/>
                <a:gridCol w="7382664"/>
              </a:tblGrid>
              <a:tr h="384048">
                <a:tc>
                  <a:txBody>
                    <a:bodyPr wrap="square"/>
                    <a:lstStyle/>
                    <a:p>
                      <a:r>
                        <a:rPr sz="1050" b="1" i="0">
                          <a:solidFill>
                            <a:srgbClr val="FFFFFF"/>
                          </a:solidFill>
                          <a:latin typeface="Calibri"/>
                        </a:rPr>
                        <a:t>BDH column</a:t>
                      </a:r>
                    </a:p>
                  </a:txBody>
                  <a:tcPr marT="25400" marB="25400">
                    <a:solidFill>
                      <a:srgbClr val="2E5496"/>
                    </a:solidFill>
                  </a:tcPr>
                </a:tc>
                <a:tc>
                  <a:txBody>
                    <a:bodyPr wrap="square"/>
                    <a:lstStyle/>
                    <a:p>
                      <a:r>
                        <a:rPr sz="1050" b="1" i="0">
                          <a:solidFill>
                            <a:srgbClr val="FFFFFF"/>
                          </a:solidFill>
                          <a:latin typeface="Calibri"/>
                        </a:rPr>
                        <a:t>Becomes</a:t>
                      </a:r>
                    </a:p>
                  </a:txBody>
                  <a:tcPr marT="25400" marB="25400">
                    <a:solidFill>
                      <a:srgbClr val="2E5496"/>
                    </a:solidFill>
                  </a:tcPr>
                </a:tc>
              </a:tr>
              <a:tr h="384048">
                <a:tc>
                  <a:txBody>
                    <a:bodyPr wrap="square"/>
                    <a:lstStyle/>
                    <a:p>
                      <a:r>
                        <a:rPr sz="950" b="0" i="0">
                          <a:solidFill>
                            <a:srgbClr val="202020"/>
                          </a:solidFill>
                          <a:latin typeface="Calibri"/>
                        </a:rPr>
                        <a:t>Name</a:t>
                      </a:r>
                    </a:p>
                  </a:txBody>
                  <a:tcPr marT="12700" marB="12700">
                    <a:solidFill>
                      <a:srgbClr val="FFFFFF"/>
                    </a:solidFill>
                  </a:tcPr>
                </a:tc>
                <a:tc>
                  <a:txBody>
                    <a:bodyPr wrap="square"/>
                    <a:lstStyle/>
                    <a:p>
                      <a:r>
                        <a:rPr sz="950" b="0" i="0">
                          <a:solidFill>
                            <a:srgbClr val="202020"/>
                          </a:solidFill>
                          <a:latin typeface="Calibri"/>
                        </a:rPr>
                        <a:t>Title</a:t>
                      </a:r>
                    </a:p>
                  </a:txBody>
                  <a:tcPr marT="12700" marB="12700">
                    <a:solidFill>
                      <a:srgbClr val="FFFFFF"/>
                    </a:solidFill>
                  </a:tcPr>
                </a:tc>
              </a:tr>
              <a:tr h="384048">
                <a:tc>
                  <a:txBody>
                    <a:bodyPr wrap="square"/>
                    <a:lstStyle/>
                    <a:p>
                      <a:r>
                        <a:rPr sz="950" b="0" i="0">
                          <a:solidFill>
                            <a:srgbClr val="202020"/>
                          </a:solidFill>
                          <a:latin typeface="Calibri"/>
                        </a:rPr>
                        <a:t>Email</a:t>
                      </a:r>
                    </a:p>
                  </a:txBody>
                  <a:tcPr marT="12700" marB="12700">
                    <a:solidFill>
                      <a:srgbClr val="F7F9FC"/>
                    </a:solidFill>
                  </a:tcPr>
                </a:tc>
                <a:tc>
                  <a:txBody>
                    <a:bodyPr wrap="square"/>
                    <a:lstStyle/>
                    <a:p>
                      <a:r>
                        <a:rPr sz="950" b="0" i="0">
                          <a:solidFill>
                            <a:srgbClr val="202020"/>
                          </a:solidFill>
                          <a:latin typeface="Calibri"/>
                        </a:rPr>
                        <a:t>Email</a:t>
                      </a:r>
                    </a:p>
                  </a:txBody>
                  <a:tcPr marT="12700" marB="12700">
                    <a:solidFill>
                      <a:srgbClr val="F7F9FC"/>
                    </a:solidFill>
                  </a:tcPr>
                </a:tc>
              </a:tr>
              <a:tr h="384048">
                <a:tc>
                  <a:txBody>
                    <a:bodyPr wrap="square"/>
                    <a:lstStyle/>
                    <a:p>
                      <a:r>
                        <a:rPr sz="950" b="0" i="0">
                          <a:solidFill>
                            <a:srgbClr val="202020"/>
                          </a:solidFill>
                          <a:latin typeface="Calibri"/>
                        </a:rPr>
                        <a:t>Phone</a:t>
                      </a:r>
                    </a:p>
                  </a:txBody>
                  <a:tcPr marT="12700" marB="12700">
                    <a:solidFill>
                      <a:srgbClr val="FFFFFF"/>
                    </a:solidFill>
                  </a:tcPr>
                </a:tc>
                <a:tc>
                  <a:txBody>
                    <a:bodyPr wrap="square"/>
                    <a:lstStyle/>
                    <a:p>
                      <a:r>
                        <a:rPr sz="950" b="0" i="0">
                          <a:solidFill>
                            <a:srgbClr val="202020"/>
                          </a:solidFill>
                          <a:latin typeface="Calibri"/>
                        </a:rPr>
                        <a:t>Phone</a:t>
                      </a:r>
                    </a:p>
                  </a:txBody>
                  <a:tcPr marT="12700" marB="12700">
                    <a:solidFill>
                      <a:srgbClr val="FFFFFF"/>
                    </a:solidFill>
                  </a:tcPr>
                </a:tc>
              </a:tr>
              <a:tr h="384048">
                <a:tc>
                  <a:txBody>
                    <a:bodyPr wrap="square"/>
                    <a:lstStyle/>
                    <a:p>
                      <a:r>
                        <a:rPr sz="950" b="0" i="0">
                          <a:solidFill>
                            <a:srgbClr val="202020"/>
                          </a:solidFill>
                          <a:latin typeface="Calibri"/>
                        </a:rPr>
                        <a:t>Title</a:t>
                      </a:r>
                    </a:p>
                  </a:txBody>
                  <a:tcPr marT="12700" marB="12700">
                    <a:solidFill>
                      <a:srgbClr val="F7F9FC"/>
                    </a:solidFill>
                  </a:tcPr>
                </a:tc>
                <a:tc>
                  <a:txBody>
                    <a:bodyPr wrap="square"/>
                    <a:lstStyle/>
                    <a:p>
                      <a:r>
                        <a:rPr sz="950" b="0" i="0">
                          <a:solidFill>
                            <a:srgbClr val="202020"/>
                          </a:solidFill>
                          <a:latin typeface="Calibri"/>
                        </a:rPr>
                        <a:t>JobTitle</a:t>
                      </a:r>
                    </a:p>
                  </a:txBody>
                  <a:tcPr marT="12700" marB="12700">
                    <a:solidFill>
                      <a:srgbClr val="F7F9FC"/>
                    </a:solidFill>
                  </a:tcPr>
                </a:tc>
              </a:tr>
              <a:tr h="384048">
                <a:tc>
                  <a:txBody>
                    <a:bodyPr wrap="square"/>
                    <a:lstStyle/>
                    <a:p>
                      <a:r>
                        <a:rPr sz="950" b="0" i="0">
                          <a:solidFill>
                            <a:srgbClr val="202020"/>
                          </a:solidFill>
                          <a:latin typeface="Calibri"/>
                        </a:rPr>
                        <a:t>AccountId / AccountName</a:t>
                      </a:r>
                    </a:p>
                  </a:txBody>
                  <a:tcPr marT="12700" marB="12700">
                    <a:solidFill>
                      <a:srgbClr val="FFFFFF"/>
                    </a:solidFill>
                  </a:tcPr>
                </a:tc>
                <a:tc>
                  <a:txBody>
                    <a:bodyPr wrap="square"/>
                    <a:lstStyle/>
                    <a:p>
                      <a:r>
                        <a:rPr sz="950" b="0" i="0">
                          <a:solidFill>
                            <a:srgbClr val="202020"/>
                          </a:solidFill>
                          <a:latin typeface="Calibri"/>
                        </a:rPr>
                        <a:t>AccountId / AccountName</a:t>
                      </a:r>
                    </a:p>
                  </a:txBody>
                  <a:tcPr marT="12700" marB="12700">
                    <a:solidFill>
                      <a:srgbClr val="FFFFFF"/>
                    </a:solidFill>
                  </a:tcPr>
                </a:tc>
              </a:tr>
              <a:tr h="384048">
                <a:tc>
                  <a:txBody>
                    <a:bodyPr wrap="square"/>
                    <a:lstStyle/>
                    <a:p>
                      <a:r>
                        <a:rPr sz="950" b="0" i="0">
                          <a:solidFill>
                            <a:srgbClr val="202020"/>
                          </a:solidFill>
                          <a:latin typeface="Calibri"/>
                        </a:rPr>
                        <a:t>Department</a:t>
                      </a:r>
                    </a:p>
                  </a:txBody>
                  <a:tcPr marT="12700" marB="12700">
                    <a:solidFill>
                      <a:srgbClr val="F7F9FC"/>
                    </a:solidFill>
                  </a:tcPr>
                </a:tc>
                <a:tc>
                  <a:txBody>
                    <a:bodyPr wrap="square"/>
                    <a:lstStyle/>
                    <a:p>
                      <a:r>
                        <a:rPr sz="950" b="0" i="0">
                          <a:solidFill>
                            <a:srgbClr val="202020"/>
                          </a:solidFill>
                          <a:latin typeface="Calibri"/>
                        </a:rPr>
                        <a:t>Department</a:t>
                      </a:r>
                    </a:p>
                  </a:txBody>
                  <a:tcPr marT="12700" marB="12700">
                    <a:solidFill>
                      <a:srgbClr val="F7F9FC"/>
                    </a:solidFill>
                  </a:tcPr>
                </a:tc>
              </a:tr>
              <a:tr h="384048">
                <a:tc>
                  <a:txBody>
                    <a:bodyPr wrap="square"/>
                    <a:lstStyle/>
                    <a:p>
                      <a:r>
                        <a:rPr sz="950" b="0" i="0">
                          <a:solidFill>
                            <a:srgbClr val="202020"/>
                          </a:solidFill>
                          <a:latin typeface="Calibri"/>
                        </a:rPr>
                        <a:t>MailingCity / MailingCountry</a:t>
                      </a:r>
                    </a:p>
                  </a:txBody>
                  <a:tcPr marT="12700" marB="12700">
                    <a:solidFill>
                      <a:srgbClr val="FFFFFF"/>
                    </a:solidFill>
                  </a:tcPr>
                </a:tc>
                <a:tc>
                  <a:txBody>
                    <a:bodyPr wrap="square"/>
                    <a:lstStyle/>
                    <a:p>
                      <a:r>
                        <a:rPr sz="950" b="0" i="0">
                          <a:solidFill>
                            <a:srgbClr val="202020"/>
                          </a:solidFill>
                          <a:latin typeface="Calibri"/>
                        </a:rPr>
                        <a:t>City / Country</a:t>
                      </a:r>
                    </a:p>
                  </a:txBody>
                  <a:tcPr marT="12700" marB="12700">
                    <a:solidFill>
                      <a:srgbClr val="FFFFFF"/>
                    </a:solidFill>
                  </a:tcPr>
                </a:tc>
              </a:tr>
              <a:tr h="384048">
                <a:tc>
                  <a:txBody>
                    <a:bodyPr wrap="square"/>
                    <a:lstStyle/>
                    <a:p>
                      <a:r>
                        <a:rPr sz="950" b="0" i="0">
                          <a:solidFill>
                            <a:srgbClr val="202020"/>
                          </a:solidFill>
                          <a:latin typeface="Calibri"/>
                        </a:rPr>
                        <a:t>Description</a:t>
                      </a:r>
                    </a:p>
                  </a:txBody>
                  <a:tcPr marT="12700" marB="12700">
                    <a:solidFill>
                      <a:srgbClr val="F7F9FC"/>
                    </a:solidFill>
                  </a:tcPr>
                </a:tc>
                <a:tc>
                  <a:txBody>
                    <a:bodyPr wrap="square"/>
                    <a:lstStyle/>
                    <a:p>
                      <a:r>
                        <a:rPr sz="950" b="0" i="0">
                          <a:solidFill>
                            <a:srgbClr val="202020"/>
                          </a:solidFill>
                          <a:latin typeface="Calibri"/>
                        </a:rPr>
                        <a:t>_bdh_Description — searchable text body, not a property</a:t>
                      </a:r>
                    </a:p>
                  </a:txBody>
                  <a:tcPr marT="12700" marB="12700">
                    <a:solidFill>
                      <a:srgbClr val="F7F9FC"/>
                    </a:solidFill>
                  </a:tcPr>
                </a:tc>
              </a:tr>
              <a:tr h="384048">
                <a:tc>
                  <a:txBody>
                    <a:bodyPr wrap="square"/>
                    <a:lstStyle/>
                    <a:p>
                      <a:r>
                        <a:rPr sz="950" b="0" i="0">
                          <a:solidFill>
                            <a:srgbClr val="202020"/>
                          </a:solidFill>
                          <a:latin typeface="Calibri"/>
                        </a:rPr>
                        <a:t>SystemModstamp</a:t>
                      </a:r>
                    </a:p>
                  </a:txBody>
                  <a:tcPr marT="12700" marB="12700">
                    <a:solidFill>
                      <a:srgbClr val="FFFFFF"/>
                    </a:solidFill>
                  </a:tcPr>
                </a:tc>
                <a:tc>
                  <a:txBody>
                    <a:bodyPr wrap="square"/>
                    <a:lstStyle/>
                    <a:p>
                      <a:r>
                        <a:rPr sz="950" b="0" i="0">
                          <a:solidFill>
                            <a:srgbClr val="202020"/>
                          </a:solidFill>
                          <a:latin typeface="Calibri"/>
                        </a:rPr>
                        <a:t>LastModified</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735</a:t>
            </a:r>
          </a:p>
        </p:txBody>
      </p:sp>
    </p:spTree>
  </p:cSld>
  <p:clrMapOvr>
    <a:masterClrMapping/>
  </p:clrMapOvr>
</p:sld>
</file>

<file path=ppt/slides/slide7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5.3 Field mapping and the searchable body</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 mapping value that starts with </a:t>
            </a:r>
            <a:r>
              <a:rPr sz="1200" b="0" i="0">
                <a:solidFill>
                  <a:srgbClr val="202020"/>
                </a:solidFill>
                <a:latin typeface="Consolas"/>
              </a:rPr>
              <a:t>_bdh_</a:t>
            </a:r>
            <a:r>
              <a:rPr sz="1250" b="0" i="0">
                <a:solidFill>
                  <a:srgbClr val="202020"/>
                </a:solidFill>
                <a:latin typeface="Calibri"/>
              </a:rPr>
              <a:t> (like </a:t>
            </a:r>
            <a:r>
              <a:rPr sz="1200" b="0" i="0">
                <a:solidFill>
                  <a:srgbClr val="202020"/>
                </a:solidFill>
                <a:latin typeface="Consolas"/>
              </a:rPr>
              <a:t>_bdh_Description</a:t>
            </a:r>
            <a:r>
              <a:rPr sz="1250" b="0" i="0">
                <a:solidFill>
                  <a:srgbClr val="202020"/>
                </a:solidFill>
                <a:latin typeface="Calibri"/>
              </a:rPr>
              <a:t>) is not written as a property — instead its text is folded into the item's </a:t>
            </a:r>
            <a:r>
              <a:rPr sz="1250" b="1" i="0">
                <a:solidFill>
                  <a:srgbClr val="202020"/>
                </a:solidFill>
                <a:latin typeface="Calibri"/>
              </a:rPr>
              <a:t>searchable content body</a:t>
            </a:r>
            <a:r>
              <a:rPr sz="1250" b="0" i="0">
                <a:solidFill>
                  <a:srgbClr val="202020"/>
                </a:solidFill>
                <a:latin typeface="Calibri"/>
              </a:rPr>
              <a:t>, along with the display name and a final "Data as of" line. That body is what Copilot reads when it grounds an answer. Columns you do not list are simply not indexed; custom columns are fully supported — just add them to the mapping.</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736</a:t>
            </a:r>
          </a:p>
        </p:txBody>
      </p:sp>
    </p:spTree>
  </p:cSld>
  <p:clrMapOvr>
    <a:masterClrMapping/>
  </p:clrMapOvr>
</p:sld>
</file>

<file path=ppt/slides/slide7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5.4 The objects shipped by default</a:t>
            </a:r>
          </a:p>
        </p:txBody>
      </p:sp>
      <p:graphicFrame>
        <p:nvGraphicFramePr>
          <p:cNvPr id="5" name="Table 4"/>
          <p:cNvGraphicFramePr>
            <a:graphicFrameLocks noGrp="1"/>
          </p:cNvGraphicFramePr>
          <p:nvPr/>
        </p:nvGraphicFramePr>
        <p:xfrm>
          <a:off x="502920" y="1188720"/>
          <a:ext cx="11185855" cy="230428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Object (BDH)</a:t>
                      </a:r>
                    </a:p>
                  </a:txBody>
                  <a:tcPr marT="25400" marB="25400">
                    <a:solidFill>
                      <a:srgbClr val="2E5496"/>
                    </a:solidFill>
                  </a:tcPr>
                </a:tc>
                <a:tc>
                  <a:txBody>
                    <a:bodyPr wrap="square"/>
                    <a:lstStyle/>
                    <a:p>
                      <a:r>
                        <a:rPr sz="1050" b="1" i="0">
                          <a:solidFill>
                            <a:srgbClr val="FFFFFF"/>
                          </a:solidFill>
                          <a:latin typeface="Calibri"/>
                        </a:rPr>
                        <a:t>Shown in Copilot as</a:t>
                      </a:r>
                    </a:p>
                  </a:txBody>
                  <a:tcPr marT="25400" marB="25400">
                    <a:solidFill>
                      <a:srgbClr val="2E5496"/>
                    </a:solidFill>
                  </a:tcPr>
                </a:tc>
                <a:tc>
                  <a:txBody>
                    <a:bodyPr wrap="square"/>
                    <a:lstStyle/>
                    <a:p>
                      <a:r>
                        <a:rPr sz="1050" b="1" i="0">
                          <a:solidFill>
                            <a:srgbClr val="FFFFFF"/>
                          </a:solidFill>
                          <a:latin typeface="Calibri"/>
                        </a:rPr>
                        <a:t>Default ACL mode</a:t>
                      </a:r>
                    </a:p>
                  </a:txBody>
                  <a:tcPr marT="25400" marB="25400">
                    <a:solidFill>
                      <a:srgbClr val="2E5496"/>
                    </a:solidFill>
                  </a:tcPr>
                </a:tc>
              </a:tr>
              <a:tr h="384048">
                <a:tc>
                  <a:txBody>
                    <a:bodyPr wrap="square"/>
                    <a:lstStyle/>
                    <a:p>
                      <a:r>
                        <a:rPr sz="950" b="0" i="0">
                          <a:solidFill>
                            <a:srgbClr val="202020"/>
                          </a:solidFill>
                          <a:latin typeface="Calibri"/>
                        </a:rPr>
                        <a:t>Contact</a:t>
                      </a:r>
                    </a:p>
                  </a:txBody>
                  <a:tcPr marT="12700" marB="12700">
                    <a:solidFill>
                      <a:srgbClr val="FFFFFF"/>
                    </a:solidFill>
                  </a:tcPr>
                </a:tc>
                <a:tc>
                  <a:txBody>
                    <a:bodyPr wrap="square"/>
                    <a:lstStyle/>
                    <a:p>
                      <a:r>
                        <a:rPr sz="950" b="0" i="0">
                          <a:solidFill>
                            <a:srgbClr val="202020"/>
                          </a:solidFill>
                          <a:latin typeface="Calibri"/>
                        </a:rPr>
                        <a:t>Contact</a:t>
                      </a:r>
                    </a:p>
                  </a:txBody>
                  <a:tcPr marT="12700" marB="12700">
                    <a:solidFill>
                      <a:srgbClr val="FFFFFF"/>
                    </a:solidFill>
                  </a:tcPr>
                </a:tc>
                <a:tc>
                  <a:txBody>
                    <a:bodyPr wrap="square"/>
                    <a:lstStyle/>
                    <a:p>
                      <a:r>
                        <a:rPr sz="950" b="0" i="0">
                          <a:solidFill>
                            <a:srgbClr val="202020"/>
                          </a:solidFill>
                          <a:latin typeface="Calibri"/>
                        </a:rPr>
                        <a:t>ownerOnly</a:t>
                      </a:r>
                    </a:p>
                  </a:txBody>
                  <a:tcPr marT="12700" marB="12700">
                    <a:solidFill>
                      <a:srgbClr val="FFFFFF"/>
                    </a:solidFill>
                  </a:tcPr>
                </a:tc>
              </a:tr>
              <a:tr h="384048">
                <a:tc>
                  <a:txBody>
                    <a:bodyPr wrap="square"/>
                    <a:lstStyle/>
                    <a:p>
                      <a:r>
                        <a:rPr sz="950" b="0" i="0">
                          <a:solidFill>
                            <a:srgbClr val="202020"/>
                          </a:solidFill>
                          <a:latin typeface="Calibri"/>
                        </a:rPr>
                        <a:t>Account</a:t>
                      </a:r>
                    </a:p>
                  </a:txBody>
                  <a:tcPr marT="12700" marB="12700">
                    <a:solidFill>
                      <a:srgbClr val="F7F9FC"/>
                    </a:solidFill>
                  </a:tcPr>
                </a:tc>
                <a:tc>
                  <a:txBody>
                    <a:bodyPr wrap="square"/>
                    <a:lstStyle/>
                    <a:p>
                      <a:r>
                        <a:rPr sz="950" b="0" i="0">
                          <a:solidFill>
                            <a:srgbClr val="202020"/>
                          </a:solidFill>
                          <a:latin typeface="Calibri"/>
                        </a:rPr>
                        <a:t>Client</a:t>
                      </a:r>
                    </a:p>
                  </a:txBody>
                  <a:tcPr marT="12700" marB="12700">
                    <a:solidFill>
                      <a:srgbClr val="F7F9FC"/>
                    </a:solidFill>
                  </a:tcPr>
                </a:tc>
                <a:tc>
                  <a:txBody>
                    <a:bodyPr wrap="square"/>
                    <a:lstStyle/>
                    <a:p>
                      <a:r>
                        <a:rPr sz="950" b="0" i="0">
                          <a:solidFill>
                            <a:srgbClr val="202020"/>
                          </a:solidFill>
                          <a:latin typeface="Calibri"/>
                        </a:rPr>
                        <a:t>group (fixed Entra group)</a:t>
                      </a:r>
                    </a:p>
                  </a:txBody>
                  <a:tcPr marT="12700" marB="12700">
                    <a:solidFill>
                      <a:srgbClr val="F7F9FC"/>
                    </a:solidFill>
                  </a:tcPr>
                </a:tc>
              </a:tr>
              <a:tr h="384048">
                <a:tc>
                  <a:txBody>
                    <a:bodyPr wrap="square"/>
                    <a:lstStyle/>
                    <a:p>
                      <a:r>
                        <a:rPr sz="950" b="0" i="0">
                          <a:solidFill>
                            <a:srgbClr val="202020"/>
                          </a:solidFill>
                          <a:latin typeface="Calibri"/>
                        </a:rPr>
                        <a:t>Opportunity</a:t>
                      </a:r>
                    </a:p>
                  </a:txBody>
                  <a:tcPr marT="12700" marB="12700">
                    <a:solidFill>
                      <a:srgbClr val="FFFFFF"/>
                    </a:solidFill>
                  </a:tcPr>
                </a:tc>
                <a:tc>
                  <a:txBody>
                    <a:bodyPr wrap="square"/>
                    <a:lstStyle/>
                    <a:p>
                      <a:r>
                        <a:rPr sz="950" b="0" i="0">
                          <a:solidFill>
                            <a:srgbClr val="202020"/>
                          </a:solidFill>
                          <a:latin typeface="Calibri"/>
                        </a:rPr>
                        <a:t>Opportunity</a:t>
                      </a:r>
                    </a:p>
                  </a:txBody>
                  <a:tcPr marT="12700" marB="12700">
                    <a:solidFill>
                      <a:srgbClr val="FFFFFF"/>
                    </a:solidFill>
                  </a:tcPr>
                </a:tc>
                <a:tc>
                  <a:txBody>
                    <a:bodyPr wrap="square"/>
                    <a:lstStyle/>
                    <a:p>
                      <a:r>
                        <a:rPr sz="950" b="0" i="0">
                          <a:solidFill>
                            <a:srgbClr val="202020"/>
                          </a:solidFill>
                          <a:latin typeface="Calibri"/>
                        </a:rPr>
                        <a:t>ownerOnly</a:t>
                      </a:r>
                    </a:p>
                  </a:txBody>
                  <a:tcPr marT="12700" marB="12700">
                    <a:solidFill>
                      <a:srgbClr val="FFFFFF"/>
                    </a:solidFill>
                  </a:tcPr>
                </a:tc>
              </a:tr>
              <a:tr h="384048">
                <a:tc>
                  <a:txBody>
                    <a:bodyPr wrap="square"/>
                    <a:lstStyle/>
                    <a:p>
                      <a:r>
                        <a:rPr sz="950" b="0" i="0">
                          <a:solidFill>
                            <a:srgbClr val="202020"/>
                          </a:solidFill>
                          <a:latin typeface="Calibri"/>
                        </a:rPr>
                        <a:t>Case</a:t>
                      </a:r>
                    </a:p>
                  </a:txBody>
                  <a:tcPr marT="12700" marB="12700">
                    <a:solidFill>
                      <a:srgbClr val="F7F9FC"/>
                    </a:solidFill>
                  </a:tcPr>
                </a:tc>
                <a:tc>
                  <a:txBody>
                    <a:bodyPr wrap="square"/>
                    <a:lstStyle/>
                    <a:p>
                      <a:r>
                        <a:rPr sz="950" b="0" i="0">
                          <a:solidFill>
                            <a:srgbClr val="202020"/>
                          </a:solidFill>
                          <a:latin typeface="Calibri"/>
                        </a:rPr>
                        <a:t>Case</a:t>
                      </a:r>
                    </a:p>
                  </a:txBody>
                  <a:tcPr marT="12700" marB="12700">
                    <a:solidFill>
                      <a:srgbClr val="F7F9FC"/>
                    </a:solidFill>
                  </a:tcPr>
                </a:tc>
                <a:tc>
                  <a:txBody>
                    <a:bodyPr wrap="square"/>
                    <a:lstStyle/>
                    <a:p>
                      <a:r>
                        <a:rPr sz="950" b="0" i="0">
                          <a:solidFill>
                            <a:srgbClr val="202020"/>
                          </a:solidFill>
                          <a:latin typeface="Calibri"/>
                        </a:rPr>
                        <a:t>ownerOnly</a:t>
                      </a:r>
                    </a:p>
                  </a:txBody>
                  <a:tcPr marT="12700" marB="12700">
                    <a:solidFill>
                      <a:srgbClr val="F7F9FC"/>
                    </a:solidFill>
                  </a:tcPr>
                </a:tc>
              </a:tr>
              <a:tr h="384048">
                <a:tc>
                  <a:txBody>
                    <a:bodyPr wrap="square"/>
                    <a:lstStyle/>
                    <a:p>
                      <a:r>
                        <a:rPr sz="950" b="0" i="0">
                          <a:solidFill>
                            <a:srgbClr val="202020"/>
                          </a:solidFill>
                          <a:latin typeface="Calibri"/>
                        </a:rPr>
                        <a:t>Lead</a:t>
                      </a:r>
                    </a:p>
                  </a:txBody>
                  <a:tcPr marT="12700" marB="12700">
                    <a:solidFill>
                      <a:srgbClr val="FFFFFF"/>
                    </a:solidFill>
                  </a:tcPr>
                </a:tc>
                <a:tc>
                  <a:txBody>
                    <a:bodyPr wrap="square"/>
                    <a:lstStyle/>
                    <a:p>
                      <a:r>
                        <a:rPr sz="950" b="0" i="0">
                          <a:solidFill>
                            <a:srgbClr val="202020"/>
                          </a:solidFill>
                          <a:latin typeface="Calibri"/>
                        </a:rPr>
                        <a:t>Lead</a:t>
                      </a:r>
                    </a:p>
                  </a:txBody>
                  <a:tcPr marT="12700" marB="12700">
                    <a:solidFill>
                      <a:srgbClr val="FFFFFF"/>
                    </a:solidFill>
                  </a:tcPr>
                </a:tc>
                <a:tc>
                  <a:txBody>
                    <a:bodyPr wrap="square"/>
                    <a:lstStyle/>
                    <a:p>
                      <a:r>
                        <a:rPr sz="950" b="0" i="0">
                          <a:solidFill>
                            <a:srgbClr val="202020"/>
                          </a:solidFill>
                          <a:latin typeface="Calibri"/>
                        </a:rPr>
                        <a:t>ownerOnly</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737</a:t>
            </a:r>
          </a:p>
        </p:txBody>
      </p:sp>
    </p:spTree>
  </p:cSld>
  <p:clrMapOvr>
    <a:masterClrMapping/>
  </p:clrMapOvr>
</p:sld>
</file>

<file path=ppt/slides/slide7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5.4 The objects shipped by default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These are a sensible default set; adjust the object list, field mappings and ACL modes in </a:t>
            </a:r>
            <a:r>
              <a:rPr sz="1200" b="0" i="0">
                <a:solidFill>
                  <a:srgbClr val="202020"/>
                </a:solidFill>
                <a:latin typeface="Consolas"/>
              </a:rPr>
              <a:t>config/schema.json</a:t>
            </a:r>
            <a:r>
              <a:rPr sz="1250" b="0" i="0">
                <a:solidFill>
                  <a:srgbClr val="202020"/>
                </a:solidFill>
                <a:latin typeface="Calibri"/>
              </a:rPr>
              <a:t> to match your BDH export.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738</a:t>
            </a:r>
          </a:p>
        </p:txBody>
      </p:sp>
    </p:spTree>
  </p:cSld>
  <p:clrMapOvr>
    <a:masterClrMapping/>
  </p:clrMapOvr>
</p:sld>
</file>

<file path=ppt/slides/slide7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5.5 The permission model — coarse by design</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This is the most important thing to understand about the BDH connector. An </a:t>
            </a:r>
            <a:r>
              <a:rPr sz="1250" b="1" i="0">
                <a:solidFill>
                  <a:srgbClr val="202020"/>
                </a:solidFill>
                <a:latin typeface="Calibri"/>
              </a:rPr>
              <a:t>ACL</a:t>
            </a:r>
            <a:r>
              <a:rPr sz="1250" b="0" i="0">
                <a:solidFill>
                  <a:srgbClr val="202020"/>
                </a:solidFill>
                <a:latin typeface="Calibri"/>
              </a:rPr>
              <a:t> (access control list) is the list of Entra ID identities allowed to see an item; Copilot only ever shows an item to someone on its ACL. Because BDH mirrors the Salesforce *data* but </a:t>
            </a:r>
            <a:r>
              <a:rPr sz="1250" b="1" i="0">
                <a:solidFill>
                  <a:srgbClr val="202020"/>
                </a:solidFill>
                <a:latin typeface="Calibri"/>
              </a:rPr>
              <a:t>not</a:t>
            </a:r>
            <a:r>
              <a:rPr sz="1250" b="0" i="0">
                <a:solidFill>
                  <a:srgbClr val="202020"/>
                </a:solidFill>
                <a:latin typeface="Calibri"/>
              </a:rPr>
              <a:t> the Salesforce sharing tables, this connector cannot reproduce Salesforce's full sharing model. It offers three coarse modes, set per object with </a:t>
            </a:r>
            <a:r>
              <a:rPr sz="1200" b="0" i="0">
                <a:solidFill>
                  <a:srgbClr val="202020"/>
                </a:solidFill>
                <a:latin typeface="Consolas"/>
              </a:rPr>
              <a:t>aclMode</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739</a:t>
            </a:r>
          </a:p>
        </p:txBody>
      </p:sp>
    </p:spTree>
  </p:cSld>
  <p:clrMapOvr>
    <a:masterClrMapping/>
  </p:clrMapOvr>
</p:sld>
</file>

<file path=ppt/slides/slide7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5.5 The permission model — coarse by design</a:t>
            </a:r>
          </a:p>
        </p:txBody>
      </p:sp>
      <p:graphicFrame>
        <p:nvGraphicFramePr>
          <p:cNvPr id="5" name="Table 4"/>
          <p:cNvGraphicFramePr>
            <a:graphicFrameLocks noGrp="1"/>
          </p:cNvGraphicFramePr>
          <p:nvPr/>
        </p:nvGraphicFramePr>
        <p:xfrm>
          <a:off x="502920" y="1188720"/>
          <a:ext cx="11185855" cy="1536192"/>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Mode</a:t>
                      </a:r>
                    </a:p>
                  </a:txBody>
                  <a:tcPr marT="25400" marB="25400">
                    <a:solidFill>
                      <a:srgbClr val="2E5496"/>
                    </a:solidFill>
                  </a:tcPr>
                </a:tc>
                <a:tc>
                  <a:txBody>
                    <a:bodyPr wrap="square"/>
                    <a:lstStyle/>
                    <a:p>
                      <a:r>
                        <a:rPr sz="1050" b="1" i="0">
                          <a:solidFill>
                            <a:srgbClr val="FFFFFF"/>
                          </a:solidFill>
                          <a:latin typeface="Calibri"/>
                        </a:rPr>
                        <a:t>Who can see the item</a:t>
                      </a:r>
                    </a:p>
                  </a:txBody>
                  <a:tcPr marT="25400" marB="25400">
                    <a:solidFill>
                      <a:srgbClr val="2E5496"/>
                    </a:solidFill>
                  </a:tcPr>
                </a:tc>
                <a:tc>
                  <a:txBody>
                    <a:bodyPr wrap="square"/>
                    <a:lstStyle/>
                    <a:p>
                      <a:r>
                        <a:rPr sz="1050" b="1" i="0">
                          <a:solidFill>
                            <a:srgbClr val="FFFFFF"/>
                          </a:solidFill>
                          <a:latin typeface="Calibri"/>
                        </a:rPr>
                        <a:t>When to use it</a:t>
                      </a:r>
                    </a:p>
                  </a:txBody>
                  <a:tcPr marT="25400" marB="25400">
                    <a:solidFill>
                      <a:srgbClr val="2E5496"/>
                    </a:solidFill>
                  </a:tcPr>
                </a:tc>
              </a:tr>
              <a:tr h="384048">
                <a:tc>
                  <a:txBody>
                    <a:bodyPr wrap="square"/>
                    <a:lstStyle/>
                    <a:p>
                      <a:r>
                        <a:rPr sz="950" b="0" i="0">
                          <a:solidFill>
                            <a:srgbClr val="202020"/>
                          </a:solidFill>
                          <a:latin typeface="Calibri"/>
                        </a:rPr>
                        <a:t>ownerOnly (default)</a:t>
                      </a:r>
                    </a:p>
                  </a:txBody>
                  <a:tcPr marT="12700" marB="12700">
                    <a:solidFill>
                      <a:srgbClr val="FFFFFF"/>
                    </a:solidFill>
                  </a:tcPr>
                </a:tc>
                <a:tc>
                  <a:txBody>
                    <a:bodyPr wrap="square"/>
                    <a:lstStyle/>
                    <a:p>
                      <a:r>
                        <a:rPr sz="950" b="0" i="0">
                          <a:solidFill>
                            <a:srgbClr val="202020"/>
                          </a:solidFill>
                          <a:latin typeface="Calibri"/>
                        </a:rPr>
                        <a:t>Only the record's owner — OwnerId resolved to an Entra identity, with OwnerEmail as a fallback</a:t>
                      </a:r>
                    </a:p>
                  </a:txBody>
                  <a:tcPr marT="12700" marB="12700">
                    <a:solidFill>
                      <a:srgbClr val="FFFFFF"/>
                    </a:solidFill>
                  </a:tcPr>
                </a:tc>
                <a:tc>
                  <a:txBody>
                    <a:bodyPr wrap="square"/>
                    <a:lstStyle/>
                    <a:p>
                      <a:r>
                        <a:rPr sz="950" b="0" i="0">
                          <a:solidFill>
                            <a:srgbClr val="202020"/>
                          </a:solidFill>
                          <a:latin typeface="Calibri"/>
                        </a:rPr>
                        <a:t>Records that should stay with the person who owns them (Contact, Opportunity, Case, Lead)</a:t>
                      </a:r>
                    </a:p>
                  </a:txBody>
                  <a:tcPr marT="12700" marB="12700">
                    <a:solidFill>
                      <a:srgbClr val="FFFFFF"/>
                    </a:solidFill>
                  </a:tcPr>
                </a:tc>
              </a:tr>
              <a:tr h="384048">
                <a:tc>
                  <a:txBody>
                    <a:bodyPr wrap="square"/>
                    <a:lstStyle/>
                    <a:p>
                      <a:r>
                        <a:rPr sz="950" b="0" i="0">
                          <a:solidFill>
                            <a:srgbClr val="202020"/>
                          </a:solidFill>
                          <a:latin typeface="Calibri"/>
                        </a:rPr>
                        <a:t>group</a:t>
                      </a:r>
                    </a:p>
                  </a:txBody>
                  <a:tcPr marT="12700" marB="12700">
                    <a:solidFill>
                      <a:srgbClr val="F7F9FC"/>
                    </a:solidFill>
                  </a:tcPr>
                </a:tc>
                <a:tc>
                  <a:txBody>
                    <a:bodyPr wrap="square"/>
                    <a:lstStyle/>
                    <a:p>
                      <a:r>
                        <a:rPr sz="950" b="0" i="0">
                          <a:solidFill>
                            <a:srgbClr val="202020"/>
                          </a:solidFill>
                          <a:latin typeface="Calibri"/>
                        </a:rPr>
                        <a:t>One fixed Entra group (aclGroupId), e.g. an "all sales" group</a:t>
                      </a:r>
                    </a:p>
                  </a:txBody>
                  <a:tcPr marT="12700" marB="12700">
                    <a:solidFill>
                      <a:srgbClr val="F7F9FC"/>
                    </a:solidFill>
                  </a:tcPr>
                </a:tc>
                <a:tc>
                  <a:txBody>
                    <a:bodyPr wrap="square"/>
                    <a:lstStyle/>
                    <a:p>
                      <a:r>
                        <a:rPr sz="950" b="0" i="0">
                          <a:solidFill>
                            <a:srgbClr val="202020"/>
                          </a:solidFill>
                          <a:latin typeface="Calibri"/>
                        </a:rPr>
                        <a:t>Objects the whole org or a team should see, e.g. Client/Account</a:t>
                      </a:r>
                    </a:p>
                  </a:txBody>
                  <a:tcPr marT="12700" marB="12700">
                    <a:solidFill>
                      <a:srgbClr val="F7F9FC"/>
                    </a:solidFill>
                  </a:tcPr>
                </a:tc>
              </a:tr>
              <a:tr h="384048">
                <a:tc>
                  <a:txBody>
                    <a:bodyPr wrap="square"/>
                    <a:lstStyle/>
                    <a:p>
                      <a:r>
                        <a:rPr sz="950" b="0" i="0">
                          <a:solidFill>
                            <a:srgbClr val="202020"/>
                          </a:solidFill>
                          <a:latin typeface="Calibri"/>
                        </a:rPr>
                        <a:t>public</a:t>
                      </a:r>
                    </a:p>
                  </a:txBody>
                  <a:tcPr marT="12700" marB="12700">
                    <a:solidFill>
                      <a:srgbClr val="FFFFFF"/>
                    </a:solidFill>
                  </a:tcPr>
                </a:tc>
                <a:tc>
                  <a:txBody>
                    <a:bodyPr wrap="square"/>
                    <a:lstStyle/>
                    <a:p>
                      <a:r>
                        <a:rPr sz="950" b="0" i="0">
                          <a:solidFill>
                            <a:srgbClr val="202020"/>
                          </a:solidFill>
                          <a:latin typeface="Calibri"/>
                        </a:rPr>
                        <a:t>Everyone except guests</a:t>
                      </a:r>
                    </a:p>
                  </a:txBody>
                  <a:tcPr marT="12700" marB="12700">
                    <a:solidFill>
                      <a:srgbClr val="FFFFFF"/>
                    </a:solidFill>
                  </a:tcPr>
                </a:tc>
                <a:tc>
                  <a:txBody>
                    <a:bodyPr wrap="square"/>
                    <a:lstStyle/>
                    <a:p>
                      <a:r>
                        <a:rPr sz="950" b="0" i="0">
                          <a:solidFill>
                            <a:srgbClr val="202020"/>
                          </a:solidFill>
                          <a:latin typeface="Calibri"/>
                        </a:rPr>
                        <a:t>Genuine reference data everyone may see — an explicit, conscious opt-in</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740</a:t>
            </a:r>
          </a:p>
        </p:txBody>
      </p:sp>
    </p:spTree>
  </p:cSld>
  <p:clrMapOvr>
    <a:masterClrMapping/>
  </p:clrMapOvr>
</p:sld>
</file>

<file path=ppt/slides/slide7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5.5 The permission model — coarse by design</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Two optional settings adjust every resolved ACL: </a:t>
            </a:r>
            <a:r>
              <a:rPr sz="1200" b="0" i="0">
                <a:solidFill>
                  <a:srgbClr val="202020"/>
                </a:solidFill>
                <a:latin typeface="Consolas"/>
              </a:rPr>
              <a:t>BDH_ADMIN_GROUP_ID</a:t>
            </a:r>
            <a:r>
              <a:rPr sz="1250" b="0" i="0">
                <a:solidFill>
                  <a:srgbClr val="202020"/>
                </a:solidFill>
                <a:latin typeface="Calibri"/>
              </a:rPr>
              <a:t> appends an operators/admin group to every non-public item, and </a:t>
            </a:r>
            <a:r>
              <a:rPr sz="1200" b="0" i="0">
                <a:solidFill>
                  <a:srgbClr val="202020"/>
                </a:solidFill>
                <a:latin typeface="Consolas"/>
              </a:rPr>
              <a:t>FALLBACK_ACL_GROUP_ID</a:t>
            </a:r>
            <a:r>
              <a:rPr sz="1250" b="0" i="0">
                <a:solidFill>
                  <a:srgbClr val="202020"/>
                </a:solidFill>
                <a:latin typeface="Calibri"/>
              </a:rPr>
              <a:t> grants a default group </a:t>
            </a:r>
            <a:r>
              <a:rPr sz="1250" b="1" i="0">
                <a:solidFill>
                  <a:srgbClr val="202020"/>
                </a:solidFill>
                <a:latin typeface="Calibri"/>
              </a:rPr>
              <a:t>only</a:t>
            </a:r>
            <a:r>
              <a:rPr sz="1250" b="0" i="0">
                <a:solidFill>
                  <a:srgbClr val="202020"/>
                </a:solidFill>
                <a:latin typeface="Calibri"/>
              </a:rPr>
              <a:t> when nothing else resolved. The fallback never widens an ACL that already resolved.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741</a:t>
            </a:r>
          </a:p>
        </p:txBody>
      </p:sp>
    </p:spTree>
  </p:cSld>
  <p:clrMapOvr>
    <a:masterClrMapping/>
  </p:clrMapOvr>
</p:sld>
</file>

<file path=ppt/slides/slide7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5.5 The permission model — coarse by design</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How this differs from live Salesforce — and what it means for access. In Salesforce a record can be shared by role hierarchy, sharing rules or teams. None of that exists in BDH. Under </a:t>
            </a:r>
            <a:r>
              <a:rPr sz="1350" b="0" i="0">
                <a:solidFill>
                  <a:srgbClr val="202020"/>
                </a:solidFill>
                <a:latin typeface="Consolas"/>
              </a:rPr>
              <a:t>ownerOnly</a:t>
            </a:r>
            <a:r>
              <a:rPr sz="1400" b="0" i="0">
                <a:solidFill>
                  <a:srgbClr val="202020"/>
                </a:solidFill>
                <a:latin typeface="Calibri"/>
              </a:rPr>
              <a:t>, a record that Salesforce shares with a whole team is visible </a:t>
            </a:r>
            <a:r>
              <a:rPr sz="1400" b="1" i="0">
                <a:solidFill>
                  <a:srgbClr val="202020"/>
                </a:solidFill>
                <a:latin typeface="Calibri"/>
              </a:rPr>
              <a:t>only to its owner</a:t>
            </a:r>
            <a:r>
              <a:rPr sz="1400" b="0" i="0">
                <a:solidFill>
                  <a:srgbClr val="202020"/>
                </a:solidFill>
                <a:latin typeface="Calibri"/>
              </a:rPr>
              <a:t> here. If a record type's sharing matters beyond simple ownership, either set </a:t>
            </a:r>
            <a:r>
              <a:rPr sz="1350" b="0" i="0">
                <a:solidFill>
                  <a:srgbClr val="202020"/>
                </a:solidFill>
                <a:latin typeface="Consolas"/>
              </a:rPr>
              <a:t>aclMode=group</a:t>
            </a:r>
            <a:r>
              <a:rPr sz="1400" b="0" i="0">
                <a:solidFill>
                  <a:srgbClr val="202020"/>
                </a:solidFill>
                <a:latin typeface="Calibri"/>
              </a:rPr>
              <a:t> (or, consciously, </a:t>
            </a:r>
            <a:r>
              <a:rPr sz="1350" b="0" i="0">
                <a:solidFill>
                  <a:srgbClr val="202020"/>
                </a:solidFill>
                <a:latin typeface="Consolas"/>
              </a:rPr>
              <a:t>public</a:t>
            </a:r>
            <a:r>
              <a:rPr sz="1400" b="0" i="0">
                <a:solidFill>
                  <a:srgbClr val="202020"/>
                </a:solidFill>
                <a:latin typeface="Calibri"/>
              </a:rPr>
              <a:t>), or index it with the live Salesforce connector instead. Do not assume Salesforce sharing semantics carry over.</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742</a:t>
            </a:r>
          </a:p>
        </p:txBody>
      </p:sp>
    </p:spTree>
  </p:cSld>
  <p:clrMapOvr>
    <a:masterClrMapping/>
  </p:clrMapOvr>
</p:sld>
</file>

<file path=ppt/slides/slide7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5.5 The permission model — coarse by design</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Two safety behaviours protect against accidental exposure:</a:t>
            </a:r>
          </a:p>
          <a:p>
            <a:pPr>
              <a:spcBef>
                <a:spcPts val="100"/>
              </a:spcBef>
              <a:spcAft>
                <a:spcPts val="200"/>
              </a:spcAft>
            </a:pPr>
            <a:r>
              <a:rPr sz="1250" b="1" i="0">
                <a:solidFill>
                  <a:srgbClr val="2E5496"/>
                </a:solidFill>
                <a:latin typeface="Calibri"/>
              </a:rPr>
              <a:t>•  </a:t>
            </a:r>
            <a:r>
              <a:rPr sz="1250" b="1" i="0">
                <a:solidFill>
                  <a:srgbClr val="202020"/>
                </a:solidFill>
                <a:latin typeface="Calibri"/>
              </a:rPr>
              <a:t>Zero-principal records are skipped, never made public.</a:t>
            </a:r>
            <a:r>
              <a:rPr sz="1250" b="0" i="0">
                <a:solidFill>
                  <a:srgbClr val="202020"/>
                </a:solidFill>
                <a:latin typeface="Calibri"/>
              </a:rPr>
              <a:t> If a record resolves to no Entra identities at all (and no fallback group is set), it is not ingested — the connector never falls open to a world-readable item.</a:t>
            </a:r>
          </a:p>
          <a:p>
            <a:pPr>
              <a:spcBef>
                <a:spcPts val="100"/>
              </a:spcBef>
              <a:spcAft>
                <a:spcPts val="200"/>
              </a:spcAft>
            </a:pPr>
            <a:r>
              <a:rPr sz="1250" b="1" i="0">
                <a:solidFill>
                  <a:srgbClr val="2E5496"/>
                </a:solidFill>
                <a:latin typeface="Calibri"/>
              </a:rPr>
              <a:t>•  </a:t>
            </a:r>
            <a:r>
              <a:rPr sz="1250" b="1" i="0">
                <a:solidFill>
                  <a:srgbClr val="202020"/>
                </a:solidFill>
                <a:latin typeface="Calibri"/>
              </a:rPr>
              <a:t>An incomplete user directory fails loudly.</a:t>
            </a:r>
            <a:r>
              <a:rPr sz="1250" b="0" i="0">
                <a:solidFill>
                  <a:srgbClr val="202020"/>
                </a:solidFill>
                <a:latin typeface="Calibri"/>
              </a:rPr>
              <a:t> ACLs depend on a directory of Salesforce users (see </a:t>
            </a:r>
            <a:r>
              <a:rPr sz="1250" b="1" i="0">
                <a:solidFill>
                  <a:srgbClr val="202020"/>
                </a:solidFill>
                <a:latin typeface="Calibri"/>
              </a:rPr>
              <a:t>Section 8</a:t>
            </a:r>
            <a:r>
              <a:rPr sz="1250" b="0" i="0">
                <a:solidFill>
                  <a:srgbClr val="202020"/>
                </a:solidFill>
                <a:latin typeface="Calibri"/>
              </a:rPr>
              <a:t> and the runbook in </a:t>
            </a:r>
            <a:r>
              <a:rPr sz="1250" b="1" i="0">
                <a:solidFill>
                  <a:srgbClr val="202020"/>
                </a:solidFill>
                <a:latin typeface="Calibri"/>
              </a:rPr>
              <a:t>Section 13</a:t>
            </a:r>
            <a:r>
              <a:rPr sz="1250" b="0" i="0">
                <a:solidFill>
                  <a:srgbClr val="202020"/>
                </a:solidFill>
                <a:latin typeface="Calibri"/>
              </a:rPr>
              <a:t>). If that directory is only partially read, the connector refuses the sync rather than quietly applying coarse ACLs across the whole crawl.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743</a:t>
            </a:r>
          </a:p>
        </p:txBody>
      </p:sp>
    </p:spTree>
  </p:cSld>
  <p:clrMapOvr>
    <a:masterClrMapping/>
  </p:clrMapOvr>
</p:sld>
</file>

<file path=ppt/slides/slide7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Hadoop BDH Connector</a:t>
            </a:r>
          </a:p>
          <a:p>
            <a:r>
              <a:rPr sz="3000" b="1" i="0">
                <a:solidFill>
                  <a:srgbClr val="1F3864"/>
                </a:solidFill>
                <a:latin typeface="Calibri"/>
              </a:rPr>
              <a:t>6. The filter-first design (the signature feature)</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744</a:t>
            </a:r>
          </a:p>
        </p:txBody>
      </p:sp>
    </p:spTree>
  </p:cSld>
  <p:clrMapOvr>
    <a:masterClrMapping/>
  </p:clrMapOvr>
</p:sld>
</file>

<file path=ppt/slides/slide7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 The filter-first design (the signature feature)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BDH holds more than 150 million rows. Indexing all of it is neither possible nor useful, so the connector is built filter-first: it is configured to read as little as possible. This is the connector's signature feature and the thing you will tune most often.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745</a:t>
            </a:r>
          </a:p>
        </p:txBody>
      </p:sp>
    </p:spTree>
  </p:cSld>
  <p:clrMapOvr>
    <a:masterClrMapping/>
  </p:clrMapOvr>
</p:sld>
</file>

<file path=ppt/slides/slide7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6.1 Why filtering is mandatory here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 single unfiltered object could mean scanning tens of millions of rows: hours of file reads, huge amounts of Graph write quota burned on records no one needs, and a self-inflicted outage. The filter layer, configured in </a:t>
            </a:r>
            <a:r>
              <a:rPr sz="1200" b="0" i="0">
                <a:solidFill>
                  <a:srgbClr val="202020"/>
                </a:solidFill>
                <a:latin typeface="Consolas"/>
              </a:rPr>
              <a:t>config/filters.json</a:t>
            </a:r>
            <a:r>
              <a:rPr sz="1250" b="0" i="0">
                <a:solidFill>
                  <a:srgbClr val="202020"/>
                </a:solidFill>
                <a:latin typeface="Calibri"/>
              </a:rPr>
              <a:t>, cuts the crawl down in three stages, run strictly in this order, each cheaper than the one it protects:</a:t>
            </a:r>
          </a:p>
          <a:p>
            <a:pPr>
              <a:spcBef>
                <a:spcPts val="100"/>
              </a:spcBef>
              <a:spcAft>
                <a:spcPts val="200"/>
              </a:spcAft>
            </a:pPr>
            <a:r>
              <a:rPr sz="1250" b="1" i="0">
                <a:solidFill>
                  <a:srgbClr val="2E5496"/>
                </a:solidFill>
                <a:latin typeface="Calibri"/>
              </a:rPr>
              <a:t>•  </a:t>
            </a:r>
            <a:r>
              <a:rPr sz="1250" b="1" i="0">
                <a:solidFill>
                  <a:srgbClr val="202020"/>
                </a:solidFill>
                <a:latin typeface="Calibri"/>
              </a:rPr>
              <a:t>Stage 1 — partition pruning (zero file reads).</a:t>
            </a:r>
            <a:r>
              <a:rPr sz="1250" b="0" i="0">
                <a:solidFill>
                  <a:srgbClr val="202020"/>
                </a:solidFill>
                <a:latin typeface="Calibri"/>
              </a:rPr>
              <a:t> While walking the object's directories, the connector checks each </a:t>
            </a:r>
            <a:r>
              <a:rPr sz="1200" b="0" i="0">
                <a:solidFill>
                  <a:srgbClr val="202020"/>
                </a:solidFill>
                <a:latin typeface="Consolas"/>
              </a:rPr>
              <a:t>key=value</a:t>
            </a:r>
            <a:r>
              <a:rPr sz="1250" b="0" i="0">
                <a:solidFill>
                  <a:srgbClr val="202020"/>
                </a:solidFill>
                <a:latin typeface="Calibri"/>
              </a:rPr>
              <a:t> folder against your partition rules and against the incremental watermark. A folder that fails is skipped entirely — none of its files are ever opened.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746</a:t>
            </a:r>
          </a:p>
        </p:txBody>
      </p:sp>
    </p:spTree>
  </p:cSld>
  <p:clrMapOvr>
    <a:masterClrMapping/>
  </p:clrMapOvr>
</p:sld>
</file>

<file path=ppt/slides/slide7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6.1 Why filtering is mandatory here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1" i="0">
                <a:solidFill>
                  <a:srgbClr val="202020"/>
                </a:solidFill>
                <a:latin typeface="Calibri"/>
              </a:rPr>
              <a:t>Stage 2 — record predicates (streamed).</a:t>
            </a:r>
            <a:r>
              <a:rPr sz="1250" b="0" i="0">
                <a:solidFill>
                  <a:srgbClr val="202020"/>
                </a:solidFill>
                <a:latin typeface="Calibri"/>
              </a:rPr>
              <a:t> Surviving files are read one row at a time and each row is tested against your record rules. Rejected rows are dropped before any permission resolution or Graph traffic.</a:t>
            </a:r>
          </a:p>
          <a:p>
            <a:pPr>
              <a:spcBef>
                <a:spcPts val="100"/>
              </a:spcBef>
              <a:spcAft>
                <a:spcPts val="200"/>
              </a:spcAft>
            </a:pPr>
            <a:r>
              <a:rPr sz="1250" b="1" i="0">
                <a:solidFill>
                  <a:srgbClr val="2E5496"/>
                </a:solidFill>
                <a:latin typeface="Calibri"/>
              </a:rPr>
              <a:t>•  </a:t>
            </a:r>
            <a:r>
              <a:rPr sz="1250" b="1" i="0">
                <a:solidFill>
                  <a:srgbClr val="202020"/>
                </a:solidFill>
                <a:latin typeface="Calibri"/>
              </a:rPr>
              <a:t>Stage 3 — the row cap (safety valve).</a:t>
            </a:r>
            <a:r>
              <a:rPr sz="1250" b="0" i="0">
                <a:solidFill>
                  <a:srgbClr val="202020"/>
                </a:solidFill>
                <a:latin typeface="Calibri"/>
              </a:rPr>
              <a:t> If an object still yields more than </a:t>
            </a:r>
            <a:r>
              <a:rPr sz="1200" b="0" i="0">
                <a:solidFill>
                  <a:srgbClr val="202020"/>
                </a:solidFill>
                <a:latin typeface="Consolas"/>
              </a:rPr>
              <a:t>BDH_MAX_RECORDS_PER_OBJECT</a:t>
            </a:r>
            <a:r>
              <a:rPr sz="1250" b="0" i="0">
                <a:solidFill>
                  <a:srgbClr val="202020"/>
                </a:solidFill>
                <a:latin typeface="Calibri"/>
              </a:rPr>
              <a:t> rows (default 500,000) the fetch stops, an alert fires, and the crawl is marked PARTIAL for that object. This is a failsafe, not a target.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747</a:t>
            </a:r>
          </a:p>
        </p:txBody>
      </p:sp>
    </p:spTree>
  </p:cSld>
  <p:clrMapOvr>
    <a:masterClrMapping/>
  </p:clrMapOvr>
</p:sld>
</file>

<file path=ppt/slides/slide7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6.2 Partition pruning — the highest-leverage filter</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 record predicate still costs a full read of every surviving file; a partition rule costs a single directory listing. So whenever a constraint can be expressed on a partition key (</a:t>
            </a:r>
            <a:r>
              <a:rPr sz="1200" b="0" i="0">
                <a:solidFill>
                  <a:srgbClr val="202020"/>
                </a:solidFill>
                <a:latin typeface="Consolas"/>
              </a:rPr>
              <a:t>dt</a:t>
            </a:r>
            <a:r>
              <a:rPr sz="1250" b="0" i="0">
                <a:solidFill>
                  <a:srgbClr val="202020"/>
                </a:solidFill>
                <a:latin typeface="Calibri"/>
              </a:rPr>
              <a:t>, </a:t>
            </a:r>
            <a:r>
              <a:rPr sz="1200" b="0" i="0">
                <a:solidFill>
                  <a:srgbClr val="202020"/>
                </a:solidFill>
                <a:latin typeface="Consolas"/>
              </a:rPr>
              <a:t>region</a:t>
            </a:r>
            <a:r>
              <a:rPr sz="1250" b="0" i="0">
                <a:solidFill>
                  <a:srgbClr val="202020"/>
                </a:solidFill>
                <a:latin typeface="Calibri"/>
              </a:rPr>
              <a:t>, …), express it there. The single most valuable rule you can write is a date window on </a:t>
            </a:r>
            <a:r>
              <a:rPr sz="1200" b="0" i="0">
                <a:solidFill>
                  <a:srgbClr val="202020"/>
                </a:solidFill>
                <a:latin typeface="Consolas"/>
              </a:rPr>
              <a:t>dt</a:t>
            </a:r>
            <a:r>
              <a:rPr sz="1250" b="0" i="0">
                <a:solidFill>
                  <a:srgbClr val="202020"/>
                </a:solidFill>
                <a:latin typeface="Calibri"/>
              </a:rPr>
              <a:t>, which bounds the crawl to recent nightly loads no matter how large the table is:</a:t>
            </a:r>
          </a:p>
          <a:p>
            <a:pPr>
              <a:spcBef>
                <a:spcPts val="100"/>
              </a:spcBef>
              <a:spcAft>
                <a:spcPts val="400"/>
              </a:spcAft>
            </a:pPr>
            <a:r>
              <a:rPr sz="1200" b="0" i="0">
                <a:solidFill>
                  <a:srgbClr val="202020"/>
                </a:solidFill>
                <a:latin typeface="Consolas"/>
              </a:rPr>
              <a:t>{ "key": "dt", "op": "withinLastDays", "value": "450" }</a:t>
            </a:r>
          </a:p>
          <a:p>
            <a:pPr>
              <a:spcBef>
                <a:spcPts val="100"/>
              </a:spcBef>
              <a:spcAft>
                <a:spcPts val="400"/>
              </a:spcAft>
            </a:pPr>
            <a:r>
              <a:rPr sz="1250" b="0" i="0">
                <a:solidFill>
                  <a:srgbClr val="202020"/>
                </a:solidFill>
                <a:latin typeface="Calibri"/>
              </a:rPr>
              <a:t>Partition rules live under </a:t>
            </a:r>
            <a:r>
              <a:rPr sz="1200" b="0" i="0">
                <a:solidFill>
                  <a:srgbClr val="202020"/>
                </a:solidFill>
                <a:latin typeface="Consolas"/>
              </a:rPr>
              <a:t>partition</a:t>
            </a:r>
            <a:r>
              <a:rPr sz="1250" b="0" i="0">
                <a:solidFill>
                  <a:srgbClr val="202020"/>
                </a:solidFill>
                <a:latin typeface="Calibri"/>
              </a:rPr>
              <a:t> in an object's filter and are an implicit AND (all must pass). A rule on a key that is simply absent at the current folder level never prunes — the key may appear deeper — so pruning only ever happens on a real mismatch.</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748</a:t>
            </a:r>
          </a:p>
        </p:txBody>
      </p:sp>
    </p:spTree>
  </p:cSld>
  <p:clrMapOvr>
    <a:masterClrMapping/>
  </p:clrMapOvr>
</p:sld>
</file>

<file path=ppt/slides/slide7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6.3 Record predicates — the 14 operators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Record rules test the values inside each row. A single rule (a "predicate") names a </a:t>
            </a:r>
            <a:r>
              <a:rPr sz="1200" b="0" i="0">
                <a:solidFill>
                  <a:srgbClr val="202020"/>
                </a:solidFill>
                <a:latin typeface="Consolas"/>
              </a:rPr>
              <a:t>field</a:t>
            </a:r>
            <a:r>
              <a:rPr sz="1250" b="0" i="0">
                <a:solidFill>
                  <a:srgbClr val="202020"/>
                </a:solidFill>
                <a:latin typeface="Calibri"/>
              </a:rPr>
              <a:t>, an </a:t>
            </a:r>
            <a:r>
              <a:rPr sz="1200" b="0" i="0">
                <a:solidFill>
                  <a:srgbClr val="202020"/>
                </a:solidFill>
                <a:latin typeface="Consolas"/>
              </a:rPr>
              <a:t>op</a:t>
            </a:r>
            <a:r>
              <a:rPr sz="1250" b="0" i="0">
                <a:solidFill>
                  <a:srgbClr val="202020"/>
                </a:solidFill>
                <a:latin typeface="Calibri"/>
              </a:rPr>
              <a:t> (operator), and an operand. Field lookup and string comparison are case-insensitive; the operand is always written as a JSON string in the file (</a:t>
            </a:r>
            <a:r>
              <a:rPr sz="1200" b="0" i="0">
                <a:solidFill>
                  <a:srgbClr val="202020"/>
                </a:solidFill>
                <a:latin typeface="Consolas"/>
              </a:rPr>
              <a:t>"value": "100000"</a:t>
            </a:r>
            <a:r>
              <a:rPr sz="1250" b="0" i="0">
                <a:solidFill>
                  <a:srgbClr val="202020"/>
                </a:solidFill>
                <a:latin typeface="Calibri"/>
              </a:rPr>
              <a:t>), and the type is worked out when the rule runs. There are 14 operators: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749</a:t>
            </a:r>
          </a:p>
        </p:txBody>
      </p:sp>
    </p:spTree>
  </p:cSld>
  <p:clrMapOvr>
    <a:masterClrMapping/>
  </p:clrMapOvr>
</p:sld>
</file>

<file path=ppt/slides/slide7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6.3 Record predicates — the 14 operators</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Operator</a:t>
                      </a:r>
                    </a:p>
                  </a:txBody>
                  <a:tcPr marT="25400" marB="25400">
                    <a:solidFill>
                      <a:srgbClr val="2E5496"/>
                    </a:solidFill>
                  </a:tcPr>
                </a:tc>
                <a:tc>
                  <a:txBody>
                    <a:bodyPr wrap="square"/>
                    <a:lstStyle/>
                    <a:p>
                      <a:r>
                        <a:rPr sz="1050" b="1" i="0">
                          <a:solidFill>
                            <a:srgbClr val="FFFFFF"/>
                          </a:solidFill>
                          <a:latin typeface="Calibri"/>
                        </a:rPr>
                        <a:t>Meaning</a:t>
                      </a:r>
                    </a:p>
                  </a:txBody>
                  <a:tcPr marT="25400" marB="25400">
                    <a:solidFill>
                      <a:srgbClr val="2E5496"/>
                    </a:solidFill>
                  </a:tcPr>
                </a:tc>
                <a:tc>
                  <a:txBody>
                    <a:bodyPr wrap="square"/>
                    <a:lstStyle/>
                    <a:p>
                      <a:r>
                        <a:rPr sz="1050" b="1" i="0">
                          <a:solidFill>
                            <a:srgbClr val="FFFFFF"/>
                          </a:solidFill>
                          <a:latin typeface="Calibri"/>
                        </a:rPr>
                        <a:t>Example predicate</a:t>
                      </a:r>
                    </a:p>
                  </a:txBody>
                  <a:tcPr marT="25400" marB="25400">
                    <a:solidFill>
                      <a:srgbClr val="2E5496"/>
                    </a:solidFill>
                  </a:tcPr>
                </a:tc>
              </a:tr>
              <a:tr h="384048">
                <a:tc>
                  <a:txBody>
                    <a:bodyPr wrap="square"/>
                    <a:lstStyle/>
                    <a:p>
                      <a:r>
                        <a:rPr sz="950" b="0" i="0">
                          <a:solidFill>
                            <a:srgbClr val="202020"/>
                          </a:solidFill>
                          <a:latin typeface="Calibri"/>
                        </a:rPr>
                        <a:t>equals</a:t>
                      </a:r>
                    </a:p>
                  </a:txBody>
                  <a:tcPr marT="12700" marB="12700">
                    <a:solidFill>
                      <a:srgbClr val="FFFFFF"/>
                    </a:solidFill>
                  </a:tcPr>
                </a:tc>
                <a:tc>
                  <a:txBody>
                    <a:bodyPr wrap="square"/>
                    <a:lstStyle/>
                    <a:p>
                      <a:r>
                        <a:rPr sz="950" b="0" i="0">
                          <a:solidFill>
                            <a:srgbClr val="202020"/>
                          </a:solidFill>
                          <a:latin typeface="Calibri"/>
                        </a:rPr>
                        <a:t>Case-insensitive string equals</a:t>
                      </a:r>
                    </a:p>
                  </a:txBody>
                  <a:tcPr marT="12700" marB="12700">
                    <a:solidFill>
                      <a:srgbClr val="FFFFFF"/>
                    </a:solidFill>
                  </a:tcPr>
                </a:tc>
                <a:tc>
                  <a:txBody>
                    <a:bodyPr wrap="square"/>
                    <a:lstStyle/>
                    <a:p>
                      <a:r>
                        <a:rPr sz="950" b="0" i="0">
                          <a:solidFill>
                            <a:srgbClr val="202020"/>
                          </a:solidFill>
                          <a:latin typeface="Calibri"/>
                        </a:rPr>
                        <a:t>{"field":"Status","op":"equals","value":"Active"}</a:t>
                      </a:r>
                    </a:p>
                  </a:txBody>
                  <a:tcPr marT="12700" marB="12700">
                    <a:solidFill>
                      <a:srgbClr val="FFFFFF"/>
                    </a:solidFill>
                  </a:tcPr>
                </a:tc>
              </a:tr>
              <a:tr h="384048">
                <a:tc>
                  <a:txBody>
                    <a:bodyPr wrap="square"/>
                    <a:lstStyle/>
                    <a:p>
                      <a:r>
                        <a:rPr sz="950" b="0" i="0">
                          <a:solidFill>
                            <a:srgbClr val="202020"/>
                          </a:solidFill>
                          <a:latin typeface="Calibri"/>
                        </a:rPr>
                        <a:t>notEquals</a:t>
                      </a:r>
                    </a:p>
                  </a:txBody>
                  <a:tcPr marT="12700" marB="12700">
                    <a:solidFill>
                      <a:srgbClr val="F7F9FC"/>
                    </a:solidFill>
                  </a:tcPr>
                </a:tc>
                <a:tc>
                  <a:txBody>
                    <a:bodyPr wrap="square"/>
                    <a:lstStyle/>
                    <a:p>
                      <a:r>
                        <a:rPr sz="950" b="0" i="0">
                          <a:solidFill>
                            <a:srgbClr val="202020"/>
                          </a:solidFill>
                          <a:latin typeface="Calibri"/>
                        </a:rPr>
                        <a:t>Case-insensitive string not-equals</a:t>
                      </a:r>
                    </a:p>
                  </a:txBody>
                  <a:tcPr marT="12700" marB="12700">
                    <a:solidFill>
                      <a:srgbClr val="F7F9FC"/>
                    </a:solidFill>
                  </a:tcPr>
                </a:tc>
                <a:tc>
                  <a:txBody>
                    <a:bodyPr wrap="square"/>
                    <a:lstStyle/>
                    <a:p>
                      <a:r>
                        <a:rPr sz="950" b="0" i="0">
                          <a:solidFill>
                            <a:srgbClr val="202020"/>
                          </a:solidFill>
                          <a:latin typeface="Calibri"/>
                        </a:rPr>
                        <a:t>{"field":"Status","op":"notEquals","value":"Closed"}</a:t>
                      </a:r>
                    </a:p>
                  </a:txBody>
                  <a:tcPr marT="12700" marB="12700">
                    <a:solidFill>
                      <a:srgbClr val="F7F9FC"/>
                    </a:solidFill>
                  </a:tcPr>
                </a:tc>
              </a:tr>
              <a:tr h="384048">
                <a:tc>
                  <a:txBody>
                    <a:bodyPr wrap="square"/>
                    <a:lstStyle/>
                    <a:p>
                      <a:r>
                        <a:rPr sz="950" b="0" i="0">
                          <a:solidFill>
                            <a:srgbClr val="202020"/>
                          </a:solidFill>
                          <a:latin typeface="Calibri"/>
                        </a:rPr>
                        <a:t>in</a:t>
                      </a:r>
                    </a:p>
                  </a:txBody>
                  <a:tcPr marT="12700" marB="12700">
                    <a:solidFill>
                      <a:srgbClr val="FFFFFF"/>
                    </a:solidFill>
                  </a:tcPr>
                </a:tc>
                <a:tc>
                  <a:txBody>
                    <a:bodyPr wrap="square"/>
                    <a:lstStyle/>
                    <a:p>
                      <a:r>
                        <a:rPr sz="950" b="0" i="0">
                          <a:solidFill>
                            <a:srgbClr val="202020"/>
                          </a:solidFill>
                          <a:latin typeface="Calibri"/>
                        </a:rPr>
                        <a:t>Value is in a list</a:t>
                      </a:r>
                    </a:p>
                  </a:txBody>
                  <a:tcPr marT="12700" marB="12700">
                    <a:solidFill>
                      <a:srgbClr val="FFFFFF"/>
                    </a:solidFill>
                  </a:tcPr>
                </a:tc>
                <a:tc>
                  <a:txBody>
                    <a:bodyPr wrap="square"/>
                    <a:lstStyle/>
                    <a:p>
                      <a:r>
                        <a:rPr sz="950" b="0" i="0">
                          <a:solidFill>
                            <a:srgbClr val="202020"/>
                          </a:solidFill>
                          <a:latin typeface="Calibri"/>
                        </a:rPr>
                        <a:t>{"field":"Region","op":"in","values":["EMEA","NA"]}</a:t>
                      </a:r>
                    </a:p>
                  </a:txBody>
                  <a:tcPr marT="12700" marB="12700">
                    <a:solidFill>
                      <a:srgbClr val="FFFFFF"/>
                    </a:solidFill>
                  </a:tcPr>
                </a:tc>
              </a:tr>
              <a:tr h="384048">
                <a:tc>
                  <a:txBody>
                    <a:bodyPr wrap="square"/>
                    <a:lstStyle/>
                    <a:p>
                      <a:r>
                        <a:rPr sz="950" b="0" i="0">
                          <a:solidFill>
                            <a:srgbClr val="202020"/>
                          </a:solidFill>
                          <a:latin typeface="Calibri"/>
                        </a:rPr>
                        <a:t>notIn</a:t>
                      </a:r>
                    </a:p>
                  </a:txBody>
                  <a:tcPr marT="12700" marB="12700">
                    <a:solidFill>
                      <a:srgbClr val="F7F9FC"/>
                    </a:solidFill>
                  </a:tcPr>
                </a:tc>
                <a:tc>
                  <a:txBody>
                    <a:bodyPr wrap="square"/>
                    <a:lstStyle/>
                    <a:p>
                      <a:r>
                        <a:rPr sz="950" b="0" i="0">
                          <a:solidFill>
                            <a:srgbClr val="202020"/>
                          </a:solidFill>
                          <a:latin typeface="Calibri"/>
                        </a:rPr>
                        <a:t>Value is not in a list</a:t>
                      </a:r>
                    </a:p>
                  </a:txBody>
                  <a:tcPr marT="12700" marB="12700">
                    <a:solidFill>
                      <a:srgbClr val="F7F9FC"/>
                    </a:solidFill>
                  </a:tcPr>
                </a:tc>
                <a:tc>
                  <a:txBody>
                    <a:bodyPr wrap="square"/>
                    <a:lstStyle/>
                    <a:p>
                      <a:r>
                        <a:rPr sz="950" b="0" i="0">
                          <a:solidFill>
                            <a:srgbClr val="202020"/>
                          </a:solidFill>
                          <a:latin typeface="Calibri"/>
                        </a:rPr>
                        <a:t>{"field":"Type","op":"notIn","values":["Archived"]}</a:t>
                      </a:r>
                    </a:p>
                  </a:txBody>
                  <a:tcPr marT="12700" marB="12700">
                    <a:solidFill>
                      <a:srgbClr val="F7F9FC"/>
                    </a:solidFill>
                  </a:tcPr>
                </a:tc>
              </a:tr>
              <a:tr h="384048">
                <a:tc>
                  <a:txBody>
                    <a:bodyPr wrap="square"/>
                    <a:lstStyle/>
                    <a:p>
                      <a:r>
                        <a:rPr sz="950" b="0" i="0">
                          <a:solidFill>
                            <a:srgbClr val="202020"/>
                          </a:solidFill>
                          <a:latin typeface="Calibri"/>
                        </a:rPr>
                        <a:t>prefix</a:t>
                      </a:r>
                    </a:p>
                  </a:txBody>
                  <a:tcPr marT="12700" marB="12700">
                    <a:solidFill>
                      <a:srgbClr val="FFFFFF"/>
                    </a:solidFill>
                  </a:tcPr>
                </a:tc>
                <a:tc>
                  <a:txBody>
                    <a:bodyPr wrap="square"/>
                    <a:lstStyle/>
                    <a:p>
                      <a:r>
                        <a:rPr sz="950" b="0" i="0">
                          <a:solidFill>
                            <a:srgbClr val="202020"/>
                          </a:solidFill>
                          <a:latin typeface="Calibri"/>
                        </a:rPr>
                        <a:t>Starts with the given text</a:t>
                      </a:r>
                    </a:p>
                  </a:txBody>
                  <a:tcPr marT="12700" marB="12700">
                    <a:solidFill>
                      <a:srgbClr val="FFFFFF"/>
                    </a:solidFill>
                  </a:tcPr>
                </a:tc>
                <a:tc>
                  <a:txBody>
                    <a:bodyPr wrap="square"/>
                    <a:lstStyle/>
                    <a:p>
                      <a:r>
                        <a:rPr sz="950" b="0" i="0">
                          <a:solidFill>
                            <a:srgbClr val="202020"/>
                          </a:solidFill>
                          <a:latin typeface="Calibri"/>
                        </a:rPr>
                        <a:t>{"field":"CaseNumber","op":"prefix","value":"UK-"}</a:t>
                      </a:r>
                    </a:p>
                  </a:txBody>
                  <a:tcPr marT="12700" marB="12700">
                    <a:solidFill>
                      <a:srgbClr val="FFFFFF"/>
                    </a:solidFill>
                  </a:tcPr>
                </a:tc>
              </a:tr>
              <a:tr h="384048">
                <a:tc>
                  <a:txBody>
                    <a:bodyPr wrap="square"/>
                    <a:lstStyle/>
                    <a:p>
                      <a:r>
                        <a:rPr sz="950" b="0" i="0">
                          <a:solidFill>
                            <a:srgbClr val="202020"/>
                          </a:solidFill>
                          <a:latin typeface="Calibri"/>
                        </a:rPr>
                        <a:t>contains</a:t>
                      </a:r>
                    </a:p>
                  </a:txBody>
                  <a:tcPr marT="12700" marB="12700">
                    <a:solidFill>
                      <a:srgbClr val="F7F9FC"/>
                    </a:solidFill>
                  </a:tcPr>
                </a:tc>
                <a:tc>
                  <a:txBody>
                    <a:bodyPr wrap="square"/>
                    <a:lstStyle/>
                    <a:p>
                      <a:r>
                        <a:rPr sz="950" b="0" i="0">
                          <a:solidFill>
                            <a:srgbClr val="202020"/>
                          </a:solidFill>
                          <a:latin typeface="Calibri"/>
                        </a:rPr>
                        <a:t>Contains the given text</a:t>
                      </a:r>
                    </a:p>
                  </a:txBody>
                  <a:tcPr marT="12700" marB="12700">
                    <a:solidFill>
                      <a:srgbClr val="F7F9FC"/>
                    </a:solidFill>
                  </a:tcPr>
                </a:tc>
                <a:tc>
                  <a:txBody>
                    <a:bodyPr wrap="square"/>
                    <a:lstStyle/>
                    <a:p>
                      <a:r>
                        <a:rPr sz="950" b="0" i="0">
                          <a:solidFill>
                            <a:srgbClr val="202020"/>
                          </a:solidFill>
                          <a:latin typeface="Calibri"/>
                        </a:rPr>
                        <a:t>{"field":"Company","op":"contains","value":"Ltd"}</a:t>
                      </a:r>
                    </a:p>
                  </a:txBody>
                  <a:tcPr marT="12700" marB="12700">
                    <a:solidFill>
                      <a:srgbClr val="F7F9FC"/>
                    </a:solidFill>
                  </a:tcPr>
                </a:tc>
              </a:tr>
              <a:tr h="384048">
                <a:tc>
                  <a:txBody>
                    <a:bodyPr wrap="square"/>
                    <a:lstStyle/>
                    <a:p>
                      <a:r>
                        <a:rPr sz="950" b="0" i="0">
                          <a:solidFill>
                            <a:srgbClr val="202020"/>
                          </a:solidFill>
                          <a:latin typeface="Calibri"/>
                        </a:rPr>
                        <a:t>gte (alias &gt;=)</a:t>
                      </a:r>
                    </a:p>
                  </a:txBody>
                  <a:tcPr marT="12700" marB="12700">
                    <a:solidFill>
                      <a:srgbClr val="FFFFFF"/>
                    </a:solidFill>
                  </a:tcPr>
                </a:tc>
                <a:tc>
                  <a:txBody>
                    <a:bodyPr wrap="square"/>
                    <a:lstStyle/>
                    <a:p>
                      <a:r>
                        <a:rPr sz="950" b="0" i="0">
                          <a:solidFill>
                            <a:srgbClr val="202020"/>
                          </a:solidFill>
                          <a:latin typeface="Calibri"/>
                        </a:rPr>
                        <a:t>Numeric greater-than-or-equal</a:t>
                      </a:r>
                    </a:p>
                  </a:txBody>
                  <a:tcPr marT="12700" marB="12700">
                    <a:solidFill>
                      <a:srgbClr val="FFFFFF"/>
                    </a:solidFill>
                  </a:tcPr>
                </a:tc>
                <a:tc>
                  <a:txBody>
                    <a:bodyPr wrap="square"/>
                    <a:lstStyle/>
                    <a:p>
                      <a:r>
                        <a:rPr sz="950" b="0" i="0">
                          <a:solidFill>
                            <a:srgbClr val="202020"/>
                          </a:solidFill>
                          <a:latin typeface="Calibri"/>
                        </a:rPr>
                        <a:t>{"field":"AnnualRevenue","op":"gte","value":"100000"}</a:t>
                      </a:r>
                    </a:p>
                  </a:txBody>
                  <a:tcPr marT="12700" marB="12700">
                    <a:solidFill>
                      <a:srgbClr val="FFFFFF"/>
                    </a:solidFill>
                  </a:tcPr>
                </a:tc>
              </a:tr>
              <a:tr h="384048">
                <a:tc>
                  <a:txBody>
                    <a:bodyPr wrap="square"/>
                    <a:lstStyle/>
                    <a:p>
                      <a:r>
                        <a:rPr sz="950" b="0" i="0">
                          <a:solidFill>
                            <a:srgbClr val="202020"/>
                          </a:solidFill>
                          <a:latin typeface="Calibri"/>
                        </a:rPr>
                        <a:t>lte (alias &lt;=)</a:t>
                      </a:r>
                    </a:p>
                  </a:txBody>
                  <a:tcPr marT="12700" marB="12700">
                    <a:solidFill>
                      <a:srgbClr val="F7F9FC"/>
                    </a:solidFill>
                  </a:tcPr>
                </a:tc>
                <a:tc>
                  <a:txBody>
                    <a:bodyPr wrap="square"/>
                    <a:lstStyle/>
                    <a:p>
                      <a:r>
                        <a:rPr sz="950" b="0" i="0">
                          <a:solidFill>
                            <a:srgbClr val="202020"/>
                          </a:solidFill>
                          <a:latin typeface="Calibri"/>
                        </a:rPr>
                        <a:t>Numeric less-than-or-equal</a:t>
                      </a:r>
                    </a:p>
                  </a:txBody>
                  <a:tcPr marT="12700" marB="12700">
                    <a:solidFill>
                      <a:srgbClr val="F7F9FC"/>
                    </a:solidFill>
                  </a:tcPr>
                </a:tc>
                <a:tc>
                  <a:txBody>
                    <a:bodyPr wrap="square"/>
                    <a:lstStyle/>
                    <a:p>
                      <a:r>
                        <a:rPr sz="950" b="0" i="0">
                          <a:solidFill>
                            <a:srgbClr val="202020"/>
                          </a:solidFill>
                          <a:latin typeface="Calibri"/>
                        </a:rPr>
                        <a:t>{"field":"Probability","op":"lte","value":"90"}</a:t>
                      </a:r>
                    </a:p>
                  </a:txBody>
                  <a:tcPr marT="12700" marB="12700">
                    <a:solidFill>
                      <a:srgbClr val="F7F9FC"/>
                    </a:solidFill>
                  </a:tcPr>
                </a:tc>
              </a:tr>
              <a:tr h="384048">
                <a:tc>
                  <a:txBody>
                    <a:bodyPr wrap="square"/>
                    <a:lstStyle/>
                    <a:p>
                      <a:r>
                        <a:rPr sz="950" b="0" i="0">
                          <a:solidFill>
                            <a:srgbClr val="202020"/>
                          </a:solidFill>
                          <a:latin typeface="Calibri"/>
                        </a:rPr>
                        <a:t>between</a:t>
                      </a:r>
                    </a:p>
                  </a:txBody>
                  <a:tcPr marT="12700" marB="12700">
                    <a:solidFill>
                      <a:srgbClr val="FFFFFF"/>
                    </a:solidFill>
                  </a:tcPr>
                </a:tc>
                <a:tc>
                  <a:txBody>
                    <a:bodyPr wrap="square"/>
                    <a:lstStyle/>
                    <a:p>
                      <a:r>
                        <a:rPr sz="950" b="0" i="0">
                          <a:solidFill>
                            <a:srgbClr val="202020"/>
                          </a:solidFill>
                          <a:latin typeface="Calibri"/>
                        </a:rPr>
                        <a:t>Numeric range, inclusive (exactly two values)</a:t>
                      </a:r>
                    </a:p>
                  </a:txBody>
                  <a:tcPr marT="12700" marB="12700">
                    <a:solidFill>
                      <a:srgbClr val="FFFFFF"/>
                    </a:solidFill>
                  </a:tcPr>
                </a:tc>
                <a:tc>
                  <a:txBody>
                    <a:bodyPr wrap="square"/>
                    <a:lstStyle/>
                    <a:p>
                      <a:r>
                        <a:rPr sz="950" b="0" i="0">
                          <a:solidFill>
                            <a:srgbClr val="202020"/>
                          </a:solidFill>
                          <a:latin typeface="Calibri"/>
                        </a:rPr>
                        <a:t>{"field":"Probability","op":"between","values":["25","100"]}</a:t>
                      </a:r>
                    </a:p>
                  </a:txBody>
                  <a:tcPr marT="12700" marB="12700">
                    <a:solidFill>
                      <a:srgbClr val="FFFFFF"/>
                    </a:solidFill>
                  </a:tcPr>
                </a:tc>
              </a:tr>
              <a:tr h="384048">
                <a:tc>
                  <a:txBody>
                    <a:bodyPr wrap="square"/>
                    <a:lstStyle/>
                    <a:p>
                      <a:r>
                        <a:rPr sz="950" b="0" i="0">
                          <a:solidFill>
                            <a:srgbClr val="202020"/>
                          </a:solidFill>
                          <a:latin typeface="Calibri"/>
                        </a:rPr>
                        <a:t>withinLastDays</a:t>
                      </a:r>
                    </a:p>
                  </a:txBody>
                  <a:tcPr marT="12700" marB="12700">
                    <a:solidFill>
                      <a:srgbClr val="F7F9FC"/>
                    </a:solidFill>
                  </a:tcPr>
                </a:tc>
                <a:tc>
                  <a:txBody>
                    <a:bodyPr wrap="square"/>
                    <a:lstStyle/>
                    <a:p>
                      <a:r>
                        <a:rPr sz="950" b="0" i="0">
                          <a:solidFill>
                            <a:srgbClr val="202020"/>
                          </a:solidFill>
                          <a:latin typeface="Calibri"/>
                        </a:rPr>
                        <a:t>Date within the last N days (UTC; N a non-negative integer)</a:t>
                      </a:r>
                    </a:p>
                  </a:txBody>
                  <a:tcPr marT="12700" marB="12700">
                    <a:solidFill>
                      <a:srgbClr val="F7F9FC"/>
                    </a:solidFill>
                  </a:tcPr>
                </a:tc>
                <a:tc>
                  <a:txBody>
                    <a:bodyPr wrap="square"/>
                    <a:lstStyle/>
                    <a:p>
                      <a:r>
                        <a:rPr sz="950" b="0" i="0">
                          <a:solidFill>
                            <a:srgbClr val="202020"/>
                          </a:solidFill>
                          <a:latin typeface="Calibri"/>
                        </a:rPr>
                        <a:t>{"field":"CloseDate","op":"withinLastDays","value":"180"}</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750</a:t>
            </a:r>
          </a:p>
        </p:txBody>
      </p:sp>
    </p:spTree>
  </p:cSld>
  <p:clrMapOvr>
    <a:masterClrMapping/>
  </p:clrMapOvr>
</p:sld>
</file>

<file path=ppt/slides/slide7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6.3 Record predicates — the 14 operators (cont.)</a:t>
            </a:r>
          </a:p>
        </p:txBody>
      </p:sp>
      <p:graphicFrame>
        <p:nvGraphicFramePr>
          <p:cNvPr id="5" name="Table 4"/>
          <p:cNvGraphicFramePr>
            <a:graphicFrameLocks noGrp="1"/>
          </p:cNvGraphicFramePr>
          <p:nvPr/>
        </p:nvGraphicFramePr>
        <p:xfrm>
          <a:off x="502920" y="1188720"/>
          <a:ext cx="11185855" cy="1920240"/>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Operator</a:t>
                      </a:r>
                    </a:p>
                  </a:txBody>
                  <a:tcPr marT="25400" marB="25400">
                    <a:solidFill>
                      <a:srgbClr val="2E5496"/>
                    </a:solidFill>
                  </a:tcPr>
                </a:tc>
                <a:tc>
                  <a:txBody>
                    <a:bodyPr wrap="square"/>
                    <a:lstStyle/>
                    <a:p>
                      <a:r>
                        <a:rPr sz="1050" b="1" i="0">
                          <a:solidFill>
                            <a:srgbClr val="FFFFFF"/>
                          </a:solidFill>
                          <a:latin typeface="Calibri"/>
                        </a:rPr>
                        <a:t>Meaning</a:t>
                      </a:r>
                    </a:p>
                  </a:txBody>
                  <a:tcPr marT="25400" marB="25400">
                    <a:solidFill>
                      <a:srgbClr val="2E5496"/>
                    </a:solidFill>
                  </a:tcPr>
                </a:tc>
                <a:tc>
                  <a:txBody>
                    <a:bodyPr wrap="square"/>
                    <a:lstStyle/>
                    <a:p>
                      <a:r>
                        <a:rPr sz="1050" b="1" i="0">
                          <a:solidFill>
                            <a:srgbClr val="FFFFFF"/>
                          </a:solidFill>
                          <a:latin typeface="Calibri"/>
                        </a:rPr>
                        <a:t>Example predicate</a:t>
                      </a:r>
                    </a:p>
                  </a:txBody>
                  <a:tcPr marT="25400" marB="25400">
                    <a:solidFill>
                      <a:srgbClr val="2E5496"/>
                    </a:solidFill>
                  </a:tcPr>
                </a:tc>
              </a:tr>
              <a:tr h="384048">
                <a:tc>
                  <a:txBody>
                    <a:bodyPr wrap="square"/>
                    <a:lstStyle/>
                    <a:p>
                      <a:r>
                        <a:rPr sz="950" b="0" i="0">
                          <a:solidFill>
                            <a:srgbClr val="202020"/>
                          </a:solidFill>
                          <a:latin typeface="Calibri"/>
                        </a:rPr>
                        <a:t>after</a:t>
                      </a:r>
                    </a:p>
                  </a:txBody>
                  <a:tcPr marT="12700" marB="12700">
                    <a:solidFill>
                      <a:srgbClr val="FFFFFF"/>
                    </a:solidFill>
                  </a:tcPr>
                </a:tc>
                <a:tc>
                  <a:txBody>
                    <a:bodyPr wrap="square"/>
                    <a:lstStyle/>
                    <a:p>
                      <a:r>
                        <a:rPr sz="950" b="0" i="0">
                          <a:solidFill>
                            <a:srgbClr val="202020"/>
                          </a:solidFill>
                          <a:latin typeface="Calibri"/>
                        </a:rPr>
                        <a:t>Date strictly after</a:t>
                      </a:r>
                    </a:p>
                  </a:txBody>
                  <a:tcPr marT="12700" marB="12700">
                    <a:solidFill>
                      <a:srgbClr val="FFFFFF"/>
                    </a:solidFill>
                  </a:tcPr>
                </a:tc>
                <a:tc>
                  <a:txBody>
                    <a:bodyPr wrap="square"/>
                    <a:lstStyle/>
                    <a:p>
                      <a:r>
                        <a:rPr sz="950" b="0" i="0">
                          <a:solidFill>
                            <a:srgbClr val="202020"/>
                          </a:solidFill>
                          <a:latin typeface="Calibri"/>
                        </a:rPr>
                        <a:t>{"field":"CloseDate","op":"after","value":"2025-01-01"}</a:t>
                      </a:r>
                    </a:p>
                  </a:txBody>
                  <a:tcPr marT="12700" marB="12700">
                    <a:solidFill>
                      <a:srgbClr val="FFFFFF"/>
                    </a:solidFill>
                  </a:tcPr>
                </a:tc>
              </a:tr>
              <a:tr h="384048">
                <a:tc>
                  <a:txBody>
                    <a:bodyPr wrap="square"/>
                    <a:lstStyle/>
                    <a:p>
                      <a:r>
                        <a:rPr sz="950" b="0" i="0">
                          <a:solidFill>
                            <a:srgbClr val="202020"/>
                          </a:solidFill>
                          <a:latin typeface="Calibri"/>
                        </a:rPr>
                        <a:t>before</a:t>
                      </a:r>
                    </a:p>
                  </a:txBody>
                  <a:tcPr marT="12700" marB="12700">
                    <a:solidFill>
                      <a:srgbClr val="F7F9FC"/>
                    </a:solidFill>
                  </a:tcPr>
                </a:tc>
                <a:tc>
                  <a:txBody>
                    <a:bodyPr wrap="square"/>
                    <a:lstStyle/>
                    <a:p>
                      <a:r>
                        <a:rPr sz="950" b="0" i="0">
                          <a:solidFill>
                            <a:srgbClr val="202020"/>
                          </a:solidFill>
                          <a:latin typeface="Calibri"/>
                        </a:rPr>
                        <a:t>Date strictly before</a:t>
                      </a:r>
                    </a:p>
                  </a:txBody>
                  <a:tcPr marT="12700" marB="12700">
                    <a:solidFill>
                      <a:srgbClr val="F7F9FC"/>
                    </a:solidFill>
                  </a:tcPr>
                </a:tc>
                <a:tc>
                  <a:txBody>
                    <a:bodyPr wrap="square"/>
                    <a:lstStyle/>
                    <a:p>
                      <a:r>
                        <a:rPr sz="950" b="0" i="0">
                          <a:solidFill>
                            <a:srgbClr val="202020"/>
                          </a:solidFill>
                          <a:latin typeface="Calibri"/>
                        </a:rPr>
                        <a:t>{"field":"CreatedDate","op":"before","value":"2026-01-01"}</a:t>
                      </a:r>
                    </a:p>
                  </a:txBody>
                  <a:tcPr marT="12700" marB="12700">
                    <a:solidFill>
                      <a:srgbClr val="F7F9FC"/>
                    </a:solidFill>
                  </a:tcPr>
                </a:tc>
              </a:tr>
              <a:tr h="384048">
                <a:tc>
                  <a:txBody>
                    <a:bodyPr wrap="square"/>
                    <a:lstStyle/>
                    <a:p>
                      <a:r>
                        <a:rPr sz="950" b="0" i="0">
                          <a:solidFill>
                            <a:srgbClr val="202020"/>
                          </a:solidFill>
                          <a:latin typeface="Calibri"/>
                        </a:rPr>
                        <a:t>isNull</a:t>
                      </a:r>
                    </a:p>
                  </a:txBody>
                  <a:tcPr marT="12700" marB="12700">
                    <a:solidFill>
                      <a:srgbClr val="FFFFFF"/>
                    </a:solidFill>
                  </a:tcPr>
                </a:tc>
                <a:tc>
                  <a:txBody>
                    <a:bodyPr wrap="square"/>
                    <a:lstStyle/>
                    <a:p>
                      <a:r>
                        <a:rPr sz="950" b="0" i="0">
                          <a:solidFill>
                            <a:srgbClr val="202020"/>
                          </a:solidFill>
                          <a:latin typeface="Calibri"/>
                        </a:rPr>
                        <a:t>Field is missing or empty</a:t>
                      </a:r>
                    </a:p>
                  </a:txBody>
                  <a:tcPr marT="12700" marB="12700">
                    <a:solidFill>
                      <a:srgbClr val="FFFFFF"/>
                    </a:solidFill>
                  </a:tcPr>
                </a:tc>
                <a:tc>
                  <a:txBody>
                    <a:bodyPr wrap="square"/>
                    <a:lstStyle/>
                    <a:p>
                      <a:r>
                        <a:rPr sz="950" b="0" i="0">
                          <a:solidFill>
                            <a:srgbClr val="202020"/>
                          </a:solidFill>
                          <a:latin typeface="Calibri"/>
                        </a:rPr>
                        <a:t>{"field":"Email","op":"isNull"}</a:t>
                      </a:r>
                    </a:p>
                  </a:txBody>
                  <a:tcPr marT="12700" marB="12700">
                    <a:solidFill>
                      <a:srgbClr val="FFFFFF"/>
                    </a:solidFill>
                  </a:tcPr>
                </a:tc>
              </a:tr>
              <a:tr h="384048">
                <a:tc>
                  <a:txBody>
                    <a:bodyPr wrap="square"/>
                    <a:lstStyle/>
                    <a:p>
                      <a:r>
                        <a:rPr sz="950" b="0" i="0">
                          <a:solidFill>
                            <a:srgbClr val="202020"/>
                          </a:solidFill>
                          <a:latin typeface="Calibri"/>
                        </a:rPr>
                        <a:t>isNotNull</a:t>
                      </a:r>
                    </a:p>
                  </a:txBody>
                  <a:tcPr marT="12700" marB="12700">
                    <a:solidFill>
                      <a:srgbClr val="F7F9FC"/>
                    </a:solidFill>
                  </a:tcPr>
                </a:tc>
                <a:tc>
                  <a:txBody>
                    <a:bodyPr wrap="square"/>
                    <a:lstStyle/>
                    <a:p>
                      <a:r>
                        <a:rPr sz="950" b="0" i="0">
                          <a:solidFill>
                            <a:srgbClr val="202020"/>
                          </a:solidFill>
                          <a:latin typeface="Calibri"/>
                        </a:rPr>
                        <a:t>Field has a value</a:t>
                      </a:r>
                    </a:p>
                  </a:txBody>
                  <a:tcPr marT="12700" marB="12700">
                    <a:solidFill>
                      <a:srgbClr val="F7F9FC"/>
                    </a:solidFill>
                  </a:tcPr>
                </a:tc>
                <a:tc>
                  <a:txBody>
                    <a:bodyPr wrap="square"/>
                    <a:lstStyle/>
                    <a:p>
                      <a:r>
                        <a:rPr sz="950" b="0" i="0">
                          <a:solidFill>
                            <a:srgbClr val="202020"/>
                          </a:solidFill>
                          <a:latin typeface="Calibri"/>
                        </a:rPr>
                        <a:t>{"field":"Email","op":"isNotNull"}</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751</a:t>
            </a:r>
          </a:p>
        </p:txBody>
      </p:sp>
    </p:spTree>
  </p:cSld>
  <p:clrMapOvr>
    <a:masterClrMapping/>
  </p:clrMapOvr>
</p:sld>
</file>

<file path=ppt/slides/slide7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6.3 Record predicates — the 14 operators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0" i="0">
                <a:solidFill>
                  <a:srgbClr val="202020"/>
                </a:solidFill>
                <a:latin typeface="Calibri"/>
              </a:rPr>
              <a:t>Numeric operators (</a:t>
            </a:r>
            <a:r>
              <a:rPr sz="1200" b="0" i="0">
                <a:solidFill>
                  <a:srgbClr val="202020"/>
                </a:solidFill>
                <a:latin typeface="Consolas"/>
              </a:rPr>
              <a:t>gte</a:t>
            </a:r>
            <a:r>
              <a:rPr sz="1250" b="0" i="0">
                <a:solidFill>
                  <a:srgbClr val="202020"/>
                </a:solidFill>
                <a:latin typeface="Calibri"/>
              </a:rPr>
              <a:t>, </a:t>
            </a:r>
            <a:r>
              <a:rPr sz="1200" b="0" i="0">
                <a:solidFill>
                  <a:srgbClr val="202020"/>
                </a:solidFill>
                <a:latin typeface="Consolas"/>
              </a:rPr>
              <a:t>lte</a:t>
            </a:r>
            <a:r>
              <a:rPr sz="1250" b="0" i="0">
                <a:solidFill>
                  <a:srgbClr val="202020"/>
                </a:solidFill>
                <a:latin typeface="Calibri"/>
              </a:rPr>
              <a:t>, </a:t>
            </a:r>
            <a:r>
              <a:rPr sz="1200" b="0" i="0">
                <a:solidFill>
                  <a:srgbClr val="202020"/>
                </a:solidFill>
                <a:latin typeface="Consolas"/>
              </a:rPr>
              <a:t>between</a:t>
            </a:r>
            <a:r>
              <a:rPr sz="1250" b="0" i="0">
                <a:solidFill>
                  <a:srgbClr val="202020"/>
                </a:solidFill>
                <a:latin typeface="Calibri"/>
              </a:rPr>
              <a:t>) never match a non-numeric value. The loader will reject a date-looking operand on these and tell you to use </a:t>
            </a:r>
            <a:r>
              <a:rPr sz="1200" b="0" i="0">
                <a:solidFill>
                  <a:srgbClr val="202020"/>
                </a:solidFill>
                <a:latin typeface="Consolas"/>
              </a:rPr>
              <a:t>after</a:t>
            </a:r>
            <a:r>
              <a:rPr sz="1250" b="0" i="0">
                <a:solidFill>
                  <a:srgbClr val="202020"/>
                </a:solidFill>
                <a:latin typeface="Calibri"/>
              </a:rPr>
              <a:t> / </a:t>
            </a:r>
            <a:r>
              <a:rPr sz="1200" b="0" i="0">
                <a:solidFill>
                  <a:srgbClr val="202020"/>
                </a:solidFill>
                <a:latin typeface="Consolas"/>
              </a:rPr>
              <a:t>before</a:t>
            </a:r>
            <a:r>
              <a:rPr sz="1250" b="0" i="0">
                <a:solidFill>
                  <a:srgbClr val="202020"/>
                </a:solidFill>
                <a:latin typeface="Calibri"/>
              </a:rPr>
              <a:t> / </a:t>
            </a:r>
            <a:r>
              <a:rPr sz="1200" b="0" i="0">
                <a:solidFill>
                  <a:srgbClr val="202020"/>
                </a:solidFill>
                <a:latin typeface="Consolas"/>
              </a:rPr>
              <a:t>withinLastDays</a:t>
            </a:r>
            <a:r>
              <a:rPr sz="1250" b="0" i="0">
                <a:solidFill>
                  <a:srgbClr val="202020"/>
                </a:solidFill>
                <a:latin typeface="Calibri"/>
              </a:rPr>
              <a:t> instead.</a:t>
            </a:r>
          </a:p>
          <a:p>
            <a:pPr>
              <a:spcBef>
                <a:spcPts val="100"/>
              </a:spcBef>
              <a:spcAft>
                <a:spcPts val="200"/>
              </a:spcAft>
            </a:pPr>
            <a:r>
              <a:rPr sz="1250" b="1" i="0">
                <a:solidFill>
                  <a:srgbClr val="2E5496"/>
                </a:solidFill>
                <a:latin typeface="Calibri"/>
              </a:rPr>
              <a:t>•  </a:t>
            </a:r>
            <a:r>
              <a:rPr sz="1250" b="0" i="0">
                <a:solidFill>
                  <a:srgbClr val="202020"/>
                </a:solidFill>
                <a:latin typeface="Calibri"/>
              </a:rPr>
              <a:t>Every value-comparing operator fails on a missing/empty field — only </a:t>
            </a:r>
            <a:r>
              <a:rPr sz="1200" b="0" i="0">
                <a:solidFill>
                  <a:srgbClr val="202020"/>
                </a:solidFill>
                <a:latin typeface="Consolas"/>
              </a:rPr>
              <a:t>isNull</a:t>
            </a:r>
            <a:r>
              <a:rPr sz="1250" b="0" i="0">
                <a:solidFill>
                  <a:srgbClr val="202020"/>
                </a:solidFill>
                <a:latin typeface="Calibri"/>
              </a:rPr>
              <a:t> matches those.</a:t>
            </a:r>
          </a:p>
          <a:p>
            <a:pPr>
              <a:spcBef>
                <a:spcPts val="100"/>
              </a:spcBef>
              <a:spcAft>
                <a:spcPts val="200"/>
              </a:spcAft>
            </a:pPr>
            <a:r>
              <a:rPr sz="1250" b="1" i="0">
                <a:solidFill>
                  <a:srgbClr val="2E5496"/>
                </a:solidFill>
                <a:latin typeface="Calibri"/>
              </a:rPr>
              <a:t>•  </a:t>
            </a:r>
            <a:r>
              <a:rPr sz="1250" b="0" i="0">
                <a:solidFill>
                  <a:srgbClr val="202020"/>
                </a:solidFill>
                <a:latin typeface="Calibri"/>
              </a:rPr>
              <a:t>Put the most selective predicate first in a group so cheap rules drop rows earliest.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752</a:t>
            </a:r>
          </a:p>
        </p:txBody>
      </p:sp>
    </p:spTree>
  </p:cSld>
  <p:clrMapOvr>
    <a:masterClrMapping/>
  </p:clrMapOvr>
</p:sld>
</file>

<file path=ppt/slides/slide7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6.4 OR-of-AND filter groups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Record rules are grouped as an </a:t>
            </a:r>
            <a:r>
              <a:rPr sz="1250" b="1" i="0">
                <a:solidFill>
                  <a:srgbClr val="202020"/>
                </a:solidFill>
                <a:latin typeface="Calibri"/>
              </a:rPr>
              <a:t>OR of AND-groups</a:t>
            </a:r>
            <a:r>
              <a:rPr sz="1250" b="0" i="0">
                <a:solidFill>
                  <a:srgbClr val="202020"/>
                </a:solidFill>
                <a:latin typeface="Calibri"/>
              </a:rPr>
              <a:t> under </a:t>
            </a:r>
            <a:r>
              <a:rPr sz="1200" b="0" i="0">
                <a:solidFill>
                  <a:srgbClr val="202020"/>
                </a:solidFill>
                <a:latin typeface="Consolas"/>
              </a:rPr>
              <a:t>anyOf</a:t>
            </a:r>
            <a:r>
              <a:rPr sz="1250" b="0" i="0">
                <a:solidFill>
                  <a:srgbClr val="202020"/>
                </a:solidFill>
                <a:latin typeface="Calibri"/>
              </a:rPr>
              <a:t>. Each entry is an </a:t>
            </a:r>
            <a:r>
              <a:rPr sz="1200" b="0" i="0">
                <a:solidFill>
                  <a:srgbClr val="202020"/>
                </a:solidFill>
                <a:latin typeface="Consolas"/>
              </a:rPr>
              <a:t>{ "allOf": [ … ] }</a:t>
            </a:r>
            <a:r>
              <a:rPr sz="1250" b="0" i="0">
                <a:solidFill>
                  <a:srgbClr val="202020"/>
                </a:solidFill>
                <a:latin typeface="Calibri"/>
              </a:rPr>
              <a:t> group whose predicates must all pass; a row matches if </a:t>
            </a:r>
            <a:r>
              <a:rPr sz="1250" b="1" i="0">
                <a:solidFill>
                  <a:srgbClr val="202020"/>
                </a:solidFill>
                <a:latin typeface="Calibri"/>
              </a:rPr>
              <a:t>any one group</a:t>
            </a:r>
            <a:r>
              <a:rPr sz="1250" b="0" i="0">
                <a:solidFill>
                  <a:srgbClr val="202020"/>
                </a:solidFill>
                <a:latin typeface="Calibri"/>
              </a:rPr>
              <a:t> matches. A top-level </a:t>
            </a:r>
            <a:r>
              <a:rPr sz="1200" b="0" i="0">
                <a:solidFill>
                  <a:srgbClr val="202020"/>
                </a:solidFill>
                <a:latin typeface="Consolas"/>
              </a:rPr>
              <a:t>allOf</a:t>
            </a:r>
            <a:r>
              <a:rPr sz="1250" b="0" i="0">
                <a:solidFill>
                  <a:srgbClr val="202020"/>
                </a:solidFill>
                <a:latin typeface="Calibri"/>
              </a:rPr>
              <a:t> is shorthand for a single group. You may use </a:t>
            </a:r>
            <a:r>
              <a:rPr sz="1200" b="0" i="0">
                <a:solidFill>
                  <a:srgbClr val="202020"/>
                </a:solidFill>
                <a:latin typeface="Consolas"/>
              </a:rPr>
              <a:t>anyOf</a:t>
            </a:r>
            <a:r>
              <a:rPr sz="1250" b="0" i="0">
                <a:solidFill>
                  <a:srgbClr val="202020"/>
                </a:solidFill>
                <a:latin typeface="Calibri"/>
              </a:rPr>
              <a:t> or </a:t>
            </a:r>
            <a:r>
              <a:rPr sz="1200" b="0" i="0">
                <a:solidFill>
                  <a:srgbClr val="202020"/>
                </a:solidFill>
                <a:latin typeface="Consolas"/>
              </a:rPr>
              <a:t>allOf</a:t>
            </a:r>
            <a:r>
              <a:rPr sz="1250" b="0" i="0">
                <a:solidFill>
                  <a:srgbClr val="202020"/>
                </a:solidFill>
                <a:latin typeface="Calibri"/>
              </a:rPr>
              <a:t> on an object, but never both. With no record rules at all, every row matches (partition rules may still apply).</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753</a:t>
            </a:r>
          </a:p>
        </p:txBody>
      </p:sp>
    </p:spTree>
  </p:cSld>
  <p:clrMapOvr>
    <a:masterClrMapping/>
  </p:clrMapOvr>
</p:sld>
</file>

<file path=ppt/slides/slide7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6.5 Writing a filter, object by object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Below is the shipped starter set, showing the common shapes. Notice that the object key must match the object name in </a:t>
            </a:r>
            <a:r>
              <a:rPr sz="1200" b="0" i="0">
                <a:solidFill>
                  <a:srgbClr val="202020"/>
                </a:solidFill>
                <a:latin typeface="Consolas"/>
              </a:rPr>
              <a:t>config/schema.json</a:t>
            </a:r>
            <a:r>
              <a:rPr sz="1250" b="0" i="0">
                <a:solidFill>
                  <a:srgbClr val="202020"/>
                </a:solidFill>
                <a:latin typeface="Calibri"/>
              </a:rPr>
              <a:t> (case-insensitive) — note that </a:t>
            </a:r>
            <a:r>
              <a:rPr sz="1200" b="0" i="0">
                <a:solidFill>
                  <a:srgbClr val="202020"/>
                </a:solidFill>
                <a:latin typeface="Consolas"/>
              </a:rPr>
              <a:t>Account</a:t>
            </a:r>
            <a:r>
              <a:rPr sz="1250" b="0" i="0">
                <a:solidFill>
                  <a:srgbClr val="202020"/>
                </a:solidFill>
                <a:latin typeface="Calibri"/>
              </a:rPr>
              <a:t> is the object even though it displays as "Client".</a:t>
            </a:r>
          </a:p>
          <a:p>
            <a:pPr>
              <a:spcBef>
                <a:spcPts val="100"/>
              </a:spcBef>
              <a:spcAft>
                <a:spcPts val="400"/>
              </a:spcAft>
            </a:pPr>
            <a:r>
              <a:rPr sz="1250" b="1" i="0">
                <a:solidFill>
                  <a:srgbClr val="202020"/>
                </a:solidFill>
                <a:latin typeface="Calibri"/>
              </a:rPr>
              <a:t>Contact</a:t>
            </a:r>
            <a:r>
              <a:rPr sz="1250" b="0" i="0">
                <a:solidFill>
                  <a:srgbClr val="202020"/>
                </a:solidFill>
                <a:latin typeface="Calibri"/>
              </a:rPr>
              <a:t> — active-mailbox contacts from the last ~15 months of loads (a </a:t>
            </a:r>
            <a:r>
              <a:rPr sz="1200" b="0" i="0">
                <a:solidFill>
                  <a:srgbClr val="202020"/>
                </a:solidFill>
                <a:latin typeface="Consolas"/>
              </a:rPr>
              <a:t>dt</a:t>
            </a:r>
            <a:r>
              <a:rPr sz="1250" b="0" i="0">
                <a:solidFill>
                  <a:srgbClr val="202020"/>
                </a:solidFill>
                <a:latin typeface="Calibri"/>
              </a:rPr>
              <a:t> window plus one record rule):</a:t>
            </a:r>
          </a:p>
          <a:p>
            <a:pPr>
              <a:spcBef>
                <a:spcPts val="100"/>
              </a:spcBef>
              <a:spcAft>
                <a:spcPts val="400"/>
              </a:spcAft>
            </a:pPr>
            <a:r>
              <a:rPr sz="1200" b="0" i="0">
                <a:solidFill>
                  <a:srgbClr val="202020"/>
                </a:solidFill>
                <a:latin typeface="Consolas"/>
              </a:rPr>
              <a:t>"Contact": { "partition": [ {"key":"dt","op":"withinLastDays","value":"450"} ], "allOf": [ {"field":"Email","op":"isNotNull"} ] }</a:t>
            </a:r>
          </a:p>
          <a:p>
            <a:pPr>
              <a:spcBef>
                <a:spcPts val="100"/>
              </a:spcBef>
              <a:spcAft>
                <a:spcPts val="400"/>
              </a:spcAft>
            </a:pPr>
            <a:r>
              <a:rPr sz="1250" b="1" i="0">
                <a:solidFill>
                  <a:srgbClr val="202020"/>
                </a:solidFill>
                <a:latin typeface="Calibri"/>
              </a:rPr>
              <a:t>Account (Client)</a:t>
            </a:r>
            <a:r>
              <a:rPr sz="1250" b="0" i="0">
                <a:solidFill>
                  <a:srgbClr val="202020"/>
                </a:solidFill>
                <a:latin typeface="Calibri"/>
              </a:rPr>
              <a:t> — recent loads, excluding dormant/archived clients:</a:t>
            </a:r>
          </a:p>
          <a:p>
            <a:pPr>
              <a:spcBef>
                <a:spcPts val="100"/>
              </a:spcBef>
              <a:spcAft>
                <a:spcPts val="400"/>
              </a:spcAft>
            </a:pPr>
            <a:r>
              <a:rPr sz="1200" b="0" i="0">
                <a:solidFill>
                  <a:srgbClr val="202020"/>
                </a:solidFill>
                <a:latin typeface="Consolas"/>
              </a:rPr>
              <a:t>"Account": { "partition": [ {"key":"dt","op":"withinLastDays","value":"450"} ], "allOf": [ {"field":"Type","op":"notIn","values":["Prospect - Dormant","Archived"]} ] }</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754</a:t>
            </a:r>
          </a:p>
        </p:txBody>
      </p:sp>
    </p:spTree>
  </p:cSld>
  <p:clrMapOvr>
    <a:masterClrMapping/>
  </p:clrMapOvr>
</p:sld>
</file>

<file path=ppt/slides/slide7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6.5 Writing a filter, object by object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1" i="0">
                <a:solidFill>
                  <a:srgbClr val="202020"/>
                </a:solidFill>
                <a:latin typeface="Calibri"/>
              </a:rPr>
              <a:t>Opportunity</a:t>
            </a:r>
            <a:r>
              <a:rPr sz="1250" b="0" i="0">
                <a:solidFill>
                  <a:srgbClr val="202020"/>
                </a:solidFill>
                <a:latin typeface="Calibri"/>
              </a:rPr>
              <a:t> — all open pipeline OR closed-lost from the last 6 months (this is where OR-of-AND earns its keep):</a:t>
            </a:r>
          </a:p>
          <a:p>
            <a:pPr>
              <a:spcBef>
                <a:spcPts val="100"/>
              </a:spcBef>
              <a:spcAft>
                <a:spcPts val="400"/>
              </a:spcAft>
            </a:pPr>
            <a:r>
              <a:rPr sz="1200" b="0" i="0">
                <a:solidFill>
                  <a:srgbClr val="202020"/>
                </a:solidFill>
                <a:latin typeface="Consolas"/>
              </a:rPr>
              <a:t>"Opportunity": { "partition": [ {"key":"dt","op":"withinLastDays","value":"450"} ], "anyOf": [ {"allOf":[{"field":"StageName","op":"notIn","values":["Closed Lost"]}]}, {"allOf":[{"field":"StageName","op":"equals","value":"Closed Lost"},{"field":"CloseDate","op":"withinLastDays","value":"180"}]} ] }</a:t>
            </a:r>
          </a:p>
          <a:p>
            <a:pPr>
              <a:spcBef>
                <a:spcPts val="100"/>
              </a:spcBef>
              <a:spcAft>
                <a:spcPts val="400"/>
              </a:spcAft>
            </a:pPr>
            <a:r>
              <a:rPr sz="1250" b="0" i="0">
                <a:solidFill>
                  <a:srgbClr val="202020"/>
                </a:solidFill>
                <a:latin typeface="Calibri"/>
              </a:rPr>
              <a:t>Read the second example as: keep a row if (Stage is not Closed Lost) OR (Stage is Closed Lost AND it closed within the last 180 days).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755</a:t>
            </a:r>
          </a:p>
        </p:txBody>
      </p:sp>
    </p:spTree>
  </p:cSld>
  <p:clrMapOvr>
    <a:masterClrMapping/>
  </p:clrMapOvr>
</p:sld>
</file>

<file path=ppt/slides/slide7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6.5 Writing a filter, object by object</a:t>
            </a:r>
          </a:p>
        </p:txBody>
      </p:sp>
      <p:sp>
        <p:nvSpPr>
          <p:cNvPr id="5" name="Rectangle 4"/>
          <p:cNvSpPr/>
          <p:nvPr/>
        </p:nvSpPr>
        <p:spPr>
          <a:xfrm>
            <a:off x="502920" y="1463040"/>
            <a:ext cx="11185855" cy="3291840"/>
          </a:xfrm>
          <a:prstGeom prst="rect">
            <a:avLst/>
          </a:prstGeom>
          <a:solidFill>
            <a:srgbClr val="E7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7D32"/>
                </a:solidFill>
                <a:latin typeface="Calibri"/>
              </a:rPr>
              <a:t>Tip:  </a:t>
            </a:r>
            <a:r>
              <a:rPr sz="1400" b="1" i="0">
                <a:solidFill>
                  <a:srgbClr val="202020"/>
                </a:solidFill>
                <a:latin typeface="Calibri"/>
              </a:rPr>
              <a:t>Tip: </a:t>
            </a:r>
            <a:r>
              <a:rPr sz="1400" b="0" i="0">
                <a:solidFill>
                  <a:srgbClr val="202020"/>
                </a:solidFill>
                <a:latin typeface="Calibri"/>
              </a:rPr>
              <a:t>Aim well under the row cap — it is a failsafe, not a target. Every matched record becomes a rate-limited write to Graph (plan for roughly 25 items per second on one connection), so 500,000 matches is hours of ingestion. Filter tighter, or spread object types across multiple connections (sharding — </a:t>
            </a:r>
            <a:r>
              <a:rPr sz="1400" b="1" i="0">
                <a:solidFill>
                  <a:srgbClr val="202020"/>
                </a:solidFill>
                <a:latin typeface="Calibri"/>
              </a:rPr>
              <a:t>Common Guide §6</a:t>
            </a:r>
            <a:r>
              <a:rPr sz="1400" b="0" i="0">
                <a:solidFill>
                  <a:srgbClr val="202020"/>
                </a:solidFill>
                <a:latin typeface="Calibri"/>
              </a:rPr>
              <a:t>), rather than leaning on the cap.</a:t>
            </a:r>
          </a:p>
        </p:txBody>
      </p:sp>
      <p:sp>
        <p:nvSpPr>
          <p:cNvPr id="6" name="Rectangle 5"/>
          <p:cNvSpPr/>
          <p:nvPr/>
        </p:nvSpPr>
        <p:spPr>
          <a:xfrm>
            <a:off x="502920" y="1463040"/>
            <a:ext cx="128016" cy="32918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756</a:t>
            </a:r>
          </a:p>
        </p:txBody>
      </p:sp>
    </p:spTree>
  </p:cSld>
  <p:clrMapOvr>
    <a:masterClrMapping/>
  </p:clrMapOvr>
</p:sld>
</file>

<file path=ppt/slides/slide7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6.5 Writing a filter, object by object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full field-by-field reference for </a:t>
            </a:r>
            <a:r>
              <a:rPr sz="1200" b="0" i="0">
                <a:solidFill>
                  <a:srgbClr val="202020"/>
                </a:solidFill>
                <a:latin typeface="Consolas"/>
              </a:rPr>
              <a:t>filters.json</a:t>
            </a:r>
            <a:r>
              <a:rPr sz="1250" b="0" i="0">
                <a:solidFill>
                  <a:srgbClr val="202020"/>
                </a:solidFill>
                <a:latin typeface="Calibri"/>
              </a:rPr>
              <a:t> is in </a:t>
            </a:r>
            <a:r>
              <a:rPr sz="1250" b="1" i="0">
                <a:solidFill>
                  <a:srgbClr val="202020"/>
                </a:solidFill>
                <a:latin typeface="Calibri"/>
              </a:rPr>
              <a:t>Section 14</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757</a:t>
            </a:r>
          </a:p>
        </p:txBody>
      </p:sp>
    </p:spTree>
  </p:cSld>
  <p:clrMapOvr>
    <a:masterClrMapping/>
  </p:clrMapOvr>
</p:sld>
</file>

<file path=ppt/slides/slide7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Hadoop BDH Connector</a:t>
            </a:r>
          </a:p>
          <a:p>
            <a:r>
              <a:rPr sz="3000" b="1" i="0">
                <a:solidFill>
                  <a:srgbClr val="1F3864"/>
                </a:solidFill>
                <a:latin typeface="Calibri"/>
              </a:rPr>
              <a:t>7. The fail-closed scale guard (a critical safety feature)</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758</a:t>
            </a:r>
          </a:p>
        </p:txBody>
      </p:sp>
    </p:spTree>
  </p:cSld>
  <p:clrMapOvr>
    <a:masterClrMapping/>
  </p:clrMapOvr>
</p:sld>
</file>

<file path=ppt/slides/slide7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 The fail-closed scale guard (a critical safety feature)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Because an unfiltered scan at BDH scale is an outage, the connector refuses to run one. An object with no effective filter does not crawl — it fails closed. This is deliberate, and you will meet it the first time you add a new object.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759</a:t>
            </a:r>
          </a:p>
        </p:txBody>
      </p:sp>
    </p:spTree>
  </p:cSld>
  <p:clrMapOvr>
    <a:masterClrMapping/>
  </p:clrMapOvr>
</p:sld>
</file>

<file path=ppt/slides/slide7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7.1 What the guard does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Before crawling an object the connector checks that the object is </a:t>
            </a:r>
            <a:r>
              <a:rPr sz="1250" b="1" i="0">
                <a:solidFill>
                  <a:srgbClr val="202020"/>
                </a:solidFill>
                <a:latin typeface="Calibri"/>
              </a:rPr>
              <a:t>effectively filtered</a:t>
            </a:r>
            <a:r>
              <a:rPr sz="1250" b="0" i="0">
                <a:solidFill>
                  <a:srgbClr val="202020"/>
                </a:solidFill>
                <a:latin typeface="Calibri"/>
              </a:rPr>
              <a:t>. If it is not, and it has not been explicitly exempted, the crawl for that object is refused with a </a:t>
            </a:r>
            <a:r>
              <a:rPr sz="1200" b="0" i="0">
                <a:solidFill>
                  <a:srgbClr val="202020"/>
                </a:solidFill>
                <a:latin typeface="Consolas"/>
              </a:rPr>
              <a:t>FullScanRefusedException</a:t>
            </a:r>
            <a:r>
              <a:rPr sz="1250" b="0" i="0">
                <a:solidFill>
                  <a:srgbClr val="202020"/>
                </a:solidFill>
                <a:latin typeface="Calibri"/>
              </a:rPr>
              <a:t>, a </a:t>
            </a:r>
            <a:r>
              <a:rPr sz="1200" b="0" i="0">
                <a:solidFill>
                  <a:srgbClr val="202020"/>
                </a:solidFill>
                <a:latin typeface="Consolas"/>
              </a:rPr>
              <a:t>guard_refusals_total</a:t>
            </a:r>
            <a:r>
              <a:rPr sz="1250" b="0" i="0">
                <a:solidFill>
                  <a:srgbClr val="202020"/>
                </a:solidFill>
                <a:latin typeface="Calibri"/>
              </a:rPr>
              <a:t> metric ticks up, and the object is listed among the crawl's failed objects. The refusal affects only that object — every other object keeps crawling.</a:t>
            </a:r>
          </a:p>
          <a:p>
            <a:pPr>
              <a:spcBef>
                <a:spcPts val="100"/>
              </a:spcBef>
              <a:spcAft>
                <a:spcPts val="400"/>
              </a:spcAft>
            </a:pPr>
            <a:r>
              <a:rPr sz="1250" b="0" i="0">
                <a:solidFill>
                  <a:srgbClr val="202020"/>
                </a:solidFill>
                <a:latin typeface="Calibri"/>
              </a:rPr>
              <a:t>"Effectively filtered" has a precise meaning, designed to close a loophole:</a:t>
            </a:r>
          </a:p>
          <a:p>
            <a:pPr>
              <a:spcBef>
                <a:spcPts val="100"/>
              </a:spcBef>
              <a:spcAft>
                <a:spcPts val="200"/>
              </a:spcAft>
            </a:pPr>
            <a:r>
              <a:rPr sz="1250" b="1" i="0">
                <a:solidFill>
                  <a:srgbClr val="2E5496"/>
                </a:solidFill>
                <a:latin typeface="Calibri"/>
              </a:rPr>
              <a:t>•  </a:t>
            </a:r>
            <a:r>
              <a:rPr sz="1250" b="0" i="0">
                <a:solidFill>
                  <a:srgbClr val="202020"/>
                </a:solidFill>
                <a:latin typeface="Calibri"/>
              </a:rPr>
              <a:t>An object counts as filtered if it has </a:t>
            </a:r>
            <a:r>
              <a:rPr sz="1250" b="1" i="0">
                <a:solidFill>
                  <a:srgbClr val="202020"/>
                </a:solidFill>
                <a:latin typeface="Calibri"/>
              </a:rPr>
              <a:t>any record predicate</a:t>
            </a:r>
            <a:r>
              <a:rPr sz="1250" b="0" i="0">
                <a:solidFill>
                  <a:srgbClr val="202020"/>
                </a:solidFill>
                <a:latin typeface="Calibri"/>
              </a:rPr>
              <a:t>, OR a </a:t>
            </a:r>
            <a:r>
              <a:rPr sz="1250" b="1" i="0">
                <a:solidFill>
                  <a:srgbClr val="202020"/>
                </a:solidFill>
                <a:latin typeface="Calibri"/>
              </a:rPr>
              <a:t>partition rule on the </a:t>
            </a:r>
            <a:r>
              <a:rPr sz="1200" b="1" i="0">
                <a:solidFill>
                  <a:srgbClr val="202020"/>
                </a:solidFill>
                <a:latin typeface="Consolas"/>
              </a:rPr>
              <a:t>dt</a:t>
            </a:r>
            <a:r>
              <a:rPr sz="1250" b="1" i="0">
                <a:solidFill>
                  <a:srgbClr val="202020"/>
                </a:solidFill>
                <a:latin typeface="Calibri"/>
              </a:rPr>
              <a:t> key</a:t>
            </a:r>
            <a:r>
              <a:rPr sz="1250" b="0" i="0">
                <a:solidFill>
                  <a:srgbClr val="202020"/>
                </a:solidFill>
                <a:latin typeface="Calibri"/>
              </a:rPr>
              <a:t> that can actually prune.</a:t>
            </a:r>
          </a:p>
          <a:p>
            <a:pPr>
              <a:spcBef>
                <a:spcPts val="100"/>
              </a:spcBef>
              <a:spcAft>
                <a:spcPts val="200"/>
              </a:spcAft>
            </a:pPr>
            <a:r>
              <a:rPr sz="1250" b="1" i="0">
                <a:solidFill>
                  <a:srgbClr val="2E5496"/>
                </a:solidFill>
                <a:latin typeface="Calibri"/>
              </a:rPr>
              <a:t>•  </a:t>
            </a:r>
            <a:r>
              <a:rPr sz="1250" b="0" i="0">
                <a:solidFill>
                  <a:srgbClr val="202020"/>
                </a:solidFill>
                <a:latin typeface="Calibri"/>
              </a:rPr>
              <a:t>A partition rule on a non-</a:t>
            </a:r>
            <a:r>
              <a:rPr sz="1200" b="0" i="0">
                <a:solidFill>
                  <a:srgbClr val="202020"/>
                </a:solidFill>
                <a:latin typeface="Consolas"/>
              </a:rPr>
              <a:t>dt</a:t>
            </a:r>
            <a:r>
              <a:rPr sz="1250" b="0" i="0">
                <a:solidFill>
                  <a:srgbClr val="202020"/>
                </a:solidFill>
                <a:latin typeface="Calibri"/>
              </a:rPr>
              <a:t> key does </a:t>
            </a:r>
            <a:r>
              <a:rPr sz="1250" b="1" i="0">
                <a:solidFill>
                  <a:srgbClr val="202020"/>
                </a:solidFill>
                <a:latin typeface="Calibri"/>
              </a:rPr>
              <a:t>not</a:t>
            </a:r>
            <a:r>
              <a:rPr sz="1250" b="0" i="0">
                <a:solidFill>
                  <a:srgbClr val="202020"/>
                </a:solidFill>
                <a:latin typeface="Calibri"/>
              </a:rPr>
              <a:t> count on its own, because that key might be absent and prune nothing.</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760</a:t>
            </a:r>
          </a:p>
        </p:txBody>
      </p:sp>
    </p:spTree>
  </p:cSld>
  <p:clrMapOvr>
    <a:masterClrMapping/>
  </p:clrMapOvr>
</p:sld>
</file>

<file path=ppt/slides/slide7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7.1 What the guard does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0" i="0">
                <a:solidFill>
                  <a:srgbClr val="202020"/>
                </a:solidFill>
                <a:latin typeface="Calibri"/>
              </a:rPr>
              <a:t>A </a:t>
            </a:r>
            <a:r>
              <a:rPr sz="1200" b="0" i="0">
                <a:solidFill>
                  <a:srgbClr val="202020"/>
                </a:solidFill>
                <a:latin typeface="Consolas"/>
              </a:rPr>
              <a:t>dt isNotNull</a:t>
            </a:r>
            <a:r>
              <a:rPr sz="1250" b="0" i="0">
                <a:solidFill>
                  <a:srgbClr val="202020"/>
                </a:solidFill>
                <a:latin typeface="Calibri"/>
              </a:rPr>
              <a:t> rule does </a:t>
            </a:r>
            <a:r>
              <a:rPr sz="1250" b="1" i="0">
                <a:solidFill>
                  <a:srgbClr val="202020"/>
                </a:solidFill>
                <a:latin typeface="Calibri"/>
              </a:rPr>
              <a:t>not</a:t>
            </a:r>
            <a:r>
              <a:rPr sz="1250" b="0" i="0">
                <a:solidFill>
                  <a:srgbClr val="202020"/>
                </a:solidFill>
                <a:latin typeface="Calibri"/>
              </a:rPr>
              <a:t> count either — it matches every partition and prunes nothing. A filter that prunes nothing is treated as no filter at all.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761</a:t>
            </a:r>
          </a:p>
        </p:txBody>
      </p:sp>
    </p:spTree>
  </p:cSld>
  <p:clrMapOvr>
    <a:masterClrMapping/>
  </p:clrMapOvr>
</p:sld>
</file>

<file path=ppt/slides/slide7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7.2 What you see when it fires, and how to fix it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log and the crawl summary carry a clear message naming the object, for example:</a:t>
            </a:r>
          </a:p>
          <a:p>
            <a:pPr>
              <a:spcBef>
                <a:spcPts val="100"/>
              </a:spcBef>
              <a:spcAft>
                <a:spcPts val="400"/>
              </a:spcAft>
            </a:pPr>
            <a:r>
              <a:rPr sz="1200" b="0" i="0">
                <a:solidFill>
                  <a:srgbClr val="202020"/>
                </a:solidFill>
                <a:latin typeface="Consolas"/>
              </a:rPr>
              <a:t>'Widget' has no filter configured in config/filters.json. At BDH scale an unfiltered scan is refused by default — add partition/record filters, list the object under fullScanAllowed, or set ALLOW_FULL_SCAN=true to override.</a:t>
            </a:r>
          </a:p>
          <a:p>
            <a:pPr>
              <a:spcBef>
                <a:spcPts val="100"/>
              </a:spcBef>
              <a:spcAft>
                <a:spcPts val="400"/>
              </a:spcAft>
            </a:pPr>
            <a:r>
              <a:rPr sz="1250" b="0" i="0">
                <a:solidFill>
                  <a:srgbClr val="202020"/>
                </a:solidFill>
                <a:latin typeface="Calibri"/>
              </a:rPr>
              <a:t>Almost always, the right fix is to </a:t>
            </a:r>
            <a:r>
              <a:rPr sz="1250" b="1" i="0">
                <a:solidFill>
                  <a:srgbClr val="202020"/>
                </a:solidFill>
                <a:latin typeface="Calibri"/>
              </a:rPr>
              <a:t>add a real filter</a:t>
            </a:r>
            <a:r>
              <a:rPr sz="1250" b="0" i="0">
                <a:solidFill>
                  <a:srgbClr val="202020"/>
                </a:solidFill>
                <a:latin typeface="Calibri"/>
              </a:rPr>
              <a:t> — this is normal, not an error to suppress:</a:t>
            </a:r>
          </a:p>
          <a:p>
            <a:pPr>
              <a:spcBef>
                <a:spcPts val="100"/>
              </a:spcBef>
              <a:spcAft>
                <a:spcPts val="200"/>
              </a:spcAft>
            </a:pPr>
            <a:r>
              <a:rPr sz="1250" b="1" i="0">
                <a:solidFill>
                  <a:srgbClr val="2E5496"/>
                </a:solidFill>
                <a:latin typeface="Calibri"/>
              </a:rPr>
              <a:t>•  </a:t>
            </a:r>
            <a:r>
              <a:rPr sz="1250" b="0" i="0">
                <a:solidFill>
                  <a:srgbClr val="202020"/>
                </a:solidFill>
                <a:latin typeface="Calibri"/>
              </a:rPr>
              <a:t>Add a </a:t>
            </a:r>
            <a:r>
              <a:rPr sz="1200" b="0" i="0">
                <a:solidFill>
                  <a:srgbClr val="202020"/>
                </a:solidFill>
                <a:latin typeface="Consolas"/>
              </a:rPr>
              <a:t>dt withinLastDays</a:t>
            </a:r>
            <a:r>
              <a:rPr sz="1250" b="0" i="0">
                <a:solidFill>
                  <a:srgbClr val="202020"/>
                </a:solidFill>
                <a:latin typeface="Calibri"/>
              </a:rPr>
              <a:t> partition rule (highest leverage) and/or a record rule for the object in </a:t>
            </a:r>
            <a:r>
              <a:rPr sz="1200" b="0" i="0">
                <a:solidFill>
                  <a:srgbClr val="202020"/>
                </a:solidFill>
                <a:latin typeface="Consolas"/>
              </a:rPr>
              <a:t>config/filters.json</a:t>
            </a:r>
            <a:r>
              <a:rPr sz="1250" b="0" i="0">
                <a:solidFill>
                  <a:srgbClr val="202020"/>
                </a:solidFill>
                <a:latin typeface="Calibri"/>
              </a:rPr>
              <a:t>.</a:t>
            </a:r>
          </a:p>
          <a:p>
            <a:pPr>
              <a:spcBef>
                <a:spcPts val="100"/>
              </a:spcBef>
              <a:spcAft>
                <a:spcPts val="200"/>
              </a:spcAft>
            </a:pPr>
            <a:r>
              <a:rPr sz="1250" b="1" i="0">
                <a:solidFill>
                  <a:srgbClr val="2E5496"/>
                </a:solidFill>
                <a:latin typeface="Calibri"/>
              </a:rPr>
              <a:t>•  </a:t>
            </a:r>
            <a:r>
              <a:rPr sz="1250" b="0" i="0">
                <a:solidFill>
                  <a:srgbClr val="202020"/>
                </a:solidFill>
                <a:latin typeface="Calibri"/>
              </a:rPr>
              <a:t>Re-run </a:t>
            </a:r>
            <a:r>
              <a:rPr sz="1200" b="0" i="0">
                <a:solidFill>
                  <a:srgbClr val="202020"/>
                </a:solidFill>
                <a:latin typeface="Consolas"/>
              </a:rPr>
              <a:t>validate-config --strict</a:t>
            </a:r>
            <a:r>
              <a:rPr sz="1250" b="0" i="0">
                <a:solidFill>
                  <a:srgbClr val="202020"/>
                </a:solidFill>
                <a:latin typeface="Calibri"/>
              </a:rPr>
              <a:t> — it names every refusing object before deployment.</a:t>
            </a:r>
          </a:p>
          <a:p>
            <a:pPr>
              <a:spcBef>
                <a:spcPts val="100"/>
              </a:spcBef>
              <a:spcAft>
                <a:spcPts val="200"/>
              </a:spcAft>
            </a:pPr>
            <a:r>
              <a:rPr sz="1250" b="1" i="0">
                <a:solidFill>
                  <a:srgbClr val="2E5496"/>
                </a:solidFill>
                <a:latin typeface="Calibri"/>
              </a:rPr>
              <a:t>•  </a:t>
            </a:r>
            <a:r>
              <a:rPr sz="1250" b="0" i="0">
                <a:solidFill>
                  <a:srgbClr val="202020"/>
                </a:solidFill>
                <a:latin typeface="Calibri"/>
              </a:rPr>
              <a:t>Redeploy. No state repair is needed; the object simply starts crawling.</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762</a:t>
            </a:r>
          </a:p>
        </p:txBody>
      </p:sp>
    </p:spTree>
  </p:cSld>
  <p:clrMapOvr>
    <a:masterClrMapping/>
  </p:clrMapOvr>
</p:sld>
</file>

<file path=ppt/slides/slide7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7.3 The rare legitimate override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 few objects genuinely need every row — small reference tables (think price books) that are bounded by nature. For those, and only those, you may exempt the object. Prefer the per-object list, which is reviewable and versioned:</a:t>
            </a:r>
          </a:p>
          <a:p>
            <a:pPr>
              <a:spcBef>
                <a:spcPts val="100"/>
              </a:spcBef>
              <a:spcAft>
                <a:spcPts val="400"/>
              </a:spcAft>
            </a:pPr>
            <a:r>
              <a:rPr sz="1200" b="0" i="0">
                <a:solidFill>
                  <a:srgbClr val="202020"/>
                </a:solidFill>
                <a:latin typeface="Consolas"/>
              </a:rPr>
              <a:t>{ "objects": { }, "fullScanAllowed": ["Pricebook"] }</a:t>
            </a:r>
          </a:p>
          <a:p>
            <a:pPr>
              <a:spcBef>
                <a:spcPts val="100"/>
              </a:spcBef>
              <a:spcAft>
                <a:spcPts val="400"/>
              </a:spcAft>
            </a:pPr>
            <a:r>
              <a:rPr sz="1250" b="0" i="0">
                <a:solidFill>
                  <a:srgbClr val="202020"/>
                </a:solidFill>
                <a:latin typeface="Calibri"/>
              </a:rPr>
              <a:t>The global </a:t>
            </a:r>
            <a:r>
              <a:rPr sz="1200" b="0" i="0">
                <a:solidFill>
                  <a:srgbClr val="202020"/>
                </a:solidFill>
                <a:latin typeface="Consolas"/>
              </a:rPr>
              <a:t>ALLOW_FULL_SCAN=true</a:t>
            </a:r>
            <a:r>
              <a:rPr sz="1250" b="0" i="0">
                <a:solidFill>
                  <a:srgbClr val="202020"/>
                </a:solidFill>
                <a:latin typeface="Calibri"/>
              </a:rPr>
              <a:t> switch turns the guard off for everything at once — avoid it, and treat any change that adds it as a security-relevant event.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763</a:t>
            </a:r>
          </a:p>
        </p:txBody>
      </p:sp>
    </p:spTree>
  </p:cSld>
  <p:clrMapOvr>
    <a:masterClrMapping/>
  </p:clrMapOvr>
</p:sld>
</file>

<file path=ppt/slides/slide7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7.3 The rare legitimate override</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Never use </a:t>
            </a:r>
            <a:r>
              <a:rPr sz="1350" b="0" i="0">
                <a:solidFill>
                  <a:srgbClr val="202020"/>
                </a:solidFill>
                <a:latin typeface="Consolas"/>
              </a:rPr>
              <a:t>fullScanAllowed</a:t>
            </a:r>
            <a:r>
              <a:rPr sz="1400" b="0" i="0">
                <a:solidFill>
                  <a:srgbClr val="202020"/>
                </a:solidFill>
                <a:latin typeface="Calibri"/>
              </a:rPr>
              <a:t> or </a:t>
            </a:r>
            <a:r>
              <a:rPr sz="1350" b="0" i="0">
                <a:solidFill>
                  <a:srgbClr val="202020"/>
                </a:solidFill>
                <a:latin typeface="Consolas"/>
              </a:rPr>
              <a:t>ALLOW_FULL_SCAN</a:t>
            </a:r>
            <a:r>
              <a:rPr sz="1400" b="0" i="0">
                <a:solidFill>
                  <a:srgbClr val="202020"/>
                </a:solidFill>
                <a:latin typeface="Calibri"/>
              </a:rPr>
              <a:t> to silence a refusal on a large object. That converts a safety guard into an outage. The guard firing on a big table means the filter is missing or wrong — fix the filter.</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764</a:t>
            </a:r>
          </a:p>
        </p:txBody>
      </p:sp>
    </p:spTree>
  </p:cSld>
  <p:clrMapOvr>
    <a:masterClrMapping/>
  </p:clrMapOvr>
</p:sld>
</file>

<file path=ppt/slides/slide7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7.4 filters.json is a change-controlled security control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Treat </a:t>
            </a:r>
            <a:r>
              <a:rPr sz="1200" b="0" i="0">
                <a:solidFill>
                  <a:srgbClr val="202020"/>
                </a:solidFill>
                <a:latin typeface="Consolas"/>
              </a:rPr>
              <a:t>config/filters.json</a:t>
            </a:r>
            <a:r>
              <a:rPr sz="1250" b="0" i="0">
                <a:solidFill>
                  <a:srgbClr val="202020"/>
                </a:solidFill>
                <a:latin typeface="Calibri"/>
              </a:rPr>
              <a:t> the way you would treat a firewall rule, not an ordinary setting. A weakened or deleted filter is a cost-and-outage exposure: drop a </a:t>
            </a:r>
            <a:r>
              <a:rPr sz="1200" b="0" i="0">
                <a:solidFill>
                  <a:srgbClr val="202020"/>
                </a:solidFill>
                <a:latin typeface="Consolas"/>
              </a:rPr>
              <a:t>dt</a:t>
            </a:r>
            <a:r>
              <a:rPr sz="1250" b="0" i="0">
                <a:solidFill>
                  <a:srgbClr val="202020"/>
                </a:solidFill>
                <a:latin typeface="Calibri"/>
              </a:rPr>
              <a:t> window and the next full crawl reads years of partitions. Accordingly:</a:t>
            </a:r>
          </a:p>
          <a:p>
            <a:pPr>
              <a:spcBef>
                <a:spcPts val="100"/>
              </a:spcBef>
              <a:spcAft>
                <a:spcPts val="200"/>
              </a:spcAft>
            </a:pPr>
            <a:r>
              <a:rPr sz="1250" b="1" i="0">
                <a:solidFill>
                  <a:srgbClr val="2E5496"/>
                </a:solidFill>
                <a:latin typeface="Calibri"/>
              </a:rPr>
              <a:t>•  </a:t>
            </a:r>
            <a:r>
              <a:rPr sz="1250" b="0" i="0">
                <a:solidFill>
                  <a:srgbClr val="202020"/>
                </a:solidFill>
                <a:latin typeface="Calibri"/>
              </a:rPr>
              <a:t>Changes go through review (a pull request) by the connector operations owner — the same people who may touch </a:t>
            </a:r>
            <a:r>
              <a:rPr sz="1200" b="0" i="0">
                <a:solidFill>
                  <a:srgbClr val="202020"/>
                </a:solidFill>
                <a:latin typeface="Consolas"/>
              </a:rPr>
              <a:t>ALLOW_FULL_SCAN</a:t>
            </a:r>
            <a:r>
              <a:rPr sz="1250" b="0" i="0">
                <a:solidFill>
                  <a:srgbClr val="202020"/>
                </a:solidFill>
                <a:latin typeface="Calibri"/>
              </a:rPr>
              <a:t> and the deletion-sweep caps.</a:t>
            </a:r>
          </a:p>
          <a:p>
            <a:pPr>
              <a:spcBef>
                <a:spcPts val="100"/>
              </a:spcBef>
              <a:spcAft>
                <a:spcPts val="200"/>
              </a:spcAft>
            </a:pPr>
            <a:r>
              <a:rPr sz="1250" b="1" i="0">
                <a:solidFill>
                  <a:srgbClr val="2E5496"/>
                </a:solidFill>
                <a:latin typeface="Calibri"/>
              </a:rPr>
              <a:t>•  </a:t>
            </a:r>
            <a:r>
              <a:rPr sz="1200" b="0" i="0">
                <a:solidFill>
                  <a:srgbClr val="202020"/>
                </a:solidFill>
                <a:latin typeface="Consolas"/>
              </a:rPr>
              <a:t>validate-config --strict</a:t>
            </a:r>
            <a:r>
              <a:rPr sz="1250" b="0" i="0">
                <a:solidFill>
                  <a:srgbClr val="202020"/>
                </a:solidFill>
                <a:latin typeface="Calibri"/>
              </a:rPr>
              <a:t> runs in the deployment pipeline and </a:t>
            </a:r>
            <a:r>
              <a:rPr sz="1250" b="1" i="0">
                <a:solidFill>
                  <a:srgbClr val="202020"/>
                </a:solidFill>
                <a:latin typeface="Calibri"/>
              </a:rPr>
              <a:t>errors</a:t>
            </a:r>
            <a:r>
              <a:rPr sz="1250" b="0" i="0">
                <a:solidFill>
                  <a:srgbClr val="202020"/>
                </a:solidFill>
                <a:latin typeface="Calibri"/>
              </a:rPr>
              <a:t> on unfiltered objects, malformed filters and shard-map problems before they reach production.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765</a:t>
            </a:r>
          </a:p>
        </p:txBody>
      </p:sp>
    </p:spTree>
  </p:cSld>
  <p:clrMapOvr>
    <a:masterClrMapping/>
  </p:clrMapOvr>
</p:sld>
</file>

<file path=ppt/slides/slide7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7.4 filters.json is a change-controlled security control</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0" i="0">
                <a:solidFill>
                  <a:srgbClr val="202020"/>
                </a:solidFill>
                <a:latin typeface="Calibri"/>
              </a:rPr>
              <a:t>Malformed filters are fatal at load, by design — an unknown operator, a typo like </a:t>
            </a:r>
            <a:r>
              <a:rPr sz="1200" b="0" i="0">
                <a:solidFill>
                  <a:srgbClr val="202020"/>
                </a:solidFill>
                <a:latin typeface="Consolas"/>
              </a:rPr>
              <a:t>"anyof"</a:t>
            </a:r>
            <a:r>
              <a:rPr sz="1250" b="0" i="0">
                <a:solidFill>
                  <a:srgbClr val="202020"/>
                </a:solidFill>
                <a:latin typeface="Calibri"/>
              </a:rPr>
              <a:t>, a missing operand, or </a:t>
            </a:r>
            <a:r>
              <a:rPr sz="1200" b="0" i="0">
                <a:solidFill>
                  <a:srgbClr val="202020"/>
                </a:solidFill>
                <a:latin typeface="Consolas"/>
              </a:rPr>
              <a:t>anyOf</a:t>
            </a:r>
            <a:r>
              <a:rPr sz="1250" b="0" i="0">
                <a:solidFill>
                  <a:srgbClr val="202020"/>
                </a:solidFill>
                <a:latin typeface="Calibri"/>
              </a:rPr>
              <a:t> and </a:t>
            </a:r>
            <a:r>
              <a:rPr sz="1200" b="0" i="0">
                <a:solidFill>
                  <a:srgbClr val="202020"/>
                </a:solidFill>
                <a:latin typeface="Consolas"/>
              </a:rPr>
              <a:t>allOf</a:t>
            </a:r>
            <a:r>
              <a:rPr sz="1250" b="0" i="0">
                <a:solidFill>
                  <a:srgbClr val="202020"/>
                </a:solidFill>
                <a:latin typeface="Calibri"/>
              </a:rPr>
              <a:t> together all stop startup with a message naming the object and problem. There is deliberately no "skip the bad filter" mode, because a silently-dropped filter is an outage.</a:t>
            </a:r>
          </a:p>
          <a:p>
            <a:pPr>
              <a:spcBef>
                <a:spcPts val="100"/>
              </a:spcBef>
              <a:spcAft>
                <a:spcPts val="200"/>
              </a:spcAft>
            </a:pPr>
            <a:r>
              <a:rPr sz="1250" b="1" i="0">
                <a:solidFill>
                  <a:srgbClr val="2E5496"/>
                </a:solidFill>
                <a:latin typeface="Calibri"/>
              </a:rPr>
              <a:t>•  </a:t>
            </a:r>
            <a:r>
              <a:rPr sz="1250" b="0" i="0">
                <a:solidFill>
                  <a:srgbClr val="202020"/>
                </a:solidFill>
                <a:latin typeface="Calibri"/>
              </a:rPr>
              <a:t>A spike in </a:t>
            </a:r>
            <a:r>
              <a:rPr sz="1200" b="0" i="0">
                <a:solidFill>
                  <a:srgbClr val="202020"/>
                </a:solidFill>
                <a:latin typeface="Consolas"/>
              </a:rPr>
              <a:t>guard_refusals_total</a:t>
            </a:r>
            <a:r>
              <a:rPr sz="1250" b="0" i="0">
                <a:solidFill>
                  <a:srgbClr val="202020"/>
                </a:solidFill>
                <a:latin typeface="Calibri"/>
              </a:rPr>
              <a:t>, or a jump in </a:t>
            </a:r>
            <a:r>
              <a:rPr sz="1200" b="0" i="0">
                <a:solidFill>
                  <a:srgbClr val="202020"/>
                </a:solidFill>
                <a:latin typeface="Consolas"/>
              </a:rPr>
              <a:t>sweeps_suppressed_total</a:t>
            </a:r>
            <a:r>
              <a:rPr sz="1250" b="0" i="0">
                <a:solidFill>
                  <a:srgbClr val="202020"/>
                </a:solidFill>
                <a:latin typeface="Calibri"/>
              </a:rPr>
              <a:t>, right after a config change is the canonical "a filter regressed" signal — watch for it after every rollout.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766</a:t>
            </a:r>
          </a:p>
        </p:txBody>
      </p:sp>
    </p:spTree>
  </p:cSld>
  <p:clrMapOvr>
    <a:masterClrMapping/>
  </p:clrMapOvr>
</p:sld>
</file>

<file path=ppt/slides/slide7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7.4 filters.json is a change-controlled security control</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An over-tightened filter is also risky: shrinking an object's match set looks like mass deletion to the deletion sweep. The sweep has its own guards (</a:t>
            </a:r>
            <a:r>
              <a:rPr sz="1400" b="1" i="0">
                <a:solidFill>
                  <a:srgbClr val="202020"/>
                </a:solidFill>
                <a:latin typeface="Calibri"/>
              </a:rPr>
              <a:t>Section 11</a:t>
            </a:r>
            <a:r>
              <a:rPr sz="1400" b="0" i="0">
                <a:solidFill>
                  <a:srgbClr val="202020"/>
                </a:solidFill>
                <a:latin typeface="Calibri"/>
              </a:rPr>
              <a:t>), but review is the first line of defence — double-check the match counts after any filter edit.</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767</a:t>
            </a:r>
          </a:p>
        </p:txBody>
      </p:sp>
    </p:spTree>
  </p:cSld>
  <p:clrMapOvr>
    <a:masterClrMapping/>
  </p:clrMapOvr>
</p:sld>
</file>

<file path=ppt/slides/slide7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Hadoop BDH Connector</a:t>
            </a:r>
          </a:p>
          <a:p>
            <a:r>
              <a:rPr sz="3000" b="1" i="0">
                <a:solidFill>
                  <a:srgbClr val="1F3864"/>
                </a:solidFill>
                <a:latin typeface="Calibri"/>
              </a:rPr>
              <a:t>8. The 24-hour lag and incremental crawls</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768</a:t>
            </a:r>
          </a:p>
        </p:txBody>
      </p:sp>
    </p:spTree>
  </p:cSld>
  <p:clrMapOvr>
    <a:masterClrMapping/>
  </p:clrMapOvr>
</p:sld>
</file>

<file path=ppt/slides/slide7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8. The 24-hour lag and incremental crawls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BDH is loaded once a night, so its data can be up to ~24 hours behind live Salesforce. The connector is built around that lag rather than hiding it.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769</a:t>
            </a:r>
          </a:p>
        </p:txBody>
      </p:sp>
    </p:spTree>
  </p:cSld>
  <p:clrMapOvr>
    <a:masterClrMapping/>
  </p:clrMapOvr>
</p:sld>
</file>

<file path=ppt/slides/slide7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8.1 Why data is up to a day old</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An overnight job mirrors Salesforce into BDH. Until tonight's load lands, BDH still shows yesterday's picture. So an item indexed from BDH may lag the live org by up to a day. The connector makes that visible instead of pretending otherwise: every item carries a </a:t>
            </a:r>
            <a:r>
              <a:rPr sz="1200" b="0" i="0">
                <a:solidFill>
                  <a:srgbClr val="202020"/>
                </a:solidFill>
                <a:latin typeface="Consolas"/>
              </a:rPr>
              <a:t>DataAsOf</a:t>
            </a:r>
            <a:r>
              <a:rPr sz="1250" b="0" i="0">
                <a:solidFill>
                  <a:srgbClr val="202020"/>
                </a:solidFill>
                <a:latin typeface="Calibri"/>
              </a:rPr>
              <a:t> date (a refinable property) and a "Data as of" line in its searchable body, so a Copilot answer can surface the age of what it used.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770</a:t>
            </a:r>
          </a:p>
        </p:txBody>
      </p:sp>
    </p:spTree>
  </p:cSld>
  <p:clrMapOvr>
    <a:masterClrMapping/>
  </p:clrMapOvr>
</p:sld>
</file>

<file path=ppt/slides/slide7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8.2 Full crawls vs incremental crawls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 </a:t>
            </a:r>
            <a:r>
              <a:rPr sz="1250" b="1" i="0">
                <a:solidFill>
                  <a:srgbClr val="202020"/>
                </a:solidFill>
                <a:latin typeface="Calibri"/>
              </a:rPr>
              <a:t>full crawl</a:t>
            </a:r>
            <a:r>
              <a:rPr sz="1250" b="0" i="0">
                <a:solidFill>
                  <a:srgbClr val="202020"/>
                </a:solidFill>
                <a:latin typeface="Calibri"/>
              </a:rPr>
              <a:t> reads every partition the filters allow and rebuilds the index for each object; it also runs the deletion sweep. An </a:t>
            </a:r>
            <a:r>
              <a:rPr sz="1250" b="1" i="0">
                <a:solidFill>
                  <a:srgbClr val="202020"/>
                </a:solidFill>
                <a:latin typeface="Calibri"/>
              </a:rPr>
              <a:t>incremental crawl</a:t>
            </a:r>
            <a:r>
              <a:rPr sz="1250" b="0" i="0">
                <a:solidFill>
                  <a:srgbClr val="202020"/>
                </a:solidFill>
                <a:latin typeface="Calibri"/>
              </a:rPr>
              <a:t> reads only the newest partitions, to pick up each night's load quickly and cheaply. The continuous service does both on a schedule — full every 24 h, incremental every 4 h by default.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771</a:t>
            </a:r>
          </a:p>
        </p:txBody>
      </p:sp>
    </p:spTree>
  </p:cSld>
  <p:clrMapOvr>
    <a:masterClrMapping/>
  </p:clrMapOvr>
</p:sld>
</file>

<file path=ppt/slides/slide7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8.3 The dt-watermark and BDH_LAG_HOURS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An incremental crawl uses a </a:t>
            </a:r>
            <a:r>
              <a:rPr sz="1250" b="1" i="0">
                <a:solidFill>
                  <a:srgbClr val="202020"/>
                </a:solidFill>
                <a:latin typeface="Calibri"/>
              </a:rPr>
              <a:t>watermark</a:t>
            </a:r>
            <a:r>
              <a:rPr sz="1250" b="0" i="0">
                <a:solidFill>
                  <a:srgbClr val="202020"/>
                </a:solidFill>
                <a:latin typeface="Calibri"/>
              </a:rPr>
              <a:t> — the timestamp of the last successful sync — to decide what is new. Rather than read only partitions strictly newer than the watermark, it deliberately reaches back by </a:t>
            </a:r>
            <a:r>
              <a:rPr sz="1200" b="0" i="0">
                <a:solidFill>
                  <a:srgbClr val="202020"/>
                </a:solidFill>
                <a:latin typeface="Consolas"/>
              </a:rPr>
              <a:t>BDH_LAG_HOURS</a:t>
            </a:r>
            <a:r>
              <a:rPr sz="1250" b="0" i="0">
                <a:solidFill>
                  <a:srgbClr val="202020"/>
                </a:solidFill>
                <a:latin typeface="Calibri"/>
              </a:rPr>
              <a:t> (default 24): it reads every </a:t>
            </a:r>
            <a:r>
              <a:rPr sz="1200" b="0" i="0">
                <a:solidFill>
                  <a:srgbClr val="202020"/>
                </a:solidFill>
                <a:latin typeface="Consolas"/>
              </a:rPr>
              <a:t>dt</a:t>
            </a:r>
            <a:r>
              <a:rPr sz="1250" b="0" i="0">
                <a:solidFill>
                  <a:srgbClr val="202020"/>
                </a:solidFill>
                <a:latin typeface="Calibri"/>
              </a:rPr>
              <a:t> partition newer than </a:t>
            </a:r>
            <a:r>
              <a:rPr sz="1250" b="1" i="0">
                <a:solidFill>
                  <a:srgbClr val="202020"/>
                </a:solidFill>
                <a:latin typeface="Calibri"/>
              </a:rPr>
              <a:t>(last sync − BDH_LAG_HOURS)</a:t>
            </a:r>
            <a:r>
              <a:rPr sz="1250" b="0" i="0">
                <a:solidFill>
                  <a:srgbClr val="202020"/>
                </a:solidFill>
                <a:latin typeface="Calibri"/>
              </a:rPr>
              <a:t>. That overlap window means a late-arriving nightly load is never missed, and re-reading a record that has not changed is harmless — writing it again is an idempotent update.</a:t>
            </a:r>
          </a:p>
          <a:p>
            <a:pPr>
              <a:spcBef>
                <a:spcPts val="100"/>
              </a:spcBef>
              <a:spcAft>
                <a:spcPts val="400"/>
              </a:spcAft>
            </a:pPr>
            <a:r>
              <a:rPr sz="1250" b="0" i="0">
                <a:solidFill>
                  <a:srgbClr val="202020"/>
                </a:solidFill>
                <a:latin typeface="Calibri"/>
              </a:rPr>
              <a:t>So the watermark is why data is a day old, and the overlap is why a load that lands late still gets picked up on the next cycle. If you ever suspect a whole window was skipped, force a full crawl — full crawls ignore the watermark and re-baseline everything.</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772</a:t>
            </a:r>
          </a:p>
        </p:txBody>
      </p:sp>
    </p:spTree>
  </p:cSld>
  <p:clrMapOvr>
    <a:masterClrMapping/>
  </p:clrMapOvr>
</p:sld>
</file>

<file path=ppt/slides/slide7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8.4 The staleness alert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connector records when each crawl last completed (</a:t>
            </a:r>
            <a:r>
              <a:rPr sz="1200" b="0" i="0">
                <a:solidFill>
                  <a:srgbClr val="202020"/>
                </a:solidFill>
                <a:latin typeface="Consolas"/>
              </a:rPr>
              <a:t>last_crawl_completed_timestamp_seconds</a:t>
            </a:r>
            <a:r>
              <a:rPr sz="1250" b="0" i="0">
                <a:solidFill>
                  <a:srgbClr val="202020"/>
                </a:solidFill>
                <a:latin typeface="Calibri"/>
              </a:rPr>
              <a:t>). The shipped alert </a:t>
            </a:r>
            <a:r>
              <a:rPr sz="1250" b="1" i="0">
                <a:solidFill>
                  <a:srgbClr val="202020"/>
                </a:solidFill>
                <a:latin typeface="Calibri"/>
              </a:rPr>
              <a:t>WatermarkStale</a:t>
            </a:r>
            <a:r>
              <a:rPr sz="1250" b="0" i="0">
                <a:solidFill>
                  <a:srgbClr val="202020"/>
                </a:solidFill>
                <a:latin typeface="Calibri"/>
              </a:rPr>
              <a:t> fires when that age passes about </a:t>
            </a:r>
            <a:r>
              <a:rPr sz="1250" b="1" i="0">
                <a:solidFill>
                  <a:srgbClr val="202020"/>
                </a:solidFill>
                <a:latin typeface="Calibri"/>
              </a:rPr>
              <a:t>26 hours</a:t>
            </a:r>
            <a:r>
              <a:rPr sz="1250" b="0" i="0">
                <a:solidFill>
                  <a:srgbClr val="202020"/>
                </a:solidFill>
                <a:latin typeface="Calibri"/>
              </a:rPr>
              <a:t> — the nightly-load contract (24 h) plus a little slack. In plain terms: "we have not seen a fresh load when we should have." The usual causes are a nightly load that did not run or landed late, a watermark that has drifted ahead of reality, or </a:t>
            </a:r>
            <a:r>
              <a:rPr sz="1200" b="0" i="0">
                <a:solidFill>
                  <a:srgbClr val="202020"/>
                </a:solidFill>
                <a:latin typeface="Consolas"/>
              </a:rPr>
              <a:t>BDH_LAG_HOURS</a:t>
            </a:r>
            <a:r>
              <a:rPr sz="1250" b="0" i="0">
                <a:solidFill>
                  <a:srgbClr val="202020"/>
                </a:solidFill>
                <a:latin typeface="Calibri"/>
              </a:rPr>
              <a:t> set too small for how late loads actually arrive (see the runbook in </a:t>
            </a:r>
            <a:r>
              <a:rPr sz="1250" b="1" i="0">
                <a:solidFill>
                  <a:srgbClr val="202020"/>
                </a:solidFill>
                <a:latin typeface="Calibri"/>
              </a:rPr>
              <a:t>Section 13</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773</a:t>
            </a:r>
          </a:p>
        </p:txBody>
      </p:sp>
    </p:spTree>
  </p:cSld>
  <p:clrMapOvr>
    <a:masterClrMapping/>
  </p:clrMapOvr>
</p:sld>
</file>

<file path=ppt/slides/slide7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8.5 Entitlement freshness on incremental crawls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As of this release the connector re-syncs its BDH→Entra identity mapping on </a:t>
            </a:r>
            <a:r>
              <a:rPr sz="1250" b="1" i="0">
                <a:solidFill>
                  <a:srgbClr val="202020"/>
                </a:solidFill>
                <a:latin typeface="Calibri"/>
              </a:rPr>
              <a:t>every incremental crawl</a:t>
            </a:r>
            <a:r>
              <a:rPr sz="1250" b="0" i="0">
                <a:solidFill>
                  <a:srgbClr val="202020"/>
                </a:solidFill>
                <a:latin typeface="Calibri"/>
              </a:rPr>
              <a:t>, not just on full crawls (</a:t>
            </a:r>
            <a:r>
              <a:rPr sz="1200" b="0" i="0">
                <a:solidFill>
                  <a:srgbClr val="202020"/>
                </a:solidFill>
                <a:latin typeface="Consolas"/>
              </a:rPr>
              <a:t>IDENTITY_SYNC_ON_INCREMENTAL</a:t>
            </a:r>
            <a:r>
              <a:rPr sz="1250" b="0" i="0">
                <a:solidFill>
                  <a:srgbClr val="202020"/>
                </a:solidFill>
                <a:latin typeface="Calibri"/>
              </a:rPr>
              <a:t> now defaults to </a:t>
            </a:r>
            <a:r>
              <a:rPr sz="1200" b="0" i="0">
                <a:solidFill>
                  <a:srgbClr val="202020"/>
                </a:solidFill>
                <a:latin typeface="Consolas"/>
              </a:rPr>
              <a:t>true</a:t>
            </a:r>
            <a:r>
              <a:rPr sz="1250" b="0" i="0">
                <a:solidFill>
                  <a:srgbClr val="202020"/>
                </a:solidFill>
                <a:latin typeface="Calibri"/>
              </a:rPr>
              <a:t>). That shrinks how long an entitlement change — a new joiner, a mover, a leaver — takes to reach the index: from "wait for the next full crawl" down to the incremental cadence (every 4 h by default). Set it </a:t>
            </a:r>
            <a:r>
              <a:rPr sz="1200" b="0" i="0">
                <a:solidFill>
                  <a:srgbClr val="202020"/>
                </a:solidFill>
                <a:latin typeface="Consolas"/>
              </a:rPr>
              <a:t>false</a:t>
            </a:r>
            <a:r>
              <a:rPr sz="1250" b="0" i="0">
                <a:solidFill>
                  <a:srgbClr val="202020"/>
                </a:solidFill>
                <a:latin typeface="Calibri"/>
              </a:rPr>
              <a:t> to restrict identity sync to full crawls only, as older builds did.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774</a:t>
            </a:r>
          </a:p>
        </p:txBody>
      </p:sp>
    </p:spTree>
  </p:cSld>
  <p:clrMapOvr>
    <a:masterClrMapping/>
  </p:clrMapOvr>
</p:sld>
</file>

<file path=ppt/slides/slide7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8.5 Entitlement freshness on incremental crawls</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This is faster, but it is </a:t>
            </a:r>
            <a:r>
              <a:rPr sz="1400" b="1" i="0">
                <a:solidFill>
                  <a:srgbClr val="202020"/>
                </a:solidFill>
                <a:latin typeface="Calibri"/>
              </a:rPr>
              <a:t>not real-time, and there is no separate re-ACL sweep</a:t>
            </a:r>
            <a:r>
              <a:rPr sz="1400" b="0" i="0">
                <a:solidFill>
                  <a:srgbClr val="202020"/>
                </a:solidFill>
                <a:latin typeface="Calibri"/>
              </a:rPr>
              <a:t>. Re-syncing refreshes the identity MAPPING, but an item's ACL is only re-written when its SOURCE record changes. An item whose record is unchanged keeps the ACL it was last written with until the next FULL crawl re-baselines it. In other words, </a:t>
            </a:r>
            <a:r>
              <a:rPr sz="1400" b="1" i="0">
                <a:solidFill>
                  <a:srgbClr val="202020"/>
                </a:solidFill>
                <a:latin typeface="Calibri"/>
              </a:rPr>
              <a:t>full crawls are the re-ACL cadence</a:t>
            </a:r>
            <a:r>
              <a:rPr sz="1400" b="0" i="0">
                <a:solidFill>
                  <a:srgbClr val="202020"/>
                </a:solidFill>
                <a:latin typeface="Calibri"/>
              </a:rPr>
              <a:t> — schedule them (</a:t>
            </a:r>
            <a:r>
              <a:rPr sz="1350" b="0" i="0">
                <a:solidFill>
                  <a:srgbClr val="202020"/>
                </a:solidFill>
                <a:latin typeface="Consolas"/>
              </a:rPr>
              <a:t>--full-crawl-hours</a:t>
            </a:r>
            <a:r>
              <a:rPr sz="1400" b="0" i="0">
                <a:solidFill>
                  <a:srgbClr val="202020"/>
                </a:solidFill>
                <a:latin typeface="Calibri"/>
              </a:rPr>
              <a:t>) to match your entitlement-freshness SLA, not just the incremental interval.</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775</a:t>
            </a:r>
          </a:p>
        </p:txBody>
      </p:sp>
    </p:spTree>
  </p:cSld>
  <p:clrMapOvr>
    <a:masterClrMapping/>
  </p:clrMapOvr>
</p:sld>
</file>

<file path=ppt/slides/slide7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Hadoop BDH Connector</a:t>
            </a:r>
          </a:p>
          <a:p>
            <a:r>
              <a:rPr sz="3000" b="1" i="0">
                <a:solidFill>
                  <a:srgbClr val="1F3864"/>
                </a:solidFill>
                <a:latin typeface="Calibri"/>
              </a:rPr>
              <a:t>9. Before you start: prerequisites and intake checklist</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776</a:t>
            </a:r>
          </a:p>
        </p:txBody>
      </p:sp>
    </p:spTree>
  </p:cSld>
  <p:clrMapOvr>
    <a:masterClrMapping/>
  </p:clrMapOvr>
</p:sld>
</file>

<file path=ppt/slides/slide7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 Before you start: prerequisites and intake checklist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Gather everything below before you touch the connector. Each row names the setting and who supplies it; fill in the last column as you collect them.</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777</a:t>
            </a:r>
          </a:p>
        </p:txBody>
      </p:sp>
    </p:spTree>
  </p:cSld>
  <p:clrMapOvr>
    <a:masterClrMapping/>
  </p:clrMapOvr>
</p:sld>
</file>

<file path=ppt/slides/slide7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 Before you start: prerequisites and intake checklist</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Item</a:t>
                      </a:r>
                    </a:p>
                  </a:txBody>
                  <a:tcPr marT="25400" marB="25400">
                    <a:solidFill>
                      <a:srgbClr val="2E5496"/>
                    </a:solidFill>
                  </a:tcPr>
                </a:tc>
                <a:tc>
                  <a:txBody>
                    <a:bodyPr wrap="square"/>
                    <a:lstStyle/>
                    <a:p>
                      <a:r>
                        <a:rPr sz="1050" b="1" i="0">
                          <a:solidFill>
                            <a:srgbClr val="FFFFFF"/>
                          </a:solidFill>
                          <a:latin typeface="Calibri"/>
                        </a:rPr>
                        <a:t>Setting / detail</a:t>
                      </a:r>
                    </a:p>
                  </a:txBody>
                  <a:tcPr marT="25400" marB="25400">
                    <a:solidFill>
                      <a:srgbClr val="2E5496"/>
                    </a:solidFill>
                  </a:tcPr>
                </a:tc>
                <a:tc>
                  <a:txBody>
                    <a:bodyPr wrap="square"/>
                    <a:lstStyle/>
                    <a:p>
                      <a:r>
                        <a:rPr sz="1050" b="1" i="0">
                          <a:solidFill>
                            <a:srgbClr val="FFFFFF"/>
                          </a:solidFill>
                          <a:latin typeface="Calibri"/>
                        </a:rPr>
                        <a:t>Value / provided by</a:t>
                      </a:r>
                    </a:p>
                  </a:txBody>
                  <a:tcPr marT="25400" marB="25400">
                    <a:solidFill>
                      <a:srgbClr val="2E5496"/>
                    </a:solidFill>
                  </a:tcPr>
                </a:tc>
              </a:tr>
              <a:tr h="384048">
                <a:tc>
                  <a:txBody>
                    <a:bodyPr wrap="square"/>
                    <a:lstStyle/>
                    <a:p>
                      <a:r>
                        <a:rPr sz="950" b="0" i="0">
                          <a:solidFill>
                            <a:srgbClr val="202020"/>
                          </a:solidFill>
                          <a:latin typeface="Calibri"/>
                        </a:rPr>
                        <a:t>Entra tenant ID</a:t>
                      </a:r>
                    </a:p>
                  </a:txBody>
                  <a:tcPr marT="12700" marB="12700">
                    <a:solidFill>
                      <a:srgbClr val="FFFFFF"/>
                    </a:solidFill>
                  </a:tcPr>
                </a:tc>
                <a:tc>
                  <a:txBody>
                    <a:bodyPr wrap="square"/>
                    <a:lstStyle/>
                    <a:p>
                      <a:r>
                        <a:rPr sz="950" b="0" i="0">
                          <a:solidFill>
                            <a:srgbClr val="202020"/>
                          </a:solidFill>
                          <a:latin typeface="Calibri"/>
                        </a:rPr>
                        <a:t>AAD_APP_TENANT_ID — from the Entra tenant admin</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Entra app (client) ID</a:t>
                      </a:r>
                    </a:p>
                  </a:txBody>
                  <a:tcPr marT="12700" marB="12700">
                    <a:solidFill>
                      <a:srgbClr val="F7F9FC"/>
                    </a:solidFill>
                  </a:tcPr>
                </a:tc>
                <a:tc>
                  <a:txBody>
                    <a:bodyPr wrap="square"/>
                    <a:lstStyle/>
                    <a:p>
                      <a:r>
                        <a:rPr sz="950" b="0" i="0">
                          <a:solidFill>
                            <a:srgbClr val="202020"/>
                          </a:solidFill>
                          <a:latin typeface="Calibri"/>
                        </a:rPr>
                        <a:t>AAD_APP_CLIENT_ID — the app registration</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App credential</a:t>
                      </a:r>
                    </a:p>
                  </a:txBody>
                  <a:tcPr marT="12700" marB="12700">
                    <a:solidFill>
                      <a:srgbClr val="FFFFFF"/>
                    </a:solidFill>
                  </a:tcPr>
                </a:tc>
                <a:tc>
                  <a:txBody>
                    <a:bodyPr wrap="square"/>
                    <a:lstStyle/>
                    <a:p>
                      <a:r>
                        <a:rPr sz="950" b="0" i="0">
                          <a:solidFill>
                            <a:srgbClr val="202020"/>
                          </a:solidFill>
                          <a:latin typeface="Calibri"/>
                        </a:rPr>
                        <a:t>Client secret (SECRET_AAD_APP_CLIENT_SECRET) or, preferred, a certificate (GRAPH_CLIENT_CERT_*)</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Graph permissions</a:t>
                      </a:r>
                    </a:p>
                  </a:txBody>
                  <a:tcPr marT="12700" marB="12700">
                    <a:solidFill>
                      <a:srgbClr val="F7F9FC"/>
                    </a:solidFill>
                  </a:tcPr>
                </a:tc>
                <a:tc>
                  <a:txBody>
                    <a:bodyPr wrap="square"/>
                    <a:lstStyle/>
                    <a:p>
                      <a:r>
                        <a:rPr sz="950" b="0" i="0">
                          <a:solidFill>
                            <a:srgbClr val="202020"/>
                          </a:solidFill>
                          <a:latin typeface="Calibri"/>
                        </a:rPr>
                        <a:t>ExternalConnection.ReadWrite.OwnedBy, ExternalItem.ReadWrite.OwnedBy, User.Read.All — admin-consented</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SEPARATE connection id</a:t>
                      </a:r>
                    </a:p>
                  </a:txBody>
                  <a:tcPr marT="12700" marB="12700">
                    <a:solidFill>
                      <a:srgbClr val="FFFFFF"/>
                    </a:solidFill>
                  </a:tcPr>
                </a:tc>
                <a:tc>
                  <a:txBody>
                    <a:bodyPr wrap="square"/>
                    <a:lstStyle/>
                    <a:p>
                      <a:r>
                        <a:rPr sz="950" b="0" i="0">
                          <a:solidFill>
                            <a:srgbClr val="202020"/>
                          </a:solidFill>
                          <a:latin typeface="Calibri"/>
                        </a:rPr>
                        <a:t>CONNECTOR_ID — MUST differ from the live Salesforce connector</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Azure Key Vault (optional)</a:t>
                      </a:r>
                    </a:p>
                  </a:txBody>
                  <a:tcPr marT="12700" marB="12700">
                    <a:solidFill>
                      <a:srgbClr val="F7F9FC"/>
                    </a:solidFill>
                  </a:tcPr>
                </a:tc>
                <a:tc>
                  <a:txBody>
                    <a:bodyPr wrap="square"/>
                    <a:lstStyle/>
                    <a:p>
                      <a:r>
                        <a:rPr sz="950" b="0" i="0">
                          <a:solidFill>
                            <a:srgbClr val="202020"/>
                          </a:solidFill>
                          <a:latin typeface="Calibri"/>
                        </a:rPr>
                        <a:t>USE_KEY_VAULT + KEY_VAULT_URI to hold the SECRET_* values</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BDH access mode</a:t>
                      </a:r>
                    </a:p>
                  </a:txBody>
                  <a:tcPr marT="12700" marB="12700">
                    <a:solidFill>
                      <a:srgbClr val="FFFFFF"/>
                    </a:solidFill>
                  </a:tcPr>
                </a:tc>
                <a:tc>
                  <a:txBody>
                    <a:bodyPr wrap="square"/>
                    <a:lstStyle/>
                    <a:p>
                      <a:r>
                        <a:rPr sz="950" b="0" i="0">
                          <a:solidFill>
                            <a:srgbClr val="202020"/>
                          </a:solidFill>
                          <a:latin typeface="Calibri"/>
                        </a:rPr>
                        <a:t>HDFS_MODE = webhdfs or localpath</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WebHDFS endpoint / mount</a:t>
                      </a:r>
                    </a:p>
                  </a:txBody>
                  <a:tcPr marT="12700" marB="12700">
                    <a:solidFill>
                      <a:srgbClr val="F7F9FC"/>
                    </a:solidFill>
                  </a:tcPr>
                </a:tc>
                <a:tc>
                  <a:txBody>
                    <a:bodyPr wrap="square"/>
                    <a:lstStyle/>
                    <a:p>
                      <a:r>
                        <a:rPr sz="950" b="0" i="0">
                          <a:solidFill>
                            <a:srgbClr val="202020"/>
                          </a:solidFill>
                          <a:latin typeface="Calibri"/>
                        </a:rPr>
                        <a:t>HDFS_NAMENODE_URL (incl. /webhdfs/v1) or BDH_EXPORT_PATH</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Read-only HDFS principal / token</a:t>
                      </a:r>
                    </a:p>
                  </a:txBody>
                  <a:tcPr marT="12700" marB="12700">
                    <a:solidFill>
                      <a:srgbClr val="FFFFFF"/>
                    </a:solidFill>
                  </a:tcPr>
                </a:tc>
                <a:tc>
                  <a:txBody>
                    <a:bodyPr wrap="square"/>
                    <a:lstStyle/>
                    <a:p>
                      <a:r>
                        <a:rPr sz="950" b="0" i="0">
                          <a:solidFill>
                            <a:srgbClr val="202020"/>
                          </a:solidFill>
                          <a:latin typeface="Calibri"/>
                        </a:rPr>
                        <a:t>HDFS_USER and/or SECRET_HDFS_DELEGATION_TOKEN (or the Knox identity), read-only on BDH_ROOT_PATH</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Private CA bundle</a:t>
                      </a:r>
                    </a:p>
                  </a:txBody>
                  <a:tcPr marT="12700" marB="12700">
                    <a:solidFill>
                      <a:srgbClr val="F7F9FC"/>
                    </a:solidFill>
                  </a:tcPr>
                </a:tc>
                <a:tc>
                  <a:txBody>
                    <a:bodyPr wrap="square"/>
                    <a:lstStyle/>
                    <a:p>
                      <a:r>
                        <a:rPr sz="950" b="0" i="0">
                          <a:solidFill>
                            <a:srgbClr val="202020"/>
                          </a:solidFill>
                          <a:latin typeface="Calibri"/>
                        </a:rPr>
                        <a:t>CA_BUNDLE_PATH for internal-TLS WebHDFS/Knox and any TLS-inspecting proxy</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778</a:t>
            </a:r>
          </a:p>
        </p:txBody>
      </p:sp>
    </p:spTree>
  </p:cSld>
  <p:clrMapOvr>
    <a:masterClrMapping/>
  </p:clrMapOvr>
</p:sld>
</file>

<file path=ppt/slides/slide7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 Before you start: prerequisites and intake checklist (cont.)</a:t>
            </a:r>
          </a:p>
        </p:txBody>
      </p:sp>
      <p:graphicFrame>
        <p:nvGraphicFramePr>
          <p:cNvPr id="5" name="Table 4"/>
          <p:cNvGraphicFramePr>
            <a:graphicFrameLocks noGrp="1"/>
          </p:cNvGraphicFramePr>
          <p:nvPr/>
        </p:nvGraphicFramePr>
        <p:xfrm>
          <a:off x="502920" y="1188720"/>
          <a:ext cx="11185855" cy="230428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Item</a:t>
                      </a:r>
                    </a:p>
                  </a:txBody>
                  <a:tcPr marT="25400" marB="25400">
                    <a:solidFill>
                      <a:srgbClr val="2E5496"/>
                    </a:solidFill>
                  </a:tcPr>
                </a:tc>
                <a:tc>
                  <a:txBody>
                    <a:bodyPr wrap="square"/>
                    <a:lstStyle/>
                    <a:p>
                      <a:r>
                        <a:rPr sz="1050" b="1" i="0">
                          <a:solidFill>
                            <a:srgbClr val="FFFFFF"/>
                          </a:solidFill>
                          <a:latin typeface="Calibri"/>
                        </a:rPr>
                        <a:t>Setting / detail</a:t>
                      </a:r>
                    </a:p>
                  </a:txBody>
                  <a:tcPr marT="25400" marB="25400">
                    <a:solidFill>
                      <a:srgbClr val="2E5496"/>
                    </a:solidFill>
                  </a:tcPr>
                </a:tc>
                <a:tc>
                  <a:txBody>
                    <a:bodyPr wrap="square"/>
                    <a:lstStyle/>
                    <a:p>
                      <a:r>
                        <a:rPr sz="1050" b="1" i="0">
                          <a:solidFill>
                            <a:srgbClr val="FFFFFF"/>
                          </a:solidFill>
                          <a:latin typeface="Calibri"/>
                        </a:rPr>
                        <a:t>Value / provided by</a:t>
                      </a:r>
                    </a:p>
                  </a:txBody>
                  <a:tcPr marT="25400" marB="25400">
                    <a:solidFill>
                      <a:srgbClr val="2E5496"/>
                    </a:solidFill>
                  </a:tcPr>
                </a:tc>
              </a:tr>
              <a:tr h="384048">
                <a:tc>
                  <a:txBody>
                    <a:bodyPr wrap="square"/>
                    <a:lstStyle/>
                    <a:p>
                      <a:r>
                        <a:rPr sz="950" b="0" i="0">
                          <a:solidFill>
                            <a:srgbClr val="202020"/>
                          </a:solidFill>
                          <a:latin typeface="Calibri"/>
                        </a:rPr>
                        <a:t>Partition layout &amp; root</a:t>
                      </a:r>
                    </a:p>
                  </a:txBody>
                  <a:tcPr marT="12700" marB="12700">
                    <a:solidFill>
                      <a:srgbClr val="FFFFFF"/>
                    </a:solidFill>
                  </a:tcPr>
                </a:tc>
                <a:tc>
                  <a:txBody>
                    <a:bodyPr wrap="square"/>
                    <a:lstStyle/>
                    <a:p>
                      <a:r>
                        <a:rPr sz="950" b="0" i="0">
                          <a:solidFill>
                            <a:srgbClr val="202020"/>
                          </a:solidFill>
                          <a:latin typeface="Calibri"/>
                        </a:rPr>
                        <a:t>BDH_ROOT_PATH; which key= folders exist; the object-to-directory mapping (sourcePath)</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Per-object filter policy</a:t>
                      </a:r>
                    </a:p>
                  </a:txBody>
                  <a:tcPr marT="12700" marB="12700">
                    <a:solidFill>
                      <a:srgbClr val="F7F9FC"/>
                    </a:solidFill>
                  </a:tcPr>
                </a:tc>
                <a:tc>
                  <a:txBody>
                    <a:bodyPr wrap="square"/>
                    <a:lstStyle/>
                    <a:p>
                      <a:r>
                        <a:rPr sz="950" b="0" i="0">
                          <a:solidFill>
                            <a:srgbClr val="202020"/>
                          </a:solidFill>
                          <a:latin typeface="Calibri"/>
                        </a:rPr>
                        <a:t>config/filters.json content, and its named owner / sign-off</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Windows service account</a:t>
                      </a:r>
                    </a:p>
                  </a:txBody>
                  <a:tcPr marT="12700" marB="12700">
                    <a:solidFill>
                      <a:srgbClr val="FFFFFF"/>
                    </a:solidFill>
                  </a:tcPr>
                </a:tc>
                <a:tc>
                  <a:txBody>
                    <a:bodyPr wrap="square"/>
                    <a:lstStyle/>
                    <a:p>
                      <a:r>
                        <a:rPr sz="950" b="0" i="0">
                          <a:solidFill>
                            <a:srgbClr val="202020"/>
                          </a:solidFill>
                          <a:latin typeface="Calibri"/>
                        </a:rPr>
                        <a:t>gMSA or low-privilege account with the least-privilege grants</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r h="384048">
                <a:tc>
                  <a:txBody>
                    <a:bodyPr wrap="square"/>
                    <a:lstStyle/>
                    <a:p>
                      <a:r>
                        <a:rPr sz="950" b="0" i="0">
                          <a:solidFill>
                            <a:srgbClr val="202020"/>
                          </a:solidFill>
                          <a:latin typeface="Calibri"/>
                        </a:rPr>
                        <a:t>Proxy</a:t>
                      </a:r>
                    </a:p>
                  </a:txBody>
                  <a:tcPr marT="12700" marB="12700">
                    <a:solidFill>
                      <a:srgbClr val="F7F9FC"/>
                    </a:solidFill>
                  </a:tcPr>
                </a:tc>
                <a:tc>
                  <a:txBody>
                    <a:bodyPr wrap="square"/>
                    <a:lstStyle/>
                    <a:p>
                      <a:r>
                        <a:rPr sz="950" b="0" i="0">
                          <a:solidFill>
                            <a:srgbClr val="202020"/>
                          </a:solidFill>
                          <a:latin typeface="Calibri"/>
                        </a:rPr>
                        <a:t>PROXY_URL / PROXY_BYPASS (usually Graph via proxy, WebHDFS bypassed)</a:t>
                      </a:r>
                    </a:p>
                  </a:txBody>
                  <a:tcPr marT="12700" marB="12700">
                    <a:solidFill>
                      <a:srgbClr val="F7F9FC"/>
                    </a:solidFill>
                  </a:tcPr>
                </a:tc>
                <a:tc>
                  <a:txBody>
                    <a:bodyPr wrap="square"/>
                    <a:lstStyle/>
                    <a:p>
                      <a:r>
                        <a:rPr sz="950" b="0" i="0">
                          <a:solidFill>
                            <a:srgbClr val="202020"/>
                          </a:solidFill>
                          <a:latin typeface="Calibri"/>
                        </a:rPr>
                        <a:t/>
                      </a:r>
                    </a:p>
                  </a:txBody>
                  <a:tcPr marT="12700" marB="12700">
                    <a:solidFill>
                      <a:srgbClr val="F7F9FC"/>
                    </a:solidFill>
                  </a:tcPr>
                </a:tc>
              </a:tr>
              <a:tr h="384048">
                <a:tc>
                  <a:txBody>
                    <a:bodyPr wrap="square"/>
                    <a:lstStyle/>
                    <a:p>
                      <a:r>
                        <a:rPr sz="950" b="0" i="0">
                          <a:solidFill>
                            <a:srgbClr val="202020"/>
                          </a:solidFill>
                          <a:latin typeface="Calibri"/>
                        </a:rPr>
                        <a:t>SQL Server (if HA/shared state)</a:t>
                      </a:r>
                    </a:p>
                  </a:txBody>
                  <a:tcPr marT="12700" marB="12700">
                    <a:solidFill>
                      <a:srgbClr val="FFFFFF"/>
                    </a:solidFill>
                  </a:tcPr>
                </a:tc>
                <a:tc>
                  <a:txBody>
                    <a:bodyPr wrap="square"/>
                    <a:lstStyle/>
                    <a:p>
                      <a:r>
                        <a:rPr sz="950" b="0" i="0">
                          <a:solidFill>
                            <a:srgbClr val="202020"/>
                          </a:solidFill>
                          <a:latin typeface="Calibri"/>
                        </a:rPr>
                        <a:t>USE_SQL_SERVER + SQL_CONNECTION_STRING; provision with scripts/sql/create-database.sql</a:t>
                      </a:r>
                    </a:p>
                  </a:txBody>
                  <a:tcPr marT="12700" marB="12700">
                    <a:solidFill>
                      <a:srgbClr val="FFFFFF"/>
                    </a:solidFill>
                  </a:tcPr>
                </a:tc>
                <a:tc>
                  <a:txBody>
                    <a:bodyPr wrap="square"/>
                    <a:lstStyle/>
                    <a:p>
                      <a:r>
                        <a:rPr sz="950" b="0" i="0">
                          <a:solidFill>
                            <a:srgbClr val="202020"/>
                          </a:solidFill>
                          <a:latin typeface="Calibri"/>
                        </a:rPr>
                        <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779</a:t>
            </a:r>
          </a:p>
        </p:txBody>
      </p:sp>
    </p:spTree>
  </p:cSld>
  <p:clrMapOvr>
    <a:masterClrMapping/>
  </p:clrMapOvr>
</p:sld>
</file>

<file path=ppt/slides/slide7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9. Before you start: prerequisites and intake checklist</a:t>
            </a:r>
          </a:p>
        </p:txBody>
      </p:sp>
      <p:sp>
        <p:nvSpPr>
          <p:cNvPr id="5" name="Rectangle 4"/>
          <p:cNvSpPr/>
          <p:nvPr/>
        </p:nvSpPr>
        <p:spPr>
          <a:xfrm>
            <a:off x="502920" y="1463040"/>
            <a:ext cx="11185855" cy="3291840"/>
          </a:xfrm>
          <a:prstGeom prst="rect">
            <a:avLst/>
          </a:prstGeom>
          <a:solidFill>
            <a:srgbClr val="F0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6A3D9A"/>
                </a:solidFill>
                <a:latin typeface="Calibri"/>
              </a:rPr>
              <a:t>Information to request:  </a:t>
            </a:r>
            <a:r>
              <a:rPr sz="1400" b="1" i="0">
                <a:solidFill>
                  <a:srgbClr val="202020"/>
                </a:solidFill>
                <a:latin typeface="Calibri"/>
              </a:rPr>
              <a:t>Information to request: </a:t>
            </a:r>
            <a:r>
              <a:rPr sz="1400" b="0" i="0">
                <a:solidFill>
                  <a:srgbClr val="202020"/>
                </a:solidFill>
                <a:latin typeface="Calibri"/>
              </a:rPr>
              <a:t>The </a:t>
            </a:r>
            <a:r>
              <a:rPr sz="1400" b="1" i="0">
                <a:solidFill>
                  <a:srgbClr val="202020"/>
                </a:solidFill>
                <a:latin typeface="Calibri"/>
              </a:rPr>
              <a:t>Entra tenant admin</a:t>
            </a:r>
            <a:r>
              <a:rPr sz="1400" b="0" i="0">
                <a:solidFill>
                  <a:srgbClr val="202020"/>
                </a:solidFill>
                <a:latin typeface="Calibri"/>
              </a:rPr>
              <a:t> owns the tenant/app IDs, the app credential, and the admin consent for the three Graph permissions. The </a:t>
            </a:r>
            <a:r>
              <a:rPr sz="1400" b="1" i="0">
                <a:solidFill>
                  <a:srgbClr val="202020"/>
                </a:solidFill>
                <a:latin typeface="Calibri"/>
              </a:rPr>
              <a:t>Hadoop/BDH platform team</a:t>
            </a:r>
            <a:r>
              <a:rPr sz="1400" b="0" i="0">
                <a:solidFill>
                  <a:srgbClr val="202020"/>
                </a:solidFill>
                <a:latin typeface="Calibri"/>
              </a:rPr>
              <a:t> owns the WebHDFS endpoint (or mount), the read-only principal/token, the partition layout and the object-to-path mapping. The </a:t>
            </a:r>
            <a:r>
              <a:rPr sz="1400" b="1" i="0">
                <a:solidFill>
                  <a:srgbClr val="202020"/>
                </a:solidFill>
                <a:latin typeface="Calibri"/>
              </a:rPr>
              <a:t>network/firewall and PKI teams</a:t>
            </a:r>
            <a:r>
              <a:rPr sz="1400" b="0" i="0">
                <a:solidFill>
                  <a:srgbClr val="202020"/>
                </a:solidFill>
                <a:latin typeface="Calibri"/>
              </a:rPr>
              <a:t> own the proxy details and the private CA bundle. The </a:t>
            </a:r>
            <a:r>
              <a:rPr sz="1400" b="1" i="0">
                <a:solidFill>
                  <a:srgbClr val="202020"/>
                </a:solidFill>
                <a:latin typeface="Calibri"/>
              </a:rPr>
              <a:t>connector operations owner</a:t>
            </a:r>
            <a:r>
              <a:rPr sz="1400" b="0" i="0">
                <a:solidFill>
                  <a:srgbClr val="202020"/>
                </a:solidFill>
                <a:latin typeface="Calibri"/>
              </a:rPr>
              <a:t> signs off the filter policy in </a:t>
            </a:r>
            <a:r>
              <a:rPr sz="1350" b="0" i="0">
                <a:solidFill>
                  <a:srgbClr val="202020"/>
                </a:solidFill>
                <a:latin typeface="Consolas"/>
              </a:rPr>
              <a:t>filters.json</a:t>
            </a:r>
            <a:r>
              <a:rPr sz="1400" b="0" i="0">
                <a:solidFill>
                  <a:srgbClr val="202020"/>
                </a:solidFill>
                <a:latin typeface="Calibri"/>
              </a:rPr>
              <a:t>.</a:t>
            </a:r>
          </a:p>
        </p:txBody>
      </p:sp>
      <p:sp>
        <p:nvSpPr>
          <p:cNvPr id="6" name="Rectangle 5"/>
          <p:cNvSpPr/>
          <p:nvPr/>
        </p:nvSpPr>
        <p:spPr>
          <a:xfrm>
            <a:off x="502920" y="1463040"/>
            <a:ext cx="128016" cy="3291840"/>
          </a:xfrm>
          <a:prstGeom prst="rect">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780</a:t>
            </a:r>
          </a:p>
        </p:txBody>
      </p:sp>
    </p:spTree>
  </p:cSld>
  <p:clrMapOvr>
    <a:masterClrMapping/>
  </p:clrMapOvr>
</p:sld>
</file>

<file path=ppt/slides/slide7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Hadoop BDH Connector</a:t>
            </a:r>
          </a:p>
          <a:p>
            <a:r>
              <a:rPr sz="3000" b="1" i="0">
                <a:solidFill>
                  <a:srgbClr val="1F3864"/>
                </a:solidFill>
                <a:latin typeface="Calibri"/>
              </a:rPr>
              <a:t>10. Setting it up, step by step</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781</a:t>
            </a:r>
          </a:p>
        </p:txBody>
      </p:sp>
    </p:spTree>
  </p:cSld>
  <p:clrMapOvr>
    <a:masterClrMapping/>
  </p:clrMapOvr>
</p:sld>
</file>

<file path=ppt/slides/slide7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 Setting it up, step by step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Follow these in order the first time. Installation of the shared chassis (publishing the binaries, registering the Windows service) is the same for every connector and lives in </a:t>
            </a:r>
            <a:r>
              <a:rPr sz="1250" b="1" i="0">
                <a:solidFill>
                  <a:srgbClr val="202020"/>
                </a:solidFill>
                <a:latin typeface="Calibri"/>
              </a:rPr>
              <a:t>Common Guide §6</a:t>
            </a:r>
            <a:r>
              <a:rPr sz="1250" b="0" i="0">
                <a:solidFill>
                  <a:srgbClr val="202020"/>
                </a:solidFill>
                <a:latin typeface="Calibri"/>
              </a:rPr>
              <a:t>; the steps here are the BDH-specific parts around it.</a:t>
            </a:r>
          </a:p>
          <a:p>
            <a:pPr>
              <a:spcBef>
                <a:spcPts val="100"/>
              </a:spcBef>
              <a:spcAft>
                <a:spcPts val="200"/>
              </a:spcAft>
            </a:pPr>
            <a:r>
              <a:rPr sz="1250" b="1" i="0">
                <a:solidFill>
                  <a:srgbClr val="2E5496"/>
                </a:solidFill>
                <a:latin typeface="Calibri"/>
              </a:rPr>
              <a:t>1.  </a:t>
            </a:r>
            <a:r>
              <a:rPr sz="1250" b="1" i="0">
                <a:solidFill>
                  <a:srgbClr val="202020"/>
                </a:solidFill>
                <a:latin typeface="Calibri"/>
              </a:rPr>
              <a:t>Confirm prerequisites.</a:t>
            </a:r>
            <a:r>
              <a:rPr sz="1250" b="0" i="0">
                <a:solidFill>
                  <a:srgbClr val="202020"/>
                </a:solidFill>
                <a:latin typeface="Calibri"/>
              </a:rPr>
              <a:t> Work through the checklist in </a:t>
            </a:r>
            <a:r>
              <a:rPr sz="1250" b="1" i="0">
                <a:solidFill>
                  <a:srgbClr val="202020"/>
                </a:solidFill>
                <a:latin typeface="Calibri"/>
              </a:rPr>
              <a:t>Section 9</a:t>
            </a:r>
            <a:r>
              <a:rPr sz="1250" b="0" i="0">
                <a:solidFill>
                  <a:srgbClr val="202020"/>
                </a:solidFill>
                <a:latin typeface="Calibri"/>
              </a:rPr>
              <a:t>. You cannot get past validation without the Entra values, a separate </a:t>
            </a:r>
            <a:r>
              <a:rPr sz="1200" b="0" i="0">
                <a:solidFill>
                  <a:srgbClr val="202020"/>
                </a:solidFill>
                <a:latin typeface="Consolas"/>
              </a:rPr>
              <a:t>CONNECTOR_ID</a:t>
            </a:r>
            <a:r>
              <a:rPr sz="1250" b="0" i="0">
                <a:solidFill>
                  <a:srgbClr val="202020"/>
                </a:solidFill>
                <a:latin typeface="Calibri"/>
              </a:rPr>
              <a:t>, and BDH access details.</a:t>
            </a:r>
          </a:p>
          <a:p>
            <a:pPr>
              <a:spcBef>
                <a:spcPts val="100"/>
              </a:spcBef>
              <a:spcAft>
                <a:spcPts val="200"/>
              </a:spcAft>
            </a:pPr>
            <a:r>
              <a:rPr sz="1250" b="1" i="0">
                <a:solidFill>
                  <a:srgbClr val="2E5496"/>
                </a:solidFill>
                <a:latin typeface="Calibri"/>
              </a:rPr>
              <a:t>2.  </a:t>
            </a:r>
            <a:r>
              <a:rPr sz="1250" b="1" i="0">
                <a:solidFill>
                  <a:srgbClr val="202020"/>
                </a:solidFill>
                <a:latin typeface="Calibri"/>
              </a:rPr>
              <a:t>Install the chassis.</a:t>
            </a:r>
            <a:r>
              <a:rPr sz="1250" b="0" i="0">
                <a:solidFill>
                  <a:srgbClr val="202020"/>
                </a:solidFill>
                <a:latin typeface="Calibri"/>
              </a:rPr>
              <a:t> Publish and lay out the runtime home (e.g. </a:t>
            </a:r>
            <a:r>
              <a:rPr sz="1200" b="0" i="0">
                <a:solidFill>
                  <a:srgbClr val="202020"/>
                </a:solidFill>
                <a:latin typeface="Consolas"/>
              </a:rPr>
              <a:t>C:\HadoopConnector</a:t>
            </a:r>
            <a:r>
              <a:rPr sz="1250" b="0" i="0">
                <a:solidFill>
                  <a:srgbClr val="202020"/>
                </a:solidFill>
                <a:latin typeface="Calibri"/>
              </a:rPr>
              <a:t> with </a:t>
            </a:r>
            <a:r>
              <a:rPr sz="1200" b="0" i="0">
                <a:solidFill>
                  <a:srgbClr val="202020"/>
                </a:solidFill>
                <a:latin typeface="Consolas"/>
              </a:rPr>
              <a:t>config\</a:t>
            </a:r>
            <a:r>
              <a:rPr sz="1250" b="0" i="0">
                <a:solidFill>
                  <a:srgbClr val="202020"/>
                </a:solidFill>
                <a:latin typeface="Calibri"/>
              </a:rPr>
              <a:t>, </a:t>
            </a:r>
            <a:r>
              <a:rPr sz="1200" b="0" i="0">
                <a:solidFill>
                  <a:srgbClr val="202020"/>
                </a:solidFill>
                <a:latin typeface="Consolas"/>
              </a:rPr>
              <a:t>env\</a:t>
            </a:r>
            <a:r>
              <a:rPr sz="1250" b="0" i="0">
                <a:solidFill>
                  <a:srgbClr val="202020"/>
                </a:solidFill>
                <a:latin typeface="Calibri"/>
              </a:rPr>
              <a:t>, </a:t>
            </a:r>
            <a:r>
              <a:rPr sz="1200" b="0" i="0">
                <a:solidFill>
                  <a:srgbClr val="202020"/>
                </a:solidFill>
                <a:latin typeface="Consolas"/>
              </a:rPr>
              <a:t>logs\</a:t>
            </a:r>
            <a:r>
              <a:rPr sz="1250" b="0" i="0">
                <a:solidFill>
                  <a:srgbClr val="202020"/>
                </a:solidFill>
                <a:latin typeface="Calibri"/>
              </a:rPr>
              <a:t>, </a:t>
            </a:r>
            <a:r>
              <a:rPr sz="1200" b="0" i="0">
                <a:solidFill>
                  <a:srgbClr val="202020"/>
                </a:solidFill>
                <a:latin typeface="Consolas"/>
              </a:rPr>
              <a:t>data\</a:t>
            </a:r>
            <a:r>
              <a:rPr sz="1250" b="0" i="0">
                <a:solidFill>
                  <a:srgbClr val="202020"/>
                </a:solidFill>
                <a:latin typeface="Calibri"/>
              </a:rPr>
              <a:t>) and register the Windows service, per </a:t>
            </a:r>
            <a:r>
              <a:rPr sz="1250" b="1" i="0">
                <a:solidFill>
                  <a:srgbClr val="202020"/>
                </a:solidFill>
                <a:latin typeface="Calibri"/>
              </a:rPr>
              <a:t>Common Guide §6</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782</a:t>
            </a:r>
          </a:p>
        </p:txBody>
      </p:sp>
    </p:spTree>
  </p:cSld>
  <p:clrMapOvr>
    <a:masterClrMapping/>
  </p:clrMapOvr>
</p:sld>
</file>

<file path=ppt/slides/slide7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 Setting it up, step by step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3.  </a:t>
            </a:r>
            <a:r>
              <a:rPr sz="1250" b="1" i="0">
                <a:solidFill>
                  <a:srgbClr val="202020"/>
                </a:solidFill>
                <a:latin typeface="Calibri"/>
              </a:rPr>
              <a:t>Set the environment.</a:t>
            </a:r>
            <a:r>
              <a:rPr sz="1250" b="0" i="0">
                <a:solidFill>
                  <a:srgbClr val="202020"/>
                </a:solidFill>
                <a:latin typeface="Calibri"/>
              </a:rPr>
              <a:t> Copy </a:t>
            </a:r>
            <a:r>
              <a:rPr sz="1200" b="0" i="0">
                <a:solidFill>
                  <a:srgbClr val="202020"/>
                </a:solidFill>
                <a:latin typeface="Consolas"/>
              </a:rPr>
              <a:t>env/.env.local.example</a:t>
            </a:r>
            <a:r>
              <a:rPr sz="1250" b="0" i="0">
                <a:solidFill>
                  <a:srgbClr val="202020"/>
                </a:solidFill>
                <a:latin typeface="Calibri"/>
              </a:rPr>
              <a:t> to </a:t>
            </a:r>
            <a:r>
              <a:rPr sz="1200" b="0" i="0">
                <a:solidFill>
                  <a:srgbClr val="202020"/>
                </a:solidFill>
                <a:latin typeface="Consolas"/>
              </a:rPr>
              <a:t>env/.env.local</a:t>
            </a:r>
            <a:r>
              <a:rPr sz="1250" b="0" i="0">
                <a:solidFill>
                  <a:srgbClr val="202020"/>
                </a:solidFill>
                <a:latin typeface="Calibri"/>
              </a:rPr>
              <a:t> for non-secret config, and put every </a:t>
            </a:r>
            <a:r>
              <a:rPr sz="1200" b="0" i="0">
                <a:solidFill>
                  <a:srgbClr val="202020"/>
                </a:solidFill>
                <a:latin typeface="Consolas"/>
              </a:rPr>
              <a:t>SECRET_*</a:t>
            </a:r>
            <a:r>
              <a:rPr sz="1250" b="0" i="0">
                <a:solidFill>
                  <a:srgbClr val="202020"/>
                </a:solidFill>
                <a:latin typeface="Calibri"/>
              </a:rPr>
              <a:t> value in </a:t>
            </a:r>
            <a:r>
              <a:rPr sz="1200" b="0" i="0">
                <a:solidFill>
                  <a:srgbClr val="202020"/>
                </a:solidFill>
                <a:latin typeface="Consolas"/>
              </a:rPr>
              <a:t>env/.env.local.user</a:t>
            </a:r>
            <a:r>
              <a:rPr sz="1250" b="0" i="0">
                <a:solidFill>
                  <a:srgbClr val="202020"/>
                </a:solidFill>
                <a:latin typeface="Calibri"/>
              </a:rPr>
              <a:t> (or Key Vault). Set at least </a:t>
            </a:r>
            <a:r>
              <a:rPr sz="1200" b="0" i="0">
                <a:solidFill>
                  <a:srgbClr val="202020"/>
                </a:solidFill>
                <a:latin typeface="Consolas"/>
              </a:rPr>
              <a:t>CONNECTOR_ID</a:t>
            </a:r>
            <a:r>
              <a:rPr sz="1250" b="0" i="0">
                <a:solidFill>
                  <a:srgbClr val="202020"/>
                </a:solidFill>
                <a:latin typeface="Calibri"/>
              </a:rPr>
              <a:t>, </a:t>
            </a:r>
            <a:r>
              <a:rPr sz="1200" b="0" i="0">
                <a:solidFill>
                  <a:srgbClr val="202020"/>
                </a:solidFill>
                <a:latin typeface="Consolas"/>
              </a:rPr>
              <a:t>HDFS_MODE</a:t>
            </a:r>
            <a:r>
              <a:rPr sz="1250" b="0" i="0">
                <a:solidFill>
                  <a:srgbClr val="202020"/>
                </a:solidFill>
                <a:latin typeface="Calibri"/>
              </a:rPr>
              <a:t>, </a:t>
            </a:r>
            <a:r>
              <a:rPr sz="1200" b="0" i="0">
                <a:solidFill>
                  <a:srgbClr val="202020"/>
                </a:solidFill>
                <a:latin typeface="Consolas"/>
              </a:rPr>
              <a:t>HDFS_NAMENODE_URL</a:t>
            </a:r>
            <a:r>
              <a:rPr sz="1250" b="0" i="0">
                <a:solidFill>
                  <a:srgbClr val="202020"/>
                </a:solidFill>
                <a:latin typeface="Calibri"/>
              </a:rPr>
              <a:t> (or </a:t>
            </a:r>
            <a:r>
              <a:rPr sz="1200" b="0" i="0">
                <a:solidFill>
                  <a:srgbClr val="202020"/>
                </a:solidFill>
                <a:latin typeface="Consolas"/>
              </a:rPr>
              <a:t>BDH_EXPORT_PATH</a:t>
            </a:r>
            <a:r>
              <a:rPr sz="1250" b="0" i="0">
                <a:solidFill>
                  <a:srgbClr val="202020"/>
                </a:solidFill>
                <a:latin typeface="Calibri"/>
              </a:rPr>
              <a:t>), </a:t>
            </a:r>
            <a:r>
              <a:rPr sz="1200" b="0" i="0">
                <a:solidFill>
                  <a:srgbClr val="202020"/>
                </a:solidFill>
                <a:latin typeface="Consolas"/>
              </a:rPr>
              <a:t>BDH_ROOT_PATH</a:t>
            </a:r>
            <a:r>
              <a:rPr sz="1250" b="0" i="0">
                <a:solidFill>
                  <a:srgbClr val="202020"/>
                </a:solidFill>
                <a:latin typeface="Calibri"/>
              </a:rPr>
              <a:t>, the </a:t>
            </a:r>
            <a:r>
              <a:rPr sz="1200" b="0" i="0">
                <a:solidFill>
                  <a:srgbClr val="202020"/>
                </a:solidFill>
                <a:latin typeface="Consolas"/>
              </a:rPr>
              <a:t>AAD_APP_*</a:t>
            </a:r>
            <a:r>
              <a:rPr sz="1250" b="0" i="0">
                <a:solidFill>
                  <a:srgbClr val="202020"/>
                </a:solidFill>
                <a:latin typeface="Calibri"/>
              </a:rPr>
              <a:t> values, and </a:t>
            </a:r>
            <a:r>
              <a:rPr sz="1200" b="0" i="0">
                <a:solidFill>
                  <a:srgbClr val="202020"/>
                </a:solidFill>
                <a:latin typeface="Consolas"/>
              </a:rPr>
              <a:t>ITEM_URL_BASE</a:t>
            </a:r>
            <a:r>
              <a:rPr sz="1250" b="0" i="0">
                <a:solidFill>
                  <a:srgbClr val="202020"/>
                </a:solidFill>
                <a:latin typeface="Calibri"/>
              </a:rPr>
              <a:t>.</a:t>
            </a:r>
          </a:p>
          <a:p>
            <a:pPr>
              <a:spcBef>
                <a:spcPts val="100"/>
              </a:spcBef>
              <a:spcAft>
                <a:spcPts val="200"/>
              </a:spcAft>
            </a:pPr>
            <a:r>
              <a:rPr sz="1250" b="1" i="0">
                <a:solidFill>
                  <a:srgbClr val="2E5496"/>
                </a:solidFill>
                <a:latin typeface="Calibri"/>
              </a:rPr>
              <a:t>4.  </a:t>
            </a:r>
            <a:r>
              <a:rPr sz="1250" b="1" i="0">
                <a:solidFill>
                  <a:srgbClr val="202020"/>
                </a:solidFill>
                <a:latin typeface="Calibri"/>
              </a:rPr>
              <a:t>Write and validate the filters.</a:t>
            </a:r>
            <a:r>
              <a:rPr sz="1250" b="0" i="0">
                <a:solidFill>
                  <a:srgbClr val="202020"/>
                </a:solidFill>
                <a:latin typeface="Calibri"/>
              </a:rPr>
              <a:t> Edit </a:t>
            </a:r>
            <a:r>
              <a:rPr sz="1200" b="0" i="0">
                <a:solidFill>
                  <a:srgbClr val="202020"/>
                </a:solidFill>
                <a:latin typeface="Consolas"/>
              </a:rPr>
              <a:t>config/filters.json</a:t>
            </a:r>
            <a:r>
              <a:rPr sz="1250" b="0" i="0">
                <a:solidFill>
                  <a:srgbClr val="202020"/>
                </a:solidFill>
                <a:latin typeface="Calibri"/>
              </a:rPr>
              <a:t> so every object you will crawl has a real filter (</a:t>
            </a:r>
            <a:r>
              <a:rPr sz="1250" b="1" i="0">
                <a:solidFill>
                  <a:srgbClr val="202020"/>
                </a:solidFill>
                <a:latin typeface="Calibri"/>
              </a:rPr>
              <a:t>Section 6</a:t>
            </a:r>
            <a:r>
              <a:rPr sz="1250" b="0" i="0">
                <a:solidFill>
                  <a:srgbClr val="202020"/>
                </a:solidFill>
                <a:latin typeface="Calibri"/>
              </a:rPr>
              <a:t>). Then run </a:t>
            </a:r>
            <a:r>
              <a:rPr sz="1200" b="0" i="0">
                <a:solidFill>
                  <a:srgbClr val="202020"/>
                </a:solidFill>
                <a:latin typeface="Consolas"/>
              </a:rPr>
              <a:t>validate-config --strict</a:t>
            </a:r>
            <a:r>
              <a:rPr sz="1250" b="0" i="0">
                <a:solidFill>
                  <a:srgbClr val="202020"/>
                </a:solidFill>
                <a:latin typeface="Calibri"/>
              </a:rPr>
              <a:t> — it checks env vars, config files, the filter sanity (including unfiltered objects), the shard map and, with connectivity, the BDH and Graph endpoints. Fix anything it flags before continuing.</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783</a:t>
            </a:r>
          </a:p>
        </p:txBody>
      </p:sp>
    </p:spTree>
  </p:cSld>
  <p:clrMapOvr>
    <a:masterClrMapping/>
  </p:clrMapOvr>
</p:sld>
</file>

<file path=ppt/slides/slide7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 Setting it up, step by step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5.  </a:t>
            </a:r>
            <a:r>
              <a:rPr sz="1250" b="1" i="0">
                <a:solidFill>
                  <a:srgbClr val="202020"/>
                </a:solidFill>
                <a:latin typeface="Calibri"/>
              </a:rPr>
              <a:t>Preview identities.</a:t>
            </a:r>
            <a:r>
              <a:rPr sz="1250" b="0" i="0">
                <a:solidFill>
                  <a:srgbClr val="202020"/>
                </a:solidFill>
                <a:latin typeface="Calibri"/>
              </a:rPr>
              <a:t> Run </a:t>
            </a:r>
            <a:r>
              <a:rPr sz="1200" b="0" i="0">
                <a:solidFill>
                  <a:srgbClr val="202020"/>
                </a:solidFill>
                <a:latin typeface="Consolas"/>
              </a:rPr>
              <a:t>identity-dry-run --save --verbose</a:t>
            </a:r>
            <a:r>
              <a:rPr sz="1250" b="0" i="0">
                <a:solidFill>
                  <a:srgbClr val="202020"/>
                </a:solidFill>
                <a:latin typeface="Calibri"/>
              </a:rPr>
              <a:t> to resolve BDH (Salesforce) users to Entra identities and persist the mapping. Check the resolved-vs-unresolved counts look sane.</a:t>
            </a:r>
          </a:p>
          <a:p>
            <a:pPr>
              <a:spcBef>
                <a:spcPts val="100"/>
              </a:spcBef>
              <a:spcAft>
                <a:spcPts val="200"/>
              </a:spcAft>
            </a:pPr>
            <a:r>
              <a:rPr sz="1250" b="1" i="0">
                <a:solidFill>
                  <a:srgbClr val="2E5496"/>
                </a:solidFill>
                <a:latin typeface="Calibri"/>
              </a:rPr>
              <a:t>6.  </a:t>
            </a:r>
            <a:r>
              <a:rPr sz="1250" b="1" i="0">
                <a:solidFill>
                  <a:srgbClr val="202020"/>
                </a:solidFill>
                <a:latin typeface="Calibri"/>
              </a:rPr>
              <a:t>Create the connection and schema.</a:t>
            </a:r>
            <a:r>
              <a:rPr sz="1250" b="0" i="0">
                <a:solidFill>
                  <a:srgbClr val="202020"/>
                </a:solidFill>
                <a:latin typeface="Calibri"/>
              </a:rPr>
              <a:t> Run </a:t>
            </a:r>
            <a:r>
              <a:rPr sz="1200" b="0" i="0">
                <a:solidFill>
                  <a:srgbClr val="202020"/>
                </a:solidFill>
                <a:latin typeface="Consolas"/>
              </a:rPr>
              <a:t>setup-connection</a:t>
            </a:r>
            <a:r>
              <a:rPr sz="1250" b="0" i="0">
                <a:solidFill>
                  <a:srgbClr val="202020"/>
                </a:solidFill>
                <a:latin typeface="Calibri"/>
              </a:rPr>
              <a:t> to create this connector's OWN Graph external connection and register the property schema. This is where the separate </a:t>
            </a:r>
            <a:r>
              <a:rPr sz="1200" b="0" i="0">
                <a:solidFill>
                  <a:srgbClr val="202020"/>
                </a:solidFill>
                <a:latin typeface="Consolas"/>
              </a:rPr>
              <a:t>CONNECTOR_ID</a:t>
            </a:r>
            <a:r>
              <a:rPr sz="1250" b="0" i="0">
                <a:solidFill>
                  <a:srgbClr val="202020"/>
                </a:solidFill>
                <a:latin typeface="Calibri"/>
              </a:rPr>
              <a:t> takes effect.</a:t>
            </a:r>
          </a:p>
          <a:p>
            <a:pPr>
              <a:spcBef>
                <a:spcPts val="100"/>
              </a:spcBef>
              <a:spcAft>
                <a:spcPts val="200"/>
              </a:spcAft>
            </a:pPr>
            <a:r>
              <a:rPr sz="1250" b="1" i="0">
                <a:solidFill>
                  <a:srgbClr val="2E5496"/>
                </a:solidFill>
                <a:latin typeface="Calibri"/>
              </a:rPr>
              <a:t>7.  </a:t>
            </a:r>
            <a:r>
              <a:rPr sz="1250" b="1" i="0">
                <a:solidFill>
                  <a:srgbClr val="202020"/>
                </a:solidFill>
                <a:latin typeface="Calibri"/>
              </a:rPr>
              <a:t>Run the first full crawl.</a:t>
            </a:r>
            <a:r>
              <a:rPr sz="1250" b="0" i="0">
                <a:solidFill>
                  <a:srgbClr val="202020"/>
                </a:solidFill>
                <a:latin typeface="Calibri"/>
              </a:rPr>
              <a:t> Run </a:t>
            </a:r>
            <a:r>
              <a:rPr sz="1200" b="0" i="0">
                <a:solidFill>
                  <a:srgbClr val="202020"/>
                </a:solidFill>
                <a:latin typeface="Consolas"/>
              </a:rPr>
              <a:t>full-deployment</a:t>
            </a:r>
            <a:r>
              <a:rPr sz="1250" b="0" i="0">
                <a:solidFill>
                  <a:srgbClr val="202020"/>
                </a:solidFill>
                <a:latin typeface="Calibri"/>
              </a:rPr>
              <a:t> (connection → schema → identity sync → full filtered crawl). Watch the per-object log line: </a:t>
            </a:r>
            <a:r>
              <a:rPr sz="1200" b="0" i="0">
                <a:solidFill>
                  <a:srgbClr val="202020"/>
                </a:solidFill>
                <a:latin typeface="Consolas"/>
              </a:rPr>
              <a:t>partitions X scanned / Y pruned; records A scanned / B filtered / C matched</a:t>
            </a:r>
            <a:r>
              <a:rPr sz="1250" b="0" i="0">
                <a:solidFill>
                  <a:srgbClr val="202020"/>
                </a:solidFill>
                <a:latin typeface="Calibri"/>
              </a:rPr>
              <a: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784</a:t>
            </a:r>
          </a:p>
        </p:txBody>
      </p:sp>
    </p:spTree>
  </p:cSld>
  <p:clrMapOvr>
    <a:masterClrMapping/>
  </p:clrMapOvr>
</p:sld>
</file>

<file path=ppt/slides/slide7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 Setting it up, step by step</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8.  </a:t>
            </a:r>
            <a:r>
              <a:rPr sz="1250" b="1" i="0">
                <a:solidFill>
                  <a:srgbClr val="202020"/>
                </a:solidFill>
                <a:latin typeface="Calibri"/>
              </a:rPr>
              <a:t>Verify in Copilot.</a:t>
            </a:r>
            <a:r>
              <a:rPr sz="1250" b="0" i="0">
                <a:solidFill>
                  <a:srgbClr val="202020"/>
                </a:solidFill>
                <a:latin typeface="Calibri"/>
              </a:rPr>
              <a:t> Confirm items appear in Microsoft Search / Copilot with the right titles, that result cards deep-link to the live Salesforce org, and that a test user sees only what their ACL allows.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785</a:t>
            </a:r>
          </a:p>
        </p:txBody>
      </p:sp>
    </p:spTree>
  </p:cSld>
  <p:clrMapOvr>
    <a:masterClrMapping/>
  </p:clrMapOvr>
</p:sld>
</file>

<file path=ppt/slides/slide7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 Setting it up, step by step</a:t>
            </a:r>
          </a:p>
        </p:txBody>
      </p:sp>
      <p:sp>
        <p:nvSpPr>
          <p:cNvPr id="5" name="Rectangle 4"/>
          <p:cNvSpPr/>
          <p:nvPr/>
        </p:nvSpPr>
        <p:spPr>
          <a:xfrm>
            <a:off x="502920" y="1463040"/>
            <a:ext cx="11185855" cy="329184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5496"/>
                </a:solidFill>
                <a:latin typeface="Calibri"/>
              </a:rPr>
              <a:t>Note:  </a:t>
            </a:r>
            <a:r>
              <a:rPr sz="1400" b="1" i="0">
                <a:solidFill>
                  <a:srgbClr val="202020"/>
                </a:solidFill>
                <a:latin typeface="Calibri"/>
              </a:rPr>
              <a:t>Note: </a:t>
            </a:r>
            <a:r>
              <a:rPr sz="1400" b="0" i="0">
                <a:solidFill>
                  <a:srgbClr val="202020"/>
                </a:solidFill>
                <a:latin typeface="Calibri"/>
              </a:rPr>
              <a:t>On first start the connector creates its </a:t>
            </a:r>
            <a:r>
              <a:rPr sz="1350" b="0" i="0">
                <a:solidFill>
                  <a:srgbClr val="202020"/>
                </a:solidFill>
                <a:latin typeface="Consolas"/>
              </a:rPr>
              <a:t>logs/</a:t>
            </a:r>
            <a:r>
              <a:rPr sz="1400" b="0" i="0">
                <a:solidFill>
                  <a:srgbClr val="202020"/>
                </a:solidFill>
                <a:latin typeface="Calibri"/>
              </a:rPr>
              <a:t>, </a:t>
            </a:r>
            <a:r>
              <a:rPr sz="1350" b="0" i="0">
                <a:solidFill>
                  <a:srgbClr val="202020"/>
                </a:solidFill>
                <a:latin typeface="Consolas"/>
              </a:rPr>
              <a:t>data/</a:t>
            </a:r>
            <a:r>
              <a:rPr sz="1400" b="0" i="0">
                <a:solidFill>
                  <a:srgbClr val="202020"/>
                </a:solidFill>
                <a:latin typeface="Calibri"/>
              </a:rPr>
              <a:t> and dead-letter directories </a:t>
            </a:r>
            <a:r>
              <a:rPr sz="1400" b="1" i="0">
                <a:solidFill>
                  <a:srgbClr val="202020"/>
                </a:solidFill>
                <a:latin typeface="Calibri"/>
              </a:rPr>
              <a:t>owner-only</a:t>
            </a:r>
            <a:r>
              <a:rPr sz="1400" b="0" i="0">
                <a:solidFill>
                  <a:srgbClr val="202020"/>
                </a:solidFill>
                <a:latin typeface="Calibri"/>
              </a:rPr>
              <a:t> (POSIX </a:t>
            </a:r>
            <a:r>
              <a:rPr sz="1350" b="0" i="0">
                <a:solidFill>
                  <a:srgbClr val="202020"/>
                </a:solidFill>
                <a:latin typeface="Consolas"/>
              </a:rPr>
              <a:t>0700</a:t>
            </a:r>
            <a:r>
              <a:rPr sz="1400" b="0" i="0">
                <a:solidFill>
                  <a:srgbClr val="202020"/>
                </a:solidFill>
                <a:latin typeface="Calibri"/>
              </a:rPr>
              <a:t>; on Windows, best-effort owner + Administrators via </a:t>
            </a:r>
            <a:r>
              <a:rPr sz="1350" b="0" i="0">
                <a:solidFill>
                  <a:srgbClr val="202020"/>
                </a:solidFill>
                <a:latin typeface="Consolas"/>
              </a:rPr>
              <a:t>icacls</a:t>
            </a:r>
            <a:r>
              <a:rPr sz="1400" b="0" i="0">
                <a:solidFill>
                  <a:srgbClr val="202020"/>
                </a:solidFill>
                <a:latin typeface="Calibri"/>
              </a:rPr>
              <a:t>), so other local accounts cannot read the state, identity store or dead-letter queue. This is best-effort and never fatal — a host where the permissions cannot be tightened logs a warning so you can set the ACLs out of band.</a:t>
            </a:r>
          </a:p>
        </p:txBody>
      </p:sp>
      <p:sp>
        <p:nvSpPr>
          <p:cNvPr id="6" name="Rectangle 5"/>
          <p:cNvSpPr/>
          <p:nvPr/>
        </p:nvSpPr>
        <p:spPr>
          <a:xfrm>
            <a:off x="502920" y="1463040"/>
            <a:ext cx="128016" cy="329184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786</a:t>
            </a:r>
          </a:p>
        </p:txBody>
      </p:sp>
    </p:spTree>
  </p:cSld>
  <p:clrMapOvr>
    <a:masterClrMapping/>
  </p:clrMapOvr>
</p:sld>
</file>

<file path=ppt/slides/slide7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 Setting it up, step by step</a:t>
            </a:r>
          </a:p>
        </p:txBody>
      </p:sp>
      <p:sp>
        <p:nvSpPr>
          <p:cNvPr id="5" name="Rectangle 4"/>
          <p:cNvSpPr/>
          <p:nvPr/>
        </p:nvSpPr>
        <p:spPr>
          <a:xfrm>
            <a:off x="502920" y="1463040"/>
            <a:ext cx="11185855" cy="3291840"/>
          </a:xfrm>
          <a:prstGeom prst="rect">
            <a:avLst/>
          </a:prstGeom>
          <a:solidFill>
            <a:srgbClr val="FBED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C77700"/>
                </a:solidFill>
                <a:latin typeface="Calibri"/>
              </a:rPr>
              <a:t>Important:  </a:t>
            </a:r>
            <a:r>
              <a:rPr sz="1400" b="1" i="0">
                <a:solidFill>
                  <a:srgbClr val="202020"/>
                </a:solidFill>
                <a:latin typeface="Calibri"/>
              </a:rPr>
              <a:t>Important: </a:t>
            </a:r>
            <a:r>
              <a:rPr sz="1400" b="0" i="0">
                <a:solidFill>
                  <a:srgbClr val="202020"/>
                </a:solidFill>
                <a:latin typeface="Calibri"/>
              </a:rPr>
              <a:t>Expect the guard to refuse any object you forgot to filter — that is the safety net working. If a full crawl reports an object under "failed" with a "has no filter configured" message, the object was not indexed. Add a filter in </a:t>
            </a:r>
            <a:r>
              <a:rPr sz="1350" b="0" i="0">
                <a:solidFill>
                  <a:srgbClr val="202020"/>
                </a:solidFill>
                <a:latin typeface="Consolas"/>
              </a:rPr>
              <a:t>config/filters.json</a:t>
            </a:r>
            <a:r>
              <a:rPr sz="1400" b="0" i="0">
                <a:solidFill>
                  <a:srgbClr val="202020"/>
                </a:solidFill>
                <a:latin typeface="Calibri"/>
              </a:rPr>
              <a:t>, re-run </a:t>
            </a:r>
            <a:r>
              <a:rPr sz="1350" b="0" i="0">
                <a:solidFill>
                  <a:srgbClr val="202020"/>
                </a:solidFill>
                <a:latin typeface="Consolas"/>
              </a:rPr>
              <a:t>validate-config --strict</a:t>
            </a:r>
            <a:r>
              <a:rPr sz="1400" b="0" i="0">
                <a:solidFill>
                  <a:srgbClr val="202020"/>
                </a:solidFill>
                <a:latin typeface="Calibri"/>
              </a:rPr>
              <a:t>, and crawl again. Do not exempt it just to make the message go away (</a:t>
            </a:r>
            <a:r>
              <a:rPr sz="1400" b="1" i="0">
                <a:solidFill>
                  <a:srgbClr val="202020"/>
                </a:solidFill>
                <a:latin typeface="Calibri"/>
              </a:rPr>
              <a:t>Section 7</a:t>
            </a:r>
            <a:r>
              <a:rPr sz="1400" b="0" i="0">
                <a:solidFill>
                  <a:srgbClr val="202020"/>
                </a:solidFill>
                <a:latin typeface="Calibri"/>
              </a:rPr>
              <a:t>).</a:t>
            </a:r>
          </a:p>
        </p:txBody>
      </p:sp>
      <p:sp>
        <p:nvSpPr>
          <p:cNvPr id="6" name="Rectangle 5"/>
          <p:cNvSpPr/>
          <p:nvPr/>
        </p:nvSpPr>
        <p:spPr>
          <a:xfrm>
            <a:off x="502920" y="1463040"/>
            <a:ext cx="128016" cy="32918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787</a:t>
            </a:r>
          </a:p>
        </p:txBody>
      </p:sp>
    </p:spTree>
  </p:cSld>
  <p:clrMapOvr>
    <a:masterClrMapping/>
  </p:clrMapOvr>
</p:sld>
</file>

<file path=ppt/slides/slide7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10. Setting it up, step by step</a:t>
            </a:r>
          </a:p>
        </p:txBody>
      </p:sp>
      <p:sp>
        <p:nvSpPr>
          <p:cNvPr id="5" name="Rectangle 4"/>
          <p:cNvSpPr/>
          <p:nvPr/>
        </p:nvSpPr>
        <p:spPr>
          <a:xfrm>
            <a:off x="502920" y="1463040"/>
            <a:ext cx="11185855" cy="3291840"/>
          </a:xfrm>
          <a:prstGeom prst="rect">
            <a:avLst/>
          </a:prstGeom>
          <a:solidFill>
            <a:srgbClr val="E7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tIns="182880" bIns="182880"/>
          <a:lstStyle/>
          <a:p>
            <a:pPr algn="ctr"/>
            <a:r>
              <a:rPr sz="1500" b="1" i="0">
                <a:solidFill>
                  <a:srgbClr val="2E7D32"/>
                </a:solidFill>
                <a:latin typeface="Calibri"/>
              </a:rPr>
              <a:t>Tip:  </a:t>
            </a:r>
            <a:r>
              <a:rPr sz="1400" b="1" i="0">
                <a:solidFill>
                  <a:srgbClr val="202020"/>
                </a:solidFill>
                <a:latin typeface="Calibri"/>
              </a:rPr>
              <a:t>Tip: </a:t>
            </a:r>
            <a:r>
              <a:rPr sz="1400" b="0" i="0">
                <a:solidFill>
                  <a:srgbClr val="202020"/>
                </a:solidFill>
                <a:latin typeface="Calibri"/>
              </a:rPr>
              <a:t>Once verified, switch to the continuous, scheduled mode — for example </a:t>
            </a:r>
            <a:r>
              <a:rPr sz="1350" b="0" i="0">
                <a:solidFill>
                  <a:srgbClr val="202020"/>
                </a:solidFill>
                <a:latin typeface="Consolas"/>
              </a:rPr>
              <a:t>full-deployment --continuous --full-crawl-hours 24 --incremental-hours 4</a:t>
            </a:r>
            <a:r>
              <a:rPr sz="1400" b="0" i="0">
                <a:solidFill>
                  <a:srgbClr val="202020"/>
                </a:solidFill>
                <a:latin typeface="Calibri"/>
              </a:rPr>
              <a:t> — which the Windows service runs by default. Stopping the service is graceful: the in-flight chunk finishes, the pending batch flushes, the checkpoint saves, and the next start resumes exactly where it left off.</a:t>
            </a:r>
          </a:p>
        </p:txBody>
      </p:sp>
      <p:sp>
        <p:nvSpPr>
          <p:cNvPr id="6" name="Rectangle 5"/>
          <p:cNvSpPr/>
          <p:nvPr/>
        </p:nvSpPr>
        <p:spPr>
          <a:xfrm>
            <a:off x="502920" y="1463040"/>
            <a:ext cx="128016" cy="32918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8" name="TextBox 7"/>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788</a:t>
            </a:r>
          </a:p>
        </p:txBody>
      </p:sp>
    </p:spTree>
  </p:cSld>
  <p:clrMapOvr>
    <a:masterClrMapping/>
  </p:clrMapOvr>
</p:sld>
</file>

<file path=ppt/slides/slide7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Hadoop BDH Connector</a:t>
            </a:r>
          </a:p>
          <a:p>
            <a:r>
              <a:rPr sz="3000" b="1" i="0">
                <a:solidFill>
                  <a:srgbClr val="1F3864"/>
                </a:solidFill>
                <a:latin typeface="Calibri"/>
              </a:rPr>
              <a:t>11. Running it day to day</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789</a:t>
            </a:r>
          </a:p>
        </p:txBody>
      </p:sp>
    </p:spTree>
  </p:cSld>
  <p:clrMapOvr>
    <a:masterClrMapping/>
  </p:clrMapOvr>
</p:sld>
</file>

<file path=ppt/slides/slide7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 Running it day to day</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In steady state the connector runs itself. Your job is to let the nightly rhythm play out, keep the dead-letter queue drained, and treat filter changes as change-controlled.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790</a:t>
            </a:r>
          </a:p>
        </p:txBody>
      </p:sp>
    </p:spTree>
  </p:cSld>
  <p:clrMapOvr>
    <a:masterClrMapping/>
  </p:clrMapOvr>
</p:sld>
</file>

<file path=ppt/slides/slide7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11.1 The nightly rhythm</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50" b="0" i="0">
                <a:solidFill>
                  <a:srgbClr val="202020"/>
                </a:solidFill>
                <a:latin typeface="Calibri"/>
              </a:rPr>
              <a:t>The BDH nightly load lands overnight. The next </a:t>
            </a:r>
            <a:r>
              <a:rPr sz="1250" b="1" i="0">
                <a:solidFill>
                  <a:srgbClr val="202020"/>
                </a:solidFill>
                <a:latin typeface="Calibri"/>
              </a:rPr>
              <a:t>incremental crawl</a:t>
            </a:r>
            <a:r>
              <a:rPr sz="1250" b="0" i="0">
                <a:solidFill>
                  <a:srgbClr val="202020"/>
                </a:solidFill>
                <a:latin typeface="Calibri"/>
              </a:rPr>
              <a:t> (every 4 h by default) reads the newest </a:t>
            </a:r>
            <a:r>
              <a:rPr sz="1200" b="0" i="0">
                <a:solidFill>
                  <a:srgbClr val="202020"/>
                </a:solidFill>
                <a:latin typeface="Consolas"/>
              </a:rPr>
              <a:t>dt</a:t>
            </a:r>
            <a:r>
              <a:rPr sz="1250" b="0" i="0">
                <a:solidFill>
                  <a:srgbClr val="202020"/>
                </a:solidFill>
                <a:latin typeface="Calibri"/>
              </a:rPr>
              <a:t> partitions and picks it up, using the </a:t>
            </a:r>
            <a:r>
              <a:rPr sz="1200" b="0" i="0">
                <a:solidFill>
                  <a:srgbClr val="202020"/>
                </a:solidFill>
                <a:latin typeface="Consolas"/>
              </a:rPr>
              <a:t>BDH_LAG_HOURS</a:t>
            </a:r>
            <a:r>
              <a:rPr sz="1250" b="0" i="0">
                <a:solidFill>
                  <a:srgbClr val="202020"/>
                </a:solidFill>
                <a:latin typeface="Calibri"/>
              </a:rPr>
              <a:t> overlap so a late load is not missed (</a:t>
            </a:r>
            <a:r>
              <a:rPr sz="1250" b="1" i="0">
                <a:solidFill>
                  <a:srgbClr val="202020"/>
                </a:solidFill>
                <a:latin typeface="Calibri"/>
              </a:rPr>
              <a:t>Section 8</a:t>
            </a:r>
            <a:r>
              <a:rPr sz="1250" b="0" i="0">
                <a:solidFill>
                  <a:srgbClr val="202020"/>
                </a:solidFill>
                <a:latin typeface="Calibri"/>
              </a:rPr>
              <a:t>).</a:t>
            </a:r>
          </a:p>
          <a:p>
            <a:pPr>
              <a:spcBef>
                <a:spcPts val="100"/>
              </a:spcBef>
              <a:spcAft>
                <a:spcPts val="200"/>
              </a:spcAft>
            </a:pPr>
            <a:r>
              <a:rPr sz="1250" b="1" i="0">
                <a:solidFill>
                  <a:srgbClr val="2E5496"/>
                </a:solidFill>
                <a:latin typeface="Calibri"/>
              </a:rPr>
              <a:t>•  </a:t>
            </a:r>
            <a:r>
              <a:rPr sz="1250" b="0" i="0">
                <a:solidFill>
                  <a:srgbClr val="202020"/>
                </a:solidFill>
                <a:latin typeface="Calibri"/>
              </a:rPr>
              <a:t>A </a:t>
            </a:r>
            <a:r>
              <a:rPr sz="1250" b="1" i="0">
                <a:solidFill>
                  <a:srgbClr val="202020"/>
                </a:solidFill>
                <a:latin typeface="Calibri"/>
              </a:rPr>
              <a:t>full crawl</a:t>
            </a:r>
            <a:r>
              <a:rPr sz="1250" b="0" i="0">
                <a:solidFill>
                  <a:srgbClr val="202020"/>
                </a:solidFill>
                <a:latin typeface="Calibri"/>
              </a:rPr>
              <a:t> (every 24 h by default) re-reads everything the filters allow and runs the deletion sweep.</a:t>
            </a:r>
          </a:p>
          <a:p>
            <a:pPr>
              <a:spcBef>
                <a:spcPts val="100"/>
              </a:spcBef>
              <a:spcAft>
                <a:spcPts val="200"/>
              </a:spcAft>
            </a:pPr>
            <a:r>
              <a:rPr sz="1250" b="1" i="0">
                <a:solidFill>
                  <a:srgbClr val="2E5496"/>
                </a:solidFill>
                <a:latin typeface="Calibri"/>
              </a:rPr>
              <a:t>•  </a:t>
            </a:r>
            <a:r>
              <a:rPr sz="1250" b="0" i="0">
                <a:solidFill>
                  <a:srgbClr val="202020"/>
                </a:solidFill>
                <a:latin typeface="Calibri"/>
              </a:rPr>
              <a:t>You do not normally run commands by hand — the continuous service does. The commands below are for verification and repair.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791</a:t>
            </a:r>
          </a:p>
        </p:txBody>
      </p:sp>
    </p:spTree>
  </p:cSld>
  <p:clrMapOvr>
    <a:masterClrMapping/>
  </p:clrMapOvr>
</p:sld>
</file>

<file path=ppt/slides/slide7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11.2 Deletion sync and reconcile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BDH has no "deleted records" feed — a record deleted in Salesforce simply stops appearing in later loads. The connector detects that with an </a:t>
            </a:r>
            <a:r>
              <a:rPr sz="1250" b="1" i="0">
                <a:solidFill>
                  <a:srgbClr val="202020"/>
                </a:solidFill>
                <a:latin typeface="Calibri"/>
              </a:rPr>
              <a:t>existence sweep</a:t>
            </a:r>
            <a:r>
              <a:rPr sz="1250" b="0" i="0">
                <a:solidFill>
                  <a:srgbClr val="202020"/>
                </a:solidFill>
                <a:latin typeface="Calibri"/>
              </a:rPr>
              <a:t> on full crawls: it keeps an inventory of every item it has confirmed into the index, and after a full crawl it deletes from the connection any inventory id that was absent from the freshly-filtered source. Incremental crawls never sweep (absence inside a small window proves nothing), and a PARTIAL crawl never sweeps (its source list is incomplete).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792</a:t>
            </a:r>
          </a:p>
        </p:txBody>
      </p:sp>
    </p:spTree>
  </p:cSld>
  <p:clrMapOvr>
    <a:masterClrMapping/>
  </p:clrMapOvr>
</p:sld>
</file>

<file path=ppt/slides/slide7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11.2 Deletion sync and reconcile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sweep is protected by mass-deletion guards so a source outage or an over-tightened filter cannot wipe the index: an absolute cap (</a:t>
            </a:r>
            <a:r>
              <a:rPr sz="1200" b="0" i="0">
                <a:solidFill>
                  <a:srgbClr val="202020"/>
                </a:solidFill>
                <a:latin typeface="Consolas"/>
              </a:rPr>
              <a:t>DELETION_SYNC_MAX_ITEMS</a:t>
            </a:r>
            <a:r>
              <a:rPr sz="1250" b="0" i="0">
                <a:solidFill>
                  <a:srgbClr val="202020"/>
                </a:solidFill>
                <a:latin typeface="Calibri"/>
              </a:rPr>
              <a:t>, default 1000), a percentage guard (</a:t>
            </a:r>
            <a:r>
              <a:rPr sz="1200" b="0" i="0">
                <a:solidFill>
                  <a:srgbClr val="202020"/>
                </a:solidFill>
                <a:latin typeface="Consolas"/>
              </a:rPr>
              <a:t>DELETION_SYNC_MAX_PERCENT</a:t>
            </a:r>
            <a:r>
              <a:rPr sz="1250" b="0" i="0">
                <a:solidFill>
                  <a:srgbClr val="202020"/>
                </a:solidFill>
                <a:latin typeface="Calibri"/>
              </a:rPr>
              <a:t>, default 25%, which also engages whenever a full crawl returned zero rows), and suppression of the sweep on any incomplete fetch. When a guard trips, the sweep is skipped and a </a:t>
            </a:r>
            <a:r>
              <a:rPr sz="1200" b="0" i="0">
                <a:solidFill>
                  <a:srgbClr val="202020"/>
                </a:solidFill>
                <a:latin typeface="Consolas"/>
              </a:rPr>
              <a:t>deletion_sweep_skipped</a:t>
            </a:r>
            <a:r>
              <a:rPr sz="1250" b="0" i="0">
                <a:solidFill>
                  <a:srgbClr val="202020"/>
                </a:solidFill>
                <a:latin typeface="Calibri"/>
              </a:rPr>
              <a:t> alert fires.</a:t>
            </a:r>
          </a:p>
          <a:p>
            <a:pPr>
              <a:spcBef>
                <a:spcPts val="100"/>
              </a:spcBef>
              <a:spcAft>
                <a:spcPts val="400"/>
              </a:spcAft>
            </a:pPr>
            <a:r>
              <a:rPr sz="1250" b="0" i="0">
                <a:solidFill>
                  <a:srgbClr val="202020"/>
                </a:solidFill>
                <a:latin typeface="Calibri"/>
              </a:rPr>
              <a:t>Use </a:t>
            </a:r>
            <a:r>
              <a:rPr sz="1200" b="0" i="0">
                <a:solidFill>
                  <a:srgbClr val="202020"/>
                </a:solidFill>
                <a:latin typeface="Consolas"/>
              </a:rPr>
              <a:t>reconcile</a:t>
            </a:r>
            <a:r>
              <a:rPr sz="1250" b="0" i="0">
                <a:solidFill>
                  <a:srgbClr val="202020"/>
                </a:solidFill>
                <a:latin typeface="Calibri"/>
              </a:rPr>
              <a:t> to audit drift between BDH and the index on demand:</a:t>
            </a:r>
          </a:p>
          <a:p>
            <a:pPr>
              <a:spcBef>
                <a:spcPts val="100"/>
              </a:spcBef>
              <a:spcAft>
                <a:spcPts val="200"/>
              </a:spcAft>
            </a:pPr>
            <a:r>
              <a:rPr sz="1250" b="1" i="0">
                <a:solidFill>
                  <a:srgbClr val="2E5496"/>
                </a:solidFill>
                <a:latin typeface="Calibri"/>
              </a:rPr>
              <a:t>•  </a:t>
            </a:r>
            <a:r>
              <a:rPr sz="1200" b="0" i="0">
                <a:solidFill>
                  <a:srgbClr val="202020"/>
                </a:solidFill>
                <a:latin typeface="Consolas"/>
              </a:rPr>
              <a:t>reconcile</a:t>
            </a:r>
            <a:r>
              <a:rPr sz="1250" b="0" i="0">
                <a:solidFill>
                  <a:srgbClr val="202020"/>
                </a:solidFill>
                <a:latin typeface="Calibri"/>
              </a:rPr>
              <a:t> — report items MISSING (in BDH, not indexed) and STALE (indexed, gone from BDH). Exit code is non-zero if any drift remains, so it slots into a monitoring cron.</a:t>
            </a:r>
          </a:p>
          <a:p>
            <a:pPr>
              <a:spcBef>
                <a:spcPts val="100"/>
              </a:spcBef>
              <a:spcAft>
                <a:spcPts val="200"/>
              </a:spcAft>
            </a:pPr>
            <a:r>
              <a:rPr sz="1250" b="1" i="0">
                <a:solidFill>
                  <a:srgbClr val="2E5496"/>
                </a:solidFill>
                <a:latin typeface="Calibri"/>
              </a:rPr>
              <a:t>•  </a:t>
            </a:r>
            <a:r>
              <a:rPr sz="1200" b="0" i="0">
                <a:solidFill>
                  <a:srgbClr val="202020"/>
                </a:solidFill>
                <a:latin typeface="Consolas"/>
              </a:rPr>
              <a:t>reconcile --type Contact</a:t>
            </a:r>
            <a:r>
              <a:rPr sz="1250" b="0" i="0">
                <a:solidFill>
                  <a:srgbClr val="202020"/>
                </a:solidFill>
                <a:latin typeface="Calibri"/>
              </a:rPr>
              <a:t> — restrict to one object type.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793</a:t>
            </a:r>
          </a:p>
        </p:txBody>
      </p:sp>
    </p:spTree>
  </p:cSld>
  <p:clrMapOvr>
    <a:masterClrMapping/>
  </p:clrMapOvr>
</p:sld>
</file>

<file path=ppt/slides/slide7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11.2 Deletion sync and reconcile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00" b="0" i="0">
                <a:solidFill>
                  <a:srgbClr val="202020"/>
                </a:solidFill>
                <a:latin typeface="Consolas"/>
              </a:rPr>
              <a:t>reconcile --fix</a:t>
            </a:r>
            <a:r>
              <a:rPr sz="1250" b="0" i="0">
                <a:solidFill>
                  <a:srgbClr val="202020"/>
                </a:solidFill>
                <a:latin typeface="Calibri"/>
              </a:rPr>
              <a:t> — also DELETE stale items. </a:t>
            </a:r>
            <a:r>
              <a:rPr sz="1200" b="0" i="0">
                <a:solidFill>
                  <a:srgbClr val="202020"/>
                </a:solidFill>
                <a:latin typeface="Consolas"/>
              </a:rPr>
              <a:t>--fix</a:t>
            </a:r>
            <a:r>
              <a:rPr sz="1250" b="0" i="0">
                <a:solidFill>
                  <a:srgbClr val="202020"/>
                </a:solidFill>
                <a:latin typeface="Calibri"/>
              </a:rPr>
              <a:t> intentionally bypasses the mass-deletion guards, because an explicit operator action is its own consent — so use it deliberately.</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794</a:t>
            </a:r>
          </a:p>
        </p:txBody>
      </p:sp>
    </p:spTree>
  </p:cSld>
  <p:clrMapOvr>
    <a:masterClrMapping/>
  </p:clrMapOvr>
</p:sld>
</file>

<file path=ppt/slides/slide7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11.3 Draining the dead-letter queue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Records that fail to ingest land in a </a:t>
            </a:r>
            <a:r>
              <a:rPr sz="1250" b="1" i="0">
                <a:solidFill>
                  <a:srgbClr val="202020"/>
                </a:solidFill>
                <a:latin typeface="Calibri"/>
              </a:rPr>
              <a:t>dead-letter queue</a:t>
            </a:r>
            <a:r>
              <a:rPr sz="1250" b="0" i="0">
                <a:solidFill>
                  <a:srgbClr val="202020"/>
                </a:solidFill>
                <a:latin typeface="Calibri"/>
              </a:rPr>
              <a:t> (</a:t>
            </a:r>
            <a:r>
              <a:rPr sz="1200" b="0" i="0">
                <a:solidFill>
                  <a:srgbClr val="202020"/>
                </a:solidFill>
                <a:latin typeface="Consolas"/>
              </a:rPr>
              <a:t>logs/failed_records_&lt;CONNECTOR_ID&gt;.jsonl</a:t>
            </a:r>
            <a:r>
              <a:rPr sz="1250" b="0" i="0">
                <a:solidFill>
                  <a:srgbClr val="202020"/>
                </a:solidFill>
                <a:latin typeface="Calibri"/>
              </a:rPr>
              <a:t>, or </a:t>
            </a:r>
            <a:r>
              <a:rPr sz="1200" b="0" i="0">
                <a:solidFill>
                  <a:srgbClr val="202020"/>
                </a:solidFill>
                <a:latin typeface="Consolas"/>
              </a:rPr>
              <a:t>dbo.DeadLetter</a:t>
            </a:r>
            <a:r>
              <a:rPr sz="1250" b="0" i="0">
                <a:solidFill>
                  <a:srgbClr val="202020"/>
                </a:solidFill>
                <a:latin typeface="Calibri"/>
              </a:rPr>
              <a:t> on SQL Server) for later retry. After you fix the underlying cause, run </a:t>
            </a:r>
            <a:r>
              <a:rPr sz="1200" b="0" i="0">
                <a:solidFill>
                  <a:srgbClr val="202020"/>
                </a:solidFill>
                <a:latin typeface="Consolas"/>
              </a:rPr>
              <a:t>retry-failed --clear-on-success</a:t>
            </a:r>
            <a:r>
              <a:rPr sz="1250" b="0" i="0">
                <a:solidFill>
                  <a:srgbClr val="202020"/>
                </a:solidFill>
                <a:latin typeface="Calibri"/>
              </a:rPr>
              <a:t> — each record is re-located in BDH for fresh fields and a fresh ACL, then re-ingested; entries whose records have genuinely vanished from BDH are dropped automatically.</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795</a:t>
            </a:r>
          </a:p>
        </p:txBody>
      </p:sp>
    </p:spTree>
  </p:cSld>
  <p:clrMapOvr>
    <a:masterClrMapping/>
  </p:clrMapOvr>
</p:sld>
</file>

<file path=ppt/slides/slide7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11.4 Changing filters safely</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Filter edits are the most common day-to-day change and the most consequential (</a:t>
            </a:r>
            <a:r>
              <a:rPr sz="1250" b="1" i="0">
                <a:solidFill>
                  <a:srgbClr val="202020"/>
                </a:solidFill>
                <a:latin typeface="Calibri"/>
              </a:rPr>
              <a:t>Section 7</a:t>
            </a:r>
            <a:r>
              <a:rPr sz="1250" b="0" i="0">
                <a:solidFill>
                  <a:srgbClr val="202020"/>
                </a:solidFill>
                <a:latin typeface="Calibri"/>
              </a:rPr>
              <a:t>). Always: make the change in a reviewed pull request, run </a:t>
            </a:r>
            <a:r>
              <a:rPr sz="1200" b="0" i="0">
                <a:solidFill>
                  <a:srgbClr val="202020"/>
                </a:solidFill>
                <a:latin typeface="Consolas"/>
              </a:rPr>
              <a:t>validate-config --strict</a:t>
            </a:r>
            <a:r>
              <a:rPr sz="1250" b="0" i="0">
                <a:solidFill>
                  <a:srgbClr val="202020"/>
                </a:solidFill>
                <a:latin typeface="Calibri"/>
              </a:rPr>
              <a:t>, and after deployment check the per-object matched counts and watch </a:t>
            </a:r>
            <a:r>
              <a:rPr sz="1200" b="0" i="0">
                <a:solidFill>
                  <a:srgbClr val="202020"/>
                </a:solidFill>
                <a:latin typeface="Consolas"/>
              </a:rPr>
              <a:t>guard_refusals_total</a:t>
            </a:r>
            <a:r>
              <a:rPr sz="1250" b="0" i="0">
                <a:solidFill>
                  <a:srgbClr val="202020"/>
                </a:solidFill>
                <a:latin typeface="Calibri"/>
              </a:rPr>
              <a:t> and </a:t>
            </a:r>
            <a:r>
              <a:rPr sz="1200" b="0" i="0">
                <a:solidFill>
                  <a:srgbClr val="202020"/>
                </a:solidFill>
                <a:latin typeface="Consolas"/>
              </a:rPr>
              <a:t>sweeps_suppressed_total</a:t>
            </a:r>
            <a:r>
              <a:rPr sz="1250" b="0" i="0">
                <a:solidFill>
                  <a:srgbClr val="202020"/>
                </a:solidFill>
                <a:latin typeface="Calibri"/>
              </a:rPr>
              <a:t> for the tell-tale spike of a regression.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796</a:t>
            </a:r>
          </a:p>
        </p:txBody>
      </p:sp>
    </p:spTree>
  </p:cSld>
  <p:clrMapOvr>
    <a:masterClrMapping/>
  </p:clrMapOvr>
</p:sld>
</file>

<file path=ppt/slides/slide7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Hadoop BDH Connector</a:t>
            </a:r>
          </a:p>
          <a:p>
            <a:r>
              <a:rPr sz="3000" b="1" i="0">
                <a:solidFill>
                  <a:srgbClr val="1F3864"/>
                </a:solidFill>
                <a:latin typeface="Calibri"/>
              </a:rPr>
              <a:t>12. Monitoring this connector</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797</a:t>
            </a:r>
          </a:p>
        </p:txBody>
      </p:sp>
    </p:spTree>
  </p:cSld>
  <p:clrMapOvr>
    <a:masterClrMapping/>
  </p:clrMapOvr>
</p:sld>
</file>

<file path=ppt/slides/slide7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 Monitoring this connector</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connector exposes health endpoints and Prometheus metrics; ready-made dashboards and alert rules ship in the </a:t>
            </a:r>
            <a:r>
              <a:rPr sz="1200" b="0" i="0">
                <a:solidFill>
                  <a:srgbClr val="202020"/>
                </a:solidFill>
                <a:latin typeface="Consolas"/>
              </a:rPr>
              <a:t>ops/</a:t>
            </a:r>
            <a:r>
              <a:rPr sz="1250" b="0" i="0">
                <a:solidFill>
                  <a:srgbClr val="202020"/>
                </a:solidFill>
                <a:latin typeface="Calibri"/>
              </a:rPr>
              <a:t> folder. General monitoring and disaster-recovery practice is in </a:t>
            </a:r>
            <a:r>
              <a:rPr sz="1250" b="1" i="0">
                <a:solidFill>
                  <a:srgbClr val="202020"/>
                </a:solidFill>
                <a:latin typeface="Calibri"/>
              </a:rPr>
              <a:t>Common Guide §8</a:t>
            </a:r>
            <a:r>
              <a:rPr sz="1250" b="0" i="0">
                <a:solidFill>
                  <a:srgbClr val="202020"/>
                </a:solidFill>
                <a:latin typeface="Calibri"/>
              </a:rPr>
              <a:t>; this section covers the BDH-specific signals.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798</a:t>
            </a:r>
          </a:p>
        </p:txBody>
      </p:sp>
    </p:spTree>
  </p:cSld>
  <p:clrMapOvr>
    <a:masterClrMapping/>
  </p:clrMapOvr>
</p:sld>
</file>

<file path=ppt/slides/slide8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12.1 Health endpoints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Set </a:t>
            </a:r>
            <a:r>
              <a:rPr sz="1200" b="0" i="0">
                <a:solidFill>
                  <a:srgbClr val="202020"/>
                </a:solidFill>
                <a:latin typeface="Consolas"/>
              </a:rPr>
              <a:t>HEALTH_PORT</a:t>
            </a:r>
            <a:r>
              <a:rPr sz="1250" b="0" i="0">
                <a:solidFill>
                  <a:srgbClr val="202020"/>
                </a:solidFill>
                <a:latin typeface="Calibri"/>
              </a:rPr>
              <a:t> to serve three routes on the management network (firewall them — they are unauthenticated by design):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799</a:t>
            </a:r>
          </a:p>
        </p:txBody>
      </p:sp>
    </p:spTree>
  </p:cSld>
  <p:clrMapOvr>
    <a:masterClrMapping/>
  </p:clrMapOvr>
</p:sld>
</file>

<file path=ppt/slides/slide8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12.1 Health endpoints</a:t>
            </a:r>
          </a:p>
        </p:txBody>
      </p:sp>
      <p:graphicFrame>
        <p:nvGraphicFramePr>
          <p:cNvPr id="5" name="Table 4"/>
          <p:cNvGraphicFramePr>
            <a:graphicFrameLocks noGrp="1"/>
          </p:cNvGraphicFramePr>
          <p:nvPr/>
        </p:nvGraphicFramePr>
        <p:xfrm>
          <a:off x="502920" y="1188720"/>
          <a:ext cx="11185854" cy="1536192"/>
        </p:xfrm>
        <a:graphic>
          <a:graphicData uri="http://schemas.openxmlformats.org/drawingml/2006/table">
            <a:tbl>
              <a:tblPr firstRow="1" bandRow="1">
                <a:tableStyleId>{5C22544A-7EE6-4342-B048-85BDC9FD1C3A}</a:tableStyleId>
              </a:tblPr>
              <a:tblGrid>
                <a:gridCol w="3803190"/>
                <a:gridCol w="7382664"/>
              </a:tblGrid>
              <a:tr h="384048">
                <a:tc>
                  <a:txBody>
                    <a:bodyPr wrap="square"/>
                    <a:lstStyle/>
                    <a:p>
                      <a:r>
                        <a:rPr sz="1050" b="1" i="0">
                          <a:solidFill>
                            <a:srgbClr val="FFFFFF"/>
                          </a:solidFill>
                          <a:latin typeface="Calibri"/>
                        </a:rPr>
                        <a:t>Route</a:t>
                      </a:r>
                    </a:p>
                  </a:txBody>
                  <a:tcPr marT="25400" marB="25400">
                    <a:solidFill>
                      <a:srgbClr val="2E5496"/>
                    </a:solidFill>
                  </a:tcPr>
                </a:tc>
                <a:tc>
                  <a:txBody>
                    <a:bodyPr wrap="square"/>
                    <a:lstStyle/>
                    <a:p>
                      <a:r>
                        <a:rPr sz="1050" b="1" i="0">
                          <a:solidFill>
                            <a:srgbClr val="FFFFFF"/>
                          </a:solidFill>
                          <a:latin typeface="Calibri"/>
                        </a:rPr>
                        <a:t>Meaning</a:t>
                      </a:r>
                    </a:p>
                  </a:txBody>
                  <a:tcPr marT="25400" marB="25400">
                    <a:solidFill>
                      <a:srgbClr val="2E5496"/>
                    </a:solidFill>
                  </a:tcPr>
                </a:tc>
              </a:tr>
              <a:tr h="384048">
                <a:tc>
                  <a:txBody>
                    <a:bodyPr wrap="square"/>
                    <a:lstStyle/>
                    <a:p>
                      <a:r>
                        <a:rPr sz="950" b="0" i="0">
                          <a:solidFill>
                            <a:srgbClr val="202020"/>
                          </a:solidFill>
                          <a:latin typeface="Calibri"/>
                        </a:rPr>
                        <a:t>GET /health</a:t>
                      </a:r>
                    </a:p>
                  </a:txBody>
                  <a:tcPr marT="12700" marB="12700">
                    <a:solidFill>
                      <a:srgbClr val="FFFFFF"/>
                    </a:solidFill>
                  </a:tcPr>
                </a:tc>
                <a:tc>
                  <a:txBody>
                    <a:bodyPr wrap="square"/>
                    <a:lstStyle/>
                    <a:p>
                      <a:r>
                        <a:rPr sz="950" b="0" i="0">
                          <a:solidFill>
                            <a:srgbClr val="202020"/>
                          </a:solidFill>
                          <a:latin typeface="Calibri"/>
                        </a:rPr>
                        <a:t>Liveness — 200 while the process is up (stays 200 even when degraded)</a:t>
                      </a:r>
                    </a:p>
                  </a:txBody>
                  <a:tcPr marT="12700" marB="12700">
                    <a:solidFill>
                      <a:srgbClr val="FFFFFF"/>
                    </a:solidFill>
                  </a:tcPr>
                </a:tc>
              </a:tr>
              <a:tr h="384048">
                <a:tc>
                  <a:txBody>
                    <a:bodyPr wrap="square"/>
                    <a:lstStyle/>
                    <a:p>
                      <a:r>
                        <a:rPr sz="950" b="0" i="0">
                          <a:solidFill>
                            <a:srgbClr val="202020"/>
                          </a:solidFill>
                          <a:latin typeface="Calibri"/>
                        </a:rPr>
                        <a:t>GET /ready</a:t>
                      </a:r>
                    </a:p>
                  </a:txBody>
                  <a:tcPr marT="12700" marB="12700">
                    <a:solidFill>
                      <a:srgbClr val="F7F9FC"/>
                    </a:solidFill>
                  </a:tcPr>
                </a:tc>
                <a:tc>
                  <a:txBody>
                    <a:bodyPr wrap="square"/>
                    <a:lstStyle/>
                    <a:p>
                      <a:r>
                        <a:rPr sz="950" b="0" i="0">
                          <a:solidFill>
                            <a:srgbClr val="202020"/>
                          </a:solidFill>
                          <a:latin typeface="Calibri"/>
                        </a:rPr>
                        <a:t>Readiness — 200 READY, or 503 DEGRADED while a critical circuit breaker is open</a:t>
                      </a:r>
                    </a:p>
                  </a:txBody>
                  <a:tcPr marT="12700" marB="12700">
                    <a:solidFill>
                      <a:srgbClr val="F7F9FC"/>
                    </a:solidFill>
                  </a:tcPr>
                </a:tc>
              </a:tr>
              <a:tr h="384048">
                <a:tc>
                  <a:txBody>
                    <a:bodyPr wrap="square"/>
                    <a:lstStyle/>
                    <a:p>
                      <a:r>
                        <a:rPr sz="950" b="0" i="0">
                          <a:solidFill>
                            <a:srgbClr val="202020"/>
                          </a:solidFill>
                          <a:latin typeface="Calibri"/>
                        </a:rPr>
                        <a:t>GET /metrics</a:t>
                      </a:r>
                    </a:p>
                  </a:txBody>
                  <a:tcPr marT="12700" marB="12700">
                    <a:solidFill>
                      <a:srgbClr val="FFFFFF"/>
                    </a:solidFill>
                  </a:tcPr>
                </a:tc>
                <a:tc>
                  <a:txBody>
                    <a:bodyPr wrap="square"/>
                    <a:lstStyle/>
                    <a:p>
                      <a:r>
                        <a:rPr sz="950" b="0" i="0">
                          <a:solidFill>
                            <a:srgbClr val="202020"/>
                          </a:solidFill>
                          <a:latin typeface="Calibri"/>
                        </a:rPr>
                        <a:t>Prometheus metrics (all prefixed hadoop_connector_)</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800</a:t>
            </a:r>
          </a:p>
        </p:txBody>
      </p:sp>
    </p:spTree>
  </p:cSld>
  <p:clrMapOvr>
    <a:masterClrMapping/>
  </p:clrMapOvr>
</p:sld>
</file>

<file path=ppt/slides/slide8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12.2 The metrics that matter here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All names are prefixed </a:t>
            </a:r>
            <a:r>
              <a:rPr sz="1200" b="0" i="0">
                <a:solidFill>
                  <a:srgbClr val="202020"/>
                </a:solidFill>
                <a:latin typeface="Consolas"/>
              </a:rPr>
              <a:t>hadoop_connector_</a:t>
            </a:r>
            <a:r>
              <a:rPr sz="1250" b="0" i="0">
                <a:solidFill>
                  <a:srgbClr val="202020"/>
                </a:solidFill>
                <a:latin typeface="Calibri"/>
              </a:rPr>
              <a:t>. The filter-and-scale metrics are what make this connector different from the others: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801</a:t>
            </a:r>
          </a:p>
        </p:txBody>
      </p:sp>
    </p:spTree>
  </p:cSld>
  <p:clrMapOvr>
    <a:masterClrMapping/>
  </p:clrMapOvr>
</p:sld>
</file>

<file path=ppt/slides/slide8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12.2 The metrics that matter here</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Metric</a:t>
                      </a:r>
                    </a:p>
                  </a:txBody>
                  <a:tcPr marT="25400" marB="25400">
                    <a:solidFill>
                      <a:srgbClr val="2E5496"/>
                    </a:solidFill>
                  </a:tcPr>
                </a:tc>
                <a:tc>
                  <a:txBody>
                    <a:bodyPr wrap="square"/>
                    <a:lstStyle/>
                    <a:p>
                      <a:r>
                        <a:rPr sz="1050" b="1" i="0">
                          <a:solidFill>
                            <a:srgbClr val="FFFFFF"/>
                          </a:solidFill>
                          <a:latin typeface="Calibri"/>
                        </a:rPr>
                        <a:t>What it measures</a:t>
                      </a:r>
                    </a:p>
                  </a:txBody>
                  <a:tcPr marT="25400" marB="25400">
                    <a:solidFill>
                      <a:srgbClr val="2E5496"/>
                    </a:solidFill>
                  </a:tcPr>
                </a:tc>
                <a:tc>
                  <a:txBody>
                    <a:bodyPr wrap="square"/>
                    <a:lstStyle/>
                    <a:p>
                      <a:r>
                        <a:rPr sz="1050" b="1" i="0">
                          <a:solidFill>
                            <a:srgbClr val="FFFFFF"/>
                          </a:solidFill>
                          <a:latin typeface="Calibri"/>
                        </a:rPr>
                        <a:t>What to watch for</a:t>
                      </a:r>
                    </a:p>
                  </a:txBody>
                  <a:tcPr marT="25400" marB="25400">
                    <a:solidFill>
                      <a:srgbClr val="2E5496"/>
                    </a:solidFill>
                  </a:tcPr>
                </a:tc>
              </a:tr>
              <a:tr h="384048">
                <a:tc>
                  <a:txBody>
                    <a:bodyPr wrap="square"/>
                    <a:lstStyle/>
                    <a:p>
                      <a:r>
                        <a:rPr sz="950" b="0" i="0">
                          <a:solidFill>
                            <a:srgbClr val="202020"/>
                          </a:solidFill>
                          <a:latin typeface="Calibri"/>
                        </a:rPr>
                        <a:t>partitions_pruned_total / partitions_scanned_total</a:t>
                      </a:r>
                    </a:p>
                  </a:txBody>
                  <a:tcPr marT="12700" marB="12700">
                    <a:solidFill>
                      <a:srgbClr val="FFFFFF"/>
                    </a:solidFill>
                  </a:tcPr>
                </a:tc>
                <a:tc>
                  <a:txBody>
                    <a:bodyPr wrap="square"/>
                    <a:lstStyle/>
                    <a:p>
                      <a:r>
                        <a:rPr sz="950" b="0" i="0">
                          <a:solidFill>
                            <a:srgbClr val="202020"/>
                          </a:solidFill>
                          <a:latin typeface="Calibri"/>
                        </a:rPr>
                        <a:t>Directories skipped with no I/O vs directories read</a:t>
                      </a:r>
                    </a:p>
                  </a:txBody>
                  <a:tcPr marT="12700" marB="12700">
                    <a:solidFill>
                      <a:srgbClr val="FFFFFF"/>
                    </a:solidFill>
                  </a:tcPr>
                </a:tc>
                <a:tc>
                  <a:txBody>
                    <a:bodyPr wrap="square"/>
                    <a:lstStyle/>
                    <a:p>
                      <a:r>
                        <a:rPr sz="950" b="0" i="0">
                          <a:solidFill>
                            <a:srgbClr val="202020"/>
                          </a:solidFill>
                          <a:latin typeface="Calibri"/>
                        </a:rPr>
                        <a:t>A healthy filter prunes a lot; pruned should dominate</a:t>
                      </a:r>
                    </a:p>
                  </a:txBody>
                  <a:tcPr marT="12700" marB="12700">
                    <a:solidFill>
                      <a:srgbClr val="FFFFFF"/>
                    </a:solidFill>
                  </a:tcPr>
                </a:tc>
              </a:tr>
              <a:tr h="384048">
                <a:tc>
                  <a:txBody>
                    <a:bodyPr wrap="square"/>
                    <a:lstStyle/>
                    <a:p>
                      <a:r>
                        <a:rPr sz="950" b="0" i="0">
                          <a:solidFill>
                            <a:srgbClr val="202020"/>
                          </a:solidFill>
                          <a:latin typeface="Calibri"/>
                        </a:rPr>
                        <a:t>records_scanned_total / records_matched_total</a:t>
                      </a:r>
                    </a:p>
                  </a:txBody>
                  <a:tcPr marT="12700" marB="12700">
                    <a:solidFill>
                      <a:srgbClr val="F7F9FC"/>
                    </a:solidFill>
                  </a:tcPr>
                </a:tc>
                <a:tc>
                  <a:txBody>
                    <a:bodyPr wrap="square"/>
                    <a:lstStyle/>
                    <a:p>
                      <a:r>
                        <a:rPr sz="950" b="0" i="0">
                          <a:solidFill>
                            <a:srgbClr val="202020"/>
                          </a:solidFill>
                          <a:latin typeface="Calibri"/>
                        </a:rPr>
                        <a:t>Rows read vs rows kept</a:t>
                      </a:r>
                    </a:p>
                  </a:txBody>
                  <a:tcPr marT="12700" marB="12700">
                    <a:solidFill>
                      <a:srgbClr val="F7F9FC"/>
                    </a:solidFill>
                  </a:tcPr>
                </a:tc>
                <a:tc>
                  <a:txBody>
                    <a:bodyPr wrap="square"/>
                    <a:lstStyle/>
                    <a:p>
                      <a:r>
                        <a:rPr sz="950" b="0" i="0">
                          <a:solidFill>
                            <a:srgbClr val="202020"/>
                          </a:solidFill>
                          <a:latin typeface="Calibri"/>
                        </a:rPr>
                        <a:t>Matched should be well below scanned; matched near scanned means a loose filter</a:t>
                      </a:r>
                    </a:p>
                  </a:txBody>
                  <a:tcPr marT="12700" marB="12700">
                    <a:solidFill>
                      <a:srgbClr val="F7F9FC"/>
                    </a:solidFill>
                  </a:tcPr>
                </a:tc>
              </a:tr>
              <a:tr h="384048">
                <a:tc>
                  <a:txBody>
                    <a:bodyPr wrap="square"/>
                    <a:lstStyle/>
                    <a:p>
                      <a:r>
                        <a:rPr sz="950" b="0" i="0">
                          <a:solidFill>
                            <a:srgbClr val="202020"/>
                          </a:solidFill>
                          <a:latin typeface="Calibri"/>
                        </a:rPr>
                        <a:t>records_filtered_total{stage="predicate"}</a:t>
                      </a:r>
                    </a:p>
                  </a:txBody>
                  <a:tcPr marT="12700" marB="12700">
                    <a:solidFill>
                      <a:srgbClr val="FFFFFF"/>
                    </a:solidFill>
                  </a:tcPr>
                </a:tc>
                <a:tc>
                  <a:txBody>
                    <a:bodyPr wrap="square"/>
                    <a:lstStyle/>
                    <a:p>
                      <a:r>
                        <a:rPr sz="950" b="0" i="0">
                          <a:solidFill>
                            <a:srgbClr val="202020"/>
                          </a:solidFill>
                          <a:latin typeface="Calibri"/>
                        </a:rPr>
                        <a:t>Rows dropped by record rules</a:t>
                      </a:r>
                    </a:p>
                  </a:txBody>
                  <a:tcPr marT="12700" marB="12700">
                    <a:solidFill>
                      <a:srgbClr val="FFFFFF"/>
                    </a:solidFill>
                  </a:tcPr>
                </a:tc>
                <a:tc>
                  <a:txBody>
                    <a:bodyPr wrap="square"/>
                    <a:lstStyle/>
                    <a:p>
                      <a:r>
                        <a:rPr sz="950" b="0" i="0">
                          <a:solidFill>
                            <a:srgbClr val="202020"/>
                          </a:solidFill>
                          <a:latin typeface="Calibri"/>
                        </a:rPr>
                        <a:t>Sudden drop to zero can mean a filter regressed</a:t>
                      </a:r>
                    </a:p>
                  </a:txBody>
                  <a:tcPr marT="12700" marB="12700">
                    <a:solidFill>
                      <a:srgbClr val="FFFFFF"/>
                    </a:solidFill>
                  </a:tcPr>
                </a:tc>
              </a:tr>
              <a:tr h="384048">
                <a:tc>
                  <a:txBody>
                    <a:bodyPr wrap="square"/>
                    <a:lstStyle/>
                    <a:p>
                      <a:r>
                        <a:rPr sz="950" b="0" i="0">
                          <a:solidFill>
                            <a:srgbClr val="202020"/>
                          </a:solidFill>
                          <a:latin typeface="Calibri"/>
                        </a:rPr>
                        <a:t>guard_refusals_total</a:t>
                      </a:r>
                    </a:p>
                  </a:txBody>
                  <a:tcPr marT="12700" marB="12700">
                    <a:solidFill>
                      <a:srgbClr val="F7F9FC"/>
                    </a:solidFill>
                  </a:tcPr>
                </a:tc>
                <a:tc>
                  <a:txBody>
                    <a:bodyPr wrap="square"/>
                    <a:lstStyle/>
                    <a:p>
                      <a:r>
                        <a:rPr sz="950" b="0" i="0">
                          <a:solidFill>
                            <a:srgbClr val="202020"/>
                          </a:solidFill>
                          <a:latin typeface="Calibri"/>
                        </a:rPr>
                        <a:t>Objects refused by the fail-closed guard</a:t>
                      </a:r>
                    </a:p>
                  </a:txBody>
                  <a:tcPr marT="12700" marB="12700">
                    <a:solidFill>
                      <a:srgbClr val="F7F9FC"/>
                    </a:solidFill>
                  </a:tcPr>
                </a:tc>
                <a:tc>
                  <a:txBody>
                    <a:bodyPr wrap="square"/>
                    <a:lstStyle/>
                    <a:p>
                      <a:r>
                        <a:rPr sz="950" b="0" i="0">
                          <a:solidFill>
                            <a:srgbClr val="202020"/>
                          </a:solidFill>
                          <a:latin typeface="Calibri"/>
                        </a:rPr>
                        <a:t>Should sit flat at 0; any rise means an unfiltered object (usually a filters.json regression)</a:t>
                      </a:r>
                    </a:p>
                  </a:txBody>
                  <a:tcPr marT="12700" marB="12700">
                    <a:solidFill>
                      <a:srgbClr val="F7F9FC"/>
                    </a:solidFill>
                  </a:tcPr>
                </a:tc>
              </a:tr>
              <a:tr h="384048">
                <a:tc>
                  <a:txBody>
                    <a:bodyPr wrap="square"/>
                    <a:lstStyle/>
                    <a:p>
                      <a:r>
                        <a:rPr sz="950" b="0" i="0">
                          <a:solidFill>
                            <a:srgbClr val="202020"/>
                          </a:solidFill>
                          <a:latin typeface="Calibri"/>
                        </a:rPr>
                        <a:t>partial_objects_total</a:t>
                      </a:r>
                    </a:p>
                  </a:txBody>
                  <a:tcPr marT="12700" marB="12700">
                    <a:solidFill>
                      <a:srgbClr val="FFFFFF"/>
                    </a:solidFill>
                  </a:tcPr>
                </a:tc>
                <a:tc>
                  <a:txBody>
                    <a:bodyPr wrap="square"/>
                    <a:lstStyle/>
                    <a:p>
                      <a:r>
                        <a:rPr sz="950" b="0" i="0">
                          <a:solidFill>
                            <a:srgbClr val="202020"/>
                          </a:solidFill>
                          <a:latin typeface="Calibri"/>
                        </a:rPr>
                        <a:t>Object crawls marked PARTIAL (row cap or oversize file)</a:t>
                      </a:r>
                    </a:p>
                  </a:txBody>
                  <a:tcPr marT="12700" marB="12700">
                    <a:solidFill>
                      <a:srgbClr val="FFFFFF"/>
                    </a:solidFill>
                  </a:tcPr>
                </a:tc>
                <a:tc>
                  <a:txBody>
                    <a:bodyPr wrap="square"/>
                    <a:lstStyle/>
                    <a:p>
                      <a:r>
                        <a:rPr sz="950" b="0" i="0">
                          <a:solidFill>
                            <a:srgbClr val="202020"/>
                          </a:solidFill>
                          <a:latin typeface="Calibri"/>
                        </a:rPr>
                        <a:t>Any rise = a truncated crawl; that object's sweep is suppressed</a:t>
                      </a:r>
                    </a:p>
                  </a:txBody>
                  <a:tcPr marT="12700" marB="12700">
                    <a:solidFill>
                      <a:srgbClr val="FFFFFF"/>
                    </a:solidFill>
                  </a:tcPr>
                </a:tc>
              </a:tr>
              <a:tr h="384048">
                <a:tc>
                  <a:txBody>
                    <a:bodyPr wrap="square"/>
                    <a:lstStyle/>
                    <a:p>
                      <a:r>
                        <a:rPr sz="950" b="0" i="0">
                          <a:solidFill>
                            <a:srgbClr val="202020"/>
                          </a:solidFill>
                          <a:latin typeface="Calibri"/>
                        </a:rPr>
                        <a:t>sweeps_suppressed_total</a:t>
                      </a:r>
                    </a:p>
                  </a:txBody>
                  <a:tcPr marT="12700" marB="12700">
                    <a:solidFill>
                      <a:srgbClr val="F7F9FC"/>
                    </a:solidFill>
                  </a:tcPr>
                </a:tc>
                <a:tc>
                  <a:txBody>
                    <a:bodyPr wrap="square"/>
                    <a:lstStyle/>
                    <a:p>
                      <a:r>
                        <a:rPr sz="950" b="0" i="0">
                          <a:solidFill>
                            <a:srgbClr val="202020"/>
                          </a:solidFill>
                          <a:latin typeface="Calibri"/>
                        </a:rPr>
                        <a:t>Deletion sweeps skipped</a:t>
                      </a:r>
                    </a:p>
                  </a:txBody>
                  <a:tcPr marT="12700" marB="12700">
                    <a:solidFill>
                      <a:srgbClr val="F7F9FC"/>
                    </a:solidFill>
                  </a:tcPr>
                </a:tc>
                <a:tc>
                  <a:txBody>
                    <a:bodyPr wrap="square"/>
                    <a:lstStyle/>
                    <a:p>
                      <a:r>
                        <a:rPr sz="950" b="0" i="0">
                          <a:solidFill>
                            <a:srgbClr val="202020"/>
                          </a:solidFill>
                          <a:latin typeface="Calibri"/>
                        </a:rPr>
                        <a:t>A rise after a config change signals an over-tightened filter or an outage</a:t>
                      </a:r>
                    </a:p>
                  </a:txBody>
                  <a:tcPr marT="12700" marB="12700">
                    <a:solidFill>
                      <a:srgbClr val="F7F9FC"/>
                    </a:solidFill>
                  </a:tcPr>
                </a:tc>
              </a:tr>
              <a:tr h="384048">
                <a:tc>
                  <a:txBody>
                    <a:bodyPr wrap="square"/>
                    <a:lstStyle/>
                    <a:p>
                      <a:r>
                        <a:rPr sz="950" b="0" i="0">
                          <a:solidFill>
                            <a:srgbClr val="202020"/>
                          </a:solidFill>
                          <a:latin typeface="Calibri"/>
                        </a:rPr>
                        <a:t>throttled_429_total</a:t>
                      </a:r>
                    </a:p>
                  </a:txBody>
                  <a:tcPr marT="12700" marB="12700">
                    <a:solidFill>
                      <a:srgbClr val="FFFFFF"/>
                    </a:solidFill>
                  </a:tcPr>
                </a:tc>
                <a:tc>
                  <a:txBody>
                    <a:bodyPr wrap="square"/>
                    <a:lstStyle/>
                    <a:p>
                      <a:r>
                        <a:rPr sz="950" b="0" i="0">
                          <a:solidFill>
                            <a:srgbClr val="202020"/>
                          </a:solidFill>
                          <a:latin typeface="Calibri"/>
                        </a:rPr>
                        <a:t>Graph throttling responses</a:t>
                      </a:r>
                    </a:p>
                  </a:txBody>
                  <a:tcPr marT="12700" marB="12700">
                    <a:solidFill>
                      <a:srgbClr val="FFFFFF"/>
                    </a:solidFill>
                  </a:tcPr>
                </a:tc>
                <a:tc>
                  <a:txBody>
                    <a:bodyPr wrap="square"/>
                    <a:lstStyle/>
                    <a:p>
                      <a:r>
                        <a:rPr sz="950" b="0" i="0">
                          <a:solidFill>
                            <a:srgbClr val="202020"/>
                          </a:solidFill>
                          <a:latin typeface="Calibri"/>
                        </a:rPr>
                        <a:t>Sustained rise = you are pushing Graph too hard; see the 429 runbook</a:t>
                      </a:r>
                    </a:p>
                  </a:txBody>
                  <a:tcPr marT="12700" marB="12700">
                    <a:solidFill>
                      <a:srgbClr val="FFFFFF"/>
                    </a:solidFill>
                  </a:tcPr>
                </a:tc>
              </a:tr>
              <a:tr h="384048">
                <a:tc>
                  <a:txBody>
                    <a:bodyPr wrap="square"/>
                    <a:lstStyle/>
                    <a:p>
                      <a:r>
                        <a:rPr sz="950" b="0" i="0">
                          <a:solidFill>
                            <a:srgbClr val="202020"/>
                          </a:solidFill>
                          <a:latin typeface="Calibri"/>
                        </a:rPr>
                        <a:t>circuit_breaker_state{dependency}</a:t>
                      </a:r>
                    </a:p>
                  </a:txBody>
                  <a:tcPr marT="12700" marB="12700">
                    <a:solidFill>
                      <a:srgbClr val="F7F9FC"/>
                    </a:solidFill>
                  </a:tcPr>
                </a:tc>
                <a:tc>
                  <a:txBody>
                    <a:bodyPr wrap="square"/>
                    <a:lstStyle/>
                    <a:p>
                      <a:r>
                        <a:rPr sz="950" b="0" i="0">
                          <a:solidFill>
                            <a:srgbClr val="202020"/>
                          </a:solidFill>
                          <a:latin typeface="Calibri"/>
                        </a:rPr>
                        <a:t>Per-dependency breaker: 0 closed, 1 half-open, 2 open (hdfs, graph)</a:t>
                      </a:r>
                    </a:p>
                  </a:txBody>
                  <a:tcPr marT="12700" marB="12700">
                    <a:solidFill>
                      <a:srgbClr val="F7F9FC"/>
                    </a:solidFill>
                  </a:tcPr>
                </a:tc>
                <a:tc>
                  <a:txBody>
                    <a:bodyPr wrap="square"/>
                    <a:lstStyle/>
                    <a:p>
                      <a:r>
                        <a:rPr sz="950" b="0" i="0">
                          <a:solidFill>
                            <a:srgbClr val="202020"/>
                          </a:solidFill>
                          <a:latin typeface="Calibri"/>
                        </a:rPr>
                        <a:t>2 for more than a few minutes = a real source or Graph outage</a:t>
                      </a:r>
                    </a:p>
                  </a:txBody>
                  <a:tcPr marT="12700" marB="12700">
                    <a:solidFill>
                      <a:srgbClr val="F7F9FC"/>
                    </a:solidFill>
                  </a:tcPr>
                </a:tc>
              </a:tr>
              <a:tr h="384048">
                <a:tc>
                  <a:txBody>
                    <a:bodyPr wrap="square"/>
                    <a:lstStyle/>
                    <a:p>
                      <a:r>
                        <a:rPr sz="950" b="0" i="0">
                          <a:solidFill>
                            <a:srgbClr val="202020"/>
                          </a:solidFill>
                          <a:latin typeface="Calibri"/>
                        </a:rPr>
                        <a:t>dead_letter_depth</a:t>
                      </a:r>
                    </a:p>
                  </a:txBody>
                  <a:tcPr marT="12700" marB="12700">
                    <a:solidFill>
                      <a:srgbClr val="FFFFFF"/>
                    </a:solidFill>
                  </a:tcPr>
                </a:tc>
                <a:tc>
                  <a:txBody>
                    <a:bodyPr wrap="square"/>
                    <a:lstStyle/>
                    <a:p>
                      <a:r>
                        <a:rPr sz="950" b="0" i="0">
                          <a:solidFill>
                            <a:srgbClr val="202020"/>
                          </a:solidFill>
                          <a:latin typeface="Calibri"/>
                        </a:rPr>
                        <a:t>Live dead-letter queue depth</a:t>
                      </a:r>
                    </a:p>
                  </a:txBody>
                  <a:tcPr marT="12700" marB="12700">
                    <a:solidFill>
                      <a:srgbClr val="FFFFFF"/>
                    </a:solidFill>
                  </a:tcPr>
                </a:tc>
                <a:tc>
                  <a:txBody>
                    <a:bodyPr wrap="square"/>
                    <a:lstStyle/>
                    <a:p>
                      <a:r>
                        <a:rPr sz="950" b="0" i="0">
                          <a:solidFill>
                            <a:srgbClr val="202020"/>
                          </a:solidFill>
                          <a:latin typeface="Calibri"/>
                        </a:rPr>
                        <a:t>Anything above 0 for an hour deserves a look</a:t>
                      </a:r>
                    </a:p>
                  </a:txBody>
                  <a:tcPr marT="12700" marB="12700">
                    <a:solidFill>
                      <a:srgbClr val="FFFFFF"/>
                    </a:solidFill>
                  </a:tcPr>
                </a:tc>
              </a:tr>
              <a:tr h="384048">
                <a:tc>
                  <a:txBody>
                    <a:bodyPr wrap="square"/>
                    <a:lstStyle/>
                    <a:p>
                      <a:r>
                        <a:rPr sz="950" b="0" i="0">
                          <a:solidFill>
                            <a:srgbClr val="202020"/>
                          </a:solidFill>
                          <a:latin typeface="Calibri"/>
                        </a:rPr>
                        <a:t>last_crawl_completed_timestamp_seconds</a:t>
                      </a:r>
                    </a:p>
                  </a:txBody>
                  <a:tcPr marT="12700" marB="12700">
                    <a:solidFill>
                      <a:srgbClr val="F7F9FC"/>
                    </a:solidFill>
                  </a:tcPr>
                </a:tc>
                <a:tc>
                  <a:txBody>
                    <a:bodyPr wrap="square"/>
                    <a:lstStyle/>
                    <a:p>
                      <a:r>
                        <a:rPr sz="950" b="0" i="0">
                          <a:solidFill>
                            <a:srgbClr val="202020"/>
                          </a:solidFill>
                          <a:latin typeface="Calibri"/>
                        </a:rPr>
                        <a:t>When a crawl last finished</a:t>
                      </a:r>
                    </a:p>
                  </a:txBody>
                  <a:tcPr marT="12700" marB="12700">
                    <a:solidFill>
                      <a:srgbClr val="F7F9FC"/>
                    </a:solidFill>
                  </a:tcPr>
                </a:tc>
                <a:tc>
                  <a:txBody>
                    <a:bodyPr wrap="square"/>
                    <a:lstStyle/>
                    <a:p>
                      <a:r>
                        <a:rPr sz="950" b="0" i="0">
                          <a:solidFill>
                            <a:srgbClr val="202020"/>
                          </a:solidFill>
                          <a:latin typeface="Calibri"/>
                        </a:rPr>
                        <a:t>Age beyond ~26 h trips WatermarkStale</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802</a:t>
            </a:r>
          </a:p>
        </p:txBody>
      </p:sp>
    </p:spTree>
  </p:cSld>
  <p:clrMapOvr>
    <a:masterClrMapping/>
  </p:clrMapOvr>
</p:sld>
</file>

<file path=ppt/slides/slide8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12.2 The metrics that matter here (cont.)</a:t>
            </a:r>
          </a:p>
        </p:txBody>
      </p:sp>
      <p:graphicFrame>
        <p:nvGraphicFramePr>
          <p:cNvPr id="5" name="Table 4"/>
          <p:cNvGraphicFramePr>
            <a:graphicFrameLocks noGrp="1"/>
          </p:cNvGraphicFramePr>
          <p:nvPr/>
        </p:nvGraphicFramePr>
        <p:xfrm>
          <a:off x="502920" y="1188720"/>
          <a:ext cx="11185855" cy="1152144"/>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Metric</a:t>
                      </a:r>
                    </a:p>
                  </a:txBody>
                  <a:tcPr marT="25400" marB="25400">
                    <a:solidFill>
                      <a:srgbClr val="2E5496"/>
                    </a:solidFill>
                  </a:tcPr>
                </a:tc>
                <a:tc>
                  <a:txBody>
                    <a:bodyPr wrap="square"/>
                    <a:lstStyle/>
                    <a:p>
                      <a:r>
                        <a:rPr sz="1050" b="1" i="0">
                          <a:solidFill>
                            <a:srgbClr val="FFFFFF"/>
                          </a:solidFill>
                          <a:latin typeface="Calibri"/>
                        </a:rPr>
                        <a:t>What it measures</a:t>
                      </a:r>
                    </a:p>
                  </a:txBody>
                  <a:tcPr marT="25400" marB="25400">
                    <a:solidFill>
                      <a:srgbClr val="2E5496"/>
                    </a:solidFill>
                  </a:tcPr>
                </a:tc>
                <a:tc>
                  <a:txBody>
                    <a:bodyPr wrap="square"/>
                    <a:lstStyle/>
                    <a:p>
                      <a:r>
                        <a:rPr sz="1050" b="1" i="0">
                          <a:solidFill>
                            <a:srgbClr val="FFFFFF"/>
                          </a:solidFill>
                          <a:latin typeface="Calibri"/>
                        </a:rPr>
                        <a:t>What to watch for</a:t>
                      </a:r>
                    </a:p>
                  </a:txBody>
                  <a:tcPr marT="25400" marB="25400">
                    <a:solidFill>
                      <a:srgbClr val="2E5496"/>
                    </a:solidFill>
                  </a:tcPr>
                </a:tc>
              </a:tr>
              <a:tr h="384048">
                <a:tc>
                  <a:txBody>
                    <a:bodyPr wrap="square"/>
                    <a:lstStyle/>
                    <a:p>
                      <a:r>
                        <a:rPr sz="950" b="0" i="0">
                          <a:solidFill>
                            <a:srgbClr val="202020"/>
                          </a:solidFill>
                          <a:latin typeface="Calibri"/>
                        </a:rPr>
                        <a:t>items_ingested_total / items_deleted_total</a:t>
                      </a:r>
                    </a:p>
                  </a:txBody>
                  <a:tcPr marT="12700" marB="12700">
                    <a:solidFill>
                      <a:srgbClr val="FFFFFF"/>
                    </a:solidFill>
                  </a:tcPr>
                </a:tc>
                <a:tc>
                  <a:txBody>
                    <a:bodyPr wrap="square"/>
                    <a:lstStyle/>
                    <a:p>
                      <a:r>
                        <a:rPr sz="950" b="0" i="0">
                          <a:solidFill>
                            <a:srgbClr val="202020"/>
                          </a:solidFill>
                          <a:latin typeface="Calibri"/>
                        </a:rPr>
                        <a:t>Items written / withdrawn</a:t>
                      </a:r>
                    </a:p>
                  </a:txBody>
                  <a:tcPr marT="12700" marB="12700">
                    <a:solidFill>
                      <a:srgbClr val="FFFFFF"/>
                    </a:solidFill>
                  </a:tcPr>
                </a:tc>
                <a:tc>
                  <a:txBody>
                    <a:bodyPr wrap="square"/>
                    <a:lstStyle/>
                    <a:p>
                      <a:r>
                        <a:rPr sz="950" b="0" i="0">
                          <a:solidFill>
                            <a:srgbClr val="202020"/>
                          </a:solidFill>
                          <a:latin typeface="Calibri"/>
                        </a:rPr>
                        <a:t>Baseline throughput; a large delete count is worth explaining</a:t>
                      </a:r>
                    </a:p>
                  </a:txBody>
                  <a:tcPr marT="12700" marB="12700">
                    <a:solidFill>
                      <a:srgbClr val="FFFFFF"/>
                    </a:solidFill>
                  </a:tcPr>
                </a:tc>
              </a:tr>
              <a:tr h="384048">
                <a:tc>
                  <a:txBody>
                    <a:bodyPr wrap="square"/>
                    <a:lstStyle/>
                    <a:p>
                      <a:r>
                        <a:rPr sz="950" b="0" i="0">
                          <a:solidFill>
                            <a:srgbClr val="202020"/>
                          </a:solidFill>
                          <a:latin typeface="Calibri"/>
                        </a:rPr>
                        <a:t>hdfs_calls_total</a:t>
                      </a:r>
                    </a:p>
                  </a:txBody>
                  <a:tcPr marT="12700" marB="12700">
                    <a:solidFill>
                      <a:srgbClr val="F7F9FC"/>
                    </a:solidFill>
                  </a:tcPr>
                </a:tc>
                <a:tc>
                  <a:txBody>
                    <a:bodyPr wrap="square"/>
                    <a:lstStyle/>
                    <a:p>
                      <a:r>
                        <a:rPr sz="950" b="0" i="0">
                          <a:solidFill>
                            <a:srgbClr val="202020"/>
                          </a:solidFill>
                          <a:latin typeface="Calibri"/>
                        </a:rPr>
                        <a:t>WebHDFS calls made (per attempt)</a:t>
                      </a:r>
                    </a:p>
                  </a:txBody>
                  <a:tcPr marT="12700" marB="12700">
                    <a:solidFill>
                      <a:srgbClr val="F7F9FC"/>
                    </a:solidFill>
                  </a:tcPr>
                </a:tc>
                <a:tc>
                  <a:txBody>
                    <a:bodyPr wrap="square"/>
                    <a:lstStyle/>
                    <a:p>
                      <a:r>
                        <a:rPr sz="950" b="0" i="0">
                          <a:solidFill>
                            <a:srgbClr val="202020"/>
                          </a:solidFill>
                          <a:latin typeface="Calibri"/>
                        </a:rPr>
                        <a:t>Spikes track retries / a flapping namenode</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803</a:t>
            </a:r>
          </a:p>
        </p:txBody>
      </p:sp>
    </p:spTree>
  </p:cSld>
  <p:clrMapOvr>
    <a:masterClrMapping/>
  </p:clrMapOvr>
</p:sld>
</file>

<file path=ppt/slides/slide8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12.3 Alerts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These ship in </a:t>
            </a:r>
            <a:r>
              <a:rPr sz="1200" b="0" i="0">
                <a:solidFill>
                  <a:srgbClr val="202020"/>
                </a:solidFill>
                <a:latin typeface="Consolas"/>
              </a:rPr>
              <a:t>ops/prometheus-alerts.yml</a:t>
            </a:r>
            <a:r>
              <a:rPr sz="1250" b="0" i="0">
                <a:solidFill>
                  <a:srgbClr val="202020"/>
                </a:solidFill>
                <a:latin typeface="Calibri"/>
              </a:rPr>
              <a:t> and </a:t>
            </a:r>
            <a:r>
              <a:rPr sz="1200" b="0" i="0">
                <a:solidFill>
                  <a:srgbClr val="202020"/>
                </a:solidFill>
                <a:latin typeface="Consolas"/>
              </a:rPr>
              <a:t>ops/azure-monitor-alerts.kql</a:t>
            </a:r>
            <a:r>
              <a:rPr sz="1250" b="0" i="0">
                <a:solidFill>
                  <a:srgbClr val="202020"/>
                </a:solidFill>
                <a:latin typeface="Calibri"/>
              </a:rPr>
              <a:t>, each keyed to a runbook in </a:t>
            </a:r>
            <a:r>
              <a:rPr sz="1250" b="1" i="0">
                <a:solidFill>
                  <a:srgbClr val="202020"/>
                </a:solidFill>
                <a:latin typeface="Calibri"/>
              </a:rPr>
              <a:t>Section 13</a:t>
            </a:r>
            <a:r>
              <a:rPr sz="1250" b="0" i="0">
                <a:solidFill>
                  <a:srgbClr val="202020"/>
                </a:solidFill>
                <a:latin typeface="Calibri"/>
              </a:rPr>
              <a:t>. The webhook feed (</a:t>
            </a:r>
            <a:r>
              <a:rPr sz="1200" b="0" i="0">
                <a:solidFill>
                  <a:srgbClr val="202020"/>
                </a:solidFill>
                <a:latin typeface="Consolas"/>
              </a:rPr>
              <a:t>ALERT_WEBHOOK_URL</a:t>
            </a:r>
            <a:r>
              <a:rPr sz="1250" b="0" i="0">
                <a:solidFill>
                  <a:srgbClr val="202020"/>
                </a:solidFill>
                <a:latin typeface="Calibri"/>
              </a:rPr>
              <a:t>) posts the same events as JSON.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804</a:t>
            </a:r>
          </a:p>
        </p:txBody>
      </p:sp>
    </p:spTree>
  </p:cSld>
  <p:clrMapOvr>
    <a:masterClrMapping/>
  </p:clrMapOvr>
</p:sld>
</file>

<file path=ppt/slides/slide8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12.3 Alerts</a:t>
            </a:r>
          </a:p>
        </p:txBody>
      </p:sp>
      <p:graphicFrame>
        <p:nvGraphicFramePr>
          <p:cNvPr id="5" name="Table 4"/>
          <p:cNvGraphicFramePr>
            <a:graphicFrameLocks noGrp="1"/>
          </p:cNvGraphicFramePr>
          <p:nvPr/>
        </p:nvGraphicFramePr>
        <p:xfrm>
          <a:off x="502920" y="1188720"/>
          <a:ext cx="11185855" cy="3456432"/>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Alert</a:t>
                      </a:r>
                    </a:p>
                  </a:txBody>
                  <a:tcPr marT="25400" marB="25400">
                    <a:solidFill>
                      <a:srgbClr val="2E5496"/>
                    </a:solidFill>
                  </a:tcPr>
                </a:tc>
                <a:tc>
                  <a:txBody>
                    <a:bodyPr wrap="square"/>
                    <a:lstStyle/>
                    <a:p>
                      <a:r>
                        <a:rPr sz="1050" b="1" i="0">
                          <a:solidFill>
                            <a:srgbClr val="FFFFFF"/>
                          </a:solidFill>
                          <a:latin typeface="Calibri"/>
                        </a:rPr>
                        <a:t>Fires when</a:t>
                      </a:r>
                    </a:p>
                  </a:txBody>
                  <a:tcPr marT="25400" marB="25400">
                    <a:solidFill>
                      <a:srgbClr val="2E5496"/>
                    </a:solidFill>
                  </a:tcPr>
                </a:tc>
                <a:tc>
                  <a:txBody>
                    <a:bodyPr wrap="square"/>
                    <a:lstStyle/>
                    <a:p>
                      <a:r>
                        <a:rPr sz="1050" b="1" i="0">
                          <a:solidFill>
                            <a:srgbClr val="FFFFFF"/>
                          </a:solidFill>
                          <a:latin typeface="Calibri"/>
                        </a:rPr>
                        <a:t>First action</a:t>
                      </a:r>
                    </a:p>
                  </a:txBody>
                  <a:tcPr marT="25400" marB="25400">
                    <a:solidFill>
                      <a:srgbClr val="2E5496"/>
                    </a:solidFill>
                  </a:tcPr>
                </a:tc>
              </a:tr>
              <a:tr h="384048">
                <a:tc>
                  <a:txBody>
                    <a:bodyPr wrap="square"/>
                    <a:lstStyle/>
                    <a:p>
                      <a:r>
                        <a:rPr sz="950" b="0" i="0">
                          <a:solidFill>
                            <a:srgbClr val="202020"/>
                          </a:solidFill>
                          <a:latin typeface="Calibri"/>
                        </a:rPr>
                        <a:t>GuardRefusalSpike</a:t>
                      </a:r>
                    </a:p>
                  </a:txBody>
                  <a:tcPr marT="12700" marB="12700">
                    <a:solidFill>
                      <a:srgbClr val="FFFFFF"/>
                    </a:solidFill>
                  </a:tcPr>
                </a:tc>
                <a:tc>
                  <a:txBody>
                    <a:bodyPr wrap="square"/>
                    <a:lstStyle/>
                    <a:p>
                      <a:r>
                        <a:rPr sz="950" b="0" i="0">
                          <a:solidFill>
                            <a:srgbClr val="202020"/>
                          </a:solidFill>
                          <a:latin typeface="Calibri"/>
                        </a:rPr>
                        <a:t>guard_refusals_total rises</a:t>
                      </a:r>
                    </a:p>
                  </a:txBody>
                  <a:tcPr marT="12700" marB="12700">
                    <a:solidFill>
                      <a:srgbClr val="FFFFFF"/>
                    </a:solidFill>
                  </a:tcPr>
                </a:tc>
                <a:tc>
                  <a:txBody>
                    <a:bodyPr wrap="square"/>
                    <a:lstStyle/>
                    <a:p>
                      <a:r>
                        <a:rPr sz="950" b="0" i="0">
                          <a:solidFill>
                            <a:srgbClr val="202020"/>
                          </a:solidFill>
                          <a:latin typeface="Calibri"/>
                        </a:rPr>
                        <a:t>An object lost its filter — fix filters.json (§13)</a:t>
                      </a:r>
                    </a:p>
                  </a:txBody>
                  <a:tcPr marT="12700" marB="12700">
                    <a:solidFill>
                      <a:srgbClr val="FFFFFF"/>
                    </a:solidFill>
                  </a:tcPr>
                </a:tc>
              </a:tr>
              <a:tr h="384048">
                <a:tc>
                  <a:txBody>
                    <a:bodyPr wrap="square"/>
                    <a:lstStyle/>
                    <a:p>
                      <a:r>
                        <a:rPr sz="950" b="0" i="0">
                          <a:solidFill>
                            <a:srgbClr val="202020"/>
                          </a:solidFill>
                          <a:latin typeface="Calibri"/>
                        </a:rPr>
                        <a:t>SweepSuppressed</a:t>
                      </a:r>
                    </a:p>
                  </a:txBody>
                  <a:tcPr marT="12700" marB="12700">
                    <a:solidFill>
                      <a:srgbClr val="F7F9FC"/>
                    </a:solidFill>
                  </a:tcPr>
                </a:tc>
                <a:tc>
                  <a:txBody>
                    <a:bodyPr wrap="square"/>
                    <a:lstStyle/>
                    <a:p>
                      <a:r>
                        <a:rPr sz="950" b="0" i="0">
                          <a:solidFill>
                            <a:srgbClr val="202020"/>
                          </a:solidFill>
                          <a:latin typeface="Calibri"/>
                        </a:rPr>
                        <a:t>sweeps_suppressed_total rises</a:t>
                      </a:r>
                    </a:p>
                  </a:txBody>
                  <a:tcPr marT="12700" marB="12700">
                    <a:solidFill>
                      <a:srgbClr val="F7F9FC"/>
                    </a:solidFill>
                  </a:tcPr>
                </a:tc>
                <a:tc>
                  <a:txBody>
                    <a:bodyPr wrap="square"/>
                    <a:lstStyle/>
                    <a:p>
                      <a:r>
                        <a:rPr sz="950" b="0" i="0">
                          <a:solidFill>
                            <a:srgbClr val="202020"/>
                          </a:solidFill>
                          <a:latin typeface="Calibri"/>
                        </a:rPr>
                        <a:t>A crawl was partial or a mass-deletion guard tripped — check why</a:t>
                      </a:r>
                    </a:p>
                  </a:txBody>
                  <a:tcPr marT="12700" marB="12700">
                    <a:solidFill>
                      <a:srgbClr val="F7F9FC"/>
                    </a:solidFill>
                  </a:tcPr>
                </a:tc>
              </a:tr>
              <a:tr h="384048">
                <a:tc>
                  <a:txBody>
                    <a:bodyPr wrap="square"/>
                    <a:lstStyle/>
                    <a:p>
                      <a:r>
                        <a:rPr sz="950" b="0" i="0">
                          <a:solidFill>
                            <a:srgbClr val="202020"/>
                          </a:solidFill>
                          <a:latin typeface="Calibri"/>
                        </a:rPr>
                        <a:t>WatermarkStale</a:t>
                      </a:r>
                    </a:p>
                  </a:txBody>
                  <a:tcPr marT="12700" marB="12700">
                    <a:solidFill>
                      <a:srgbClr val="FFFFFF"/>
                    </a:solidFill>
                  </a:tcPr>
                </a:tc>
                <a:tc>
                  <a:txBody>
                    <a:bodyPr wrap="square"/>
                    <a:lstStyle/>
                    <a:p>
                      <a:r>
                        <a:rPr sz="950" b="0" i="0">
                          <a:solidFill>
                            <a:srgbClr val="202020"/>
                          </a:solidFill>
                          <a:latin typeface="Calibri"/>
                        </a:rPr>
                        <a:t>Last crawl older than ~26 h</a:t>
                      </a:r>
                    </a:p>
                  </a:txBody>
                  <a:tcPr marT="12700" marB="12700">
                    <a:solidFill>
                      <a:srgbClr val="FFFFFF"/>
                    </a:solidFill>
                  </a:tcPr>
                </a:tc>
                <a:tc>
                  <a:txBody>
                    <a:bodyPr wrap="square"/>
                    <a:lstStyle/>
                    <a:p>
                      <a:r>
                        <a:rPr sz="950" b="0" i="0">
                          <a:solidFill>
                            <a:srgbClr val="202020"/>
                          </a:solidFill>
                          <a:latin typeface="Calibri"/>
                        </a:rPr>
                        <a:t>Did the nightly load land? Check the watermark and BDH_LAG_HOURS</a:t>
                      </a:r>
                    </a:p>
                  </a:txBody>
                  <a:tcPr marT="12700" marB="12700">
                    <a:solidFill>
                      <a:srgbClr val="FFFFFF"/>
                    </a:solidFill>
                  </a:tcPr>
                </a:tc>
              </a:tr>
              <a:tr h="384048">
                <a:tc>
                  <a:txBody>
                    <a:bodyPr wrap="square"/>
                    <a:lstStyle/>
                    <a:p>
                      <a:r>
                        <a:rPr sz="950" b="0" i="0">
                          <a:solidFill>
                            <a:srgbClr val="202020"/>
                          </a:solidFill>
                          <a:latin typeface="Calibri"/>
                        </a:rPr>
                        <a:t>BreakerOpen</a:t>
                      </a:r>
                    </a:p>
                  </a:txBody>
                  <a:tcPr marT="12700" marB="12700">
                    <a:solidFill>
                      <a:srgbClr val="F7F9FC"/>
                    </a:solidFill>
                  </a:tcPr>
                </a:tc>
                <a:tc>
                  <a:txBody>
                    <a:bodyPr wrap="square"/>
                    <a:lstStyle/>
                    <a:p>
                      <a:r>
                        <a:rPr sz="950" b="0" i="0">
                          <a:solidFill>
                            <a:srgbClr val="202020"/>
                          </a:solidFill>
                          <a:latin typeface="Calibri"/>
                        </a:rPr>
                        <a:t>circuit_breaker_state == 2</a:t>
                      </a:r>
                    </a:p>
                  </a:txBody>
                  <a:tcPr marT="12700" marB="12700">
                    <a:solidFill>
                      <a:srgbClr val="F7F9FC"/>
                    </a:solidFill>
                  </a:tcPr>
                </a:tc>
                <a:tc>
                  <a:txBody>
                    <a:bodyPr wrap="square"/>
                    <a:lstStyle/>
                    <a:p>
                      <a:r>
                        <a:rPr sz="950" b="0" i="0">
                          <a:solidFill>
                            <a:srgbClr val="202020"/>
                          </a:solidFill>
                          <a:latin typeface="Calibri"/>
                        </a:rPr>
                        <a:t>WebHDFS or Graph outage; the connector paused safely — fix the source</a:t>
                      </a:r>
                    </a:p>
                  </a:txBody>
                  <a:tcPr marT="12700" marB="12700">
                    <a:solidFill>
                      <a:srgbClr val="F7F9FC"/>
                    </a:solidFill>
                  </a:tcPr>
                </a:tc>
              </a:tr>
              <a:tr h="384048">
                <a:tc>
                  <a:txBody>
                    <a:bodyPr wrap="square"/>
                    <a:lstStyle/>
                    <a:p>
                      <a:r>
                        <a:rPr sz="950" b="0" i="0">
                          <a:solidFill>
                            <a:srgbClr val="202020"/>
                          </a:solidFill>
                          <a:latin typeface="Calibri"/>
                        </a:rPr>
                        <a:t>Throttle429Storm</a:t>
                      </a:r>
                    </a:p>
                  </a:txBody>
                  <a:tcPr marT="12700" marB="12700">
                    <a:solidFill>
                      <a:srgbClr val="FFFFFF"/>
                    </a:solidFill>
                  </a:tcPr>
                </a:tc>
                <a:tc>
                  <a:txBody>
                    <a:bodyPr wrap="square"/>
                    <a:lstStyle/>
                    <a:p>
                      <a:r>
                        <a:rPr sz="950" b="0" i="0">
                          <a:solidFill>
                            <a:srgbClr val="202020"/>
                          </a:solidFill>
                          <a:latin typeface="Calibri"/>
                        </a:rPr>
                        <a:t>throttled_429_total climbs fast</a:t>
                      </a:r>
                    </a:p>
                  </a:txBody>
                  <a:tcPr marT="12700" marB="12700">
                    <a:solidFill>
                      <a:srgbClr val="FFFFFF"/>
                    </a:solidFill>
                  </a:tcPr>
                </a:tc>
                <a:tc>
                  <a:txBody>
                    <a:bodyPr wrap="square"/>
                    <a:lstStyle/>
                    <a:p>
                      <a:r>
                        <a:rPr sz="950" b="0" i="0">
                          <a:solidFill>
                            <a:srgbClr val="202020"/>
                          </a:solidFill>
                          <a:latin typeface="Calibri"/>
                        </a:rPr>
                        <a:t>Lower GRAPH_BATCH_WORKERS / enable jitter / shard connections</a:t>
                      </a:r>
                    </a:p>
                  </a:txBody>
                  <a:tcPr marT="12700" marB="12700">
                    <a:solidFill>
                      <a:srgbClr val="FFFFFF"/>
                    </a:solidFill>
                  </a:tcPr>
                </a:tc>
              </a:tr>
              <a:tr h="384048">
                <a:tc>
                  <a:txBody>
                    <a:bodyPr wrap="square"/>
                    <a:lstStyle/>
                    <a:p>
                      <a:r>
                        <a:rPr sz="950" b="0" i="0">
                          <a:solidFill>
                            <a:srgbClr val="202020"/>
                          </a:solidFill>
                          <a:latin typeface="Calibri"/>
                        </a:rPr>
                        <a:t>DeadLetterGrowth</a:t>
                      </a:r>
                    </a:p>
                  </a:txBody>
                  <a:tcPr marT="12700" marB="12700">
                    <a:solidFill>
                      <a:srgbClr val="F7F9FC"/>
                    </a:solidFill>
                  </a:tcPr>
                </a:tc>
                <a:tc>
                  <a:txBody>
                    <a:bodyPr wrap="square"/>
                    <a:lstStyle/>
                    <a:p>
                      <a:r>
                        <a:rPr sz="950" b="0" i="0">
                          <a:solidFill>
                            <a:srgbClr val="202020"/>
                          </a:solidFill>
                          <a:latin typeface="Calibri"/>
                        </a:rPr>
                        <a:t>dead_letter_depth past the threshold</a:t>
                      </a:r>
                    </a:p>
                  </a:txBody>
                  <a:tcPr marT="12700" marB="12700">
                    <a:solidFill>
                      <a:srgbClr val="F7F9FC"/>
                    </a:solidFill>
                  </a:tcPr>
                </a:tc>
                <a:tc>
                  <a:txBody>
                    <a:bodyPr wrap="square"/>
                    <a:lstStyle/>
                    <a:p>
                      <a:r>
                        <a:rPr sz="950" b="0" i="0">
                          <a:solidFill>
                            <a:srgbClr val="202020"/>
                          </a:solidFill>
                          <a:latin typeface="Calibri"/>
                        </a:rPr>
                        <a:t>Read the queue, fix the cause, retry-failed</a:t>
                      </a:r>
                    </a:p>
                  </a:txBody>
                  <a:tcPr marT="12700" marB="12700">
                    <a:solidFill>
                      <a:srgbClr val="F7F9FC"/>
                    </a:solidFill>
                  </a:tcPr>
                </a:tc>
              </a:tr>
              <a:tr h="384048">
                <a:tc>
                  <a:txBody>
                    <a:bodyPr wrap="square"/>
                    <a:lstStyle/>
                    <a:p>
                      <a:r>
                        <a:rPr sz="950" b="0" i="0">
                          <a:solidFill>
                            <a:srgbClr val="202020"/>
                          </a:solidFill>
                          <a:latin typeface="Calibri"/>
                        </a:rPr>
                        <a:t>IdentityDirectoryIncomplete</a:t>
                      </a:r>
                    </a:p>
                  </a:txBody>
                  <a:tcPr marT="12700" marB="12700">
                    <a:solidFill>
                      <a:srgbClr val="FFFFFF"/>
                    </a:solidFill>
                  </a:tcPr>
                </a:tc>
                <a:tc>
                  <a:txBody>
                    <a:bodyPr wrap="square"/>
                    <a:lstStyle/>
                    <a:p>
                      <a:r>
                        <a:rPr sz="950" b="0" i="0">
                          <a:solidFill>
                            <a:srgbClr val="202020"/>
                          </a:solidFill>
                          <a:latin typeface="Calibri"/>
                        </a:rPr>
                        <a:t>identity_directory_incomplete webhook</a:t>
                      </a:r>
                    </a:p>
                  </a:txBody>
                  <a:tcPr marT="12700" marB="12700">
                    <a:solidFill>
                      <a:srgbClr val="FFFFFF"/>
                    </a:solidFill>
                  </a:tcPr>
                </a:tc>
                <a:tc>
                  <a:txBody>
                    <a:bodyPr wrap="square"/>
                    <a:lstStyle/>
                    <a:p>
                      <a:r>
                        <a:rPr sz="950" b="0" i="0">
                          <a:solidFill>
                            <a:srgbClr val="202020"/>
                          </a:solidFill>
                          <a:latin typeface="Calibri"/>
                        </a:rPr>
                        <a:t>The User export was partial — sync refused loudly (§13)</a:t>
                      </a:r>
                    </a:p>
                  </a:txBody>
                  <a:tcPr marT="12700" marB="12700">
                    <a:solidFill>
                      <a:srgbClr val="FFFFFF"/>
                    </a:solidFill>
                  </a:tcPr>
                </a:tc>
              </a:tr>
              <a:tr h="384048">
                <a:tc>
                  <a:txBody>
                    <a:bodyPr wrap="square"/>
                    <a:lstStyle/>
                    <a:p>
                      <a:r>
                        <a:rPr sz="950" b="0" i="0">
                          <a:solidFill>
                            <a:srgbClr val="202020"/>
                          </a:solidFill>
                          <a:latin typeface="Calibri"/>
                        </a:rPr>
                        <a:t>DelegationTokenCanary</a:t>
                      </a:r>
                    </a:p>
                  </a:txBody>
                  <a:tcPr marT="12700" marB="12700">
                    <a:solidFill>
                      <a:srgbClr val="F7F9FC"/>
                    </a:solidFill>
                  </a:tcPr>
                </a:tc>
                <a:tc>
                  <a:txBody>
                    <a:bodyPr wrap="square"/>
                    <a:lstStyle/>
                    <a:p>
                      <a:r>
                        <a:rPr sz="950" b="0" i="0">
                          <a:solidFill>
                            <a:srgbClr val="202020"/>
                          </a:solidFill>
                          <a:latin typeface="Calibri"/>
                        </a:rPr>
                        <a:t>Any log line contains delegation=</a:t>
                      </a:r>
                    </a:p>
                  </a:txBody>
                  <a:tcPr marT="12700" marB="12700">
                    <a:solidFill>
                      <a:srgbClr val="F7F9FC"/>
                    </a:solidFill>
                  </a:tcPr>
                </a:tc>
                <a:tc>
                  <a:txBody>
                    <a:bodyPr wrap="square"/>
                    <a:lstStyle/>
                    <a:p>
                      <a:r>
                        <a:rPr sz="950" b="0" i="0">
                          <a:solidFill>
                            <a:srgbClr val="202020"/>
                          </a:solidFill>
                          <a:latin typeface="Calibri"/>
                        </a:rPr>
                        <a:t>Security incident, not operational — escalate (§4.2)</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805</a:t>
            </a:r>
          </a:p>
        </p:txBody>
      </p:sp>
    </p:spTree>
  </p:cSld>
  <p:clrMapOvr>
    <a:masterClrMapping/>
  </p:clrMapOvr>
</p:sld>
</file>

<file path=ppt/slides/slide8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12.4 What good looks like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200"/>
              </a:spcAft>
            </a:pPr>
            <a:r>
              <a:rPr sz="1250" b="1" i="0">
                <a:solidFill>
                  <a:srgbClr val="2E5496"/>
                </a:solidFill>
                <a:latin typeface="Calibri"/>
              </a:rPr>
              <a:t>•  </a:t>
            </a:r>
            <a:r>
              <a:rPr sz="1200" b="0" i="0">
                <a:solidFill>
                  <a:srgbClr val="202020"/>
                </a:solidFill>
                <a:latin typeface="Consolas"/>
              </a:rPr>
              <a:t>partitions_pruned_total</a:t>
            </a:r>
            <a:r>
              <a:rPr sz="1250" b="0" i="0">
                <a:solidFill>
                  <a:srgbClr val="202020"/>
                </a:solidFill>
                <a:latin typeface="Calibri"/>
              </a:rPr>
              <a:t> far exceeds </a:t>
            </a:r>
            <a:r>
              <a:rPr sz="1200" b="0" i="0">
                <a:solidFill>
                  <a:srgbClr val="202020"/>
                </a:solidFill>
                <a:latin typeface="Consolas"/>
              </a:rPr>
              <a:t>partitions_scanned_total</a:t>
            </a:r>
            <a:r>
              <a:rPr sz="1250" b="0" i="0">
                <a:solidFill>
                  <a:srgbClr val="202020"/>
                </a:solidFill>
                <a:latin typeface="Calibri"/>
              </a:rPr>
              <a:t>, and </a:t>
            </a:r>
            <a:r>
              <a:rPr sz="1200" b="0" i="0">
                <a:solidFill>
                  <a:srgbClr val="202020"/>
                </a:solidFill>
                <a:latin typeface="Consolas"/>
              </a:rPr>
              <a:t>records_matched_total</a:t>
            </a:r>
            <a:r>
              <a:rPr sz="1250" b="0" i="0">
                <a:solidFill>
                  <a:srgbClr val="202020"/>
                </a:solidFill>
                <a:latin typeface="Calibri"/>
              </a:rPr>
              <a:t> is well below </a:t>
            </a:r>
            <a:r>
              <a:rPr sz="1200" b="0" i="0">
                <a:solidFill>
                  <a:srgbClr val="202020"/>
                </a:solidFill>
                <a:latin typeface="Consolas"/>
              </a:rPr>
              <a:t>records_scanned_total</a:t>
            </a:r>
            <a:r>
              <a:rPr sz="1250" b="0" i="0">
                <a:solidFill>
                  <a:srgbClr val="202020"/>
                </a:solidFill>
                <a:latin typeface="Calibri"/>
              </a:rPr>
              <a:t> — the filters are doing their job.</a:t>
            </a:r>
          </a:p>
          <a:p>
            <a:pPr>
              <a:spcBef>
                <a:spcPts val="100"/>
              </a:spcBef>
              <a:spcAft>
                <a:spcPts val="200"/>
              </a:spcAft>
            </a:pPr>
            <a:r>
              <a:rPr sz="1250" b="1" i="0">
                <a:solidFill>
                  <a:srgbClr val="2E5496"/>
                </a:solidFill>
                <a:latin typeface="Calibri"/>
              </a:rPr>
              <a:t>•  </a:t>
            </a:r>
            <a:r>
              <a:rPr sz="1200" b="0" i="0">
                <a:solidFill>
                  <a:srgbClr val="202020"/>
                </a:solidFill>
                <a:latin typeface="Consolas"/>
              </a:rPr>
              <a:t>guard_refusals_total</a:t>
            </a:r>
            <a:r>
              <a:rPr sz="1250" b="0" i="0">
                <a:solidFill>
                  <a:srgbClr val="202020"/>
                </a:solidFill>
                <a:latin typeface="Calibri"/>
              </a:rPr>
              <a:t>, </a:t>
            </a:r>
            <a:r>
              <a:rPr sz="1200" b="0" i="0">
                <a:solidFill>
                  <a:srgbClr val="202020"/>
                </a:solidFill>
                <a:latin typeface="Consolas"/>
              </a:rPr>
              <a:t>partial_objects_total</a:t>
            </a:r>
            <a:r>
              <a:rPr sz="1250" b="0" i="0">
                <a:solidFill>
                  <a:srgbClr val="202020"/>
                </a:solidFill>
                <a:latin typeface="Calibri"/>
              </a:rPr>
              <a:t> and </a:t>
            </a:r>
            <a:r>
              <a:rPr sz="1200" b="0" i="0">
                <a:solidFill>
                  <a:srgbClr val="202020"/>
                </a:solidFill>
                <a:latin typeface="Consolas"/>
              </a:rPr>
              <a:t>sweeps_suppressed_total</a:t>
            </a:r>
            <a:r>
              <a:rPr sz="1250" b="0" i="0">
                <a:solidFill>
                  <a:srgbClr val="202020"/>
                </a:solidFill>
                <a:latin typeface="Calibri"/>
              </a:rPr>
              <a:t> sit flat (ideally at 0).</a:t>
            </a:r>
          </a:p>
          <a:p>
            <a:pPr>
              <a:spcBef>
                <a:spcPts val="100"/>
              </a:spcBef>
              <a:spcAft>
                <a:spcPts val="200"/>
              </a:spcAft>
            </a:pPr>
            <a:r>
              <a:rPr sz="1250" b="1" i="0">
                <a:solidFill>
                  <a:srgbClr val="2E5496"/>
                </a:solidFill>
                <a:latin typeface="Calibri"/>
              </a:rPr>
              <a:t>•  </a:t>
            </a:r>
            <a:r>
              <a:rPr sz="1200" b="0" i="0">
                <a:solidFill>
                  <a:srgbClr val="202020"/>
                </a:solidFill>
                <a:latin typeface="Consolas"/>
              </a:rPr>
              <a:t>circuit_breaker_state</a:t>
            </a:r>
            <a:r>
              <a:rPr sz="1250" b="0" i="0">
                <a:solidFill>
                  <a:srgbClr val="202020"/>
                </a:solidFill>
                <a:latin typeface="Calibri"/>
              </a:rPr>
              <a:t> is 0 for both </a:t>
            </a:r>
            <a:r>
              <a:rPr sz="1200" b="0" i="0">
                <a:solidFill>
                  <a:srgbClr val="202020"/>
                </a:solidFill>
                <a:latin typeface="Consolas"/>
              </a:rPr>
              <a:t>hdfs</a:t>
            </a:r>
            <a:r>
              <a:rPr sz="1250" b="0" i="0">
                <a:solidFill>
                  <a:srgbClr val="202020"/>
                </a:solidFill>
                <a:latin typeface="Calibri"/>
              </a:rPr>
              <a:t> and </a:t>
            </a:r>
            <a:r>
              <a:rPr sz="1200" b="0" i="0">
                <a:solidFill>
                  <a:srgbClr val="202020"/>
                </a:solidFill>
                <a:latin typeface="Consolas"/>
              </a:rPr>
              <a:t>graph</a:t>
            </a:r>
            <a:r>
              <a:rPr sz="1250" b="0" i="0">
                <a:solidFill>
                  <a:srgbClr val="202020"/>
                </a:solidFill>
                <a:latin typeface="Calibri"/>
              </a:rPr>
              <a:t>; </a:t>
            </a:r>
            <a:r>
              <a:rPr sz="1200" b="0" i="0">
                <a:solidFill>
                  <a:srgbClr val="202020"/>
                </a:solidFill>
                <a:latin typeface="Consolas"/>
              </a:rPr>
              <a:t>/ready</a:t>
            </a:r>
            <a:r>
              <a:rPr sz="1250" b="0" i="0">
                <a:solidFill>
                  <a:srgbClr val="202020"/>
                </a:solidFill>
                <a:latin typeface="Calibri"/>
              </a:rPr>
              <a:t> returns 200.</a:t>
            </a:r>
          </a:p>
          <a:p>
            <a:pPr>
              <a:spcBef>
                <a:spcPts val="100"/>
              </a:spcBef>
              <a:spcAft>
                <a:spcPts val="200"/>
              </a:spcAft>
            </a:pPr>
            <a:r>
              <a:rPr sz="1250" b="1" i="0">
                <a:solidFill>
                  <a:srgbClr val="2E5496"/>
                </a:solidFill>
                <a:latin typeface="Calibri"/>
              </a:rPr>
              <a:t>•  </a:t>
            </a:r>
            <a:r>
              <a:rPr sz="1200" b="0" i="0">
                <a:solidFill>
                  <a:srgbClr val="202020"/>
                </a:solidFill>
                <a:latin typeface="Consolas"/>
              </a:rPr>
              <a:t>dead_letter_depth</a:t>
            </a:r>
            <a:r>
              <a:rPr sz="1250" b="0" i="0">
                <a:solidFill>
                  <a:srgbClr val="202020"/>
                </a:solidFill>
                <a:latin typeface="Calibri"/>
              </a:rPr>
              <a:t> is 0; </a:t>
            </a:r>
            <a:r>
              <a:rPr sz="1200" b="0" i="0">
                <a:solidFill>
                  <a:srgbClr val="202020"/>
                </a:solidFill>
                <a:latin typeface="Consolas"/>
              </a:rPr>
              <a:t>last_crawl_completed_timestamp_seconds</a:t>
            </a:r>
            <a:r>
              <a:rPr sz="1250" b="0" i="0">
                <a:solidFill>
                  <a:srgbClr val="202020"/>
                </a:solidFill>
                <a:latin typeface="Calibri"/>
              </a:rPr>
              <a:t> is under 26 h old.</a:t>
            </a:r>
          </a:p>
          <a:p>
            <a:pPr>
              <a:spcBef>
                <a:spcPts val="100"/>
              </a:spcBef>
              <a:spcAft>
                <a:spcPts val="200"/>
              </a:spcAft>
            </a:pPr>
            <a:r>
              <a:rPr sz="1250" b="1" i="0">
                <a:solidFill>
                  <a:srgbClr val="2E5496"/>
                </a:solidFill>
                <a:latin typeface="Calibri"/>
              </a:rPr>
              <a:t>•  </a:t>
            </a:r>
            <a:r>
              <a:rPr sz="1250" b="0" i="0">
                <a:solidFill>
                  <a:srgbClr val="202020"/>
                </a:solidFill>
                <a:latin typeface="Calibri"/>
              </a:rPr>
              <a:t>The delegation-token canary returns zero rows — forever.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806</a:t>
            </a:r>
          </a:p>
        </p:txBody>
      </p:sp>
    </p:spTree>
  </p:cSld>
  <p:clrMapOvr>
    <a:masterClrMapping/>
  </p:clrMapOvr>
</p:sld>
</file>

<file path=ppt/slides/slide8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Hadoop BDH Connector</a:t>
            </a:r>
          </a:p>
          <a:p>
            <a:r>
              <a:rPr sz="3000" b="1" i="0">
                <a:solidFill>
                  <a:srgbClr val="1F3864"/>
                </a:solidFill>
                <a:latin typeface="Calibri"/>
              </a:rPr>
              <a:t>13. Troubleshooting</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807</a:t>
            </a:r>
          </a:p>
        </p:txBody>
      </p:sp>
    </p:spTree>
  </p:cSld>
  <p:clrMapOvr>
    <a:masterClrMapping/>
  </p:clrMapOvr>
</p:sld>
</file>

<file path=ppt/slides/slide8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13. Troubleshooting</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most common failure modes, as symptom → likely cause → what to do. Each has a fuller Symptom → Diagnose → Remediate → Escalate entry in the shipped runbooks. The general escalation path is: connector operations owner → (source problems) BDH/Hadoop platform team → (index problems) M365 tenant admin.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808</a:t>
            </a:r>
          </a:p>
        </p:txBody>
      </p:sp>
    </p:spTree>
  </p:cSld>
  <p:clrMapOvr>
    <a:masterClrMapping/>
  </p:clrMapOvr>
</p:sld>
</file>

<file path=ppt/slides/slide8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13. Troubleshooting</a:t>
            </a:r>
          </a:p>
        </p:txBody>
      </p:sp>
      <p:graphicFrame>
        <p:nvGraphicFramePr>
          <p:cNvPr id="5" name="Table 4"/>
          <p:cNvGraphicFramePr>
            <a:graphicFrameLocks noGrp="1"/>
          </p:cNvGraphicFramePr>
          <p:nvPr/>
        </p:nvGraphicFramePr>
        <p:xfrm>
          <a:off x="502920" y="1188720"/>
          <a:ext cx="11185855" cy="422452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Symptom</a:t>
                      </a:r>
                    </a:p>
                  </a:txBody>
                  <a:tcPr marT="25400" marB="25400">
                    <a:solidFill>
                      <a:srgbClr val="2E5496"/>
                    </a:solidFill>
                  </a:tcPr>
                </a:tc>
                <a:tc>
                  <a:txBody>
                    <a:bodyPr wrap="square"/>
                    <a:lstStyle/>
                    <a:p>
                      <a:r>
                        <a:rPr sz="1050" b="1" i="0">
                          <a:solidFill>
                            <a:srgbClr val="FFFFFF"/>
                          </a:solidFill>
                          <a:latin typeface="Calibri"/>
                        </a:rPr>
                        <a:t>Likely cause</a:t>
                      </a:r>
                    </a:p>
                  </a:txBody>
                  <a:tcPr marT="25400" marB="25400">
                    <a:solidFill>
                      <a:srgbClr val="2E5496"/>
                    </a:solidFill>
                  </a:tcPr>
                </a:tc>
                <a:tc>
                  <a:txBody>
                    <a:bodyPr wrap="square"/>
                    <a:lstStyle/>
                    <a:p>
                      <a:r>
                        <a:rPr sz="1050" b="1" i="0">
                          <a:solidFill>
                            <a:srgbClr val="FFFFFF"/>
                          </a:solidFill>
                          <a:latin typeface="Calibri"/>
                        </a:rPr>
                        <a:t>What to do</a:t>
                      </a:r>
                    </a:p>
                  </a:txBody>
                  <a:tcPr marT="25400" marB="25400">
                    <a:solidFill>
                      <a:srgbClr val="2E5496"/>
                    </a:solidFill>
                  </a:tcPr>
                </a:tc>
              </a:tr>
              <a:tr h="384048">
                <a:tc>
                  <a:txBody>
                    <a:bodyPr wrap="square"/>
                    <a:lstStyle/>
                    <a:p>
                      <a:r>
                        <a:rPr sz="950" b="0" i="0">
                          <a:solidFill>
                            <a:srgbClr val="202020"/>
                          </a:solidFill>
                          <a:latin typeface="Calibri"/>
                        </a:rPr>
                        <a:t>Object refused: "has no filter configured"</a:t>
                      </a:r>
                    </a:p>
                  </a:txBody>
                  <a:tcPr marT="12700" marB="12700">
                    <a:solidFill>
                      <a:srgbClr val="FFFFFF"/>
                    </a:solidFill>
                  </a:tcPr>
                </a:tc>
                <a:tc>
                  <a:txBody>
                    <a:bodyPr wrap="square"/>
                    <a:lstStyle/>
                    <a:p>
                      <a:r>
                        <a:rPr sz="950" b="0" i="0">
                          <a:solidFill>
                            <a:srgbClr val="202020"/>
                          </a:solidFill>
                          <a:latin typeface="Calibri"/>
                        </a:rPr>
                        <a:t>Fail-closed guard — the object has no effective filter (or filters.json is missing / mis-pointed)</a:t>
                      </a:r>
                    </a:p>
                  </a:txBody>
                  <a:tcPr marT="12700" marB="12700">
                    <a:solidFill>
                      <a:srgbClr val="FFFFFF"/>
                    </a:solidFill>
                  </a:tcPr>
                </a:tc>
                <a:tc>
                  <a:txBody>
                    <a:bodyPr wrap="square"/>
                    <a:lstStyle/>
                    <a:p>
                      <a:r>
                        <a:rPr sz="950" b="0" i="0">
                          <a:solidFill>
                            <a:srgbClr val="202020"/>
                          </a:solidFill>
                          <a:latin typeface="Calibri"/>
                        </a:rPr>
                        <a:t>Add a real filter, validate-config --strict, redeploy. Do not exempt a large object (§7)</a:t>
                      </a:r>
                    </a:p>
                  </a:txBody>
                  <a:tcPr marT="12700" marB="12700">
                    <a:solidFill>
                      <a:srgbClr val="FFFFFF"/>
                    </a:solidFill>
                  </a:tcPr>
                </a:tc>
              </a:tr>
              <a:tr h="384048">
                <a:tc>
                  <a:txBody>
                    <a:bodyPr wrap="square"/>
                    <a:lstStyle/>
                    <a:p>
                      <a:r>
                        <a:rPr sz="950" b="0" i="0">
                          <a:solidFill>
                            <a:srgbClr val="202020"/>
                          </a:solidFill>
                          <a:latin typeface="Calibri"/>
                        </a:rPr>
                        <a:t>Crawl marked PARTIAL; row_cap_hit alert</a:t>
                      </a:r>
                    </a:p>
                  </a:txBody>
                  <a:tcPr marT="12700" marB="12700">
                    <a:solidFill>
                      <a:srgbClr val="F7F9FC"/>
                    </a:solidFill>
                  </a:tcPr>
                </a:tc>
                <a:tc>
                  <a:txBody>
                    <a:bodyPr wrap="square"/>
                    <a:lstStyle/>
                    <a:p>
                      <a:r>
                        <a:rPr sz="950" b="0" i="0">
                          <a:solidFill>
                            <a:srgbClr val="202020"/>
                          </a:solidFill>
                          <a:latin typeface="Calibri"/>
                        </a:rPr>
                        <a:t>The object matched more than BDH_MAX_RECORDS_PER_OBJECT</a:t>
                      </a:r>
                    </a:p>
                  </a:txBody>
                  <a:tcPr marT="12700" marB="12700">
                    <a:solidFill>
                      <a:srgbClr val="F7F9FC"/>
                    </a:solidFill>
                  </a:tcPr>
                </a:tc>
                <a:tc>
                  <a:txBody>
                    <a:bodyPr wrap="square"/>
                    <a:lstStyle/>
                    <a:p>
                      <a:r>
                        <a:rPr sz="950" b="0" i="0">
                          <a:solidFill>
                            <a:srgbClr val="202020"/>
                          </a:solidFill>
                          <a:latin typeface="Calibri"/>
                        </a:rPr>
                        <a:t>Tighten the filter (preferred) or raise the cap deliberately; the sweep stays suppressed until a full untruncated crawl</a:t>
                      </a:r>
                    </a:p>
                  </a:txBody>
                  <a:tcPr marT="12700" marB="12700">
                    <a:solidFill>
                      <a:srgbClr val="F7F9FC"/>
                    </a:solidFill>
                  </a:tcPr>
                </a:tc>
              </a:tr>
              <a:tr h="384048">
                <a:tc>
                  <a:txBody>
                    <a:bodyPr wrap="square"/>
                    <a:lstStyle/>
                    <a:p>
                      <a:r>
                        <a:rPr sz="950" b="0" i="0">
                          <a:solidFill>
                            <a:srgbClr val="202020"/>
                          </a:solidFill>
                          <a:latin typeface="Calibri"/>
                        </a:rPr>
                        <a:t>PARTIAL; "skipping oversize file"</a:t>
                      </a:r>
                    </a:p>
                  </a:txBody>
                  <a:tcPr marT="12700" marB="12700">
                    <a:solidFill>
                      <a:srgbClr val="FFFFFF"/>
                    </a:solidFill>
                  </a:tcPr>
                </a:tc>
                <a:tc>
                  <a:txBody>
                    <a:bodyPr wrap="square"/>
                    <a:lstStyle/>
                    <a:p>
                      <a:r>
                        <a:rPr sz="950" b="0" i="0">
                          <a:solidFill>
                            <a:srgbClr val="202020"/>
                          </a:solidFill>
                          <a:latin typeface="Calibri"/>
                        </a:rPr>
                        <a:t>A file exceeded BDH_MAX_FILE_BYTES; its rows were not read</a:t>
                      </a:r>
                    </a:p>
                  </a:txBody>
                  <a:tcPr marT="12700" marB="12700">
                    <a:solidFill>
                      <a:srgbClr val="FFFFFF"/>
                    </a:solidFill>
                  </a:tcPr>
                </a:tc>
                <a:tc>
                  <a:txBody>
                    <a:bodyPr wrap="square"/>
                    <a:lstStyle/>
                    <a:p>
                      <a:r>
                        <a:rPr sz="950" b="0" i="0">
                          <a:solidFill>
                            <a:srgbClr val="202020"/>
                          </a:solidFill>
                          <a:latin typeface="Calibri"/>
                        </a:rPr>
                        <a:t>Have the BDH team re-land/re-partition the file, or raise the bound deliberately; then run reconcile --type X --fix</a:t>
                      </a:r>
                    </a:p>
                  </a:txBody>
                  <a:tcPr marT="12700" marB="12700">
                    <a:solidFill>
                      <a:srgbClr val="FFFFFF"/>
                    </a:solidFill>
                  </a:tcPr>
                </a:tc>
              </a:tr>
              <a:tr h="384048">
                <a:tc>
                  <a:txBody>
                    <a:bodyPr wrap="square"/>
                    <a:lstStyle/>
                    <a:p>
                      <a:r>
                        <a:rPr sz="950" b="0" i="0">
                          <a:solidFill>
                            <a:srgbClr val="202020"/>
                          </a:solidFill>
                          <a:latin typeface="Calibri"/>
                        </a:rPr>
                        <a:t>Identity sync refuses; identity_directory_incomplete</a:t>
                      </a:r>
                    </a:p>
                  </a:txBody>
                  <a:tcPr marT="12700" marB="12700">
                    <a:solidFill>
                      <a:srgbClr val="F7F9FC"/>
                    </a:solidFill>
                  </a:tcPr>
                </a:tc>
                <a:tc>
                  <a:txBody>
                    <a:bodyPr wrap="square"/>
                    <a:lstStyle/>
                    <a:p>
                      <a:r>
                        <a:rPr sz="950" b="0" i="0">
                          <a:solidFill>
                            <a:srgbClr val="202020"/>
                          </a:solidFill>
                          <a:latin typeface="Calibri"/>
                        </a:rPr>
                        <a:t>The User export was truncated or hit an oversize file — refusing is intentional</a:t>
                      </a:r>
                    </a:p>
                  </a:txBody>
                  <a:tcPr marT="12700" marB="12700">
                    <a:solidFill>
                      <a:srgbClr val="F7F9FC"/>
                    </a:solidFill>
                  </a:tcPr>
                </a:tc>
                <a:tc>
                  <a:txBody>
                    <a:bodyPr wrap="square"/>
                    <a:lstStyle/>
                    <a:p>
                      <a:r>
                        <a:rPr sz="950" b="0" i="0">
                          <a:solidFill>
                            <a:srgbClr val="202020"/>
                          </a:solidFill>
                          <a:latin typeface="Calibri"/>
                        </a:rPr>
                        <a:t>Raise the row cap / file bound for the identity object, or narrow the User export; re-run identity-dry-run --save</a:t>
                      </a:r>
                    </a:p>
                  </a:txBody>
                  <a:tcPr marT="12700" marB="12700">
                    <a:solidFill>
                      <a:srgbClr val="F7F9FC"/>
                    </a:solidFill>
                  </a:tcPr>
                </a:tc>
              </a:tr>
              <a:tr h="384048">
                <a:tc>
                  <a:txBody>
                    <a:bodyPr wrap="square"/>
                    <a:lstStyle/>
                    <a:p>
                      <a:r>
                        <a:rPr sz="950" b="0" i="0">
                          <a:solidFill>
                            <a:srgbClr val="202020"/>
                          </a:solidFill>
                          <a:latin typeface="Consolas"/>
                        </a:rPr>
                        <a:t>/ready 503 DEGRADED; breaker hdfs = 2</a:t>
                      </a:r>
                    </a:p>
                  </a:txBody>
                  <a:tcPr marT="12700" marB="12700">
                    <a:solidFill>
                      <a:srgbClr val="FFFFFF"/>
                    </a:solidFill>
                  </a:tcPr>
                </a:tc>
                <a:tc>
                  <a:txBody>
                    <a:bodyPr wrap="square"/>
                    <a:lstStyle/>
                    <a:p>
                      <a:r>
                        <a:rPr sz="950" b="0" i="0">
                          <a:solidFill>
                            <a:srgbClr val="202020"/>
                          </a:solidFill>
                          <a:latin typeface="Calibri"/>
                        </a:rPr>
                        <a:t>Sustained WebHDFS failures (namenode/Knox/network)</a:t>
                      </a:r>
                    </a:p>
                  </a:txBody>
                  <a:tcPr marT="12700" marB="12700">
                    <a:solidFill>
                      <a:srgbClr val="FFFFFF"/>
                    </a:solidFill>
                  </a:tcPr>
                </a:tc>
                <a:tc>
                  <a:txBody>
                    <a:bodyPr wrap="square"/>
                    <a:lstStyle/>
                    <a:p>
                      <a:r>
                        <a:rPr sz="950" b="0" i="0">
                          <a:solidFill>
                            <a:srgbClr val="202020"/>
                          </a:solidFill>
                          <a:latin typeface="Calibri"/>
                        </a:rPr>
                        <a:t>Nothing to repair on the connector — it paused safely and resumes. Fix the source; watch the breaker reset</a:t>
                      </a:r>
                    </a:p>
                  </a:txBody>
                  <a:tcPr marT="12700" marB="12700">
                    <a:solidFill>
                      <a:srgbClr val="FFFFFF"/>
                    </a:solidFill>
                  </a:tcPr>
                </a:tc>
              </a:tr>
              <a:tr h="384048">
                <a:tc>
                  <a:txBody>
                    <a:bodyPr wrap="square"/>
                    <a:lstStyle/>
                    <a:p>
                      <a:r>
                        <a:rPr sz="950" b="0" i="0">
                          <a:solidFill>
                            <a:srgbClr val="202020"/>
                          </a:solidFill>
                          <a:latin typeface="Calibri"/>
                        </a:rPr>
                        <a:t>Incremental shows "Partitions 0 scanned"; WatermarkStale</a:t>
                      </a:r>
                    </a:p>
                  </a:txBody>
                  <a:tcPr marT="12700" marB="12700">
                    <a:solidFill>
                      <a:srgbClr val="F7F9FC"/>
                    </a:solidFill>
                  </a:tcPr>
                </a:tc>
                <a:tc>
                  <a:txBody>
                    <a:bodyPr wrap="square"/>
                    <a:lstStyle/>
                    <a:p>
                      <a:r>
                        <a:rPr sz="950" b="0" i="0">
                          <a:solidFill>
                            <a:srgbClr val="202020"/>
                          </a:solidFill>
                          <a:latin typeface="Calibri"/>
                        </a:rPr>
                        <a:t>Nightly load did not run / landed late, watermark ahead, or BDH_LAG_HOURS too small</a:t>
                      </a:r>
                    </a:p>
                  </a:txBody>
                  <a:tcPr marT="12700" marB="12700">
                    <a:solidFill>
                      <a:srgbClr val="F7F9FC"/>
                    </a:solidFill>
                  </a:tcPr>
                </a:tc>
                <a:tc>
                  <a:txBody>
                    <a:bodyPr wrap="square"/>
                    <a:lstStyle/>
                    <a:p>
                      <a:r>
                        <a:rPr sz="950" b="0" i="0">
                          <a:solidFill>
                            <a:srgbClr val="202020"/>
                          </a:solidFill>
                          <a:latin typeface="Calibri"/>
                        </a:rPr>
                        <a:t>Check for a fresh dt= folder; a late load self-heals next cycle; if a window was skipped, force a full crawl</a:t>
                      </a:r>
                    </a:p>
                  </a:txBody>
                  <a:tcPr marT="12700" marB="12700">
                    <a:solidFill>
                      <a:srgbClr val="F7F9FC"/>
                    </a:solidFill>
                  </a:tcPr>
                </a:tc>
              </a:tr>
              <a:tr h="384048">
                <a:tc>
                  <a:txBody>
                    <a:bodyPr wrap="square"/>
                    <a:lstStyle/>
                    <a:p>
                      <a:r>
                        <a:rPr sz="950" b="0" i="0">
                          <a:solidFill>
                            <a:srgbClr val="202020"/>
                          </a:solidFill>
                          <a:latin typeface="Calibri"/>
                        </a:rPr>
                        <a:t>dead_letter_depth climbing</a:t>
                      </a:r>
                    </a:p>
                  </a:txBody>
                  <a:tcPr marT="12700" marB="12700">
                    <a:solidFill>
                      <a:srgbClr val="FFFFFF"/>
                    </a:solidFill>
                  </a:tcPr>
                </a:tc>
                <a:tc>
                  <a:txBody>
                    <a:bodyPr wrap="square"/>
                    <a:lstStyle/>
                    <a:p>
                      <a:r>
                        <a:rPr sz="950" b="0" i="0">
                          <a:solidFill>
                            <a:srgbClr val="202020"/>
                          </a:solidFill>
                          <a:latin typeface="Calibri"/>
                        </a:rPr>
                        <a:t>Schema/property mismatch, conversion errors, or Graph 4xx on items</a:t>
                      </a:r>
                    </a:p>
                  </a:txBody>
                  <a:tcPr marT="12700" marB="12700">
                    <a:solidFill>
                      <a:srgbClr val="FFFFFF"/>
                    </a:solidFill>
                  </a:tcPr>
                </a:tc>
                <a:tc>
                  <a:txBody>
                    <a:bodyPr wrap="square"/>
                    <a:lstStyle/>
                    <a:p>
                      <a:r>
                        <a:rPr sz="950" b="0" i="0">
                          <a:solidFill>
                            <a:srgbClr val="202020"/>
                          </a:solidFill>
                          <a:latin typeface="Calibri"/>
                        </a:rPr>
                        <a:t>Read the queue's error field (it clusters), fix the cause, retry-failed --clear-on-success</a:t>
                      </a:r>
                    </a:p>
                  </a:txBody>
                  <a:tcPr marT="12700" marB="12700">
                    <a:solidFill>
                      <a:srgbClr val="FFFFFF"/>
                    </a:solidFill>
                  </a:tcPr>
                </a:tc>
              </a:tr>
              <a:tr h="384048">
                <a:tc>
                  <a:txBody>
                    <a:bodyPr wrap="square"/>
                    <a:lstStyle/>
                    <a:p>
                      <a:r>
                        <a:rPr sz="950" b="0" i="0">
                          <a:solidFill>
                            <a:srgbClr val="202020"/>
                          </a:solidFill>
                          <a:latin typeface="Calibri"/>
                        </a:rPr>
                        <a:t>retry-failed leaves entries with "lookup incomplete"</a:t>
                      </a:r>
                    </a:p>
                  </a:txBody>
                  <a:tcPr marT="12700" marB="12700">
                    <a:solidFill>
                      <a:srgbClr val="F7F9FC"/>
                    </a:solidFill>
                  </a:tcPr>
                </a:tc>
                <a:tc>
                  <a:txBody>
                    <a:bodyPr wrap="square"/>
                    <a:lstStyle/>
                    <a:p>
                      <a:r>
                        <a:rPr sz="950" b="0" i="0">
                          <a:solidFill>
                            <a:srgbClr val="202020"/>
                          </a:solidFill>
                          <a:latin typeface="Calibri"/>
                        </a:rPr>
                        <a:t>The id-lookup had to skip an oversize file, so a miss is unproven</a:t>
                      </a:r>
                    </a:p>
                  </a:txBody>
                  <a:tcPr marT="12700" marB="12700">
                    <a:solidFill>
                      <a:srgbClr val="F7F9FC"/>
                    </a:solidFill>
                  </a:tcPr>
                </a:tc>
                <a:tc>
                  <a:txBody>
                    <a:bodyPr wrap="square"/>
                    <a:lstStyle/>
                    <a:p>
                      <a:r>
                        <a:rPr sz="950" b="0" i="0">
                          <a:solidFill>
                            <a:srgbClr val="202020"/>
                          </a:solidFill>
                          <a:latin typeface="Calibri"/>
                        </a:rPr>
                        <a:t>Resolve the oversize file first, then re-run — the lookup becomes conclusive</a:t>
                      </a:r>
                    </a:p>
                  </a:txBody>
                  <a:tcPr marT="12700" marB="12700">
                    <a:solidFill>
                      <a:srgbClr val="F7F9FC"/>
                    </a:solidFill>
                  </a:tcPr>
                </a:tc>
              </a:tr>
              <a:tr h="384048">
                <a:tc>
                  <a:txBody>
                    <a:bodyPr wrap="square"/>
                    <a:lstStyle/>
                    <a:p>
                      <a:r>
                        <a:rPr sz="950" b="0" i="0">
                          <a:solidFill>
                            <a:srgbClr val="202020"/>
                          </a:solidFill>
                          <a:latin typeface="Calibri"/>
                        </a:rPr>
                        <a:t>Zero records matched for an object</a:t>
                      </a:r>
                    </a:p>
                  </a:txBody>
                  <a:tcPr marT="12700" marB="12700">
                    <a:solidFill>
                      <a:srgbClr val="FFFFFF"/>
                    </a:solidFill>
                  </a:tcPr>
                </a:tc>
                <a:tc>
                  <a:txBody>
                    <a:bodyPr wrap="square"/>
                    <a:lstStyle/>
                    <a:p>
                      <a:r>
                        <a:rPr sz="950" b="0" i="0">
                          <a:solidFill>
                            <a:srgbClr val="202020"/>
                          </a:solidFill>
                          <a:latin typeface="Calibri"/>
                        </a:rPr>
                        <a:t>Over-tight record rules, a wrong field name, or a wrong root/partition key</a:t>
                      </a:r>
                    </a:p>
                  </a:txBody>
                  <a:tcPr marT="12700" marB="12700">
                    <a:solidFill>
                      <a:srgbClr val="FFFFFF"/>
                    </a:solidFill>
                  </a:tcPr>
                </a:tc>
                <a:tc>
                  <a:txBody>
                    <a:bodyPr wrap="square"/>
                    <a:lstStyle/>
                    <a:p>
                      <a:r>
                        <a:rPr sz="950" b="0" i="0">
                          <a:solidFill>
                            <a:srgbClr val="202020"/>
                          </a:solidFill>
                          <a:latin typeface="Calibri"/>
                        </a:rPr>
                        <a:t>Work down the per-object fetch log line (partitions, scanned, filtered); check field names exist in the export</a:t>
                      </a:r>
                    </a:p>
                  </a:txBody>
                  <a:tcPr marT="12700" marB="12700">
                    <a:solidFill>
                      <a:srgbClr val="FFFFFF"/>
                    </a:solidFill>
                  </a:tcPr>
                </a:tc>
              </a:tr>
              <a:tr h="384048">
                <a:tc>
                  <a:txBody>
                    <a:bodyPr wrap="square"/>
                    <a:lstStyle/>
                    <a:p>
                      <a:r>
                        <a:rPr sz="950" b="0" i="0">
                          <a:solidFill>
                            <a:srgbClr val="202020"/>
                          </a:solidFill>
                          <a:latin typeface="Calibri"/>
                        </a:rPr>
                        <a:t>throttled_429_total storm; throughput sags</a:t>
                      </a:r>
                    </a:p>
                  </a:txBody>
                  <a:tcPr marT="12700" marB="12700">
                    <a:solidFill>
                      <a:srgbClr val="F7F9FC"/>
                    </a:solidFill>
                  </a:tcPr>
                </a:tc>
                <a:tc>
                  <a:txBody>
                    <a:bodyPr wrap="square"/>
                    <a:lstStyle/>
                    <a:p>
                      <a:r>
                        <a:rPr sz="950" b="0" i="0">
                          <a:solidFill>
                            <a:srgbClr val="202020"/>
                          </a:solidFill>
                          <a:latin typeface="Calibri"/>
                        </a:rPr>
                        <a:t>Too many batch workers × shards × HA nodes for the tenant quota</a:t>
                      </a:r>
                    </a:p>
                  </a:txBody>
                  <a:tcPr marT="12700" marB="12700">
                    <a:solidFill>
                      <a:srgbClr val="F7F9FC"/>
                    </a:solidFill>
                  </a:tcPr>
                </a:tc>
                <a:tc>
                  <a:txBody>
                    <a:bodyPr wrap="square"/>
                    <a:lstStyle/>
                    <a:p>
                      <a:r>
                        <a:rPr sz="950" b="0" i="0">
                          <a:solidFill>
                            <a:srgbClr val="202020"/>
                          </a:solidFill>
                          <a:latin typeface="Calibri"/>
                        </a:rPr>
                        <a:t>Lower GRAPH_BATCH_WORKERS, set GRAPH_RETRY_JITTER=true, stagger schedules, or shard — never raise retries</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809</a:t>
            </a:r>
          </a:p>
        </p:txBody>
      </p:sp>
    </p:spTree>
  </p:cSld>
  <p:clrMapOvr>
    <a:masterClrMapping/>
  </p:clrMapOvr>
</p:sld>
</file>

<file path=ppt/slides/slide8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13. Troubleshooting (cont.)</a:t>
            </a:r>
          </a:p>
        </p:txBody>
      </p:sp>
      <p:graphicFrame>
        <p:nvGraphicFramePr>
          <p:cNvPr id="5" name="Table 4"/>
          <p:cNvGraphicFramePr>
            <a:graphicFrameLocks noGrp="1"/>
          </p:cNvGraphicFramePr>
          <p:nvPr/>
        </p:nvGraphicFramePr>
        <p:xfrm>
          <a:off x="502920" y="1188720"/>
          <a:ext cx="11185855" cy="1152144"/>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Symptom</a:t>
                      </a:r>
                    </a:p>
                  </a:txBody>
                  <a:tcPr marT="25400" marB="25400">
                    <a:solidFill>
                      <a:srgbClr val="2E5496"/>
                    </a:solidFill>
                  </a:tcPr>
                </a:tc>
                <a:tc>
                  <a:txBody>
                    <a:bodyPr wrap="square"/>
                    <a:lstStyle/>
                    <a:p>
                      <a:r>
                        <a:rPr sz="1050" b="1" i="0">
                          <a:solidFill>
                            <a:srgbClr val="FFFFFF"/>
                          </a:solidFill>
                          <a:latin typeface="Calibri"/>
                        </a:rPr>
                        <a:t>Likely cause</a:t>
                      </a:r>
                    </a:p>
                  </a:txBody>
                  <a:tcPr marT="25400" marB="25400">
                    <a:solidFill>
                      <a:srgbClr val="2E5496"/>
                    </a:solidFill>
                  </a:tcPr>
                </a:tc>
                <a:tc>
                  <a:txBody>
                    <a:bodyPr wrap="square"/>
                    <a:lstStyle/>
                    <a:p>
                      <a:r>
                        <a:rPr sz="1050" b="1" i="0">
                          <a:solidFill>
                            <a:srgbClr val="FFFFFF"/>
                          </a:solidFill>
                          <a:latin typeface="Calibri"/>
                        </a:rPr>
                        <a:t>What to do</a:t>
                      </a:r>
                    </a:p>
                  </a:txBody>
                  <a:tcPr marT="25400" marB="25400">
                    <a:solidFill>
                      <a:srgbClr val="2E5496"/>
                    </a:solidFill>
                  </a:tcPr>
                </a:tc>
              </a:tr>
              <a:tr h="384048">
                <a:tc>
                  <a:txBody>
                    <a:bodyPr wrap="square"/>
                    <a:lstStyle/>
                    <a:p>
                      <a:r>
                        <a:rPr sz="950" b="0" i="0">
                          <a:solidFill>
                            <a:srgbClr val="202020"/>
                          </a:solidFill>
                          <a:latin typeface="Calibri"/>
                        </a:rPr>
                        <a:t>"Graph auth" failures (401/invalid_client)</a:t>
                      </a:r>
                    </a:p>
                  </a:txBody>
                  <a:tcPr marT="12700" marB="12700">
                    <a:solidFill>
                      <a:srgbClr val="FFFFFF"/>
                    </a:solidFill>
                  </a:tcPr>
                </a:tc>
                <a:tc>
                  <a:txBody>
                    <a:bodyPr wrap="square"/>
                    <a:lstStyle/>
                    <a:p>
                      <a:r>
                        <a:rPr sz="950" b="0" i="0">
                          <a:solidFill>
                            <a:srgbClr val="202020"/>
                          </a:solidFill>
                          <a:latin typeface="Calibri"/>
                        </a:rPr>
                        <a:t>Expired secret, wrong tenant/client id, or a stale certificate (cert wins over secret)</a:t>
                      </a:r>
                    </a:p>
                  </a:txBody>
                  <a:tcPr marT="12700" marB="12700">
                    <a:solidFill>
                      <a:srgbClr val="FFFFFF"/>
                    </a:solidFill>
                  </a:tcPr>
                </a:tc>
                <a:tc>
                  <a:txBody>
                    <a:bodyPr wrap="square"/>
                    <a:lstStyle/>
                    <a:p>
                      <a:r>
                        <a:rPr sz="950" b="0" i="0">
                          <a:solidFill>
                            <a:srgbClr val="202020"/>
                          </a:solidFill>
                          <a:latin typeface="Calibri"/>
                        </a:rPr>
                        <a:t>Rotate per the runbooks in SECURITY.md; verify the logged auth mode; confirm the three permissions stay consented</a:t>
                      </a:r>
                    </a:p>
                  </a:txBody>
                  <a:tcPr marT="12700" marB="12700">
                    <a:solidFill>
                      <a:srgbClr val="FFFFFF"/>
                    </a:solidFill>
                  </a:tcPr>
                </a:tc>
              </a:tr>
              <a:tr h="384048">
                <a:tc>
                  <a:txBody>
                    <a:bodyPr wrap="square"/>
                    <a:lstStyle/>
                    <a:p>
                      <a:r>
                        <a:rPr sz="950" b="0" i="0">
                          <a:solidFill>
                            <a:srgbClr val="202020"/>
                          </a:solidFill>
                          <a:latin typeface="Calibri"/>
                        </a:rPr>
                        <a:t>Warnings: sync-state / checkpoint / dead-letter "corrupt"</a:t>
                      </a:r>
                    </a:p>
                  </a:txBody>
                  <a:tcPr marT="12700" marB="12700">
                    <a:solidFill>
                      <a:srgbClr val="F7F9FC"/>
                    </a:solidFill>
                  </a:tcPr>
                </a:tc>
                <a:tc>
                  <a:txBody>
                    <a:bodyPr wrap="square"/>
                    <a:lstStyle/>
                    <a:p>
                      <a:r>
                        <a:rPr sz="950" b="0" i="0">
                          <a:solidFill>
                            <a:srgbClr val="202020"/>
                          </a:solidFill>
                          <a:latin typeface="Calibri"/>
                        </a:rPr>
                        <a:t>A file was torn (crash, disk-full, AV)</a:t>
                      </a:r>
                    </a:p>
                  </a:txBody>
                  <a:tcPr marT="12700" marB="12700">
                    <a:solidFill>
                      <a:srgbClr val="F7F9FC"/>
                    </a:solidFill>
                  </a:tcPr>
                </a:tc>
                <a:tc>
                  <a:txBody>
                    <a:bodyPr wrap="square"/>
                    <a:lstStyle/>
                    <a:p>
                      <a:r>
                        <a:rPr sz="950" b="0" i="0">
                          <a:solidFill>
                            <a:srgbClr val="202020"/>
                          </a:solidFill>
                          <a:latin typeface="Calibri"/>
                        </a:rPr>
                        <a:t>Usually nothing — the fail-safe already applied (wider re-read / restart from chunk 0 / skip one line). Restore from backup only if the re-read is too costly</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810</a:t>
            </a:r>
          </a:p>
        </p:txBody>
      </p:sp>
    </p:spTree>
  </p:cSld>
  <p:clrMapOvr>
    <a:masterClrMapping/>
  </p:clrMapOvr>
</p:sld>
</file>

<file path=ppt/slides/slide8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13. Troubleshooting</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Two BDH-specific behaviours are meant to be loud, so recognise them rather than "fixing" them:</a:t>
            </a:r>
          </a:p>
          <a:p>
            <a:pPr>
              <a:spcBef>
                <a:spcPts val="100"/>
              </a:spcBef>
              <a:spcAft>
                <a:spcPts val="200"/>
              </a:spcAft>
            </a:pPr>
            <a:r>
              <a:rPr sz="1250" b="1" i="0">
                <a:solidFill>
                  <a:srgbClr val="2E5496"/>
                </a:solidFill>
                <a:latin typeface="Calibri"/>
              </a:rPr>
              <a:t>•  </a:t>
            </a:r>
            <a:r>
              <a:rPr sz="1250" b="1" i="0">
                <a:solidFill>
                  <a:srgbClr val="202020"/>
                </a:solidFill>
                <a:latin typeface="Calibri"/>
              </a:rPr>
              <a:t>A guard refusal is the safety net, not a bug.</a:t>
            </a:r>
            <a:r>
              <a:rPr sz="1250" b="0" i="0">
                <a:solidFill>
                  <a:srgbClr val="202020"/>
                </a:solidFill>
                <a:latin typeface="Calibri"/>
              </a:rPr>
              <a:t> It protects you from a 150M-row scan. The fix is a filter, not an exemption.</a:t>
            </a:r>
          </a:p>
          <a:p>
            <a:pPr>
              <a:spcBef>
                <a:spcPts val="100"/>
              </a:spcBef>
              <a:spcAft>
                <a:spcPts val="200"/>
              </a:spcAft>
            </a:pPr>
            <a:r>
              <a:rPr sz="1250" b="1" i="0">
                <a:solidFill>
                  <a:srgbClr val="2E5496"/>
                </a:solidFill>
                <a:latin typeface="Calibri"/>
              </a:rPr>
              <a:t>•  </a:t>
            </a:r>
            <a:r>
              <a:rPr sz="1250" b="1" i="0">
                <a:solidFill>
                  <a:srgbClr val="202020"/>
                </a:solidFill>
                <a:latin typeface="Calibri"/>
              </a:rPr>
              <a:t>An incomplete identity directory refuses the whole sync on purpose.</a:t>
            </a:r>
            <a:r>
              <a:rPr sz="1250" b="0" i="0">
                <a:solidFill>
                  <a:srgbClr val="202020"/>
                </a:solidFill>
                <a:latin typeface="Calibri"/>
              </a:rPr>
              <a:t> A silently-partial user directory would apply coarse or fallback ACLs across the entire crawl — an access-control integrity failure. The loud refusal is correct; give the identity object the scale it needs and re-run.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811</a:t>
            </a:r>
          </a:p>
        </p:txBody>
      </p:sp>
    </p:spTree>
  </p:cSld>
  <p:clrMapOvr>
    <a:masterClrMapping/>
  </p:clrMapOvr>
</p:sld>
</file>

<file path=ppt/slides/slide8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Hadoop BDH Connector</a:t>
            </a:r>
          </a:p>
          <a:p>
            <a:r>
              <a:rPr sz="3000" b="1" i="0">
                <a:solidFill>
                  <a:srgbClr val="1F3864"/>
                </a:solidFill>
                <a:latin typeface="Calibri"/>
              </a:rPr>
              <a:t>14. Configuration reference</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812</a:t>
            </a:r>
          </a:p>
        </p:txBody>
      </p:sp>
    </p:spTree>
  </p:cSld>
  <p:clrMapOvr>
    <a:masterClrMapping/>
  </p:clrMapOvr>
</p:sld>
</file>

<file path=ppt/slides/slide8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 Configuration reference</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 settings you will use most. Secrets (</a:t>
            </a:r>
            <a:r>
              <a:rPr sz="1200" b="0" i="0">
                <a:solidFill>
                  <a:srgbClr val="202020"/>
                </a:solidFill>
                <a:latin typeface="Consolas"/>
              </a:rPr>
              <a:t>SECRET_*</a:t>
            </a:r>
            <a:r>
              <a:rPr sz="1250" b="0" i="0">
                <a:solidFill>
                  <a:srgbClr val="202020"/>
                </a:solidFill>
                <a:latin typeface="Calibri"/>
              </a:rPr>
              <a:t>, certificate passwords) live in </a:t>
            </a:r>
            <a:r>
              <a:rPr sz="1200" b="0" i="0">
                <a:solidFill>
                  <a:srgbClr val="202020"/>
                </a:solidFill>
                <a:latin typeface="Consolas"/>
              </a:rPr>
              <a:t>env/.env.local.user</a:t>
            </a:r>
            <a:r>
              <a:rPr sz="1250" b="0" i="0">
                <a:solidFill>
                  <a:srgbClr val="202020"/>
                </a:solidFill>
                <a:latin typeface="Calibri"/>
              </a:rPr>
              <a:t> or Key Vault, never in </a:t>
            </a:r>
            <a:r>
              <a:rPr sz="1200" b="0" i="0">
                <a:solidFill>
                  <a:srgbClr val="202020"/>
                </a:solidFill>
                <a:latin typeface="Consolas"/>
              </a:rPr>
              <a:t>.env.local</a:t>
            </a:r>
            <a:r>
              <a:rPr sz="1250" b="0" i="0">
                <a:solidFill>
                  <a:srgbClr val="202020"/>
                </a:solidFill>
                <a:latin typeface="Calibri"/>
              </a:rPr>
              <a:t>; a value already in the real process environment always wins over the files.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813</a:t>
            </a:r>
          </a:p>
        </p:txBody>
      </p:sp>
    </p:spTree>
  </p:cSld>
  <p:clrMapOvr>
    <a:masterClrMapping/>
  </p:clrMapOvr>
</p:sld>
</file>

<file path=ppt/slides/slide8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14.1 Core and identity</a:t>
            </a:r>
          </a:p>
        </p:txBody>
      </p:sp>
      <p:graphicFrame>
        <p:nvGraphicFramePr>
          <p:cNvPr id="5" name="Table 4"/>
          <p:cNvGraphicFramePr>
            <a:graphicFrameLocks noGrp="1"/>
          </p:cNvGraphicFramePr>
          <p:nvPr/>
        </p:nvGraphicFramePr>
        <p:xfrm>
          <a:off x="502920" y="1188720"/>
          <a:ext cx="11185855" cy="1536192"/>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c>
                  <a:txBody>
                    <a:bodyPr wrap="square"/>
                    <a:lstStyle/>
                    <a:p>
                      <a:r>
                        <a:rPr sz="1050" b="1" i="0">
                          <a:solidFill>
                            <a:srgbClr val="FFFFFF"/>
                          </a:solidFill>
                          <a:latin typeface="Calibri"/>
                        </a:rPr>
                        <a:t>Default / notes</a:t>
                      </a:r>
                    </a:p>
                  </a:txBody>
                  <a:tcPr marT="25400" marB="25400">
                    <a:solidFill>
                      <a:srgbClr val="2E5496"/>
                    </a:solidFill>
                  </a:tcPr>
                </a:tc>
              </a:tr>
              <a:tr h="384048">
                <a:tc>
                  <a:txBody>
                    <a:bodyPr wrap="square"/>
                    <a:lstStyle/>
                    <a:p>
                      <a:r>
                        <a:rPr sz="950" b="0" i="0">
                          <a:solidFill>
                            <a:srgbClr val="202020"/>
                          </a:solidFill>
                          <a:latin typeface="Consolas"/>
                        </a:rPr>
                        <a:t>CONNECTOR_ID</a:t>
                      </a:r>
                    </a:p>
                  </a:txBody>
                  <a:tcPr marT="12700" marB="12700">
                    <a:solidFill>
                      <a:srgbClr val="FFFFFF"/>
                    </a:solidFill>
                  </a:tcPr>
                </a:tc>
                <a:tc>
                  <a:txBody>
                    <a:bodyPr wrap="square"/>
                    <a:lstStyle/>
                    <a:p>
                      <a:r>
                        <a:rPr sz="950" b="0" i="0">
                          <a:solidFill>
                            <a:srgbClr val="202020"/>
                          </a:solidFill>
                          <a:latin typeface="Calibri"/>
                        </a:rPr>
                        <a:t>Unique id for the Graph connection and on-disk state</a:t>
                      </a:r>
                    </a:p>
                  </a:txBody>
                  <a:tcPr marT="12700" marB="12700">
                    <a:solidFill>
                      <a:srgbClr val="FFFFFF"/>
                    </a:solidFill>
                  </a:tcPr>
                </a:tc>
                <a:tc>
                  <a:txBody>
                    <a:bodyPr wrap="square"/>
                    <a:lstStyle/>
                    <a:p>
                      <a:r>
                        <a:rPr sz="950" b="0" i="0">
                          <a:solidFill>
                            <a:srgbClr val="202020"/>
                          </a:solidFill>
                          <a:latin typeface="Calibri"/>
                        </a:rPr>
                        <a:t>REQUIRED; 3–32 alphanumeric; MUST differ from the live Salesforce connector</a:t>
                      </a:r>
                    </a:p>
                  </a:txBody>
                  <a:tcPr marT="12700" marB="12700">
                    <a:solidFill>
                      <a:srgbClr val="FFFFFF"/>
                    </a:solidFill>
                  </a:tcPr>
                </a:tc>
              </a:tr>
              <a:tr h="384048">
                <a:tc>
                  <a:txBody>
                    <a:bodyPr wrap="square"/>
                    <a:lstStyle/>
                    <a:p>
                      <a:r>
                        <a:rPr sz="950" b="0" i="0">
                          <a:solidFill>
                            <a:srgbClr val="202020"/>
                          </a:solidFill>
                          <a:latin typeface="Consolas"/>
                        </a:rPr>
                        <a:t>CONNECTOR_NAME</a:t>
                      </a:r>
                    </a:p>
                  </a:txBody>
                  <a:tcPr marT="12700" marB="12700">
                    <a:solidFill>
                      <a:srgbClr val="F7F9FC"/>
                    </a:solidFill>
                  </a:tcPr>
                </a:tc>
                <a:tc>
                  <a:txBody>
                    <a:bodyPr wrap="square"/>
                    <a:lstStyle/>
                    <a:p>
                      <a:r>
                        <a:rPr sz="950" b="0" i="0">
                          <a:solidFill>
                            <a:srgbClr val="202020"/>
                          </a:solidFill>
                          <a:latin typeface="Calibri"/>
                        </a:rPr>
                        <a:t>Admin-UI display name</a:t>
                      </a:r>
                    </a:p>
                  </a:txBody>
                  <a:tcPr marT="12700" marB="12700">
                    <a:solidFill>
                      <a:srgbClr val="F7F9FC"/>
                    </a:solidFill>
                  </a:tcPr>
                </a:tc>
                <a:tc>
                  <a:txBody>
                    <a:bodyPr wrap="square"/>
                    <a:lstStyle/>
                    <a:p>
                      <a:r>
                        <a:rPr sz="950" b="0" i="0">
                          <a:solidFill>
                            <a:srgbClr val="202020"/>
                          </a:solidFill>
                          <a:latin typeface="Calibri"/>
                        </a:rPr>
                        <a:t>"BDH Hadoop Data Mart"</a:t>
                      </a:r>
                    </a:p>
                  </a:txBody>
                  <a:tcPr marT="12700" marB="12700">
                    <a:solidFill>
                      <a:srgbClr val="F7F9FC"/>
                    </a:solidFill>
                  </a:tcPr>
                </a:tc>
              </a:tr>
              <a:tr h="384048">
                <a:tc>
                  <a:txBody>
                    <a:bodyPr wrap="square"/>
                    <a:lstStyle/>
                    <a:p>
                      <a:r>
                        <a:rPr sz="950" b="0" i="0">
                          <a:solidFill>
                            <a:srgbClr val="202020"/>
                          </a:solidFill>
                          <a:latin typeface="Consolas"/>
                        </a:rPr>
                        <a:t>CONNECTOR_DESCRIPTION</a:t>
                      </a:r>
                    </a:p>
                  </a:txBody>
                  <a:tcPr marT="12700" marB="12700">
                    <a:solidFill>
                      <a:srgbClr val="FFFFFF"/>
                    </a:solidFill>
                  </a:tcPr>
                </a:tc>
                <a:tc>
                  <a:txBody>
                    <a:bodyPr wrap="square"/>
                    <a:lstStyle/>
                    <a:p>
                      <a:r>
                        <a:rPr sz="950" b="0" i="0">
                          <a:solidFill>
                            <a:srgbClr val="202020"/>
                          </a:solidFill>
                          <a:latin typeface="Calibri"/>
                        </a:rPr>
                        <a:t>Description shown in Microsoft Search</a:t>
                      </a:r>
                    </a:p>
                  </a:txBody>
                  <a:tcPr marT="12700" marB="12700">
                    <a:solidFill>
                      <a:srgbClr val="FFFFFF"/>
                    </a:solidFill>
                  </a:tcPr>
                </a:tc>
                <a:tc>
                  <a:txBody>
                    <a:bodyPr wrap="square"/>
                    <a:lstStyle/>
                    <a:p>
                      <a:r>
                        <a:rPr sz="950" b="0" i="0">
                          <a:solidFill>
                            <a:srgbClr val="202020"/>
                          </a:solidFill>
                          <a:latin typeface="Calibri"/>
                        </a:rPr>
                        <a:t>Optional</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814</a:t>
            </a:r>
          </a:p>
        </p:txBody>
      </p:sp>
    </p:spTree>
  </p:cSld>
  <p:clrMapOvr>
    <a:masterClrMapping/>
  </p:clrMapOvr>
</p:sld>
</file>

<file path=ppt/slides/slide8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14.2 BDH source access</a:t>
            </a:r>
          </a:p>
        </p:txBody>
      </p:sp>
      <p:graphicFrame>
        <p:nvGraphicFramePr>
          <p:cNvPr id="5" name="Table 4"/>
          <p:cNvGraphicFramePr>
            <a:graphicFrameLocks noGrp="1"/>
          </p:cNvGraphicFramePr>
          <p:nvPr/>
        </p:nvGraphicFramePr>
        <p:xfrm>
          <a:off x="502920" y="1188720"/>
          <a:ext cx="11185855" cy="2688336"/>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c>
                  <a:txBody>
                    <a:bodyPr wrap="square"/>
                    <a:lstStyle/>
                    <a:p>
                      <a:r>
                        <a:rPr sz="1050" b="1" i="0">
                          <a:solidFill>
                            <a:srgbClr val="FFFFFF"/>
                          </a:solidFill>
                          <a:latin typeface="Calibri"/>
                        </a:rPr>
                        <a:t>Default / notes</a:t>
                      </a:r>
                    </a:p>
                  </a:txBody>
                  <a:tcPr marT="25400" marB="25400">
                    <a:solidFill>
                      <a:srgbClr val="2E5496"/>
                    </a:solidFill>
                  </a:tcPr>
                </a:tc>
              </a:tr>
              <a:tr h="384048">
                <a:tc>
                  <a:txBody>
                    <a:bodyPr wrap="square"/>
                    <a:lstStyle/>
                    <a:p>
                      <a:r>
                        <a:rPr sz="950" b="0" i="0">
                          <a:solidFill>
                            <a:srgbClr val="202020"/>
                          </a:solidFill>
                          <a:latin typeface="Consolas"/>
                        </a:rPr>
                        <a:t>HDFS_MODE</a:t>
                      </a:r>
                    </a:p>
                  </a:txBody>
                  <a:tcPr marT="12700" marB="12700">
                    <a:solidFill>
                      <a:srgbClr val="FFFFFF"/>
                    </a:solidFill>
                  </a:tcPr>
                </a:tc>
                <a:tc>
                  <a:txBody>
                    <a:bodyPr wrap="square"/>
                    <a:lstStyle/>
                    <a:p>
                      <a:r>
                        <a:rPr sz="950" b="0" i="0">
                          <a:solidFill>
                            <a:srgbClr val="202020"/>
                          </a:solidFill>
                          <a:latin typeface="Calibri"/>
                        </a:rPr>
                        <a:t>webhdfs or localpath</a:t>
                      </a:r>
                    </a:p>
                  </a:txBody>
                  <a:tcPr marT="12700" marB="12700">
                    <a:solidFill>
                      <a:srgbClr val="FFFFFF"/>
                    </a:solidFill>
                  </a:tcPr>
                </a:tc>
                <a:tc>
                  <a:txBody>
                    <a:bodyPr wrap="square"/>
                    <a:lstStyle/>
                    <a:p>
                      <a:r>
                        <a:rPr sz="950" b="0" i="0">
                          <a:solidFill>
                            <a:srgbClr val="202020"/>
                          </a:solidFill>
                          <a:latin typeface="Calibri"/>
                        </a:rPr>
                        <a:t>webhdfs</a:t>
                      </a:r>
                    </a:p>
                  </a:txBody>
                  <a:tcPr marT="12700" marB="12700">
                    <a:solidFill>
                      <a:srgbClr val="FFFFFF"/>
                    </a:solidFill>
                  </a:tcPr>
                </a:tc>
              </a:tr>
              <a:tr h="384048">
                <a:tc>
                  <a:txBody>
                    <a:bodyPr wrap="square"/>
                    <a:lstStyle/>
                    <a:p>
                      <a:r>
                        <a:rPr sz="950" b="0" i="0">
                          <a:solidFill>
                            <a:srgbClr val="202020"/>
                          </a:solidFill>
                          <a:latin typeface="Consolas"/>
                        </a:rPr>
                        <a:t>HDFS_NAMENODE_URL</a:t>
                      </a:r>
                    </a:p>
                  </a:txBody>
                  <a:tcPr marT="12700" marB="12700">
                    <a:solidFill>
                      <a:srgbClr val="F7F9FC"/>
                    </a:solidFill>
                  </a:tcPr>
                </a:tc>
                <a:tc>
                  <a:txBody>
                    <a:bodyPr wrap="square"/>
                    <a:lstStyle/>
                    <a:p>
                      <a:r>
                        <a:rPr sz="950" b="0" i="0">
                          <a:solidFill>
                            <a:srgbClr val="202020"/>
                          </a:solidFill>
                          <a:latin typeface="Calibri"/>
                        </a:rPr>
                        <a:t>WebHDFS endpoint incl. /webhdfs/v1 (or a Knox URL)</a:t>
                      </a:r>
                    </a:p>
                  </a:txBody>
                  <a:tcPr marT="12700" marB="12700">
                    <a:solidFill>
                      <a:srgbClr val="F7F9FC"/>
                    </a:solidFill>
                  </a:tcPr>
                </a:tc>
                <a:tc>
                  <a:txBody>
                    <a:bodyPr wrap="square"/>
                    <a:lstStyle/>
                    <a:p>
                      <a:r>
                        <a:rPr sz="950" b="0" i="0">
                          <a:solidFill>
                            <a:srgbClr val="202020"/>
                          </a:solidFill>
                          <a:latin typeface="Calibri"/>
                        </a:rPr>
                        <a:t>REQUIRED in webhdfs mode</a:t>
                      </a:r>
                    </a:p>
                  </a:txBody>
                  <a:tcPr marT="12700" marB="12700">
                    <a:solidFill>
                      <a:srgbClr val="F7F9FC"/>
                    </a:solidFill>
                  </a:tcPr>
                </a:tc>
              </a:tr>
              <a:tr h="384048">
                <a:tc>
                  <a:txBody>
                    <a:bodyPr wrap="square"/>
                    <a:lstStyle/>
                    <a:p>
                      <a:r>
                        <a:rPr sz="950" b="0" i="0">
                          <a:solidFill>
                            <a:srgbClr val="202020"/>
                          </a:solidFill>
                          <a:latin typeface="Consolas"/>
                        </a:rPr>
                        <a:t>HDFS_USER</a:t>
                      </a:r>
                    </a:p>
                  </a:txBody>
                  <a:tcPr marT="12700" marB="12700">
                    <a:solidFill>
                      <a:srgbClr val="FFFFFF"/>
                    </a:solidFill>
                  </a:tcPr>
                </a:tc>
                <a:tc>
                  <a:txBody>
                    <a:bodyPr wrap="square"/>
                    <a:lstStyle/>
                    <a:p>
                      <a:r>
                        <a:rPr sz="950" b="0" i="0">
                          <a:solidFill>
                            <a:srgbClr val="202020"/>
                          </a:solidFill>
                          <a:latin typeface="Calibri"/>
                        </a:rPr>
                        <a:t>Simple-auth user (?user.name=)</a:t>
                      </a:r>
                    </a:p>
                  </a:txBody>
                  <a:tcPr marT="12700" marB="12700">
                    <a:solidFill>
                      <a:srgbClr val="FFFFFF"/>
                    </a:solidFill>
                  </a:tcPr>
                </a:tc>
                <a:tc>
                  <a:txBody>
                    <a:bodyPr wrap="square"/>
                    <a:lstStyle/>
                    <a:p>
                      <a:r>
                        <a:rPr sz="950" b="0" i="0">
                          <a:solidFill>
                            <a:srgbClr val="202020"/>
                          </a:solidFill>
                          <a:latin typeface="Calibri"/>
                        </a:rPr>
                        <a:t>Unset; read-only principal</a:t>
                      </a:r>
                    </a:p>
                  </a:txBody>
                  <a:tcPr marT="12700" marB="12700">
                    <a:solidFill>
                      <a:srgbClr val="FFFFFF"/>
                    </a:solidFill>
                  </a:tcPr>
                </a:tc>
              </a:tr>
              <a:tr h="384048">
                <a:tc>
                  <a:txBody>
                    <a:bodyPr wrap="square"/>
                    <a:lstStyle/>
                    <a:p>
                      <a:r>
                        <a:rPr sz="950" b="0" i="0">
                          <a:solidFill>
                            <a:srgbClr val="202020"/>
                          </a:solidFill>
                          <a:latin typeface="Consolas"/>
                        </a:rPr>
                        <a:t>SECRET_HDFS_DELEGATION_TOKEN</a:t>
                      </a:r>
                    </a:p>
                  </a:txBody>
                  <a:tcPr marT="12700" marB="12700">
                    <a:solidFill>
                      <a:srgbClr val="F7F9FC"/>
                    </a:solidFill>
                  </a:tcPr>
                </a:tc>
                <a:tc>
                  <a:txBody>
                    <a:bodyPr wrap="square"/>
                    <a:lstStyle/>
                    <a:p>
                      <a:r>
                        <a:rPr sz="950" b="0" i="0">
                          <a:solidFill>
                            <a:srgbClr val="202020"/>
                          </a:solidFill>
                          <a:latin typeface="Calibri"/>
                        </a:rPr>
                        <a:t>Delegation token (?delegation=)</a:t>
                      </a:r>
                    </a:p>
                  </a:txBody>
                  <a:tcPr marT="12700" marB="12700">
                    <a:solidFill>
                      <a:srgbClr val="F7F9FC"/>
                    </a:solidFill>
                  </a:tcPr>
                </a:tc>
                <a:tc>
                  <a:txBody>
                    <a:bodyPr wrap="square"/>
                    <a:lstStyle/>
                    <a:p>
                      <a:r>
                        <a:rPr sz="950" b="0" i="0">
                          <a:solidFill>
                            <a:srgbClr val="202020"/>
                          </a:solidFill>
                          <a:latin typeface="Calibri"/>
                        </a:rPr>
                        <a:t>Secret; optional; never logged</a:t>
                      </a:r>
                    </a:p>
                  </a:txBody>
                  <a:tcPr marT="12700" marB="12700">
                    <a:solidFill>
                      <a:srgbClr val="F7F9FC"/>
                    </a:solidFill>
                  </a:tcPr>
                </a:tc>
              </a:tr>
              <a:tr h="384048">
                <a:tc>
                  <a:txBody>
                    <a:bodyPr wrap="square"/>
                    <a:lstStyle/>
                    <a:p>
                      <a:r>
                        <a:rPr sz="950" b="0" i="0">
                          <a:solidFill>
                            <a:srgbClr val="202020"/>
                          </a:solidFill>
                          <a:latin typeface="Consolas"/>
                        </a:rPr>
                        <a:t>BDH_ROOT_PATH</a:t>
                      </a:r>
                    </a:p>
                  </a:txBody>
                  <a:tcPr marT="12700" marB="12700">
                    <a:solidFill>
                      <a:srgbClr val="FFFFFF"/>
                    </a:solidFill>
                  </a:tcPr>
                </a:tc>
                <a:tc>
                  <a:txBody>
                    <a:bodyPr wrap="square"/>
                    <a:lstStyle/>
                    <a:p>
                      <a:r>
                        <a:rPr sz="950" b="0" i="0">
                          <a:solidFill>
                            <a:srgbClr val="202020"/>
                          </a:solidFill>
                          <a:latin typeface="Calibri"/>
                        </a:rPr>
                        <a:t>Data-mart root path</a:t>
                      </a:r>
                    </a:p>
                  </a:txBody>
                  <a:tcPr marT="12700" marB="12700">
                    <a:solidFill>
                      <a:srgbClr val="FFFFFF"/>
                    </a:solidFill>
                  </a:tcPr>
                </a:tc>
                <a:tc>
                  <a:txBody>
                    <a:bodyPr wrap="square"/>
                    <a:lstStyle/>
                    <a:p>
                      <a:r>
                        <a:rPr sz="950" b="0" i="0">
                          <a:solidFill>
                            <a:srgbClr val="202020"/>
                          </a:solidFill>
                          <a:latin typeface="Consolas"/>
                        </a:rPr>
                        <a:t>/data/bdh</a:t>
                      </a:r>
                    </a:p>
                  </a:txBody>
                  <a:tcPr marT="12700" marB="12700">
                    <a:solidFill>
                      <a:srgbClr val="FFFFFF"/>
                    </a:solidFill>
                  </a:tcPr>
                </a:tc>
              </a:tr>
              <a:tr h="384048">
                <a:tc>
                  <a:txBody>
                    <a:bodyPr wrap="square"/>
                    <a:lstStyle/>
                    <a:p>
                      <a:r>
                        <a:rPr sz="950" b="0" i="0">
                          <a:solidFill>
                            <a:srgbClr val="202020"/>
                          </a:solidFill>
                          <a:latin typeface="Consolas"/>
                        </a:rPr>
                        <a:t>BDH_EXPORT_PATH</a:t>
                      </a:r>
                    </a:p>
                  </a:txBody>
                  <a:tcPr marT="12700" marB="12700">
                    <a:solidFill>
                      <a:srgbClr val="F7F9FC"/>
                    </a:solidFill>
                  </a:tcPr>
                </a:tc>
                <a:tc>
                  <a:txBody>
                    <a:bodyPr wrap="square"/>
                    <a:lstStyle/>
                    <a:p>
                      <a:r>
                        <a:rPr sz="950" b="0" i="0">
                          <a:solidFill>
                            <a:srgbClr val="202020"/>
                          </a:solidFill>
                          <a:latin typeface="Calibri"/>
                        </a:rPr>
                        <a:t>Mounted export dir</a:t>
                      </a:r>
                    </a:p>
                  </a:txBody>
                  <a:tcPr marT="12700" marB="12700">
                    <a:solidFill>
                      <a:srgbClr val="F7F9FC"/>
                    </a:solidFill>
                  </a:tcPr>
                </a:tc>
                <a:tc>
                  <a:txBody>
                    <a:bodyPr wrap="square"/>
                    <a:lstStyle/>
                    <a:p>
                      <a:r>
                        <a:rPr sz="950" b="0" i="0">
                          <a:solidFill>
                            <a:srgbClr val="202020"/>
                          </a:solidFill>
                          <a:latin typeface="Calibri"/>
                        </a:rPr>
                        <a:t>REQUIRED in localpath mode</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815</a:t>
            </a:r>
          </a:p>
        </p:txBody>
      </p:sp>
    </p:spTree>
  </p:cSld>
  <p:clrMapOvr>
    <a:masterClrMapping/>
  </p:clrMapOvr>
</p:sld>
</file>

<file path=ppt/slides/slide8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14.3 Scale, filtering and freshness</a:t>
            </a:r>
          </a:p>
        </p:txBody>
      </p:sp>
      <p:graphicFrame>
        <p:nvGraphicFramePr>
          <p:cNvPr id="5" name="Table 4"/>
          <p:cNvGraphicFramePr>
            <a:graphicFrameLocks noGrp="1"/>
          </p:cNvGraphicFramePr>
          <p:nvPr/>
        </p:nvGraphicFramePr>
        <p:xfrm>
          <a:off x="502920" y="1188720"/>
          <a:ext cx="11185855" cy="3072384"/>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c>
                  <a:txBody>
                    <a:bodyPr wrap="square"/>
                    <a:lstStyle/>
                    <a:p>
                      <a:r>
                        <a:rPr sz="1050" b="1" i="0">
                          <a:solidFill>
                            <a:srgbClr val="FFFFFF"/>
                          </a:solidFill>
                          <a:latin typeface="Calibri"/>
                        </a:rPr>
                        <a:t>Default / notes</a:t>
                      </a:r>
                    </a:p>
                  </a:txBody>
                  <a:tcPr marT="25400" marB="25400">
                    <a:solidFill>
                      <a:srgbClr val="2E5496"/>
                    </a:solidFill>
                  </a:tcPr>
                </a:tc>
              </a:tr>
              <a:tr h="384048">
                <a:tc>
                  <a:txBody>
                    <a:bodyPr wrap="square"/>
                    <a:lstStyle/>
                    <a:p>
                      <a:r>
                        <a:rPr sz="950" b="0" i="0">
                          <a:solidFill>
                            <a:srgbClr val="202020"/>
                          </a:solidFill>
                          <a:latin typeface="Consolas"/>
                        </a:rPr>
                        <a:t>BDH_FILTERS_PATH</a:t>
                      </a:r>
                    </a:p>
                  </a:txBody>
                  <a:tcPr marT="12700" marB="12700">
                    <a:solidFill>
                      <a:srgbClr val="FFFFFF"/>
                    </a:solidFill>
                  </a:tcPr>
                </a:tc>
                <a:tc>
                  <a:txBody>
                    <a:bodyPr wrap="square"/>
                    <a:lstStyle/>
                    <a:p>
                      <a:r>
                        <a:rPr sz="950" b="0" i="0">
                          <a:solidFill>
                            <a:srgbClr val="202020"/>
                          </a:solidFill>
                          <a:latin typeface="Calibri"/>
                        </a:rPr>
                        <a:t>Path to the filter config</a:t>
                      </a:r>
                    </a:p>
                  </a:txBody>
                  <a:tcPr marT="12700" marB="12700">
                    <a:solidFill>
                      <a:srgbClr val="FFFFFF"/>
                    </a:solidFill>
                  </a:tcPr>
                </a:tc>
                <a:tc>
                  <a:txBody>
                    <a:bodyPr wrap="square"/>
                    <a:lstStyle/>
                    <a:p>
                      <a:r>
                        <a:rPr sz="950" b="0" i="0">
                          <a:solidFill>
                            <a:srgbClr val="202020"/>
                          </a:solidFill>
                          <a:latin typeface="Calibri"/>
                        </a:rPr>
                        <a:t>config/filters.json</a:t>
                      </a:r>
                    </a:p>
                  </a:txBody>
                  <a:tcPr marT="12700" marB="12700">
                    <a:solidFill>
                      <a:srgbClr val="FFFFFF"/>
                    </a:solidFill>
                  </a:tcPr>
                </a:tc>
              </a:tr>
              <a:tr h="384048">
                <a:tc>
                  <a:txBody>
                    <a:bodyPr wrap="square"/>
                    <a:lstStyle/>
                    <a:p>
                      <a:r>
                        <a:rPr sz="950" b="0" i="0">
                          <a:solidFill>
                            <a:srgbClr val="202020"/>
                          </a:solidFill>
                          <a:latin typeface="Consolas"/>
                        </a:rPr>
                        <a:t>ALLOW_FULL_SCAN</a:t>
                      </a:r>
                    </a:p>
                  </a:txBody>
                  <a:tcPr marT="12700" marB="12700">
                    <a:solidFill>
                      <a:srgbClr val="F7F9FC"/>
                    </a:solidFill>
                  </a:tcPr>
                </a:tc>
                <a:tc>
                  <a:txBody>
                    <a:bodyPr wrap="square"/>
                    <a:lstStyle/>
                    <a:p>
                      <a:r>
                        <a:rPr sz="950" b="0" i="0">
                          <a:solidFill>
                            <a:srgbClr val="202020"/>
                          </a:solidFill>
                          <a:latin typeface="Calibri"/>
                        </a:rPr>
                        <a:t>Global off-switch for the fail-closed guard</a:t>
                      </a:r>
                    </a:p>
                  </a:txBody>
                  <a:tcPr marT="12700" marB="12700">
                    <a:solidFill>
                      <a:srgbClr val="F7F9FC"/>
                    </a:solidFill>
                  </a:tcPr>
                </a:tc>
                <a:tc>
                  <a:txBody>
                    <a:bodyPr wrap="square"/>
                    <a:lstStyle/>
                    <a:p>
                      <a:r>
                        <a:rPr sz="950" b="0" i="0">
                          <a:solidFill>
                            <a:srgbClr val="202020"/>
                          </a:solidFill>
                          <a:latin typeface="Calibri"/>
                        </a:rPr>
                        <a:t>false — avoid; prefer per-object fullScanAllowed</a:t>
                      </a:r>
                    </a:p>
                  </a:txBody>
                  <a:tcPr marT="12700" marB="12700">
                    <a:solidFill>
                      <a:srgbClr val="F7F9FC"/>
                    </a:solidFill>
                  </a:tcPr>
                </a:tc>
              </a:tr>
              <a:tr h="384048">
                <a:tc>
                  <a:txBody>
                    <a:bodyPr wrap="square"/>
                    <a:lstStyle/>
                    <a:p>
                      <a:r>
                        <a:rPr sz="950" b="0" i="0">
                          <a:solidFill>
                            <a:srgbClr val="202020"/>
                          </a:solidFill>
                          <a:latin typeface="Consolas"/>
                        </a:rPr>
                        <a:t>BDH_LAG_HOURS</a:t>
                      </a:r>
                    </a:p>
                  </a:txBody>
                  <a:tcPr marT="12700" marB="12700">
                    <a:solidFill>
                      <a:srgbClr val="FFFFFF"/>
                    </a:solidFill>
                  </a:tcPr>
                </a:tc>
                <a:tc>
                  <a:txBody>
                    <a:bodyPr wrap="square"/>
                    <a:lstStyle/>
                    <a:p>
                      <a:r>
                        <a:rPr sz="950" b="0" i="0">
                          <a:solidFill>
                            <a:srgbClr val="202020"/>
                          </a:solidFill>
                          <a:latin typeface="Calibri"/>
                        </a:rPr>
                        <a:t>Incremental watermark overlap for the nightly-load lag</a:t>
                      </a:r>
                    </a:p>
                  </a:txBody>
                  <a:tcPr marT="12700" marB="12700">
                    <a:solidFill>
                      <a:srgbClr val="FFFFFF"/>
                    </a:solidFill>
                  </a:tcPr>
                </a:tc>
                <a:tc>
                  <a:txBody>
                    <a:bodyPr wrap="square"/>
                    <a:lstStyle/>
                    <a:p>
                      <a:r>
                        <a:rPr sz="950" b="0" i="0">
                          <a:solidFill>
                            <a:srgbClr val="202020"/>
                          </a:solidFill>
                          <a:latin typeface="Calibri"/>
                        </a:rPr>
                        <a:t>24</a:t>
                      </a:r>
                    </a:p>
                  </a:txBody>
                  <a:tcPr marT="12700" marB="12700">
                    <a:solidFill>
                      <a:srgbClr val="FFFFFF"/>
                    </a:solidFill>
                  </a:tcPr>
                </a:tc>
              </a:tr>
              <a:tr h="384048">
                <a:tc>
                  <a:txBody>
                    <a:bodyPr wrap="square"/>
                    <a:lstStyle/>
                    <a:p>
                      <a:r>
                        <a:rPr sz="950" b="0" i="0">
                          <a:solidFill>
                            <a:srgbClr val="202020"/>
                          </a:solidFill>
                          <a:latin typeface="Consolas"/>
                        </a:rPr>
                        <a:t>BDH_MAX_RECORDS_PER_OBJECT</a:t>
                      </a:r>
                    </a:p>
                  </a:txBody>
                  <a:tcPr marT="12700" marB="12700">
                    <a:solidFill>
                      <a:srgbClr val="F7F9FC"/>
                    </a:solidFill>
                  </a:tcPr>
                </a:tc>
                <a:tc>
                  <a:txBody>
                    <a:bodyPr wrap="square"/>
                    <a:lstStyle/>
                    <a:p>
                      <a:r>
                        <a:rPr sz="950" b="0" i="0">
                          <a:solidFill>
                            <a:srgbClr val="202020"/>
                          </a:solidFill>
                          <a:latin typeface="Calibri"/>
                        </a:rPr>
                        <a:t>Row cap per object per crawl</a:t>
                      </a:r>
                    </a:p>
                  </a:txBody>
                  <a:tcPr marT="12700" marB="12700">
                    <a:solidFill>
                      <a:srgbClr val="F7F9FC"/>
                    </a:solidFill>
                  </a:tcPr>
                </a:tc>
                <a:tc>
                  <a:txBody>
                    <a:bodyPr wrap="square"/>
                    <a:lstStyle/>
                    <a:p>
                      <a:r>
                        <a:rPr sz="950" b="0" i="0">
                          <a:solidFill>
                            <a:srgbClr val="202020"/>
                          </a:solidFill>
                          <a:latin typeface="Calibri"/>
                        </a:rPr>
                        <a:t>500000; 0 disables; hitting it marks the crawl PARTIAL</a:t>
                      </a:r>
                    </a:p>
                  </a:txBody>
                  <a:tcPr marT="12700" marB="12700">
                    <a:solidFill>
                      <a:srgbClr val="F7F9FC"/>
                    </a:solidFill>
                  </a:tcPr>
                </a:tc>
              </a:tr>
              <a:tr h="384048">
                <a:tc>
                  <a:txBody>
                    <a:bodyPr wrap="square"/>
                    <a:lstStyle/>
                    <a:p>
                      <a:r>
                        <a:rPr sz="950" b="0" i="0">
                          <a:solidFill>
                            <a:srgbClr val="202020"/>
                          </a:solidFill>
                          <a:latin typeface="Consolas"/>
                        </a:rPr>
                        <a:t>BDH_MAX_FILE_BYTES</a:t>
                      </a:r>
                    </a:p>
                  </a:txBody>
                  <a:tcPr marT="12700" marB="12700">
                    <a:solidFill>
                      <a:srgbClr val="FFFFFF"/>
                    </a:solidFill>
                  </a:tcPr>
                </a:tc>
                <a:tc>
                  <a:txBody>
                    <a:bodyPr wrap="square"/>
                    <a:lstStyle/>
                    <a:p>
                      <a:r>
                        <a:rPr sz="950" b="0" i="0">
                          <a:solidFill>
                            <a:srgbClr val="202020"/>
                          </a:solidFill>
                          <a:latin typeface="Calibri"/>
                        </a:rPr>
                        <a:t>Per-file read bound</a:t>
                      </a:r>
                    </a:p>
                  </a:txBody>
                  <a:tcPr marT="12700" marB="12700">
                    <a:solidFill>
                      <a:srgbClr val="FFFFFF"/>
                    </a:solidFill>
                  </a:tcPr>
                </a:tc>
                <a:tc>
                  <a:txBody>
                    <a:bodyPr wrap="square"/>
                    <a:lstStyle/>
                    <a:p>
                      <a:r>
                        <a:rPr sz="950" b="0" i="0">
                          <a:solidFill>
                            <a:srgbClr val="202020"/>
                          </a:solidFill>
                          <a:latin typeface="Calibri"/>
                        </a:rPr>
                        <a:t>1073741824 (1 GiB)</a:t>
                      </a:r>
                    </a:p>
                  </a:txBody>
                  <a:tcPr marT="12700" marB="12700">
                    <a:solidFill>
                      <a:srgbClr val="FFFFFF"/>
                    </a:solidFill>
                  </a:tcPr>
                </a:tc>
              </a:tr>
              <a:tr h="384048">
                <a:tc>
                  <a:txBody>
                    <a:bodyPr wrap="square"/>
                    <a:lstStyle/>
                    <a:p>
                      <a:r>
                        <a:rPr sz="950" b="0" i="0">
                          <a:solidFill>
                            <a:srgbClr val="202020"/>
                          </a:solidFill>
                          <a:latin typeface="Consolas"/>
                        </a:rPr>
                        <a:t>BDH_IDENTITY_OBJECT</a:t>
                      </a:r>
                    </a:p>
                  </a:txBody>
                  <a:tcPr marT="12700" marB="12700">
                    <a:solidFill>
                      <a:srgbClr val="F7F9FC"/>
                    </a:solidFill>
                  </a:tcPr>
                </a:tc>
                <a:tc>
                  <a:txBody>
                    <a:bodyPr wrap="square"/>
                    <a:lstStyle/>
                    <a:p>
                      <a:r>
                        <a:rPr sz="950" b="0" i="0">
                          <a:solidFill>
                            <a:srgbClr val="202020"/>
                          </a:solidFill>
                          <a:latin typeface="Calibri"/>
                        </a:rPr>
                        <a:t>BDH object holding the user directory</a:t>
                      </a:r>
                    </a:p>
                  </a:txBody>
                  <a:tcPr marT="12700" marB="12700">
                    <a:solidFill>
                      <a:srgbClr val="F7F9FC"/>
                    </a:solidFill>
                  </a:tcPr>
                </a:tc>
                <a:tc>
                  <a:txBody>
                    <a:bodyPr wrap="square"/>
                    <a:lstStyle/>
                    <a:p>
                      <a:r>
                        <a:rPr sz="950" b="0" i="0">
                          <a:solidFill>
                            <a:srgbClr val="202020"/>
                          </a:solidFill>
                          <a:latin typeface="Calibri"/>
                        </a:rPr>
                        <a:t>User</a:t>
                      </a:r>
                    </a:p>
                  </a:txBody>
                  <a:tcPr marT="12700" marB="12700">
                    <a:solidFill>
                      <a:srgbClr val="F7F9FC"/>
                    </a:solidFill>
                  </a:tcPr>
                </a:tc>
              </a:tr>
              <a:tr h="384048">
                <a:tc>
                  <a:txBody>
                    <a:bodyPr wrap="square"/>
                    <a:lstStyle/>
                    <a:p>
                      <a:r>
                        <a:rPr sz="950" b="0" i="0">
                          <a:solidFill>
                            <a:srgbClr val="202020"/>
                          </a:solidFill>
                          <a:latin typeface="Consolas"/>
                        </a:rPr>
                        <a:t>ITEM_URL_BASE</a:t>
                      </a:r>
                    </a:p>
                  </a:txBody>
                  <a:tcPr marT="12700" marB="12700">
                    <a:solidFill>
                      <a:srgbClr val="FFFFFF"/>
                    </a:solidFill>
                  </a:tcPr>
                </a:tc>
                <a:tc>
                  <a:txBody>
                    <a:bodyPr wrap="square"/>
                    <a:lstStyle/>
                    <a:p>
                      <a:r>
                        <a:rPr sz="950" b="0" i="0">
                          <a:solidFill>
                            <a:srgbClr val="202020"/>
                          </a:solidFill>
                          <a:latin typeface="Calibri"/>
                        </a:rPr>
                        <a:t>Base URL for result-card deep links</a:t>
                      </a:r>
                    </a:p>
                  </a:txBody>
                  <a:tcPr marT="12700" marB="12700">
                    <a:solidFill>
                      <a:srgbClr val="FFFFFF"/>
                    </a:solidFill>
                  </a:tcPr>
                </a:tc>
                <a:tc>
                  <a:txBody>
                    <a:bodyPr wrap="square"/>
                    <a:lstStyle/>
                    <a:p>
                      <a:r>
                        <a:rPr sz="950" b="0" i="0">
                          <a:solidFill>
                            <a:srgbClr val="202020"/>
                          </a:solidFill>
                          <a:latin typeface="Calibri"/>
                        </a:rPr>
                        <a:t>Point at the LIVE Salesforce org</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816</a:t>
            </a:r>
          </a:p>
        </p:txBody>
      </p:sp>
    </p:spTree>
  </p:cSld>
  <p:clrMapOvr>
    <a:masterClrMapping/>
  </p:clrMapOvr>
</p:sld>
</file>

<file path=ppt/slides/slide8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14.4 Microsoft Graph / Entra</a:t>
            </a:r>
          </a:p>
        </p:txBody>
      </p:sp>
      <p:graphicFrame>
        <p:nvGraphicFramePr>
          <p:cNvPr id="5" name="Table 4"/>
          <p:cNvGraphicFramePr>
            <a:graphicFrameLocks noGrp="1"/>
          </p:cNvGraphicFramePr>
          <p:nvPr/>
        </p:nvGraphicFramePr>
        <p:xfrm>
          <a:off x="502920" y="1188720"/>
          <a:ext cx="11185855" cy="2304288"/>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c>
                  <a:txBody>
                    <a:bodyPr wrap="square"/>
                    <a:lstStyle/>
                    <a:p>
                      <a:r>
                        <a:rPr sz="1050" b="1" i="0">
                          <a:solidFill>
                            <a:srgbClr val="FFFFFF"/>
                          </a:solidFill>
                          <a:latin typeface="Calibri"/>
                        </a:rPr>
                        <a:t>Default / notes</a:t>
                      </a:r>
                    </a:p>
                  </a:txBody>
                  <a:tcPr marT="25400" marB="25400">
                    <a:solidFill>
                      <a:srgbClr val="2E5496"/>
                    </a:solidFill>
                  </a:tcPr>
                </a:tc>
              </a:tr>
              <a:tr h="384048">
                <a:tc>
                  <a:txBody>
                    <a:bodyPr wrap="square"/>
                    <a:lstStyle/>
                    <a:p>
                      <a:r>
                        <a:rPr sz="950" b="0" i="0">
                          <a:solidFill>
                            <a:srgbClr val="202020"/>
                          </a:solidFill>
                          <a:latin typeface="Consolas"/>
                        </a:rPr>
                        <a:t>AAD_APP_TENANT_ID</a:t>
                      </a:r>
                    </a:p>
                  </a:txBody>
                  <a:tcPr marT="12700" marB="12700">
                    <a:solidFill>
                      <a:srgbClr val="FFFFFF"/>
                    </a:solidFill>
                  </a:tcPr>
                </a:tc>
                <a:tc>
                  <a:txBody>
                    <a:bodyPr wrap="square"/>
                    <a:lstStyle/>
                    <a:p>
                      <a:r>
                        <a:rPr sz="950" b="0" i="0">
                          <a:solidFill>
                            <a:srgbClr val="202020"/>
                          </a:solidFill>
                          <a:latin typeface="Calibri"/>
                        </a:rPr>
                        <a:t>Entra tenant id</a:t>
                      </a:r>
                    </a:p>
                  </a:txBody>
                  <a:tcPr marT="12700" marB="12700">
                    <a:solidFill>
                      <a:srgbClr val="FFFFFF"/>
                    </a:solidFill>
                  </a:tcPr>
                </a:tc>
                <a:tc>
                  <a:txBody>
                    <a:bodyPr wrap="square"/>
                    <a:lstStyle/>
                    <a:p>
                      <a:r>
                        <a:rPr sz="950" b="0" i="0">
                          <a:solidFill>
                            <a:srgbClr val="202020"/>
                          </a:solidFill>
                          <a:latin typeface="Calibri"/>
                        </a:rPr>
                        <a:t>REQUIRED</a:t>
                      </a:r>
                    </a:p>
                  </a:txBody>
                  <a:tcPr marT="12700" marB="12700">
                    <a:solidFill>
                      <a:srgbClr val="FFFFFF"/>
                    </a:solidFill>
                  </a:tcPr>
                </a:tc>
              </a:tr>
              <a:tr h="384048">
                <a:tc>
                  <a:txBody>
                    <a:bodyPr wrap="square"/>
                    <a:lstStyle/>
                    <a:p>
                      <a:r>
                        <a:rPr sz="950" b="0" i="0">
                          <a:solidFill>
                            <a:srgbClr val="202020"/>
                          </a:solidFill>
                          <a:latin typeface="Consolas"/>
                        </a:rPr>
                        <a:t>AAD_APP_CLIENT_ID</a:t>
                      </a:r>
                    </a:p>
                  </a:txBody>
                  <a:tcPr marT="12700" marB="12700">
                    <a:solidFill>
                      <a:srgbClr val="F7F9FC"/>
                    </a:solidFill>
                  </a:tcPr>
                </a:tc>
                <a:tc>
                  <a:txBody>
                    <a:bodyPr wrap="square"/>
                    <a:lstStyle/>
                    <a:p>
                      <a:r>
                        <a:rPr sz="950" b="0" i="0">
                          <a:solidFill>
                            <a:srgbClr val="202020"/>
                          </a:solidFill>
                          <a:latin typeface="Calibri"/>
                        </a:rPr>
                        <a:t>Entra application (client) id</a:t>
                      </a:r>
                    </a:p>
                  </a:txBody>
                  <a:tcPr marT="12700" marB="12700">
                    <a:solidFill>
                      <a:srgbClr val="F7F9FC"/>
                    </a:solidFill>
                  </a:tcPr>
                </a:tc>
                <a:tc>
                  <a:txBody>
                    <a:bodyPr wrap="square"/>
                    <a:lstStyle/>
                    <a:p>
                      <a:r>
                        <a:rPr sz="950" b="0" i="0">
                          <a:solidFill>
                            <a:srgbClr val="202020"/>
                          </a:solidFill>
                          <a:latin typeface="Calibri"/>
                        </a:rPr>
                        <a:t>REQUIRED</a:t>
                      </a:r>
                    </a:p>
                  </a:txBody>
                  <a:tcPr marT="12700" marB="12700">
                    <a:solidFill>
                      <a:srgbClr val="F7F9FC"/>
                    </a:solidFill>
                  </a:tcPr>
                </a:tc>
              </a:tr>
              <a:tr h="384048">
                <a:tc>
                  <a:txBody>
                    <a:bodyPr wrap="square"/>
                    <a:lstStyle/>
                    <a:p>
                      <a:r>
                        <a:rPr sz="950" b="0" i="0">
                          <a:solidFill>
                            <a:srgbClr val="202020"/>
                          </a:solidFill>
                          <a:latin typeface="Consolas"/>
                        </a:rPr>
                        <a:t>SECRET_AAD_APP_CLIENT_SECRET</a:t>
                      </a:r>
                    </a:p>
                  </a:txBody>
                  <a:tcPr marT="12700" marB="12700">
                    <a:solidFill>
                      <a:srgbClr val="FFFFFF"/>
                    </a:solidFill>
                  </a:tcPr>
                </a:tc>
                <a:tc>
                  <a:txBody>
                    <a:bodyPr wrap="square"/>
                    <a:lstStyle/>
                    <a:p>
                      <a:r>
                        <a:rPr sz="950" b="0" i="0">
                          <a:solidFill>
                            <a:srgbClr val="202020"/>
                          </a:solidFill>
                          <a:latin typeface="Calibri"/>
                        </a:rPr>
                        <a:t>App client secret</a:t>
                      </a:r>
                    </a:p>
                  </a:txBody>
                  <a:tcPr marT="12700" marB="12700">
                    <a:solidFill>
                      <a:srgbClr val="FFFFFF"/>
                    </a:solidFill>
                  </a:tcPr>
                </a:tc>
                <a:tc>
                  <a:txBody>
                    <a:bodyPr wrap="square"/>
                    <a:lstStyle/>
                    <a:p>
                      <a:r>
                        <a:rPr sz="950" b="0" i="0">
                          <a:solidFill>
                            <a:srgbClr val="202020"/>
                          </a:solidFill>
                          <a:latin typeface="Calibri"/>
                        </a:rPr>
                        <a:t>Secret; required unless a certificate is used</a:t>
                      </a:r>
                    </a:p>
                  </a:txBody>
                  <a:tcPr marT="12700" marB="12700">
                    <a:solidFill>
                      <a:srgbClr val="FFFFFF"/>
                    </a:solidFill>
                  </a:tcPr>
                </a:tc>
              </a:tr>
              <a:tr h="384048">
                <a:tc>
                  <a:txBody>
                    <a:bodyPr wrap="square"/>
                    <a:lstStyle/>
                    <a:p>
                      <a:r>
                        <a:rPr sz="950" b="0" i="0">
                          <a:solidFill>
                            <a:srgbClr val="202020"/>
                          </a:solidFill>
                          <a:latin typeface="Consolas"/>
                        </a:rPr>
                        <a:t>GRAPH_CLIENT_CERT_PATH / _THUMBPRINT / _PASSWORD</a:t>
                      </a:r>
                    </a:p>
                  </a:txBody>
                  <a:tcPr marT="12700" marB="12700">
                    <a:solidFill>
                      <a:srgbClr val="F7F9FC"/>
                    </a:solidFill>
                  </a:tcPr>
                </a:tc>
                <a:tc>
                  <a:txBody>
                    <a:bodyPr wrap="square"/>
                    <a:lstStyle/>
                    <a:p>
                      <a:r>
                        <a:rPr sz="950" b="0" i="0">
                          <a:solidFill>
                            <a:srgbClr val="202020"/>
                          </a:solidFill>
                          <a:latin typeface="Calibri"/>
                        </a:rPr>
                        <a:t>Certificate credential (preferred)</a:t>
                      </a:r>
                    </a:p>
                  </a:txBody>
                  <a:tcPr marT="12700" marB="12700">
                    <a:solidFill>
                      <a:srgbClr val="F7F9FC"/>
                    </a:solidFill>
                  </a:tcPr>
                </a:tc>
                <a:tc>
                  <a:txBody>
                    <a:bodyPr wrap="square"/>
                    <a:lstStyle/>
                    <a:p>
                      <a:r>
                        <a:rPr sz="950" b="0" i="0">
                          <a:solidFill>
                            <a:srgbClr val="202020"/>
                          </a:solidFill>
                          <a:latin typeface="Calibri"/>
                        </a:rPr>
                        <a:t>Certificate wins over secret when set</a:t>
                      </a:r>
                    </a:p>
                  </a:txBody>
                  <a:tcPr marT="12700" marB="12700">
                    <a:solidFill>
                      <a:srgbClr val="F7F9FC"/>
                    </a:solidFill>
                  </a:tcPr>
                </a:tc>
              </a:tr>
              <a:tr h="384048">
                <a:tc>
                  <a:txBody>
                    <a:bodyPr wrap="square"/>
                    <a:lstStyle/>
                    <a:p>
                      <a:r>
                        <a:rPr sz="950" b="0" i="0">
                          <a:solidFill>
                            <a:srgbClr val="202020"/>
                          </a:solidFill>
                          <a:latin typeface="Consolas"/>
                        </a:rPr>
                        <a:t>GRAPH_BASE_URL / GRAPH_SCOPE / AAD_APP_OAUTH_AUTHORITY_HOST</a:t>
                      </a:r>
                    </a:p>
                  </a:txBody>
                  <a:tcPr marT="12700" marB="12700">
                    <a:solidFill>
                      <a:srgbClr val="FFFFFF"/>
                    </a:solidFill>
                  </a:tcPr>
                </a:tc>
                <a:tc>
                  <a:txBody>
                    <a:bodyPr wrap="square"/>
                    <a:lstStyle/>
                    <a:p>
                      <a:r>
                        <a:rPr sz="950" b="0" i="0">
                          <a:solidFill>
                            <a:srgbClr val="202020"/>
                          </a:solidFill>
                          <a:latin typeface="Calibri"/>
                        </a:rPr>
                        <a:t>Sovereign-cloud endpoints</a:t>
                      </a:r>
                    </a:p>
                  </a:txBody>
                  <a:tcPr marT="12700" marB="12700">
                    <a:solidFill>
                      <a:srgbClr val="FFFFFF"/>
                    </a:solidFill>
                  </a:tcPr>
                </a:tc>
                <a:tc>
                  <a:txBody>
                    <a:bodyPr wrap="square"/>
                    <a:lstStyle/>
                    <a:p>
                      <a:r>
                        <a:rPr sz="950" b="0" i="0">
                          <a:solidFill>
                            <a:srgbClr val="202020"/>
                          </a:solidFill>
                          <a:latin typeface="Calibri"/>
                        </a:rPr>
                        <a:t>Public-cloud defaults</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817</a:t>
            </a:r>
          </a:p>
        </p:txBody>
      </p:sp>
    </p:spTree>
  </p:cSld>
  <p:clrMapOvr>
    <a:masterClrMapping/>
  </p:clrMapOvr>
</p:sld>
</file>

<file path=ppt/slides/slide8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14.5 ACLs and identity</a:t>
            </a:r>
          </a:p>
        </p:txBody>
      </p:sp>
      <p:graphicFrame>
        <p:nvGraphicFramePr>
          <p:cNvPr id="5" name="Table 4"/>
          <p:cNvGraphicFramePr>
            <a:graphicFrameLocks noGrp="1"/>
          </p:cNvGraphicFramePr>
          <p:nvPr/>
        </p:nvGraphicFramePr>
        <p:xfrm>
          <a:off x="502920" y="1188720"/>
          <a:ext cx="11185855" cy="1536192"/>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c>
                  <a:txBody>
                    <a:bodyPr wrap="square"/>
                    <a:lstStyle/>
                    <a:p>
                      <a:r>
                        <a:rPr sz="1050" b="1" i="0">
                          <a:solidFill>
                            <a:srgbClr val="FFFFFF"/>
                          </a:solidFill>
                          <a:latin typeface="Calibri"/>
                        </a:rPr>
                        <a:t>Default / notes</a:t>
                      </a:r>
                    </a:p>
                  </a:txBody>
                  <a:tcPr marT="25400" marB="25400">
                    <a:solidFill>
                      <a:srgbClr val="2E5496"/>
                    </a:solidFill>
                  </a:tcPr>
                </a:tc>
              </a:tr>
              <a:tr h="384048">
                <a:tc>
                  <a:txBody>
                    <a:bodyPr wrap="square"/>
                    <a:lstStyle/>
                    <a:p>
                      <a:r>
                        <a:rPr sz="950" b="0" i="0">
                          <a:solidFill>
                            <a:srgbClr val="202020"/>
                          </a:solidFill>
                          <a:latin typeface="Consolas"/>
                        </a:rPr>
                        <a:t>BDH_ADMIN_GROUP_ID</a:t>
                      </a:r>
                    </a:p>
                  </a:txBody>
                  <a:tcPr marT="12700" marB="12700">
                    <a:solidFill>
                      <a:srgbClr val="FFFFFF"/>
                    </a:solidFill>
                  </a:tcPr>
                </a:tc>
                <a:tc>
                  <a:txBody>
                    <a:bodyPr wrap="square"/>
                    <a:lstStyle/>
                    <a:p>
                      <a:r>
                        <a:rPr sz="950" b="0" i="0">
                          <a:solidFill>
                            <a:srgbClr val="202020"/>
                          </a:solidFill>
                          <a:latin typeface="Calibri"/>
                        </a:rPr>
                        <a:t>Entra group appended to every non-public ACL</a:t>
                      </a:r>
                    </a:p>
                  </a:txBody>
                  <a:tcPr marT="12700" marB="12700">
                    <a:solidFill>
                      <a:srgbClr val="FFFFFF"/>
                    </a:solidFill>
                  </a:tcPr>
                </a:tc>
                <a:tc>
                  <a:txBody>
                    <a:bodyPr wrap="square"/>
                    <a:lstStyle/>
                    <a:p>
                      <a:r>
                        <a:rPr sz="950" b="0" i="0">
                          <a:solidFill>
                            <a:srgbClr val="202020"/>
                          </a:solidFill>
                          <a:latin typeface="Calibri"/>
                        </a:rPr>
                        <a:t>Unset</a:t>
                      </a:r>
                    </a:p>
                  </a:txBody>
                  <a:tcPr marT="12700" marB="12700">
                    <a:solidFill>
                      <a:srgbClr val="FFFFFF"/>
                    </a:solidFill>
                  </a:tcPr>
                </a:tc>
              </a:tr>
              <a:tr h="384048">
                <a:tc>
                  <a:txBody>
                    <a:bodyPr wrap="square"/>
                    <a:lstStyle/>
                    <a:p>
                      <a:r>
                        <a:rPr sz="950" b="0" i="0">
                          <a:solidFill>
                            <a:srgbClr val="202020"/>
                          </a:solidFill>
                          <a:latin typeface="Consolas"/>
                        </a:rPr>
                        <a:t>FALLBACK_ACL_GROUP_ID</a:t>
                      </a:r>
                    </a:p>
                  </a:txBody>
                  <a:tcPr marT="12700" marB="12700">
                    <a:solidFill>
                      <a:srgbClr val="F7F9FC"/>
                    </a:solidFill>
                  </a:tcPr>
                </a:tc>
                <a:tc>
                  <a:txBody>
                    <a:bodyPr wrap="square"/>
                    <a:lstStyle/>
                    <a:p>
                      <a:r>
                        <a:rPr sz="950" b="0" i="0">
                          <a:solidFill>
                            <a:srgbClr val="202020"/>
                          </a:solidFill>
                          <a:latin typeface="Calibri"/>
                        </a:rPr>
                        <a:t>Group granted only when nothing else resolved</a:t>
                      </a:r>
                    </a:p>
                  </a:txBody>
                  <a:tcPr marT="12700" marB="12700">
                    <a:solidFill>
                      <a:srgbClr val="F7F9FC"/>
                    </a:solidFill>
                  </a:tcPr>
                </a:tc>
                <a:tc>
                  <a:txBody>
                    <a:bodyPr wrap="square"/>
                    <a:lstStyle/>
                    <a:p>
                      <a:r>
                        <a:rPr sz="950" b="0" i="0">
                          <a:solidFill>
                            <a:srgbClr val="202020"/>
                          </a:solidFill>
                          <a:latin typeface="Calibri"/>
                        </a:rPr>
                        <a:t>Unset — otherwise zero-principal records are skipped</a:t>
                      </a:r>
                    </a:p>
                  </a:txBody>
                  <a:tcPr marT="12700" marB="12700">
                    <a:solidFill>
                      <a:srgbClr val="F7F9FC"/>
                    </a:solidFill>
                  </a:tcPr>
                </a:tc>
              </a:tr>
              <a:tr h="384048">
                <a:tc>
                  <a:txBody>
                    <a:bodyPr wrap="square"/>
                    <a:lstStyle/>
                    <a:p>
                      <a:r>
                        <a:rPr sz="950" b="0" i="0">
                          <a:solidFill>
                            <a:srgbClr val="202020"/>
                          </a:solidFill>
                          <a:latin typeface="Consolas"/>
                        </a:rPr>
                        <a:t>IDENTITY_SYNC_ON_INCREMENTAL</a:t>
                      </a:r>
                    </a:p>
                  </a:txBody>
                  <a:tcPr marT="12700" marB="12700">
                    <a:solidFill>
                      <a:srgbClr val="FFFFFF"/>
                    </a:solidFill>
                  </a:tcPr>
                </a:tc>
                <a:tc>
                  <a:txBody>
                    <a:bodyPr wrap="square"/>
                    <a:lstStyle/>
                    <a:p>
                      <a:r>
                        <a:rPr sz="950" b="0" i="0">
                          <a:solidFill>
                            <a:srgbClr val="202020"/>
                          </a:solidFill>
                          <a:latin typeface="Calibri"/>
                        </a:rPr>
                        <a:t>Re-sync the BDH→Entra entitlement mapping on incremental crawls too</a:t>
                      </a:r>
                    </a:p>
                  </a:txBody>
                  <a:tcPr marT="12700" marB="12700">
                    <a:solidFill>
                      <a:srgbClr val="FFFFFF"/>
                    </a:solidFill>
                  </a:tcPr>
                </a:tc>
                <a:tc>
                  <a:txBody>
                    <a:bodyPr wrap="square"/>
                    <a:lstStyle/>
                    <a:p>
                      <a:r>
                        <a:rPr sz="950" b="0" i="0">
                          <a:solidFill>
                            <a:srgbClr val="202020"/>
                          </a:solidFill>
                          <a:latin typeface="Calibri"/>
                        </a:rPr>
                        <a:t>true (default) — shrinks ACL staleness to the incremental cadence; set false for full-crawls-only. Residual lag: unchanged items keep their ACL until the next full crawl (Section 8.5)</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818</a:t>
            </a:r>
          </a:p>
        </p:txBody>
      </p:sp>
    </p:spTree>
  </p:cSld>
  <p:clrMapOvr>
    <a:masterClrMapping/>
  </p:clrMapOvr>
</p:sld>
</file>

<file path=ppt/slides/slide8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14.6 Throughput, state and high availability</a:t>
            </a:r>
          </a:p>
        </p:txBody>
      </p:sp>
      <p:graphicFrame>
        <p:nvGraphicFramePr>
          <p:cNvPr id="5" name="Table 4"/>
          <p:cNvGraphicFramePr>
            <a:graphicFrameLocks noGrp="1"/>
          </p:cNvGraphicFramePr>
          <p:nvPr/>
        </p:nvGraphicFramePr>
        <p:xfrm>
          <a:off x="502920" y="1188720"/>
          <a:ext cx="11185855" cy="3072384"/>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c>
                  <a:txBody>
                    <a:bodyPr wrap="square"/>
                    <a:lstStyle/>
                    <a:p>
                      <a:r>
                        <a:rPr sz="1050" b="1" i="0">
                          <a:solidFill>
                            <a:srgbClr val="FFFFFF"/>
                          </a:solidFill>
                          <a:latin typeface="Calibri"/>
                        </a:rPr>
                        <a:t>Default / notes</a:t>
                      </a:r>
                    </a:p>
                  </a:txBody>
                  <a:tcPr marT="25400" marB="25400">
                    <a:solidFill>
                      <a:srgbClr val="2E5496"/>
                    </a:solidFill>
                  </a:tcPr>
                </a:tc>
              </a:tr>
              <a:tr h="384048">
                <a:tc>
                  <a:txBody>
                    <a:bodyPr wrap="square"/>
                    <a:lstStyle/>
                    <a:p>
                      <a:r>
                        <a:rPr sz="950" b="0" i="0">
                          <a:solidFill>
                            <a:srgbClr val="202020"/>
                          </a:solidFill>
                          <a:latin typeface="Consolas"/>
                        </a:rPr>
                        <a:t>INGEST_GRAPH_BATCH_SIZE</a:t>
                      </a:r>
                    </a:p>
                  </a:txBody>
                  <a:tcPr marT="12700" marB="12700">
                    <a:solidFill>
                      <a:srgbClr val="FFFFFF"/>
                    </a:solidFill>
                  </a:tcPr>
                </a:tc>
                <a:tc>
                  <a:txBody>
                    <a:bodyPr wrap="square"/>
                    <a:lstStyle/>
                    <a:p>
                      <a:r>
                        <a:rPr sz="950" b="0" i="0">
                          <a:solidFill>
                            <a:srgbClr val="202020"/>
                          </a:solidFill>
                          <a:latin typeface="Calibri"/>
                        </a:rPr>
                        <a:t>Requests per Graph $batch POST</a:t>
                      </a:r>
                    </a:p>
                  </a:txBody>
                  <a:tcPr marT="12700" marB="12700">
                    <a:solidFill>
                      <a:srgbClr val="FFFFFF"/>
                    </a:solidFill>
                  </a:tcPr>
                </a:tc>
                <a:tc>
                  <a:txBody>
                    <a:bodyPr wrap="square"/>
                    <a:lstStyle/>
                    <a:p>
                      <a:r>
                        <a:rPr sz="950" b="0" i="0">
                          <a:solidFill>
                            <a:srgbClr val="202020"/>
                          </a:solidFill>
                          <a:latin typeface="Calibri"/>
                        </a:rPr>
                        <a:t>20 (API cap)</a:t>
                      </a:r>
                    </a:p>
                  </a:txBody>
                  <a:tcPr marT="12700" marB="12700">
                    <a:solidFill>
                      <a:srgbClr val="FFFFFF"/>
                    </a:solidFill>
                  </a:tcPr>
                </a:tc>
              </a:tr>
              <a:tr h="384048">
                <a:tc>
                  <a:txBody>
                    <a:bodyPr wrap="square"/>
                    <a:lstStyle/>
                    <a:p>
                      <a:r>
                        <a:rPr sz="950" b="0" i="0">
                          <a:solidFill>
                            <a:srgbClr val="202020"/>
                          </a:solidFill>
                          <a:latin typeface="Consolas"/>
                        </a:rPr>
                        <a:t>GRAPH_BATCH_WORKERS</a:t>
                      </a:r>
                    </a:p>
                  </a:txBody>
                  <a:tcPr marT="12700" marB="12700">
                    <a:solidFill>
                      <a:srgbClr val="F7F9FC"/>
                    </a:solidFill>
                  </a:tcPr>
                </a:tc>
                <a:tc>
                  <a:txBody>
                    <a:bodyPr wrap="square"/>
                    <a:lstStyle/>
                    <a:p>
                      <a:r>
                        <a:rPr sz="950" b="0" i="0">
                          <a:solidFill>
                            <a:srgbClr val="202020"/>
                          </a:solidFill>
                          <a:latin typeface="Calibri"/>
                        </a:rPr>
                        <a:t>Concurrent batch workers (adaptive)</a:t>
                      </a:r>
                    </a:p>
                  </a:txBody>
                  <a:tcPr marT="12700" marB="12700">
                    <a:solidFill>
                      <a:srgbClr val="F7F9FC"/>
                    </a:solidFill>
                  </a:tcPr>
                </a:tc>
                <a:tc>
                  <a:txBody>
                    <a:bodyPr wrap="square"/>
                    <a:lstStyle/>
                    <a:p>
                      <a:r>
                        <a:rPr sz="950" b="0" i="0">
                          <a:solidFill>
                            <a:srgbClr val="202020"/>
                          </a:solidFill>
                          <a:latin typeface="Calibri"/>
                        </a:rPr>
                        <a:t>8; lower in HA / on 429 storms</a:t>
                      </a:r>
                    </a:p>
                  </a:txBody>
                  <a:tcPr marT="12700" marB="12700">
                    <a:solidFill>
                      <a:srgbClr val="F7F9FC"/>
                    </a:solidFill>
                  </a:tcPr>
                </a:tc>
              </a:tr>
              <a:tr h="384048">
                <a:tc>
                  <a:txBody>
                    <a:bodyPr wrap="square"/>
                    <a:lstStyle/>
                    <a:p>
                      <a:r>
                        <a:rPr sz="950" b="0" i="0">
                          <a:solidFill>
                            <a:srgbClr val="202020"/>
                          </a:solidFill>
                          <a:latin typeface="Consolas"/>
                        </a:rPr>
                        <a:t>GRAPH_CONNECTION_SHARDS</a:t>
                      </a:r>
                    </a:p>
                  </a:txBody>
                  <a:tcPr marT="12700" marB="12700">
                    <a:solidFill>
                      <a:srgbClr val="FFFFFF"/>
                    </a:solidFill>
                  </a:tcPr>
                </a:tc>
                <a:tc>
                  <a:txBody>
                    <a:bodyPr wrap="square"/>
                    <a:lstStyle/>
                    <a:p>
                      <a:r>
                        <a:rPr sz="950" b="0" i="0">
                          <a:solidFill>
                            <a:srgbClr val="202020"/>
                          </a:solidFill>
                          <a:latin typeface="Calibri"/>
                        </a:rPr>
                        <a:t>Map object types across N Graph connections</a:t>
                      </a:r>
                    </a:p>
                  </a:txBody>
                  <a:tcPr marT="12700" marB="12700">
                    <a:solidFill>
                      <a:srgbClr val="FFFFFF"/>
                    </a:solidFill>
                  </a:tcPr>
                </a:tc>
                <a:tc>
                  <a:txBody>
                    <a:bodyPr wrap="square"/>
                    <a:lstStyle/>
                    <a:p>
                      <a:r>
                        <a:rPr sz="950" b="0" i="0">
                          <a:solidFill>
                            <a:srgbClr val="202020"/>
                          </a:solidFill>
                          <a:latin typeface="Calibri"/>
                        </a:rPr>
                        <a:t>Unset; the throughput lever at scale (Common Guide §6)</a:t>
                      </a:r>
                    </a:p>
                  </a:txBody>
                  <a:tcPr marT="12700" marB="12700">
                    <a:solidFill>
                      <a:srgbClr val="FFFFFF"/>
                    </a:solidFill>
                  </a:tcPr>
                </a:tc>
              </a:tr>
              <a:tr h="384048">
                <a:tc>
                  <a:txBody>
                    <a:bodyPr wrap="square"/>
                    <a:lstStyle/>
                    <a:p>
                      <a:r>
                        <a:rPr sz="950" b="0" i="0">
                          <a:solidFill>
                            <a:srgbClr val="202020"/>
                          </a:solidFill>
                          <a:latin typeface="Consolas"/>
                        </a:rPr>
                        <a:t>DELETION_SYNC</a:t>
                      </a:r>
                    </a:p>
                  </a:txBody>
                  <a:tcPr marT="12700" marB="12700">
                    <a:solidFill>
                      <a:srgbClr val="F7F9FC"/>
                    </a:solidFill>
                  </a:tcPr>
                </a:tc>
                <a:tc>
                  <a:txBody>
                    <a:bodyPr wrap="square"/>
                    <a:lstStyle/>
                    <a:p>
                      <a:r>
                        <a:rPr sz="950" b="0" i="0">
                          <a:solidFill>
                            <a:srgbClr val="202020"/>
                          </a:solidFill>
                          <a:latin typeface="Calibri"/>
                        </a:rPr>
                        <a:t>Run the full-crawl existence sweep</a:t>
                      </a:r>
                    </a:p>
                  </a:txBody>
                  <a:tcPr marT="12700" marB="12700">
                    <a:solidFill>
                      <a:srgbClr val="F7F9FC"/>
                    </a:solidFill>
                  </a:tcPr>
                </a:tc>
                <a:tc>
                  <a:txBody>
                    <a:bodyPr wrap="square"/>
                    <a:lstStyle/>
                    <a:p>
                      <a:r>
                        <a:rPr sz="950" b="0" i="0">
                          <a:solidFill>
                            <a:srgbClr val="202020"/>
                          </a:solidFill>
                          <a:latin typeface="Calibri"/>
                        </a:rPr>
                        <a:t>true</a:t>
                      </a:r>
                    </a:p>
                  </a:txBody>
                  <a:tcPr marT="12700" marB="12700">
                    <a:solidFill>
                      <a:srgbClr val="F7F9FC"/>
                    </a:solidFill>
                  </a:tcPr>
                </a:tc>
              </a:tr>
              <a:tr h="384048">
                <a:tc>
                  <a:txBody>
                    <a:bodyPr wrap="square"/>
                    <a:lstStyle/>
                    <a:p>
                      <a:r>
                        <a:rPr sz="950" b="0" i="0">
                          <a:solidFill>
                            <a:srgbClr val="202020"/>
                          </a:solidFill>
                          <a:latin typeface="Consolas"/>
                        </a:rPr>
                        <a:t>DELETION_SYNC_MAX_ITEMS / _MAX_PERCENT</a:t>
                      </a:r>
                    </a:p>
                  </a:txBody>
                  <a:tcPr marT="12700" marB="12700">
                    <a:solidFill>
                      <a:srgbClr val="FFFFFF"/>
                    </a:solidFill>
                  </a:tcPr>
                </a:tc>
                <a:tc>
                  <a:txBody>
                    <a:bodyPr wrap="square"/>
                    <a:lstStyle/>
                    <a:p>
                      <a:r>
                        <a:rPr sz="950" b="0" i="0">
                          <a:solidFill>
                            <a:srgbClr val="202020"/>
                          </a:solidFill>
                          <a:latin typeface="Calibri"/>
                        </a:rPr>
                        <a:t>Mass-deletion guards</a:t>
                      </a:r>
                    </a:p>
                  </a:txBody>
                  <a:tcPr marT="12700" marB="12700">
                    <a:solidFill>
                      <a:srgbClr val="FFFFFF"/>
                    </a:solidFill>
                  </a:tcPr>
                </a:tc>
                <a:tc>
                  <a:txBody>
                    <a:bodyPr wrap="square"/>
                    <a:lstStyle/>
                    <a:p>
                      <a:r>
                        <a:rPr sz="950" b="0" i="0">
                          <a:solidFill>
                            <a:srgbClr val="202020"/>
                          </a:solidFill>
                          <a:latin typeface="Calibri"/>
                        </a:rPr>
                        <a:t>1000 / 25</a:t>
                      </a:r>
                    </a:p>
                  </a:txBody>
                  <a:tcPr marT="12700" marB="12700">
                    <a:solidFill>
                      <a:srgbClr val="FFFFFF"/>
                    </a:solidFill>
                  </a:tcPr>
                </a:tc>
              </a:tr>
              <a:tr h="384048">
                <a:tc>
                  <a:txBody>
                    <a:bodyPr wrap="square"/>
                    <a:lstStyle/>
                    <a:p>
                      <a:r>
                        <a:rPr sz="950" b="0" i="0">
                          <a:solidFill>
                            <a:srgbClr val="202020"/>
                          </a:solidFill>
                          <a:latin typeface="Consolas"/>
                        </a:rPr>
                        <a:t>USE_SQL_SERVER / SQL_CONNECTION_STRING</a:t>
                      </a:r>
                    </a:p>
                  </a:txBody>
                  <a:tcPr marT="12700" marB="12700">
                    <a:solidFill>
                      <a:srgbClr val="F7F9FC"/>
                    </a:solidFill>
                  </a:tcPr>
                </a:tc>
                <a:tc>
                  <a:txBody>
                    <a:bodyPr wrap="square"/>
                    <a:lstStyle/>
                    <a:p>
                      <a:r>
                        <a:rPr sz="950" b="0" i="0">
                          <a:solidFill>
                            <a:srgbClr val="202020"/>
                          </a:solidFill>
                          <a:latin typeface="Calibri"/>
                        </a:rPr>
                        <a:t>Move state into SQL Server</a:t>
                      </a:r>
                    </a:p>
                  </a:txBody>
                  <a:tcPr marT="12700" marB="12700">
                    <a:solidFill>
                      <a:srgbClr val="F7F9FC"/>
                    </a:solidFill>
                  </a:tcPr>
                </a:tc>
                <a:tc>
                  <a:txBody>
                    <a:bodyPr wrap="square"/>
                    <a:lstStyle/>
                    <a:p>
                      <a:r>
                        <a:rPr sz="950" b="0" i="0">
                          <a:solidFill>
                            <a:srgbClr val="202020"/>
                          </a:solidFill>
                          <a:latin typeface="Calibri"/>
                        </a:rPr>
                        <a:t>Off; required for HA</a:t>
                      </a:r>
                    </a:p>
                  </a:txBody>
                  <a:tcPr marT="12700" marB="12700">
                    <a:solidFill>
                      <a:srgbClr val="F7F9FC"/>
                    </a:solidFill>
                  </a:tcPr>
                </a:tc>
              </a:tr>
              <a:tr h="384048">
                <a:tc>
                  <a:txBody>
                    <a:bodyPr wrap="square"/>
                    <a:lstStyle/>
                    <a:p>
                      <a:r>
                        <a:rPr sz="950" b="0" i="0">
                          <a:solidFill>
                            <a:srgbClr val="202020"/>
                          </a:solidFill>
                          <a:latin typeface="Consolas"/>
                        </a:rPr>
                        <a:t>HA_MODE / NODE_ID</a:t>
                      </a:r>
                    </a:p>
                  </a:txBody>
                  <a:tcPr marT="12700" marB="12700">
                    <a:solidFill>
                      <a:srgbClr val="FFFFFF"/>
                    </a:solidFill>
                  </a:tcPr>
                </a:tc>
                <a:tc>
                  <a:txBody>
                    <a:bodyPr wrap="square"/>
                    <a:lstStyle/>
                    <a:p>
                      <a:r>
                        <a:rPr sz="950" b="0" i="0">
                          <a:solidFill>
                            <a:srgbClr val="202020"/>
                          </a:solidFill>
                          <a:latin typeface="Calibri"/>
                        </a:rPr>
                        <a:t>Active-active multi-node crawling</a:t>
                      </a:r>
                    </a:p>
                  </a:txBody>
                  <a:tcPr marT="12700" marB="12700">
                    <a:solidFill>
                      <a:srgbClr val="FFFFFF"/>
                    </a:solidFill>
                  </a:tcPr>
                </a:tc>
                <a:tc>
                  <a:txBody>
                    <a:bodyPr wrap="square"/>
                    <a:lstStyle/>
                    <a:p>
                      <a:r>
                        <a:rPr sz="950" b="0" i="0">
                          <a:solidFill>
                            <a:srgbClr val="202020"/>
                          </a:solidFill>
                          <a:latin typeface="Calibri"/>
                        </a:rPr>
                        <a:t>Off; needs SQL backend</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819</a:t>
            </a:r>
          </a:p>
        </p:txBody>
      </p:sp>
    </p:spTree>
  </p:cSld>
  <p:clrMapOvr>
    <a:masterClrMapping/>
  </p:clrMapOvr>
</p:sld>
</file>

<file path=ppt/slides/slide8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14.7 Network, secrets and TLS</a:t>
            </a:r>
          </a:p>
        </p:txBody>
      </p:sp>
      <p:graphicFrame>
        <p:nvGraphicFramePr>
          <p:cNvPr id="5" name="Table 4"/>
          <p:cNvGraphicFramePr>
            <a:graphicFrameLocks noGrp="1"/>
          </p:cNvGraphicFramePr>
          <p:nvPr/>
        </p:nvGraphicFramePr>
        <p:xfrm>
          <a:off x="502920" y="1188720"/>
          <a:ext cx="11185855" cy="1536192"/>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c>
                  <a:txBody>
                    <a:bodyPr wrap="square"/>
                    <a:lstStyle/>
                    <a:p>
                      <a:r>
                        <a:rPr sz="1050" b="1" i="0">
                          <a:solidFill>
                            <a:srgbClr val="FFFFFF"/>
                          </a:solidFill>
                          <a:latin typeface="Calibri"/>
                        </a:rPr>
                        <a:t>Default / notes</a:t>
                      </a:r>
                    </a:p>
                  </a:txBody>
                  <a:tcPr marT="25400" marB="25400">
                    <a:solidFill>
                      <a:srgbClr val="2E5496"/>
                    </a:solidFill>
                  </a:tcPr>
                </a:tc>
              </a:tr>
              <a:tr h="384048">
                <a:tc>
                  <a:txBody>
                    <a:bodyPr wrap="square"/>
                    <a:lstStyle/>
                    <a:p>
                      <a:r>
                        <a:rPr sz="950" b="0" i="0">
                          <a:solidFill>
                            <a:srgbClr val="202020"/>
                          </a:solidFill>
                          <a:latin typeface="Consolas"/>
                        </a:rPr>
                        <a:t>PROXY_URL / PROXY_BYPASS</a:t>
                      </a:r>
                    </a:p>
                  </a:txBody>
                  <a:tcPr marT="12700" marB="12700">
                    <a:solidFill>
                      <a:srgbClr val="FFFFFF"/>
                    </a:solidFill>
                  </a:tcPr>
                </a:tc>
                <a:tc>
                  <a:txBody>
                    <a:bodyPr wrap="square"/>
                    <a:lstStyle/>
                    <a:p>
                      <a:r>
                        <a:rPr sz="950" b="0" i="0">
                          <a:solidFill>
                            <a:srgbClr val="202020"/>
                          </a:solidFill>
                          <a:latin typeface="Calibri"/>
                        </a:rPr>
                        <a:t>Corporate proxy + direct-connect list</a:t>
                      </a:r>
                    </a:p>
                  </a:txBody>
                  <a:tcPr marT="12700" marB="12700">
                    <a:solidFill>
                      <a:srgbClr val="FFFFFF"/>
                    </a:solidFill>
                  </a:tcPr>
                </a:tc>
                <a:tc>
                  <a:txBody>
                    <a:bodyPr wrap="square"/>
                    <a:lstStyle/>
                    <a:p>
                      <a:r>
                        <a:rPr sz="950" b="0" i="0">
                          <a:solidFill>
                            <a:srgbClr val="202020"/>
                          </a:solidFill>
                          <a:latin typeface="Calibri"/>
                        </a:rPr>
                        <a:t>Unset; typically Graph via proxy, WebHDFS bypassed</a:t>
                      </a:r>
                    </a:p>
                  </a:txBody>
                  <a:tcPr marT="12700" marB="12700">
                    <a:solidFill>
                      <a:srgbClr val="FFFFFF"/>
                    </a:solidFill>
                  </a:tcPr>
                </a:tc>
              </a:tr>
              <a:tr h="384048">
                <a:tc>
                  <a:txBody>
                    <a:bodyPr wrap="square"/>
                    <a:lstStyle/>
                    <a:p>
                      <a:r>
                        <a:rPr sz="950" b="0" i="0">
                          <a:solidFill>
                            <a:srgbClr val="202020"/>
                          </a:solidFill>
                          <a:latin typeface="Consolas"/>
                        </a:rPr>
                        <a:t>CA_BUNDLE_PATH</a:t>
                      </a:r>
                    </a:p>
                  </a:txBody>
                  <a:tcPr marT="12700" marB="12700">
                    <a:solidFill>
                      <a:srgbClr val="F7F9FC"/>
                    </a:solidFill>
                  </a:tcPr>
                </a:tc>
                <a:tc>
                  <a:txBody>
                    <a:bodyPr wrap="square"/>
                    <a:lstStyle/>
                    <a:p>
                      <a:r>
                        <a:rPr sz="950" b="0" i="0">
                          <a:solidFill>
                            <a:srgbClr val="202020"/>
                          </a:solidFill>
                          <a:latin typeface="Calibri"/>
                        </a:rPr>
                        <a:t>Additive private-CA trust (PEM)</a:t>
                      </a:r>
                    </a:p>
                  </a:txBody>
                  <a:tcPr marT="12700" marB="12700">
                    <a:solidFill>
                      <a:srgbClr val="F7F9FC"/>
                    </a:solidFill>
                  </a:tcPr>
                </a:tc>
                <a:tc>
                  <a:txBody>
                    <a:bodyPr wrap="square"/>
                    <a:lstStyle/>
                    <a:p>
                      <a:r>
                        <a:rPr sz="950" b="0" i="0">
                          <a:solidFill>
                            <a:srgbClr val="202020"/>
                          </a:solidFill>
                          <a:latin typeface="Calibri"/>
                        </a:rPr>
                        <a:t>Unset; needed for internal-TLS WebHDFS/Knox and TLS inspection</a:t>
                      </a:r>
                    </a:p>
                  </a:txBody>
                  <a:tcPr marT="12700" marB="12700">
                    <a:solidFill>
                      <a:srgbClr val="F7F9FC"/>
                    </a:solidFill>
                  </a:tcPr>
                </a:tc>
              </a:tr>
              <a:tr h="384048">
                <a:tc>
                  <a:txBody>
                    <a:bodyPr wrap="square"/>
                    <a:lstStyle/>
                    <a:p>
                      <a:r>
                        <a:rPr sz="950" b="0" i="0">
                          <a:solidFill>
                            <a:srgbClr val="202020"/>
                          </a:solidFill>
                          <a:latin typeface="Consolas"/>
                        </a:rPr>
                        <a:t>USE_KEY_VAULT / KEY_VAULT_URI</a:t>
                      </a:r>
                    </a:p>
                  </a:txBody>
                  <a:tcPr marT="12700" marB="12700">
                    <a:solidFill>
                      <a:srgbClr val="FFFFFF"/>
                    </a:solidFill>
                  </a:tcPr>
                </a:tc>
                <a:tc>
                  <a:txBody>
                    <a:bodyPr wrap="square"/>
                    <a:lstStyle/>
                    <a:p>
                      <a:r>
                        <a:rPr sz="950" b="0" i="0">
                          <a:solidFill>
                            <a:srgbClr val="202020"/>
                          </a:solidFill>
                          <a:latin typeface="Calibri"/>
                        </a:rPr>
                        <a:t>Resolve SECRET_* from Key Vault</a:t>
                      </a:r>
                    </a:p>
                  </a:txBody>
                  <a:tcPr marT="12700" marB="12700">
                    <a:solidFill>
                      <a:srgbClr val="FFFFFF"/>
                    </a:solidFill>
                  </a:tcPr>
                </a:tc>
                <a:tc>
                  <a:txBody>
                    <a:bodyPr wrap="square"/>
                    <a:lstStyle/>
                    <a:p>
                      <a:r>
                        <a:rPr sz="950" b="0" i="0">
                          <a:solidFill>
                            <a:srgbClr val="202020"/>
                          </a:solidFill>
                          <a:latin typeface="Calibri"/>
                        </a:rPr>
                        <a:t>Off</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820</a:t>
            </a:r>
          </a:p>
        </p:txBody>
      </p:sp>
    </p:spTree>
  </p:cSld>
  <p:clrMapOvr>
    <a:masterClrMapping/>
  </p:clrMapOvr>
</p:sld>
</file>

<file path=ppt/slides/slide8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14.8 Observability and resilience</a:t>
            </a:r>
          </a:p>
        </p:txBody>
      </p:sp>
      <p:graphicFrame>
        <p:nvGraphicFramePr>
          <p:cNvPr id="5" name="Table 4"/>
          <p:cNvGraphicFramePr>
            <a:graphicFrameLocks noGrp="1"/>
          </p:cNvGraphicFramePr>
          <p:nvPr/>
        </p:nvGraphicFramePr>
        <p:xfrm>
          <a:off x="502920" y="1188720"/>
          <a:ext cx="11185855" cy="3072384"/>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c>
                  <a:txBody>
                    <a:bodyPr wrap="square"/>
                    <a:lstStyle/>
                    <a:p>
                      <a:r>
                        <a:rPr sz="1050" b="1" i="0">
                          <a:solidFill>
                            <a:srgbClr val="FFFFFF"/>
                          </a:solidFill>
                          <a:latin typeface="Calibri"/>
                        </a:rPr>
                        <a:t>Default / notes</a:t>
                      </a:r>
                    </a:p>
                  </a:txBody>
                  <a:tcPr marT="25400" marB="25400">
                    <a:solidFill>
                      <a:srgbClr val="2E5496"/>
                    </a:solidFill>
                  </a:tcPr>
                </a:tc>
              </a:tr>
              <a:tr h="384048">
                <a:tc>
                  <a:txBody>
                    <a:bodyPr wrap="square"/>
                    <a:lstStyle/>
                    <a:p>
                      <a:r>
                        <a:rPr sz="950" b="0" i="0">
                          <a:solidFill>
                            <a:srgbClr val="202020"/>
                          </a:solidFill>
                          <a:latin typeface="Consolas"/>
                        </a:rPr>
                        <a:t>HEALTH_PORT</a:t>
                      </a:r>
                    </a:p>
                  </a:txBody>
                  <a:tcPr marT="12700" marB="12700">
                    <a:solidFill>
                      <a:srgbClr val="FFFFFF"/>
                    </a:solidFill>
                  </a:tcPr>
                </a:tc>
                <a:tc>
                  <a:txBody>
                    <a:bodyPr wrap="square"/>
                    <a:lstStyle/>
                    <a:p>
                      <a:r>
                        <a:rPr sz="950" b="0" i="0">
                          <a:solidFill>
                            <a:srgbClr val="202020"/>
                          </a:solidFill>
                          <a:latin typeface="Calibri"/>
                        </a:rPr>
                        <a:t>Serve /health, /ready, /metrics</a:t>
                      </a:r>
                    </a:p>
                  </a:txBody>
                  <a:tcPr marT="12700" marB="12700">
                    <a:solidFill>
                      <a:srgbClr val="FFFFFF"/>
                    </a:solidFill>
                  </a:tcPr>
                </a:tc>
                <a:tc>
                  <a:txBody>
                    <a:bodyPr wrap="square"/>
                    <a:lstStyle/>
                    <a:p>
                      <a:r>
                        <a:rPr sz="950" b="0" i="0">
                          <a:solidFill>
                            <a:srgbClr val="202020"/>
                          </a:solidFill>
                          <a:latin typeface="Calibri"/>
                        </a:rPr>
                        <a:t>Off; firewall it</a:t>
                      </a:r>
                    </a:p>
                  </a:txBody>
                  <a:tcPr marT="12700" marB="12700">
                    <a:solidFill>
                      <a:srgbClr val="FFFFFF"/>
                    </a:solidFill>
                  </a:tcPr>
                </a:tc>
              </a:tr>
              <a:tr h="384048">
                <a:tc>
                  <a:txBody>
                    <a:bodyPr wrap="square"/>
                    <a:lstStyle/>
                    <a:p>
                      <a:r>
                        <a:rPr sz="950" b="0" i="0">
                          <a:solidFill>
                            <a:srgbClr val="202020"/>
                          </a:solidFill>
                          <a:latin typeface="Consolas"/>
                        </a:rPr>
                        <a:t>LOG_FORMAT / LOG_LEVEL</a:t>
                      </a:r>
                    </a:p>
                  </a:txBody>
                  <a:tcPr marT="12700" marB="12700">
                    <a:solidFill>
                      <a:srgbClr val="F7F9FC"/>
                    </a:solidFill>
                  </a:tcPr>
                </a:tc>
                <a:tc>
                  <a:txBody>
                    <a:bodyPr wrap="square"/>
                    <a:lstStyle/>
                    <a:p>
                      <a:r>
                        <a:rPr sz="950" b="0" i="0">
                          <a:solidFill>
                            <a:srgbClr val="202020"/>
                          </a:solidFill>
                          <a:latin typeface="Calibri"/>
                        </a:rPr>
                        <a:t>JSON logs / minimum level</a:t>
                      </a:r>
                    </a:p>
                  </a:txBody>
                  <a:tcPr marT="12700" marB="12700">
                    <a:solidFill>
                      <a:srgbClr val="F7F9FC"/>
                    </a:solidFill>
                  </a:tcPr>
                </a:tc>
                <a:tc>
                  <a:txBody>
                    <a:bodyPr wrap="square"/>
                    <a:lstStyle/>
                    <a:p>
                      <a:r>
                        <a:rPr sz="950" b="0" i="0">
                          <a:solidFill>
                            <a:srgbClr val="202020"/>
                          </a:solidFill>
                          <a:latin typeface="Calibri"/>
                        </a:rPr>
                        <a:t>text / DEBUG</a:t>
                      </a:r>
                    </a:p>
                  </a:txBody>
                  <a:tcPr marT="12700" marB="12700">
                    <a:solidFill>
                      <a:srgbClr val="F7F9FC"/>
                    </a:solidFill>
                  </a:tcPr>
                </a:tc>
              </a:tr>
              <a:tr h="384048">
                <a:tc>
                  <a:txBody>
                    <a:bodyPr wrap="square"/>
                    <a:lstStyle/>
                    <a:p>
                      <a:r>
                        <a:rPr sz="950" b="0" i="0">
                          <a:solidFill>
                            <a:srgbClr val="202020"/>
                          </a:solidFill>
                          <a:latin typeface="Consolas"/>
                        </a:rPr>
                        <a:t>LOG_RETENTION_DAYS</a:t>
                      </a:r>
                    </a:p>
                  </a:txBody>
                  <a:tcPr marT="12700" marB="12700">
                    <a:solidFill>
                      <a:srgbClr val="FFFFFF"/>
                    </a:solidFill>
                  </a:tcPr>
                </a:tc>
                <a:tc>
                  <a:txBody>
                    <a:bodyPr wrap="square"/>
                    <a:lstStyle/>
                    <a:p>
                      <a:r>
                        <a:rPr sz="950" b="0" i="0">
                          <a:solidFill>
                            <a:srgbClr val="202020"/>
                          </a:solidFill>
                          <a:latin typeface="Calibri"/>
                        </a:rPr>
                        <a:t>Prune old run-log directories</a:t>
                      </a:r>
                    </a:p>
                  </a:txBody>
                  <a:tcPr marT="12700" marB="12700">
                    <a:solidFill>
                      <a:srgbClr val="FFFFFF"/>
                    </a:solidFill>
                  </a:tcPr>
                </a:tc>
                <a:tc>
                  <a:txBody>
                    <a:bodyPr wrap="square"/>
                    <a:lstStyle/>
                    <a:p>
                      <a:r>
                        <a:rPr sz="950" b="0" i="0">
                          <a:solidFill>
                            <a:srgbClr val="202020"/>
                          </a:solidFill>
                          <a:latin typeface="Calibri"/>
                        </a:rPr>
                        <a:t>0 (off); state files never touched</a:t>
                      </a:r>
                    </a:p>
                  </a:txBody>
                  <a:tcPr marT="12700" marB="12700">
                    <a:solidFill>
                      <a:srgbClr val="FFFFFF"/>
                    </a:solidFill>
                  </a:tcPr>
                </a:tc>
              </a:tr>
              <a:tr h="384048">
                <a:tc>
                  <a:txBody>
                    <a:bodyPr wrap="square"/>
                    <a:lstStyle/>
                    <a:p>
                      <a:r>
                        <a:rPr sz="950" b="0" i="0">
                          <a:solidFill>
                            <a:srgbClr val="202020"/>
                          </a:solidFill>
                          <a:latin typeface="Consolas"/>
                        </a:rPr>
                        <a:t>ALERT_WEBHOOK_URL / ALERT_DEADLETTER_THRESHOLD</a:t>
                      </a:r>
                    </a:p>
                  </a:txBody>
                  <a:tcPr marT="12700" marB="12700">
                    <a:solidFill>
                      <a:srgbClr val="F7F9FC"/>
                    </a:solidFill>
                  </a:tcPr>
                </a:tc>
                <a:tc>
                  <a:txBody>
                    <a:bodyPr wrap="square"/>
                    <a:lstStyle/>
                    <a:p>
                      <a:r>
                        <a:rPr sz="950" b="0" i="0">
                          <a:solidFill>
                            <a:srgbClr val="202020"/>
                          </a:solidFill>
                          <a:latin typeface="Calibri"/>
                        </a:rPr>
                        <a:t>Outbound alert feed + dead-letter depth alert</a:t>
                      </a:r>
                    </a:p>
                  </a:txBody>
                  <a:tcPr marT="12700" marB="12700">
                    <a:solidFill>
                      <a:srgbClr val="F7F9FC"/>
                    </a:solidFill>
                  </a:tcPr>
                </a:tc>
                <a:tc>
                  <a:txBody>
                    <a:bodyPr wrap="square"/>
                    <a:lstStyle/>
                    <a:p>
                      <a:r>
                        <a:rPr sz="950" b="0" i="0">
                          <a:solidFill>
                            <a:srgbClr val="202020"/>
                          </a:solidFill>
                          <a:latin typeface="Calibri"/>
                        </a:rPr>
                        <a:t>Off</a:t>
                      </a:r>
                    </a:p>
                  </a:txBody>
                  <a:tcPr marT="12700" marB="12700">
                    <a:solidFill>
                      <a:srgbClr val="F7F9FC"/>
                    </a:solidFill>
                  </a:tcPr>
                </a:tc>
              </a:tr>
              <a:tr h="384048">
                <a:tc>
                  <a:txBody>
                    <a:bodyPr wrap="square"/>
                    <a:lstStyle/>
                    <a:p>
                      <a:r>
                        <a:rPr sz="950" b="0" i="0">
                          <a:solidFill>
                            <a:srgbClr val="202020"/>
                          </a:solidFill>
                          <a:latin typeface="Consolas"/>
                        </a:rPr>
                        <a:t>EVENTLOG_ENABLED</a:t>
                      </a:r>
                    </a:p>
                  </a:txBody>
                  <a:tcPr marT="12700" marB="12700">
                    <a:solidFill>
                      <a:srgbClr val="FFFFFF"/>
                    </a:solidFill>
                  </a:tcPr>
                </a:tc>
                <a:tc>
                  <a:txBody>
                    <a:bodyPr wrap="square"/>
                    <a:lstStyle/>
                    <a:p>
                      <a:r>
                        <a:rPr sz="950" b="0" i="0">
                          <a:solidFill>
                            <a:srgbClr val="202020"/>
                          </a:solidFill>
                          <a:latin typeface="Calibri"/>
                        </a:rPr>
                        <a:t>Mirror warnings/errors to the Windows event log</a:t>
                      </a:r>
                    </a:p>
                  </a:txBody>
                  <a:tcPr marT="12700" marB="12700">
                    <a:solidFill>
                      <a:srgbClr val="FFFFFF"/>
                    </a:solidFill>
                  </a:tcPr>
                </a:tc>
                <a:tc>
                  <a:txBody>
                    <a:bodyPr wrap="square"/>
                    <a:lstStyle/>
                    <a:p>
                      <a:r>
                        <a:rPr sz="950" b="0" i="0">
                          <a:solidFill>
                            <a:srgbClr val="202020"/>
                          </a:solidFill>
                          <a:latin typeface="Calibri"/>
                        </a:rPr>
                        <a:t>false (enable in production)</a:t>
                      </a:r>
                    </a:p>
                  </a:txBody>
                  <a:tcPr marT="12700" marB="12700">
                    <a:solidFill>
                      <a:srgbClr val="FFFFFF"/>
                    </a:solidFill>
                  </a:tcPr>
                </a:tc>
              </a:tr>
              <a:tr h="384048">
                <a:tc>
                  <a:txBody>
                    <a:bodyPr wrap="square"/>
                    <a:lstStyle/>
                    <a:p>
                      <a:r>
                        <a:rPr sz="950" b="0" i="0">
                          <a:solidFill>
                            <a:srgbClr val="202020"/>
                          </a:solidFill>
                          <a:latin typeface="Consolas"/>
                        </a:rPr>
                        <a:t>OTEL_EXPORTER_OTLP_ENDPOINT</a:t>
                      </a:r>
                    </a:p>
                  </a:txBody>
                  <a:tcPr marT="12700" marB="12700">
                    <a:solidFill>
                      <a:srgbClr val="F7F9FC"/>
                    </a:solidFill>
                  </a:tcPr>
                </a:tc>
                <a:tc>
                  <a:txBody>
                    <a:bodyPr wrap="square"/>
                    <a:lstStyle/>
                    <a:p>
                      <a:r>
                        <a:rPr sz="950" b="0" i="0">
                          <a:solidFill>
                            <a:srgbClr val="202020"/>
                          </a:solidFill>
                          <a:latin typeface="Calibri"/>
                        </a:rPr>
                        <a:t>Turn on OpenTelemetry tracing + correlation ids</a:t>
                      </a:r>
                    </a:p>
                  </a:txBody>
                  <a:tcPr marT="12700" marB="12700">
                    <a:solidFill>
                      <a:srgbClr val="F7F9FC"/>
                    </a:solidFill>
                  </a:tcPr>
                </a:tc>
                <a:tc>
                  <a:txBody>
                    <a:bodyPr wrap="square"/>
                    <a:lstStyle/>
                    <a:p>
                      <a:r>
                        <a:rPr sz="950" b="0" i="0">
                          <a:solidFill>
                            <a:srgbClr val="202020"/>
                          </a:solidFill>
                          <a:latin typeface="Calibri"/>
                        </a:rPr>
                        <a:t>Unset = genuine no-op</a:t>
                      </a:r>
                    </a:p>
                  </a:txBody>
                  <a:tcPr marT="12700" marB="12700">
                    <a:solidFill>
                      <a:srgbClr val="F7F9FC"/>
                    </a:solidFill>
                  </a:tcPr>
                </a:tc>
              </a:tr>
              <a:tr h="384048">
                <a:tc>
                  <a:txBody>
                    <a:bodyPr wrap="square"/>
                    <a:lstStyle/>
                    <a:p>
                      <a:r>
                        <a:rPr sz="950" b="0" i="0">
                          <a:solidFill>
                            <a:srgbClr val="202020"/>
                          </a:solidFill>
                          <a:latin typeface="Consolas"/>
                        </a:rPr>
                        <a:t>CIRCUIT_BREAKER</a:t>
                      </a:r>
                    </a:p>
                  </a:txBody>
                  <a:tcPr marT="12700" marB="12700">
                    <a:solidFill>
                      <a:srgbClr val="FFFFFF"/>
                    </a:solidFill>
                  </a:tcPr>
                </a:tc>
                <a:tc>
                  <a:txBody>
                    <a:bodyPr wrap="square"/>
                    <a:lstStyle/>
                    <a:p>
                      <a:r>
                        <a:rPr sz="950" b="0" i="0">
                          <a:solidFill>
                            <a:srgbClr val="202020"/>
                          </a:solidFill>
                          <a:latin typeface="Calibri"/>
                        </a:rPr>
                        <a:t>Fail fast on sustained outages + degraded mode</a:t>
                      </a:r>
                    </a:p>
                  </a:txBody>
                  <a:tcPr marT="12700" marB="12700">
                    <a:solidFill>
                      <a:srgbClr val="FFFFFF"/>
                    </a:solidFill>
                  </a:tcPr>
                </a:tc>
                <a:tc>
                  <a:txBody>
                    <a:bodyPr wrap="square"/>
                    <a:lstStyle/>
                    <a:p>
                      <a:r>
                        <a:rPr sz="950" b="0" i="0">
                          <a:solidFill>
                            <a:srgbClr val="202020"/>
                          </a:solidFill>
                          <a:latin typeface="Calibri"/>
                        </a:rPr>
                        <a:t>true; inert on the happy path</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821</a:t>
            </a:r>
          </a:p>
        </p:txBody>
      </p:sp>
    </p:spTree>
  </p:cSld>
  <p:clrMapOvr>
    <a:masterClrMapping/>
  </p:clrMapOvr>
</p:sld>
</file>

<file path=ppt/slides/slide8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14.9 Data governance &amp; compliance controls</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100"/>
              </a:spcBef>
              <a:spcAft>
                <a:spcPts val="400"/>
              </a:spcAft>
            </a:pPr>
            <a:r>
              <a:rPr sz="1250" b="0" i="0">
                <a:solidFill>
                  <a:srgbClr val="202020"/>
                </a:solidFill>
                <a:latin typeface="Calibri"/>
              </a:rPr>
              <a:t>These controls protect the data the connector handles and make its access decisions auditable. The dead-letter default and the state-directory lock-down apply automatically as of this release; the rest are opt-in (except the decision ledger, which is ON by default here).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822</a:t>
            </a:r>
          </a:p>
        </p:txBody>
      </p:sp>
    </p:spTree>
  </p:cSld>
  <p:clrMapOvr>
    <a:masterClrMapping/>
  </p:clrMapOvr>
</p:sld>
</file>

<file path=ppt/slides/slide8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14.9 Data governance &amp; compliance controls</a:t>
            </a:r>
          </a:p>
        </p:txBody>
      </p:sp>
      <p:graphicFrame>
        <p:nvGraphicFramePr>
          <p:cNvPr id="5" name="Table 4"/>
          <p:cNvGraphicFramePr>
            <a:graphicFrameLocks noGrp="1"/>
          </p:cNvGraphicFramePr>
          <p:nvPr/>
        </p:nvGraphicFramePr>
        <p:xfrm>
          <a:off x="502920" y="1188720"/>
          <a:ext cx="11185855" cy="2688336"/>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Variable</a:t>
                      </a:r>
                    </a:p>
                  </a:txBody>
                  <a:tcPr marT="25400" marB="25400">
                    <a:solidFill>
                      <a:srgbClr val="2E5496"/>
                    </a:solidFill>
                  </a:tcPr>
                </a:tc>
                <a:tc>
                  <a:txBody>
                    <a:bodyPr wrap="square"/>
                    <a:lstStyle/>
                    <a:p>
                      <a:r>
                        <a:rPr sz="1050" b="1" i="0">
                          <a:solidFill>
                            <a:srgbClr val="FFFFFF"/>
                          </a:solidFill>
                          <a:latin typeface="Calibri"/>
                        </a:rPr>
                        <a:t>What it does</a:t>
                      </a:r>
                    </a:p>
                  </a:txBody>
                  <a:tcPr marT="25400" marB="25400">
                    <a:solidFill>
                      <a:srgbClr val="2E5496"/>
                    </a:solidFill>
                  </a:tcPr>
                </a:tc>
                <a:tc>
                  <a:txBody>
                    <a:bodyPr wrap="square"/>
                    <a:lstStyle/>
                    <a:p>
                      <a:r>
                        <a:rPr sz="1050" b="1" i="0">
                          <a:solidFill>
                            <a:srgbClr val="FFFFFF"/>
                          </a:solidFill>
                          <a:latin typeface="Calibri"/>
                        </a:rPr>
                        <a:t>Default / notes</a:t>
                      </a:r>
                    </a:p>
                  </a:txBody>
                  <a:tcPr marT="25400" marB="25400">
                    <a:solidFill>
                      <a:srgbClr val="2E5496"/>
                    </a:solidFill>
                  </a:tcPr>
                </a:tc>
              </a:tr>
              <a:tr h="384048">
                <a:tc>
                  <a:txBody>
                    <a:bodyPr wrap="square"/>
                    <a:lstStyle/>
                    <a:p>
                      <a:r>
                        <a:rPr sz="950" b="0" i="0">
                          <a:solidFill>
                            <a:srgbClr val="202020"/>
                          </a:solidFill>
                          <a:latin typeface="Consolas"/>
                        </a:rPr>
                        <a:t>DEADLETTER_PAYLOAD_MODE</a:t>
                      </a:r>
                    </a:p>
                  </a:txBody>
                  <a:tcPr marT="12700" marB="12700">
                    <a:solidFill>
                      <a:srgbClr val="FFFFFF"/>
                    </a:solidFill>
                  </a:tcPr>
                </a:tc>
                <a:tc>
                  <a:txBody>
                    <a:bodyPr wrap="square"/>
                    <a:lstStyle/>
                    <a:p>
                      <a:r>
                        <a:rPr sz="950" b="0" i="0">
                          <a:solidFill>
                            <a:srgbClr val="202020"/>
                          </a:solidFill>
                          <a:latin typeface="Calibri"/>
                        </a:rPr>
                        <a:t>redacted or full dead-letter payloads</a:t>
                      </a:r>
                    </a:p>
                  </a:txBody>
                  <a:tcPr marT="12700" marB="12700">
                    <a:solidFill>
                      <a:srgbClr val="FFFFFF"/>
                    </a:solidFill>
                  </a:tcPr>
                </a:tc>
                <a:tc>
                  <a:txBody>
                    <a:bodyPr wrap="square"/>
                    <a:lstStyle/>
                    <a:p>
                      <a:r>
                        <a:rPr sz="950" b="0" i="0">
                          <a:solidFill>
                            <a:srgbClr val="202020"/>
                          </a:solidFill>
                          <a:latin typeface="Calibri"/>
                        </a:rPr>
                        <a:t>redacted (default) — record values stripped pre-write; ids, object type, error, property names, sizes and SHA-256 hashes are kept, and retry-failed still re-fetches from BDH. full embeds the exact item body (opt-in; then protect the queue like the source). An UNRECOGNISED value fails fast at config load</a:t>
                      </a:r>
                    </a:p>
                  </a:txBody>
                  <a:tcPr marT="12700" marB="12700">
                    <a:solidFill>
                      <a:srgbClr val="FFFFFF"/>
                    </a:solidFill>
                  </a:tcPr>
                </a:tc>
              </a:tr>
              <a:tr h="384048">
                <a:tc>
                  <a:txBody>
                    <a:bodyPr wrap="square"/>
                    <a:lstStyle/>
                    <a:p>
                      <a:r>
                        <a:rPr sz="950" b="0" i="0">
                          <a:solidFill>
                            <a:srgbClr val="202020"/>
                          </a:solidFill>
                          <a:latin typeface="Consolas"/>
                        </a:rPr>
                        <a:t>CLASSIFICATION</a:t>
                      </a:r>
                    </a:p>
                  </a:txBody>
                  <a:tcPr marT="12700" marB="12700">
                    <a:solidFill>
                      <a:srgbClr val="F7F9FC"/>
                    </a:solidFill>
                  </a:tcPr>
                </a:tc>
                <a:tc>
                  <a:txBody>
                    <a:bodyPr wrap="square"/>
                    <a:lstStyle/>
                    <a:p>
                      <a:r>
                        <a:rPr sz="950" b="0" i="0">
                          <a:solidFill>
                            <a:srgbClr val="202020"/>
                          </a:solidFill>
                          <a:latin typeface="Calibri"/>
                        </a:rPr>
                        <a:t>Stamp the advisory SensitivityLabel tag + DetectedCategories (content PII/PCI/Secret scan + per-object baseline)</a:t>
                      </a:r>
                    </a:p>
                  </a:txBody>
                  <a:tcPr marT="12700" marB="12700">
                    <a:solidFill>
                      <a:srgbClr val="F7F9FC"/>
                    </a:solidFill>
                  </a:tcPr>
                </a:tc>
                <a:tc>
                  <a:txBody>
                    <a:bodyPr wrap="square"/>
                    <a:lstStyle/>
                    <a:p>
                      <a:r>
                        <a:rPr sz="950" b="0" i="0">
                          <a:solidFill>
                            <a:srgbClr val="202020"/>
                          </a:solidFill>
                          <a:latin typeface="Calibri"/>
                        </a:rPr>
                        <a:t>false. An advisory, connector-applied classification TAG — NOT a Purview-enforced label (no encryption/DLP/access gating on its own)</a:t>
                      </a:r>
                    </a:p>
                  </a:txBody>
                  <a:tcPr marT="12700" marB="12700">
                    <a:solidFill>
                      <a:srgbClr val="F7F9FC"/>
                    </a:solidFill>
                  </a:tcPr>
                </a:tc>
              </a:tr>
              <a:tr h="384048">
                <a:tc>
                  <a:txBody>
                    <a:bodyPr wrap="square"/>
                    <a:lstStyle/>
                    <a:p>
                      <a:r>
                        <a:rPr sz="950" b="0" i="0">
                          <a:solidFill>
                            <a:srgbClr val="202020"/>
                          </a:solidFill>
                          <a:latin typeface="Consolas"/>
                        </a:rPr>
                        <a:t>CLASSIFICATION_ENFORCE_ACL</a:t>
                      </a:r>
                    </a:p>
                  </a:txBody>
                  <a:tcPr marT="12700" marB="12700">
                    <a:solidFill>
                      <a:srgbClr val="FFFFFF"/>
                    </a:solidFill>
                  </a:tcPr>
                </a:tc>
                <a:tc>
                  <a:txBody>
                    <a:bodyPr wrap="square"/>
                    <a:lstStyle/>
                    <a:p>
                      <a:r>
                        <a:rPr sz="950" b="0" i="0">
                          <a:solidFill>
                            <a:srgbClr val="202020"/>
                          </a:solidFill>
                          <a:latin typeface="Calibri"/>
                        </a:rPr>
                        <a:t>Turn the advisory tag into a real access boundary: a Restricted item's ACL is replaced with a single grant to the restricted group</a:t>
                      </a:r>
                    </a:p>
                  </a:txBody>
                  <a:tcPr marT="12700" marB="12700">
                    <a:solidFill>
                      <a:srgbClr val="FFFFFF"/>
                    </a:solidFill>
                  </a:tcPr>
                </a:tc>
                <a:tc>
                  <a:txBody>
                    <a:bodyPr wrap="square"/>
                    <a:lstStyle/>
                    <a:p>
                      <a:r>
                        <a:rPr sz="950" b="0" i="0">
                          <a:solidFill>
                            <a:srgbClr val="202020"/>
                          </a:solidFill>
                          <a:latin typeface="Calibri"/>
                        </a:rPr>
                        <a:t>false (advisory only). When true the group id is REQUIRED or config load fails fast; each restriction is written to the decision ledger</a:t>
                      </a:r>
                    </a:p>
                  </a:txBody>
                  <a:tcPr marT="12700" marB="12700">
                    <a:solidFill>
                      <a:srgbClr val="FFFFFF"/>
                    </a:solidFill>
                  </a:tcPr>
                </a:tc>
              </a:tr>
              <a:tr h="384048">
                <a:tc>
                  <a:txBody>
                    <a:bodyPr wrap="square"/>
                    <a:lstStyle/>
                    <a:p>
                      <a:r>
                        <a:rPr sz="950" b="0" i="0">
                          <a:solidFill>
                            <a:srgbClr val="202020"/>
                          </a:solidFill>
                          <a:latin typeface="Consolas"/>
                        </a:rPr>
                        <a:t>CLASSIFICATION_RESTRICTED_GROUP_ID</a:t>
                      </a:r>
                    </a:p>
                  </a:txBody>
                  <a:tcPr marT="12700" marB="12700">
                    <a:solidFill>
                      <a:srgbClr val="F7F9FC"/>
                    </a:solidFill>
                  </a:tcPr>
                </a:tc>
                <a:tc>
                  <a:txBody>
                    <a:bodyPr wrap="square"/>
                    <a:lstStyle/>
                    <a:p>
                      <a:r>
                        <a:rPr sz="950" b="0" i="0">
                          <a:solidFill>
                            <a:srgbClr val="202020"/>
                          </a:solidFill>
                          <a:latin typeface="Calibri"/>
                        </a:rPr>
                        <a:t>Entra group object id that Restricted items are locked to when enforcement is on</a:t>
                      </a:r>
                    </a:p>
                  </a:txBody>
                  <a:tcPr marT="12700" marB="12700">
                    <a:solidFill>
                      <a:srgbClr val="F7F9FC"/>
                    </a:solidFill>
                  </a:tcPr>
                </a:tc>
                <a:tc>
                  <a:txBody>
                    <a:bodyPr wrap="square"/>
                    <a:lstStyle/>
                    <a:p>
                      <a:r>
                        <a:rPr sz="950" b="0" i="0">
                          <a:solidFill>
                            <a:srgbClr val="202020"/>
                          </a:solidFill>
                          <a:latin typeface="Calibri"/>
                        </a:rPr>
                        <a:t>Unset; required when CLASSIFICATION_ENFORCE_ACL=true</a:t>
                      </a:r>
                    </a:p>
                  </a:txBody>
                  <a:tcPr marT="12700" marB="12700">
                    <a:solidFill>
                      <a:srgbClr val="F7F9FC"/>
                    </a:solidFill>
                  </a:tcPr>
                </a:tc>
              </a:tr>
              <a:tr h="384048">
                <a:tc>
                  <a:txBody>
                    <a:bodyPr wrap="square"/>
                    <a:lstStyle/>
                    <a:p>
                      <a:r>
                        <a:rPr sz="950" b="0" i="0">
                          <a:solidFill>
                            <a:srgbClr val="202020"/>
                          </a:solidFill>
                          <a:latin typeface="Consolas"/>
                        </a:rPr>
                        <a:t>GRAPH_ITEM_TTL_DAYS</a:t>
                      </a:r>
                    </a:p>
                  </a:txBody>
                  <a:tcPr marT="12700" marB="12700">
                    <a:solidFill>
                      <a:srgbClr val="FFFFFF"/>
                    </a:solidFill>
                  </a:tcPr>
                </a:tc>
                <a:tc>
                  <a:txBody>
                    <a:bodyPr wrap="square"/>
                    <a:lstStyle/>
                    <a:p>
                      <a:r>
                        <a:rPr sz="950" b="0" i="0">
                          <a:solidFill>
                            <a:srgbClr val="202020"/>
                          </a:solidFill>
                          <a:latin typeface="Calibri"/>
                        </a:rPr>
                        <a:t>Stamp each item with expirationDateTime = now + TTL so the index self-expires if crawling stops</a:t>
                      </a:r>
                    </a:p>
                  </a:txBody>
                  <a:tcPr marT="12700" marB="12700">
                    <a:solidFill>
                      <a:srgbClr val="FFFFFF"/>
                    </a:solidFill>
                  </a:tcPr>
                </a:tc>
                <a:tc>
                  <a:txBody>
                    <a:bodyPr wrap="square"/>
                    <a:lstStyle/>
                    <a:p>
                      <a:r>
                        <a:rPr sz="950" b="0" i="0">
                          <a:solidFill>
                            <a:srgbClr val="202020"/>
                          </a:solidFill>
                          <a:latin typeface="Calibri"/>
                        </a:rPr>
                        <a:t>0 = unset (items never expire; unchanged). Set comfortably above your full-crawl interval so healthy items are always re-stamped</a:t>
                      </a:r>
                    </a:p>
                  </a:txBody>
                  <a:tcPr marT="12700" marB="12700">
                    <a:solidFill>
                      <a:srgbClr val="FFFFFF"/>
                    </a:solidFill>
                  </a:tcPr>
                </a:tc>
              </a:tr>
              <a:tr h="384048">
                <a:tc>
                  <a:txBody>
                    <a:bodyPr wrap="square"/>
                    <a:lstStyle/>
                    <a:p>
                      <a:r>
                        <a:rPr sz="950" b="0" i="0">
                          <a:solidFill>
                            <a:srgbClr val="202020"/>
                          </a:solidFill>
                          <a:latin typeface="Consolas"/>
                        </a:rPr>
                        <a:t>DECISION_LEDGER</a:t>
                      </a:r>
                    </a:p>
                  </a:txBody>
                  <a:tcPr marT="12700" marB="12700">
                    <a:solidFill>
                      <a:srgbClr val="F7F9FC"/>
                    </a:solidFill>
                  </a:tcPr>
                </a:tc>
                <a:tc>
                  <a:txBody>
                    <a:bodyPr wrap="square"/>
                    <a:lstStyle/>
                    <a:p>
                      <a:r>
                        <a:rPr sz="950" b="0" i="0">
                          <a:solidFill>
                            <a:srgbClr val="202020"/>
                          </a:solidFill>
                          <a:latin typeface="Calibri"/>
                        </a:rPr>
                        <a:t>Append-only, SHA-256 hash-chained audit of EXCLUSION and ACL_RESTRICTION decisions (logs/decisions_&lt;CONNECTOR_ID&gt;.jsonl); a Verify step detects tamper/reorder/deletion</a:t>
                      </a:r>
                    </a:p>
                  </a:txBody>
                  <a:tcPr marT="12700" marB="12700">
                    <a:solidFill>
                      <a:srgbClr val="F7F9FC"/>
                    </a:solidFill>
                  </a:tcPr>
                </a:tc>
                <a:tc>
                  <a:txBody>
                    <a:bodyPr wrap="square"/>
                    <a:lstStyle/>
                    <a:p>
                      <a:r>
                        <a:rPr sz="950" b="0" i="0">
                          <a:solidFill>
                            <a:srgbClr val="202020"/>
                          </a:solidFill>
                          <a:latin typeface="Calibri"/>
                        </a:rPr>
                        <a:t>true (ON by default for this connector). Ids and reasons only — never content or PII</a:t>
                      </a:r>
                    </a:p>
                  </a:txBody>
                  <a:tcPr marT="12700" marB="12700">
                    <a:solidFill>
                      <a:srgbClr val="F7F9FC"/>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823</a:t>
            </a:r>
          </a:p>
        </p:txBody>
      </p:sp>
    </p:spTree>
  </p:cSld>
  <p:clrMapOvr>
    <a:masterClrMapping/>
  </p:clrMapOvr>
</p:sld>
</file>

<file path=ppt/slides/slide8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14.10 filters.json field reference</a:t>
            </a:r>
          </a:p>
        </p:txBody>
      </p:sp>
      <p:graphicFrame>
        <p:nvGraphicFramePr>
          <p:cNvPr id="5" name="Table 4"/>
          <p:cNvGraphicFramePr>
            <a:graphicFrameLocks noGrp="1"/>
          </p:cNvGraphicFramePr>
          <p:nvPr/>
        </p:nvGraphicFramePr>
        <p:xfrm>
          <a:off x="502920" y="1188720"/>
          <a:ext cx="11185855" cy="3840480"/>
        </p:xfrm>
        <a:graphic>
          <a:graphicData uri="http://schemas.openxmlformats.org/drawingml/2006/table">
            <a:tbl>
              <a:tblPr firstRow="1" bandRow="1">
                <a:tableStyleId>{5C22544A-7EE6-4342-B048-85BDC9FD1C3A}</a:tableStyleId>
              </a:tblPr>
              <a:tblGrid>
                <a:gridCol w="3355756"/>
                <a:gridCol w="1789736"/>
                <a:gridCol w="6040363"/>
              </a:tblGrid>
              <a:tr h="384048">
                <a:tc>
                  <a:txBody>
                    <a:bodyPr wrap="square"/>
                    <a:lstStyle/>
                    <a:p>
                      <a:r>
                        <a:rPr sz="1050" b="1" i="0">
                          <a:solidFill>
                            <a:srgbClr val="FFFFFF"/>
                          </a:solidFill>
                          <a:latin typeface="Calibri"/>
                        </a:rPr>
                        <a:t>Field</a:t>
                      </a:r>
                    </a:p>
                  </a:txBody>
                  <a:tcPr marT="25400" marB="25400">
                    <a:solidFill>
                      <a:srgbClr val="2E5496"/>
                    </a:solidFill>
                  </a:tcPr>
                </a:tc>
                <a:tc>
                  <a:txBody>
                    <a:bodyPr wrap="square"/>
                    <a:lstStyle/>
                    <a:p>
                      <a:r>
                        <a:rPr sz="1050" b="1" i="0">
                          <a:solidFill>
                            <a:srgbClr val="FFFFFF"/>
                          </a:solidFill>
                          <a:latin typeface="Calibri"/>
                        </a:rPr>
                        <a:t>Meaning</a:t>
                      </a:r>
                    </a:p>
                  </a:txBody>
                  <a:tcPr marT="25400" marB="25400">
                    <a:solidFill>
                      <a:srgbClr val="2E5496"/>
                    </a:solidFill>
                  </a:tcPr>
                </a:tc>
                <a:tc>
                  <a:txBody>
                    <a:bodyPr wrap="square"/>
                    <a:lstStyle/>
                    <a:p>
                      <a:r>
                        <a:rPr sz="1050" b="1" i="0">
                          <a:solidFill>
                            <a:srgbClr val="FFFFFF"/>
                          </a:solidFill>
                          <a:latin typeface="Calibri"/>
                        </a:rPr>
                        <a:t>Notes</a:t>
                      </a:r>
                    </a:p>
                  </a:txBody>
                  <a:tcPr marT="25400" marB="25400">
                    <a:solidFill>
                      <a:srgbClr val="2E5496"/>
                    </a:solidFill>
                  </a:tcPr>
                </a:tc>
              </a:tr>
              <a:tr h="384048">
                <a:tc>
                  <a:txBody>
                    <a:bodyPr wrap="square"/>
                    <a:lstStyle/>
                    <a:p>
                      <a:r>
                        <a:rPr sz="950" b="0" i="0">
                          <a:solidFill>
                            <a:srgbClr val="202020"/>
                          </a:solidFill>
                          <a:latin typeface="Calibri"/>
                        </a:rPr>
                        <a:t>objects</a:t>
                      </a:r>
                    </a:p>
                  </a:txBody>
                  <a:tcPr marT="12700" marB="12700">
                    <a:solidFill>
                      <a:srgbClr val="FFFFFF"/>
                    </a:solidFill>
                  </a:tcPr>
                </a:tc>
                <a:tc>
                  <a:txBody>
                    <a:bodyPr wrap="square"/>
                    <a:lstStyle/>
                    <a:p>
                      <a:r>
                        <a:rPr sz="950" b="0" i="0">
                          <a:solidFill>
                            <a:srgbClr val="202020"/>
                          </a:solidFill>
                          <a:latin typeface="Calibri"/>
                        </a:rPr>
                        <a:t>Map of object type → its filter definition</a:t>
                      </a:r>
                    </a:p>
                  </a:txBody>
                  <a:tcPr marT="12700" marB="12700">
                    <a:solidFill>
                      <a:srgbClr val="FFFFFF"/>
                    </a:solidFill>
                  </a:tcPr>
                </a:tc>
                <a:tc>
                  <a:txBody>
                    <a:bodyPr wrap="square"/>
                    <a:lstStyle/>
                    <a:p>
                      <a:r>
                        <a:rPr sz="950" b="0" i="0">
                          <a:solidFill>
                            <a:srgbClr val="202020"/>
                          </a:solidFill>
                          <a:latin typeface="Calibri"/>
                        </a:rPr>
                        <a:t>Object names matched case-insensitively to schema.json</a:t>
                      </a:r>
                    </a:p>
                  </a:txBody>
                  <a:tcPr marT="12700" marB="12700">
                    <a:solidFill>
                      <a:srgbClr val="FFFFFF"/>
                    </a:solidFill>
                  </a:tcPr>
                </a:tc>
              </a:tr>
              <a:tr h="384048">
                <a:tc>
                  <a:txBody>
                    <a:bodyPr wrap="square"/>
                    <a:lstStyle/>
                    <a:p>
                      <a:r>
                        <a:rPr sz="950" b="0" i="0">
                          <a:solidFill>
                            <a:srgbClr val="202020"/>
                          </a:solidFill>
                          <a:latin typeface="Calibri"/>
                        </a:rPr>
                        <a:t>partition</a:t>
                      </a:r>
                    </a:p>
                  </a:txBody>
                  <a:tcPr marT="12700" marB="12700">
                    <a:solidFill>
                      <a:srgbClr val="F7F9FC"/>
                    </a:solidFill>
                  </a:tcPr>
                </a:tc>
                <a:tc>
                  <a:txBody>
                    <a:bodyPr wrap="square"/>
                    <a:lstStyle/>
                    <a:p>
                      <a:r>
                        <a:rPr sz="950" b="0" i="0">
                          <a:solidFill>
                            <a:srgbClr val="202020"/>
                          </a:solidFill>
                          <a:latin typeface="Calibri"/>
                        </a:rPr>
                        <a:t>Array of predicates on Hive partition KEYS (dt, region, …)</a:t>
                      </a:r>
                    </a:p>
                  </a:txBody>
                  <a:tcPr marT="12700" marB="12700">
                    <a:solidFill>
                      <a:srgbClr val="F7F9FC"/>
                    </a:solidFill>
                  </a:tcPr>
                </a:tc>
                <a:tc>
                  <a:txBody>
                    <a:bodyPr wrap="square"/>
                    <a:lstStyle/>
                    <a:p>
                      <a:r>
                        <a:rPr sz="950" b="0" i="0">
                          <a:solidFill>
                            <a:srgbClr val="202020"/>
                          </a:solidFill>
                          <a:latin typeface="Calibri"/>
                        </a:rPr>
                        <a:t>Evaluated on directory names; implicit AND; pruned with zero I/O</a:t>
                      </a:r>
                    </a:p>
                  </a:txBody>
                  <a:tcPr marT="12700" marB="12700">
                    <a:solidFill>
                      <a:srgbClr val="F7F9FC"/>
                    </a:solidFill>
                  </a:tcPr>
                </a:tc>
              </a:tr>
              <a:tr h="384048">
                <a:tc>
                  <a:txBody>
                    <a:bodyPr wrap="square"/>
                    <a:lstStyle/>
                    <a:p>
                      <a:r>
                        <a:rPr sz="950" b="0" i="0">
                          <a:solidFill>
                            <a:srgbClr val="202020"/>
                          </a:solidFill>
                          <a:latin typeface="Calibri"/>
                        </a:rPr>
                        <a:t>anyOf</a:t>
                      </a:r>
                    </a:p>
                  </a:txBody>
                  <a:tcPr marT="12700" marB="12700">
                    <a:solidFill>
                      <a:srgbClr val="FFFFFF"/>
                    </a:solidFill>
                  </a:tcPr>
                </a:tc>
                <a:tc>
                  <a:txBody>
                    <a:bodyPr wrap="square"/>
                    <a:lstStyle/>
                    <a:p>
                      <a:r>
                        <a:rPr sz="950" b="0" i="0">
                          <a:solidFill>
                            <a:srgbClr val="202020"/>
                          </a:solidFill>
                          <a:latin typeface="Calibri"/>
                        </a:rPr>
                        <a:t>OR of { "allOf": [ … ] } record-predicate groups</a:t>
                      </a:r>
                    </a:p>
                  </a:txBody>
                  <a:tcPr marT="12700" marB="12700">
                    <a:solidFill>
                      <a:srgbClr val="FFFFFF"/>
                    </a:solidFill>
                  </a:tcPr>
                </a:tc>
                <a:tc>
                  <a:txBody>
                    <a:bodyPr wrap="square"/>
                    <a:lstStyle/>
                    <a:p>
                      <a:r>
                        <a:rPr sz="950" b="0" i="0">
                          <a:solidFill>
                            <a:srgbClr val="202020"/>
                          </a:solidFill>
                          <a:latin typeface="Calibri"/>
                        </a:rPr>
                        <a:t>A row matches if any group fully matches</a:t>
                      </a:r>
                    </a:p>
                  </a:txBody>
                  <a:tcPr marT="12700" marB="12700">
                    <a:solidFill>
                      <a:srgbClr val="FFFFFF"/>
                    </a:solidFill>
                  </a:tcPr>
                </a:tc>
              </a:tr>
              <a:tr h="384048">
                <a:tc>
                  <a:txBody>
                    <a:bodyPr wrap="square"/>
                    <a:lstStyle/>
                    <a:p>
                      <a:r>
                        <a:rPr sz="950" b="0" i="0">
                          <a:solidFill>
                            <a:srgbClr val="202020"/>
                          </a:solidFill>
                          <a:latin typeface="Calibri"/>
                        </a:rPr>
                        <a:t>allOf (top level)</a:t>
                      </a:r>
                    </a:p>
                  </a:txBody>
                  <a:tcPr marT="12700" marB="12700">
                    <a:solidFill>
                      <a:srgbClr val="F7F9FC"/>
                    </a:solidFill>
                  </a:tcPr>
                </a:tc>
                <a:tc>
                  <a:txBody>
                    <a:bodyPr wrap="square"/>
                    <a:lstStyle/>
                    <a:p>
                      <a:r>
                        <a:rPr sz="950" b="0" i="0">
                          <a:solidFill>
                            <a:srgbClr val="202020"/>
                          </a:solidFill>
                          <a:latin typeface="Calibri"/>
                        </a:rPr>
                        <a:t>Shorthand for a single record-predicate group</a:t>
                      </a:r>
                    </a:p>
                  </a:txBody>
                  <a:tcPr marT="12700" marB="12700">
                    <a:solidFill>
                      <a:srgbClr val="F7F9FC"/>
                    </a:solidFill>
                  </a:tcPr>
                </a:tc>
                <a:tc>
                  <a:txBody>
                    <a:bodyPr wrap="square"/>
                    <a:lstStyle/>
                    <a:p>
                      <a:r>
                        <a:rPr sz="950" b="0" i="0">
                          <a:solidFill>
                            <a:srgbClr val="202020"/>
                          </a:solidFill>
                          <a:latin typeface="Calibri"/>
                        </a:rPr>
                        <a:t>Cannot be combined with anyOf on the same object</a:t>
                      </a:r>
                    </a:p>
                  </a:txBody>
                  <a:tcPr marT="12700" marB="12700">
                    <a:solidFill>
                      <a:srgbClr val="F7F9FC"/>
                    </a:solidFill>
                  </a:tcPr>
                </a:tc>
              </a:tr>
              <a:tr h="384048">
                <a:tc>
                  <a:txBody>
                    <a:bodyPr wrap="square"/>
                    <a:lstStyle/>
                    <a:p>
                      <a:r>
                        <a:rPr sz="950" b="0" i="0">
                          <a:solidFill>
                            <a:srgbClr val="202020"/>
                          </a:solidFill>
                          <a:latin typeface="Calibri"/>
                        </a:rPr>
                        <a:t>field / key</a:t>
                      </a:r>
                    </a:p>
                  </a:txBody>
                  <a:tcPr marT="12700" marB="12700">
                    <a:solidFill>
                      <a:srgbClr val="FFFFFF"/>
                    </a:solidFill>
                  </a:tcPr>
                </a:tc>
                <a:tc>
                  <a:txBody>
                    <a:bodyPr wrap="square"/>
                    <a:lstStyle/>
                    <a:p>
                      <a:r>
                        <a:rPr sz="950" b="0" i="0">
                          <a:solidFill>
                            <a:srgbClr val="202020"/>
                          </a:solidFill>
                          <a:latin typeface="Calibri"/>
                        </a:rPr>
                        <a:t>Record field (field) or partition key (key)</a:t>
                      </a:r>
                    </a:p>
                  </a:txBody>
                  <a:tcPr marT="12700" marB="12700">
                    <a:solidFill>
                      <a:srgbClr val="FFFFFF"/>
                    </a:solidFill>
                  </a:tcPr>
                </a:tc>
                <a:tc>
                  <a:txBody>
                    <a:bodyPr wrap="square"/>
                    <a:lstStyle/>
                    <a:p>
                      <a:r>
                        <a:rPr sz="950" b="0" i="0">
                          <a:solidFill>
                            <a:srgbClr val="202020"/>
                          </a:solidFill>
                          <a:latin typeface="Calibri"/>
                        </a:rPr>
                        <a:t>Case-insensitive lookup</a:t>
                      </a:r>
                    </a:p>
                  </a:txBody>
                  <a:tcPr marT="12700" marB="12700">
                    <a:solidFill>
                      <a:srgbClr val="FFFFFF"/>
                    </a:solidFill>
                  </a:tcPr>
                </a:tc>
              </a:tr>
              <a:tr h="384048">
                <a:tc>
                  <a:txBody>
                    <a:bodyPr wrap="square"/>
                    <a:lstStyle/>
                    <a:p>
                      <a:r>
                        <a:rPr sz="950" b="0" i="0">
                          <a:solidFill>
                            <a:srgbClr val="202020"/>
                          </a:solidFill>
                          <a:latin typeface="Calibri"/>
                        </a:rPr>
                        <a:t>op</a:t>
                      </a:r>
                    </a:p>
                  </a:txBody>
                  <a:tcPr marT="12700" marB="12700">
                    <a:solidFill>
                      <a:srgbClr val="F7F9FC"/>
                    </a:solidFill>
                  </a:tcPr>
                </a:tc>
                <a:tc>
                  <a:txBody>
                    <a:bodyPr wrap="square"/>
                    <a:lstStyle/>
                    <a:p>
                      <a:r>
                        <a:rPr sz="950" b="0" i="0">
                          <a:solidFill>
                            <a:srgbClr val="202020"/>
                          </a:solidFill>
                          <a:latin typeface="Calibri"/>
                        </a:rPr>
                        <a:t>One of the 14 operators (Section 6.3)</a:t>
                      </a:r>
                    </a:p>
                  </a:txBody>
                  <a:tcPr marT="12700" marB="12700">
                    <a:solidFill>
                      <a:srgbClr val="F7F9FC"/>
                    </a:solidFill>
                  </a:tcPr>
                </a:tc>
                <a:tc>
                  <a:txBody>
                    <a:bodyPr wrap="square"/>
                    <a:lstStyle/>
                    <a:p>
                      <a:r>
                        <a:rPr sz="950" b="0" i="0">
                          <a:solidFill>
                            <a:srgbClr val="202020"/>
                          </a:solidFill>
                          <a:latin typeface="Calibri"/>
                        </a:rPr>
                        <a:t>An unknown operator is a startup error</a:t>
                      </a:r>
                    </a:p>
                  </a:txBody>
                  <a:tcPr marT="12700" marB="12700">
                    <a:solidFill>
                      <a:srgbClr val="F7F9FC"/>
                    </a:solidFill>
                  </a:tcPr>
                </a:tc>
              </a:tr>
              <a:tr h="384048">
                <a:tc>
                  <a:txBody>
                    <a:bodyPr wrap="square"/>
                    <a:lstStyle/>
                    <a:p>
                      <a:r>
                        <a:rPr sz="950" b="0" i="0">
                          <a:solidFill>
                            <a:srgbClr val="202020"/>
                          </a:solidFill>
                          <a:latin typeface="Calibri"/>
                        </a:rPr>
                        <a:t>value / values</a:t>
                      </a:r>
                    </a:p>
                  </a:txBody>
                  <a:tcPr marT="12700" marB="12700">
                    <a:solidFill>
                      <a:srgbClr val="FFFFFF"/>
                    </a:solidFill>
                  </a:tcPr>
                </a:tc>
                <a:tc>
                  <a:txBody>
                    <a:bodyPr wrap="square"/>
                    <a:lstStyle/>
                    <a:p>
                      <a:r>
                        <a:rPr sz="950" b="0" i="0">
                          <a:solidFill>
                            <a:srgbClr val="202020"/>
                          </a:solidFill>
                          <a:latin typeface="Calibri"/>
                        </a:rPr>
                        <a:t>Scalar operand / list operand</a:t>
                      </a:r>
                    </a:p>
                  </a:txBody>
                  <a:tcPr marT="12700" marB="12700">
                    <a:solidFill>
                      <a:srgbClr val="FFFFFF"/>
                    </a:solidFill>
                  </a:tcPr>
                </a:tc>
                <a:tc>
                  <a:txBody>
                    <a:bodyPr wrap="square"/>
                    <a:lstStyle/>
                    <a:p>
                      <a:r>
                        <a:rPr sz="950" b="0" i="0">
                          <a:solidFill>
                            <a:srgbClr val="202020"/>
                          </a:solidFill>
                          <a:latin typeface="Calibri"/>
                        </a:rPr>
                        <a:t>Always JSON strings, e.g. "100000"</a:t>
                      </a:r>
                    </a:p>
                  </a:txBody>
                  <a:tcPr marT="12700" marB="12700">
                    <a:solidFill>
                      <a:srgbClr val="FFFFFF"/>
                    </a:solidFill>
                  </a:tcPr>
                </a:tc>
              </a:tr>
              <a:tr h="384048">
                <a:tc>
                  <a:txBody>
                    <a:bodyPr wrap="square"/>
                    <a:lstStyle/>
                    <a:p>
                      <a:r>
                        <a:rPr sz="950" b="0" i="0">
                          <a:solidFill>
                            <a:srgbClr val="202020"/>
                          </a:solidFill>
                          <a:latin typeface="Calibri"/>
                        </a:rPr>
                        <a:t>notes</a:t>
                      </a:r>
                    </a:p>
                  </a:txBody>
                  <a:tcPr marT="12700" marB="12700">
                    <a:solidFill>
                      <a:srgbClr val="F7F9FC"/>
                    </a:solidFill>
                  </a:tcPr>
                </a:tc>
                <a:tc>
                  <a:txBody>
                    <a:bodyPr wrap="square"/>
                    <a:lstStyle/>
                    <a:p>
                      <a:r>
                        <a:rPr sz="950" b="0" i="0">
                          <a:solidFill>
                            <a:srgbClr val="202020"/>
                          </a:solidFill>
                          <a:latin typeface="Calibri"/>
                        </a:rPr>
                        <a:t>Free-text documentation</a:t>
                      </a:r>
                    </a:p>
                  </a:txBody>
                  <a:tcPr marT="12700" marB="12700">
                    <a:solidFill>
                      <a:srgbClr val="F7F9FC"/>
                    </a:solidFill>
                  </a:tcPr>
                </a:tc>
                <a:tc>
                  <a:txBody>
                    <a:bodyPr wrap="square"/>
                    <a:lstStyle/>
                    <a:p>
                      <a:r>
                        <a:rPr sz="950" b="0" i="0">
                          <a:solidFill>
                            <a:srgbClr val="202020"/>
                          </a:solidFill>
                          <a:latin typeface="Calibri"/>
                        </a:rPr>
                        <a:t>Ignored by the loader</a:t>
                      </a:r>
                    </a:p>
                  </a:txBody>
                  <a:tcPr marT="12700" marB="12700">
                    <a:solidFill>
                      <a:srgbClr val="F7F9FC"/>
                    </a:solidFill>
                  </a:tcPr>
                </a:tc>
              </a:tr>
              <a:tr h="384048">
                <a:tc>
                  <a:txBody>
                    <a:bodyPr wrap="square"/>
                    <a:lstStyle/>
                    <a:p>
                      <a:r>
                        <a:rPr sz="950" b="0" i="0">
                          <a:solidFill>
                            <a:srgbClr val="202020"/>
                          </a:solidFill>
                          <a:latin typeface="Calibri"/>
                        </a:rPr>
                        <a:t>fullScanAllowed</a:t>
                      </a:r>
                    </a:p>
                  </a:txBody>
                  <a:tcPr marT="12700" marB="12700">
                    <a:solidFill>
                      <a:srgbClr val="FFFFFF"/>
                    </a:solidFill>
                  </a:tcPr>
                </a:tc>
                <a:tc>
                  <a:txBody>
                    <a:bodyPr wrap="square"/>
                    <a:lstStyle/>
                    <a:p>
                      <a:r>
                        <a:rPr sz="950" b="0" i="0">
                          <a:solidFill>
                            <a:srgbClr val="202020"/>
                          </a:solidFill>
                          <a:latin typeface="Calibri"/>
                        </a:rPr>
                        <a:t>Array of object names exempt from the guard</a:t>
                      </a:r>
                    </a:p>
                  </a:txBody>
                  <a:tcPr marT="12700" marB="12700">
                    <a:solidFill>
                      <a:srgbClr val="FFFFFF"/>
                    </a:solidFill>
                  </a:tcPr>
                </a:tc>
                <a:tc>
                  <a:txBody>
                    <a:bodyPr wrap="square"/>
                    <a:lstStyle/>
                    <a:p>
                      <a:r>
                        <a:rPr sz="950" b="0" i="0">
                          <a:solidFill>
                            <a:srgbClr val="202020"/>
                          </a:solidFill>
                          <a:latin typeface="Calibri"/>
                        </a:rPr>
                        <a:t>Reviewable and versioned; prefer over ALLOW_FULL_SCAN</a:t>
                      </a:r>
                    </a:p>
                  </a:txBody>
                  <a:tcPr marT="12700" marB="12700">
                    <a:solidFill>
                      <a:srgbClr val="FFFFFF"/>
                    </a:solidFill>
                  </a:tcPr>
                </a:tc>
              </a:tr>
            </a:tbl>
          </a:graphicData>
        </a:graphic>
      </p:graphicFrame>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824</a:t>
            </a:r>
          </a:p>
        </p:txBody>
      </p:sp>
    </p:spTree>
  </p:cSld>
  <p:clrMapOvr>
    <a:masterClrMapping/>
  </p:clrMapOvr>
</p:sld>
</file>

<file path=ppt/slides/slide8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54864" cy="6858000"/>
          </a:xfrm>
          <a:prstGeom prst="rect">
            <a:avLst/>
          </a:prstGeom>
          <a:solidFill>
            <a:srgbClr val="8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77440"/>
            <a:ext cx="10820095" cy="2011680"/>
          </a:xfrm>
          <a:prstGeom prst="rect">
            <a:avLst/>
          </a:prstGeom>
          <a:noFill/>
        </p:spPr>
        <p:txBody>
          <a:bodyPr wrap="square" anchor="ctr" lIns="0" rIns="0" tIns="0" bIns="0">
            <a:spAutoFit/>
          </a:bodyPr>
          <a:lstStyle/>
          <a:p>
            <a:r>
              <a:rPr sz="1300" b="1" i="0">
                <a:solidFill>
                  <a:srgbClr val="2E5496"/>
                </a:solidFill>
                <a:latin typeface="Calibri"/>
              </a:rPr>
              <a:t>Hadoop BDH Connector</a:t>
            </a:r>
          </a:p>
          <a:p>
            <a:r>
              <a:rPr sz="3000" b="1" i="0">
                <a:solidFill>
                  <a:srgbClr val="1F3864"/>
                </a:solidFill>
                <a:latin typeface="Calibri"/>
              </a:rPr>
              <a:t>15. Glossary (BDH- and Hadoop-specific)</a:t>
            </a:r>
          </a:p>
        </p:txBody>
      </p:sp>
      <p:sp>
        <p:nvSpPr>
          <p:cNvPr id="5" name="TextBox 4"/>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6" name="TextBox 5"/>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825</a:t>
            </a:r>
          </a:p>
        </p:txBody>
      </p:sp>
    </p:spTree>
  </p:cSld>
  <p:clrMapOvr>
    <a:masterClrMapping/>
  </p:clrMapOvr>
</p:sld>
</file>

<file path=ppt/slides/slide8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Hadoop</a:t>
            </a:r>
          </a:p>
          <a:p>
            <a:pPr>
              <a:spcAft>
                <a:spcPts val="0"/>
              </a:spcAft>
            </a:pPr>
            <a:r>
              <a:rPr sz="1000" b="1" i="0">
                <a:solidFill>
                  <a:srgbClr val="595959"/>
                </a:solidFill>
                <a:latin typeface="Calibri"/>
              </a:rPr>
              <a:t>What it is  </a:t>
            </a:r>
            <a:r>
              <a:rPr sz="1100" b="0" i="0">
                <a:solidFill>
                  <a:srgbClr val="202020"/>
                </a:solidFill>
                <a:latin typeface="Calibri"/>
              </a:rPr>
              <a:t>A platform for storing and processing very large data sets across many machines.</a:t>
            </a:r>
          </a:p>
          <a:p>
            <a:pPr>
              <a:spcAft>
                <a:spcPts val="200"/>
              </a:spcAft>
            </a:pPr>
            <a:r>
              <a:rPr sz="1000" b="1" i="0">
                <a:solidFill>
                  <a:srgbClr val="595959"/>
                </a:solidFill>
                <a:latin typeface="Calibri"/>
              </a:rPr>
              <a:t>Why it matters  </a:t>
            </a:r>
            <a:r>
              <a:rPr sz="1100" b="0" i="0">
                <a:solidFill>
                  <a:srgbClr val="202020"/>
                </a:solidFill>
                <a:latin typeface="Calibri"/>
              </a:rPr>
              <a:t>BDH runs on Hadoop, so the connector reads files in directories rather than calling an API.</a:t>
            </a:r>
          </a:p>
          <a:p>
            <a:pPr>
              <a:spcBef>
                <a:spcPts val="600"/>
              </a:spcBef>
              <a:spcAft>
                <a:spcPts val="100"/>
              </a:spcAft>
            </a:pPr>
            <a:r>
              <a:rPr sz="1400" b="1" i="0">
                <a:solidFill>
                  <a:srgbClr val="1F3864"/>
                </a:solidFill>
                <a:latin typeface="Calibri"/>
              </a:rPr>
              <a:t>HDFS (Hadoop Distributed File System)</a:t>
            </a:r>
          </a:p>
          <a:p>
            <a:pPr>
              <a:spcAft>
                <a:spcPts val="0"/>
              </a:spcAft>
            </a:pPr>
            <a:r>
              <a:rPr sz="1000" b="1" i="0">
                <a:solidFill>
                  <a:srgbClr val="595959"/>
                </a:solidFill>
                <a:latin typeface="Calibri"/>
              </a:rPr>
              <a:t>What it is  </a:t>
            </a:r>
            <a:r>
              <a:rPr sz="1100" b="0" i="0">
                <a:solidFill>
                  <a:srgbClr val="202020"/>
                </a:solidFill>
                <a:latin typeface="Calibri"/>
              </a:rPr>
              <a:t>Hadoop's file system: it spreads big files across many data servers.</a:t>
            </a:r>
          </a:p>
          <a:p>
            <a:pPr>
              <a:spcAft>
                <a:spcPts val="200"/>
              </a:spcAft>
            </a:pPr>
            <a:r>
              <a:rPr sz="1000" b="1" i="0">
                <a:solidFill>
                  <a:srgbClr val="595959"/>
                </a:solidFill>
                <a:latin typeface="Calibri"/>
              </a:rPr>
              <a:t>Why it matters  </a:t>
            </a:r>
            <a:r>
              <a:rPr sz="1100" b="0" i="0">
                <a:solidFill>
                  <a:srgbClr val="202020"/>
                </a:solidFill>
                <a:latin typeface="Calibri"/>
              </a:rPr>
              <a:t>The connector reads the BDH data mart out of HDFS.</a:t>
            </a:r>
          </a:p>
          <a:p>
            <a:pPr>
              <a:spcBef>
                <a:spcPts val="600"/>
              </a:spcBef>
              <a:spcAft>
                <a:spcPts val="100"/>
              </a:spcAft>
            </a:pPr>
            <a:r>
              <a:rPr sz="1400" b="1" i="0">
                <a:solidFill>
                  <a:srgbClr val="1F3864"/>
                </a:solidFill>
                <a:latin typeface="Calibri"/>
              </a:rPr>
              <a:t>WebHDFS</a:t>
            </a:r>
          </a:p>
          <a:p>
            <a:pPr>
              <a:spcAft>
                <a:spcPts val="0"/>
              </a:spcAft>
            </a:pPr>
            <a:r>
              <a:rPr sz="1000" b="1" i="0">
                <a:solidFill>
                  <a:srgbClr val="595959"/>
                </a:solidFill>
                <a:latin typeface="Calibri"/>
              </a:rPr>
              <a:t>What it is  </a:t>
            </a:r>
            <a:r>
              <a:rPr sz="1100" b="0" i="0">
                <a:solidFill>
                  <a:srgbClr val="202020"/>
                </a:solidFill>
                <a:latin typeface="Calibri"/>
              </a:rPr>
              <a:t>The HTTP/REST interface to HDFS, used to list directories and stream files.</a:t>
            </a:r>
          </a:p>
          <a:p>
            <a:pPr>
              <a:spcAft>
                <a:spcPts val="200"/>
              </a:spcAft>
            </a:pPr>
            <a:r>
              <a:rPr sz="1000" b="1" i="0">
                <a:solidFill>
                  <a:srgbClr val="595959"/>
                </a:solidFill>
                <a:latin typeface="Calibri"/>
              </a:rPr>
              <a:t>Why it matters  </a:t>
            </a:r>
            <a:r>
              <a:rPr sz="1100" b="0" i="0">
                <a:solidFill>
                  <a:srgbClr val="202020"/>
                </a:solidFill>
                <a:latin typeface="Calibri"/>
              </a:rPr>
              <a:t>The connector's default way of reaching BDH (HDFS_MODE=webhdfs).</a:t>
            </a:r>
          </a:p>
          <a:p>
            <a:pPr>
              <a:spcBef>
                <a:spcPts val="600"/>
              </a:spcBef>
              <a:spcAft>
                <a:spcPts val="100"/>
              </a:spcAft>
            </a:pPr>
            <a:r>
              <a:rPr sz="1400" b="1" i="0">
                <a:solidFill>
                  <a:srgbClr val="1F3864"/>
                </a:solidFill>
                <a:latin typeface="Calibri"/>
              </a:rPr>
              <a:t>Data lake vs data mart</a:t>
            </a:r>
          </a:p>
          <a:p>
            <a:pPr>
              <a:spcAft>
                <a:spcPts val="0"/>
              </a:spcAft>
            </a:pPr>
            <a:r>
              <a:rPr sz="1000" b="1" i="0">
                <a:solidFill>
                  <a:srgbClr val="595959"/>
                </a:solidFill>
                <a:latin typeface="Calibri"/>
              </a:rPr>
              <a:t>What it is  </a:t>
            </a:r>
            <a:r>
              <a:rPr sz="1100" b="0" i="0">
                <a:solidFill>
                  <a:srgbClr val="202020"/>
                </a:solidFill>
                <a:latin typeface="Calibri"/>
              </a:rPr>
              <a:t>A data lake is a huge central raw-data store; a data mart is a smaller, purpose-built slice of it.</a:t>
            </a:r>
          </a:p>
          <a:p>
            <a:pPr>
              <a:spcAft>
                <a:spcPts val="200"/>
              </a:spcAft>
            </a:pPr>
            <a:r>
              <a:rPr sz="1000" b="1" i="0">
                <a:solidFill>
                  <a:srgbClr val="595959"/>
                </a:solidFill>
                <a:latin typeface="Calibri"/>
              </a:rPr>
              <a:t>Why it matters  </a:t>
            </a:r>
            <a:r>
              <a:rPr sz="1100" b="0" i="0">
                <a:solidFill>
                  <a:srgbClr val="202020"/>
                </a:solidFill>
                <a:latin typeface="Calibri"/>
              </a:rPr>
              <a:t>BDH is the data mart holding the Salesforce slice the connector indexes.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826</a:t>
            </a:r>
          </a:p>
        </p:txBody>
      </p:sp>
    </p:spTree>
  </p:cSld>
  <p:clrMapOvr>
    <a:masterClrMapping/>
  </p:clrMapOvr>
</p:sld>
</file>

<file path=ppt/slides/slide8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BDH</a:t>
            </a:r>
          </a:p>
          <a:p>
            <a:pPr>
              <a:spcAft>
                <a:spcPts val="0"/>
              </a:spcAft>
            </a:pPr>
            <a:r>
              <a:rPr sz="1000" b="1" i="0">
                <a:solidFill>
                  <a:srgbClr val="595959"/>
                </a:solidFill>
                <a:latin typeface="Calibri"/>
              </a:rPr>
              <a:t>What it is  </a:t>
            </a:r>
            <a:r>
              <a:rPr sz="1100" b="0" i="0">
                <a:solidFill>
                  <a:srgbClr val="202020"/>
                </a:solidFill>
                <a:latin typeface="Calibri"/>
              </a:rPr>
              <a:t>The bank's Hadoop data mart, a nightly mirror of Salesforce.</a:t>
            </a:r>
          </a:p>
          <a:p>
            <a:pPr>
              <a:spcAft>
                <a:spcPts val="200"/>
              </a:spcAft>
            </a:pPr>
            <a:r>
              <a:rPr sz="1000" b="1" i="0">
                <a:solidFill>
                  <a:srgbClr val="595959"/>
                </a:solidFill>
                <a:latin typeface="Calibri"/>
              </a:rPr>
              <a:t>Why it matters  </a:t>
            </a:r>
            <a:r>
              <a:rPr sz="1100" b="0" i="0">
                <a:solidFill>
                  <a:srgbClr val="202020"/>
                </a:solidFill>
                <a:latin typeface="Calibri"/>
              </a:rPr>
              <a:t>The source system for this connector; it is read instead of live Salesforce to save API cost.</a:t>
            </a:r>
          </a:p>
          <a:p>
            <a:pPr>
              <a:spcBef>
                <a:spcPts val="600"/>
              </a:spcBef>
              <a:spcAft>
                <a:spcPts val="100"/>
              </a:spcAft>
            </a:pPr>
            <a:r>
              <a:rPr sz="1400" b="1" i="0">
                <a:solidFill>
                  <a:srgbClr val="1F3864"/>
                </a:solidFill>
                <a:latin typeface="Calibri"/>
              </a:rPr>
              <a:t>Hive partition</a:t>
            </a:r>
          </a:p>
          <a:p>
            <a:pPr>
              <a:spcAft>
                <a:spcPts val="0"/>
              </a:spcAft>
            </a:pPr>
            <a:r>
              <a:rPr sz="1000" b="1" i="0">
                <a:solidFill>
                  <a:srgbClr val="595959"/>
                </a:solidFill>
                <a:latin typeface="Calibri"/>
              </a:rPr>
              <a:t>What it is  </a:t>
            </a:r>
            <a:r>
              <a:rPr sz="1100" b="0" i="0">
                <a:solidFill>
                  <a:srgbClr val="202020"/>
                </a:solidFill>
                <a:latin typeface="Calibri"/>
              </a:rPr>
              <a:t>A directory named key=value (e.g. dt=2026-07-18) that both organises data and lets whole chunks be skipped.</a:t>
            </a:r>
          </a:p>
          <a:p>
            <a:pPr>
              <a:spcAft>
                <a:spcPts val="200"/>
              </a:spcAft>
            </a:pPr>
            <a:r>
              <a:rPr sz="1000" b="1" i="0">
                <a:solidFill>
                  <a:srgbClr val="595959"/>
                </a:solidFill>
                <a:latin typeface="Calibri"/>
              </a:rPr>
              <a:t>Why it matters  </a:t>
            </a:r>
            <a:r>
              <a:rPr sz="1100" b="0" i="0">
                <a:solidFill>
                  <a:srgbClr val="202020"/>
                </a:solidFill>
                <a:latin typeface="Calibri"/>
              </a:rPr>
              <a:t>The connector prunes on partitions to avoid reading data it does not need.</a:t>
            </a:r>
          </a:p>
          <a:p>
            <a:pPr>
              <a:spcBef>
                <a:spcPts val="600"/>
              </a:spcBef>
              <a:spcAft>
                <a:spcPts val="100"/>
              </a:spcAft>
            </a:pPr>
            <a:r>
              <a:rPr sz="1400" b="1" i="0">
                <a:solidFill>
                  <a:srgbClr val="1F3864"/>
                </a:solidFill>
                <a:latin typeface="Calibri"/>
              </a:rPr>
              <a:t>dt= / region= partition key</a:t>
            </a:r>
          </a:p>
          <a:p>
            <a:pPr>
              <a:spcAft>
                <a:spcPts val="0"/>
              </a:spcAft>
            </a:pPr>
            <a:r>
              <a:rPr sz="1000" b="1" i="0">
                <a:solidFill>
                  <a:srgbClr val="595959"/>
                </a:solidFill>
                <a:latin typeface="Calibri"/>
              </a:rPr>
              <a:t>What it is  </a:t>
            </a:r>
            <a:r>
              <a:rPr sz="1100" b="0" i="0">
                <a:solidFill>
                  <a:srgbClr val="202020"/>
                </a:solidFill>
                <a:latin typeface="Calibri"/>
              </a:rPr>
              <a:t>dt= is the load-date partition (present in every layout); region= and others are extra keys.</a:t>
            </a:r>
          </a:p>
          <a:p>
            <a:pPr>
              <a:spcAft>
                <a:spcPts val="200"/>
              </a:spcAft>
            </a:pPr>
            <a:r>
              <a:rPr sz="1000" b="1" i="0">
                <a:solidFill>
                  <a:srgbClr val="595959"/>
                </a:solidFill>
                <a:latin typeface="Calibri"/>
              </a:rPr>
              <a:t>Why it matters  </a:t>
            </a:r>
            <a:r>
              <a:rPr sz="1100" b="0" i="0">
                <a:solidFill>
                  <a:srgbClr val="202020"/>
                </a:solidFill>
                <a:latin typeface="Calibri"/>
              </a:rPr>
              <a:t>dt is the highest-leverage filter — a dt window bounds a crawl regardless of table size.</a:t>
            </a:r>
          </a:p>
          <a:p>
            <a:pPr>
              <a:spcBef>
                <a:spcPts val="600"/>
              </a:spcBef>
              <a:spcAft>
                <a:spcPts val="100"/>
              </a:spcAft>
            </a:pPr>
            <a:r>
              <a:rPr sz="1400" b="1" i="0">
                <a:solidFill>
                  <a:srgbClr val="1F3864"/>
                </a:solidFill>
                <a:latin typeface="Calibri"/>
              </a:rPr>
              <a:t>Partition pruning</a:t>
            </a:r>
          </a:p>
          <a:p>
            <a:pPr>
              <a:spcAft>
                <a:spcPts val="0"/>
              </a:spcAft>
            </a:pPr>
            <a:r>
              <a:rPr sz="1000" b="1" i="0">
                <a:solidFill>
                  <a:srgbClr val="595959"/>
                </a:solidFill>
                <a:latin typeface="Calibri"/>
              </a:rPr>
              <a:t>What it is  </a:t>
            </a:r>
            <a:r>
              <a:rPr sz="1100" b="0" i="0">
                <a:solidFill>
                  <a:srgbClr val="202020"/>
                </a:solidFill>
                <a:latin typeface="Calibri"/>
              </a:rPr>
              <a:t>Skipping whole key=value directories before opening any files in them.</a:t>
            </a:r>
          </a:p>
          <a:p>
            <a:pPr>
              <a:spcAft>
                <a:spcPts val="200"/>
              </a:spcAft>
            </a:pPr>
            <a:r>
              <a:rPr sz="1000" b="1" i="0">
                <a:solidFill>
                  <a:srgbClr val="595959"/>
                </a:solidFill>
                <a:latin typeface="Calibri"/>
              </a:rPr>
              <a:t>Why it matters  </a:t>
            </a:r>
            <a:r>
              <a:rPr sz="1100" b="0" i="0">
                <a:solidFill>
                  <a:srgbClr val="202020"/>
                </a:solidFill>
                <a:latin typeface="Calibri"/>
              </a:rPr>
              <a:t>Stage 1 of the filter layer and its cheapest, most effective stage (zero file reads).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827</a:t>
            </a:r>
          </a:p>
        </p:txBody>
      </p:sp>
    </p:spTree>
  </p:cSld>
  <p:clrMapOvr>
    <a:masterClrMapping/>
  </p:clrMapOvr>
</p:sld>
</file>

<file path=ppt/slides/slide8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Record predicate</a:t>
            </a:r>
          </a:p>
          <a:p>
            <a:pPr>
              <a:spcAft>
                <a:spcPts val="0"/>
              </a:spcAft>
            </a:pPr>
            <a:r>
              <a:rPr sz="1000" b="1" i="0">
                <a:solidFill>
                  <a:srgbClr val="595959"/>
                </a:solidFill>
                <a:latin typeface="Calibri"/>
              </a:rPr>
              <a:t>What it is  </a:t>
            </a:r>
            <a:r>
              <a:rPr sz="1100" b="0" i="0">
                <a:solidFill>
                  <a:srgbClr val="202020"/>
                </a:solidFill>
                <a:latin typeface="Calibri"/>
              </a:rPr>
              <a:t>A single rule testing one field of a row (field, operator, operand).</a:t>
            </a:r>
          </a:p>
          <a:p>
            <a:pPr>
              <a:spcAft>
                <a:spcPts val="200"/>
              </a:spcAft>
            </a:pPr>
            <a:r>
              <a:rPr sz="1000" b="1" i="0">
                <a:solidFill>
                  <a:srgbClr val="595959"/>
                </a:solidFill>
                <a:latin typeface="Calibri"/>
              </a:rPr>
              <a:t>Why it matters  </a:t>
            </a:r>
            <a:r>
              <a:rPr sz="1100" b="0" i="0">
                <a:solidFill>
                  <a:srgbClr val="202020"/>
                </a:solidFill>
                <a:latin typeface="Calibri"/>
              </a:rPr>
              <a:t>Stage 2 of the filter layer; the 14 operators are listed in Section 6.3.</a:t>
            </a:r>
          </a:p>
          <a:p>
            <a:pPr>
              <a:spcBef>
                <a:spcPts val="600"/>
              </a:spcBef>
              <a:spcAft>
                <a:spcPts val="100"/>
              </a:spcAft>
            </a:pPr>
            <a:r>
              <a:rPr sz="1400" b="1" i="0">
                <a:solidFill>
                  <a:srgbClr val="1F3864"/>
                </a:solidFill>
                <a:latin typeface="Calibri"/>
              </a:rPr>
              <a:t>OR-of-AND filter group</a:t>
            </a:r>
          </a:p>
          <a:p>
            <a:pPr>
              <a:spcAft>
                <a:spcPts val="0"/>
              </a:spcAft>
            </a:pPr>
            <a:r>
              <a:rPr sz="1000" b="1" i="0">
                <a:solidFill>
                  <a:srgbClr val="595959"/>
                </a:solidFill>
                <a:latin typeface="Calibri"/>
              </a:rPr>
              <a:t>What it is  </a:t>
            </a:r>
            <a:r>
              <a:rPr sz="1100" b="0" i="0">
                <a:solidFill>
                  <a:srgbClr val="202020"/>
                </a:solidFill>
                <a:latin typeface="Calibri"/>
              </a:rPr>
              <a:t>Record rules grouped so a row matches if any one group's rules all pass (anyOf of allOf).</a:t>
            </a:r>
          </a:p>
          <a:p>
            <a:pPr>
              <a:spcAft>
                <a:spcPts val="200"/>
              </a:spcAft>
            </a:pPr>
            <a:r>
              <a:rPr sz="1000" b="1" i="0">
                <a:solidFill>
                  <a:srgbClr val="595959"/>
                </a:solidFill>
                <a:latin typeface="Calibri"/>
              </a:rPr>
              <a:t>Why it matters  </a:t>
            </a:r>
            <a:r>
              <a:rPr sz="1100" b="0" i="0">
                <a:solidFill>
                  <a:srgbClr val="202020"/>
                </a:solidFill>
                <a:latin typeface="Calibri"/>
              </a:rPr>
              <a:t>Lets you express "open pipeline OR recently closed-lost" in one filter.</a:t>
            </a:r>
          </a:p>
          <a:p>
            <a:pPr>
              <a:spcBef>
                <a:spcPts val="600"/>
              </a:spcBef>
              <a:spcAft>
                <a:spcPts val="100"/>
              </a:spcAft>
            </a:pPr>
            <a:r>
              <a:rPr sz="1400" b="1" i="0">
                <a:solidFill>
                  <a:srgbClr val="1F3864"/>
                </a:solidFill>
                <a:latin typeface="Calibri"/>
              </a:rPr>
              <a:t>Row cap</a:t>
            </a:r>
          </a:p>
          <a:p>
            <a:pPr>
              <a:spcAft>
                <a:spcPts val="0"/>
              </a:spcAft>
            </a:pPr>
            <a:r>
              <a:rPr sz="1000" b="1" i="0">
                <a:solidFill>
                  <a:srgbClr val="595959"/>
                </a:solidFill>
                <a:latin typeface="Calibri"/>
              </a:rPr>
              <a:t>What it is  </a:t>
            </a:r>
            <a:r>
              <a:rPr sz="1100" b="0" i="0">
                <a:solidFill>
                  <a:srgbClr val="202020"/>
                </a:solidFill>
                <a:latin typeface="Calibri"/>
              </a:rPr>
              <a:t>A per-object limit (BDH_MAX_RECORDS_PER_OBJECT, default 500,000) on rows kept per crawl.</a:t>
            </a:r>
          </a:p>
          <a:p>
            <a:pPr>
              <a:spcAft>
                <a:spcPts val="200"/>
              </a:spcAft>
            </a:pPr>
            <a:r>
              <a:rPr sz="1000" b="1" i="0">
                <a:solidFill>
                  <a:srgbClr val="595959"/>
                </a:solidFill>
                <a:latin typeface="Calibri"/>
              </a:rPr>
              <a:t>Why it matters  </a:t>
            </a:r>
            <a:r>
              <a:rPr sz="1100" b="0" i="0">
                <a:solidFill>
                  <a:srgbClr val="202020"/>
                </a:solidFill>
                <a:latin typeface="Calibri"/>
              </a:rPr>
              <a:t>A safety valve — hitting it marks the crawl PARTIAL and suppresses that object's deletion sweep.</a:t>
            </a:r>
          </a:p>
          <a:p>
            <a:pPr>
              <a:spcBef>
                <a:spcPts val="600"/>
              </a:spcBef>
              <a:spcAft>
                <a:spcPts val="100"/>
              </a:spcAft>
            </a:pPr>
            <a:r>
              <a:rPr sz="1400" b="1" i="0">
                <a:solidFill>
                  <a:srgbClr val="1F3864"/>
                </a:solidFill>
                <a:latin typeface="Calibri"/>
              </a:rPr>
              <a:t>Fail-closed scale guard</a:t>
            </a:r>
          </a:p>
          <a:p>
            <a:pPr>
              <a:spcAft>
                <a:spcPts val="0"/>
              </a:spcAft>
            </a:pPr>
            <a:r>
              <a:rPr sz="1000" b="1" i="0">
                <a:solidFill>
                  <a:srgbClr val="595959"/>
                </a:solidFill>
                <a:latin typeface="Calibri"/>
              </a:rPr>
              <a:t>What it is  </a:t>
            </a:r>
            <a:r>
              <a:rPr sz="1100" b="0" i="0">
                <a:solidFill>
                  <a:srgbClr val="202020"/>
                </a:solidFill>
                <a:latin typeface="Calibri"/>
              </a:rPr>
              <a:t>The rule that an object with no effective filter refuses to crawl.</a:t>
            </a:r>
          </a:p>
          <a:p>
            <a:pPr>
              <a:spcAft>
                <a:spcPts val="200"/>
              </a:spcAft>
            </a:pPr>
            <a:r>
              <a:rPr sz="1000" b="1" i="0">
                <a:solidFill>
                  <a:srgbClr val="595959"/>
                </a:solidFill>
                <a:latin typeface="Calibri"/>
              </a:rPr>
              <a:t>Why it matters  </a:t>
            </a:r>
            <a:r>
              <a:rPr sz="1100" b="0" i="0">
                <a:solidFill>
                  <a:srgbClr val="202020"/>
                </a:solidFill>
                <a:latin typeface="Calibri"/>
              </a:rPr>
              <a:t>Prevents an accidental 150M-row scan; the fix is to add a filter, not to override it.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828</a:t>
            </a:r>
          </a:p>
        </p:txBody>
      </p:sp>
    </p:spTree>
  </p:cSld>
  <p:clrMapOvr>
    <a:masterClrMapping/>
  </p:clrMapOvr>
</p:sld>
</file>

<file path=ppt/slides/slide8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fullScanAllowed / ALLOW_FULL_SCAN</a:t>
            </a:r>
          </a:p>
          <a:p>
            <a:pPr>
              <a:spcAft>
                <a:spcPts val="0"/>
              </a:spcAft>
            </a:pPr>
            <a:r>
              <a:rPr sz="1000" b="1" i="0">
                <a:solidFill>
                  <a:srgbClr val="595959"/>
                </a:solidFill>
                <a:latin typeface="Calibri"/>
              </a:rPr>
              <a:t>What it is  </a:t>
            </a:r>
            <a:r>
              <a:rPr sz="1100" b="0" i="0">
                <a:solidFill>
                  <a:srgbClr val="202020"/>
                </a:solidFill>
                <a:latin typeface="Calibri"/>
              </a:rPr>
              <a:t>The two ways to exempt an object from the guard: a per-object list (preferred) or a global switch (avoid).</a:t>
            </a:r>
          </a:p>
          <a:p>
            <a:pPr>
              <a:spcAft>
                <a:spcPts val="200"/>
              </a:spcAft>
            </a:pPr>
            <a:r>
              <a:rPr sz="1000" b="1" i="0">
                <a:solidFill>
                  <a:srgbClr val="595959"/>
                </a:solidFill>
                <a:latin typeface="Calibri"/>
              </a:rPr>
              <a:t>Why it matters  </a:t>
            </a:r>
            <a:r>
              <a:rPr sz="1100" b="0" i="0">
                <a:solidFill>
                  <a:srgbClr val="202020"/>
                </a:solidFill>
                <a:latin typeface="Calibri"/>
              </a:rPr>
              <a:t>Only for small, bounded reference objects; adding the global switch is security-relevant.</a:t>
            </a:r>
          </a:p>
          <a:p>
            <a:pPr>
              <a:spcBef>
                <a:spcPts val="600"/>
              </a:spcBef>
              <a:spcAft>
                <a:spcPts val="100"/>
              </a:spcAft>
            </a:pPr>
            <a:r>
              <a:rPr sz="1400" b="1" i="0">
                <a:solidFill>
                  <a:srgbClr val="1F3864"/>
                </a:solidFill>
                <a:latin typeface="Calibri"/>
              </a:rPr>
              <a:t>dt-watermark / BDH_LAG_HOURS</a:t>
            </a:r>
          </a:p>
          <a:p>
            <a:pPr>
              <a:spcAft>
                <a:spcPts val="0"/>
              </a:spcAft>
            </a:pPr>
            <a:r>
              <a:rPr sz="1000" b="1" i="0">
                <a:solidFill>
                  <a:srgbClr val="595959"/>
                </a:solidFill>
                <a:latin typeface="Calibri"/>
              </a:rPr>
              <a:t>What it is  </a:t>
            </a:r>
            <a:r>
              <a:rPr sz="1100" b="0" i="0">
                <a:solidFill>
                  <a:srgbClr val="202020"/>
                </a:solidFill>
                <a:latin typeface="Calibri"/>
              </a:rPr>
              <a:t>The watermark is the last-sync time; incremental crawls read partitions newer than (watermark − BDH_LAG_HOURS, default 24 h).</a:t>
            </a:r>
          </a:p>
          <a:p>
            <a:pPr>
              <a:spcAft>
                <a:spcPts val="200"/>
              </a:spcAft>
            </a:pPr>
            <a:r>
              <a:rPr sz="1000" b="1" i="0">
                <a:solidFill>
                  <a:srgbClr val="595959"/>
                </a:solidFill>
                <a:latin typeface="Calibri"/>
              </a:rPr>
              <a:t>Why it matters  </a:t>
            </a:r>
            <a:r>
              <a:rPr sz="1100" b="0" i="0">
                <a:solidFill>
                  <a:srgbClr val="202020"/>
                </a:solidFill>
                <a:latin typeface="Calibri"/>
              </a:rPr>
              <a:t>The overlap window ensures a late nightly load is never missed; it is also why data can be ~24 h old.</a:t>
            </a:r>
          </a:p>
          <a:p>
            <a:pPr>
              <a:spcBef>
                <a:spcPts val="600"/>
              </a:spcBef>
              <a:spcAft>
                <a:spcPts val="100"/>
              </a:spcAft>
            </a:pPr>
            <a:r>
              <a:rPr sz="1400" b="1" i="0">
                <a:solidFill>
                  <a:srgbClr val="1F3864"/>
                </a:solidFill>
                <a:latin typeface="Calibri"/>
              </a:rPr>
              <a:t>Delegation token / SPNEGO</a:t>
            </a:r>
          </a:p>
          <a:p>
            <a:pPr>
              <a:spcAft>
                <a:spcPts val="0"/>
              </a:spcAft>
            </a:pPr>
            <a:r>
              <a:rPr sz="1000" b="1" i="0">
                <a:solidFill>
                  <a:srgbClr val="595959"/>
                </a:solidFill>
                <a:latin typeface="Calibri"/>
              </a:rPr>
              <a:t>What it is  </a:t>
            </a:r>
            <a:r>
              <a:rPr sz="1100" b="0" i="0">
                <a:solidFill>
                  <a:srgbClr val="202020"/>
                </a:solidFill>
                <a:latin typeface="Calibri"/>
              </a:rPr>
              <a:t>A delegation token is a time-limited HDFS access token; SPNEGO is Kerberos-over-HTTP that hardened clusters may require.</a:t>
            </a:r>
          </a:p>
          <a:p>
            <a:pPr>
              <a:spcAft>
                <a:spcPts val="200"/>
              </a:spcAft>
            </a:pPr>
            <a:r>
              <a:rPr sz="1000" b="1" i="0">
                <a:solidFill>
                  <a:srgbClr val="595959"/>
                </a:solidFill>
                <a:latin typeface="Calibri"/>
              </a:rPr>
              <a:t>Why it matters  </a:t>
            </a:r>
            <a:r>
              <a:rPr sz="1100" b="0" i="0">
                <a:solidFill>
                  <a:srgbClr val="202020"/>
                </a:solidFill>
                <a:latin typeface="Calibri"/>
              </a:rPr>
              <a:t>The token is never logged; SPNEGO is out of scope — front a kerberized cluster with a Knox gateway.</a:t>
            </a:r>
          </a:p>
          <a:p>
            <a:pPr>
              <a:spcBef>
                <a:spcPts val="600"/>
              </a:spcBef>
              <a:spcAft>
                <a:spcPts val="100"/>
              </a:spcAft>
            </a:pPr>
            <a:r>
              <a:rPr sz="1400" b="1" i="0">
                <a:solidFill>
                  <a:srgbClr val="1F3864"/>
                </a:solidFill>
                <a:latin typeface="Calibri"/>
              </a:rPr>
              <a:t>owner / group / public ACL</a:t>
            </a:r>
          </a:p>
          <a:p>
            <a:pPr>
              <a:spcAft>
                <a:spcPts val="0"/>
              </a:spcAft>
            </a:pPr>
            <a:r>
              <a:rPr sz="1000" b="1" i="0">
                <a:solidFill>
                  <a:srgbClr val="595959"/>
                </a:solidFill>
                <a:latin typeface="Calibri"/>
              </a:rPr>
              <a:t>What it is  </a:t>
            </a:r>
            <a:r>
              <a:rPr sz="1100" b="0" i="0">
                <a:solidFill>
                  <a:srgbClr val="202020"/>
                </a:solidFill>
                <a:latin typeface="Calibri"/>
              </a:rPr>
              <a:t>The three coarse permission modes this connector supports (aclMode), since BDH lacks Salesforce sharing tables.</a:t>
            </a:r>
          </a:p>
          <a:p>
            <a:pPr>
              <a:spcAft>
                <a:spcPts val="200"/>
              </a:spcAft>
            </a:pPr>
            <a:r>
              <a:rPr sz="1000" b="1" i="0">
                <a:solidFill>
                  <a:srgbClr val="595959"/>
                </a:solidFill>
                <a:latin typeface="Calibri"/>
              </a:rPr>
              <a:t>Why it matters  </a:t>
            </a:r>
            <a:r>
              <a:rPr sz="1100" b="0" i="0">
                <a:solidFill>
                  <a:srgbClr val="202020"/>
                </a:solidFill>
                <a:latin typeface="Calibri"/>
              </a:rPr>
              <a:t>Coarser than live Salesforce sharing — choose the mode consciously per object (Section 5.5).</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829</a:t>
            </a:r>
          </a:p>
        </p:txBody>
      </p:sp>
    </p:spTree>
  </p:cSld>
  <p:clrMapOvr>
    <a:masterClrMapping/>
  </p:clrMapOvr>
</p:sld>
</file>

<file path=ppt/slides/slide8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45720"/>
          </a:xfrm>
          <a:prstGeom prst="rect">
            <a:avLst/>
          </a:prstGeom>
          <a:solidFill>
            <a:srgbClr val="2E5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1185855" cy="658368"/>
          </a:xfrm>
          <a:prstGeom prst="rect">
            <a:avLst/>
          </a:prstGeom>
          <a:noFill/>
        </p:spPr>
        <p:txBody>
          <a:bodyPr wrap="square" anchor="ctr" lIns="0" rIns="0" tIns="0" bIns="0">
            <a:spAutoFit/>
          </a:bodyPr>
          <a:lstStyle/>
          <a:p>
            <a:r>
              <a:rPr sz="2200" b="1" i="0">
                <a:solidFill>
                  <a:srgbClr val="FFFFFF"/>
                </a:solidFill>
                <a:latin typeface="Calibri"/>
              </a:rPr>
              <a:t>Glossary (cont.)</a:t>
            </a:r>
          </a:p>
        </p:txBody>
      </p:sp>
      <p:sp>
        <p:nvSpPr>
          <p:cNvPr id="5" name="TextBox 4"/>
          <p:cNvSpPr txBox="1"/>
          <p:nvPr/>
        </p:nvSpPr>
        <p:spPr>
          <a:xfrm>
            <a:off x="502920" y="1143000"/>
            <a:ext cx="11185855" cy="5120640"/>
          </a:xfrm>
          <a:prstGeom prst="rect">
            <a:avLst/>
          </a:prstGeom>
          <a:noFill/>
        </p:spPr>
        <p:txBody>
          <a:bodyPr wrap="square" anchor="t" lIns="0" rIns="0" tIns="0" bIns="0">
            <a:spAutoFit/>
          </a:bodyPr>
          <a:lstStyle/>
          <a:p>
            <a:pPr>
              <a:spcBef>
                <a:spcPts val="600"/>
              </a:spcBef>
              <a:spcAft>
                <a:spcPts val="100"/>
              </a:spcAft>
            </a:pPr>
            <a:r>
              <a:rPr sz="1400" b="1" i="0">
                <a:solidFill>
                  <a:srgbClr val="1F3864"/>
                </a:solidFill>
                <a:latin typeface="Calibri"/>
              </a:rPr>
              <a:t>Dead-letter redaction</a:t>
            </a:r>
          </a:p>
          <a:p>
            <a:pPr>
              <a:spcAft>
                <a:spcPts val="0"/>
              </a:spcAft>
            </a:pPr>
            <a:r>
              <a:rPr sz="1000" b="1" i="0">
                <a:solidFill>
                  <a:srgbClr val="595959"/>
                </a:solidFill>
                <a:latin typeface="Calibri"/>
              </a:rPr>
              <a:t>What it is  </a:t>
            </a:r>
            <a:r>
              <a:rPr sz="1100" b="0" i="0">
                <a:solidFill>
                  <a:srgbClr val="202020"/>
                </a:solidFill>
                <a:latin typeface="Calibri"/>
              </a:rPr>
              <a:t>Writing only non-sensitive metadata — record id, object type, error, property names, sizes and SHA-256 hashes — to the dead-letter queue instead of the full record values (DEADLETTER_PAYLOAD_MODE=redacted).</a:t>
            </a:r>
          </a:p>
          <a:p>
            <a:pPr>
              <a:spcAft>
                <a:spcPts val="200"/>
              </a:spcAft>
            </a:pPr>
            <a:r>
              <a:rPr sz="1000" b="1" i="0">
                <a:solidFill>
                  <a:srgbClr val="595959"/>
                </a:solidFill>
                <a:latin typeface="Calibri"/>
              </a:rPr>
              <a:t>Why it matters  </a:t>
            </a:r>
            <a:r>
              <a:rPr sz="1100" b="0" i="0">
                <a:solidFill>
                  <a:srgbClr val="202020"/>
                </a:solidFill>
                <a:latin typeface="Calibri"/>
              </a:rPr>
              <a:t>The default as of this release, so the failed-records queue never becomes a second, less-protected copy of business data. retry-failed is unaffected because it re-fetches each record from BDH by id; full is an explicit opt-in and an unrecognised value fails fast at config load.</a:t>
            </a:r>
          </a:p>
          <a:p>
            <a:pPr>
              <a:spcBef>
                <a:spcPts val="600"/>
              </a:spcBef>
              <a:spcAft>
                <a:spcPts val="100"/>
              </a:spcAft>
            </a:pPr>
            <a:r>
              <a:rPr sz="1400" b="1" i="0">
                <a:solidFill>
                  <a:srgbClr val="1F3864"/>
                </a:solidFill>
                <a:latin typeface="Calibri"/>
              </a:rPr>
              <a:t>Classification enforcement (advisory tag → ACL)</a:t>
            </a:r>
          </a:p>
          <a:p>
            <a:pPr>
              <a:spcAft>
                <a:spcPts val="0"/>
              </a:spcAft>
            </a:pPr>
            <a:r>
              <a:rPr sz="1000" b="1" i="0">
                <a:solidFill>
                  <a:srgbClr val="595959"/>
                </a:solidFill>
                <a:latin typeface="Calibri"/>
              </a:rPr>
              <a:t>What it is  </a:t>
            </a:r>
            <a:r>
              <a:rPr sz="1100" b="0" i="0">
                <a:solidFill>
                  <a:srgbClr val="202020"/>
                </a:solidFill>
                <a:latin typeface="Calibri"/>
              </a:rPr>
              <a:t>Turning the advisory SensitivityLabel tag into a real access boundary: with CLASSIFICATION_ENFORCE_ACL=true, a Restricted item's ACL is replaced with a single grant to CLASSIFICATION_RESTRICTED_GROUP_ID.</a:t>
            </a:r>
          </a:p>
          <a:p>
            <a:pPr>
              <a:spcAft>
                <a:spcPts val="200"/>
              </a:spcAft>
            </a:pPr>
            <a:r>
              <a:rPr sz="1000" b="1" i="0">
                <a:solidFill>
                  <a:srgbClr val="595959"/>
                </a:solidFill>
                <a:latin typeface="Calibri"/>
              </a:rPr>
              <a:t>Why it matters  </a:t>
            </a:r>
            <a:r>
              <a:rPr sz="1100" b="0" i="0">
                <a:solidFill>
                  <a:srgbClr val="202020"/>
                </a:solidFill>
                <a:latin typeface="Calibri"/>
              </a:rPr>
              <a:t>The tag itself is advisory only — Purview-aligned in naming, NOT a Purview-enforced label (no encryption or DLP). Enforcement is the opt-in that actually gates retrieval; config load fails fast if the flag is on without a group, and each restriction is recorded in the decision ledger.</a:t>
            </a:r>
          </a:p>
          <a:p>
            <a:pPr>
              <a:spcBef>
                <a:spcPts val="600"/>
              </a:spcBef>
              <a:spcAft>
                <a:spcPts val="100"/>
              </a:spcAft>
            </a:pPr>
            <a:r>
              <a:rPr sz="1400" b="1" i="0">
                <a:solidFill>
                  <a:srgbClr val="1F3864"/>
                </a:solidFill>
                <a:latin typeface="Calibri"/>
              </a:rPr>
              <a:t>Stale-index item TTL / expirationDateTime</a:t>
            </a:r>
          </a:p>
          <a:p>
            <a:pPr>
              <a:spcAft>
                <a:spcPts val="0"/>
              </a:spcAft>
            </a:pPr>
            <a:r>
              <a:rPr sz="1000" b="1" i="0">
                <a:solidFill>
                  <a:srgbClr val="595959"/>
                </a:solidFill>
                <a:latin typeface="Calibri"/>
              </a:rPr>
              <a:t>What it is  </a:t>
            </a:r>
            <a:r>
              <a:rPr sz="1100" b="0" i="0">
                <a:solidFill>
                  <a:srgbClr val="202020"/>
                </a:solidFill>
                <a:latin typeface="Calibri"/>
              </a:rPr>
              <a:t>An optional expiry (GRAPH_ITEM_TTL_DAYS) that stamps every ingested item with a top-level expirationDateTime = now + TTL; a healthy connector re-stamps it on every crawl.</a:t>
            </a:r>
          </a:p>
          <a:p>
            <a:pPr>
              <a:spcAft>
                <a:spcPts val="200"/>
              </a:spcAft>
            </a:pPr>
            <a:r>
              <a:rPr sz="1000" b="1" i="0">
                <a:solidFill>
                  <a:srgbClr val="595959"/>
                </a:solidFill>
                <a:latin typeface="Calibri"/>
              </a:rPr>
              <a:t>Why it matters  </a:t>
            </a:r>
            <a:r>
              <a:rPr sz="1100" b="0" i="0">
                <a:solidFill>
                  <a:srgbClr val="202020"/>
                </a:solidFill>
                <a:latin typeface="Calibri"/>
              </a:rPr>
              <a:t>Defence-in-depth: if crawling stops after an outage the index self-expires instead of serving stale data forever. Default 0 = no expiry; set it comfortably above your full-crawl interval so healthy items never expire.</a:t>
            </a:r>
          </a:p>
          <a:p>
            <a:pPr>
              <a:spcBef>
                <a:spcPts val="600"/>
              </a:spcBef>
              <a:spcAft>
                <a:spcPts val="100"/>
              </a:spcAft>
            </a:pPr>
            <a:r>
              <a:rPr sz="1400" b="1" i="0">
                <a:solidFill>
                  <a:srgbClr val="1F3864"/>
                </a:solidFill>
                <a:latin typeface="Calibri"/>
              </a:rPr>
              <a:t>Decision ledger</a:t>
            </a:r>
          </a:p>
          <a:p>
            <a:pPr>
              <a:spcAft>
                <a:spcPts val="0"/>
              </a:spcAft>
            </a:pPr>
            <a:r>
              <a:rPr sz="1000" b="1" i="0">
                <a:solidFill>
                  <a:srgbClr val="595959"/>
                </a:solidFill>
                <a:latin typeface="Calibri"/>
              </a:rPr>
              <a:t>What it is  </a:t>
            </a:r>
            <a:r>
              <a:rPr sz="1100" b="0" i="0">
                <a:solidFill>
                  <a:srgbClr val="202020"/>
                </a:solidFill>
                <a:latin typeface="Calibri"/>
              </a:rPr>
              <a:t>An append-only, SHA-256 hash-chained log of access decisions — item EXCLUSIONS and ACL_RESTRICTIONS — recording ids and reasons only, never content or PII (logs/decisions_&lt;CONNECTOR_ID&gt;.jsonl).</a:t>
            </a:r>
          </a:p>
          <a:p>
            <a:pPr>
              <a:spcAft>
                <a:spcPts val="200"/>
              </a:spcAft>
            </a:pPr>
            <a:r>
              <a:rPr sz="1000" b="1" i="0">
                <a:solidFill>
                  <a:srgbClr val="595959"/>
                </a:solidFill>
                <a:latin typeface="Calibri"/>
              </a:rPr>
              <a:t>Why it matters  </a:t>
            </a:r>
            <a:r>
              <a:rPr sz="1100" b="0" i="0">
                <a:solidFill>
                  <a:srgbClr val="202020"/>
                </a:solidFill>
                <a:latin typeface="Calibri"/>
              </a:rPr>
              <a:t>ON by default (DECISION_LEDGER=true) for this connector. A Verify step detects any later edit, deletion or reorder, so who-could-see-what decisions are tamper-evident; protect the file with the same owner-only ACLs as the rest of the state.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800" b="0" i="0">
                <a:solidFill>
                  <a:srgbClr val="595959"/>
                </a:solidFill>
                <a:latin typeface="Calibri"/>
              </a:rPr>
              <a:t>Copilot Connector Programme · Confidential — internal use   ·   Hadoop BDH Connector</a:t>
            </a:r>
          </a:p>
        </p:txBody>
      </p:sp>
      <p:sp>
        <p:nvSpPr>
          <p:cNvPr id="7" name="TextBox 6"/>
          <p:cNvSpPr txBox="1"/>
          <p:nvPr/>
        </p:nvSpPr>
        <p:spPr>
          <a:xfrm>
            <a:off x="10911535" y="6473952"/>
            <a:ext cx="777240" cy="274320"/>
          </a:xfrm>
          <a:prstGeom prst="rect">
            <a:avLst/>
          </a:prstGeom>
          <a:noFill/>
        </p:spPr>
        <p:txBody>
          <a:bodyPr wrap="square" anchor="ctr" lIns="0" rIns="0" tIns="0" bIns="0">
            <a:spAutoFit/>
          </a:bodyPr>
          <a:lstStyle/>
          <a:p>
            <a:pPr algn="r"/>
            <a:r>
              <a:rPr sz="800" b="0" i="0">
                <a:solidFill>
                  <a:srgbClr val="595959"/>
                </a:solidFill>
                <a:latin typeface="Calibri"/>
              </a:rPr>
              <a:t>830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